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385" r:id="rId2"/>
    <p:sldId id="386" r:id="rId3"/>
    <p:sldId id="387" r:id="rId4"/>
    <p:sldId id="388" r:id="rId5"/>
    <p:sldId id="389" r:id="rId6"/>
    <p:sldId id="390" r:id="rId7"/>
    <p:sldId id="391" r:id="rId8"/>
    <p:sldId id="392" r:id="rId9"/>
    <p:sldId id="393" r:id="rId10"/>
    <p:sldId id="394" r:id="rId11"/>
    <p:sldId id="395" r:id="rId12"/>
    <p:sldId id="396" r:id="rId13"/>
    <p:sldId id="397" r:id="rId14"/>
    <p:sldId id="39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v>Human IVF</c:v>
          </c:tx>
          <c:spPr>
            <a:solidFill>
              <a:srgbClr val="3D85C6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F0-4FE3-9B70-66C6166C37CA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7F0-4FE3-9B70-66C6166C37CA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7F0-4FE3-9B70-66C6166C37CA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7F0-4FE3-9B70-66C6166C37CA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7F0-4FE3-9B70-66C6166C37CA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7F0-4FE3-9B70-66C6166C37CA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47F0-4FE3-9B70-66C6166C37CA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7F0-4FE3-9B70-66C6166C37CA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7F0-4FE3-9B70-66C6166C37CA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64.943788245339391</c:v>
              </c:pt>
              <c:pt idx="1">
                <c:v>30.095841455490579</c:v>
              </c:pt>
              <c:pt idx="2">
                <c:v>11.1762377730451</c:v>
              </c:pt>
              <c:pt idx="3">
                <c:v>20.800077278819561</c:v>
              </c:pt>
              <c:pt idx="4">
                <c:v>19.890807916426059</c:v>
              </c:pt>
              <c:pt idx="5">
                <c:v>52.72210065645514</c:v>
              </c:pt>
              <c:pt idx="6">
                <c:v>39.717686133407142</c:v>
              </c:pt>
              <c:pt idx="7">
                <c:v>38.678255027921232</c:v>
              </c:pt>
              <c:pt idx="8">
                <c:v>63.910152539531765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47F0-4FE3-9B70-66C6166C37CA}"/>
            </c:ext>
          </c:extLst>
        </c:ser>
        <c:ser>
          <c:idx val="1"/>
          <c:order val="1"/>
          <c:tx>
            <c:v>Veterinary / Animal IVF</c:v>
          </c:tx>
          <c:spPr>
            <a:solidFill>
              <a:srgbClr val="9E7E0A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7F0-4FE3-9B70-66C6166C37CA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7F0-4FE3-9B70-66C6166C37CA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7F0-4FE3-9B70-66C6166C37CA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7F0-4FE3-9B70-66C6166C37CA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7F0-4FE3-9B70-66C6166C37CA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7F0-4FE3-9B70-66C6166C37CA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47F0-4FE3-9B70-66C6166C37CA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47F0-4FE3-9B70-66C6166C37CA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47F0-4FE3-9B70-66C6166C37CA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17.802760779849152</c:v>
              </c:pt>
              <c:pt idx="1">
                <c:v>45.760233918128655</c:v>
              </c:pt>
              <c:pt idx="2">
                <c:v>26.037053091841155</c:v>
              </c:pt>
              <c:pt idx="3">
                <c:v>40.258642549235056</c:v>
              </c:pt>
              <c:pt idx="4">
                <c:v>32.143419602078851</c:v>
              </c:pt>
              <c:pt idx="5">
                <c:v>25.855579868708972</c:v>
              </c:pt>
              <c:pt idx="6">
                <c:v>24.914660023987455</c:v>
              </c:pt>
              <c:pt idx="7">
                <c:v>18.121509845908385</c:v>
              </c:pt>
              <c:pt idx="8">
                <c:v>18.444432027714143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3-47F0-4FE3-9B70-66C6166C37CA}"/>
            </c:ext>
          </c:extLst>
        </c:ser>
        <c:ser>
          <c:idx val="2"/>
          <c:order val="2"/>
          <c:tx>
            <c:v>Research</c:v>
          </c:tx>
          <c:spPr>
            <a:solidFill>
              <a:srgbClr val="008189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47F0-4FE3-9B70-66C6166C37CA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47F0-4FE3-9B70-66C6166C37CA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47F0-4FE3-9B70-66C6166C37CA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47F0-4FE3-9B70-66C6166C37CA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47F0-4FE3-9B70-66C6166C37CA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47F0-4FE3-9B70-66C6166C37CA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47F0-4FE3-9B70-66C6166C37CA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47F0-4FE3-9B70-66C6166C37CA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47F0-4FE3-9B70-66C6166C37CA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17.25345097481144</c:v>
              </c:pt>
              <c:pt idx="1">
                <c:v>24.143924626380763</c:v>
              </c:pt>
              <c:pt idx="2">
                <c:v>62.786709135113753</c:v>
              </c:pt>
              <c:pt idx="3">
                <c:v>38.941280171945373</c:v>
              </c:pt>
              <c:pt idx="4">
                <c:v>47.965772481495094</c:v>
              </c:pt>
              <c:pt idx="5">
                <c:v>21.422319474835888</c:v>
              </c:pt>
              <c:pt idx="6">
                <c:v>35.367653842605414</c:v>
              </c:pt>
              <c:pt idx="7">
                <c:v>43.200235126170384</c:v>
              </c:pt>
              <c:pt idx="8">
                <c:v>17.645415432754092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D-47F0-4FE3-9B70-66C6166C3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v>Hospital-based IVF Centres</c:v>
          </c:tx>
          <c:spPr>
            <a:solidFill>
              <a:srgbClr val="3D85C6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387-47C0-93B3-4DCBA579C76F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87-47C0-93B3-4DCBA579C76F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387-47C0-93B3-4DCBA579C76F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87-47C0-93B3-4DCBA579C76F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387-47C0-93B3-4DCBA579C76F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87-47C0-93B3-4DCBA579C76F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387-47C0-93B3-4DCBA579C76F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87-47C0-93B3-4DCBA579C76F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387-47C0-93B3-4DCBA579C76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24.627863953322901</c:v>
              </c:pt>
              <c:pt idx="1">
                <c:v>16.476608187134502</c:v>
              </c:pt>
              <c:pt idx="2">
                <c:v>23.17043291430295</c:v>
              </c:pt>
              <c:pt idx="3">
                <c:v>25.673472837702406</c:v>
              </c:pt>
              <c:pt idx="4">
                <c:v>51.93710955955693</c:v>
              </c:pt>
              <c:pt idx="5">
                <c:v>18.830051057622175</c:v>
              </c:pt>
              <c:pt idx="6">
                <c:v>38.848140972414427</c:v>
              </c:pt>
              <c:pt idx="7">
                <c:v>27.287231809211903</c:v>
              </c:pt>
              <c:pt idx="8">
                <c:v>35.100854891881319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C387-47C0-93B3-4DCBA579C76F}"/>
            </c:ext>
          </c:extLst>
        </c:ser>
        <c:ser>
          <c:idx val="1"/>
          <c:order val="1"/>
          <c:tx>
            <c:v>Standalone Fertility Clinics</c:v>
          </c:tx>
          <c:spPr>
            <a:solidFill>
              <a:srgbClr val="9E7E0A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C387-47C0-93B3-4DCBA579C76F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387-47C0-93B3-4DCBA579C76F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C387-47C0-93B3-4DCBA579C76F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387-47C0-93B3-4DCBA579C76F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C387-47C0-93B3-4DCBA579C76F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C387-47C0-93B3-4DCBA579C76F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C387-47C0-93B3-4DCBA579C76F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C387-47C0-93B3-4DCBA579C76F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C387-47C0-93B3-4DCBA579C76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10.75281058773303</c:v>
              </c:pt>
              <c:pt idx="1">
                <c:v>26.535087719298247</c:v>
              </c:pt>
              <c:pt idx="2">
                <c:v>29.418194839706739</c:v>
              </c:pt>
              <c:pt idx="3">
                <c:v>39.722520738495717</c:v>
              </c:pt>
              <c:pt idx="4">
                <c:v>7.5594519397343696</c:v>
              </c:pt>
              <c:pt idx="5">
                <c:v>19.587162654996355</c:v>
              </c:pt>
              <c:pt idx="6">
                <c:v>23.42236368668696</c:v>
              </c:pt>
              <c:pt idx="7">
                <c:v>37.624385942813959</c:v>
              </c:pt>
              <c:pt idx="8">
                <c:v>32.284740459294852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3-C387-47C0-93B3-4DCBA579C76F}"/>
            </c:ext>
          </c:extLst>
        </c:ser>
        <c:ser>
          <c:idx val="2"/>
          <c:order val="2"/>
          <c:tx>
            <c:v>Veterinary and Animal Breeding Centres</c:v>
          </c:tx>
          <c:spPr>
            <a:solidFill>
              <a:srgbClr val="008189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C387-47C0-93B3-4DCBA579C76F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C387-47C0-93B3-4DCBA579C76F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C387-47C0-93B3-4DCBA579C76F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C387-47C0-93B3-4DCBA579C76F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C387-47C0-93B3-4DCBA579C76F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C387-47C0-93B3-4DCBA579C76F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C387-47C0-93B3-4DCBA579C76F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C387-47C0-93B3-4DCBA579C76F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C387-47C0-93B3-4DCBA579C76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29.614344670556424</c:v>
              </c:pt>
              <c:pt idx="1">
                <c:v>32.391163092917481</c:v>
              </c:pt>
              <c:pt idx="2">
                <c:v>21.657023313669686</c:v>
              </c:pt>
              <c:pt idx="3">
                <c:v>21.57286547447988</c:v>
              </c:pt>
              <c:pt idx="4">
                <c:v>33.303585490051972</c:v>
              </c:pt>
              <c:pt idx="5">
                <c:v>48.656455142231948</c:v>
              </c:pt>
              <c:pt idx="6">
                <c:v>12.358151120952115</c:v>
              </c:pt>
              <c:pt idx="7">
                <c:v>25.910064239828696</c:v>
              </c:pt>
              <c:pt idx="8">
                <c:v>16.505559590992906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D-C387-47C0-93B3-4DCBA579C76F}"/>
            </c:ext>
          </c:extLst>
        </c:ser>
        <c:ser>
          <c:idx val="3"/>
          <c:order val="3"/>
          <c:tx>
            <c:v>Academic and Research Institutes</c:v>
          </c:tx>
          <c:spPr>
            <a:solidFill>
              <a:srgbClr val="40315E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C387-47C0-93B3-4DCBA579C76F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C387-47C0-93B3-4DCBA579C76F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C387-47C0-93B3-4DCBA579C76F}"/>
                </c:ext>
              </c:extLst>
            </c:dLbl>
            <c:dLbl>
              <c:idx val="3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C387-47C0-93B3-4DCBA579C76F}"/>
                </c:ext>
              </c:extLst>
            </c:dLbl>
            <c:dLbl>
              <c:idx val="4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C387-47C0-93B3-4DCBA579C76F}"/>
                </c:ext>
              </c:extLst>
            </c:dLbl>
            <c:dLbl>
              <c:idx val="5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C387-47C0-93B3-4DCBA579C76F}"/>
                </c:ext>
              </c:extLst>
            </c:dLbl>
            <c:dLbl>
              <c:idx val="6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C387-47C0-93B3-4DCBA579C76F}"/>
                </c:ext>
              </c:extLst>
            </c:dLbl>
            <c:dLbl>
              <c:idx val="7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C387-47C0-93B3-4DCBA579C76F}"/>
                </c:ext>
              </c:extLst>
            </c:dLbl>
            <c:dLbl>
              <c:idx val="8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C387-47C0-93B3-4DCBA579C76F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Clinical Time-Lapse IVF Incubators</c:v>
              </c:pt>
              <c:pt idx="1">
                <c:v>Research Imaging Incubators</c:v>
              </c:pt>
              <c:pt idx="2">
                <c:v>In-Incubator Microscope Units</c:v>
              </c:pt>
              <c:pt idx="3">
                <c:v>Camera Units Built into Conventional Incubators</c:v>
              </c:pt>
              <c:pt idx="4">
                <c:v>Time-Lapse Culture Dishes</c:v>
              </c:pt>
              <c:pt idx="5">
                <c:v>QC and Validation Dishes</c:v>
              </c:pt>
              <c:pt idx="6">
                <c:v>Viewing and Annotation Software</c:v>
              </c:pt>
              <c:pt idx="7">
                <c:v>AI-Based Embryo Scoring Software</c:v>
              </c:pt>
              <c:pt idx="8">
                <c:v>Data Management and Remote Access Software</c:v>
              </c:pt>
            </c:strLit>
          </c:cat>
          <c:val>
            <c:numLit>
              <c:formatCode>General</c:formatCode>
              <c:ptCount val="9"/>
              <c:pt idx="0">
                <c:v>35.004980788387648</c:v>
              </c:pt>
              <c:pt idx="1">
                <c:v>24.597141000649771</c:v>
              </c:pt>
              <c:pt idx="2">
                <c:v>25.754348932320624</c:v>
              </c:pt>
              <c:pt idx="3">
                <c:v>13.031140949322001</c:v>
              </c:pt>
              <c:pt idx="4">
                <c:v>7.1998530106567271</c:v>
              </c:pt>
              <c:pt idx="5">
                <c:v>12.926331145149527</c:v>
              </c:pt>
              <c:pt idx="6">
                <c:v>25.37134421994649</c:v>
              </c:pt>
              <c:pt idx="7">
                <c:v>9.1783180081454425</c:v>
              </c:pt>
              <c:pt idx="8">
                <c:v>16.108845057830923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27-C387-47C0-93B3-4DCBA579C7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v>Consumables</c:v>
          </c:tx>
          <c:spPr>
            <a:solidFill>
              <a:srgbClr val="3D85C6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015-4BEC-9BB6-491B274A8178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15-4BEC-9BB6-491B274A8178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015-4BEC-9BB6-491B274A817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Up to 8 Patient Dishes</c:v>
              </c:pt>
              <c:pt idx="1">
                <c:v>9 to 15 Patient Dishes</c:v>
              </c:pt>
              <c:pt idx="2">
                <c:v>More than 15 Patient Dishes</c:v>
              </c:pt>
            </c:strLit>
          </c:cat>
          <c:val>
            <c:numLit>
              <c:formatCode>General</c:formatCode>
              <c:ptCount val="3"/>
              <c:pt idx="0">
                <c:v>22.145291089683177</c:v>
              </c:pt>
              <c:pt idx="1">
                <c:v>29.862473881160273</c:v>
              </c:pt>
              <c:pt idx="2">
                <c:v>43.193422404933195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A015-4BEC-9BB6-491B274A8178}"/>
            </c:ext>
          </c:extLst>
        </c:ser>
        <c:ser>
          <c:idx val="1"/>
          <c:order val="1"/>
          <c:tx>
            <c:v>Software</c:v>
          </c:tx>
          <c:spPr>
            <a:solidFill>
              <a:srgbClr val="9E7E0A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015-4BEC-9BB6-491B274A8178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15-4BEC-9BB6-491B274A8178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015-4BEC-9BB6-491B274A817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Up to 8 Patient Dishes</c:v>
              </c:pt>
              <c:pt idx="1">
                <c:v>9 to 15 Patient Dishes</c:v>
              </c:pt>
              <c:pt idx="2">
                <c:v>More than 15 Patient Dishes</c:v>
              </c:pt>
            </c:strLit>
          </c:cat>
          <c:val>
            <c:numLit>
              <c:formatCode>General</c:formatCode>
              <c:ptCount val="3"/>
              <c:pt idx="0">
                <c:v>24.492496193721454</c:v>
              </c:pt>
              <c:pt idx="1">
                <c:v>21.244647127523493</c:v>
              </c:pt>
              <c:pt idx="2">
                <c:v>29.122302158273385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A015-4BEC-9BB6-491B274A8178}"/>
            </c:ext>
          </c:extLst>
        </c:ser>
        <c:ser>
          <c:idx val="2"/>
          <c:order val="2"/>
          <c:tx>
            <c:v>Time-Lapse Incubator Systems</c:v>
          </c:tx>
          <c:spPr>
            <a:solidFill>
              <a:srgbClr val="008189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015-4BEC-9BB6-491B274A8178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015-4BEC-9BB6-491B274A8178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015-4BEC-9BB6-491B274A817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Up to 8 Patient Dishes</c:v>
              </c:pt>
              <c:pt idx="1">
                <c:v>9 to 15 Patient Dishes</c:v>
              </c:pt>
              <c:pt idx="2">
                <c:v>More than 15 Patient Dishes</c:v>
              </c:pt>
            </c:strLit>
          </c:cat>
          <c:val>
            <c:numLit>
              <c:formatCode>General</c:formatCode>
              <c:ptCount val="3"/>
              <c:pt idx="0">
                <c:v>38.644602334517515</c:v>
              </c:pt>
              <c:pt idx="1">
                <c:v>33.450388108082343</c:v>
              </c:pt>
              <c:pt idx="2">
                <c:v>16.702158273381297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A015-4BEC-9BB6-491B274A8178}"/>
            </c:ext>
          </c:extLst>
        </c:ser>
        <c:ser>
          <c:idx val="3"/>
          <c:order val="3"/>
          <c:tx>
            <c:v>Time-Lapse Imaging Modules</c:v>
          </c:tx>
          <c:spPr>
            <a:solidFill>
              <a:srgbClr val="40315E"/>
            </a:solidFill>
            <a:ln>
              <a:noFill/>
            </a:ln>
          </c:spPr>
          <c:invertIfNegative val="1"/>
          <c:dLbls>
            <c:dLbl>
              <c:idx val="0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015-4BEC-9BB6-491B274A8178}"/>
                </c:ext>
              </c:extLst>
            </c:dLbl>
            <c:dLbl>
              <c:idx val="1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015-4BEC-9BB6-491B274A8178}"/>
                </c:ext>
              </c:extLst>
            </c:dLbl>
            <c:dLbl>
              <c:idx val="2"/>
              <c:numFmt formatCode="&quot;&quot;" sourceLinked="0"/>
              <c:spPr/>
              <c:txPr>
                <a:bodyPr/>
                <a:lstStyle/>
                <a:p>
                  <a:pPr>
                    <a:defRPr/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015-4BEC-9BB6-491B274A817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100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Up to 8 Patient Dishes</c:v>
              </c:pt>
              <c:pt idx="1">
                <c:v>9 to 15 Patient Dishes</c:v>
              </c:pt>
              <c:pt idx="2">
                <c:v>More than 15 Patient Dishes</c:v>
              </c:pt>
            </c:strLit>
          </c:cat>
          <c:val>
            <c:numLit>
              <c:formatCode>General</c:formatCode>
              <c:ptCount val="3"/>
              <c:pt idx="0">
                <c:v>14.717610382077865</c:v>
              </c:pt>
              <c:pt idx="1">
                <c:v>15.442490883233889</c:v>
              </c:pt>
              <c:pt idx="2">
                <c:v>10.982117163412127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A015-4BEC-9BB6-491B274A81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-2113994440"/>
        <c:scaling>
          <c:orientation val="minMax"/>
        </c:scaling>
        <c:delete val="0"/>
        <c:axPos val="l"/>
        <c:numFmt formatCode="0%" sourceLinked="1"/>
        <c:majorTickMark val="out"/>
        <c:minorTickMark val="none"/>
        <c:tickLblPos val="nextTo"/>
        <c:spPr>
          <a:ln>
            <a:solidFill>
              <a:srgbClr val="C6D5E1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100">
          <a:latin typeface="Calibri"/>
        </a:defRPr>
      </a:pPr>
      <a:endParaRPr lang="en-US"/>
    </a:p>
  </c:tx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4DCEB-B138-4DF4-8EE8-2CC6692D329B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E816F5-0F84-441D-94D2-C6637EB1FE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Application Market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Application Market Share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Application Absolute $ Opportunity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End User Market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End User Market Share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End User Absolute $ Opportunity &amp; Attractiveness  (1/2)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Product Type x End User Absolute $ Opportunity &amp; Attractiveness  (2/2)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Capacity x Product Type Market Snapshot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Capacity x Product Type Market Share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Time-Lapse Embryo Incubators Market Capacity x Product Type Absolute $ Opportunity &amp; Attractiveness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67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0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70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4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50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69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21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85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277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8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81300"/>
            <a:ext cx="85725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Time-Lapse Embryo Incubators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67050"/>
            <a:ext cx="8572500" cy="51435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B3C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Cross-sectional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52850"/>
            <a:ext cx="8572500" cy="1276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Product Type x Application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Product Type x End User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Capacity x Product 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8.1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81300"/>
            <a:ext cx="85725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Time-Lapse Embryo Incubators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67050"/>
            <a:ext cx="8572500" cy="51435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B3C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 Type × 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52850"/>
            <a:ext cx="8572500" cy="1276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Snapshot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Share Analysis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Absolute $ Opportunity &amp; Attractiveness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Snapshot: Product Type × Application, 2026E vs 2036F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 (US$ Mn) for each product type sub-segment across application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Value, Product Type × Application, 2026E and 2036F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2962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80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58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126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Human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/ Animal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923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543425"/>
            <a:ext cx="11906250" cy="2181225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225" y="4629150"/>
            <a:ext cx="116395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8672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4953000"/>
            <a:ext cx="11639550" cy="1695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1761161"/>
            <a:ext cx="128699" cy="187198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1761161"/>
            <a:ext cx="128699" cy="18719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1761161"/>
            <a:ext cx="128699" cy="187198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1761161"/>
            <a:ext cx="128699" cy="187198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1761161"/>
            <a:ext cx="128699" cy="187198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1761161"/>
            <a:ext cx="128699" cy="187198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1761161"/>
            <a:ext cx="128699" cy="187198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1761161"/>
            <a:ext cx="128699" cy="187198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2008084"/>
            <a:ext cx="128699" cy="187198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2008084"/>
            <a:ext cx="128699" cy="187198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2008084"/>
            <a:ext cx="128699" cy="187198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2008084"/>
            <a:ext cx="128699" cy="187198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2008084"/>
            <a:ext cx="128699" cy="187198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2008084"/>
            <a:ext cx="128699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2008084"/>
            <a:ext cx="128699" cy="187198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2008084"/>
            <a:ext cx="128699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2255007"/>
            <a:ext cx="128699" cy="187198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2255007"/>
            <a:ext cx="128699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2255007"/>
            <a:ext cx="128699" cy="187198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2255007"/>
            <a:ext cx="128699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2255007"/>
            <a:ext cx="128699" cy="187198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2255007"/>
            <a:ext cx="128699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2255007"/>
            <a:ext cx="128699" cy="187198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2255007"/>
            <a:ext cx="128699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2501930"/>
            <a:ext cx="128699" cy="187198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2501930"/>
            <a:ext cx="128699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2501930"/>
            <a:ext cx="128699" cy="187198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2501930"/>
            <a:ext cx="128699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2501930"/>
            <a:ext cx="128699" cy="187198"/>
          </a:xfrm>
          <a:prstGeom prst="rect">
            <a:avLst/>
          </a:prstGeom>
        </p:spPr>
      </p:pic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2501930"/>
            <a:ext cx="128699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2501930"/>
            <a:ext cx="128699" cy="187198"/>
          </a:xfrm>
          <a:prstGeom prst="rect">
            <a:avLst/>
          </a:prstGeom>
        </p:spPr>
      </p:pic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2501930"/>
            <a:ext cx="128699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2748853"/>
            <a:ext cx="128699" cy="187198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2748853"/>
            <a:ext cx="128699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2748853"/>
            <a:ext cx="128699" cy="187198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2748853"/>
            <a:ext cx="128699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2748853"/>
            <a:ext cx="128699" cy="187198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2748853"/>
            <a:ext cx="128699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2748853"/>
            <a:ext cx="128699" cy="187198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2748853"/>
            <a:ext cx="128699" cy="187198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2995776"/>
            <a:ext cx="128699" cy="187198"/>
          </a:xfrm>
          <a:prstGeom prst="rect">
            <a:avLst/>
          </a:prstGeom>
        </p:spPr>
      </p:pic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2995776"/>
            <a:ext cx="128699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2995776"/>
            <a:ext cx="128699" cy="187198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2995776"/>
            <a:ext cx="128699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2995776"/>
            <a:ext cx="128699" cy="187198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2995776"/>
            <a:ext cx="128699" cy="187198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2995776"/>
            <a:ext cx="128699" cy="187198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2995776"/>
            <a:ext cx="128699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3242699"/>
            <a:ext cx="128699" cy="187198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3242699"/>
            <a:ext cx="128699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3242699"/>
            <a:ext cx="128699" cy="187198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3242699"/>
            <a:ext cx="128699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3242699"/>
            <a:ext cx="128699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3242699"/>
            <a:ext cx="128699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3242699"/>
            <a:ext cx="128699" cy="187198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3242699"/>
            <a:ext cx="128699" cy="187198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3489622"/>
            <a:ext cx="128699" cy="187198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3489622"/>
            <a:ext cx="128699" cy="187198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3489622"/>
            <a:ext cx="128699" cy="187198"/>
          </a:xfrm>
          <a:prstGeom prst="rect">
            <a:avLst/>
          </a:prstGeom>
        </p:spPr>
      </p:pic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3489622"/>
            <a:ext cx="128699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3489622"/>
            <a:ext cx="128699" cy="187198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3489622"/>
            <a:ext cx="128699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3489622"/>
            <a:ext cx="128699" cy="187198"/>
          </a:xfrm>
          <a:prstGeom prst="rect">
            <a:avLst/>
          </a:prstGeom>
        </p:spPr>
      </p:pic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3489622"/>
            <a:ext cx="128699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3736545"/>
            <a:ext cx="128699" cy="187198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3736545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3736545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3736545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3736545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3736545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3736545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3736545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130" y="3983468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013" y="3983468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96" y="3983468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779" y="3983468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4662" y="3983468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545" y="3983468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6428" y="3983468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2311" y="3983468"/>
            <a:ext cx="128699" cy="187198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276225" y="4962525"/>
            <a:ext cx="719984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'Camera Units Built into Conventional Incubators' accounts for the largest share of the Global market by product type (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224" y="4952301"/>
            <a:ext cx="134549" cy="195707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7600334" y="4962525"/>
            <a:ext cx="58252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</a:t>
            </a:r>
          </a:p>
        </p:txBody>
      </p:sp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013" y="4952301"/>
            <a:ext cx="134549" cy="195707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307122" y="4962525"/>
            <a:ext cx="322226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in 2026E), with 'Veterinary / Animal IVF' its leading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76225" y="5137785"/>
            <a:ext cx="168931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sub-segment at</a:t>
            </a:r>
          </a:p>
        </p:txBody>
      </p:sp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689" y="5127561"/>
            <a:ext cx="134549" cy="195707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2089799" y="5137785"/>
            <a:ext cx="58281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Mn.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76225" y="5365622"/>
            <a:ext cx="48969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'QC and Validation Dishes × Human IVF' is the single largest cross-sectional cell (</a:t>
            </a:r>
          </a:p>
        </p:txBody>
      </p:sp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369" y="5355399"/>
            <a:ext cx="134549" cy="195707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5297479" y="5365622"/>
            <a:ext cx="625535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 2026E), while 'Time-Lapse Culture Dishes × Human IVF' records the fastest growth at a CAGR of</a:t>
            </a:r>
          </a:p>
        </p:txBody>
      </p:sp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45" y="5530659"/>
            <a:ext cx="134549" cy="195707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437254" y="5540882"/>
            <a:ext cx="135449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over 2026E–2036F.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6225" y="5768720"/>
            <a:ext cx="581607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Combined, the top three product type × application cells generate an absolute $ opportunity of</a:t>
            </a:r>
          </a:p>
        </p:txBody>
      </p:sp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1458" y="5758497"/>
            <a:ext cx="134549" cy="195707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6216567" y="5768720"/>
            <a:ext cx="115538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Share Analysis: Product Type × Application, 2026E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share of global market value, each row split across all application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Value Share, Product Type × Application, 2026E (% of each row)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1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41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64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64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Human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/ Animal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96240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295775"/>
            <a:ext cx="7286625" cy="24288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8125" y="4352925"/>
            <a:ext cx="7096125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Mix by Product Type, 2026E (% share)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38125" y="4581525"/>
          <a:ext cx="7096125" cy="2085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581900" y="4295775"/>
            <a:ext cx="4457700" cy="24288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15250" y="4381500"/>
            <a:ext cx="4191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Share Insights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5250" y="4619625"/>
            <a:ext cx="4191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15250" y="4705350"/>
            <a:ext cx="4191000" cy="19431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3" name="Picture 2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1514202"/>
            <a:ext cx="294837" cy="187198"/>
          </a:xfrm>
          <a:prstGeom prst="rect">
            <a:avLst/>
          </a:prstGeom>
        </p:spPr>
      </p:pic>
      <p:pic>
        <p:nvPicPr>
          <p:cNvPr id="24" name="Picture 2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1514202"/>
            <a:ext cx="294837" cy="187198"/>
          </a:xfrm>
          <a:prstGeom prst="rect">
            <a:avLst/>
          </a:prstGeom>
        </p:spPr>
      </p:pic>
      <p:pic>
        <p:nvPicPr>
          <p:cNvPr id="25" name="Picture 2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1514202"/>
            <a:ext cx="294837" cy="187198"/>
          </a:xfrm>
          <a:prstGeom prst="rect">
            <a:avLst/>
          </a:prstGeom>
        </p:spPr>
      </p:pic>
      <p:pic>
        <p:nvPicPr>
          <p:cNvPr id="26" name="Picture 2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1514202"/>
            <a:ext cx="294837" cy="187198"/>
          </a:xfrm>
          <a:prstGeom prst="rect">
            <a:avLst/>
          </a:prstGeom>
        </p:spPr>
      </p:pic>
      <p:pic>
        <p:nvPicPr>
          <p:cNvPr id="27" name="Picture 2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1761052"/>
            <a:ext cx="294837" cy="187198"/>
          </a:xfrm>
          <a:prstGeom prst="rect">
            <a:avLst/>
          </a:prstGeom>
        </p:spPr>
      </p:pic>
      <p:pic>
        <p:nvPicPr>
          <p:cNvPr id="28" name="Picture 2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1761052"/>
            <a:ext cx="294837" cy="187198"/>
          </a:xfrm>
          <a:prstGeom prst="rect">
            <a:avLst/>
          </a:prstGeom>
        </p:spPr>
      </p:pic>
      <p:pic>
        <p:nvPicPr>
          <p:cNvPr id="29" name="Picture 2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1761052"/>
            <a:ext cx="294837" cy="187198"/>
          </a:xfrm>
          <a:prstGeom prst="rect">
            <a:avLst/>
          </a:prstGeom>
        </p:spPr>
      </p:pic>
      <p:pic>
        <p:nvPicPr>
          <p:cNvPr id="30" name="Picture 2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1761052"/>
            <a:ext cx="294837" cy="187198"/>
          </a:xfrm>
          <a:prstGeom prst="rect">
            <a:avLst/>
          </a:prstGeom>
        </p:spPr>
      </p:pic>
      <p:pic>
        <p:nvPicPr>
          <p:cNvPr id="31" name="Picture 3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2007902"/>
            <a:ext cx="294837" cy="187198"/>
          </a:xfrm>
          <a:prstGeom prst="rect">
            <a:avLst/>
          </a:prstGeom>
        </p:spPr>
      </p:pic>
      <p:pic>
        <p:nvPicPr>
          <p:cNvPr id="32" name="Picture 3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2007902"/>
            <a:ext cx="294837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2007902"/>
            <a:ext cx="294837" cy="187198"/>
          </a:xfrm>
          <a:prstGeom prst="rect">
            <a:avLst/>
          </a:prstGeom>
        </p:spPr>
      </p:pic>
      <p:pic>
        <p:nvPicPr>
          <p:cNvPr id="34" name="Picture 3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2007902"/>
            <a:ext cx="294837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2254752"/>
            <a:ext cx="294837" cy="187198"/>
          </a:xfrm>
          <a:prstGeom prst="rect">
            <a:avLst/>
          </a:prstGeom>
        </p:spPr>
      </p:pic>
      <p:pic>
        <p:nvPicPr>
          <p:cNvPr id="36" name="Picture 3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2254752"/>
            <a:ext cx="294837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2254752"/>
            <a:ext cx="294837" cy="187198"/>
          </a:xfrm>
          <a:prstGeom prst="rect">
            <a:avLst/>
          </a:prstGeom>
        </p:spPr>
      </p:pic>
      <p:pic>
        <p:nvPicPr>
          <p:cNvPr id="38" name="Picture 3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2254752"/>
            <a:ext cx="294837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2501602"/>
            <a:ext cx="294837" cy="187198"/>
          </a:xfrm>
          <a:prstGeom prst="rect">
            <a:avLst/>
          </a:prstGeom>
        </p:spPr>
      </p:pic>
      <p:pic>
        <p:nvPicPr>
          <p:cNvPr id="40" name="Picture 3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2501602"/>
            <a:ext cx="294837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2501602"/>
            <a:ext cx="294837" cy="187198"/>
          </a:xfrm>
          <a:prstGeom prst="rect">
            <a:avLst/>
          </a:prstGeom>
        </p:spPr>
      </p:pic>
      <p:pic>
        <p:nvPicPr>
          <p:cNvPr id="42" name="Picture 4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2501602"/>
            <a:ext cx="294837" cy="187198"/>
          </a:xfrm>
          <a:prstGeom prst="rect">
            <a:avLst/>
          </a:prstGeom>
        </p:spPr>
      </p:pic>
      <p:pic>
        <p:nvPicPr>
          <p:cNvPr id="43" name="Picture 4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2748452"/>
            <a:ext cx="294837" cy="187198"/>
          </a:xfrm>
          <a:prstGeom prst="rect">
            <a:avLst/>
          </a:prstGeom>
        </p:spPr>
      </p:pic>
      <p:pic>
        <p:nvPicPr>
          <p:cNvPr id="44" name="Picture 4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2748452"/>
            <a:ext cx="294837" cy="187198"/>
          </a:xfrm>
          <a:prstGeom prst="rect">
            <a:avLst/>
          </a:prstGeom>
        </p:spPr>
      </p:pic>
      <p:pic>
        <p:nvPicPr>
          <p:cNvPr id="45" name="Picture 4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2748452"/>
            <a:ext cx="294837" cy="187198"/>
          </a:xfrm>
          <a:prstGeom prst="rect">
            <a:avLst/>
          </a:prstGeom>
        </p:spPr>
      </p:pic>
      <p:pic>
        <p:nvPicPr>
          <p:cNvPr id="46" name="Picture 4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2748452"/>
            <a:ext cx="294837" cy="187198"/>
          </a:xfrm>
          <a:prstGeom prst="rect">
            <a:avLst/>
          </a:prstGeom>
        </p:spPr>
      </p:pic>
      <p:pic>
        <p:nvPicPr>
          <p:cNvPr id="47" name="Picture 4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2995302"/>
            <a:ext cx="294837" cy="187198"/>
          </a:xfrm>
          <a:prstGeom prst="rect">
            <a:avLst/>
          </a:prstGeom>
        </p:spPr>
      </p:pic>
      <p:pic>
        <p:nvPicPr>
          <p:cNvPr id="48" name="Picture 4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2995302"/>
            <a:ext cx="294837" cy="187198"/>
          </a:xfrm>
          <a:prstGeom prst="rect">
            <a:avLst/>
          </a:prstGeom>
        </p:spPr>
      </p:pic>
      <p:pic>
        <p:nvPicPr>
          <p:cNvPr id="49" name="Picture 4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2995302"/>
            <a:ext cx="294837" cy="187198"/>
          </a:xfrm>
          <a:prstGeom prst="rect">
            <a:avLst/>
          </a:prstGeom>
        </p:spPr>
      </p:pic>
      <p:pic>
        <p:nvPicPr>
          <p:cNvPr id="50" name="Picture 4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2995302"/>
            <a:ext cx="294837" cy="187198"/>
          </a:xfrm>
          <a:prstGeom prst="rect">
            <a:avLst/>
          </a:prstGeom>
        </p:spPr>
      </p:pic>
      <p:pic>
        <p:nvPicPr>
          <p:cNvPr id="51" name="Picture 5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3242152"/>
            <a:ext cx="294837" cy="187198"/>
          </a:xfrm>
          <a:prstGeom prst="rect">
            <a:avLst/>
          </a:prstGeom>
        </p:spPr>
      </p:pic>
      <p:pic>
        <p:nvPicPr>
          <p:cNvPr id="52" name="Picture 5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3242152"/>
            <a:ext cx="294837" cy="187198"/>
          </a:xfrm>
          <a:prstGeom prst="rect">
            <a:avLst/>
          </a:prstGeom>
        </p:spPr>
      </p:pic>
      <p:pic>
        <p:nvPicPr>
          <p:cNvPr id="53" name="Picture 5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3242152"/>
            <a:ext cx="294837" cy="187198"/>
          </a:xfrm>
          <a:prstGeom prst="rect">
            <a:avLst/>
          </a:prstGeom>
        </p:spPr>
      </p:pic>
      <p:pic>
        <p:nvPicPr>
          <p:cNvPr id="54" name="Picture 5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3242152"/>
            <a:ext cx="294837" cy="187198"/>
          </a:xfrm>
          <a:prstGeom prst="rect">
            <a:avLst/>
          </a:prstGeom>
        </p:spPr>
      </p:pic>
      <p:pic>
        <p:nvPicPr>
          <p:cNvPr id="55" name="Picture 5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3489002"/>
            <a:ext cx="294837" cy="187198"/>
          </a:xfrm>
          <a:prstGeom prst="rect">
            <a:avLst/>
          </a:prstGeom>
        </p:spPr>
      </p:pic>
      <p:pic>
        <p:nvPicPr>
          <p:cNvPr id="56" name="Picture 5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3489002"/>
            <a:ext cx="294837" cy="187198"/>
          </a:xfrm>
          <a:prstGeom prst="rect">
            <a:avLst/>
          </a:prstGeom>
        </p:spPr>
      </p:pic>
      <p:pic>
        <p:nvPicPr>
          <p:cNvPr id="57" name="Picture 5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3489002"/>
            <a:ext cx="294837" cy="187198"/>
          </a:xfrm>
          <a:prstGeom prst="rect">
            <a:avLst/>
          </a:prstGeom>
        </p:spPr>
      </p:pic>
      <p:pic>
        <p:nvPicPr>
          <p:cNvPr id="58" name="Picture 5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3489002"/>
            <a:ext cx="294837" cy="187198"/>
          </a:xfrm>
          <a:prstGeom prst="rect">
            <a:avLst/>
          </a:prstGeom>
        </p:spPr>
      </p:pic>
      <p:pic>
        <p:nvPicPr>
          <p:cNvPr id="59" name="Picture 5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751" y="3735852"/>
            <a:ext cx="294837" cy="187198"/>
          </a:xfrm>
          <a:prstGeom prst="rect">
            <a:avLst/>
          </a:prstGeom>
        </p:spPr>
      </p:pic>
      <p:pic>
        <p:nvPicPr>
          <p:cNvPr id="60" name="Picture 5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6160" y="3735852"/>
            <a:ext cx="294837" cy="187198"/>
          </a:xfrm>
          <a:prstGeom prst="rect">
            <a:avLst/>
          </a:prstGeom>
        </p:spPr>
      </p:pic>
      <p:pic>
        <p:nvPicPr>
          <p:cNvPr id="61" name="Picture 6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569" y="3735852"/>
            <a:ext cx="294837" cy="187198"/>
          </a:xfrm>
          <a:prstGeom prst="rect">
            <a:avLst/>
          </a:prstGeom>
        </p:spPr>
      </p:pic>
      <p:pic>
        <p:nvPicPr>
          <p:cNvPr id="62" name="Picture 6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8978" y="3735852"/>
            <a:ext cx="294837" cy="187198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721" y="5068834"/>
            <a:ext cx="169458" cy="246485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679" y="5068834"/>
            <a:ext cx="169458" cy="246485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638" y="5068834"/>
            <a:ext cx="169458" cy="246485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596" y="5068834"/>
            <a:ext cx="169458" cy="246485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554" y="5068834"/>
            <a:ext cx="169458" cy="246485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513" y="5068834"/>
            <a:ext cx="169458" cy="246485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471" y="5068834"/>
            <a:ext cx="169458" cy="246485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429" y="5068834"/>
            <a:ext cx="169458" cy="246485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388" y="5068834"/>
            <a:ext cx="169458" cy="246485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7715250" y="4714875"/>
            <a:ext cx="386151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'Human IVF' holds the highest share of 'Clinical Time-Lapse IVF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15250" y="4890135"/>
            <a:ext cx="89345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Incubators' at</a:t>
            </a:r>
          </a:p>
        </p:txBody>
      </p:sp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7856" y="4879911"/>
            <a:ext cx="134549" cy="195707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732965" y="4890135"/>
            <a:ext cx="70689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(2026E).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15250" y="5117972"/>
            <a:ext cx="3759398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'Clinical Time-Lapse IVF Incubators' is the most concentrated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15250" y="5293232"/>
            <a:ext cx="197884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 type sub-segment, with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247" y="5283009"/>
            <a:ext cx="134549" cy="19570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9818356" y="5293232"/>
            <a:ext cx="18479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its value via 'Human IVF'.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15250" y="5521070"/>
            <a:ext cx="30163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'Research (Embryology and Cell Culture)' gains +</a:t>
            </a:r>
          </a:p>
        </p:txBody>
      </p:sp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0715" y="5510847"/>
            <a:ext cx="134549" cy="195707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10855825" y="5521070"/>
            <a:ext cx="968188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of share of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15250" y="5696330"/>
            <a:ext cx="211041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 Global cross-section by 2036F.</a:t>
            </a:r>
          </a:p>
        </p:txBody>
      </p:sp>
      <p:sp>
        <p:nvSpPr>
          <p:cNvPr id="84" name="lockshield_17"/>
          <p:cNvSpPr/>
          <p:nvPr/>
        </p:nvSpPr>
        <p:spPr>
          <a:xfrm>
            <a:off x="238125" y="4581525"/>
            <a:ext cx="7096125" cy="2085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&amp; Attractiveness: Product Type × Application, 2026E–2036F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value 2026E→2036F (US$ Mn) and value CAGR by cell; attractiveness index scored 1–5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429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$ Opportunity (US$ Mn) and Value CAGR, Product Type × Application, 2026E–2036F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3" cy="29622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70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20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46126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Human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/ Animal IVF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Research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923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923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21005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543425"/>
            <a:ext cx="5600700" cy="2181225"/>
          </a:xfrm>
          <a:prstGeom prst="roundRect">
            <a:avLst>
              <a:gd name="adj" fmla="val 3493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225" y="4629150"/>
            <a:ext cx="5334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5 Opportunity Cells (US$ Mn · CAGR · Index)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4867275"/>
            <a:ext cx="5334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4953000"/>
            <a:ext cx="5334000" cy="1695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95975" y="4543425"/>
            <a:ext cx="1943100" cy="218122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29325" y="462915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Largest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9325" y="486727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29325" y="4953000"/>
            <a:ext cx="1676400" cy="1695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91475" y="4543425"/>
            <a:ext cx="1943100" cy="218122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24825" y="462915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Fastest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4825" y="486727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24825" y="4953000"/>
            <a:ext cx="1676400" cy="1695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86975" y="4543425"/>
            <a:ext cx="1943100" cy="218122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0325" y="462915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20325" y="486727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20325" y="4953000"/>
            <a:ext cx="1676400" cy="1695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 </a:t>
            </a: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'In-Incubator Microscope Units × Research' ranks highest (5/5); 'Clinical Time-Lapse IVF Incubators × Veterinary / Animal IVF' lowest (1/5), a deprioritised cell.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1761161"/>
            <a:ext cx="128699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1761161"/>
            <a:ext cx="294837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1761161"/>
            <a:ext cx="128699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1761161"/>
            <a:ext cx="294837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1761161"/>
            <a:ext cx="128699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1761161"/>
            <a:ext cx="294837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1761161"/>
            <a:ext cx="128699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1761161"/>
            <a:ext cx="294837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2008084"/>
            <a:ext cx="128699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2008084"/>
            <a:ext cx="294837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2008084"/>
            <a:ext cx="128699" cy="187198"/>
          </a:xfrm>
          <a:prstGeom prst="rect">
            <a:avLst/>
          </a:prstGeom>
        </p:spPr>
      </p:pic>
      <p:pic>
        <p:nvPicPr>
          <p:cNvPr id="43" name="Picture 4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2008084"/>
            <a:ext cx="294837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2008084"/>
            <a:ext cx="128699" cy="187198"/>
          </a:xfrm>
          <a:prstGeom prst="rect">
            <a:avLst/>
          </a:prstGeom>
        </p:spPr>
      </p:pic>
      <p:pic>
        <p:nvPicPr>
          <p:cNvPr id="45" name="Picture 4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2008084"/>
            <a:ext cx="294837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2008084"/>
            <a:ext cx="128699" cy="187198"/>
          </a:xfrm>
          <a:prstGeom prst="rect">
            <a:avLst/>
          </a:prstGeom>
        </p:spPr>
      </p:pic>
      <p:pic>
        <p:nvPicPr>
          <p:cNvPr id="47" name="Picture 4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2008084"/>
            <a:ext cx="294837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2255007"/>
            <a:ext cx="128699" cy="187198"/>
          </a:xfrm>
          <a:prstGeom prst="rect">
            <a:avLst/>
          </a:prstGeom>
        </p:spPr>
      </p:pic>
      <p:pic>
        <p:nvPicPr>
          <p:cNvPr id="49" name="Picture 4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2255007"/>
            <a:ext cx="294837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2255007"/>
            <a:ext cx="128699" cy="187198"/>
          </a:xfrm>
          <a:prstGeom prst="rect">
            <a:avLst/>
          </a:prstGeom>
        </p:spPr>
      </p:pic>
      <p:pic>
        <p:nvPicPr>
          <p:cNvPr id="51" name="Picture 5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2255007"/>
            <a:ext cx="294837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2255007"/>
            <a:ext cx="128699" cy="187198"/>
          </a:xfrm>
          <a:prstGeom prst="rect">
            <a:avLst/>
          </a:prstGeom>
        </p:spPr>
      </p:pic>
      <p:pic>
        <p:nvPicPr>
          <p:cNvPr id="53" name="Picture 5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2255007"/>
            <a:ext cx="294837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2255007"/>
            <a:ext cx="128699" cy="187198"/>
          </a:xfrm>
          <a:prstGeom prst="rect">
            <a:avLst/>
          </a:prstGeom>
        </p:spPr>
      </p:pic>
      <p:pic>
        <p:nvPicPr>
          <p:cNvPr id="55" name="Picture 5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2255007"/>
            <a:ext cx="294837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2501930"/>
            <a:ext cx="128699" cy="187198"/>
          </a:xfrm>
          <a:prstGeom prst="rect">
            <a:avLst/>
          </a:prstGeom>
        </p:spPr>
      </p:pic>
      <p:pic>
        <p:nvPicPr>
          <p:cNvPr id="57" name="Picture 5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2501930"/>
            <a:ext cx="294837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2501930"/>
            <a:ext cx="128699" cy="187198"/>
          </a:xfrm>
          <a:prstGeom prst="rect">
            <a:avLst/>
          </a:prstGeom>
        </p:spPr>
      </p:pic>
      <p:pic>
        <p:nvPicPr>
          <p:cNvPr id="59" name="Picture 5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2501930"/>
            <a:ext cx="294837" cy="187198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2501930"/>
            <a:ext cx="128699" cy="187198"/>
          </a:xfrm>
          <a:prstGeom prst="rect">
            <a:avLst/>
          </a:prstGeom>
        </p:spPr>
      </p:pic>
      <p:pic>
        <p:nvPicPr>
          <p:cNvPr id="61" name="Picture 6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2501930"/>
            <a:ext cx="294837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2501930"/>
            <a:ext cx="128699" cy="187198"/>
          </a:xfrm>
          <a:prstGeom prst="rect">
            <a:avLst/>
          </a:prstGeom>
        </p:spPr>
      </p:pic>
      <p:pic>
        <p:nvPicPr>
          <p:cNvPr id="63" name="Picture 6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2501930"/>
            <a:ext cx="294837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2748853"/>
            <a:ext cx="128699" cy="187198"/>
          </a:xfrm>
          <a:prstGeom prst="rect">
            <a:avLst/>
          </a:prstGeom>
        </p:spPr>
      </p:pic>
      <p:pic>
        <p:nvPicPr>
          <p:cNvPr id="65" name="Picture 6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2748853"/>
            <a:ext cx="294837" cy="187198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2748853"/>
            <a:ext cx="128699" cy="187198"/>
          </a:xfrm>
          <a:prstGeom prst="rect">
            <a:avLst/>
          </a:prstGeom>
        </p:spPr>
      </p:pic>
      <p:pic>
        <p:nvPicPr>
          <p:cNvPr id="67" name="Picture 6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2748853"/>
            <a:ext cx="294837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2748853"/>
            <a:ext cx="128699" cy="187198"/>
          </a:xfrm>
          <a:prstGeom prst="rect">
            <a:avLst/>
          </a:prstGeom>
        </p:spPr>
      </p:pic>
      <p:pic>
        <p:nvPicPr>
          <p:cNvPr id="69" name="Picture 6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2748853"/>
            <a:ext cx="294837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2748853"/>
            <a:ext cx="128699" cy="187198"/>
          </a:xfrm>
          <a:prstGeom prst="rect">
            <a:avLst/>
          </a:prstGeom>
        </p:spPr>
      </p:pic>
      <p:pic>
        <p:nvPicPr>
          <p:cNvPr id="71" name="Picture 7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2748853"/>
            <a:ext cx="294837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2995776"/>
            <a:ext cx="128699" cy="187198"/>
          </a:xfrm>
          <a:prstGeom prst="rect">
            <a:avLst/>
          </a:prstGeom>
        </p:spPr>
      </p:pic>
      <p:pic>
        <p:nvPicPr>
          <p:cNvPr id="73" name="Picture 7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2995776"/>
            <a:ext cx="294837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2995776"/>
            <a:ext cx="128699" cy="187198"/>
          </a:xfrm>
          <a:prstGeom prst="rect">
            <a:avLst/>
          </a:prstGeom>
        </p:spPr>
      </p:pic>
      <p:pic>
        <p:nvPicPr>
          <p:cNvPr id="75" name="Picture 7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2995776"/>
            <a:ext cx="294837" cy="187198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2995776"/>
            <a:ext cx="128699" cy="187198"/>
          </a:xfrm>
          <a:prstGeom prst="rect">
            <a:avLst/>
          </a:prstGeom>
        </p:spPr>
      </p:pic>
      <p:pic>
        <p:nvPicPr>
          <p:cNvPr id="77" name="Picture 7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2995776"/>
            <a:ext cx="294837" cy="187198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2995776"/>
            <a:ext cx="128699" cy="187198"/>
          </a:xfrm>
          <a:prstGeom prst="rect">
            <a:avLst/>
          </a:prstGeom>
        </p:spPr>
      </p:pic>
      <p:pic>
        <p:nvPicPr>
          <p:cNvPr id="79" name="Picture 7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2995776"/>
            <a:ext cx="294837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3242699"/>
            <a:ext cx="128699" cy="187198"/>
          </a:xfrm>
          <a:prstGeom prst="rect">
            <a:avLst/>
          </a:prstGeom>
        </p:spPr>
      </p:pic>
      <p:pic>
        <p:nvPicPr>
          <p:cNvPr id="81" name="Picture 8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3242699"/>
            <a:ext cx="294837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3242699"/>
            <a:ext cx="128699" cy="187198"/>
          </a:xfrm>
          <a:prstGeom prst="rect">
            <a:avLst/>
          </a:prstGeom>
        </p:spPr>
      </p:pic>
      <p:pic>
        <p:nvPicPr>
          <p:cNvPr id="83" name="Picture 8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3242699"/>
            <a:ext cx="294837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3242699"/>
            <a:ext cx="128699" cy="187198"/>
          </a:xfrm>
          <a:prstGeom prst="rect">
            <a:avLst/>
          </a:prstGeom>
        </p:spPr>
      </p:pic>
      <p:pic>
        <p:nvPicPr>
          <p:cNvPr id="85" name="Picture 8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3242699"/>
            <a:ext cx="294837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3242699"/>
            <a:ext cx="128699" cy="187198"/>
          </a:xfrm>
          <a:prstGeom prst="rect">
            <a:avLst/>
          </a:prstGeom>
        </p:spPr>
      </p:pic>
      <p:pic>
        <p:nvPicPr>
          <p:cNvPr id="87" name="Picture 8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3242699"/>
            <a:ext cx="294837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3489622"/>
            <a:ext cx="128699" cy="187198"/>
          </a:xfrm>
          <a:prstGeom prst="rect">
            <a:avLst/>
          </a:prstGeom>
        </p:spPr>
      </p:pic>
      <p:pic>
        <p:nvPicPr>
          <p:cNvPr id="89" name="Picture 8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3489622"/>
            <a:ext cx="294837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3489622"/>
            <a:ext cx="128699" cy="187198"/>
          </a:xfrm>
          <a:prstGeom prst="rect">
            <a:avLst/>
          </a:prstGeom>
        </p:spPr>
      </p:pic>
      <p:pic>
        <p:nvPicPr>
          <p:cNvPr id="91" name="Picture 9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3489622"/>
            <a:ext cx="294837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3489622"/>
            <a:ext cx="128699" cy="187198"/>
          </a:xfrm>
          <a:prstGeom prst="rect">
            <a:avLst/>
          </a:prstGeom>
        </p:spPr>
      </p:pic>
      <p:pic>
        <p:nvPicPr>
          <p:cNvPr id="93" name="Picture 9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3489622"/>
            <a:ext cx="294837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3489622"/>
            <a:ext cx="128699" cy="187198"/>
          </a:xfrm>
          <a:prstGeom prst="rect">
            <a:avLst/>
          </a:prstGeom>
        </p:spPr>
      </p:pic>
      <p:pic>
        <p:nvPicPr>
          <p:cNvPr id="95" name="Picture 9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3489622"/>
            <a:ext cx="294837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3736545"/>
            <a:ext cx="128699" cy="187198"/>
          </a:xfrm>
          <a:prstGeom prst="rect">
            <a:avLst/>
          </a:prstGeom>
        </p:spPr>
      </p:pic>
      <p:pic>
        <p:nvPicPr>
          <p:cNvPr id="97" name="Picture 9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3736545"/>
            <a:ext cx="294837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3736545"/>
            <a:ext cx="128699" cy="187198"/>
          </a:xfrm>
          <a:prstGeom prst="rect">
            <a:avLst/>
          </a:prstGeom>
        </p:spPr>
      </p:pic>
      <p:pic>
        <p:nvPicPr>
          <p:cNvPr id="99" name="Picture 9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3736545"/>
            <a:ext cx="294837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3736545"/>
            <a:ext cx="128699" cy="187198"/>
          </a:xfrm>
          <a:prstGeom prst="rect">
            <a:avLst/>
          </a:prstGeom>
        </p:spPr>
      </p:pic>
      <p:pic>
        <p:nvPicPr>
          <p:cNvPr id="101" name="Picture 10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3736545"/>
            <a:ext cx="294837" cy="187198"/>
          </a:xfrm>
          <a:prstGeom prst="rect">
            <a:avLst/>
          </a:prstGeom>
        </p:spPr>
      </p:pic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3736545"/>
            <a:ext cx="128699" cy="187198"/>
          </a:xfrm>
          <a:prstGeom prst="rect">
            <a:avLst/>
          </a:prstGeom>
        </p:spPr>
      </p:pic>
      <p:pic>
        <p:nvPicPr>
          <p:cNvPr id="103" name="Picture 10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3736545"/>
            <a:ext cx="294837" cy="187198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9863" y="3983468"/>
            <a:ext cx="128699" cy="187198"/>
          </a:xfrm>
          <a:prstGeom prst="rect">
            <a:avLst/>
          </a:prstGeom>
        </p:spPr>
      </p:pic>
      <p:pic>
        <p:nvPicPr>
          <p:cNvPr id="105" name="Picture 10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8846" y="3983468"/>
            <a:ext cx="294837" cy="187198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967" y="3983468"/>
            <a:ext cx="128699" cy="187198"/>
          </a:xfrm>
          <a:prstGeom prst="rect">
            <a:avLst/>
          </a:prstGeom>
        </p:spPr>
      </p:pic>
      <p:pic>
        <p:nvPicPr>
          <p:cNvPr id="107" name="Picture 10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2950" y="3983468"/>
            <a:ext cx="294837" cy="187198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071" y="3983468"/>
            <a:ext cx="128699" cy="187198"/>
          </a:xfrm>
          <a:prstGeom prst="rect">
            <a:avLst/>
          </a:prstGeom>
        </p:spPr>
      </p:pic>
      <p:pic>
        <p:nvPicPr>
          <p:cNvPr id="109" name="Picture 10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054" y="3983468"/>
            <a:ext cx="294837" cy="187198"/>
          </a:xfrm>
          <a:prstGeom prst="rect">
            <a:avLst/>
          </a:prstGeom>
        </p:spPr>
      </p:pic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2175" y="3983468"/>
            <a:ext cx="128699" cy="187198"/>
          </a:xfrm>
          <a:prstGeom prst="rect">
            <a:avLst/>
          </a:prstGeom>
        </p:spPr>
      </p:pic>
      <p:pic>
        <p:nvPicPr>
          <p:cNvPr id="111" name="Picture 11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1158" y="3983468"/>
            <a:ext cx="294837" cy="18719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276225" y="4962525"/>
            <a:ext cx="277333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1. In-Incubator Microscope Units × Research –</a:t>
            </a:r>
          </a:p>
        </p:txBody>
      </p:sp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7614" y="4952745"/>
            <a:ext cx="128699" cy="187198"/>
          </a:xfrm>
          <a:prstGeom prst="rect">
            <a:avLst/>
          </a:prstGeom>
        </p:spPr>
      </p:pic>
      <p:sp>
        <p:nvSpPr>
          <p:cNvPr id="114" name="TextBox 113"/>
          <p:cNvSpPr txBox="1"/>
          <p:nvPr/>
        </p:nvSpPr>
        <p:spPr>
          <a:xfrm>
            <a:off x="3165110" y="4962525"/>
            <a:ext cx="1113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4559" y="4952745"/>
            <a:ext cx="128699" cy="187198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3392055" y="4962525"/>
            <a:ext cx="47047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76225" y="5180457"/>
            <a:ext cx="3785616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2. Camera Units Built into Conventional Incubators × Research –</a:t>
            </a:r>
          </a:p>
        </p:txBody>
      </p:sp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893" y="5170677"/>
            <a:ext cx="128699" cy="187198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4177389" y="5180457"/>
            <a:ext cx="1113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120" name="Picture 1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6838" y="5170677"/>
            <a:ext cx="128699" cy="18719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4404334" y="5180457"/>
            <a:ext cx="47047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4/5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6225" y="5398389"/>
            <a:ext cx="459134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3. Camera Units Built into Conventional Incubators × Veterinary / Animal IVF –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5624" y="5388609"/>
            <a:ext cx="128699" cy="18719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4983120" y="5398389"/>
            <a:ext cx="1113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125" name="Picture 1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2569" y="5388609"/>
            <a:ext cx="128699" cy="187198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210065" y="5398389"/>
            <a:ext cx="242912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76225" y="5566029"/>
            <a:ext cx="27210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4/5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6225" y="5783961"/>
            <a:ext cx="254687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4. Time-Lapse Culture Dishes × Research –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147" y="5774181"/>
            <a:ext cx="128699" cy="187198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2938643" y="5783961"/>
            <a:ext cx="1113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131" name="Picture 1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092" y="5774181"/>
            <a:ext cx="128699" cy="187198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165588" y="5783961"/>
            <a:ext cx="47047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76225" y="6001893"/>
            <a:ext cx="3490118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5. Research Imaging Incubators × Veterinary / Animal IVF –</a:t>
            </a:r>
          </a:p>
        </p:txBody>
      </p:sp>
      <p:pic>
        <p:nvPicPr>
          <p:cNvPr id="134" name="Picture 1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395" y="5992113"/>
            <a:ext cx="128699" cy="187198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3881891" y="6001893"/>
            <a:ext cx="111397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136" name="Picture 1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340" y="5992113"/>
            <a:ext cx="128699" cy="187198"/>
          </a:xfrm>
          <a:prstGeom prst="rect">
            <a:avLst/>
          </a:prstGeom>
        </p:spPr>
      </p:pic>
      <p:sp>
        <p:nvSpPr>
          <p:cNvPr id="137" name="TextBox 136"/>
          <p:cNvSpPr txBox="1"/>
          <p:nvPr/>
        </p:nvSpPr>
        <p:spPr>
          <a:xfrm>
            <a:off x="4108836" y="6001893"/>
            <a:ext cx="470470" cy="18668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4/5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029325" y="4962525"/>
            <a:ext cx="165450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'In-Incubator Microscope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029325" y="5137785"/>
            <a:ext cx="141261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Units × Research' adds</a:t>
            </a:r>
          </a:p>
        </p:txBody>
      </p:sp>
      <p:pic>
        <p:nvPicPr>
          <p:cNvPr id="140" name="Picture 1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093" y="5127561"/>
            <a:ext cx="134549" cy="195707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6029325" y="5313045"/>
            <a:ext cx="122463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 –</a:t>
            </a:r>
          </a:p>
        </p:txBody>
      </p:sp>
      <p:pic>
        <p:nvPicPr>
          <p:cNvPr id="142" name="Picture 1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111" y="5302821"/>
            <a:ext cx="134549" cy="195707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7378220" y="5313045"/>
            <a:ext cx="18060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029325" y="5488304"/>
            <a:ext cx="152101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 the total opportunity.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24825" y="4962525"/>
            <a:ext cx="134101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'Time-Lapse Culture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124825" y="5137785"/>
            <a:ext cx="165735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Dishes × Human IVF' grows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24825" y="5313045"/>
            <a:ext cx="29812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at a</a:t>
            </a:r>
          </a:p>
        </p:txBody>
      </p:sp>
      <p:pic>
        <p:nvPicPr>
          <p:cNvPr id="148" name="Picture 1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2106" y="5302821"/>
            <a:ext cx="134549" cy="195707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8547215" y="5313045"/>
            <a:ext cx="58393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CAGR,</a:t>
            </a:r>
          </a:p>
        </p:txBody>
      </p:sp>
      <p:pic>
        <p:nvPicPr>
          <p:cNvPr id="150" name="Picture 1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0303" y="5302821"/>
            <a:ext cx="134549" cy="195707"/>
          </a:xfrm>
          <a:prstGeom prst="rect">
            <a:avLst/>
          </a:prstGeom>
        </p:spPr>
      </p:pic>
      <p:sp>
        <p:nvSpPr>
          <p:cNvPr id="151" name="TextBox 150"/>
          <p:cNvSpPr txBox="1"/>
          <p:nvPr/>
        </p:nvSpPr>
        <p:spPr>
          <a:xfrm>
            <a:off x="9255413" y="5313045"/>
            <a:ext cx="2984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124825" y="5488304"/>
            <a:ext cx="151701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above the cross-section.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8.2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81300"/>
            <a:ext cx="85725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Time-Lapse Embryo Incubators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67050"/>
            <a:ext cx="8572500" cy="51435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B3C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 Type × End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52850"/>
            <a:ext cx="8572500" cy="1276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Snapshot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Share Analysis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Absolute $ Opportunity &amp; Attractiveness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Snapshot: Product Type × End User, 2026E vs 2036F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 (US$ Mn) for each product type sub-segment across end user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81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Value, Product Type × End User, 2026E and 2036F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6" cy="33432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35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51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631697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Standalone Fertility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Clinics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Hospital-based IVF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Academic and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Research Institutes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and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Animal Breeding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507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50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59105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924425"/>
            <a:ext cx="11906250" cy="1800225"/>
          </a:xfrm>
          <a:prstGeom prst="roundRect">
            <a:avLst>
              <a:gd name="adj" fmla="val 4232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225" y="5010150"/>
            <a:ext cx="116395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5248275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5334000"/>
            <a:ext cx="11639550" cy="13144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2146109"/>
            <a:ext cx="128699" cy="187198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2146109"/>
            <a:ext cx="128699" cy="18719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2146109"/>
            <a:ext cx="128699" cy="187198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2146109"/>
            <a:ext cx="128699" cy="187198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2146109"/>
            <a:ext cx="128699" cy="187198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2146109"/>
            <a:ext cx="128699" cy="187198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2146109"/>
            <a:ext cx="128699" cy="187198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2146109"/>
            <a:ext cx="128699" cy="187198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2146109"/>
            <a:ext cx="128699" cy="187198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2146109"/>
            <a:ext cx="128699" cy="187198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2392616"/>
            <a:ext cx="128699" cy="187198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2392616"/>
            <a:ext cx="128699" cy="187198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2392616"/>
            <a:ext cx="128699" cy="187198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2392616"/>
            <a:ext cx="128699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2392616"/>
            <a:ext cx="128699" cy="187198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2392616"/>
            <a:ext cx="128699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2392616"/>
            <a:ext cx="128699" cy="187198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2392616"/>
            <a:ext cx="128699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2392616"/>
            <a:ext cx="128699" cy="187198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2392616"/>
            <a:ext cx="128699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2639123"/>
            <a:ext cx="128699" cy="187198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2639123"/>
            <a:ext cx="128699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2639123"/>
            <a:ext cx="128699" cy="187198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2639123"/>
            <a:ext cx="128699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2639123"/>
            <a:ext cx="128699" cy="187198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2639123"/>
            <a:ext cx="128699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2639123"/>
            <a:ext cx="128699" cy="187198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2639123"/>
            <a:ext cx="128699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2639123"/>
            <a:ext cx="128699" cy="187198"/>
          </a:xfrm>
          <a:prstGeom prst="rect">
            <a:avLst/>
          </a:prstGeom>
        </p:spPr>
      </p:pic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2639123"/>
            <a:ext cx="128699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2885630"/>
            <a:ext cx="128699" cy="187198"/>
          </a:xfrm>
          <a:prstGeom prst="rect">
            <a:avLst/>
          </a:prstGeom>
        </p:spPr>
      </p:pic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2885630"/>
            <a:ext cx="128699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2885630"/>
            <a:ext cx="128699" cy="187198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2885630"/>
            <a:ext cx="128699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2885630"/>
            <a:ext cx="128699" cy="187198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2885630"/>
            <a:ext cx="128699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2885630"/>
            <a:ext cx="128699" cy="187198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2885630"/>
            <a:ext cx="128699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2885630"/>
            <a:ext cx="128699" cy="187198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2885630"/>
            <a:ext cx="128699" cy="187198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3132137"/>
            <a:ext cx="128699" cy="187198"/>
          </a:xfrm>
          <a:prstGeom prst="rect">
            <a:avLst/>
          </a:prstGeom>
        </p:spPr>
      </p:pic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3132137"/>
            <a:ext cx="128699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3132137"/>
            <a:ext cx="128699" cy="187198"/>
          </a:xfrm>
          <a:prstGeom prst="rect">
            <a:avLst/>
          </a:prstGeom>
        </p:spPr>
      </p:pic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3132137"/>
            <a:ext cx="128699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3132137"/>
            <a:ext cx="128699" cy="187198"/>
          </a:xfrm>
          <a:prstGeom prst="rect">
            <a:avLst/>
          </a:prstGeom>
        </p:spPr>
      </p:pic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3132137"/>
            <a:ext cx="128699" cy="187198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3132137"/>
            <a:ext cx="128699" cy="187198"/>
          </a:xfrm>
          <a:prstGeom prst="rect">
            <a:avLst/>
          </a:prstGeom>
        </p:spPr>
      </p:pic>
      <p:pic>
        <p:nvPicPr>
          <p:cNvPr id="67" name="Picture 6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3132137"/>
            <a:ext cx="128699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3132137"/>
            <a:ext cx="128699" cy="187198"/>
          </a:xfrm>
          <a:prstGeom prst="rect">
            <a:avLst/>
          </a:prstGeom>
        </p:spPr>
      </p:pic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3132137"/>
            <a:ext cx="128699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3378644"/>
            <a:ext cx="128699" cy="187198"/>
          </a:xfrm>
          <a:prstGeom prst="rect">
            <a:avLst/>
          </a:prstGeom>
        </p:spPr>
      </p:pic>
      <p:pic>
        <p:nvPicPr>
          <p:cNvPr id="71" name="Picture 7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3378644"/>
            <a:ext cx="128699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3378644"/>
            <a:ext cx="128699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3378644"/>
            <a:ext cx="128699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3378644"/>
            <a:ext cx="128699" cy="187198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3378644"/>
            <a:ext cx="128699" cy="187198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3378644"/>
            <a:ext cx="128699" cy="187198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3378644"/>
            <a:ext cx="128699" cy="187198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3378644"/>
            <a:ext cx="128699" cy="187198"/>
          </a:xfrm>
          <a:prstGeom prst="rect">
            <a:avLst/>
          </a:prstGeom>
        </p:spPr>
      </p:pic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3378644"/>
            <a:ext cx="128699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3625151"/>
            <a:ext cx="128699" cy="187198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3625151"/>
            <a:ext cx="128699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3625151"/>
            <a:ext cx="128699" cy="187198"/>
          </a:xfrm>
          <a:prstGeom prst="rect">
            <a:avLst/>
          </a:prstGeom>
        </p:spPr>
      </p:pic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3625151"/>
            <a:ext cx="128699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3625151"/>
            <a:ext cx="128699" cy="187198"/>
          </a:xfrm>
          <a:prstGeom prst="rect">
            <a:avLst/>
          </a:prstGeom>
        </p:spPr>
      </p:pic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3625151"/>
            <a:ext cx="128699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3625151"/>
            <a:ext cx="128699" cy="187198"/>
          </a:xfrm>
          <a:prstGeom prst="rect">
            <a:avLst/>
          </a:prstGeom>
        </p:spPr>
      </p:pic>
      <p:pic>
        <p:nvPicPr>
          <p:cNvPr id="87" name="Picture 8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3625151"/>
            <a:ext cx="128699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3625151"/>
            <a:ext cx="128699" cy="187198"/>
          </a:xfrm>
          <a:prstGeom prst="rect">
            <a:avLst/>
          </a:prstGeom>
        </p:spPr>
      </p:pic>
      <p:pic>
        <p:nvPicPr>
          <p:cNvPr id="89" name="Picture 8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3625151"/>
            <a:ext cx="128699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3871658"/>
            <a:ext cx="128699" cy="187198"/>
          </a:xfrm>
          <a:prstGeom prst="rect">
            <a:avLst/>
          </a:prstGeom>
        </p:spPr>
      </p:pic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3871658"/>
            <a:ext cx="128699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3871658"/>
            <a:ext cx="128699" cy="187198"/>
          </a:xfrm>
          <a:prstGeom prst="rect">
            <a:avLst/>
          </a:prstGeom>
        </p:spPr>
      </p:pic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3871658"/>
            <a:ext cx="128699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3871658"/>
            <a:ext cx="128699" cy="187198"/>
          </a:xfrm>
          <a:prstGeom prst="rect">
            <a:avLst/>
          </a:prstGeom>
        </p:spPr>
      </p:pic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3871658"/>
            <a:ext cx="128699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3871658"/>
            <a:ext cx="128699" cy="187198"/>
          </a:xfrm>
          <a:prstGeom prst="rect">
            <a:avLst/>
          </a:prstGeom>
        </p:spPr>
      </p:pic>
      <p:pic>
        <p:nvPicPr>
          <p:cNvPr id="97" name="Picture 9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3871658"/>
            <a:ext cx="128699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3871658"/>
            <a:ext cx="128699" cy="187198"/>
          </a:xfrm>
          <a:prstGeom prst="rect">
            <a:avLst/>
          </a:prstGeom>
        </p:spPr>
      </p:pic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3871658"/>
            <a:ext cx="128699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4118165"/>
            <a:ext cx="128699" cy="187198"/>
          </a:xfrm>
          <a:prstGeom prst="rect">
            <a:avLst/>
          </a:prstGeom>
        </p:spPr>
      </p:pic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4118165"/>
            <a:ext cx="128699" cy="187198"/>
          </a:xfrm>
          <a:prstGeom prst="rect">
            <a:avLst/>
          </a:prstGeom>
        </p:spPr>
      </p:pic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4118165"/>
            <a:ext cx="128699" cy="187198"/>
          </a:xfrm>
          <a:prstGeom prst="rect">
            <a:avLst/>
          </a:prstGeom>
        </p:spPr>
      </p:pic>
      <p:pic>
        <p:nvPicPr>
          <p:cNvPr id="103" name="Picture 10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4118165"/>
            <a:ext cx="128699" cy="187198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4118165"/>
            <a:ext cx="128699" cy="187198"/>
          </a:xfrm>
          <a:prstGeom prst="rect">
            <a:avLst/>
          </a:prstGeom>
        </p:spPr>
      </p:pic>
      <p:pic>
        <p:nvPicPr>
          <p:cNvPr id="105" name="Picture 10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4118165"/>
            <a:ext cx="128699" cy="187198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4118165"/>
            <a:ext cx="128699" cy="187198"/>
          </a:xfrm>
          <a:prstGeom prst="rect">
            <a:avLst/>
          </a:prstGeom>
        </p:spPr>
      </p:pic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4118165"/>
            <a:ext cx="128699" cy="187198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4118165"/>
            <a:ext cx="128699" cy="187198"/>
          </a:xfrm>
          <a:prstGeom prst="rect">
            <a:avLst/>
          </a:prstGeom>
        </p:spPr>
      </p:pic>
      <p:pic>
        <p:nvPicPr>
          <p:cNvPr id="109" name="Picture 10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4118165"/>
            <a:ext cx="128699" cy="187198"/>
          </a:xfrm>
          <a:prstGeom prst="rect">
            <a:avLst/>
          </a:prstGeom>
        </p:spPr>
      </p:pic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568" y="4364672"/>
            <a:ext cx="128699" cy="187198"/>
          </a:xfrm>
          <a:prstGeom prst="rect">
            <a:avLst/>
          </a:prstGeom>
        </p:spPr>
      </p:pic>
      <p:pic>
        <p:nvPicPr>
          <p:cNvPr id="111" name="Picture 11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692" y="4364672"/>
            <a:ext cx="128699" cy="187198"/>
          </a:xfrm>
          <a:prstGeom prst="rect">
            <a:avLst/>
          </a:prstGeom>
        </p:spPr>
      </p:pic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16" y="4364672"/>
            <a:ext cx="128699" cy="187198"/>
          </a:xfrm>
          <a:prstGeom prst="rect">
            <a:avLst/>
          </a:prstGeom>
        </p:spPr>
      </p:pic>
      <p:pic>
        <p:nvPicPr>
          <p:cNvPr id="113" name="Picture 11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1940" y="4364672"/>
            <a:ext cx="128699" cy="187198"/>
          </a:xfrm>
          <a:prstGeom prst="rect">
            <a:avLst/>
          </a:prstGeom>
        </p:spPr>
      </p:pic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064" y="4364672"/>
            <a:ext cx="128699" cy="187198"/>
          </a:xfrm>
          <a:prstGeom prst="rect">
            <a:avLst/>
          </a:prstGeom>
        </p:spPr>
      </p:pic>
      <p:pic>
        <p:nvPicPr>
          <p:cNvPr id="115" name="Picture 11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188" y="4364672"/>
            <a:ext cx="128699" cy="187198"/>
          </a:xfrm>
          <a:prstGeom prst="rect">
            <a:avLst/>
          </a:prstGeom>
        </p:spPr>
      </p:pic>
      <p:pic>
        <p:nvPicPr>
          <p:cNvPr id="116" name="Picture 1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7312" y="4364672"/>
            <a:ext cx="128699" cy="187198"/>
          </a:xfrm>
          <a:prstGeom prst="rect">
            <a:avLst/>
          </a:prstGeom>
        </p:spPr>
      </p:pic>
      <p:pic>
        <p:nvPicPr>
          <p:cNvPr id="117" name="Picture 11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2436" y="4364672"/>
            <a:ext cx="128699" cy="187198"/>
          </a:xfrm>
          <a:prstGeom prst="rect">
            <a:avLst/>
          </a:prstGeom>
        </p:spPr>
      </p:pic>
      <p:pic>
        <p:nvPicPr>
          <p:cNvPr id="118" name="Picture 1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7560" y="4364672"/>
            <a:ext cx="128699" cy="187198"/>
          </a:xfrm>
          <a:prstGeom prst="rect">
            <a:avLst/>
          </a:prstGeom>
        </p:spPr>
      </p:pic>
      <p:pic>
        <p:nvPicPr>
          <p:cNvPr id="119" name="Picture 11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684" y="4364672"/>
            <a:ext cx="128699" cy="18719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276225" y="5343525"/>
            <a:ext cx="719984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'Camera Units Built into Conventional Incubators' accounts for the largest share of the Global market by product type (</a:t>
            </a:r>
          </a:p>
        </p:txBody>
      </p:sp>
      <p:pic>
        <p:nvPicPr>
          <p:cNvPr id="121" name="Picture 1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224" y="5333301"/>
            <a:ext cx="134549" cy="195707"/>
          </a:xfrm>
          <a:prstGeom prst="rect">
            <a:avLst/>
          </a:prstGeom>
        </p:spPr>
      </p:pic>
      <p:sp>
        <p:nvSpPr>
          <p:cNvPr id="122" name="TextBox 121"/>
          <p:cNvSpPr txBox="1"/>
          <p:nvPr/>
        </p:nvSpPr>
        <p:spPr>
          <a:xfrm>
            <a:off x="7600334" y="5343525"/>
            <a:ext cx="58252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</a:t>
            </a:r>
          </a:p>
        </p:txBody>
      </p:sp>
      <p:pic>
        <p:nvPicPr>
          <p:cNvPr id="123" name="Picture 1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013" y="5333301"/>
            <a:ext cx="134549" cy="195707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8307122" y="5343525"/>
            <a:ext cx="340479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in 2026E), with 'Standalone Fertility Clinics' its leading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6225" y="5518785"/>
            <a:ext cx="154725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 user sub-segment at</a:t>
            </a:r>
          </a:p>
        </p:txBody>
      </p:sp>
      <p:pic>
        <p:nvPicPr>
          <p:cNvPr id="126" name="Picture 1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2633" y="5508561"/>
            <a:ext cx="134549" cy="195707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1947742" y="5518785"/>
            <a:ext cx="58281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276225" y="5746622"/>
            <a:ext cx="663219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'QC and Validation Dishes × Veterinary and Animal Breeding Centres' is the single largest cross-sectional cell (</a:t>
            </a:r>
          </a:p>
        </p:txBody>
      </p:sp>
      <p:pic>
        <p:nvPicPr>
          <p:cNvPr id="129" name="Picture 1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7569" y="5736399"/>
            <a:ext cx="134549" cy="195707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7032678" y="5746622"/>
            <a:ext cx="478941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 2026E), while 'Time-Lapse Culture Dishes × Standalone Fertility Clinics'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76225" y="5921882"/>
            <a:ext cx="242439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records the fastest growth at a CAGR of</a:t>
            </a:r>
          </a:p>
        </p:txBody>
      </p:sp>
      <p:pic>
        <p:nvPicPr>
          <p:cNvPr id="132" name="Picture 1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771" y="5911659"/>
            <a:ext cx="134549" cy="195707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2824880" y="5921882"/>
            <a:ext cx="135449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over 2026E–2036F.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276225" y="6149720"/>
            <a:ext cx="567402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Combined, the top three product type × end user cells generate an absolute $ opportunity of</a:t>
            </a:r>
          </a:p>
        </p:txBody>
      </p:sp>
      <p:pic>
        <p:nvPicPr>
          <p:cNvPr id="135" name="Picture 1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9401" y="6139497"/>
            <a:ext cx="134549" cy="195707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6074510" y="6149720"/>
            <a:ext cx="115538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Share Analysis: Product Type × End User, 2026E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share of global market value, each row split across all end user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181350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Value Share, Product Type × End User, 2026E (% of each row)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0" cy="27146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7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8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1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81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64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Standalone Fertility Clinics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Hospital-based IVF 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Academic and Research Institutes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and Animal Breeding 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5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396240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4295775"/>
            <a:ext cx="7286625" cy="24288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8125" y="4352925"/>
            <a:ext cx="7096125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End User Mix by Product Type, 2026E (% share)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38125" y="4581525"/>
          <a:ext cx="7096125" cy="2085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581900" y="4295775"/>
            <a:ext cx="4457700" cy="2428875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15250" y="4381500"/>
            <a:ext cx="4191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Share Insights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5250" y="4619625"/>
            <a:ext cx="4191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15250" y="4705350"/>
            <a:ext cx="4191000" cy="19431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3" name="Picture 2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1514202"/>
            <a:ext cx="294837" cy="187198"/>
          </a:xfrm>
          <a:prstGeom prst="rect">
            <a:avLst/>
          </a:prstGeom>
        </p:spPr>
      </p:pic>
      <p:pic>
        <p:nvPicPr>
          <p:cNvPr id="24" name="Picture 2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1514202"/>
            <a:ext cx="294837" cy="187198"/>
          </a:xfrm>
          <a:prstGeom prst="rect">
            <a:avLst/>
          </a:prstGeom>
        </p:spPr>
      </p:pic>
      <p:pic>
        <p:nvPicPr>
          <p:cNvPr id="25" name="Picture 2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1514202"/>
            <a:ext cx="294837" cy="187198"/>
          </a:xfrm>
          <a:prstGeom prst="rect">
            <a:avLst/>
          </a:prstGeom>
        </p:spPr>
      </p:pic>
      <p:pic>
        <p:nvPicPr>
          <p:cNvPr id="26" name="Picture 2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1514202"/>
            <a:ext cx="294837" cy="187198"/>
          </a:xfrm>
          <a:prstGeom prst="rect">
            <a:avLst/>
          </a:prstGeom>
        </p:spPr>
      </p:pic>
      <p:pic>
        <p:nvPicPr>
          <p:cNvPr id="27" name="Picture 2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1514202"/>
            <a:ext cx="294837" cy="187198"/>
          </a:xfrm>
          <a:prstGeom prst="rect">
            <a:avLst/>
          </a:prstGeom>
        </p:spPr>
      </p:pic>
      <p:pic>
        <p:nvPicPr>
          <p:cNvPr id="28" name="Picture 2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1761052"/>
            <a:ext cx="294837" cy="187198"/>
          </a:xfrm>
          <a:prstGeom prst="rect">
            <a:avLst/>
          </a:prstGeom>
        </p:spPr>
      </p:pic>
      <p:pic>
        <p:nvPicPr>
          <p:cNvPr id="29" name="Picture 2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1761052"/>
            <a:ext cx="294837" cy="187198"/>
          </a:xfrm>
          <a:prstGeom prst="rect">
            <a:avLst/>
          </a:prstGeom>
        </p:spPr>
      </p:pic>
      <p:pic>
        <p:nvPicPr>
          <p:cNvPr id="30" name="Picture 2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1761052"/>
            <a:ext cx="294837" cy="187198"/>
          </a:xfrm>
          <a:prstGeom prst="rect">
            <a:avLst/>
          </a:prstGeom>
        </p:spPr>
      </p:pic>
      <p:pic>
        <p:nvPicPr>
          <p:cNvPr id="31" name="Picture 3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1761052"/>
            <a:ext cx="294837" cy="187198"/>
          </a:xfrm>
          <a:prstGeom prst="rect">
            <a:avLst/>
          </a:prstGeom>
        </p:spPr>
      </p:pic>
      <p:pic>
        <p:nvPicPr>
          <p:cNvPr id="32" name="Picture 3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1761052"/>
            <a:ext cx="294837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2007902"/>
            <a:ext cx="294837" cy="187198"/>
          </a:xfrm>
          <a:prstGeom prst="rect">
            <a:avLst/>
          </a:prstGeom>
        </p:spPr>
      </p:pic>
      <p:pic>
        <p:nvPicPr>
          <p:cNvPr id="34" name="Picture 3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2007902"/>
            <a:ext cx="294837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2007902"/>
            <a:ext cx="294837" cy="187198"/>
          </a:xfrm>
          <a:prstGeom prst="rect">
            <a:avLst/>
          </a:prstGeom>
        </p:spPr>
      </p:pic>
      <p:pic>
        <p:nvPicPr>
          <p:cNvPr id="36" name="Picture 3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2007902"/>
            <a:ext cx="294837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2007902"/>
            <a:ext cx="294837" cy="187198"/>
          </a:xfrm>
          <a:prstGeom prst="rect">
            <a:avLst/>
          </a:prstGeom>
        </p:spPr>
      </p:pic>
      <p:pic>
        <p:nvPicPr>
          <p:cNvPr id="38" name="Picture 3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2254752"/>
            <a:ext cx="294837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2254752"/>
            <a:ext cx="294837" cy="187198"/>
          </a:xfrm>
          <a:prstGeom prst="rect">
            <a:avLst/>
          </a:prstGeom>
        </p:spPr>
      </p:pic>
      <p:pic>
        <p:nvPicPr>
          <p:cNvPr id="40" name="Picture 3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2254752"/>
            <a:ext cx="294837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2254752"/>
            <a:ext cx="294837" cy="187198"/>
          </a:xfrm>
          <a:prstGeom prst="rect">
            <a:avLst/>
          </a:prstGeom>
        </p:spPr>
      </p:pic>
      <p:pic>
        <p:nvPicPr>
          <p:cNvPr id="42" name="Picture 4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2254752"/>
            <a:ext cx="294837" cy="187198"/>
          </a:xfrm>
          <a:prstGeom prst="rect">
            <a:avLst/>
          </a:prstGeom>
        </p:spPr>
      </p:pic>
      <p:pic>
        <p:nvPicPr>
          <p:cNvPr id="43" name="Picture 4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2501602"/>
            <a:ext cx="294837" cy="187198"/>
          </a:xfrm>
          <a:prstGeom prst="rect">
            <a:avLst/>
          </a:prstGeom>
        </p:spPr>
      </p:pic>
      <p:pic>
        <p:nvPicPr>
          <p:cNvPr id="44" name="Picture 4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2501602"/>
            <a:ext cx="294837" cy="187198"/>
          </a:xfrm>
          <a:prstGeom prst="rect">
            <a:avLst/>
          </a:prstGeom>
        </p:spPr>
      </p:pic>
      <p:pic>
        <p:nvPicPr>
          <p:cNvPr id="45" name="Picture 4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2501602"/>
            <a:ext cx="294837" cy="187198"/>
          </a:xfrm>
          <a:prstGeom prst="rect">
            <a:avLst/>
          </a:prstGeom>
        </p:spPr>
      </p:pic>
      <p:pic>
        <p:nvPicPr>
          <p:cNvPr id="46" name="Picture 4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2501602"/>
            <a:ext cx="294837" cy="187198"/>
          </a:xfrm>
          <a:prstGeom prst="rect">
            <a:avLst/>
          </a:prstGeom>
        </p:spPr>
      </p:pic>
      <p:pic>
        <p:nvPicPr>
          <p:cNvPr id="47" name="Picture 4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2501602"/>
            <a:ext cx="294837" cy="187198"/>
          </a:xfrm>
          <a:prstGeom prst="rect">
            <a:avLst/>
          </a:prstGeom>
        </p:spPr>
      </p:pic>
      <p:pic>
        <p:nvPicPr>
          <p:cNvPr id="48" name="Picture 4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2748452"/>
            <a:ext cx="294837" cy="187198"/>
          </a:xfrm>
          <a:prstGeom prst="rect">
            <a:avLst/>
          </a:prstGeom>
        </p:spPr>
      </p:pic>
      <p:pic>
        <p:nvPicPr>
          <p:cNvPr id="49" name="Picture 4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2748452"/>
            <a:ext cx="294837" cy="187198"/>
          </a:xfrm>
          <a:prstGeom prst="rect">
            <a:avLst/>
          </a:prstGeom>
        </p:spPr>
      </p:pic>
      <p:pic>
        <p:nvPicPr>
          <p:cNvPr id="50" name="Picture 4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2748452"/>
            <a:ext cx="294837" cy="187198"/>
          </a:xfrm>
          <a:prstGeom prst="rect">
            <a:avLst/>
          </a:prstGeom>
        </p:spPr>
      </p:pic>
      <p:pic>
        <p:nvPicPr>
          <p:cNvPr id="51" name="Picture 5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2748452"/>
            <a:ext cx="294837" cy="187198"/>
          </a:xfrm>
          <a:prstGeom prst="rect">
            <a:avLst/>
          </a:prstGeom>
        </p:spPr>
      </p:pic>
      <p:pic>
        <p:nvPicPr>
          <p:cNvPr id="52" name="Picture 5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2748452"/>
            <a:ext cx="294837" cy="187198"/>
          </a:xfrm>
          <a:prstGeom prst="rect">
            <a:avLst/>
          </a:prstGeom>
        </p:spPr>
      </p:pic>
      <p:pic>
        <p:nvPicPr>
          <p:cNvPr id="53" name="Picture 5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2995302"/>
            <a:ext cx="294837" cy="187198"/>
          </a:xfrm>
          <a:prstGeom prst="rect">
            <a:avLst/>
          </a:prstGeom>
        </p:spPr>
      </p:pic>
      <p:pic>
        <p:nvPicPr>
          <p:cNvPr id="54" name="Picture 5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2995302"/>
            <a:ext cx="294837" cy="187198"/>
          </a:xfrm>
          <a:prstGeom prst="rect">
            <a:avLst/>
          </a:prstGeom>
        </p:spPr>
      </p:pic>
      <p:pic>
        <p:nvPicPr>
          <p:cNvPr id="55" name="Picture 5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2995302"/>
            <a:ext cx="294837" cy="187198"/>
          </a:xfrm>
          <a:prstGeom prst="rect">
            <a:avLst/>
          </a:prstGeom>
        </p:spPr>
      </p:pic>
      <p:pic>
        <p:nvPicPr>
          <p:cNvPr id="56" name="Picture 5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2995302"/>
            <a:ext cx="294837" cy="187198"/>
          </a:xfrm>
          <a:prstGeom prst="rect">
            <a:avLst/>
          </a:prstGeom>
        </p:spPr>
      </p:pic>
      <p:pic>
        <p:nvPicPr>
          <p:cNvPr id="57" name="Picture 5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2995302"/>
            <a:ext cx="294837" cy="187198"/>
          </a:xfrm>
          <a:prstGeom prst="rect">
            <a:avLst/>
          </a:prstGeom>
        </p:spPr>
      </p:pic>
      <p:pic>
        <p:nvPicPr>
          <p:cNvPr id="58" name="Picture 5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3242152"/>
            <a:ext cx="294837" cy="187198"/>
          </a:xfrm>
          <a:prstGeom prst="rect">
            <a:avLst/>
          </a:prstGeom>
        </p:spPr>
      </p:pic>
      <p:pic>
        <p:nvPicPr>
          <p:cNvPr id="59" name="Picture 5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3242152"/>
            <a:ext cx="294837" cy="187198"/>
          </a:xfrm>
          <a:prstGeom prst="rect">
            <a:avLst/>
          </a:prstGeom>
        </p:spPr>
      </p:pic>
      <p:pic>
        <p:nvPicPr>
          <p:cNvPr id="60" name="Picture 5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3242152"/>
            <a:ext cx="294837" cy="187198"/>
          </a:xfrm>
          <a:prstGeom prst="rect">
            <a:avLst/>
          </a:prstGeom>
        </p:spPr>
      </p:pic>
      <p:pic>
        <p:nvPicPr>
          <p:cNvPr id="61" name="Picture 6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3242152"/>
            <a:ext cx="294837" cy="187198"/>
          </a:xfrm>
          <a:prstGeom prst="rect">
            <a:avLst/>
          </a:prstGeom>
        </p:spPr>
      </p:pic>
      <p:pic>
        <p:nvPicPr>
          <p:cNvPr id="62" name="Picture 6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3242152"/>
            <a:ext cx="294837" cy="187198"/>
          </a:xfrm>
          <a:prstGeom prst="rect">
            <a:avLst/>
          </a:prstGeom>
        </p:spPr>
      </p:pic>
      <p:pic>
        <p:nvPicPr>
          <p:cNvPr id="63" name="Picture 6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3489002"/>
            <a:ext cx="294837" cy="187198"/>
          </a:xfrm>
          <a:prstGeom prst="rect">
            <a:avLst/>
          </a:prstGeom>
        </p:spPr>
      </p:pic>
      <p:pic>
        <p:nvPicPr>
          <p:cNvPr id="64" name="Picture 6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3489002"/>
            <a:ext cx="294837" cy="187198"/>
          </a:xfrm>
          <a:prstGeom prst="rect">
            <a:avLst/>
          </a:prstGeom>
        </p:spPr>
      </p:pic>
      <p:pic>
        <p:nvPicPr>
          <p:cNvPr id="65" name="Picture 6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3489002"/>
            <a:ext cx="294837" cy="187198"/>
          </a:xfrm>
          <a:prstGeom prst="rect">
            <a:avLst/>
          </a:prstGeom>
        </p:spPr>
      </p:pic>
      <p:pic>
        <p:nvPicPr>
          <p:cNvPr id="66" name="Picture 6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3489002"/>
            <a:ext cx="294837" cy="187198"/>
          </a:xfrm>
          <a:prstGeom prst="rect">
            <a:avLst/>
          </a:prstGeom>
        </p:spPr>
      </p:pic>
      <p:pic>
        <p:nvPicPr>
          <p:cNvPr id="67" name="Picture 6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3489002"/>
            <a:ext cx="294837" cy="187198"/>
          </a:xfrm>
          <a:prstGeom prst="rect">
            <a:avLst/>
          </a:prstGeom>
        </p:spPr>
      </p:pic>
      <p:pic>
        <p:nvPicPr>
          <p:cNvPr id="68" name="Picture 6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5558" y="3735852"/>
            <a:ext cx="294837" cy="187198"/>
          </a:xfrm>
          <a:prstGeom prst="rect">
            <a:avLst/>
          </a:prstGeom>
        </p:spPr>
      </p:pic>
      <p:pic>
        <p:nvPicPr>
          <p:cNvPr id="69" name="Picture 6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404" y="3735852"/>
            <a:ext cx="294837" cy="187198"/>
          </a:xfrm>
          <a:prstGeom prst="rect">
            <a:avLst/>
          </a:prstGeom>
        </p:spPr>
      </p:pic>
      <p:pic>
        <p:nvPicPr>
          <p:cNvPr id="70" name="Picture 6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408" y="3735852"/>
            <a:ext cx="294837" cy="187198"/>
          </a:xfrm>
          <a:prstGeom prst="rect">
            <a:avLst/>
          </a:prstGeom>
        </p:spPr>
      </p:pic>
      <p:pic>
        <p:nvPicPr>
          <p:cNvPr id="71" name="Picture 7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4766" y="3735852"/>
            <a:ext cx="294837" cy="187198"/>
          </a:xfrm>
          <a:prstGeom prst="rect">
            <a:avLst/>
          </a:prstGeom>
        </p:spPr>
      </p:pic>
      <p:pic>
        <p:nvPicPr>
          <p:cNvPr id="72" name="Picture 7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3946" y="3735852"/>
            <a:ext cx="294837" cy="187198"/>
          </a:xfrm>
          <a:prstGeom prst="rect">
            <a:avLst/>
          </a:prstGeom>
        </p:spPr>
      </p:pic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721" y="5068834"/>
            <a:ext cx="169458" cy="246485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2679" y="5068834"/>
            <a:ext cx="169458" cy="246485"/>
          </a:xfrm>
          <a:prstGeom prst="rect">
            <a:avLst/>
          </a:prstGeom>
        </p:spPr>
      </p:pic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7638" y="5068834"/>
            <a:ext cx="169458" cy="246485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596" y="5068834"/>
            <a:ext cx="169458" cy="246485"/>
          </a:xfrm>
          <a:prstGeom prst="rect">
            <a:avLst/>
          </a:prstGeom>
        </p:spPr>
      </p:pic>
      <p:pic>
        <p:nvPicPr>
          <p:cNvPr id="77" name="Picture 76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7554" y="5068834"/>
            <a:ext cx="169458" cy="246485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513" y="5068834"/>
            <a:ext cx="169458" cy="246485"/>
          </a:xfrm>
          <a:prstGeom prst="rect">
            <a:avLst/>
          </a:prstGeom>
        </p:spPr>
      </p:pic>
      <p:pic>
        <p:nvPicPr>
          <p:cNvPr id="79" name="Picture 78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7471" y="5068834"/>
            <a:ext cx="169458" cy="246485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429" y="5068834"/>
            <a:ext cx="169458" cy="246485"/>
          </a:xfrm>
          <a:prstGeom prst="rect">
            <a:avLst/>
          </a:prstGeom>
        </p:spPr>
      </p:pic>
      <p:pic>
        <p:nvPicPr>
          <p:cNvPr id="81" name="Picture 8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7388" y="5068834"/>
            <a:ext cx="169458" cy="246485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715250" y="4714875"/>
            <a:ext cx="413279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'Hospital-based IVF Centres' holds the highest share of 'Time-Lapse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15250" y="4890135"/>
            <a:ext cx="111851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Culture Dishes' at</a:t>
            </a:r>
          </a:p>
        </p:txBody>
      </p:sp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921" y="4879911"/>
            <a:ext cx="134549" cy="195707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958030" y="4890135"/>
            <a:ext cx="70689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(2026E).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15250" y="5117972"/>
            <a:ext cx="411054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'Time-Lapse Culture Dishes' is the most concentrated product type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15250" y="5293232"/>
            <a:ext cx="117870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sub-segment, with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110" y="5283009"/>
            <a:ext cx="134549" cy="19570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9018219" y="5293232"/>
            <a:ext cx="279324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its value via 'Hospital-based IVF Centres'.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715250" y="5521070"/>
            <a:ext cx="226666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'Hospital-based IVF Centres' gains +</a:t>
            </a:r>
          </a:p>
        </p:txBody>
      </p:sp>
      <p:pic>
        <p:nvPicPr>
          <p:cNvPr id="91" name="Picture 90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068" y="5510847"/>
            <a:ext cx="134549" cy="195707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10106177" y="5521070"/>
            <a:ext cx="161600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of share of the Global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15250" y="5696330"/>
            <a:ext cx="146260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cross-section by 2036F.</a:t>
            </a:r>
          </a:p>
        </p:txBody>
      </p:sp>
      <p:sp>
        <p:nvSpPr>
          <p:cNvPr id="94" name="lockshield_17"/>
          <p:cNvSpPr/>
          <p:nvPr/>
        </p:nvSpPr>
        <p:spPr>
          <a:xfrm>
            <a:off x="238125" y="4581525"/>
            <a:ext cx="7096125" cy="2085975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&amp; Attractiveness: Product Type × End User, 2026E–2036F (1/2)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value 2026E→2036F (US$ Mn) and value CAGR by cell; attractiveness index scored 1–5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$ Opportunity (US$ Mn) and Value CAGR, Product Type × End User, 2026E–2036F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7" cy="31527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5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831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8912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Product Type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Standalone Fertility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Clinics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Hospital-based IVF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Academic and Research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Institutes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Veterinary and Animal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Breeding Centres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715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Clinical Time-Lapse IVF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Research Imaging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In-Incubator Microscope Units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Camera Units Built into Conventional Incubators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Time-Lapse Culture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QC and Validation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Viewing and Annotation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AI-Based Embryo Scoring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Data Management and Remote Access 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71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4400550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16" name="Picture 1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1953635"/>
            <a:ext cx="128699" cy="187198"/>
          </a:xfrm>
          <a:prstGeom prst="rect">
            <a:avLst/>
          </a:prstGeom>
        </p:spPr>
      </p:pic>
      <p:pic>
        <p:nvPicPr>
          <p:cNvPr id="17" name="Picture 1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1953635"/>
            <a:ext cx="294837" cy="187198"/>
          </a:xfrm>
          <a:prstGeom prst="rect">
            <a:avLst/>
          </a:prstGeom>
        </p:spPr>
      </p:pic>
      <p:pic>
        <p:nvPicPr>
          <p:cNvPr id="18" name="Picture 1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1953635"/>
            <a:ext cx="128699" cy="187198"/>
          </a:xfrm>
          <a:prstGeom prst="rect">
            <a:avLst/>
          </a:prstGeom>
        </p:spPr>
      </p:pic>
      <p:pic>
        <p:nvPicPr>
          <p:cNvPr id="19" name="Picture 1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1953635"/>
            <a:ext cx="294837" cy="187198"/>
          </a:xfrm>
          <a:prstGeom prst="rect">
            <a:avLst/>
          </a:prstGeom>
        </p:spPr>
      </p:pic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1953635"/>
            <a:ext cx="128699" cy="187198"/>
          </a:xfrm>
          <a:prstGeom prst="rect">
            <a:avLst/>
          </a:prstGeom>
        </p:spPr>
      </p:pic>
      <p:pic>
        <p:nvPicPr>
          <p:cNvPr id="21" name="Picture 2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1953635"/>
            <a:ext cx="294837" cy="18719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1953635"/>
            <a:ext cx="128699" cy="187198"/>
          </a:xfrm>
          <a:prstGeom prst="rect">
            <a:avLst/>
          </a:prstGeom>
        </p:spPr>
      </p:pic>
      <p:pic>
        <p:nvPicPr>
          <p:cNvPr id="23" name="Picture 2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1953635"/>
            <a:ext cx="294837" cy="187198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1953635"/>
            <a:ext cx="128699" cy="187198"/>
          </a:xfrm>
          <a:prstGeom prst="rect">
            <a:avLst/>
          </a:prstGeom>
        </p:spPr>
      </p:pic>
      <p:pic>
        <p:nvPicPr>
          <p:cNvPr id="25" name="Picture 2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1953635"/>
            <a:ext cx="294837" cy="187198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2200350"/>
            <a:ext cx="128699" cy="187198"/>
          </a:xfrm>
          <a:prstGeom prst="rect">
            <a:avLst/>
          </a:prstGeom>
        </p:spPr>
      </p:pic>
      <p:pic>
        <p:nvPicPr>
          <p:cNvPr id="27" name="Picture 2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2200350"/>
            <a:ext cx="294837" cy="187198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2200350"/>
            <a:ext cx="128699" cy="187198"/>
          </a:xfrm>
          <a:prstGeom prst="rect">
            <a:avLst/>
          </a:prstGeom>
        </p:spPr>
      </p:pic>
      <p:pic>
        <p:nvPicPr>
          <p:cNvPr id="29" name="Picture 2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2200350"/>
            <a:ext cx="294837" cy="187198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2200350"/>
            <a:ext cx="128699" cy="187198"/>
          </a:xfrm>
          <a:prstGeom prst="rect">
            <a:avLst/>
          </a:prstGeom>
        </p:spPr>
      </p:pic>
      <p:pic>
        <p:nvPicPr>
          <p:cNvPr id="31" name="Picture 3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2200350"/>
            <a:ext cx="294837" cy="187198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2200350"/>
            <a:ext cx="128699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2200350"/>
            <a:ext cx="294837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2200350"/>
            <a:ext cx="128699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2200350"/>
            <a:ext cx="294837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2447065"/>
            <a:ext cx="128699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2447065"/>
            <a:ext cx="294837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2447065"/>
            <a:ext cx="128699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2447065"/>
            <a:ext cx="294837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2447065"/>
            <a:ext cx="128699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2447065"/>
            <a:ext cx="294837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2447065"/>
            <a:ext cx="128699" cy="187198"/>
          </a:xfrm>
          <a:prstGeom prst="rect">
            <a:avLst/>
          </a:prstGeom>
        </p:spPr>
      </p:pic>
      <p:pic>
        <p:nvPicPr>
          <p:cNvPr id="43" name="Picture 4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2447065"/>
            <a:ext cx="294837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2447065"/>
            <a:ext cx="128699" cy="187198"/>
          </a:xfrm>
          <a:prstGeom prst="rect">
            <a:avLst/>
          </a:prstGeom>
        </p:spPr>
      </p:pic>
      <p:pic>
        <p:nvPicPr>
          <p:cNvPr id="45" name="Picture 4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2447065"/>
            <a:ext cx="294837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2693780"/>
            <a:ext cx="128699" cy="187198"/>
          </a:xfrm>
          <a:prstGeom prst="rect">
            <a:avLst/>
          </a:prstGeom>
        </p:spPr>
      </p:pic>
      <p:pic>
        <p:nvPicPr>
          <p:cNvPr id="47" name="Picture 4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2693780"/>
            <a:ext cx="294837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2693780"/>
            <a:ext cx="128699" cy="187198"/>
          </a:xfrm>
          <a:prstGeom prst="rect">
            <a:avLst/>
          </a:prstGeom>
        </p:spPr>
      </p:pic>
      <p:pic>
        <p:nvPicPr>
          <p:cNvPr id="49" name="Picture 4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2693780"/>
            <a:ext cx="294837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2693780"/>
            <a:ext cx="128699" cy="187198"/>
          </a:xfrm>
          <a:prstGeom prst="rect">
            <a:avLst/>
          </a:prstGeom>
        </p:spPr>
      </p:pic>
      <p:pic>
        <p:nvPicPr>
          <p:cNvPr id="51" name="Picture 5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2693780"/>
            <a:ext cx="294837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2693780"/>
            <a:ext cx="128699" cy="187198"/>
          </a:xfrm>
          <a:prstGeom prst="rect">
            <a:avLst/>
          </a:prstGeom>
        </p:spPr>
      </p:pic>
      <p:pic>
        <p:nvPicPr>
          <p:cNvPr id="53" name="Picture 5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2693780"/>
            <a:ext cx="294837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2693780"/>
            <a:ext cx="128699" cy="187198"/>
          </a:xfrm>
          <a:prstGeom prst="rect">
            <a:avLst/>
          </a:prstGeom>
        </p:spPr>
      </p:pic>
      <p:pic>
        <p:nvPicPr>
          <p:cNvPr id="55" name="Picture 5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2693780"/>
            <a:ext cx="294837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2940495"/>
            <a:ext cx="128699" cy="187198"/>
          </a:xfrm>
          <a:prstGeom prst="rect">
            <a:avLst/>
          </a:prstGeom>
        </p:spPr>
      </p:pic>
      <p:pic>
        <p:nvPicPr>
          <p:cNvPr id="57" name="Picture 5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2940495"/>
            <a:ext cx="294837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2940495"/>
            <a:ext cx="128699" cy="187198"/>
          </a:xfrm>
          <a:prstGeom prst="rect">
            <a:avLst/>
          </a:prstGeom>
        </p:spPr>
      </p:pic>
      <p:pic>
        <p:nvPicPr>
          <p:cNvPr id="59" name="Picture 5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2940495"/>
            <a:ext cx="294837" cy="187198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2940495"/>
            <a:ext cx="128699" cy="187198"/>
          </a:xfrm>
          <a:prstGeom prst="rect">
            <a:avLst/>
          </a:prstGeom>
        </p:spPr>
      </p:pic>
      <p:pic>
        <p:nvPicPr>
          <p:cNvPr id="61" name="Picture 6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2940495"/>
            <a:ext cx="294837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2940495"/>
            <a:ext cx="128699" cy="187198"/>
          </a:xfrm>
          <a:prstGeom prst="rect">
            <a:avLst/>
          </a:prstGeom>
        </p:spPr>
      </p:pic>
      <p:pic>
        <p:nvPicPr>
          <p:cNvPr id="63" name="Picture 6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2940495"/>
            <a:ext cx="294837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2940495"/>
            <a:ext cx="128699" cy="187198"/>
          </a:xfrm>
          <a:prstGeom prst="rect">
            <a:avLst/>
          </a:prstGeom>
        </p:spPr>
      </p:pic>
      <p:pic>
        <p:nvPicPr>
          <p:cNvPr id="65" name="Picture 6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2940495"/>
            <a:ext cx="294837" cy="187198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3187210"/>
            <a:ext cx="128699" cy="187198"/>
          </a:xfrm>
          <a:prstGeom prst="rect">
            <a:avLst/>
          </a:prstGeom>
        </p:spPr>
      </p:pic>
      <p:pic>
        <p:nvPicPr>
          <p:cNvPr id="67" name="Picture 6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3187210"/>
            <a:ext cx="294837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3187210"/>
            <a:ext cx="128699" cy="187198"/>
          </a:xfrm>
          <a:prstGeom prst="rect">
            <a:avLst/>
          </a:prstGeom>
        </p:spPr>
      </p:pic>
      <p:pic>
        <p:nvPicPr>
          <p:cNvPr id="69" name="Picture 6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3187210"/>
            <a:ext cx="294837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3187210"/>
            <a:ext cx="128699" cy="187198"/>
          </a:xfrm>
          <a:prstGeom prst="rect">
            <a:avLst/>
          </a:prstGeom>
        </p:spPr>
      </p:pic>
      <p:pic>
        <p:nvPicPr>
          <p:cNvPr id="71" name="Picture 7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3187210"/>
            <a:ext cx="294837" cy="187198"/>
          </a:xfrm>
          <a:prstGeom prst="rect">
            <a:avLst/>
          </a:prstGeom>
        </p:spPr>
      </p:pic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3187210"/>
            <a:ext cx="128699" cy="187198"/>
          </a:xfrm>
          <a:prstGeom prst="rect">
            <a:avLst/>
          </a:prstGeom>
        </p:spPr>
      </p:pic>
      <p:pic>
        <p:nvPicPr>
          <p:cNvPr id="73" name="Picture 7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3187210"/>
            <a:ext cx="294837" cy="187198"/>
          </a:xfrm>
          <a:prstGeom prst="rect">
            <a:avLst/>
          </a:prstGeom>
        </p:spPr>
      </p:pic>
      <p:pic>
        <p:nvPicPr>
          <p:cNvPr id="74" name="Picture 7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3187210"/>
            <a:ext cx="128699" cy="187198"/>
          </a:xfrm>
          <a:prstGeom prst="rect">
            <a:avLst/>
          </a:prstGeom>
        </p:spPr>
      </p:pic>
      <p:pic>
        <p:nvPicPr>
          <p:cNvPr id="75" name="Picture 7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3187210"/>
            <a:ext cx="294837" cy="187198"/>
          </a:xfrm>
          <a:prstGeom prst="rect">
            <a:avLst/>
          </a:prstGeom>
        </p:spPr>
      </p:pic>
      <p:pic>
        <p:nvPicPr>
          <p:cNvPr id="76" name="Picture 7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3433925"/>
            <a:ext cx="128699" cy="187198"/>
          </a:xfrm>
          <a:prstGeom prst="rect">
            <a:avLst/>
          </a:prstGeom>
        </p:spPr>
      </p:pic>
      <p:pic>
        <p:nvPicPr>
          <p:cNvPr id="77" name="Picture 7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3433925"/>
            <a:ext cx="294837" cy="187198"/>
          </a:xfrm>
          <a:prstGeom prst="rect">
            <a:avLst/>
          </a:prstGeom>
        </p:spPr>
      </p:pic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3433925"/>
            <a:ext cx="128699" cy="187198"/>
          </a:xfrm>
          <a:prstGeom prst="rect">
            <a:avLst/>
          </a:prstGeom>
        </p:spPr>
      </p:pic>
      <p:pic>
        <p:nvPicPr>
          <p:cNvPr id="79" name="Picture 7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3433925"/>
            <a:ext cx="294837" cy="187198"/>
          </a:xfrm>
          <a:prstGeom prst="rect">
            <a:avLst/>
          </a:prstGeom>
        </p:spPr>
      </p:pic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3433925"/>
            <a:ext cx="128699" cy="187198"/>
          </a:xfrm>
          <a:prstGeom prst="rect">
            <a:avLst/>
          </a:prstGeom>
        </p:spPr>
      </p:pic>
      <p:pic>
        <p:nvPicPr>
          <p:cNvPr id="81" name="Picture 8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3433925"/>
            <a:ext cx="294837" cy="187198"/>
          </a:xfrm>
          <a:prstGeom prst="rect">
            <a:avLst/>
          </a:prstGeom>
        </p:spPr>
      </p:pic>
      <p:pic>
        <p:nvPicPr>
          <p:cNvPr id="82" name="Picture 8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3433925"/>
            <a:ext cx="128699" cy="187198"/>
          </a:xfrm>
          <a:prstGeom prst="rect">
            <a:avLst/>
          </a:prstGeom>
        </p:spPr>
      </p:pic>
      <p:pic>
        <p:nvPicPr>
          <p:cNvPr id="83" name="Picture 8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3433925"/>
            <a:ext cx="294837" cy="187198"/>
          </a:xfrm>
          <a:prstGeom prst="rect">
            <a:avLst/>
          </a:prstGeom>
        </p:spPr>
      </p:pic>
      <p:pic>
        <p:nvPicPr>
          <p:cNvPr id="84" name="Picture 8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3433925"/>
            <a:ext cx="128699" cy="187198"/>
          </a:xfrm>
          <a:prstGeom prst="rect">
            <a:avLst/>
          </a:prstGeom>
        </p:spPr>
      </p:pic>
      <p:pic>
        <p:nvPicPr>
          <p:cNvPr id="85" name="Picture 8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3433925"/>
            <a:ext cx="294837" cy="187198"/>
          </a:xfrm>
          <a:prstGeom prst="rect">
            <a:avLst/>
          </a:prstGeom>
        </p:spPr>
      </p:pic>
      <p:pic>
        <p:nvPicPr>
          <p:cNvPr id="86" name="Picture 8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3680640"/>
            <a:ext cx="128699" cy="187198"/>
          </a:xfrm>
          <a:prstGeom prst="rect">
            <a:avLst/>
          </a:prstGeom>
        </p:spPr>
      </p:pic>
      <p:pic>
        <p:nvPicPr>
          <p:cNvPr id="87" name="Picture 8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3680640"/>
            <a:ext cx="294837" cy="187198"/>
          </a:xfrm>
          <a:prstGeom prst="rect">
            <a:avLst/>
          </a:prstGeom>
        </p:spPr>
      </p:pic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3680640"/>
            <a:ext cx="128699" cy="187198"/>
          </a:xfrm>
          <a:prstGeom prst="rect">
            <a:avLst/>
          </a:prstGeom>
        </p:spPr>
      </p:pic>
      <p:pic>
        <p:nvPicPr>
          <p:cNvPr id="89" name="Picture 8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3680640"/>
            <a:ext cx="294837" cy="187198"/>
          </a:xfrm>
          <a:prstGeom prst="rect">
            <a:avLst/>
          </a:prstGeom>
        </p:spPr>
      </p:pic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3680640"/>
            <a:ext cx="128699" cy="187198"/>
          </a:xfrm>
          <a:prstGeom prst="rect">
            <a:avLst/>
          </a:prstGeom>
        </p:spPr>
      </p:pic>
      <p:pic>
        <p:nvPicPr>
          <p:cNvPr id="91" name="Picture 9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3680640"/>
            <a:ext cx="294837" cy="187198"/>
          </a:xfrm>
          <a:prstGeom prst="rect">
            <a:avLst/>
          </a:prstGeom>
        </p:spPr>
      </p:pic>
      <p:pic>
        <p:nvPicPr>
          <p:cNvPr id="92" name="Picture 9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3680640"/>
            <a:ext cx="128699" cy="187198"/>
          </a:xfrm>
          <a:prstGeom prst="rect">
            <a:avLst/>
          </a:prstGeom>
        </p:spPr>
      </p:pic>
      <p:pic>
        <p:nvPicPr>
          <p:cNvPr id="93" name="Picture 9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3680640"/>
            <a:ext cx="294837" cy="187198"/>
          </a:xfrm>
          <a:prstGeom prst="rect">
            <a:avLst/>
          </a:prstGeom>
        </p:spPr>
      </p:pic>
      <p:pic>
        <p:nvPicPr>
          <p:cNvPr id="94" name="Picture 9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3680640"/>
            <a:ext cx="128699" cy="187198"/>
          </a:xfrm>
          <a:prstGeom prst="rect">
            <a:avLst/>
          </a:prstGeom>
        </p:spPr>
      </p:pic>
      <p:pic>
        <p:nvPicPr>
          <p:cNvPr id="95" name="Picture 9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3680640"/>
            <a:ext cx="294837" cy="187198"/>
          </a:xfrm>
          <a:prstGeom prst="rect">
            <a:avLst/>
          </a:prstGeom>
        </p:spPr>
      </p:pic>
      <p:pic>
        <p:nvPicPr>
          <p:cNvPr id="96" name="Picture 9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3927355"/>
            <a:ext cx="128699" cy="187198"/>
          </a:xfrm>
          <a:prstGeom prst="rect">
            <a:avLst/>
          </a:prstGeom>
        </p:spPr>
      </p:pic>
      <p:pic>
        <p:nvPicPr>
          <p:cNvPr id="97" name="Picture 9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3927355"/>
            <a:ext cx="294837" cy="187198"/>
          </a:xfrm>
          <a:prstGeom prst="rect">
            <a:avLst/>
          </a:prstGeom>
        </p:spPr>
      </p:pic>
      <p:pic>
        <p:nvPicPr>
          <p:cNvPr id="98" name="Picture 9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3927355"/>
            <a:ext cx="128699" cy="187198"/>
          </a:xfrm>
          <a:prstGeom prst="rect">
            <a:avLst/>
          </a:prstGeom>
        </p:spPr>
      </p:pic>
      <p:pic>
        <p:nvPicPr>
          <p:cNvPr id="99" name="Picture 9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3927355"/>
            <a:ext cx="294837" cy="187198"/>
          </a:xfrm>
          <a:prstGeom prst="rect">
            <a:avLst/>
          </a:prstGeom>
        </p:spPr>
      </p:pic>
      <p:pic>
        <p:nvPicPr>
          <p:cNvPr id="100" name="Picture 9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3927355"/>
            <a:ext cx="128699" cy="187198"/>
          </a:xfrm>
          <a:prstGeom prst="rect">
            <a:avLst/>
          </a:prstGeom>
        </p:spPr>
      </p:pic>
      <p:pic>
        <p:nvPicPr>
          <p:cNvPr id="101" name="Picture 10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3927355"/>
            <a:ext cx="294837" cy="187198"/>
          </a:xfrm>
          <a:prstGeom prst="rect">
            <a:avLst/>
          </a:prstGeom>
        </p:spPr>
      </p:pic>
      <p:pic>
        <p:nvPicPr>
          <p:cNvPr id="102" name="Picture 10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3927355"/>
            <a:ext cx="128699" cy="187198"/>
          </a:xfrm>
          <a:prstGeom prst="rect">
            <a:avLst/>
          </a:prstGeom>
        </p:spPr>
      </p:pic>
      <p:pic>
        <p:nvPicPr>
          <p:cNvPr id="103" name="Picture 10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3927355"/>
            <a:ext cx="294837" cy="187198"/>
          </a:xfrm>
          <a:prstGeom prst="rect">
            <a:avLst/>
          </a:prstGeom>
        </p:spPr>
      </p:pic>
      <p:pic>
        <p:nvPicPr>
          <p:cNvPr id="104" name="Picture 10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3927355"/>
            <a:ext cx="128699" cy="187198"/>
          </a:xfrm>
          <a:prstGeom prst="rect">
            <a:avLst/>
          </a:prstGeom>
        </p:spPr>
      </p:pic>
      <p:pic>
        <p:nvPicPr>
          <p:cNvPr id="105" name="Picture 10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3927355"/>
            <a:ext cx="294837" cy="187198"/>
          </a:xfrm>
          <a:prstGeom prst="rect">
            <a:avLst/>
          </a:prstGeom>
        </p:spPr>
      </p:pic>
      <p:pic>
        <p:nvPicPr>
          <p:cNvPr id="106" name="Picture 10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961" y="4174070"/>
            <a:ext cx="128699" cy="187198"/>
          </a:xfrm>
          <a:prstGeom prst="rect">
            <a:avLst/>
          </a:prstGeom>
        </p:spPr>
      </p:pic>
      <p:pic>
        <p:nvPicPr>
          <p:cNvPr id="107" name="Picture 10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080" y="4174070"/>
            <a:ext cx="294837" cy="187198"/>
          </a:xfrm>
          <a:prstGeom prst="rect">
            <a:avLst/>
          </a:prstGeom>
        </p:spPr>
      </p:pic>
      <p:pic>
        <p:nvPicPr>
          <p:cNvPr id="108" name="Picture 10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1337" y="4174070"/>
            <a:ext cx="128699" cy="187198"/>
          </a:xfrm>
          <a:prstGeom prst="rect">
            <a:avLst/>
          </a:prstGeom>
        </p:spPr>
      </p:pic>
      <p:pic>
        <p:nvPicPr>
          <p:cNvPr id="109" name="Picture 10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456" y="4174070"/>
            <a:ext cx="294837" cy="187198"/>
          </a:xfrm>
          <a:prstGeom prst="rect">
            <a:avLst/>
          </a:prstGeom>
        </p:spPr>
      </p:pic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7713" y="4174070"/>
            <a:ext cx="128699" cy="187198"/>
          </a:xfrm>
          <a:prstGeom prst="rect">
            <a:avLst/>
          </a:prstGeom>
        </p:spPr>
      </p:pic>
      <p:pic>
        <p:nvPicPr>
          <p:cNvPr id="111" name="Picture 11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7832" y="4174070"/>
            <a:ext cx="294837" cy="187198"/>
          </a:xfrm>
          <a:prstGeom prst="rect">
            <a:avLst/>
          </a:prstGeom>
        </p:spPr>
      </p:pic>
      <p:pic>
        <p:nvPicPr>
          <p:cNvPr id="112" name="Picture 11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089" y="4174070"/>
            <a:ext cx="128699" cy="187198"/>
          </a:xfrm>
          <a:prstGeom prst="rect">
            <a:avLst/>
          </a:prstGeom>
        </p:spPr>
      </p:pic>
      <p:pic>
        <p:nvPicPr>
          <p:cNvPr id="113" name="Picture 11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4208" y="4174070"/>
            <a:ext cx="294837" cy="187198"/>
          </a:xfrm>
          <a:prstGeom prst="rect">
            <a:avLst/>
          </a:prstGeom>
        </p:spPr>
      </p:pic>
      <p:pic>
        <p:nvPicPr>
          <p:cNvPr id="114" name="Picture 11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0465" y="4174070"/>
            <a:ext cx="128699" cy="187198"/>
          </a:xfrm>
          <a:prstGeom prst="rect">
            <a:avLst/>
          </a:prstGeom>
        </p:spPr>
      </p:pic>
      <p:pic>
        <p:nvPicPr>
          <p:cNvPr id="115" name="Picture 11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0584" y="4174070"/>
            <a:ext cx="294837" cy="1871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10506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&amp; Attractiveness: Product Type × End User, 2026E–2036F (2/2)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value 2026E→2036F (US$ Mn) and value CAGR by cell; attractiveness index scored 1–5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2875" y="981075"/>
            <a:ext cx="5600700" cy="5743575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6225" y="1066800"/>
            <a:ext cx="5334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5 Opportunity Cells (US$ Mn · CAGR · Index)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6225" y="1304925"/>
            <a:ext cx="5334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6225" y="1390650"/>
            <a:ext cx="5334000" cy="52578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895975" y="981075"/>
            <a:ext cx="1943100" cy="574357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29325" y="106680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Largest 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9325" y="130492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29325" y="1390650"/>
            <a:ext cx="1676400" cy="52578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1475" y="981075"/>
            <a:ext cx="1943100" cy="574357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124825" y="106680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Fastest Growth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4825" y="130492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24825" y="1390650"/>
            <a:ext cx="1676400" cy="52578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086975" y="981075"/>
            <a:ext cx="1943100" cy="5743575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220325" y="1066800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Play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20325" y="1304925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220325" y="1390650"/>
            <a:ext cx="1676400" cy="525780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 </a:t>
            </a: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'Research Imaging Incubators × Veterinary and Animal Breeding Centres' ranks highest (5/5); 'Clinical Time-Lapse IVF Incubators × Veterinary and Animal Breeding Centres' lowest (1/5), a deprioritised cell.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225" y="1400175"/>
            <a:ext cx="49791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1. Camera Units Built into Conventional Incubators × Standalone Fertility Clinics –</a:t>
            </a:r>
          </a:p>
        </p:txBody>
      </p:sp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4491" y="1389951"/>
            <a:ext cx="134549" cy="1957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79601" y="1400175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45" y="1565211"/>
            <a:ext cx="134549" cy="1957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7254" y="1575435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4/5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225" y="1803273"/>
            <a:ext cx="371404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2. Time-Lapse Culture Dishes × Hospital-based IVF Centres –</a:t>
            </a:r>
          </a:p>
        </p:txBody>
      </p:sp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422" y="1793049"/>
            <a:ext cx="134549" cy="1957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114531" y="1803273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682" y="1793049"/>
            <a:ext cx="134549" cy="1957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351792" y="1803273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6225" y="2031111"/>
            <a:ext cx="500909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3. Camera Units Built into Conventional Incubators × Hospital-based IVF Centres –</a:t>
            </a:r>
          </a:p>
        </p:txBody>
      </p:sp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474" y="2020887"/>
            <a:ext cx="134549" cy="19570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409584" y="2031111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145" y="2196147"/>
            <a:ext cx="134549" cy="19570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37254" y="2206371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6225" y="2434209"/>
            <a:ext cx="464767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4. Research Imaging Incubators × Veterinary and Animal Breeding Centres –</a:t>
            </a:r>
          </a:p>
        </p:txBody>
      </p:sp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058" y="2423985"/>
            <a:ext cx="134549" cy="19570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048167" y="2434209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0319" y="2423985"/>
            <a:ext cx="134549" cy="1957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285428" y="2434209"/>
            <a:ext cx="18060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6225" y="2609469"/>
            <a:ext cx="35089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 5/5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6225" y="2837307"/>
            <a:ext cx="414762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5. Viewing and Annotation Software × Hospital-based IVF Centres –</a:t>
            </a:r>
          </a:p>
        </p:txBody>
      </p:sp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3007" y="2827083"/>
            <a:ext cx="134549" cy="19570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48117" y="2837307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0268" y="2827083"/>
            <a:ext cx="134549" cy="19570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785378" y="2837307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29325" y="1400175"/>
            <a:ext cx="157007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'Camera Units Built into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29325" y="1575435"/>
            <a:ext cx="16351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Conventional Incubators 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29325" y="1750695"/>
            <a:ext cx="165735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Standalone Fertility Clinics'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29325" y="1925955"/>
            <a:ext cx="35660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adds</a:t>
            </a:r>
          </a:p>
        </p:txBody>
      </p:sp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083" y="1915731"/>
            <a:ext cx="134549" cy="195707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510192" y="1925955"/>
            <a:ext cx="111880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29325" y="2101215"/>
            <a:ext cx="14893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</a:t>
            </a:r>
          </a:p>
        </p:txBody>
      </p:sp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418" y="2090991"/>
            <a:ext cx="134549" cy="195707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302527" y="2101215"/>
            <a:ext cx="87861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the total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29325" y="2276475"/>
            <a:ext cx="82299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opportunity.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24825" y="1400175"/>
            <a:ext cx="134101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'Time-Lapse Culture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4825" y="1575435"/>
            <a:ext cx="127169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Dishes × Standalone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24825" y="1750695"/>
            <a:ext cx="161853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Fertility Clinics' grows at a</a:t>
            </a:r>
          </a:p>
        </p:txBody>
      </p:sp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45" y="1915731"/>
            <a:ext cx="134549" cy="195707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285854" y="1925955"/>
            <a:ext cx="58393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CAGR,</a:t>
            </a:r>
          </a:p>
        </p:txBody>
      </p:sp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8942" y="1915731"/>
            <a:ext cx="134549" cy="195707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994052" y="1925955"/>
            <a:ext cx="2984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24825" y="2101215"/>
            <a:ext cx="151701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above the cross-section.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1F8FE"/>
              </a:gs>
              <a:gs pos="100000">
                <a:srgbClr val="DAEAF9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5591183"/>
            <a:ext cx="12192000" cy="1266817"/>
          </a:xfrm>
          <a:custGeom>
            <a:avLst/>
            <a:gdLst/>
            <a:ahLst/>
            <a:cxnLst/>
            <a:rect l="l" t="t" r="r" b="b"/>
            <a:pathLst>
              <a:path w="12192000" h="1266817">
                <a:moveTo>
                  <a:pt x="0" y="1266817"/>
                </a:moveTo>
                <a:lnTo>
                  <a:pt x="0" y="475605"/>
                </a:lnTo>
                <a:lnTo>
                  <a:pt x="152400" y="486239"/>
                </a:lnTo>
                <a:lnTo>
                  <a:pt x="304800" y="495887"/>
                </a:lnTo>
                <a:lnTo>
                  <a:pt x="457200" y="504505"/>
                </a:lnTo>
                <a:lnTo>
                  <a:pt x="609600" y="512056"/>
                </a:lnTo>
                <a:lnTo>
                  <a:pt x="762000" y="518505"/>
                </a:lnTo>
                <a:lnTo>
                  <a:pt x="914400" y="523824"/>
                </a:lnTo>
                <a:lnTo>
                  <a:pt x="1066800" y="527988"/>
                </a:lnTo>
                <a:lnTo>
                  <a:pt x="1219200" y="530979"/>
                </a:lnTo>
                <a:lnTo>
                  <a:pt x="1371600" y="532783"/>
                </a:lnTo>
                <a:lnTo>
                  <a:pt x="1524000" y="533392"/>
                </a:lnTo>
                <a:lnTo>
                  <a:pt x="1676400" y="532804"/>
                </a:lnTo>
                <a:lnTo>
                  <a:pt x="1828800" y="531021"/>
                </a:lnTo>
                <a:lnTo>
                  <a:pt x="1981200" y="528051"/>
                </a:lnTo>
                <a:lnTo>
                  <a:pt x="2133600" y="523907"/>
                </a:lnTo>
                <a:lnTo>
                  <a:pt x="2286000" y="518609"/>
                </a:lnTo>
                <a:lnTo>
                  <a:pt x="2438400" y="512179"/>
                </a:lnTo>
                <a:lnTo>
                  <a:pt x="2590800" y="504648"/>
                </a:lnTo>
                <a:lnTo>
                  <a:pt x="2743200" y="496047"/>
                </a:lnTo>
                <a:lnTo>
                  <a:pt x="2895600" y="486417"/>
                </a:lnTo>
                <a:lnTo>
                  <a:pt x="3048000" y="475801"/>
                </a:lnTo>
                <a:lnTo>
                  <a:pt x="3200400" y="464245"/>
                </a:lnTo>
                <a:lnTo>
                  <a:pt x="3352800" y="451803"/>
                </a:lnTo>
                <a:lnTo>
                  <a:pt x="3505200" y="438529"/>
                </a:lnTo>
                <a:lnTo>
                  <a:pt x="3657600" y="424484"/>
                </a:lnTo>
                <a:lnTo>
                  <a:pt x="3810000" y="409730"/>
                </a:lnTo>
                <a:lnTo>
                  <a:pt x="3962400" y="394334"/>
                </a:lnTo>
                <a:lnTo>
                  <a:pt x="4114800" y="378365"/>
                </a:lnTo>
                <a:lnTo>
                  <a:pt x="4267200" y="361894"/>
                </a:lnTo>
                <a:lnTo>
                  <a:pt x="4419600" y="344996"/>
                </a:lnTo>
                <a:lnTo>
                  <a:pt x="4572000" y="327746"/>
                </a:lnTo>
                <a:lnTo>
                  <a:pt x="4724400" y="310223"/>
                </a:lnTo>
                <a:lnTo>
                  <a:pt x="4876800" y="292503"/>
                </a:lnTo>
                <a:lnTo>
                  <a:pt x="5029200" y="274668"/>
                </a:lnTo>
                <a:lnTo>
                  <a:pt x="5181600" y="256797"/>
                </a:lnTo>
                <a:lnTo>
                  <a:pt x="5334000" y="238971"/>
                </a:lnTo>
                <a:lnTo>
                  <a:pt x="5486400" y="221269"/>
                </a:lnTo>
                <a:lnTo>
                  <a:pt x="5638800" y="203771"/>
                </a:lnTo>
                <a:lnTo>
                  <a:pt x="5791200" y="186555"/>
                </a:lnTo>
                <a:lnTo>
                  <a:pt x="5943600" y="169699"/>
                </a:lnTo>
                <a:lnTo>
                  <a:pt x="6096000" y="153279"/>
                </a:lnTo>
                <a:lnTo>
                  <a:pt x="6248400" y="137368"/>
                </a:lnTo>
                <a:lnTo>
                  <a:pt x="6400800" y="122038"/>
                </a:lnTo>
                <a:lnTo>
                  <a:pt x="6553200" y="107357"/>
                </a:lnTo>
                <a:lnTo>
                  <a:pt x="6705600" y="93391"/>
                </a:lnTo>
                <a:lnTo>
                  <a:pt x="6858000" y="80204"/>
                </a:lnTo>
                <a:lnTo>
                  <a:pt x="7010400" y="67854"/>
                </a:lnTo>
                <a:lnTo>
                  <a:pt x="7162800" y="56397"/>
                </a:lnTo>
                <a:lnTo>
                  <a:pt x="7315200" y="45884"/>
                </a:lnTo>
                <a:lnTo>
                  <a:pt x="7467600" y="36363"/>
                </a:lnTo>
                <a:lnTo>
                  <a:pt x="7620000" y="27876"/>
                </a:lnTo>
                <a:lnTo>
                  <a:pt x="7772400" y="20461"/>
                </a:lnTo>
                <a:lnTo>
                  <a:pt x="7924800" y="14151"/>
                </a:lnTo>
                <a:lnTo>
                  <a:pt x="8077200" y="8976"/>
                </a:lnTo>
                <a:lnTo>
                  <a:pt x="8229600" y="4958"/>
                </a:lnTo>
                <a:lnTo>
                  <a:pt x="8382000" y="2115"/>
                </a:lnTo>
                <a:lnTo>
                  <a:pt x="8534400" y="460"/>
                </a:lnTo>
                <a:lnTo>
                  <a:pt x="8686800" y="0"/>
                </a:lnTo>
                <a:lnTo>
                  <a:pt x="8839200" y="738"/>
                </a:lnTo>
                <a:lnTo>
                  <a:pt x="8991600" y="2670"/>
                </a:lnTo>
                <a:lnTo>
                  <a:pt x="9144000" y="5787"/>
                </a:lnTo>
                <a:lnTo>
                  <a:pt x="9296400" y="10076"/>
                </a:lnTo>
                <a:lnTo>
                  <a:pt x="9448800" y="15518"/>
                </a:lnTo>
                <a:lnTo>
                  <a:pt x="9601200" y="22086"/>
                </a:lnTo>
                <a:lnTo>
                  <a:pt x="9753600" y="29754"/>
                </a:lnTo>
                <a:lnTo>
                  <a:pt x="9906000" y="38485"/>
                </a:lnTo>
                <a:lnTo>
                  <a:pt x="10058400" y="48241"/>
                </a:lnTo>
                <a:lnTo>
                  <a:pt x="10210800" y="58977"/>
                </a:lnTo>
                <a:lnTo>
                  <a:pt x="10363200" y="70647"/>
                </a:lnTo>
                <a:lnTo>
                  <a:pt x="10515600" y="83196"/>
                </a:lnTo>
                <a:lnTo>
                  <a:pt x="10668000" y="96570"/>
                </a:lnTo>
                <a:lnTo>
                  <a:pt x="10820400" y="110707"/>
                </a:lnTo>
                <a:lnTo>
                  <a:pt x="10972800" y="125545"/>
                </a:lnTo>
                <a:lnTo>
                  <a:pt x="11125200" y="141016"/>
                </a:lnTo>
                <a:lnTo>
                  <a:pt x="11277600" y="157052"/>
                </a:lnTo>
                <a:lnTo>
                  <a:pt x="11430000" y="173580"/>
                </a:lnTo>
                <a:lnTo>
                  <a:pt x="11582400" y="190527"/>
                </a:lnTo>
                <a:lnTo>
                  <a:pt x="11734800" y="207815"/>
                </a:lnTo>
                <a:lnTo>
                  <a:pt x="11887200" y="225367"/>
                </a:lnTo>
                <a:lnTo>
                  <a:pt x="12039600" y="243105"/>
                </a:lnTo>
                <a:lnTo>
                  <a:pt x="12192000" y="260949"/>
                </a:lnTo>
                <a:lnTo>
                  <a:pt x="12192000" y="1266817"/>
                </a:lnTo>
                <a:close/>
              </a:path>
            </a:pathLst>
          </a:custGeom>
          <a:solidFill>
            <a:srgbClr val="C8E0F6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0" y="5905543"/>
            <a:ext cx="12192000" cy="952457"/>
          </a:xfrm>
          <a:custGeom>
            <a:avLst/>
            <a:gdLst/>
            <a:ahLst/>
            <a:cxnLst/>
            <a:rect l="l" t="t" r="r" b="b"/>
            <a:pathLst>
              <a:path w="12192000" h="952457">
                <a:moveTo>
                  <a:pt x="0" y="952457"/>
                </a:moveTo>
                <a:lnTo>
                  <a:pt x="0" y="288660"/>
                </a:lnTo>
                <a:lnTo>
                  <a:pt x="152400" y="275228"/>
                </a:lnTo>
                <a:lnTo>
                  <a:pt x="304800" y="261249"/>
                </a:lnTo>
                <a:lnTo>
                  <a:pt x="457200" y="246812"/>
                </a:lnTo>
                <a:lnTo>
                  <a:pt x="609600" y="232010"/>
                </a:lnTo>
                <a:lnTo>
                  <a:pt x="762000" y="216940"/>
                </a:lnTo>
                <a:lnTo>
                  <a:pt x="914400" y="201698"/>
                </a:lnTo>
                <a:lnTo>
                  <a:pt x="1066800" y="186384"/>
                </a:lnTo>
                <a:lnTo>
                  <a:pt x="1219200" y="171097"/>
                </a:lnTo>
                <a:lnTo>
                  <a:pt x="1371600" y="155934"/>
                </a:lnTo>
                <a:lnTo>
                  <a:pt x="1524000" y="140995"/>
                </a:lnTo>
                <a:lnTo>
                  <a:pt x="1676400" y="126375"/>
                </a:lnTo>
                <a:lnTo>
                  <a:pt x="1828800" y="112170"/>
                </a:lnTo>
                <a:lnTo>
                  <a:pt x="1981200" y="98470"/>
                </a:lnTo>
                <a:lnTo>
                  <a:pt x="2133600" y="85366"/>
                </a:lnTo>
                <a:lnTo>
                  <a:pt x="2286000" y="72940"/>
                </a:lnTo>
                <a:lnTo>
                  <a:pt x="2438400" y="61275"/>
                </a:lnTo>
                <a:lnTo>
                  <a:pt x="2590800" y="50444"/>
                </a:lnTo>
                <a:lnTo>
                  <a:pt x="2743200" y="40519"/>
                </a:lnTo>
                <a:lnTo>
                  <a:pt x="2895600" y="31563"/>
                </a:lnTo>
                <a:lnTo>
                  <a:pt x="3048000" y="23634"/>
                </a:lnTo>
                <a:lnTo>
                  <a:pt x="3200400" y="16784"/>
                </a:lnTo>
                <a:lnTo>
                  <a:pt x="3352800" y="11056"/>
                </a:lnTo>
                <a:lnTo>
                  <a:pt x="3505200" y="6489"/>
                </a:lnTo>
                <a:lnTo>
                  <a:pt x="3657600" y="3110"/>
                </a:lnTo>
                <a:lnTo>
                  <a:pt x="3810000" y="943"/>
                </a:lnTo>
                <a:lnTo>
                  <a:pt x="3962400" y="0"/>
                </a:lnTo>
                <a:lnTo>
                  <a:pt x="4114800" y="289"/>
                </a:lnTo>
                <a:lnTo>
                  <a:pt x="4267200" y="1808"/>
                </a:lnTo>
                <a:lnTo>
                  <a:pt x="4419600" y="4546"/>
                </a:lnTo>
                <a:lnTo>
                  <a:pt x="4572000" y="8485"/>
                </a:lnTo>
                <a:lnTo>
                  <a:pt x="4724400" y="13601"/>
                </a:lnTo>
                <a:lnTo>
                  <a:pt x="4876800" y="19861"/>
                </a:lnTo>
                <a:lnTo>
                  <a:pt x="5029200" y="27223"/>
                </a:lnTo>
                <a:lnTo>
                  <a:pt x="5181600" y="35641"/>
                </a:lnTo>
                <a:lnTo>
                  <a:pt x="5334000" y="45059"/>
                </a:lnTo>
                <a:lnTo>
                  <a:pt x="5486400" y="55417"/>
                </a:lnTo>
                <a:lnTo>
                  <a:pt x="5638800" y="66649"/>
                </a:lnTo>
                <a:lnTo>
                  <a:pt x="5791200" y="78680"/>
                </a:lnTo>
                <a:lnTo>
                  <a:pt x="5943600" y="91435"/>
                </a:lnTo>
                <a:lnTo>
                  <a:pt x="6096000" y="104829"/>
                </a:lnTo>
                <a:lnTo>
                  <a:pt x="6248400" y="118777"/>
                </a:lnTo>
                <a:lnTo>
                  <a:pt x="6400800" y="133188"/>
                </a:lnTo>
                <a:lnTo>
                  <a:pt x="6553200" y="147970"/>
                </a:lnTo>
                <a:lnTo>
                  <a:pt x="6705600" y="163026"/>
                </a:lnTo>
                <a:lnTo>
                  <a:pt x="6858000" y="178260"/>
                </a:lnTo>
                <a:lnTo>
                  <a:pt x="7010400" y="193572"/>
                </a:lnTo>
                <a:lnTo>
                  <a:pt x="7162800" y="208865"/>
                </a:lnTo>
                <a:lnTo>
                  <a:pt x="7315200" y="224038"/>
                </a:lnTo>
                <a:lnTo>
                  <a:pt x="7467600" y="238994"/>
                </a:lnTo>
                <a:lnTo>
                  <a:pt x="7620000" y="253637"/>
                </a:lnTo>
                <a:lnTo>
                  <a:pt x="7772400" y="267871"/>
                </a:lnTo>
                <a:lnTo>
                  <a:pt x="7924800" y="281604"/>
                </a:lnTo>
                <a:lnTo>
                  <a:pt x="8077200" y="294748"/>
                </a:lnTo>
                <a:lnTo>
                  <a:pt x="8229600" y="307218"/>
                </a:lnTo>
                <a:lnTo>
                  <a:pt x="8382000" y="318934"/>
                </a:lnTo>
                <a:lnTo>
                  <a:pt x="8534400" y="329818"/>
                </a:lnTo>
                <a:lnTo>
                  <a:pt x="8686800" y="339802"/>
                </a:lnTo>
                <a:lnTo>
                  <a:pt x="8839200" y="348821"/>
                </a:lnTo>
                <a:lnTo>
                  <a:pt x="8991600" y="356815"/>
                </a:lnTo>
                <a:lnTo>
                  <a:pt x="9144000" y="363734"/>
                </a:lnTo>
                <a:lnTo>
                  <a:pt x="9296400" y="369533"/>
                </a:lnTo>
                <a:lnTo>
                  <a:pt x="9448800" y="374174"/>
                </a:lnTo>
                <a:lnTo>
                  <a:pt x="9601200" y="377628"/>
                </a:lnTo>
                <a:lnTo>
                  <a:pt x="9753600" y="379872"/>
                </a:lnTo>
                <a:lnTo>
                  <a:pt x="9906000" y="380891"/>
                </a:lnTo>
                <a:lnTo>
                  <a:pt x="10058400" y="380679"/>
                </a:lnTo>
                <a:lnTo>
                  <a:pt x="10210800" y="379237"/>
                </a:lnTo>
                <a:lnTo>
                  <a:pt x="10363200" y="376575"/>
                </a:lnTo>
                <a:lnTo>
                  <a:pt x="10515600" y="372710"/>
                </a:lnTo>
                <a:lnTo>
                  <a:pt x="10668000" y="367666"/>
                </a:lnTo>
                <a:lnTo>
                  <a:pt x="10820400" y="361477"/>
                </a:lnTo>
                <a:lnTo>
                  <a:pt x="10972800" y="354182"/>
                </a:lnTo>
                <a:lnTo>
                  <a:pt x="11125200" y="345829"/>
                </a:lnTo>
                <a:lnTo>
                  <a:pt x="11277600" y="336472"/>
                </a:lnTo>
                <a:lnTo>
                  <a:pt x="11430000" y="326170"/>
                </a:lnTo>
                <a:lnTo>
                  <a:pt x="11582400" y="314991"/>
                </a:lnTo>
                <a:lnTo>
                  <a:pt x="11734800" y="303008"/>
                </a:lnTo>
                <a:lnTo>
                  <a:pt x="11887200" y="290296"/>
                </a:lnTo>
                <a:lnTo>
                  <a:pt x="12039600" y="276939"/>
                </a:lnTo>
                <a:lnTo>
                  <a:pt x="12192000" y="263023"/>
                </a:lnTo>
                <a:lnTo>
                  <a:pt x="12192000" y="952457"/>
                </a:lnTo>
                <a:close/>
              </a:path>
            </a:pathLst>
          </a:custGeom>
          <a:solidFill>
            <a:srgbClr val="A7CDF1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638925"/>
            <a:ext cx="12192000" cy="219075"/>
          </a:xfrm>
          <a:prstGeom prst="rect">
            <a:avLst/>
          </a:prstGeom>
          <a:solidFill>
            <a:srgbClr val="A9C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238875"/>
            <a:ext cx="12192000" cy="400050"/>
          </a:xfrm>
          <a:prstGeom prst="rect">
            <a:avLst/>
          </a:prstGeom>
          <a:gradFill rotWithShape="1">
            <a:gsLst>
              <a:gs pos="0">
                <a:srgbClr val="2C6BB2"/>
              </a:gs>
              <a:gs pos="100000">
                <a:srgbClr val="7FB5E4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MI Section Bar"/>
          <p:cNvSpPr txBox="1"/>
          <p:nvPr/>
        </p:nvSpPr>
        <p:spPr>
          <a:xfrm>
            <a:off x="285750" y="6238875"/>
            <a:ext cx="3810000" cy="40005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Section 8.3</a:t>
            </a:r>
          </a:p>
        </p:txBody>
      </p:sp>
      <p:pic>
        <p:nvPicPr>
          <p:cNvPr id="8" name="Picture 7" descr="fmi_logo_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1307592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2781300"/>
            <a:ext cx="8572500" cy="24765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Time-Lapse Embryo Incubators Market</a:t>
            </a:r>
          </a:p>
        </p:txBody>
      </p:sp>
      <p:sp>
        <p:nvSpPr>
          <p:cNvPr id="10" name="FMI Section Title"/>
          <p:cNvSpPr txBox="1"/>
          <p:nvPr/>
        </p:nvSpPr>
        <p:spPr>
          <a:xfrm>
            <a:off x="914400" y="3067050"/>
            <a:ext cx="8572500" cy="514350"/>
          </a:xfrm>
          <a:prstGeom prst="rect">
            <a:avLst/>
          </a:prstGeom>
          <a:noFill/>
        </p:spPr>
        <p:txBody>
          <a:bodyPr wrap="square" lIns="0" tIns="0" r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1" i="0" u="none" strike="noStrike" kern="1200" cap="none" spc="0" normalizeH="0" baseline="0" noProof="0">
                <a:ln>
                  <a:noFill/>
                </a:ln>
                <a:solidFill>
                  <a:srgbClr val="0B3C8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Capacity × Product 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52850"/>
            <a:ext cx="8572500" cy="12763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Snapshot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Market Share Analysis</a:t>
            </a:r>
          </a:p>
          <a:p>
            <a:pPr marL="342900" marR="0" lvl="0" indent="-3238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➤	Absolute $ Opportunity &amp; Attractiveness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Snapshot: Capacity × Product Type, 2026E vs 2036F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 (US$ Mn) for each capacity sub-segment across product type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143125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Value, Capacity × Product Type, 2026E and 2036F (US$ Mn)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1" cy="1676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09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577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8912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Incubator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Imaging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Modules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Consumables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98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2026E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2036F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8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9 to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924175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257550"/>
            <a:ext cx="11906250" cy="3467100"/>
          </a:xfrm>
          <a:prstGeom prst="roundRect">
            <a:avLst>
              <a:gd name="adj" fmla="val 21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225" y="3343275"/>
            <a:ext cx="116395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Findings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581400"/>
            <a:ext cx="1163955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3667125"/>
            <a:ext cx="11639550" cy="298132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0" name="Picture 1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493" y="1954810"/>
            <a:ext cx="128699" cy="187198"/>
          </a:xfrm>
          <a:prstGeom prst="rect">
            <a:avLst/>
          </a:prstGeom>
        </p:spPr>
      </p:pic>
      <p:pic>
        <p:nvPicPr>
          <p:cNvPr id="21" name="Picture 2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57" y="1954810"/>
            <a:ext cx="128699" cy="187198"/>
          </a:xfrm>
          <a:prstGeom prst="rect">
            <a:avLst/>
          </a:prstGeom>
        </p:spPr>
      </p:pic>
      <p:pic>
        <p:nvPicPr>
          <p:cNvPr id="22" name="Picture 2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021" y="1954810"/>
            <a:ext cx="128699" cy="187198"/>
          </a:xfrm>
          <a:prstGeom prst="rect">
            <a:avLst/>
          </a:prstGeom>
        </p:spPr>
      </p:pic>
      <p:pic>
        <p:nvPicPr>
          <p:cNvPr id="23" name="Picture 2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85" y="1954810"/>
            <a:ext cx="128699" cy="187198"/>
          </a:xfrm>
          <a:prstGeom prst="rect">
            <a:avLst/>
          </a:prstGeom>
        </p:spPr>
      </p:pic>
      <p:pic>
        <p:nvPicPr>
          <p:cNvPr id="24" name="Picture 2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49" y="1954810"/>
            <a:ext cx="128699" cy="187198"/>
          </a:xfrm>
          <a:prstGeom prst="rect">
            <a:avLst/>
          </a:prstGeom>
        </p:spPr>
      </p:pic>
      <p:pic>
        <p:nvPicPr>
          <p:cNvPr id="25" name="Picture 2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13" y="1954810"/>
            <a:ext cx="128699" cy="187198"/>
          </a:xfrm>
          <a:prstGeom prst="rect">
            <a:avLst/>
          </a:prstGeom>
        </p:spPr>
      </p:pic>
      <p:pic>
        <p:nvPicPr>
          <p:cNvPr id="26" name="Picture 2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077" y="1954810"/>
            <a:ext cx="128699" cy="187198"/>
          </a:xfrm>
          <a:prstGeom prst="rect">
            <a:avLst/>
          </a:prstGeom>
        </p:spPr>
      </p:pic>
      <p:pic>
        <p:nvPicPr>
          <p:cNvPr id="27" name="Picture 2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841" y="1954810"/>
            <a:ext cx="128699" cy="187198"/>
          </a:xfrm>
          <a:prstGeom prst="rect">
            <a:avLst/>
          </a:prstGeom>
        </p:spPr>
      </p:pic>
      <p:pic>
        <p:nvPicPr>
          <p:cNvPr id="28" name="Picture 2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605" y="1954810"/>
            <a:ext cx="128699" cy="187198"/>
          </a:xfrm>
          <a:prstGeom prst="rect">
            <a:avLst/>
          </a:prstGeom>
        </p:spPr>
      </p:pic>
      <p:pic>
        <p:nvPicPr>
          <p:cNvPr id="29" name="Picture 2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369" y="1954810"/>
            <a:ext cx="128699" cy="187198"/>
          </a:xfrm>
          <a:prstGeom prst="rect">
            <a:avLst/>
          </a:prstGeom>
        </p:spPr>
      </p:pic>
      <p:pic>
        <p:nvPicPr>
          <p:cNvPr id="30" name="Picture 2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493" y="2202308"/>
            <a:ext cx="128699" cy="187198"/>
          </a:xfrm>
          <a:prstGeom prst="rect">
            <a:avLst/>
          </a:prstGeom>
        </p:spPr>
      </p:pic>
      <p:pic>
        <p:nvPicPr>
          <p:cNvPr id="31" name="Picture 3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57" y="2202308"/>
            <a:ext cx="128699" cy="187198"/>
          </a:xfrm>
          <a:prstGeom prst="rect">
            <a:avLst/>
          </a:prstGeom>
        </p:spPr>
      </p:pic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021" y="2202308"/>
            <a:ext cx="128699" cy="187198"/>
          </a:xfrm>
          <a:prstGeom prst="rect">
            <a:avLst/>
          </a:prstGeom>
        </p:spPr>
      </p:pic>
      <p:pic>
        <p:nvPicPr>
          <p:cNvPr id="33" name="Picture 3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85" y="2202308"/>
            <a:ext cx="128699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49" y="2202308"/>
            <a:ext cx="128699" cy="187198"/>
          </a:xfrm>
          <a:prstGeom prst="rect">
            <a:avLst/>
          </a:prstGeom>
        </p:spPr>
      </p:pic>
      <p:pic>
        <p:nvPicPr>
          <p:cNvPr id="35" name="Picture 3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13" y="2202308"/>
            <a:ext cx="128699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077" y="2202308"/>
            <a:ext cx="128699" cy="187198"/>
          </a:xfrm>
          <a:prstGeom prst="rect">
            <a:avLst/>
          </a:prstGeom>
        </p:spPr>
      </p:pic>
      <p:pic>
        <p:nvPicPr>
          <p:cNvPr id="37" name="Picture 3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841" y="2202308"/>
            <a:ext cx="128699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605" y="2202308"/>
            <a:ext cx="128699" cy="187198"/>
          </a:xfrm>
          <a:prstGeom prst="rect">
            <a:avLst/>
          </a:prstGeom>
        </p:spPr>
      </p:pic>
      <p:pic>
        <p:nvPicPr>
          <p:cNvPr id="39" name="Picture 3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369" y="2202308"/>
            <a:ext cx="128699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493" y="2449806"/>
            <a:ext cx="128699" cy="187198"/>
          </a:xfrm>
          <a:prstGeom prst="rect">
            <a:avLst/>
          </a:prstGeom>
        </p:spPr>
      </p:pic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57" y="2449806"/>
            <a:ext cx="128699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021" y="2449806"/>
            <a:ext cx="128699" cy="187198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85" y="2449806"/>
            <a:ext cx="128699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49" y="2449806"/>
            <a:ext cx="128699" cy="187198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13" y="2449806"/>
            <a:ext cx="128699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077" y="2449806"/>
            <a:ext cx="128699" cy="187198"/>
          </a:xfrm>
          <a:prstGeom prst="rect">
            <a:avLst/>
          </a:prstGeom>
        </p:spPr>
      </p:pic>
      <p:pic>
        <p:nvPicPr>
          <p:cNvPr id="47" name="Picture 4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841" y="2449806"/>
            <a:ext cx="128699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605" y="2449806"/>
            <a:ext cx="128699" cy="187198"/>
          </a:xfrm>
          <a:prstGeom prst="rect">
            <a:avLst/>
          </a:prstGeom>
        </p:spPr>
      </p:pic>
      <p:pic>
        <p:nvPicPr>
          <p:cNvPr id="49" name="Picture 4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369" y="2449806"/>
            <a:ext cx="128699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493" y="2697304"/>
            <a:ext cx="128699" cy="187198"/>
          </a:xfrm>
          <a:prstGeom prst="rect">
            <a:avLst/>
          </a:prstGeom>
        </p:spPr>
      </p:pic>
      <p:pic>
        <p:nvPicPr>
          <p:cNvPr id="51" name="Picture 5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257" y="2697304"/>
            <a:ext cx="128699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021" y="2697304"/>
            <a:ext cx="128699" cy="187198"/>
          </a:xfrm>
          <a:prstGeom prst="rect">
            <a:avLst/>
          </a:prstGeom>
        </p:spPr>
      </p:pic>
      <p:pic>
        <p:nvPicPr>
          <p:cNvPr id="53" name="Picture 5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785" y="2697304"/>
            <a:ext cx="128699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49" y="2697304"/>
            <a:ext cx="128699" cy="187198"/>
          </a:xfrm>
          <a:prstGeom prst="rect">
            <a:avLst/>
          </a:prstGeom>
        </p:spPr>
      </p:pic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13" y="2697304"/>
            <a:ext cx="128699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077" y="2697304"/>
            <a:ext cx="128699" cy="187198"/>
          </a:xfrm>
          <a:prstGeom prst="rect">
            <a:avLst/>
          </a:prstGeom>
        </p:spPr>
      </p:pic>
      <p:pic>
        <p:nvPicPr>
          <p:cNvPr id="57" name="Picture 5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0841" y="2697304"/>
            <a:ext cx="128699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8605" y="2697304"/>
            <a:ext cx="128699" cy="187198"/>
          </a:xfrm>
          <a:prstGeom prst="rect">
            <a:avLst/>
          </a:prstGeom>
        </p:spPr>
      </p:pic>
      <p:pic>
        <p:nvPicPr>
          <p:cNvPr id="59" name="Picture 5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6369" y="2697304"/>
            <a:ext cx="128699" cy="187198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6225" y="3676650"/>
            <a:ext cx="575161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'More than 15 Patient Dishes' accounts for the largest share of the Global market by capacity (</a:t>
            </a:r>
          </a:p>
        </p:txBody>
      </p:sp>
      <p:pic>
        <p:nvPicPr>
          <p:cNvPr id="61" name="Picture 6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90" y="3666426"/>
            <a:ext cx="134549" cy="19570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152099" y="3676650"/>
            <a:ext cx="58252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</a:t>
            </a:r>
          </a:p>
        </p:txBody>
      </p:sp>
      <p:pic>
        <p:nvPicPr>
          <p:cNvPr id="63" name="Picture 6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3779" y="3666426"/>
            <a:ext cx="134549" cy="19570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58888" y="3676650"/>
            <a:ext cx="438496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in 2026E), with 'Consumables' its leading product type sub-segment at</a:t>
            </a:r>
          </a:p>
        </p:txBody>
      </p:sp>
      <p:pic>
        <p:nvPicPr>
          <p:cNvPr id="65" name="Picture 6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3003" y="3666426"/>
            <a:ext cx="134549" cy="19570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1368112" y="3676650"/>
            <a:ext cx="31124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225" y="3851910"/>
            <a:ext cx="31467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Mn.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225" y="4079747"/>
            <a:ext cx="524157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'More than 15 Patient Dishes × Consumables' is the single largest cross-sectional cell (</a:t>
            </a:r>
          </a:p>
        </p:txBody>
      </p:sp>
      <p:pic>
        <p:nvPicPr>
          <p:cNvPr id="69" name="Picture 6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956" y="4069524"/>
            <a:ext cx="134549" cy="195707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642065" y="4079747"/>
            <a:ext cx="592162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Mn, 2026E), while 'Up to 8 Patient Dishes × Time-Lapse Incubator Systems' records the fastest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76225" y="4255007"/>
            <a:ext cx="1279668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growth at a CAGR of</a:t>
            </a:r>
          </a:p>
        </p:txBody>
      </p:sp>
      <p:pic>
        <p:nvPicPr>
          <p:cNvPr id="72" name="Picture 7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047" y="4244784"/>
            <a:ext cx="134549" cy="195707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680156" y="4255007"/>
            <a:ext cx="135449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over 2026E–2036F.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6225" y="4482845"/>
            <a:ext cx="564635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Combined, the top three capacity × product type cells generate an absolute $ opportunity of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731" y="4472622"/>
            <a:ext cx="134549" cy="195707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046841" y="4482845"/>
            <a:ext cx="115538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 Share Analysis: Capacity × Product Type, 2026E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share of global market value, each row split across all product type sub-segments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Value Share, Capacity × Product Type, 2026E (% of each row)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202" cy="12382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75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1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1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1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01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12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Incubator 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Imaging Modules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Consumables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03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8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03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9 to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03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031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486025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2819400"/>
            <a:ext cx="7286625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8125" y="2876550"/>
            <a:ext cx="7096125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Product Type Mix by Capacity, 2026E (% share)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238125" y="3105150"/>
          <a:ext cx="7096125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7581900" y="2819400"/>
            <a:ext cx="4457700" cy="390525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15250" y="2905125"/>
            <a:ext cx="4191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Share Insights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15250" y="3143250"/>
            <a:ext cx="4191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15250" y="3228975"/>
            <a:ext cx="4191000" cy="341947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23" name="Picture 2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503" y="1514792"/>
            <a:ext cx="294837" cy="187198"/>
          </a:xfrm>
          <a:prstGeom prst="rect">
            <a:avLst/>
          </a:prstGeom>
        </p:spPr>
      </p:pic>
      <p:pic>
        <p:nvPicPr>
          <p:cNvPr id="24" name="Picture 2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432" y="1514792"/>
            <a:ext cx="294837" cy="187198"/>
          </a:xfrm>
          <a:prstGeom prst="rect">
            <a:avLst/>
          </a:prstGeom>
        </p:spPr>
      </p:pic>
      <p:pic>
        <p:nvPicPr>
          <p:cNvPr id="25" name="Picture 2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361" y="1514792"/>
            <a:ext cx="294837" cy="187198"/>
          </a:xfrm>
          <a:prstGeom prst="rect">
            <a:avLst/>
          </a:prstGeom>
        </p:spPr>
      </p:pic>
      <p:pic>
        <p:nvPicPr>
          <p:cNvPr id="26" name="Picture 2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290" y="1514792"/>
            <a:ext cx="294837" cy="187198"/>
          </a:xfrm>
          <a:prstGeom prst="rect">
            <a:avLst/>
          </a:prstGeom>
        </p:spPr>
      </p:pic>
      <p:pic>
        <p:nvPicPr>
          <p:cNvPr id="27" name="Picture 2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219" y="1514792"/>
            <a:ext cx="294837" cy="187198"/>
          </a:xfrm>
          <a:prstGeom prst="rect">
            <a:avLst/>
          </a:prstGeom>
        </p:spPr>
      </p:pic>
      <p:pic>
        <p:nvPicPr>
          <p:cNvPr id="28" name="Picture 2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503" y="1762823"/>
            <a:ext cx="294837" cy="187198"/>
          </a:xfrm>
          <a:prstGeom prst="rect">
            <a:avLst/>
          </a:prstGeom>
        </p:spPr>
      </p:pic>
      <p:pic>
        <p:nvPicPr>
          <p:cNvPr id="29" name="Picture 2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432" y="1762823"/>
            <a:ext cx="294837" cy="187198"/>
          </a:xfrm>
          <a:prstGeom prst="rect">
            <a:avLst/>
          </a:prstGeom>
        </p:spPr>
      </p:pic>
      <p:pic>
        <p:nvPicPr>
          <p:cNvPr id="30" name="Picture 2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361" y="1762823"/>
            <a:ext cx="294837" cy="187198"/>
          </a:xfrm>
          <a:prstGeom prst="rect">
            <a:avLst/>
          </a:prstGeom>
        </p:spPr>
      </p:pic>
      <p:pic>
        <p:nvPicPr>
          <p:cNvPr id="31" name="Picture 3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290" y="1762823"/>
            <a:ext cx="294837" cy="187198"/>
          </a:xfrm>
          <a:prstGeom prst="rect">
            <a:avLst/>
          </a:prstGeom>
        </p:spPr>
      </p:pic>
      <p:pic>
        <p:nvPicPr>
          <p:cNvPr id="32" name="Picture 3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219" y="1762823"/>
            <a:ext cx="294837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503" y="2010854"/>
            <a:ext cx="294837" cy="187198"/>
          </a:xfrm>
          <a:prstGeom prst="rect">
            <a:avLst/>
          </a:prstGeom>
        </p:spPr>
      </p:pic>
      <p:pic>
        <p:nvPicPr>
          <p:cNvPr id="34" name="Picture 33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432" y="2010854"/>
            <a:ext cx="294837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361" y="2010854"/>
            <a:ext cx="294837" cy="187198"/>
          </a:xfrm>
          <a:prstGeom prst="rect">
            <a:avLst/>
          </a:prstGeom>
        </p:spPr>
      </p:pic>
      <p:pic>
        <p:nvPicPr>
          <p:cNvPr id="36" name="Picture 35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290" y="2010854"/>
            <a:ext cx="294837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219" y="2010854"/>
            <a:ext cx="294837" cy="187198"/>
          </a:xfrm>
          <a:prstGeom prst="rect">
            <a:avLst/>
          </a:prstGeom>
        </p:spPr>
      </p:pic>
      <p:pic>
        <p:nvPicPr>
          <p:cNvPr id="38" name="Picture 37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3503" y="2258885"/>
            <a:ext cx="294837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5432" y="2258885"/>
            <a:ext cx="294837" cy="187198"/>
          </a:xfrm>
          <a:prstGeom prst="rect">
            <a:avLst/>
          </a:prstGeom>
        </p:spPr>
      </p:pic>
      <p:pic>
        <p:nvPicPr>
          <p:cNvPr id="40" name="Picture 39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361" y="2258885"/>
            <a:ext cx="294837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9290" y="2258885"/>
            <a:ext cx="294837" cy="187198"/>
          </a:xfrm>
          <a:prstGeom prst="rect">
            <a:avLst/>
          </a:prstGeom>
        </p:spPr>
      </p:pic>
      <p:pic>
        <p:nvPicPr>
          <p:cNvPr id="42" name="Picture 41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91219" y="2258885"/>
            <a:ext cx="294837" cy="187198"/>
          </a:xfrm>
          <a:prstGeom prst="rect">
            <a:avLst/>
          </a:prstGeom>
        </p:spPr>
      </p:pic>
      <p:pic>
        <p:nvPicPr>
          <p:cNvPr id="43" name="Picture 42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602" y="4055745"/>
            <a:ext cx="222647" cy="323850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0477" y="4055745"/>
            <a:ext cx="222647" cy="323850"/>
          </a:xfrm>
          <a:prstGeom prst="rect">
            <a:avLst/>
          </a:prstGeom>
        </p:spPr>
      </p:pic>
      <p:pic>
        <p:nvPicPr>
          <p:cNvPr id="45" name="Picture 4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352" y="4055745"/>
            <a:ext cx="222647" cy="32385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715250" y="3238500"/>
            <a:ext cx="392427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'Consumables' holds the highest share of 'More than 15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15250" y="3413760"/>
            <a:ext cx="647563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Dishes' at</a:t>
            </a:r>
          </a:p>
        </p:txBody>
      </p:sp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967" y="3403536"/>
            <a:ext cx="134549" cy="1957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87076" y="3413760"/>
            <a:ext cx="70689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(2026E).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0" y="3641597"/>
            <a:ext cx="395736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'More than 15 Patient Dishes' is the most concentrated capacity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5250" y="3816857"/>
            <a:ext cx="117870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sub-segment, with</a:t>
            </a:r>
          </a:p>
        </p:txBody>
      </p:sp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3110" y="3806634"/>
            <a:ext cx="134549" cy="19570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018219" y="3816857"/>
            <a:ext cx="198911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its value via 'Consumables'.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5250" y="4044695"/>
            <a:ext cx="247518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'Time-Lapse Incubator Systems' gains +</a:t>
            </a:r>
          </a:p>
        </p:txBody>
      </p:sp>
      <p:pic>
        <p:nvPicPr>
          <p:cNvPr id="55" name="Picture 54" descr="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9589" y="4034472"/>
            <a:ext cx="134549" cy="195707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314698" y="4044695"/>
            <a:ext cx="1199815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of share of the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15250" y="4219955"/>
            <a:ext cx="187879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cross-section by 2036F.</a:t>
            </a:r>
          </a:p>
        </p:txBody>
      </p:sp>
      <p:sp>
        <p:nvSpPr>
          <p:cNvPr id="58" name="lockshield_17"/>
          <p:cNvSpPr/>
          <p:nvPr/>
        </p:nvSpPr>
        <p:spPr>
          <a:xfrm>
            <a:off x="238125" y="3105150"/>
            <a:ext cx="7096125" cy="3562350"/>
          </a:xfrm>
          <a:prstGeom prst="rect">
            <a:avLst/>
          </a:prstGeom>
          <a:solidFill>
            <a:srgbClr val="FFFFFF">
              <a:alpha val="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3825" y="85725"/>
            <a:ext cx="11944350" cy="828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3825" y="914400"/>
            <a:ext cx="3943350" cy="28575"/>
          </a:xfrm>
          <a:prstGeom prst="rect">
            <a:avLst/>
          </a:prstGeom>
          <a:solidFill>
            <a:srgbClr val="008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124325" y="914400"/>
            <a:ext cx="3943350" cy="28575"/>
          </a:xfrm>
          <a:prstGeom prst="rect">
            <a:avLst/>
          </a:prstGeom>
          <a:solidFill>
            <a:srgbClr val="9E7E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4825" y="914400"/>
            <a:ext cx="3943350" cy="28575"/>
          </a:xfrm>
          <a:prstGeom prst="rect">
            <a:avLst/>
          </a:prstGeom>
          <a:solidFill>
            <a:srgbClr val="403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fmi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" y="-205740"/>
            <a:ext cx="130759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43050" y="19050"/>
            <a:ext cx="8982075" cy="628650"/>
          </a:xfrm>
          <a:prstGeom prst="rect">
            <a:avLst/>
          </a:prstGeom>
          <a:noFill/>
        </p:spPr>
        <p:txBody>
          <a:bodyPr wrap="square" lIns="28575" tIns="0" rIns="28575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Absolute $ Opportunity &amp; Attractiveness: Capacity × Product Type, 2026E–2036F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43050" y="647700"/>
            <a:ext cx="10506075" cy="247650"/>
          </a:xfrm>
          <a:prstGeom prst="rect">
            <a:avLst/>
          </a:prstGeom>
          <a:noFill/>
        </p:spPr>
        <p:txBody>
          <a:bodyPr wrap="square" lIns="28575" tIns="0" rIns="28575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value 2026E→2036F (US$ Mn) and value CAGR by cell; attractiveness index scored 1–5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20375" y="228600"/>
            <a:ext cx="1428750" cy="419100"/>
          </a:xfrm>
          <a:prstGeom prst="roundRect">
            <a:avLst>
              <a:gd name="adj" fmla="val 22000"/>
            </a:avLst>
          </a:prstGeom>
          <a:solidFill>
            <a:srgbClr val="D9E6F2"/>
          </a:solidFill>
          <a:ln w="6350">
            <a:solidFill>
              <a:srgbClr val="69B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8575" tIns="9525" rIns="28575" bIns="9525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2875" y="981075"/>
            <a:ext cx="11906250" cy="2143125"/>
          </a:xfrm>
          <a:prstGeom prst="roundRect">
            <a:avLst>
              <a:gd name="adj" fmla="val 3555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8125" y="1038225"/>
            <a:ext cx="1171575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Incremental $ Opportunity (US$ Mn) and Value CAGR, Capacity × Product Type, 2026E–2036F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52400" y="1238250"/>
          <a:ext cx="11887198" cy="16764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0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0569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38912">
                <a:tc rowSpan="2"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Capacity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Incubator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Systems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Time-Lapse Imaging</a:t>
                      </a:r>
                      <a:endParaRPr sz="1100"/>
                    </a:p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Modules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Consumables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Software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498">
                <a:tc vMerge="1">
                  <a:txBody>
                    <a:bodyPr/>
                    <a:lstStyle/>
                    <a:p>
                      <a:pPr algn="l"/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US$ Mn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B2E4A"/>
                          </a:solidFill>
                          <a:latin typeface="Calibri"/>
                        </a:rPr>
                        <a:t>CAGR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Up to 8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9 to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More than 15 Patient Dishes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49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E2E2E"/>
                          </a:solidFill>
                          <a:latin typeface="Calibri"/>
                        </a:rPr>
                        <a:t>Total</a:t>
                      </a:r>
                      <a:endParaRPr sz="1100"/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 </a:t>
                      </a:r>
                    </a:p>
                  </a:txBody>
                  <a:tcPr marL="47625" marR="38100" marT="19050" marB="19050" anchor="ctr">
                    <a:solidFill>
                      <a:srgbClr val="E0E8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19075" y="2924175"/>
            <a:ext cx="11753850" cy="17145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1" u="none" strike="noStrike" kern="1200" cap="none" spc="0" normalizeH="0" baseline="0" noProof="0">
                <a:ln>
                  <a:noFill/>
                </a:ln>
                <a:solidFill>
                  <a:srgbClr val="6C7A89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FMI Analysis,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2875" y="3257550"/>
            <a:ext cx="5600700" cy="3467100"/>
          </a:xfrm>
          <a:prstGeom prst="roundRect">
            <a:avLst>
              <a:gd name="adj" fmla="val 2197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6225" y="3343275"/>
            <a:ext cx="53340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 5 Opportunity Cells (US$ Mn · CAGR · Index)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6225" y="3581400"/>
            <a:ext cx="53340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6225" y="3667125"/>
            <a:ext cx="5334000" cy="298132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895975" y="3257550"/>
            <a:ext cx="1943100" cy="3467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029325" y="3343275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Largest Pool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9325" y="3581400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29325" y="3667125"/>
            <a:ext cx="1676400" cy="298132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991475" y="3257550"/>
            <a:ext cx="1943100" cy="3467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24825" y="3343275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Fastest Growth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24825" y="3581400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124825" y="3667125"/>
            <a:ext cx="1676400" cy="298132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0086975" y="3257550"/>
            <a:ext cx="1943100" cy="3467100"/>
          </a:xfrm>
          <a:prstGeom prst="roundRect">
            <a:avLst>
              <a:gd name="adj" fmla="val 3921"/>
            </a:avLst>
          </a:prstGeom>
          <a:solidFill>
            <a:srgbClr val="FFFFFF"/>
          </a:solidFill>
          <a:ln w="9525">
            <a:solidFill>
              <a:srgbClr val="C6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220325" y="3343275"/>
            <a:ext cx="1676400" cy="209550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Where to Play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220325" y="3581400"/>
            <a:ext cx="1676400" cy="19050"/>
          </a:xfrm>
          <a:prstGeom prst="rect">
            <a:avLst/>
          </a:prstGeom>
          <a:solidFill>
            <a:srgbClr val="0E72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220325" y="3667125"/>
            <a:ext cx="1676400" cy="2981325"/>
          </a:xfrm>
          <a:prstGeom prst="rect">
            <a:avLst/>
          </a:prstGeom>
          <a:noFill/>
        </p:spPr>
        <p:txBody>
          <a:bodyPr wrap="square" lIns="0" tIns="9525" rIns="19050" bIns="9525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0E72A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 </a:t>
            </a: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'Up to 8 Patient Dishes × Time-Lapse Incubator Systems' ranks highest (5/5); 'Up to 8 Patient Dishes × Software' lowest (1/5), a deprioritised cell.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" y="6724650"/>
            <a:ext cx="11887200" cy="133350"/>
          </a:xfrm>
          <a:prstGeom prst="rect">
            <a:avLst/>
          </a:prstGeom>
          <a:noFill/>
        </p:spPr>
        <p:txBody>
          <a:bodyPr wrap="square" lIns="28575" tIns="0" rIns="28575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58595B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©2026 Future Market Insights, All Rights Reserved</a:t>
            </a:r>
          </a:p>
        </p:txBody>
      </p:sp>
      <p:pic>
        <p:nvPicPr>
          <p:cNvPr id="32" name="Picture 3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08" y="1954810"/>
            <a:ext cx="128699" cy="187198"/>
          </a:xfrm>
          <a:prstGeom prst="rect">
            <a:avLst/>
          </a:prstGeom>
        </p:spPr>
      </p:pic>
      <p:pic>
        <p:nvPicPr>
          <p:cNvPr id="33" name="Picture 3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38" y="1954810"/>
            <a:ext cx="294837" cy="187198"/>
          </a:xfrm>
          <a:prstGeom prst="rect">
            <a:avLst/>
          </a:prstGeom>
        </p:spPr>
      </p:pic>
      <p:pic>
        <p:nvPicPr>
          <p:cNvPr id="34" name="Picture 3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506" y="1954810"/>
            <a:ext cx="128699" cy="187198"/>
          </a:xfrm>
          <a:prstGeom prst="rect">
            <a:avLst/>
          </a:prstGeom>
        </p:spPr>
      </p:pic>
      <p:pic>
        <p:nvPicPr>
          <p:cNvPr id="35" name="Picture 3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36" y="1954810"/>
            <a:ext cx="294837" cy="187198"/>
          </a:xfrm>
          <a:prstGeom prst="rect">
            <a:avLst/>
          </a:prstGeom>
        </p:spPr>
      </p:pic>
      <p:pic>
        <p:nvPicPr>
          <p:cNvPr id="36" name="Picture 3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904" y="1954810"/>
            <a:ext cx="128699" cy="187198"/>
          </a:xfrm>
          <a:prstGeom prst="rect">
            <a:avLst/>
          </a:prstGeom>
        </p:spPr>
      </p:pic>
      <p:pic>
        <p:nvPicPr>
          <p:cNvPr id="37" name="Picture 3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534" y="1954810"/>
            <a:ext cx="294837" cy="187198"/>
          </a:xfrm>
          <a:prstGeom prst="rect">
            <a:avLst/>
          </a:prstGeom>
        </p:spPr>
      </p:pic>
      <p:pic>
        <p:nvPicPr>
          <p:cNvPr id="38" name="Picture 3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02" y="1954810"/>
            <a:ext cx="128699" cy="187198"/>
          </a:xfrm>
          <a:prstGeom prst="rect">
            <a:avLst/>
          </a:prstGeom>
        </p:spPr>
      </p:pic>
      <p:pic>
        <p:nvPicPr>
          <p:cNvPr id="39" name="Picture 3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932" y="1954810"/>
            <a:ext cx="294837" cy="187198"/>
          </a:xfrm>
          <a:prstGeom prst="rect">
            <a:avLst/>
          </a:prstGeom>
        </p:spPr>
      </p:pic>
      <p:pic>
        <p:nvPicPr>
          <p:cNvPr id="40" name="Picture 3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700" y="1954810"/>
            <a:ext cx="128699" cy="187198"/>
          </a:xfrm>
          <a:prstGeom prst="rect">
            <a:avLst/>
          </a:prstGeom>
        </p:spPr>
      </p:pic>
      <p:pic>
        <p:nvPicPr>
          <p:cNvPr id="41" name="Picture 4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329" y="1954810"/>
            <a:ext cx="294837" cy="187198"/>
          </a:xfrm>
          <a:prstGeom prst="rect">
            <a:avLst/>
          </a:prstGeom>
        </p:spPr>
      </p:pic>
      <p:pic>
        <p:nvPicPr>
          <p:cNvPr id="42" name="Picture 4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08" y="2202308"/>
            <a:ext cx="128699" cy="187198"/>
          </a:xfrm>
          <a:prstGeom prst="rect">
            <a:avLst/>
          </a:prstGeom>
        </p:spPr>
      </p:pic>
      <p:pic>
        <p:nvPicPr>
          <p:cNvPr id="43" name="Picture 4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38" y="2202308"/>
            <a:ext cx="294837" cy="187198"/>
          </a:xfrm>
          <a:prstGeom prst="rect">
            <a:avLst/>
          </a:prstGeom>
        </p:spPr>
      </p:pic>
      <p:pic>
        <p:nvPicPr>
          <p:cNvPr id="44" name="Picture 4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506" y="2202308"/>
            <a:ext cx="128699" cy="187198"/>
          </a:xfrm>
          <a:prstGeom prst="rect">
            <a:avLst/>
          </a:prstGeom>
        </p:spPr>
      </p:pic>
      <p:pic>
        <p:nvPicPr>
          <p:cNvPr id="45" name="Picture 4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36" y="2202308"/>
            <a:ext cx="294837" cy="187198"/>
          </a:xfrm>
          <a:prstGeom prst="rect">
            <a:avLst/>
          </a:prstGeom>
        </p:spPr>
      </p:pic>
      <p:pic>
        <p:nvPicPr>
          <p:cNvPr id="46" name="Picture 4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904" y="2202308"/>
            <a:ext cx="128699" cy="187198"/>
          </a:xfrm>
          <a:prstGeom prst="rect">
            <a:avLst/>
          </a:prstGeom>
        </p:spPr>
      </p:pic>
      <p:pic>
        <p:nvPicPr>
          <p:cNvPr id="47" name="Picture 4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534" y="2202308"/>
            <a:ext cx="294837" cy="187198"/>
          </a:xfrm>
          <a:prstGeom prst="rect">
            <a:avLst/>
          </a:prstGeom>
        </p:spPr>
      </p:pic>
      <p:pic>
        <p:nvPicPr>
          <p:cNvPr id="48" name="Picture 4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02" y="2202308"/>
            <a:ext cx="128699" cy="187198"/>
          </a:xfrm>
          <a:prstGeom prst="rect">
            <a:avLst/>
          </a:prstGeom>
        </p:spPr>
      </p:pic>
      <p:pic>
        <p:nvPicPr>
          <p:cNvPr id="49" name="Picture 4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932" y="2202308"/>
            <a:ext cx="294837" cy="187198"/>
          </a:xfrm>
          <a:prstGeom prst="rect">
            <a:avLst/>
          </a:prstGeom>
        </p:spPr>
      </p:pic>
      <p:pic>
        <p:nvPicPr>
          <p:cNvPr id="50" name="Picture 4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700" y="2202308"/>
            <a:ext cx="128699" cy="187198"/>
          </a:xfrm>
          <a:prstGeom prst="rect">
            <a:avLst/>
          </a:prstGeom>
        </p:spPr>
      </p:pic>
      <p:pic>
        <p:nvPicPr>
          <p:cNvPr id="51" name="Picture 5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329" y="2202308"/>
            <a:ext cx="294837" cy="187198"/>
          </a:xfrm>
          <a:prstGeom prst="rect">
            <a:avLst/>
          </a:prstGeom>
        </p:spPr>
      </p:pic>
      <p:pic>
        <p:nvPicPr>
          <p:cNvPr id="52" name="Picture 5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08" y="2449806"/>
            <a:ext cx="128699" cy="187198"/>
          </a:xfrm>
          <a:prstGeom prst="rect">
            <a:avLst/>
          </a:prstGeom>
        </p:spPr>
      </p:pic>
      <p:pic>
        <p:nvPicPr>
          <p:cNvPr id="53" name="Picture 5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38" y="2449806"/>
            <a:ext cx="294837" cy="187198"/>
          </a:xfrm>
          <a:prstGeom prst="rect">
            <a:avLst/>
          </a:prstGeom>
        </p:spPr>
      </p:pic>
      <p:pic>
        <p:nvPicPr>
          <p:cNvPr id="54" name="Picture 5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506" y="2449806"/>
            <a:ext cx="128699" cy="187198"/>
          </a:xfrm>
          <a:prstGeom prst="rect">
            <a:avLst/>
          </a:prstGeom>
        </p:spPr>
      </p:pic>
      <p:pic>
        <p:nvPicPr>
          <p:cNvPr id="55" name="Picture 5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36" y="2449806"/>
            <a:ext cx="294837" cy="187198"/>
          </a:xfrm>
          <a:prstGeom prst="rect">
            <a:avLst/>
          </a:prstGeom>
        </p:spPr>
      </p:pic>
      <p:pic>
        <p:nvPicPr>
          <p:cNvPr id="56" name="Picture 5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904" y="2449806"/>
            <a:ext cx="128699" cy="187198"/>
          </a:xfrm>
          <a:prstGeom prst="rect">
            <a:avLst/>
          </a:prstGeom>
        </p:spPr>
      </p:pic>
      <p:pic>
        <p:nvPicPr>
          <p:cNvPr id="57" name="Picture 5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534" y="2449806"/>
            <a:ext cx="294837" cy="187198"/>
          </a:xfrm>
          <a:prstGeom prst="rect">
            <a:avLst/>
          </a:prstGeom>
        </p:spPr>
      </p:pic>
      <p:pic>
        <p:nvPicPr>
          <p:cNvPr id="58" name="Picture 5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02" y="2449806"/>
            <a:ext cx="128699" cy="187198"/>
          </a:xfrm>
          <a:prstGeom prst="rect">
            <a:avLst/>
          </a:prstGeom>
        </p:spPr>
      </p:pic>
      <p:pic>
        <p:nvPicPr>
          <p:cNvPr id="59" name="Picture 5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932" y="2449806"/>
            <a:ext cx="294837" cy="187198"/>
          </a:xfrm>
          <a:prstGeom prst="rect">
            <a:avLst/>
          </a:prstGeom>
        </p:spPr>
      </p:pic>
      <p:pic>
        <p:nvPicPr>
          <p:cNvPr id="60" name="Picture 5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700" y="2449806"/>
            <a:ext cx="128699" cy="187198"/>
          </a:xfrm>
          <a:prstGeom prst="rect">
            <a:avLst/>
          </a:prstGeom>
        </p:spPr>
      </p:pic>
      <p:pic>
        <p:nvPicPr>
          <p:cNvPr id="61" name="Picture 6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329" y="2449806"/>
            <a:ext cx="294837" cy="187198"/>
          </a:xfrm>
          <a:prstGeom prst="rect">
            <a:avLst/>
          </a:prstGeom>
        </p:spPr>
      </p:pic>
      <p:pic>
        <p:nvPicPr>
          <p:cNvPr id="62" name="Picture 61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108" y="2697304"/>
            <a:ext cx="128699" cy="187198"/>
          </a:xfrm>
          <a:prstGeom prst="rect">
            <a:avLst/>
          </a:prstGeom>
        </p:spPr>
      </p:pic>
      <p:pic>
        <p:nvPicPr>
          <p:cNvPr id="63" name="Picture 62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38" y="2697304"/>
            <a:ext cx="294837" cy="187198"/>
          </a:xfrm>
          <a:prstGeom prst="rect">
            <a:avLst/>
          </a:prstGeom>
        </p:spPr>
      </p:pic>
      <p:pic>
        <p:nvPicPr>
          <p:cNvPr id="64" name="Picture 63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2506" y="2697304"/>
            <a:ext cx="128699" cy="187198"/>
          </a:xfrm>
          <a:prstGeom prst="rect">
            <a:avLst/>
          </a:prstGeom>
        </p:spPr>
      </p:pic>
      <p:pic>
        <p:nvPicPr>
          <p:cNvPr id="65" name="Picture 64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5136" y="2697304"/>
            <a:ext cx="294837" cy="187198"/>
          </a:xfrm>
          <a:prstGeom prst="rect">
            <a:avLst/>
          </a:prstGeom>
        </p:spPr>
      </p:pic>
      <p:pic>
        <p:nvPicPr>
          <p:cNvPr id="66" name="Picture 65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904" y="2697304"/>
            <a:ext cx="128699" cy="187198"/>
          </a:xfrm>
          <a:prstGeom prst="rect">
            <a:avLst/>
          </a:prstGeom>
        </p:spPr>
      </p:pic>
      <p:pic>
        <p:nvPicPr>
          <p:cNvPr id="67" name="Picture 66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6534" y="2697304"/>
            <a:ext cx="294837" cy="187198"/>
          </a:xfrm>
          <a:prstGeom prst="rect">
            <a:avLst/>
          </a:prstGeom>
        </p:spPr>
      </p:pic>
      <p:pic>
        <p:nvPicPr>
          <p:cNvPr id="68" name="Picture 6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302" y="2697304"/>
            <a:ext cx="128699" cy="187198"/>
          </a:xfrm>
          <a:prstGeom prst="rect">
            <a:avLst/>
          </a:prstGeom>
        </p:spPr>
      </p:pic>
      <p:pic>
        <p:nvPicPr>
          <p:cNvPr id="69" name="Picture 68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932" y="2697304"/>
            <a:ext cx="294837" cy="187198"/>
          </a:xfrm>
          <a:prstGeom prst="rect">
            <a:avLst/>
          </a:prstGeom>
        </p:spPr>
      </p:pic>
      <p:pic>
        <p:nvPicPr>
          <p:cNvPr id="70" name="Picture 6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6700" y="2697304"/>
            <a:ext cx="128699" cy="187198"/>
          </a:xfrm>
          <a:prstGeom prst="rect">
            <a:avLst/>
          </a:prstGeom>
        </p:spPr>
      </p:pic>
      <p:pic>
        <p:nvPicPr>
          <p:cNvPr id="71" name="Picture 70" descr="lock_p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9329" y="2697304"/>
            <a:ext cx="294837" cy="18719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76225" y="3676650"/>
            <a:ext cx="277812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1. More than 15 Patient Dishes × Software –</a:t>
            </a:r>
          </a:p>
        </p:txBody>
      </p:sp>
      <p:pic>
        <p:nvPicPr>
          <p:cNvPr id="73" name="Picture 7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503" y="3666426"/>
            <a:ext cx="134549" cy="195707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3178613" y="3676650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75" name="Picture 7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0764" y="3666426"/>
            <a:ext cx="134549" cy="195707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3415874" y="3676650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6225" y="3904487"/>
            <a:ext cx="3034568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2. More than 15 Patient Dishes × Consumables –</a:t>
            </a:r>
          </a:p>
        </p:txBody>
      </p:sp>
      <p:pic>
        <p:nvPicPr>
          <p:cNvPr id="78" name="Picture 7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9947" y="3894264"/>
            <a:ext cx="134549" cy="195707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435056" y="3904487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80" name="Picture 7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208" y="3894264"/>
            <a:ext cx="134549" cy="195707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672317" y="3904487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3/5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6225" y="4132325"/>
            <a:ext cx="263663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3. 9 to 15 Patient Dishes × Consumables –</a:t>
            </a:r>
          </a:p>
        </p:txBody>
      </p:sp>
      <p:pic>
        <p:nvPicPr>
          <p:cNvPr id="83" name="Picture 8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2018" y="4122102"/>
            <a:ext cx="134549" cy="195707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3037127" y="4132325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85" name="Picture 8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9278" y="4122102"/>
            <a:ext cx="134549" cy="195707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274388" y="4132325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76225" y="4360163"/>
            <a:ext cx="367154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4. Up to 8 Patient Dishes × Time-Lapse Incubator Systems –</a:t>
            </a:r>
          </a:p>
        </p:txBody>
      </p:sp>
      <p:pic>
        <p:nvPicPr>
          <p:cNvPr id="88" name="Picture 87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6919" y="4349940"/>
            <a:ext cx="134549" cy="195707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4072028" y="4360163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90" name="Picture 8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180" y="4349940"/>
            <a:ext cx="134549" cy="19570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09289" y="4360163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5/5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76225" y="4588001"/>
            <a:ext cx="404721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5. More than 15 Patient Dishes × Time-Lapse Incubator Systems –</a:t>
            </a:r>
          </a:p>
        </p:txBody>
      </p:sp>
      <p:pic>
        <p:nvPicPr>
          <p:cNvPr id="93" name="Picture 92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598" y="4577778"/>
            <a:ext cx="134549" cy="195707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4447707" y="4588001"/>
            <a:ext cx="112997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·</a:t>
            </a:r>
          </a:p>
        </p:txBody>
      </p:sp>
      <p:pic>
        <p:nvPicPr>
          <p:cNvPr id="95" name="Picture 94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859" y="4577778"/>
            <a:ext cx="134549" cy="195707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4684968" y="4588001"/>
            <a:ext cx="48839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· 3/5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29325" y="3676650"/>
            <a:ext cx="146567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'More than 15 Patient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29325" y="3851910"/>
            <a:ext cx="148364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Dishes × Software' adds</a:t>
            </a:r>
          </a:p>
        </p:txBody>
      </p:sp>
      <p:pic>
        <p:nvPicPr>
          <p:cNvPr id="99" name="Picture 98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245" y="4016946"/>
            <a:ext cx="134549" cy="195707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6190354" y="4027169"/>
            <a:ext cx="122463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US$ Mn by 2036F –</a:t>
            </a:r>
          </a:p>
        </p:txBody>
      </p:sp>
      <p:pic>
        <p:nvPicPr>
          <p:cNvPr id="101" name="Picture 100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245" y="4192206"/>
            <a:ext cx="134549" cy="195707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6190354" y="4202429"/>
            <a:ext cx="87861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 of the total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029325" y="4377689"/>
            <a:ext cx="82299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opportunity.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124825" y="3676650"/>
            <a:ext cx="161600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▪ 'Up to 8 Patient Dishes ×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24825" y="3851910"/>
            <a:ext cx="1362124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Time-Lapse Incubator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24825" y="4027169"/>
            <a:ext cx="1240606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Systems' grows at a</a:t>
            </a:r>
          </a:p>
        </p:txBody>
      </p:sp>
      <p:pic>
        <p:nvPicPr>
          <p:cNvPr id="107" name="Picture 106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585" y="4016946"/>
            <a:ext cx="134549" cy="195707"/>
          </a:xfrm>
          <a:prstGeom prst="rect">
            <a:avLst/>
          </a:prstGeom>
        </p:spPr>
      </p:pic>
      <p:sp>
        <p:nvSpPr>
          <p:cNvPr id="108" name="TextBox 107"/>
          <p:cNvSpPr txBox="1"/>
          <p:nvPr/>
        </p:nvSpPr>
        <p:spPr>
          <a:xfrm>
            <a:off x="9489694" y="4027169"/>
            <a:ext cx="180602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124825" y="4202429"/>
            <a:ext cx="446441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CAGR,</a:t>
            </a:r>
          </a:p>
        </p:txBody>
      </p:sp>
      <p:pic>
        <p:nvPicPr>
          <p:cNvPr id="110" name="Picture 109" descr="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420" y="4192206"/>
            <a:ext cx="134549" cy="195707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695529" y="4202429"/>
            <a:ext cx="925400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BPS above the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24825" y="4377689"/>
            <a:ext cx="890029" cy="1943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>
                <a:ln>
                  <a:noFill/>
                </a:ln>
                <a:solidFill>
                  <a:srgbClr val="2E2E2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cross-section.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70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3D85C6"/>
      </a:accent1>
      <a:accent2>
        <a:srgbClr val="9E7E0A"/>
      </a:accent2>
      <a:accent3>
        <a:srgbClr val="40315E"/>
      </a:accent3>
      <a:accent4>
        <a:srgbClr val="008189"/>
      </a:accent4>
      <a:accent5>
        <a:srgbClr val="A35313"/>
      </a:accent5>
      <a:accent6>
        <a:srgbClr val="5F5F5F"/>
      </a:accent6>
      <a:hlink>
        <a:srgbClr val="5F5F5F"/>
      </a:hlink>
      <a:folHlink>
        <a:srgbClr val="919191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3038</Words>
  <Application>Microsoft Office PowerPoint</Application>
  <PresentationFormat>Widescreen</PresentationFormat>
  <Paragraphs>1058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Sayali Patil</dc:creator>
  <cp:lastModifiedBy>Sayali Patil</cp:lastModifiedBy>
  <cp:revision>2</cp:revision>
  <dcterms:created xsi:type="dcterms:W3CDTF">2026-10-06T09:16:07Z</dcterms:created>
  <dcterms:modified xsi:type="dcterms:W3CDTF">2026-10-06T09:16:30Z</dcterms:modified>
</cp:coreProperties>
</file>