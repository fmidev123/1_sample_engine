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xml" ContentType="application/vnd.openxmlformats-officedocument.drawingml.chart+xml"/>
  <Override PartName="/ppt/charts/chart120.xml" ContentType="application/vnd.openxmlformats-officedocument.drawingml.chart+xml"/>
  <Override PartName="/ppt/charts/chart121.xml" ContentType="application/vnd.openxmlformats-officedocument.drawingml.chart+xml"/>
  <Override PartName="/ppt/charts/chart122.xml" ContentType="application/vnd.openxmlformats-officedocument.drawingml.chart+xml"/>
  <Override PartName="/ppt/charts/chart123.xml" ContentType="application/vnd.openxmlformats-officedocument.drawingml.chart+xml"/>
  <Override PartName="/ppt/charts/chart124.xml" ContentType="application/vnd.openxmlformats-officedocument.drawingml.chart+xml"/>
  <Override PartName="/ppt/charts/chart125.xml" ContentType="application/vnd.openxmlformats-officedocument.drawingml.chart+xml"/>
  <Override PartName="/ppt/charts/chart126.xml" ContentType="application/vnd.openxmlformats-officedocument.drawingml.chart+xml"/>
  <Override PartName="/ppt/charts/chart127.xml" ContentType="application/vnd.openxmlformats-officedocument.drawingml.chart+xml"/>
  <Override PartName="/ppt/charts/chart128.xml" ContentType="application/vnd.openxmlformats-officedocument.drawingml.chart+xml"/>
  <Override PartName="/ppt/charts/chart129.xml" ContentType="application/vnd.openxmlformats-officedocument.drawingml.chart+xml"/>
  <Override PartName="/ppt/charts/chart13.xml" ContentType="application/vnd.openxmlformats-officedocument.drawingml.chart+xml"/>
  <Override PartName="/ppt/charts/chart130.xml" ContentType="application/vnd.openxmlformats-officedocument.drawingml.chart+xml"/>
  <Override PartName="/ppt/charts/chart131.xml" ContentType="application/vnd.openxmlformats-officedocument.drawingml.chart+xml"/>
  <Override PartName="/ppt/charts/chart132.xml" ContentType="application/vnd.openxmlformats-officedocument.drawingml.chart+xml"/>
  <Override PartName="/ppt/charts/chart133.xml" ContentType="application/vnd.openxmlformats-officedocument.drawingml.chart+xml"/>
  <Override PartName="/ppt/charts/chart134.xml" ContentType="application/vnd.openxmlformats-officedocument.drawingml.chart+xml"/>
  <Override PartName="/ppt/charts/chart135.xml" ContentType="application/vnd.openxmlformats-officedocument.drawingml.chart+xml"/>
  <Override PartName="/ppt/charts/chart136.xml" ContentType="application/vnd.openxmlformats-officedocument.drawingml.chart+xml"/>
  <Override PartName="/ppt/charts/chart137.xml" ContentType="application/vnd.openxmlformats-officedocument.drawingml.chart+xml"/>
  <Override PartName="/ppt/charts/chart138.xml" ContentType="application/vnd.openxmlformats-officedocument.drawingml.chart+xml"/>
  <Override PartName="/ppt/charts/chart139.xml" ContentType="application/vnd.openxmlformats-officedocument.drawingml.chart+xml"/>
  <Override PartName="/ppt/charts/chart14.xml" ContentType="application/vnd.openxmlformats-officedocument.drawingml.chart+xml"/>
  <Override PartName="/ppt/charts/chart140.xml" ContentType="application/vnd.openxmlformats-officedocument.drawingml.chart+xml"/>
  <Override PartName="/ppt/charts/chart141.xml" ContentType="application/vnd.openxmlformats-officedocument.drawingml.chart+xml"/>
  <Override PartName="/ppt/charts/chart142.xml" ContentType="application/vnd.openxmlformats-officedocument.drawingml.chart+xml"/>
  <Override PartName="/ppt/charts/chart143.xml" ContentType="application/vnd.openxmlformats-officedocument.drawingml.chart+xml"/>
  <Override PartName="/ppt/charts/chart144.xml" ContentType="application/vnd.openxmlformats-officedocument.drawingml.chart+xml"/>
  <Override PartName="/ppt/charts/chart145.xml" ContentType="application/vnd.openxmlformats-officedocument.drawingml.chart+xml"/>
  <Override PartName="/ppt/charts/chart146.xml" ContentType="application/vnd.openxmlformats-officedocument.drawingml.chart+xml"/>
  <Override PartName="/ppt/charts/chart147.xml" ContentType="application/vnd.openxmlformats-officedocument.drawingml.chart+xml"/>
  <Override PartName="/ppt/charts/chart148.xml" ContentType="application/vnd.openxmlformats-officedocument.drawingml.chart+xml"/>
  <Override PartName="/ppt/charts/chart149.xml" ContentType="application/vnd.openxmlformats-officedocument.drawingml.chart+xml"/>
  <Override PartName="/ppt/charts/chart15.xml" ContentType="application/vnd.openxmlformats-officedocument.drawingml.chart+xml"/>
  <Override PartName="/ppt/charts/chart150.xml" ContentType="application/vnd.openxmlformats-officedocument.drawingml.chart+xml"/>
  <Override PartName="/ppt/charts/chart151.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1.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504" r:id="rId256"/>
    <p:sldId id="494" r:id="rId246"/>
    <p:sldId id="495" r:id="rId247"/>
    <p:sldId id="496" r:id="rId248"/>
    <p:sldId id="497" r:id="rId249"/>
    <p:sldId id="498" r:id="rId250"/>
    <p:sldId id="499" r:id="rId251"/>
    <p:sldId id="500" r:id="rId252"/>
    <p:sldId id="501" r:id="rId253"/>
    <p:sldId id="502" r:id="rId254"/>
    <p:sldId id="503" r:id="rId255"/>
    <p:sldId id="518" r:id="rId270"/>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2" r:id="rId44"/>
    <p:sldId id="293" r:id="rId45"/>
    <p:sldId id="296" r:id="rId48"/>
    <p:sldId id="297" r:id="rId49"/>
    <p:sldId id="298" r:id="rId50"/>
    <p:sldId id="299" r:id="rId51"/>
    <p:sldId id="300" r:id="rId52"/>
    <p:sldId id="302" r:id="rId54"/>
    <p:sldId id="303" r:id="rId55"/>
    <p:sldId id="306" r:id="rId58"/>
    <p:sldId id="307" r:id="rId59"/>
    <p:sldId id="308" r:id="rId60"/>
    <p:sldId id="309" r:id="rId61"/>
    <p:sldId id="311" r:id="rId63"/>
    <p:sldId id="312" r:id="rId64"/>
    <p:sldId id="315" r:id="rId67"/>
    <p:sldId id="316" r:id="rId68"/>
    <p:sldId id="317" r:id="rId69"/>
    <p:sldId id="318" r:id="rId70"/>
    <p:sldId id="319" r:id="rId71"/>
    <p:sldId id="321" r:id="rId73"/>
    <p:sldId id="322" r:id="rId74"/>
    <p:sldId id="325" r:id="rId77"/>
    <p:sldId id="326" r:id="rId78"/>
    <p:sldId id="327" r:id="rId79"/>
    <p:sldId id="328" r:id="rId80"/>
    <p:sldId id="329" r:id="rId81"/>
    <p:sldId id="331" r:id="rId83"/>
    <p:sldId id="332" r:id="rId84"/>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1" r:id="rId113"/>
    <p:sldId id="362" r:id="rId114"/>
    <p:sldId id="365" r:id="rId117"/>
    <p:sldId id="366" r:id="rId118"/>
    <p:sldId id="367" r:id="rId119"/>
    <p:sldId id="368" r:id="rId120"/>
    <p:sldId id="369" r:id="rId121"/>
    <p:sldId id="371" r:id="rId123"/>
    <p:sldId id="372" r:id="rId124"/>
    <p:sldId id="375" r:id="rId127"/>
    <p:sldId id="376" r:id="rId128"/>
    <p:sldId id="377" r:id="rId129"/>
    <p:sldId id="378" r:id="rId130"/>
    <p:sldId id="380" r:id="rId132"/>
    <p:sldId id="381" r:id="rId133"/>
    <p:sldId id="384" r:id="rId136"/>
    <p:sldId id="385" r:id="rId137"/>
    <p:sldId id="386" r:id="rId138"/>
    <p:sldId id="387" r:id="rId139"/>
    <p:sldId id="388" r:id="rId140"/>
    <p:sldId id="390" r:id="rId142"/>
    <p:sldId id="391" r:id="rId143"/>
    <p:sldId id="394" r:id="rId146"/>
    <p:sldId id="395" r:id="rId147"/>
    <p:sldId id="396" r:id="rId148"/>
    <p:sldId id="397" r:id="rId149"/>
    <p:sldId id="398" r:id="rId150"/>
    <p:sldId id="400" r:id="rId152"/>
    <p:sldId id="401" r:id="rId153"/>
    <p:sldId id="404" r:id="rId156"/>
    <p:sldId id="405" r:id="rId157"/>
    <p:sldId id="406" r:id="rId158"/>
    <p:sldId id="407" r:id="rId159"/>
    <p:sldId id="408" r:id="rId160"/>
    <p:sldId id="409" r:id="rId161"/>
    <p:sldId id="410" r:id="rId162"/>
    <p:sldId id="411" r:id="rId163"/>
    <p:sldId id="412" r:id="rId164"/>
    <p:sldId id="414" r:id="rId166"/>
    <p:sldId id="415" r:id="rId167"/>
    <p:sldId id="416" r:id="rId168"/>
    <p:sldId id="418" r:id="rId170"/>
    <p:sldId id="419" r:id="rId171"/>
    <p:sldId id="420" r:id="rId172"/>
    <p:sldId id="422" r:id="rId174"/>
    <p:sldId id="423" r:id="rId175"/>
    <p:sldId id="424" r:id="rId176"/>
    <p:sldId id="426" r:id="rId178"/>
    <p:sldId id="427" r:id="rId179"/>
    <p:sldId id="428" r:id="rId180"/>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519" r:id="rId18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35.xml"/><Relationship Id="rId18" Type="http://schemas.openxmlformats.org/officeDocument/2006/relationships/slide" Target="slides/slide36.xml"/><Relationship Id="rId19" Type="http://schemas.openxmlformats.org/officeDocument/2006/relationships/slide" Target="slides/slide37.xml"/><Relationship Id="rId20" Type="http://schemas.openxmlformats.org/officeDocument/2006/relationships/slide" Target="slides/slide38.xml"/><Relationship Id="rId21" Type="http://schemas.openxmlformats.org/officeDocument/2006/relationships/slide" Target="slides/slide39.xml"/><Relationship Id="rId22" Type="http://schemas.openxmlformats.org/officeDocument/2006/relationships/slide" Target="slides/slide40.xml"/><Relationship Id="rId23" Type="http://schemas.openxmlformats.org/officeDocument/2006/relationships/slide" Target="slides/slide41.xml"/><Relationship Id="rId24" Type="http://schemas.openxmlformats.org/officeDocument/2006/relationships/slide" Target="slides/slide42.xml"/><Relationship Id="rId25" Type="http://schemas.openxmlformats.org/officeDocument/2006/relationships/slide" Target="slides/slide43.xml"/><Relationship Id="rId26" Type="http://schemas.openxmlformats.org/officeDocument/2006/relationships/slide" Target="slides/slide44.xml"/><Relationship Id="rId27" Type="http://schemas.openxmlformats.org/officeDocument/2006/relationships/slide" Target="slides/slide45.xml"/><Relationship Id="rId28" Type="http://schemas.openxmlformats.org/officeDocument/2006/relationships/slide" Target="slides/slide46.xml"/><Relationship Id="rId29" Type="http://schemas.openxmlformats.org/officeDocument/2006/relationships/slide" Target="slides/slide47.xml"/><Relationship Id="rId30" Type="http://schemas.openxmlformats.org/officeDocument/2006/relationships/slide" Target="slides/slide48.xml"/><Relationship Id="rId31" Type="http://schemas.openxmlformats.org/officeDocument/2006/relationships/slide" Target="slides/slide49.xml"/><Relationship Id="rId32" Type="http://schemas.openxmlformats.org/officeDocument/2006/relationships/slide" Target="slides/slide50.xml"/><Relationship Id="rId33" Type="http://schemas.openxmlformats.org/officeDocument/2006/relationships/slide" Target="slides/slide51.xml"/><Relationship Id="rId34" Type="http://schemas.openxmlformats.org/officeDocument/2006/relationships/slide" Target="slides/slide52.xml"/><Relationship Id="rId35" Type="http://schemas.openxmlformats.org/officeDocument/2006/relationships/slide" Target="slides/slide53.xml"/><Relationship Id="rId36" Type="http://schemas.openxmlformats.org/officeDocument/2006/relationships/slide" Target="slides/slide54.xml"/><Relationship Id="rId37" Type="http://schemas.openxmlformats.org/officeDocument/2006/relationships/slide" Target="slides/slide55.xml"/><Relationship Id="rId38" Type="http://schemas.openxmlformats.org/officeDocument/2006/relationships/slide" Target="slides/slide56.xml"/><Relationship Id="rId39" Type="http://schemas.openxmlformats.org/officeDocument/2006/relationships/slide" Target="slides/slide57.xml"/><Relationship Id="rId40" Type="http://schemas.openxmlformats.org/officeDocument/2006/relationships/slide" Target="slides/slide58.xml"/><Relationship Id="rId41" Type="http://schemas.openxmlformats.org/officeDocument/2006/relationships/slide" Target="slides/slide59.xml"/><Relationship Id="rId42" Type="http://schemas.openxmlformats.org/officeDocument/2006/relationships/slide" Target="slides/slide60.xml"/><Relationship Id="rId44" Type="http://schemas.openxmlformats.org/officeDocument/2006/relationships/slide" Target="slides/slide61.xml"/><Relationship Id="rId45" Type="http://schemas.openxmlformats.org/officeDocument/2006/relationships/slide" Target="slides/slide62.xml"/><Relationship Id="rId48" Type="http://schemas.openxmlformats.org/officeDocument/2006/relationships/slide" Target="slides/slide63.xml"/><Relationship Id="rId49" Type="http://schemas.openxmlformats.org/officeDocument/2006/relationships/slide" Target="slides/slide64.xml"/><Relationship Id="rId50" Type="http://schemas.openxmlformats.org/officeDocument/2006/relationships/slide" Target="slides/slide65.xml"/><Relationship Id="rId51" Type="http://schemas.openxmlformats.org/officeDocument/2006/relationships/slide" Target="slides/slide66.xml"/><Relationship Id="rId52" Type="http://schemas.openxmlformats.org/officeDocument/2006/relationships/slide" Target="slides/slide67.xml"/><Relationship Id="rId54" Type="http://schemas.openxmlformats.org/officeDocument/2006/relationships/slide" Target="slides/slide68.xml"/><Relationship Id="rId55" Type="http://schemas.openxmlformats.org/officeDocument/2006/relationships/slide" Target="slides/slide69.xml"/><Relationship Id="rId58" Type="http://schemas.openxmlformats.org/officeDocument/2006/relationships/slide" Target="slides/slide70.xml"/><Relationship Id="rId59" Type="http://schemas.openxmlformats.org/officeDocument/2006/relationships/slide" Target="slides/slide71.xml"/><Relationship Id="rId60" Type="http://schemas.openxmlformats.org/officeDocument/2006/relationships/slide" Target="slides/slide72.xml"/><Relationship Id="rId61" Type="http://schemas.openxmlformats.org/officeDocument/2006/relationships/slide" Target="slides/slide73.xml"/><Relationship Id="rId63" Type="http://schemas.openxmlformats.org/officeDocument/2006/relationships/slide" Target="slides/slide74.xml"/><Relationship Id="rId64" Type="http://schemas.openxmlformats.org/officeDocument/2006/relationships/slide" Target="slides/slide75.xml"/><Relationship Id="rId67" Type="http://schemas.openxmlformats.org/officeDocument/2006/relationships/slide" Target="slides/slide76.xml"/><Relationship Id="rId68" Type="http://schemas.openxmlformats.org/officeDocument/2006/relationships/slide" Target="slides/slide77.xml"/><Relationship Id="rId69" Type="http://schemas.openxmlformats.org/officeDocument/2006/relationships/slide" Target="slides/slide78.xml"/><Relationship Id="rId70" Type="http://schemas.openxmlformats.org/officeDocument/2006/relationships/slide" Target="slides/slide79.xml"/><Relationship Id="rId71" Type="http://schemas.openxmlformats.org/officeDocument/2006/relationships/slide" Target="slides/slide80.xml"/><Relationship Id="rId73" Type="http://schemas.openxmlformats.org/officeDocument/2006/relationships/slide" Target="slides/slide81.xml"/><Relationship Id="rId74" Type="http://schemas.openxmlformats.org/officeDocument/2006/relationships/slide" Target="slides/slide82.xml"/><Relationship Id="rId77" Type="http://schemas.openxmlformats.org/officeDocument/2006/relationships/slide" Target="slides/slide83.xml"/><Relationship Id="rId78" Type="http://schemas.openxmlformats.org/officeDocument/2006/relationships/slide" Target="slides/slide84.xml"/><Relationship Id="rId79" Type="http://schemas.openxmlformats.org/officeDocument/2006/relationships/slide" Target="slides/slide85.xml"/><Relationship Id="rId80" Type="http://schemas.openxmlformats.org/officeDocument/2006/relationships/slide" Target="slides/slide86.xml"/><Relationship Id="rId81" Type="http://schemas.openxmlformats.org/officeDocument/2006/relationships/slide" Target="slides/slide87.xml"/><Relationship Id="rId83" Type="http://schemas.openxmlformats.org/officeDocument/2006/relationships/slide" Target="slides/slide88.xml"/><Relationship Id="rId84" Type="http://schemas.openxmlformats.org/officeDocument/2006/relationships/slide" Target="slides/slide89.xml"/><Relationship Id="rId87" Type="http://schemas.openxmlformats.org/officeDocument/2006/relationships/slide" Target="slides/slide90.xml"/><Relationship Id="rId88" Type="http://schemas.openxmlformats.org/officeDocument/2006/relationships/slide" Target="slides/slide91.xml"/><Relationship Id="rId89" Type="http://schemas.openxmlformats.org/officeDocument/2006/relationships/slide" Target="slides/slide92.xml"/><Relationship Id="rId90" Type="http://schemas.openxmlformats.org/officeDocument/2006/relationships/slide" Target="slides/slide93.xml"/><Relationship Id="rId91" Type="http://schemas.openxmlformats.org/officeDocument/2006/relationships/slide" Target="slides/slide94.xml"/><Relationship Id="rId92" Type="http://schemas.openxmlformats.org/officeDocument/2006/relationships/slide" Target="slides/slide95.xml"/><Relationship Id="rId93" Type="http://schemas.openxmlformats.org/officeDocument/2006/relationships/slide" Target="slides/slide96.xml"/><Relationship Id="rId94" Type="http://schemas.openxmlformats.org/officeDocument/2006/relationships/slide" Target="slides/slide97.xml"/><Relationship Id="rId95" Type="http://schemas.openxmlformats.org/officeDocument/2006/relationships/slide" Target="slides/slide98.xml"/><Relationship Id="rId96" Type="http://schemas.openxmlformats.org/officeDocument/2006/relationships/slide" Target="slides/slide99.xml"/><Relationship Id="rId97" Type="http://schemas.openxmlformats.org/officeDocument/2006/relationships/slide" Target="slides/slide100.xml"/><Relationship Id="rId98" Type="http://schemas.openxmlformats.org/officeDocument/2006/relationships/slide" Target="slides/slide101.xml"/><Relationship Id="rId99" Type="http://schemas.openxmlformats.org/officeDocument/2006/relationships/slide" Target="slides/slide102.xml"/><Relationship Id="rId100" Type="http://schemas.openxmlformats.org/officeDocument/2006/relationships/slide" Target="slides/slide103.xml"/><Relationship Id="rId101" Type="http://schemas.openxmlformats.org/officeDocument/2006/relationships/slide" Target="slides/slide104.xml"/><Relationship Id="rId102" Type="http://schemas.openxmlformats.org/officeDocument/2006/relationships/slide" Target="slides/slide105.xml"/><Relationship Id="rId103" Type="http://schemas.openxmlformats.org/officeDocument/2006/relationships/slide" Target="slides/slide106.xml"/><Relationship Id="rId104" Type="http://schemas.openxmlformats.org/officeDocument/2006/relationships/slide" Target="slides/slide107.xml"/><Relationship Id="rId105" Type="http://schemas.openxmlformats.org/officeDocument/2006/relationships/slide" Target="slides/slide108.xml"/><Relationship Id="rId106" Type="http://schemas.openxmlformats.org/officeDocument/2006/relationships/slide" Target="slides/slide109.xml"/><Relationship Id="rId107" Type="http://schemas.openxmlformats.org/officeDocument/2006/relationships/slide" Target="slides/slide110.xml"/><Relationship Id="rId108" Type="http://schemas.openxmlformats.org/officeDocument/2006/relationships/slide" Target="slides/slide111.xml"/><Relationship Id="rId109" Type="http://schemas.openxmlformats.org/officeDocument/2006/relationships/slide" Target="slides/slide112.xml"/><Relationship Id="rId110" Type="http://schemas.openxmlformats.org/officeDocument/2006/relationships/slide" Target="slides/slide113.xml"/><Relationship Id="rId111" Type="http://schemas.openxmlformats.org/officeDocument/2006/relationships/slide" Target="slides/slide114.xml"/><Relationship Id="rId113" Type="http://schemas.openxmlformats.org/officeDocument/2006/relationships/slide" Target="slides/slide115.xml"/><Relationship Id="rId114" Type="http://schemas.openxmlformats.org/officeDocument/2006/relationships/slide" Target="slides/slide116.xml"/><Relationship Id="rId117" Type="http://schemas.openxmlformats.org/officeDocument/2006/relationships/slide" Target="slides/slide117.xml"/><Relationship Id="rId118" Type="http://schemas.openxmlformats.org/officeDocument/2006/relationships/slide" Target="slides/slide118.xml"/><Relationship Id="rId119" Type="http://schemas.openxmlformats.org/officeDocument/2006/relationships/slide" Target="slides/slide119.xml"/><Relationship Id="rId120" Type="http://schemas.openxmlformats.org/officeDocument/2006/relationships/slide" Target="slides/slide120.xml"/><Relationship Id="rId121"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7" Type="http://schemas.openxmlformats.org/officeDocument/2006/relationships/slide" Target="slides/slide124.xml"/><Relationship Id="rId128" Type="http://schemas.openxmlformats.org/officeDocument/2006/relationships/slide" Target="slides/slide125.xml"/><Relationship Id="rId129" Type="http://schemas.openxmlformats.org/officeDocument/2006/relationships/slide" Target="slides/slide126.xml"/><Relationship Id="rId130" Type="http://schemas.openxmlformats.org/officeDocument/2006/relationships/slide" Target="slides/slide127.xml"/><Relationship Id="rId132" Type="http://schemas.openxmlformats.org/officeDocument/2006/relationships/slide" Target="slides/slide128.xml"/><Relationship Id="rId133"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6" Type="http://schemas.openxmlformats.org/officeDocument/2006/relationships/slide" Target="slides/slide137.xml"/><Relationship Id="rId147" Type="http://schemas.openxmlformats.org/officeDocument/2006/relationships/slide" Target="slides/slide138.xml"/><Relationship Id="rId148" Type="http://schemas.openxmlformats.org/officeDocument/2006/relationships/slide" Target="slides/slide139.xml"/><Relationship Id="rId149" Type="http://schemas.openxmlformats.org/officeDocument/2006/relationships/slide" Target="slides/slide140.xml"/><Relationship Id="rId150" Type="http://schemas.openxmlformats.org/officeDocument/2006/relationships/slide" Target="slides/slide141.xml"/><Relationship Id="rId152" Type="http://schemas.openxmlformats.org/officeDocument/2006/relationships/slide" Target="slides/slide142.xml"/><Relationship Id="rId153" Type="http://schemas.openxmlformats.org/officeDocument/2006/relationships/slide" Target="slides/slide143.xml"/><Relationship Id="rId156" Type="http://schemas.openxmlformats.org/officeDocument/2006/relationships/slide" Target="slides/slide144.xml"/><Relationship Id="rId157" Type="http://schemas.openxmlformats.org/officeDocument/2006/relationships/slide" Target="slides/slide145.xml"/><Relationship Id="rId158" Type="http://schemas.openxmlformats.org/officeDocument/2006/relationships/slide" Target="slides/slide146.xml"/><Relationship Id="rId159" Type="http://schemas.openxmlformats.org/officeDocument/2006/relationships/slide" Target="slides/slide147.xml"/><Relationship Id="rId160" Type="http://schemas.openxmlformats.org/officeDocument/2006/relationships/slide" Target="slides/slide148.xml"/><Relationship Id="rId161" Type="http://schemas.openxmlformats.org/officeDocument/2006/relationships/slide" Target="slides/slide149.xml"/><Relationship Id="rId162" Type="http://schemas.openxmlformats.org/officeDocument/2006/relationships/slide" Target="slides/slide150.xml"/><Relationship Id="rId163" Type="http://schemas.openxmlformats.org/officeDocument/2006/relationships/slide" Target="slides/slide151.xml"/><Relationship Id="rId164" Type="http://schemas.openxmlformats.org/officeDocument/2006/relationships/slide" Target="slides/slide152.xml"/><Relationship Id="rId166" Type="http://schemas.openxmlformats.org/officeDocument/2006/relationships/slide" Target="slides/slide153.xml"/><Relationship Id="rId167" Type="http://schemas.openxmlformats.org/officeDocument/2006/relationships/slide" Target="slides/slide154.xml"/><Relationship Id="rId168" Type="http://schemas.openxmlformats.org/officeDocument/2006/relationships/slide" Target="slides/slide155.xml"/><Relationship Id="rId170" Type="http://schemas.openxmlformats.org/officeDocument/2006/relationships/slide" Target="slides/slide156.xml"/><Relationship Id="rId171" Type="http://schemas.openxmlformats.org/officeDocument/2006/relationships/slide" Target="slides/slide157.xml"/><Relationship Id="rId172" Type="http://schemas.openxmlformats.org/officeDocument/2006/relationships/slide" Target="slides/slide158.xml"/><Relationship Id="rId174" Type="http://schemas.openxmlformats.org/officeDocument/2006/relationships/slide" Target="slides/slide159.xml"/><Relationship Id="rId175" Type="http://schemas.openxmlformats.org/officeDocument/2006/relationships/slide" Target="slides/slide160.xml"/><Relationship Id="rId176" Type="http://schemas.openxmlformats.org/officeDocument/2006/relationships/slide" Target="slides/slide161.xml"/><Relationship Id="rId178" Type="http://schemas.openxmlformats.org/officeDocument/2006/relationships/slide" Target="slides/slide162.xml"/><Relationship Id="rId179" Type="http://schemas.openxmlformats.org/officeDocument/2006/relationships/slide" Target="slides/slide163.xml"/><Relationship Id="rId180" Type="http://schemas.openxmlformats.org/officeDocument/2006/relationships/slide" Target="slides/slide164.xml"/><Relationship Id="rId181" Type="http://schemas.openxmlformats.org/officeDocument/2006/relationships/slide" Target="slides/slide219.xml"/><Relationship Id="rId182" Type="http://schemas.openxmlformats.org/officeDocument/2006/relationships/slide" Target="slides/slide165.xml"/><Relationship Id="rId183" Type="http://schemas.openxmlformats.org/officeDocument/2006/relationships/slide" Target="slides/slide166.xml"/><Relationship Id="rId184" Type="http://schemas.openxmlformats.org/officeDocument/2006/relationships/slide" Target="slides/slide167.xml"/><Relationship Id="rId185" Type="http://schemas.openxmlformats.org/officeDocument/2006/relationships/slide" Target="slides/slide168.xml"/><Relationship Id="rId186" Type="http://schemas.openxmlformats.org/officeDocument/2006/relationships/slide" Target="slides/slide169.xml"/><Relationship Id="rId187" Type="http://schemas.openxmlformats.org/officeDocument/2006/relationships/slide" Target="slides/slide170.xml"/><Relationship Id="rId188" Type="http://schemas.openxmlformats.org/officeDocument/2006/relationships/slide" Target="slides/slide171.xml"/><Relationship Id="rId189" Type="http://schemas.openxmlformats.org/officeDocument/2006/relationships/slide" Target="slides/slide172.xml"/><Relationship Id="rId190" Type="http://schemas.openxmlformats.org/officeDocument/2006/relationships/slide" Target="slides/slide173.xml"/><Relationship Id="rId191" Type="http://schemas.openxmlformats.org/officeDocument/2006/relationships/slide" Target="slides/slide174.xml"/><Relationship Id="rId192" Type="http://schemas.openxmlformats.org/officeDocument/2006/relationships/slide" Target="slides/slide175.xml"/><Relationship Id="rId193" Type="http://schemas.openxmlformats.org/officeDocument/2006/relationships/slide" Target="slides/slide176.xml"/><Relationship Id="rId194" Type="http://schemas.openxmlformats.org/officeDocument/2006/relationships/slide" Target="slides/slide177.xml"/><Relationship Id="rId195" Type="http://schemas.openxmlformats.org/officeDocument/2006/relationships/slide" Target="slides/slide178.xml"/><Relationship Id="rId196" Type="http://schemas.openxmlformats.org/officeDocument/2006/relationships/slide" Target="slides/slide179.xml"/><Relationship Id="rId197" Type="http://schemas.openxmlformats.org/officeDocument/2006/relationships/slide" Target="slides/slide180.xml"/><Relationship Id="rId198" Type="http://schemas.openxmlformats.org/officeDocument/2006/relationships/slide" Target="slides/slide181.xml"/><Relationship Id="rId199" Type="http://schemas.openxmlformats.org/officeDocument/2006/relationships/slide" Target="slides/slide182.xml"/><Relationship Id="rId200" Type="http://schemas.openxmlformats.org/officeDocument/2006/relationships/slide" Target="slides/slide183.xml"/><Relationship Id="rId201" Type="http://schemas.openxmlformats.org/officeDocument/2006/relationships/slide" Target="slides/slide184.xml"/><Relationship Id="rId202" Type="http://schemas.openxmlformats.org/officeDocument/2006/relationships/slide" Target="slides/slide185.xml"/><Relationship Id="rId203" Type="http://schemas.openxmlformats.org/officeDocument/2006/relationships/slide" Target="slides/slide186.xml"/><Relationship Id="rId204" Type="http://schemas.openxmlformats.org/officeDocument/2006/relationships/slide" Target="slides/slide187.xml"/><Relationship Id="rId205" Type="http://schemas.openxmlformats.org/officeDocument/2006/relationships/slide" Target="slides/slide188.xml"/><Relationship Id="rId206" Type="http://schemas.openxmlformats.org/officeDocument/2006/relationships/slide" Target="slides/slide189.xml"/><Relationship Id="rId207" Type="http://schemas.openxmlformats.org/officeDocument/2006/relationships/slide" Target="slides/slide190.xml"/><Relationship Id="rId208" Type="http://schemas.openxmlformats.org/officeDocument/2006/relationships/slide" Target="slides/slide191.xml"/><Relationship Id="rId209" Type="http://schemas.openxmlformats.org/officeDocument/2006/relationships/slide" Target="slides/slide192.xml"/><Relationship Id="rId210" Type="http://schemas.openxmlformats.org/officeDocument/2006/relationships/slide" Target="slides/slide193.xml"/><Relationship Id="rId211" Type="http://schemas.openxmlformats.org/officeDocument/2006/relationships/slide" Target="slides/slide194.xml"/><Relationship Id="rId212" Type="http://schemas.openxmlformats.org/officeDocument/2006/relationships/slide" Target="slides/slide195.xml"/><Relationship Id="rId213" Type="http://schemas.openxmlformats.org/officeDocument/2006/relationships/slide" Target="slides/slide196.xml"/><Relationship Id="rId214" Type="http://schemas.openxmlformats.org/officeDocument/2006/relationships/slide" Target="slides/slide197.xml"/><Relationship Id="rId215" Type="http://schemas.openxmlformats.org/officeDocument/2006/relationships/slide" Target="slides/slide198.xml"/><Relationship Id="rId216" Type="http://schemas.openxmlformats.org/officeDocument/2006/relationships/slide" Target="slides/slide199.xml"/><Relationship Id="rId217" Type="http://schemas.openxmlformats.org/officeDocument/2006/relationships/slide" Target="slides/slide200.xml"/><Relationship Id="rId218" Type="http://schemas.openxmlformats.org/officeDocument/2006/relationships/slide" Target="slides/slide201.xml"/><Relationship Id="rId219" Type="http://schemas.openxmlformats.org/officeDocument/2006/relationships/slide" Target="slides/slide202.xml"/><Relationship Id="rId220" Type="http://schemas.openxmlformats.org/officeDocument/2006/relationships/slide" Target="slides/slide203.xml"/><Relationship Id="rId221" Type="http://schemas.openxmlformats.org/officeDocument/2006/relationships/slide" Target="slides/slide204.xml"/><Relationship Id="rId222" Type="http://schemas.openxmlformats.org/officeDocument/2006/relationships/slide" Target="slides/slide205.xml"/><Relationship Id="rId223" Type="http://schemas.openxmlformats.org/officeDocument/2006/relationships/slide" Target="slides/slide206.xml"/><Relationship Id="rId224" Type="http://schemas.openxmlformats.org/officeDocument/2006/relationships/slide" Target="slides/slide207.xml"/><Relationship Id="rId225" Type="http://schemas.openxmlformats.org/officeDocument/2006/relationships/slide" Target="slides/slide208.xml"/><Relationship Id="rId226" Type="http://schemas.openxmlformats.org/officeDocument/2006/relationships/slide" Target="slides/slide209.xml"/><Relationship Id="rId227" Type="http://schemas.openxmlformats.org/officeDocument/2006/relationships/slide" Target="slides/slide210.xml"/><Relationship Id="rId228" Type="http://schemas.openxmlformats.org/officeDocument/2006/relationships/slide" Target="slides/slide211.xml"/><Relationship Id="rId229" Type="http://schemas.openxmlformats.org/officeDocument/2006/relationships/slide" Target="slides/slide212.xml"/><Relationship Id="rId230" Type="http://schemas.openxmlformats.org/officeDocument/2006/relationships/slide" Target="slides/slide213.xml"/><Relationship Id="rId231" Type="http://schemas.openxmlformats.org/officeDocument/2006/relationships/slide" Target="slides/slide214.xml"/><Relationship Id="rId232" Type="http://schemas.openxmlformats.org/officeDocument/2006/relationships/slide" Target="slides/slide215.xml"/><Relationship Id="rId233" Type="http://schemas.openxmlformats.org/officeDocument/2006/relationships/slide" Target="slides/slide216.xml"/><Relationship Id="rId234" Type="http://schemas.openxmlformats.org/officeDocument/2006/relationships/slide" Target="slides/slide217.xml"/><Relationship Id="rId235" Type="http://schemas.openxmlformats.org/officeDocument/2006/relationships/slide" Target="slides/slide218.xml"/><Relationship Id="rId246" Type="http://schemas.openxmlformats.org/officeDocument/2006/relationships/slide" Target="slides/slide11.xml"/><Relationship Id="rId247" Type="http://schemas.openxmlformats.org/officeDocument/2006/relationships/slide" Target="slides/slide12.xml"/><Relationship Id="rId248" Type="http://schemas.openxmlformats.org/officeDocument/2006/relationships/slide" Target="slides/slide13.xml"/><Relationship Id="rId249" Type="http://schemas.openxmlformats.org/officeDocument/2006/relationships/slide" Target="slides/slide14.xml"/><Relationship Id="rId250" Type="http://schemas.openxmlformats.org/officeDocument/2006/relationships/slide" Target="slides/slide15.xml"/><Relationship Id="rId251" Type="http://schemas.openxmlformats.org/officeDocument/2006/relationships/slide" Target="slides/slide16.xml"/><Relationship Id="rId252" Type="http://schemas.openxmlformats.org/officeDocument/2006/relationships/slide" Target="slides/slide17.xml"/><Relationship Id="rId253" Type="http://schemas.openxmlformats.org/officeDocument/2006/relationships/slide" Target="slides/slide18.xml"/><Relationship Id="rId254" Type="http://schemas.openxmlformats.org/officeDocument/2006/relationships/slide" Target="slides/slide19.xml"/><Relationship Id="rId255" Type="http://schemas.openxmlformats.org/officeDocument/2006/relationships/slide" Target="slides/slide20.xml"/><Relationship Id="rId256" Type="http://schemas.openxmlformats.org/officeDocument/2006/relationships/slide" Target="slides/slide10.xml"/><Relationship Id="rId257" Type="http://schemas.openxmlformats.org/officeDocument/2006/relationships/slide" Target="slides/slide22.xml"/><Relationship Id="rId258" Type="http://schemas.openxmlformats.org/officeDocument/2006/relationships/slide" Target="slides/slide23.xml"/><Relationship Id="rId259" Type="http://schemas.openxmlformats.org/officeDocument/2006/relationships/slide" Target="slides/slide24.xml"/><Relationship Id="rId260" Type="http://schemas.openxmlformats.org/officeDocument/2006/relationships/slide" Target="slides/slide25.xml"/><Relationship Id="rId261" Type="http://schemas.openxmlformats.org/officeDocument/2006/relationships/slide" Target="slides/slide26.xml"/><Relationship Id="rId262" Type="http://schemas.openxmlformats.org/officeDocument/2006/relationships/slide" Target="slides/slide27.xml"/><Relationship Id="rId263" Type="http://schemas.openxmlformats.org/officeDocument/2006/relationships/slide" Target="slides/slide28.xml"/><Relationship Id="rId264" Type="http://schemas.openxmlformats.org/officeDocument/2006/relationships/slide" Target="slides/slide29.xml"/><Relationship Id="rId265" Type="http://schemas.openxmlformats.org/officeDocument/2006/relationships/slide" Target="slides/slide30.xml"/><Relationship Id="rId266" Type="http://schemas.openxmlformats.org/officeDocument/2006/relationships/slide" Target="slides/slide31.xml"/><Relationship Id="rId267" Type="http://schemas.openxmlformats.org/officeDocument/2006/relationships/slide" Target="slides/slide32.xml"/><Relationship Id="rId268" Type="http://schemas.openxmlformats.org/officeDocument/2006/relationships/slide" Target="slides/slide33.xml"/><Relationship Id="rId269" Type="http://schemas.openxmlformats.org/officeDocument/2006/relationships/slide" Target="slides/slide34.xml"/><Relationship Id="rId270" Type="http://schemas.openxmlformats.org/officeDocument/2006/relationships/slide" Target="slides/slide21.xml"/></Relationships>
</file>

<file path=ppt/charts/_rels/chart1.xml.rels><?xml version='1.0' encoding='UTF-8' standalone='yes'?>
<Relationships xmlns="http://schemas.openxmlformats.org/package/2006/relationships"><Relationship Id="rId2" Type="http://schemas.openxmlformats.org/officeDocument/2006/relationships/image" Target="../media/image3.png"/></Relationships>
</file>

<file path=ppt/charts/_rels/chart3.xml.rels><?xml version='1.0' encoding='UTF-8' standalone='yes'?>
<Relationships xmlns="http://schemas.openxmlformats.org/package/2006/relationships"><Relationship Id="rId2" Type="http://schemas.openxmlformats.org/officeDocument/2006/relationships/image" Target="../media/image4.png"/></Relationships>
</file>

<file path=ppt/charts/_rels/chart5.xml.rels><?xml version='1.0' encoding='UTF-8' standalone='yes'?>
<Relationships xmlns="http://schemas.openxmlformats.org/package/2006/relationships"><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charts/_rels/chart6.xml.rels><?xml version='1.0' encoding='UTF-8' standalone='yes'?>
<Relationships xmlns="http://schemas.openxmlformats.org/package/2006/relationships"><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33.png"/><Relationship Id="rId21" Type="http://schemas.openxmlformats.org/officeDocument/2006/relationships/image" Target="../media/image34.png"/><Relationship Id="rId22" Type="http://schemas.openxmlformats.org/officeDocument/2006/relationships/image" Target="../media/image35.png"/><Relationship Id="rId23" Type="http://schemas.openxmlformats.org/officeDocument/2006/relationships/image" Target="../media/image36.png"/></Relationships>
</file>

<file path=ppt/charts/_rels/chart7.xml.rels><?xml version='1.0' encoding='UTF-8' standalone='yes'?>
<Relationships xmlns="http://schemas.openxmlformats.org/package/2006/relationships"><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s>
</file>

<file path=ppt/charts/_rels/chart8.xml.rels><?xml version='1.0' encoding='UTF-8' standalone='yes'?>
<Relationships xmlns="http://schemas.openxmlformats.org/package/2006/relationships"><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image" Target="../media/image51.png"/><Relationship Id="rId8" Type="http://schemas.openxmlformats.org/officeDocument/2006/relationships/image" Target="../media/image52.png"/></Relationships>
</file>

<file path=ppt/charts/_rels/chart9.xml.rels><?xml version='1.0' encoding='UTF-8' standalone='yes'?>
<Relationships xmlns="http://schemas.openxmlformats.org/package/2006/relationships"><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png"/></Relationships>
</file>

<file path=ppt/charts/_rels/chart11.xml.rels><?xml version='1.0' encoding='UTF-8' standalone='yes'?>
<Relationships xmlns="http://schemas.openxmlformats.org/package/2006/relationships"><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 Id="rId9" Type="http://schemas.openxmlformats.org/officeDocument/2006/relationships/image" Target="../media/image87.png"/><Relationship Id="rId10" Type="http://schemas.openxmlformats.org/officeDocument/2006/relationships/image" Target="../media/image88.png"/><Relationship Id="rId11" Type="http://schemas.openxmlformats.org/officeDocument/2006/relationships/image" Target="../media/image89.png"/><Relationship Id="rId12" Type="http://schemas.openxmlformats.org/officeDocument/2006/relationships/image" Target="../media/image90.png"/><Relationship Id="rId13" Type="http://schemas.openxmlformats.org/officeDocument/2006/relationships/image" Target="../media/image91.png"/><Relationship Id="rId14" Type="http://schemas.openxmlformats.org/officeDocument/2006/relationships/image" Target="../media/image92.png"/><Relationship Id="rId15" Type="http://schemas.openxmlformats.org/officeDocument/2006/relationships/image" Target="../media/image93.png"/></Relationships>
</file>

<file path=ppt/charts/_rels/chart12.xml.rels><?xml version='1.0' encoding='UTF-8' standalone='yes'?>
<Relationships xmlns="http://schemas.openxmlformats.org/package/2006/relationships"><Relationship Id="rId2" Type="http://schemas.openxmlformats.org/officeDocument/2006/relationships/image" Target="../media/image97.png"/><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00.png"/><Relationship Id="rId6" Type="http://schemas.openxmlformats.org/officeDocument/2006/relationships/image" Target="../media/image101.png"/><Relationship Id="rId7" Type="http://schemas.openxmlformats.org/officeDocument/2006/relationships/image" Target="../media/image102.png"/><Relationship Id="rId8" Type="http://schemas.openxmlformats.org/officeDocument/2006/relationships/image" Target="../media/image103.png"/><Relationship Id="rId9" Type="http://schemas.openxmlformats.org/officeDocument/2006/relationships/image" Target="../media/image104.png"/><Relationship Id="rId10" Type="http://schemas.openxmlformats.org/officeDocument/2006/relationships/image" Target="../media/image105.png"/><Relationship Id="rId11" Type="http://schemas.openxmlformats.org/officeDocument/2006/relationships/image" Target="../media/image106.png"/><Relationship Id="rId12" Type="http://schemas.openxmlformats.org/officeDocument/2006/relationships/image" Target="../media/image107.png"/><Relationship Id="rId13" Type="http://schemas.openxmlformats.org/officeDocument/2006/relationships/image" Target="../media/image108.png"/><Relationship Id="rId14" Type="http://schemas.openxmlformats.org/officeDocument/2006/relationships/image" Target="../media/image109.png"/><Relationship Id="rId15" Type="http://schemas.openxmlformats.org/officeDocument/2006/relationships/image" Target="../media/image110.png"/></Relationships>
</file>

<file path=ppt/charts/_rels/chart13.xml.rels><?xml version='1.0' encoding='UTF-8' standalone='yes'?>
<Relationships xmlns="http://schemas.openxmlformats.org/package/2006/relationships"><Relationship Id="rId2" Type="http://schemas.openxmlformats.org/officeDocument/2006/relationships/image" Target="../media/image114.png"/></Relationships>
</file>

<file path=ppt/charts/_rels/chart14.xml.rels><?xml version='1.0' encoding='UTF-8' standalone='yes'?>
<Relationships xmlns="http://schemas.openxmlformats.org/package/2006/relationships"><Relationship Id="rId2" Type="http://schemas.openxmlformats.org/officeDocument/2006/relationships/image" Target="../media/image115.png"/></Relationships>
</file>

<file path=ppt/charts/_rels/chart15.xml.rels><?xml version='1.0' encoding='UTF-8' standalone='yes'?>
<Relationships xmlns="http://schemas.openxmlformats.org/package/2006/relationships"><Relationship Id="rId2" Type="http://schemas.openxmlformats.org/officeDocument/2006/relationships/image" Target="../media/image133.png"/><Relationship Id="rId3" Type="http://schemas.openxmlformats.org/officeDocument/2006/relationships/image" Target="../media/image134.png"/><Relationship Id="rId4" Type="http://schemas.openxmlformats.org/officeDocument/2006/relationships/image" Target="../media/image135.png"/><Relationship Id="rId5" Type="http://schemas.openxmlformats.org/officeDocument/2006/relationships/image" Target="../media/image136.png"/><Relationship Id="rId6" Type="http://schemas.openxmlformats.org/officeDocument/2006/relationships/image" Target="../media/image137.png"/><Relationship Id="rId7" Type="http://schemas.openxmlformats.org/officeDocument/2006/relationships/image" Target="../media/image138.png"/><Relationship Id="rId8" Type="http://schemas.openxmlformats.org/officeDocument/2006/relationships/image" Target="../media/image139.png"/><Relationship Id="rId9" Type="http://schemas.openxmlformats.org/officeDocument/2006/relationships/image" Target="../media/image140.png"/><Relationship Id="rId10" Type="http://schemas.openxmlformats.org/officeDocument/2006/relationships/image" Target="../media/image141.png"/><Relationship Id="rId11" Type="http://schemas.openxmlformats.org/officeDocument/2006/relationships/image" Target="../media/image142.png"/><Relationship Id="rId12" Type="http://schemas.openxmlformats.org/officeDocument/2006/relationships/image" Target="../media/image143.png"/><Relationship Id="rId13" Type="http://schemas.openxmlformats.org/officeDocument/2006/relationships/image" Target="../media/image144.png"/><Relationship Id="rId14" Type="http://schemas.openxmlformats.org/officeDocument/2006/relationships/image" Target="../media/image145.png"/><Relationship Id="rId15" Type="http://schemas.openxmlformats.org/officeDocument/2006/relationships/image" Target="../media/image146.png"/><Relationship Id="rId16" Type="http://schemas.openxmlformats.org/officeDocument/2006/relationships/image" Target="../media/image147.png"/><Relationship Id="rId17" Type="http://schemas.openxmlformats.org/officeDocument/2006/relationships/image" Target="../media/image148.png"/><Relationship Id="rId18" Type="http://schemas.openxmlformats.org/officeDocument/2006/relationships/image" Target="../media/image149.png"/><Relationship Id="rId19" Type="http://schemas.openxmlformats.org/officeDocument/2006/relationships/image" Target="../media/image150.png"/><Relationship Id="rId20" Type="http://schemas.openxmlformats.org/officeDocument/2006/relationships/image" Target="../media/image151.png"/><Relationship Id="rId21" Type="http://schemas.openxmlformats.org/officeDocument/2006/relationships/image" Target="../media/image152.png"/><Relationship Id="rId22" Type="http://schemas.openxmlformats.org/officeDocument/2006/relationships/image" Target="../media/image153.png"/><Relationship Id="rId23" Type="http://schemas.openxmlformats.org/officeDocument/2006/relationships/image" Target="../media/image154.png"/><Relationship Id="rId24" Type="http://schemas.openxmlformats.org/officeDocument/2006/relationships/image" Target="../media/image155.png"/><Relationship Id="rId25" Type="http://schemas.openxmlformats.org/officeDocument/2006/relationships/image" Target="../media/image156.png"/><Relationship Id="rId26" Type="http://schemas.openxmlformats.org/officeDocument/2006/relationships/image" Target="../media/image157.png"/><Relationship Id="rId27" Type="http://schemas.openxmlformats.org/officeDocument/2006/relationships/image" Target="../media/image158.png"/><Relationship Id="rId28" Type="http://schemas.openxmlformats.org/officeDocument/2006/relationships/image" Target="../media/image159.png"/><Relationship Id="rId29" Type="http://schemas.openxmlformats.org/officeDocument/2006/relationships/image" Target="../media/image160.png"/><Relationship Id="rId30" Type="http://schemas.openxmlformats.org/officeDocument/2006/relationships/image" Target="../media/image161.png"/><Relationship Id="rId31" Type="http://schemas.openxmlformats.org/officeDocument/2006/relationships/image" Target="../media/image162.png"/><Relationship Id="rId32" Type="http://schemas.openxmlformats.org/officeDocument/2006/relationships/image" Target="../media/image163.png"/><Relationship Id="rId33" Type="http://schemas.openxmlformats.org/officeDocument/2006/relationships/image" Target="../media/image164.png"/><Relationship Id="rId34" Type="http://schemas.openxmlformats.org/officeDocument/2006/relationships/image" Target="../media/image165.png"/><Relationship Id="rId35" Type="http://schemas.openxmlformats.org/officeDocument/2006/relationships/image" Target="../media/image166.png"/><Relationship Id="rId36" Type="http://schemas.openxmlformats.org/officeDocument/2006/relationships/image" Target="../media/image167.png"/><Relationship Id="rId37" Type="http://schemas.openxmlformats.org/officeDocument/2006/relationships/image" Target="../media/image168.png"/><Relationship Id="rId38" Type="http://schemas.openxmlformats.org/officeDocument/2006/relationships/image" Target="../media/image169.png"/><Relationship Id="rId39" Type="http://schemas.openxmlformats.org/officeDocument/2006/relationships/image" Target="../media/image170.png"/></Relationships>
</file>

<file path=ppt/charts/_rels/chart23.xml.rels><?xml version='1.0' encoding='UTF-8' standalone='yes'?>
<Relationships xmlns="http://schemas.openxmlformats.org/package/2006/relationships"><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image" Target="../media/image176.png"/><Relationship Id="rId8" Type="http://schemas.openxmlformats.org/officeDocument/2006/relationships/image" Target="../media/image177.png"/><Relationship Id="rId9" Type="http://schemas.openxmlformats.org/officeDocument/2006/relationships/image" Target="../media/image178.png"/><Relationship Id="rId10" Type="http://schemas.openxmlformats.org/officeDocument/2006/relationships/image" Target="../media/image179.png"/><Relationship Id="rId11" Type="http://schemas.openxmlformats.org/officeDocument/2006/relationships/image" Target="../media/image180.png"/><Relationship Id="rId12" Type="http://schemas.openxmlformats.org/officeDocument/2006/relationships/image" Target="../media/image181.png"/><Relationship Id="rId13" Type="http://schemas.openxmlformats.org/officeDocument/2006/relationships/image" Target="../media/image182.png"/><Relationship Id="rId14" Type="http://schemas.openxmlformats.org/officeDocument/2006/relationships/image" Target="../media/image183.png"/><Relationship Id="rId15" Type="http://schemas.openxmlformats.org/officeDocument/2006/relationships/image" Target="../media/image184.png"/><Relationship Id="rId16" Type="http://schemas.openxmlformats.org/officeDocument/2006/relationships/image" Target="../media/image185.png"/><Relationship Id="rId17" Type="http://schemas.openxmlformats.org/officeDocument/2006/relationships/image" Target="../media/image186.png"/><Relationship Id="rId18" Type="http://schemas.openxmlformats.org/officeDocument/2006/relationships/image" Target="../media/image187.png"/><Relationship Id="rId19" Type="http://schemas.openxmlformats.org/officeDocument/2006/relationships/image" Target="../media/image188.png"/></Relationships>
</file>

<file path=ppt/charts/_rels/chart24.xml.rels><?xml version='1.0' encoding='UTF-8' standalone='yes'?>
<Relationships xmlns="http://schemas.openxmlformats.org/package/2006/relationships"><Relationship Id="rId2" Type="http://schemas.openxmlformats.org/officeDocument/2006/relationships/image" Target="../media/image209.png"/><Relationship Id="rId3" Type="http://schemas.openxmlformats.org/officeDocument/2006/relationships/image" Target="../media/image210.png"/><Relationship Id="rId4" Type="http://schemas.openxmlformats.org/officeDocument/2006/relationships/image" Target="../media/image211.png"/><Relationship Id="rId5" Type="http://schemas.openxmlformats.org/officeDocument/2006/relationships/image" Target="../media/image212.png"/><Relationship Id="rId6" Type="http://schemas.openxmlformats.org/officeDocument/2006/relationships/image" Target="../media/image213.png"/><Relationship Id="rId7" Type="http://schemas.openxmlformats.org/officeDocument/2006/relationships/image" Target="../media/image214.png"/><Relationship Id="rId8" Type="http://schemas.openxmlformats.org/officeDocument/2006/relationships/image" Target="../media/image215.png"/><Relationship Id="rId9" Type="http://schemas.openxmlformats.org/officeDocument/2006/relationships/image" Target="../media/image216.png"/><Relationship Id="rId10" Type="http://schemas.openxmlformats.org/officeDocument/2006/relationships/image" Target="../media/image217.png"/><Relationship Id="rId11" Type="http://schemas.openxmlformats.org/officeDocument/2006/relationships/image" Target="../media/image218.png"/><Relationship Id="rId12" Type="http://schemas.openxmlformats.org/officeDocument/2006/relationships/image" Target="../media/image219.png"/><Relationship Id="rId13" Type="http://schemas.openxmlformats.org/officeDocument/2006/relationships/image" Target="../media/image220.png"/><Relationship Id="rId14" Type="http://schemas.openxmlformats.org/officeDocument/2006/relationships/image" Target="../media/image221.png"/><Relationship Id="rId15" Type="http://schemas.openxmlformats.org/officeDocument/2006/relationships/image" Target="../media/image222.png"/><Relationship Id="rId16" Type="http://schemas.openxmlformats.org/officeDocument/2006/relationships/image" Target="../media/image223.png"/><Relationship Id="rId17" Type="http://schemas.openxmlformats.org/officeDocument/2006/relationships/image" Target="../media/image224.png"/><Relationship Id="rId18" Type="http://schemas.openxmlformats.org/officeDocument/2006/relationships/image" Target="../media/image225.png"/><Relationship Id="rId19" Type="http://schemas.openxmlformats.org/officeDocument/2006/relationships/image" Target="../media/image226.png"/><Relationship Id="rId20" Type="http://schemas.openxmlformats.org/officeDocument/2006/relationships/image" Target="../media/image227.png"/><Relationship Id="rId21" Type="http://schemas.openxmlformats.org/officeDocument/2006/relationships/image" Target="../media/image228.png"/><Relationship Id="rId22" Type="http://schemas.openxmlformats.org/officeDocument/2006/relationships/image" Target="../media/image229.png"/><Relationship Id="rId23" Type="http://schemas.openxmlformats.org/officeDocument/2006/relationships/image" Target="../media/image230.png"/><Relationship Id="rId24" Type="http://schemas.openxmlformats.org/officeDocument/2006/relationships/image" Target="../media/image231.png"/><Relationship Id="rId25" Type="http://schemas.openxmlformats.org/officeDocument/2006/relationships/image" Target="../media/image232.png"/><Relationship Id="rId26" Type="http://schemas.openxmlformats.org/officeDocument/2006/relationships/image" Target="../media/image233.png"/><Relationship Id="rId27" Type="http://schemas.openxmlformats.org/officeDocument/2006/relationships/image" Target="../media/image234.png"/><Relationship Id="rId28" Type="http://schemas.openxmlformats.org/officeDocument/2006/relationships/image" Target="../media/image235.png"/><Relationship Id="rId29" Type="http://schemas.openxmlformats.org/officeDocument/2006/relationships/image" Target="../media/image236.png"/><Relationship Id="rId30" Type="http://schemas.openxmlformats.org/officeDocument/2006/relationships/image" Target="../media/image237.png"/><Relationship Id="rId31" Type="http://schemas.openxmlformats.org/officeDocument/2006/relationships/image" Target="../media/image238.png"/><Relationship Id="rId32" Type="http://schemas.openxmlformats.org/officeDocument/2006/relationships/image" Target="../media/image239.png"/><Relationship Id="rId33" Type="http://schemas.openxmlformats.org/officeDocument/2006/relationships/image" Target="../media/image240.png"/><Relationship Id="rId34" Type="http://schemas.openxmlformats.org/officeDocument/2006/relationships/image" Target="../media/image241.png"/></Relationships>
</file>

<file path=ppt/charts/_rels/chart32.xml.rels><?xml version='1.0' encoding='UTF-8' standalone='yes'?>
<Relationships xmlns="http://schemas.openxmlformats.org/package/2006/relationships"><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50.png"/><Relationship Id="rId11" Type="http://schemas.openxmlformats.org/officeDocument/2006/relationships/image" Target="../media/image251.png"/><Relationship Id="rId12" Type="http://schemas.openxmlformats.org/officeDocument/2006/relationships/image" Target="../media/image252.png"/><Relationship Id="rId13" Type="http://schemas.openxmlformats.org/officeDocument/2006/relationships/image" Target="../media/image253.png"/><Relationship Id="rId14" Type="http://schemas.openxmlformats.org/officeDocument/2006/relationships/image" Target="../media/image254.png"/><Relationship Id="rId15" Type="http://schemas.openxmlformats.org/officeDocument/2006/relationships/image" Target="../media/image255.png"/><Relationship Id="rId16" Type="http://schemas.openxmlformats.org/officeDocument/2006/relationships/image" Target="../media/image256.png"/><Relationship Id="rId17" Type="http://schemas.openxmlformats.org/officeDocument/2006/relationships/image" Target="../media/image257.png"/></Relationships>
</file>

<file path=ppt/charts/_rels/chart33.xml.rels><?xml version='1.0' encoding='UTF-8' standalone='yes'?>
<Relationships xmlns="http://schemas.openxmlformats.org/package/2006/relationships"><Relationship Id="rId2" Type="http://schemas.openxmlformats.org/officeDocument/2006/relationships/image" Target="../media/image266.png"/><Relationship Id="rId3" Type="http://schemas.openxmlformats.org/officeDocument/2006/relationships/image" Target="../media/image267.png"/><Relationship Id="rId4" Type="http://schemas.openxmlformats.org/officeDocument/2006/relationships/image" Target="../media/image268.png"/><Relationship Id="rId5" Type="http://schemas.openxmlformats.org/officeDocument/2006/relationships/image" Target="../media/image269.png"/><Relationship Id="rId6" Type="http://schemas.openxmlformats.org/officeDocument/2006/relationships/image" Target="../media/image270.png"/><Relationship Id="rId7" Type="http://schemas.openxmlformats.org/officeDocument/2006/relationships/image" Target="../media/image271.png"/><Relationship Id="rId8" Type="http://schemas.openxmlformats.org/officeDocument/2006/relationships/image" Target="../media/image272.png"/><Relationship Id="rId9" Type="http://schemas.openxmlformats.org/officeDocument/2006/relationships/image" Target="../media/image273.png"/><Relationship Id="rId10" Type="http://schemas.openxmlformats.org/officeDocument/2006/relationships/image" Target="../media/image274.png"/><Relationship Id="rId11" Type="http://schemas.openxmlformats.org/officeDocument/2006/relationships/image" Target="../media/image275.png"/><Relationship Id="rId12" Type="http://schemas.openxmlformats.org/officeDocument/2006/relationships/image" Target="../media/image276.png"/><Relationship Id="rId13" Type="http://schemas.openxmlformats.org/officeDocument/2006/relationships/image" Target="../media/image277.png"/><Relationship Id="rId14" Type="http://schemas.openxmlformats.org/officeDocument/2006/relationships/image" Target="../media/image278.png"/><Relationship Id="rId15" Type="http://schemas.openxmlformats.org/officeDocument/2006/relationships/image" Target="../media/image279.png"/><Relationship Id="rId16" Type="http://schemas.openxmlformats.org/officeDocument/2006/relationships/image" Target="../media/image280.png"/><Relationship Id="rId17" Type="http://schemas.openxmlformats.org/officeDocument/2006/relationships/image" Target="../media/image281.png"/><Relationship Id="rId18" Type="http://schemas.openxmlformats.org/officeDocument/2006/relationships/image" Target="../media/image282.png"/><Relationship Id="rId19" Type="http://schemas.openxmlformats.org/officeDocument/2006/relationships/image" Target="../media/image283.png"/><Relationship Id="rId20" Type="http://schemas.openxmlformats.org/officeDocument/2006/relationships/image" Target="../media/image284.png"/><Relationship Id="rId21" Type="http://schemas.openxmlformats.org/officeDocument/2006/relationships/image" Target="../media/image285.png"/></Relationships>
</file>

<file path=ppt/charts/_rels/chart38.xml.rels><?xml version='1.0' encoding='UTF-8' standalone='yes'?>
<Relationships xmlns="http://schemas.openxmlformats.org/package/2006/relationships"><Relationship Id="rId2" Type="http://schemas.openxmlformats.org/officeDocument/2006/relationships/image" Target="../media/image286.png"/><Relationship Id="rId3" Type="http://schemas.openxmlformats.org/officeDocument/2006/relationships/image" Target="../media/image287.png"/><Relationship Id="rId4" Type="http://schemas.openxmlformats.org/officeDocument/2006/relationships/image" Target="../media/image288.png"/><Relationship Id="rId5" Type="http://schemas.openxmlformats.org/officeDocument/2006/relationships/image" Target="../media/image289.png"/><Relationship Id="rId6" Type="http://schemas.openxmlformats.org/officeDocument/2006/relationships/image" Target="../media/image290.png"/><Relationship Id="rId7" Type="http://schemas.openxmlformats.org/officeDocument/2006/relationships/image" Target="../media/image291.png"/><Relationship Id="rId8" Type="http://schemas.openxmlformats.org/officeDocument/2006/relationships/image" Target="../media/image292.png"/><Relationship Id="rId9" Type="http://schemas.openxmlformats.org/officeDocument/2006/relationships/image" Target="../media/image293.png"/><Relationship Id="rId10" Type="http://schemas.openxmlformats.org/officeDocument/2006/relationships/image" Target="../media/image294.png"/></Relationships>
</file>

<file path=ppt/charts/_rels/chart39.xml.rels><?xml version='1.0' encoding='UTF-8' standalone='yes'?>
<Relationships xmlns="http://schemas.openxmlformats.org/package/2006/relationships"><Relationship Id="rId2" Type="http://schemas.openxmlformats.org/officeDocument/2006/relationships/image" Target="../media/image314.png"/><Relationship Id="rId3" Type="http://schemas.openxmlformats.org/officeDocument/2006/relationships/image" Target="../media/image315.png"/><Relationship Id="rId4" Type="http://schemas.openxmlformats.org/officeDocument/2006/relationships/image" Target="../media/image316.png"/><Relationship Id="rId5" Type="http://schemas.openxmlformats.org/officeDocument/2006/relationships/image" Target="../media/image317.png"/><Relationship Id="rId6" Type="http://schemas.openxmlformats.org/officeDocument/2006/relationships/image" Target="../media/image318.png"/><Relationship Id="rId7" Type="http://schemas.openxmlformats.org/officeDocument/2006/relationships/image" Target="../media/image319.png"/><Relationship Id="rId8" Type="http://schemas.openxmlformats.org/officeDocument/2006/relationships/image" Target="../media/image320.png"/><Relationship Id="rId9" Type="http://schemas.openxmlformats.org/officeDocument/2006/relationships/image" Target="../media/image321.png"/><Relationship Id="rId10" Type="http://schemas.openxmlformats.org/officeDocument/2006/relationships/image" Target="../media/image322.png"/><Relationship Id="rId11" Type="http://schemas.openxmlformats.org/officeDocument/2006/relationships/image" Target="../media/image323.png"/><Relationship Id="rId12" Type="http://schemas.openxmlformats.org/officeDocument/2006/relationships/image" Target="../media/image324.png"/><Relationship Id="rId13" Type="http://schemas.openxmlformats.org/officeDocument/2006/relationships/image" Target="../media/image325.png"/><Relationship Id="rId14" Type="http://schemas.openxmlformats.org/officeDocument/2006/relationships/image" Target="../media/image326.png"/><Relationship Id="rId15" Type="http://schemas.openxmlformats.org/officeDocument/2006/relationships/image" Target="../media/image327.png"/><Relationship Id="rId16" Type="http://schemas.openxmlformats.org/officeDocument/2006/relationships/image" Target="../media/image328.png"/><Relationship Id="rId17" Type="http://schemas.openxmlformats.org/officeDocument/2006/relationships/image" Target="../media/image329.png"/><Relationship Id="rId18" Type="http://schemas.openxmlformats.org/officeDocument/2006/relationships/image" Target="../media/image330.png"/><Relationship Id="rId19" Type="http://schemas.openxmlformats.org/officeDocument/2006/relationships/image" Target="../media/image331.png"/><Relationship Id="rId20" Type="http://schemas.openxmlformats.org/officeDocument/2006/relationships/image" Target="../media/image332.png"/><Relationship Id="rId21" Type="http://schemas.openxmlformats.org/officeDocument/2006/relationships/image" Target="../media/image333.png"/><Relationship Id="rId22" Type="http://schemas.openxmlformats.org/officeDocument/2006/relationships/image" Target="../media/image334.png"/><Relationship Id="rId23" Type="http://schemas.openxmlformats.org/officeDocument/2006/relationships/image" Target="../media/image335.png"/><Relationship Id="rId24" Type="http://schemas.openxmlformats.org/officeDocument/2006/relationships/image" Target="../media/image336.png"/><Relationship Id="rId25" Type="http://schemas.openxmlformats.org/officeDocument/2006/relationships/image" Target="../media/image337.png"/><Relationship Id="rId26" Type="http://schemas.openxmlformats.org/officeDocument/2006/relationships/image" Target="../media/image338.png"/><Relationship Id="rId27" Type="http://schemas.openxmlformats.org/officeDocument/2006/relationships/image" Target="../media/image339.png"/><Relationship Id="rId28" Type="http://schemas.openxmlformats.org/officeDocument/2006/relationships/image" Target="../media/image340.png"/><Relationship Id="rId29" Type="http://schemas.openxmlformats.org/officeDocument/2006/relationships/image" Target="../media/image341.png"/><Relationship Id="rId30" Type="http://schemas.openxmlformats.org/officeDocument/2006/relationships/image" Target="../media/image342.png"/><Relationship Id="rId31" Type="http://schemas.openxmlformats.org/officeDocument/2006/relationships/image" Target="../media/image343.png"/><Relationship Id="rId32" Type="http://schemas.openxmlformats.org/officeDocument/2006/relationships/image" Target="../media/image344.png"/><Relationship Id="rId33" Type="http://schemas.openxmlformats.org/officeDocument/2006/relationships/image" Target="../media/image345.png"/><Relationship Id="rId34" Type="http://schemas.openxmlformats.org/officeDocument/2006/relationships/image" Target="../media/image346.png"/><Relationship Id="rId35" Type="http://schemas.openxmlformats.org/officeDocument/2006/relationships/image" Target="../media/image347.png"/><Relationship Id="rId36" Type="http://schemas.openxmlformats.org/officeDocument/2006/relationships/image" Target="../media/image348.png"/><Relationship Id="rId37" Type="http://schemas.openxmlformats.org/officeDocument/2006/relationships/image" Target="../media/image349.png"/><Relationship Id="rId38" Type="http://schemas.openxmlformats.org/officeDocument/2006/relationships/image" Target="../media/image350.png"/><Relationship Id="rId39" Type="http://schemas.openxmlformats.org/officeDocument/2006/relationships/image" Target="../media/image351.png"/><Relationship Id="rId40" Type="http://schemas.openxmlformats.org/officeDocument/2006/relationships/image" Target="../media/image352.png"/><Relationship Id="rId41" Type="http://schemas.openxmlformats.org/officeDocument/2006/relationships/image" Target="../media/image353.png"/><Relationship Id="rId42" Type="http://schemas.openxmlformats.org/officeDocument/2006/relationships/image" Target="../media/image354.png"/><Relationship Id="rId43" Type="http://schemas.openxmlformats.org/officeDocument/2006/relationships/image" Target="../media/image355.png"/><Relationship Id="rId44" Type="http://schemas.openxmlformats.org/officeDocument/2006/relationships/image" Target="../media/image356.png"/><Relationship Id="rId45" Type="http://schemas.openxmlformats.org/officeDocument/2006/relationships/image" Target="../media/image357.png"/><Relationship Id="rId46" Type="http://schemas.openxmlformats.org/officeDocument/2006/relationships/image" Target="../media/image358.png"/><Relationship Id="rId47" Type="http://schemas.openxmlformats.org/officeDocument/2006/relationships/image" Target="../media/image359.png"/></Relationships>
</file>

<file path=ppt/charts/_rels/chart48.xml.rels><?xml version='1.0' encoding='UTF-8' standalone='yes'?>
<Relationships xmlns="http://schemas.openxmlformats.org/package/2006/relationships"><Relationship Id="rId2" Type="http://schemas.openxmlformats.org/officeDocument/2006/relationships/image" Target="../media/image360.png"/><Relationship Id="rId3" Type="http://schemas.openxmlformats.org/officeDocument/2006/relationships/image" Target="../media/image361.png"/><Relationship Id="rId4" Type="http://schemas.openxmlformats.org/officeDocument/2006/relationships/image" Target="../media/image362.png"/><Relationship Id="rId5" Type="http://schemas.openxmlformats.org/officeDocument/2006/relationships/image" Target="../media/image363.png"/><Relationship Id="rId6" Type="http://schemas.openxmlformats.org/officeDocument/2006/relationships/image" Target="../media/image364.png"/><Relationship Id="rId7" Type="http://schemas.openxmlformats.org/officeDocument/2006/relationships/image" Target="../media/image365.png"/><Relationship Id="rId8" Type="http://schemas.openxmlformats.org/officeDocument/2006/relationships/image" Target="../media/image366.png"/><Relationship Id="rId9" Type="http://schemas.openxmlformats.org/officeDocument/2006/relationships/image" Target="../media/image367.png"/><Relationship Id="rId10" Type="http://schemas.openxmlformats.org/officeDocument/2006/relationships/image" Target="../media/image368.png"/><Relationship Id="rId11" Type="http://schemas.openxmlformats.org/officeDocument/2006/relationships/image" Target="../media/image369.png"/><Relationship Id="rId12" Type="http://schemas.openxmlformats.org/officeDocument/2006/relationships/image" Target="../media/image370.png"/><Relationship Id="rId13" Type="http://schemas.openxmlformats.org/officeDocument/2006/relationships/image" Target="../media/image371.png"/><Relationship Id="rId14" Type="http://schemas.openxmlformats.org/officeDocument/2006/relationships/image" Target="../media/image372.png"/><Relationship Id="rId15" Type="http://schemas.openxmlformats.org/officeDocument/2006/relationships/image" Target="../media/image373.png"/><Relationship Id="rId16" Type="http://schemas.openxmlformats.org/officeDocument/2006/relationships/image" Target="../media/image374.png"/><Relationship Id="rId17" Type="http://schemas.openxmlformats.org/officeDocument/2006/relationships/image" Target="../media/image375.png"/><Relationship Id="rId18" Type="http://schemas.openxmlformats.org/officeDocument/2006/relationships/image" Target="../media/image376.png"/><Relationship Id="rId19" Type="http://schemas.openxmlformats.org/officeDocument/2006/relationships/image" Target="../media/image377.png"/><Relationship Id="rId20" Type="http://schemas.openxmlformats.org/officeDocument/2006/relationships/image" Target="../media/image378.png"/><Relationship Id="rId21" Type="http://schemas.openxmlformats.org/officeDocument/2006/relationships/image" Target="../media/image379.png"/></Relationships>
</file>

<file path=ppt/charts/_rels/chart49.xml.rels><?xml version='1.0' encoding='UTF-8' standalone='yes'?>
<Relationships xmlns="http://schemas.openxmlformats.org/package/2006/relationships"><Relationship Id="rId2" Type="http://schemas.openxmlformats.org/officeDocument/2006/relationships/image" Target="../media/image395.png"/><Relationship Id="rId3" Type="http://schemas.openxmlformats.org/officeDocument/2006/relationships/image" Target="../media/image396.png"/><Relationship Id="rId4" Type="http://schemas.openxmlformats.org/officeDocument/2006/relationships/image" Target="../media/image397.png"/><Relationship Id="rId5" Type="http://schemas.openxmlformats.org/officeDocument/2006/relationships/image" Target="../media/image398.png"/><Relationship Id="rId6" Type="http://schemas.openxmlformats.org/officeDocument/2006/relationships/image" Target="../media/image399.png"/><Relationship Id="rId7" Type="http://schemas.openxmlformats.org/officeDocument/2006/relationships/image" Target="../media/image400.png"/><Relationship Id="rId8" Type="http://schemas.openxmlformats.org/officeDocument/2006/relationships/image" Target="../media/image401.png"/><Relationship Id="rId9" Type="http://schemas.openxmlformats.org/officeDocument/2006/relationships/image" Target="../media/image402.png"/><Relationship Id="rId10" Type="http://schemas.openxmlformats.org/officeDocument/2006/relationships/image" Target="../media/image403.png"/><Relationship Id="rId11" Type="http://schemas.openxmlformats.org/officeDocument/2006/relationships/image" Target="../media/image404.png"/><Relationship Id="rId12" Type="http://schemas.openxmlformats.org/officeDocument/2006/relationships/image" Target="../media/image405.png"/><Relationship Id="rId13" Type="http://schemas.openxmlformats.org/officeDocument/2006/relationships/image" Target="../media/image406.png"/><Relationship Id="rId14" Type="http://schemas.openxmlformats.org/officeDocument/2006/relationships/image" Target="../media/image407.png"/><Relationship Id="rId15" Type="http://schemas.openxmlformats.org/officeDocument/2006/relationships/image" Target="../media/image408.png"/><Relationship Id="rId16" Type="http://schemas.openxmlformats.org/officeDocument/2006/relationships/image" Target="../media/image409.png"/><Relationship Id="rId17" Type="http://schemas.openxmlformats.org/officeDocument/2006/relationships/image" Target="../media/image410.png"/><Relationship Id="rId18" Type="http://schemas.openxmlformats.org/officeDocument/2006/relationships/image" Target="../media/image411.png"/><Relationship Id="rId19" Type="http://schemas.openxmlformats.org/officeDocument/2006/relationships/image" Target="../media/image412.png"/><Relationship Id="rId20" Type="http://schemas.openxmlformats.org/officeDocument/2006/relationships/image" Target="../media/image413.png"/><Relationship Id="rId21" Type="http://schemas.openxmlformats.org/officeDocument/2006/relationships/image" Target="../media/image414.png"/><Relationship Id="rId22" Type="http://schemas.openxmlformats.org/officeDocument/2006/relationships/image" Target="../media/image415.png"/><Relationship Id="rId23" Type="http://schemas.openxmlformats.org/officeDocument/2006/relationships/image" Target="../media/image416.png"/><Relationship Id="rId24" Type="http://schemas.openxmlformats.org/officeDocument/2006/relationships/image" Target="../media/image417.png"/><Relationship Id="rId25" Type="http://schemas.openxmlformats.org/officeDocument/2006/relationships/image" Target="../media/image418.png"/><Relationship Id="rId26" Type="http://schemas.openxmlformats.org/officeDocument/2006/relationships/image" Target="../media/image419.png"/><Relationship Id="rId27" Type="http://schemas.openxmlformats.org/officeDocument/2006/relationships/image" Target="../media/image420.png"/><Relationship Id="rId28" Type="http://schemas.openxmlformats.org/officeDocument/2006/relationships/image" Target="../media/image421.png"/><Relationship Id="rId29" Type="http://schemas.openxmlformats.org/officeDocument/2006/relationships/image" Target="../media/image422.png"/><Relationship Id="rId30" Type="http://schemas.openxmlformats.org/officeDocument/2006/relationships/image" Target="../media/image423.png"/><Relationship Id="rId31" Type="http://schemas.openxmlformats.org/officeDocument/2006/relationships/image" Target="../media/image424.png"/><Relationship Id="rId32" Type="http://schemas.openxmlformats.org/officeDocument/2006/relationships/image" Target="../media/image425.png"/><Relationship Id="rId33" Type="http://schemas.openxmlformats.org/officeDocument/2006/relationships/image" Target="../media/image426.png"/><Relationship Id="rId34" Type="http://schemas.openxmlformats.org/officeDocument/2006/relationships/image" Target="../media/image427.png"/><Relationship Id="rId35" Type="http://schemas.openxmlformats.org/officeDocument/2006/relationships/image" Target="../media/image428.png"/><Relationship Id="rId36" Type="http://schemas.openxmlformats.org/officeDocument/2006/relationships/image" Target="../media/image429.png"/><Relationship Id="rId37" Type="http://schemas.openxmlformats.org/officeDocument/2006/relationships/image" Target="../media/image430.png"/></Relationships>
</file>

<file path=ppt/charts/_rels/chart57.xml.rels><?xml version='1.0' encoding='UTF-8' standalone='yes'?>
<Relationships xmlns="http://schemas.openxmlformats.org/package/2006/relationships"><Relationship Id="rId2" Type="http://schemas.openxmlformats.org/officeDocument/2006/relationships/image" Target="../media/image431.png"/><Relationship Id="rId3" Type="http://schemas.openxmlformats.org/officeDocument/2006/relationships/image" Target="../media/image432.png"/><Relationship Id="rId4" Type="http://schemas.openxmlformats.org/officeDocument/2006/relationships/image" Target="../media/image433.png"/><Relationship Id="rId5" Type="http://schemas.openxmlformats.org/officeDocument/2006/relationships/image" Target="../media/image434.png"/><Relationship Id="rId6" Type="http://schemas.openxmlformats.org/officeDocument/2006/relationships/image" Target="../media/image435.png"/><Relationship Id="rId7" Type="http://schemas.openxmlformats.org/officeDocument/2006/relationships/image" Target="../media/image436.png"/><Relationship Id="rId8" Type="http://schemas.openxmlformats.org/officeDocument/2006/relationships/image" Target="../media/image437.png"/><Relationship Id="rId9" Type="http://schemas.openxmlformats.org/officeDocument/2006/relationships/image" Target="../media/image438.png"/><Relationship Id="rId10" Type="http://schemas.openxmlformats.org/officeDocument/2006/relationships/image" Target="../media/image439.png"/><Relationship Id="rId11" Type="http://schemas.openxmlformats.org/officeDocument/2006/relationships/image" Target="../media/image440.png"/><Relationship Id="rId12" Type="http://schemas.openxmlformats.org/officeDocument/2006/relationships/image" Target="../media/image441.png"/><Relationship Id="rId13" Type="http://schemas.openxmlformats.org/officeDocument/2006/relationships/image" Target="../media/image442.png"/><Relationship Id="rId14" Type="http://schemas.openxmlformats.org/officeDocument/2006/relationships/image" Target="../media/image443.png"/><Relationship Id="rId15" Type="http://schemas.openxmlformats.org/officeDocument/2006/relationships/image" Target="../media/image444.png"/><Relationship Id="rId16" Type="http://schemas.openxmlformats.org/officeDocument/2006/relationships/image" Target="../media/image445.png"/><Relationship Id="rId17" Type="http://schemas.openxmlformats.org/officeDocument/2006/relationships/image" Target="../media/image446.png"/><Relationship Id="rId18" Type="http://schemas.openxmlformats.org/officeDocument/2006/relationships/image" Target="../media/image447.png"/></Relationships>
</file>

<file path=ppt/charts/_rels/chart58.xml.rels><?xml version='1.0' encoding='UTF-8' standalone='yes'?>
<Relationships xmlns="http://schemas.openxmlformats.org/package/2006/relationships"><Relationship Id="rId2" Type="http://schemas.openxmlformats.org/officeDocument/2006/relationships/image" Target="../media/image448.png"/></Relationships>
</file>

<file path=ppt/charts/_rels/chart60.xml.rels><?xml version='1.0' encoding='UTF-8' standalone='yes'?>
<Relationships xmlns="http://schemas.openxmlformats.org/package/2006/relationships"><Relationship Id="rId2" Type="http://schemas.openxmlformats.org/officeDocument/2006/relationships/image" Target="../media/image449.png"/></Relationships>
</file>

<file path=ppt/charts/_rels/chart62.xml.rels><?xml version='1.0' encoding='UTF-8' standalone='yes'?>
<Relationships xmlns="http://schemas.openxmlformats.org/package/2006/relationships"><Relationship Id="rId2" Type="http://schemas.openxmlformats.org/officeDocument/2006/relationships/image" Target="../media/image450.png"/><Relationship Id="rId3" Type="http://schemas.openxmlformats.org/officeDocument/2006/relationships/image" Target="../media/image451.png"/><Relationship Id="rId4" Type="http://schemas.openxmlformats.org/officeDocument/2006/relationships/image" Target="../media/image452.png"/><Relationship Id="rId5" Type="http://schemas.openxmlformats.org/officeDocument/2006/relationships/image" Target="../media/image453.png"/><Relationship Id="rId6" Type="http://schemas.openxmlformats.org/officeDocument/2006/relationships/image" Target="../media/image454.png"/><Relationship Id="rId7" Type="http://schemas.openxmlformats.org/officeDocument/2006/relationships/image" Target="../media/image455.png"/><Relationship Id="rId8" Type="http://schemas.openxmlformats.org/officeDocument/2006/relationships/image" Target="../media/image456.png"/><Relationship Id="rId9" Type="http://schemas.openxmlformats.org/officeDocument/2006/relationships/image" Target="../media/image457.png"/><Relationship Id="rId10" Type="http://schemas.openxmlformats.org/officeDocument/2006/relationships/image" Target="../media/image458.png"/><Relationship Id="rId11" Type="http://schemas.openxmlformats.org/officeDocument/2006/relationships/image" Target="../media/image459.png"/></Relationships>
</file>

<file path=ppt/charts/_rels/chart63.xml.rels><?xml version='1.0' encoding='UTF-8' standalone='yes'?>
<Relationships xmlns="http://schemas.openxmlformats.org/package/2006/relationships"><Relationship Id="rId2" Type="http://schemas.openxmlformats.org/officeDocument/2006/relationships/image" Target="../media/image460.png"/><Relationship Id="rId3" Type="http://schemas.openxmlformats.org/officeDocument/2006/relationships/image" Target="../media/image461.png"/><Relationship Id="rId4" Type="http://schemas.openxmlformats.org/officeDocument/2006/relationships/image" Target="../media/image462.png"/><Relationship Id="rId5" Type="http://schemas.openxmlformats.org/officeDocument/2006/relationships/image" Target="../media/image463.png"/><Relationship Id="rId6" Type="http://schemas.openxmlformats.org/officeDocument/2006/relationships/image" Target="../media/image464.png"/><Relationship Id="rId7" Type="http://schemas.openxmlformats.org/officeDocument/2006/relationships/image" Target="../media/image465.png"/><Relationship Id="rId8" Type="http://schemas.openxmlformats.org/officeDocument/2006/relationships/image" Target="../media/image466.png"/><Relationship Id="rId9" Type="http://schemas.openxmlformats.org/officeDocument/2006/relationships/image" Target="../media/image467.png"/><Relationship Id="rId10" Type="http://schemas.openxmlformats.org/officeDocument/2006/relationships/image" Target="../media/image468.png"/><Relationship Id="rId11" Type="http://schemas.openxmlformats.org/officeDocument/2006/relationships/image" Target="../media/image469.png"/><Relationship Id="rId12" Type="http://schemas.openxmlformats.org/officeDocument/2006/relationships/image" Target="../media/image470.png"/><Relationship Id="rId13" Type="http://schemas.openxmlformats.org/officeDocument/2006/relationships/image" Target="../media/image471.png"/><Relationship Id="rId14" Type="http://schemas.openxmlformats.org/officeDocument/2006/relationships/image" Target="../media/image472.png"/><Relationship Id="rId15" Type="http://schemas.openxmlformats.org/officeDocument/2006/relationships/image" Target="../media/image473.png"/><Relationship Id="rId16" Type="http://schemas.openxmlformats.org/officeDocument/2006/relationships/image" Target="../media/image474.png"/><Relationship Id="rId17" Type="http://schemas.openxmlformats.org/officeDocument/2006/relationships/image" Target="../media/image475.png"/><Relationship Id="rId18" Type="http://schemas.openxmlformats.org/officeDocument/2006/relationships/image" Target="../media/image476.png"/><Relationship Id="rId19" Type="http://schemas.openxmlformats.org/officeDocument/2006/relationships/image" Target="../media/image477.png"/><Relationship Id="rId20" Type="http://schemas.openxmlformats.org/officeDocument/2006/relationships/image" Target="../media/image478.png"/><Relationship Id="rId21" Type="http://schemas.openxmlformats.org/officeDocument/2006/relationships/image" Target="../media/image479.png"/><Relationship Id="rId22" Type="http://schemas.openxmlformats.org/officeDocument/2006/relationships/image" Target="../media/image480.png"/><Relationship Id="rId23" Type="http://schemas.openxmlformats.org/officeDocument/2006/relationships/image" Target="../media/image481.png"/></Relationships>
</file>

<file path=ppt/charts/_rels/chart64.xml.rels><?xml version='1.0' encoding='UTF-8' standalone='yes'?>
<Relationships xmlns="http://schemas.openxmlformats.org/package/2006/relationships"><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s>
</file>

<file path=ppt/charts/_rels/chart65.xml.rels><?xml version='1.0' encoding='UTF-8' standalone='yes'?>
<Relationships xmlns="http://schemas.openxmlformats.org/package/2006/relationships"><Relationship Id="rId2" Type="http://schemas.openxmlformats.org/officeDocument/2006/relationships/image" Target="../media/image485.png"/><Relationship Id="rId3" Type="http://schemas.openxmlformats.org/officeDocument/2006/relationships/image" Target="../media/image486.png"/><Relationship Id="rId4" Type="http://schemas.openxmlformats.org/officeDocument/2006/relationships/image" Target="../media/image487.png"/></Relationships>
</file>

<file path=ppt/charts/_rels/chart66.xml.rels><?xml version='1.0' encoding='UTF-8' standalone='yes'?>
<Relationships xmlns="http://schemas.openxmlformats.org/package/2006/relationships"><Relationship Id="rId2" Type="http://schemas.openxmlformats.org/officeDocument/2006/relationships/image" Target="../media/image488.png"/><Relationship Id="rId3" Type="http://schemas.openxmlformats.org/officeDocument/2006/relationships/image" Target="../media/image489.png"/><Relationship Id="rId4" Type="http://schemas.openxmlformats.org/officeDocument/2006/relationships/image" Target="../media/image490.png"/><Relationship Id="rId5" Type="http://schemas.openxmlformats.org/officeDocument/2006/relationships/image" Target="../media/image491.png"/><Relationship Id="rId6" Type="http://schemas.openxmlformats.org/officeDocument/2006/relationships/image" Target="../media/image492.png"/><Relationship Id="rId7" Type="http://schemas.openxmlformats.org/officeDocument/2006/relationships/image" Target="../media/image493.png"/></Relationships>
</file>

<file path=ppt/charts/_rels/chart68.xml.rels><?xml version='1.0' encoding='UTF-8' standalone='yes'?>
<Relationships xmlns="http://schemas.openxmlformats.org/package/2006/relationships"><Relationship Id="rId2" Type="http://schemas.openxmlformats.org/officeDocument/2006/relationships/image" Target="../media/image494.png"/><Relationship Id="rId3" Type="http://schemas.openxmlformats.org/officeDocument/2006/relationships/image" Target="../media/image495.png"/><Relationship Id="rId4" Type="http://schemas.openxmlformats.org/officeDocument/2006/relationships/image" Target="../media/image496.png"/><Relationship Id="rId5" Type="http://schemas.openxmlformats.org/officeDocument/2006/relationships/image" Target="../media/image497.png"/><Relationship Id="rId6" Type="http://schemas.openxmlformats.org/officeDocument/2006/relationships/image" Target="../media/image498.png"/><Relationship Id="rId7" Type="http://schemas.openxmlformats.org/officeDocument/2006/relationships/image" Target="../media/image499.png"/></Relationships>
</file>

<file path=ppt/charts/_rels/chart69.xml.rels><?xml version='1.0' encoding='UTF-8' standalone='yes'?>
<Relationships xmlns="http://schemas.openxmlformats.org/package/2006/relationships"><Relationship Id="rId2" Type="http://schemas.openxmlformats.org/officeDocument/2006/relationships/image" Target="../media/image500.png"/><Relationship Id="rId3" Type="http://schemas.openxmlformats.org/officeDocument/2006/relationships/image" Target="../media/image501.png"/><Relationship Id="rId4" Type="http://schemas.openxmlformats.org/officeDocument/2006/relationships/image" Target="../media/image502.png"/><Relationship Id="rId5" Type="http://schemas.openxmlformats.org/officeDocument/2006/relationships/image" Target="../media/image503.png"/><Relationship Id="rId6" Type="http://schemas.openxmlformats.org/officeDocument/2006/relationships/image" Target="../media/image504.png"/><Relationship Id="rId7" Type="http://schemas.openxmlformats.org/officeDocument/2006/relationships/image" Target="../media/image505.png"/></Relationships>
</file>

<file path=ppt/charts/_rels/chart70.xml.rels><?xml version='1.0' encoding='UTF-8' standalone='yes'?>
<Relationships xmlns="http://schemas.openxmlformats.org/package/2006/relationships"><Relationship Id="rId2" Type="http://schemas.openxmlformats.org/officeDocument/2006/relationships/image" Target="../media/image506.png"/><Relationship Id="rId3" Type="http://schemas.openxmlformats.org/officeDocument/2006/relationships/image" Target="../media/image507.png"/><Relationship Id="rId4" Type="http://schemas.openxmlformats.org/officeDocument/2006/relationships/image" Target="../media/image508.png"/><Relationship Id="rId5" Type="http://schemas.openxmlformats.org/officeDocument/2006/relationships/image" Target="../media/image509.png"/><Relationship Id="rId6" Type="http://schemas.openxmlformats.org/officeDocument/2006/relationships/image" Target="../media/image510.png"/><Relationship Id="rId7" Type="http://schemas.openxmlformats.org/officeDocument/2006/relationships/image" Target="../media/image511.png"/><Relationship Id="rId8" Type="http://schemas.openxmlformats.org/officeDocument/2006/relationships/image" Target="../media/image512.png"/><Relationship Id="rId9" Type="http://schemas.openxmlformats.org/officeDocument/2006/relationships/image" Target="../media/image513.png"/><Relationship Id="rId10" Type="http://schemas.openxmlformats.org/officeDocument/2006/relationships/image" Target="../media/image514.png"/><Relationship Id="rId11" Type="http://schemas.openxmlformats.org/officeDocument/2006/relationships/image" Target="../media/image515.png"/><Relationship Id="rId12" Type="http://schemas.openxmlformats.org/officeDocument/2006/relationships/image" Target="../media/image516.png"/><Relationship Id="rId13" Type="http://schemas.openxmlformats.org/officeDocument/2006/relationships/image" Target="../media/image517.png"/><Relationship Id="rId14" Type="http://schemas.openxmlformats.org/officeDocument/2006/relationships/image" Target="../media/image518.png"/><Relationship Id="rId15" Type="http://schemas.openxmlformats.org/officeDocument/2006/relationships/image" Target="../media/image519.png"/><Relationship Id="rId16" Type="http://schemas.openxmlformats.org/officeDocument/2006/relationships/image" Target="../media/image520.png"/><Relationship Id="rId17" Type="http://schemas.openxmlformats.org/officeDocument/2006/relationships/image" Target="../media/image521.png"/><Relationship Id="rId18" Type="http://schemas.openxmlformats.org/officeDocument/2006/relationships/image" Target="../media/image522.png"/><Relationship Id="rId19" Type="http://schemas.openxmlformats.org/officeDocument/2006/relationships/image" Target="../media/image523.png"/><Relationship Id="rId20" Type="http://schemas.openxmlformats.org/officeDocument/2006/relationships/image" Target="../media/image524.png"/><Relationship Id="rId21" Type="http://schemas.openxmlformats.org/officeDocument/2006/relationships/image" Target="../media/image525.png"/><Relationship Id="rId22" Type="http://schemas.openxmlformats.org/officeDocument/2006/relationships/image" Target="../media/image526.png"/><Relationship Id="rId23" Type="http://schemas.openxmlformats.org/officeDocument/2006/relationships/image" Target="../media/image527.png"/><Relationship Id="rId24" Type="http://schemas.openxmlformats.org/officeDocument/2006/relationships/image" Target="../media/image528.png"/><Relationship Id="rId25" Type="http://schemas.openxmlformats.org/officeDocument/2006/relationships/image" Target="../media/image529.png"/><Relationship Id="rId26" Type="http://schemas.openxmlformats.org/officeDocument/2006/relationships/image" Target="../media/image530.png"/><Relationship Id="rId27" Type="http://schemas.openxmlformats.org/officeDocument/2006/relationships/image" Target="../media/image531.png"/><Relationship Id="rId28" Type="http://schemas.openxmlformats.org/officeDocument/2006/relationships/image" Target="../media/image532.png"/><Relationship Id="rId29" Type="http://schemas.openxmlformats.org/officeDocument/2006/relationships/image" Target="../media/image533.png"/><Relationship Id="rId30" Type="http://schemas.openxmlformats.org/officeDocument/2006/relationships/image" Target="../media/image534.png"/><Relationship Id="rId31" Type="http://schemas.openxmlformats.org/officeDocument/2006/relationships/image" Target="../media/image535.png"/><Relationship Id="rId32" Type="http://schemas.openxmlformats.org/officeDocument/2006/relationships/image" Target="../media/image536.png"/><Relationship Id="rId33" Type="http://schemas.openxmlformats.org/officeDocument/2006/relationships/image" Target="../media/image537.png"/><Relationship Id="rId34" Type="http://schemas.openxmlformats.org/officeDocument/2006/relationships/image" Target="../media/image538.png"/><Relationship Id="rId35" Type="http://schemas.openxmlformats.org/officeDocument/2006/relationships/image" Target="../media/image539.png"/><Relationship Id="rId36" Type="http://schemas.openxmlformats.org/officeDocument/2006/relationships/image" Target="../media/image540.png"/><Relationship Id="rId37" Type="http://schemas.openxmlformats.org/officeDocument/2006/relationships/image" Target="../media/image541.png"/><Relationship Id="rId38" Type="http://schemas.openxmlformats.org/officeDocument/2006/relationships/image" Target="../media/image542.png"/><Relationship Id="rId39" Type="http://schemas.openxmlformats.org/officeDocument/2006/relationships/image" Target="../media/image543.png"/><Relationship Id="rId40" Type="http://schemas.openxmlformats.org/officeDocument/2006/relationships/image" Target="../media/image544.png"/><Relationship Id="rId41" Type="http://schemas.openxmlformats.org/officeDocument/2006/relationships/image" Target="../media/image545.png"/><Relationship Id="rId42" Type="http://schemas.openxmlformats.org/officeDocument/2006/relationships/image" Target="../media/image546.png"/><Relationship Id="rId43" Type="http://schemas.openxmlformats.org/officeDocument/2006/relationships/image" Target="../media/image547.png"/><Relationship Id="rId44" Type="http://schemas.openxmlformats.org/officeDocument/2006/relationships/image" Target="../media/image548.png"/><Relationship Id="rId45" Type="http://schemas.openxmlformats.org/officeDocument/2006/relationships/image" Target="../media/image549.png"/><Relationship Id="rId46" Type="http://schemas.openxmlformats.org/officeDocument/2006/relationships/image" Target="../media/image550.png"/><Relationship Id="rId47" Type="http://schemas.openxmlformats.org/officeDocument/2006/relationships/image" Target="../media/image551.png"/><Relationship Id="rId48" Type="http://schemas.openxmlformats.org/officeDocument/2006/relationships/image" Target="../media/image552.png"/><Relationship Id="rId49" Type="http://schemas.openxmlformats.org/officeDocument/2006/relationships/image" Target="../media/image553.png"/></Relationships>
</file>

<file path=ppt/charts/_rels/chart71.xml.rels><?xml version='1.0' encoding='UTF-8' standalone='yes'?>
<Relationships xmlns="http://schemas.openxmlformats.org/package/2006/relationships"><Relationship Id="rId2" Type="http://schemas.openxmlformats.org/officeDocument/2006/relationships/image" Target="../media/image554.png"/><Relationship Id="rId3" Type="http://schemas.openxmlformats.org/officeDocument/2006/relationships/image" Target="../media/image555.png"/><Relationship Id="rId4" Type="http://schemas.openxmlformats.org/officeDocument/2006/relationships/image" Target="../media/image556.png"/><Relationship Id="rId5" Type="http://schemas.openxmlformats.org/officeDocument/2006/relationships/image" Target="../media/image557.png"/><Relationship Id="rId6" Type="http://schemas.openxmlformats.org/officeDocument/2006/relationships/image" Target="../media/image558.png"/><Relationship Id="rId7" Type="http://schemas.openxmlformats.org/officeDocument/2006/relationships/image" Target="../media/image559.png"/><Relationship Id="rId8" Type="http://schemas.openxmlformats.org/officeDocument/2006/relationships/image" Target="../media/image560.png"/><Relationship Id="rId9" Type="http://schemas.openxmlformats.org/officeDocument/2006/relationships/image" Target="../media/image561.png"/><Relationship Id="rId10" Type="http://schemas.openxmlformats.org/officeDocument/2006/relationships/image" Target="../media/image562.png"/><Relationship Id="rId11" Type="http://schemas.openxmlformats.org/officeDocument/2006/relationships/image" Target="../media/image563.png"/><Relationship Id="rId12" Type="http://schemas.openxmlformats.org/officeDocument/2006/relationships/image" Target="../media/image564.png"/><Relationship Id="rId13" Type="http://schemas.openxmlformats.org/officeDocument/2006/relationships/image" Target="../media/image565.png"/><Relationship Id="rId14" Type="http://schemas.openxmlformats.org/officeDocument/2006/relationships/image" Target="../media/image566.png"/><Relationship Id="rId15" Type="http://schemas.openxmlformats.org/officeDocument/2006/relationships/image" Target="../media/image567.png"/><Relationship Id="rId16" Type="http://schemas.openxmlformats.org/officeDocument/2006/relationships/image" Target="../media/image568.png"/><Relationship Id="rId17" Type="http://schemas.openxmlformats.org/officeDocument/2006/relationships/image" Target="../media/image569.png"/><Relationship Id="rId18" Type="http://schemas.openxmlformats.org/officeDocument/2006/relationships/image" Target="../media/image570.png"/><Relationship Id="rId19" Type="http://schemas.openxmlformats.org/officeDocument/2006/relationships/image" Target="../media/image571.png"/><Relationship Id="rId20" Type="http://schemas.openxmlformats.org/officeDocument/2006/relationships/image" Target="../media/image572.png"/><Relationship Id="rId21" Type="http://schemas.openxmlformats.org/officeDocument/2006/relationships/image" Target="../media/image573.png"/><Relationship Id="rId22" Type="http://schemas.openxmlformats.org/officeDocument/2006/relationships/image" Target="../media/image574.png"/><Relationship Id="rId23" Type="http://schemas.openxmlformats.org/officeDocument/2006/relationships/image" Target="../media/image575.png"/><Relationship Id="rId24" Type="http://schemas.openxmlformats.org/officeDocument/2006/relationships/image" Target="../media/image576.png"/><Relationship Id="rId25" Type="http://schemas.openxmlformats.org/officeDocument/2006/relationships/image" Target="../media/image577.png"/><Relationship Id="rId26" Type="http://schemas.openxmlformats.org/officeDocument/2006/relationships/image" Target="../media/image578.png"/><Relationship Id="rId27" Type="http://schemas.openxmlformats.org/officeDocument/2006/relationships/image" Target="../media/image579.png"/><Relationship Id="rId28" Type="http://schemas.openxmlformats.org/officeDocument/2006/relationships/image" Target="../media/image580.png"/><Relationship Id="rId29" Type="http://schemas.openxmlformats.org/officeDocument/2006/relationships/image" Target="../media/image581.png"/><Relationship Id="rId30" Type="http://schemas.openxmlformats.org/officeDocument/2006/relationships/image" Target="../media/image582.png"/><Relationship Id="rId31" Type="http://schemas.openxmlformats.org/officeDocument/2006/relationships/image" Target="../media/image583.png"/><Relationship Id="rId32" Type="http://schemas.openxmlformats.org/officeDocument/2006/relationships/image" Target="../media/image584.png"/><Relationship Id="rId33" Type="http://schemas.openxmlformats.org/officeDocument/2006/relationships/image" Target="../media/image585.png"/><Relationship Id="rId34" Type="http://schemas.openxmlformats.org/officeDocument/2006/relationships/image" Target="../media/image586.png"/><Relationship Id="rId35" Type="http://schemas.openxmlformats.org/officeDocument/2006/relationships/image" Target="../media/image587.png"/><Relationship Id="rId36" Type="http://schemas.openxmlformats.org/officeDocument/2006/relationships/image" Target="../media/image588.png"/><Relationship Id="rId37" Type="http://schemas.openxmlformats.org/officeDocument/2006/relationships/image" Target="../media/image589.png"/><Relationship Id="rId38" Type="http://schemas.openxmlformats.org/officeDocument/2006/relationships/image" Target="../media/image590.png"/><Relationship Id="rId39" Type="http://schemas.openxmlformats.org/officeDocument/2006/relationships/image" Target="../media/image591.png"/><Relationship Id="rId40" Type="http://schemas.openxmlformats.org/officeDocument/2006/relationships/image" Target="../media/image592.png"/><Relationship Id="rId41" Type="http://schemas.openxmlformats.org/officeDocument/2006/relationships/image" Target="../media/image593.png"/><Relationship Id="rId42" Type="http://schemas.openxmlformats.org/officeDocument/2006/relationships/image" Target="../media/image594.png"/><Relationship Id="rId43" Type="http://schemas.openxmlformats.org/officeDocument/2006/relationships/image" Target="../media/image595.png"/><Relationship Id="rId44" Type="http://schemas.openxmlformats.org/officeDocument/2006/relationships/image" Target="../media/image596.png"/><Relationship Id="rId45" Type="http://schemas.openxmlformats.org/officeDocument/2006/relationships/image" Target="../media/image597.png"/><Relationship Id="rId46" Type="http://schemas.openxmlformats.org/officeDocument/2006/relationships/image" Target="../media/image598.png"/><Relationship Id="rId47" Type="http://schemas.openxmlformats.org/officeDocument/2006/relationships/image" Target="../media/image599.png"/><Relationship Id="rId48" Type="http://schemas.openxmlformats.org/officeDocument/2006/relationships/image" Target="../media/image600.png"/><Relationship Id="rId49" Type="http://schemas.openxmlformats.org/officeDocument/2006/relationships/image" Target="../media/image601.png"/></Relationships>
</file>

<file path=ppt/charts/_rels/chart72.xml.rels><?xml version='1.0' encoding='UTF-8' standalone='yes'?>
<Relationships xmlns="http://schemas.openxmlformats.org/package/2006/relationships"><Relationship Id="rId2" Type="http://schemas.openxmlformats.org/officeDocument/2006/relationships/image" Target="../media/image616.png"/><Relationship Id="rId3" Type="http://schemas.openxmlformats.org/officeDocument/2006/relationships/image" Target="../media/image617.png"/><Relationship Id="rId4" Type="http://schemas.openxmlformats.org/officeDocument/2006/relationships/image" Target="../media/image618.png"/><Relationship Id="rId5" Type="http://schemas.openxmlformats.org/officeDocument/2006/relationships/image" Target="../media/image619.png"/><Relationship Id="rId6" Type="http://schemas.openxmlformats.org/officeDocument/2006/relationships/image" Target="../media/image620.png"/><Relationship Id="rId7" Type="http://schemas.openxmlformats.org/officeDocument/2006/relationships/image" Target="../media/image621.png"/><Relationship Id="rId8" Type="http://schemas.openxmlformats.org/officeDocument/2006/relationships/image" Target="../media/image622.png"/><Relationship Id="rId9" Type="http://schemas.openxmlformats.org/officeDocument/2006/relationships/image" Target="../media/image623.png"/><Relationship Id="rId10" Type="http://schemas.openxmlformats.org/officeDocument/2006/relationships/image" Target="../media/image624.png"/><Relationship Id="rId11" Type="http://schemas.openxmlformats.org/officeDocument/2006/relationships/image" Target="../media/image625.png"/><Relationship Id="rId12" Type="http://schemas.openxmlformats.org/officeDocument/2006/relationships/image" Target="../media/image626.png"/><Relationship Id="rId13" Type="http://schemas.openxmlformats.org/officeDocument/2006/relationships/image" Target="../media/image627.png"/><Relationship Id="rId14" Type="http://schemas.openxmlformats.org/officeDocument/2006/relationships/image" Target="../media/image628.png"/><Relationship Id="rId15" Type="http://schemas.openxmlformats.org/officeDocument/2006/relationships/image" Target="../media/image629.png"/><Relationship Id="rId16" Type="http://schemas.openxmlformats.org/officeDocument/2006/relationships/image" Target="../media/image630.png"/><Relationship Id="rId17" Type="http://schemas.openxmlformats.org/officeDocument/2006/relationships/image" Target="../media/image631.png"/><Relationship Id="rId18" Type="http://schemas.openxmlformats.org/officeDocument/2006/relationships/image" Target="../media/image632.png"/><Relationship Id="rId19" Type="http://schemas.openxmlformats.org/officeDocument/2006/relationships/image" Target="../media/image633.png"/></Relationships>
</file>

<file path=ppt/charts/_rels/chart80.xml.rels><?xml version='1.0' encoding='UTF-8' standalone='yes'?>
<Relationships xmlns="http://schemas.openxmlformats.org/package/2006/relationships"><Relationship Id="rId2" Type="http://schemas.openxmlformats.org/officeDocument/2006/relationships/image" Target="../media/image634.png"/><Relationship Id="rId3" Type="http://schemas.openxmlformats.org/officeDocument/2006/relationships/image" Target="../media/image635.png"/><Relationship Id="rId4" Type="http://schemas.openxmlformats.org/officeDocument/2006/relationships/image" Target="../media/image636.png"/><Relationship Id="rId5" Type="http://schemas.openxmlformats.org/officeDocument/2006/relationships/image" Target="../media/image637.png"/><Relationship Id="rId6" Type="http://schemas.openxmlformats.org/officeDocument/2006/relationships/image" Target="../media/image638.png"/><Relationship Id="rId7" Type="http://schemas.openxmlformats.org/officeDocument/2006/relationships/image" Target="../media/image639.png"/><Relationship Id="rId8" Type="http://schemas.openxmlformats.org/officeDocument/2006/relationships/image" Target="../media/image640.png"/><Relationship Id="rId9" Type="http://schemas.openxmlformats.org/officeDocument/2006/relationships/image" Target="../media/image641.png"/><Relationship Id="rId10" Type="http://schemas.openxmlformats.org/officeDocument/2006/relationships/image" Target="../media/image642.png"/><Relationship Id="rId11" Type="http://schemas.openxmlformats.org/officeDocument/2006/relationships/image" Target="../media/image643.png"/><Relationship Id="rId12" Type="http://schemas.openxmlformats.org/officeDocument/2006/relationships/image" Target="../media/image644.png"/><Relationship Id="rId13" Type="http://schemas.openxmlformats.org/officeDocument/2006/relationships/image" Target="../media/image645.png"/><Relationship Id="rId14" Type="http://schemas.openxmlformats.org/officeDocument/2006/relationships/image" Target="../media/image646.png"/><Relationship Id="rId15" Type="http://schemas.openxmlformats.org/officeDocument/2006/relationships/image" Target="../media/image647.png"/><Relationship Id="rId16" Type="http://schemas.openxmlformats.org/officeDocument/2006/relationships/image" Target="../media/image648.png"/><Relationship Id="rId17" Type="http://schemas.openxmlformats.org/officeDocument/2006/relationships/image" Target="../media/image649.png"/><Relationship Id="rId18" Type="http://schemas.openxmlformats.org/officeDocument/2006/relationships/image" Target="../media/image650.png"/><Relationship Id="rId19" Type="http://schemas.openxmlformats.org/officeDocument/2006/relationships/image" Target="../media/image651.png"/></Relationships>
</file>

<file path=ppt/charts/_rels/chart81.xml.rels><?xml version='1.0' encoding='UTF-8' standalone='yes'?>
<Relationships xmlns="http://schemas.openxmlformats.org/package/2006/relationships"><Relationship Id="rId2" Type="http://schemas.openxmlformats.org/officeDocument/2006/relationships/image" Target="../media/image665.png"/><Relationship Id="rId3" Type="http://schemas.openxmlformats.org/officeDocument/2006/relationships/image" Target="../media/image666.png"/><Relationship Id="rId4" Type="http://schemas.openxmlformats.org/officeDocument/2006/relationships/image" Target="../media/image667.png"/><Relationship Id="rId5" Type="http://schemas.openxmlformats.org/officeDocument/2006/relationships/image" Target="../media/image668.png"/><Relationship Id="rId6" Type="http://schemas.openxmlformats.org/officeDocument/2006/relationships/image" Target="../media/image669.png"/><Relationship Id="rId7" Type="http://schemas.openxmlformats.org/officeDocument/2006/relationships/image" Target="../media/image670.png"/><Relationship Id="rId8" Type="http://schemas.openxmlformats.org/officeDocument/2006/relationships/image" Target="../media/image671.png"/><Relationship Id="rId9" Type="http://schemas.openxmlformats.org/officeDocument/2006/relationships/image" Target="../media/image672.png"/><Relationship Id="rId10" Type="http://schemas.openxmlformats.org/officeDocument/2006/relationships/image" Target="../media/image673.png"/><Relationship Id="rId11" Type="http://schemas.openxmlformats.org/officeDocument/2006/relationships/image" Target="../media/image674.png"/><Relationship Id="rId12" Type="http://schemas.openxmlformats.org/officeDocument/2006/relationships/image" Target="../media/image675.png"/><Relationship Id="rId13" Type="http://schemas.openxmlformats.org/officeDocument/2006/relationships/image" Target="../media/image676.png"/><Relationship Id="rId14" Type="http://schemas.openxmlformats.org/officeDocument/2006/relationships/image" Target="../media/image677.png"/><Relationship Id="rId15" Type="http://schemas.openxmlformats.org/officeDocument/2006/relationships/image" Target="../media/image678.png"/><Relationship Id="rId16" Type="http://schemas.openxmlformats.org/officeDocument/2006/relationships/image" Target="../media/image679.png"/><Relationship Id="rId17" Type="http://schemas.openxmlformats.org/officeDocument/2006/relationships/image" Target="../media/image680.png"/><Relationship Id="rId18" Type="http://schemas.openxmlformats.org/officeDocument/2006/relationships/image" Target="../media/image681.png"/></Relationships>
</file>

<file path=ppt/charts/_rels/chart89.xml.rels><?xml version='1.0' encoding='UTF-8' standalone='yes'?>
<Relationships xmlns="http://schemas.openxmlformats.org/package/2006/relationships"><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image" Target="../media/image684.png"/><Relationship Id="rId5" Type="http://schemas.openxmlformats.org/officeDocument/2006/relationships/image" Target="../media/image685.png"/><Relationship Id="rId6" Type="http://schemas.openxmlformats.org/officeDocument/2006/relationships/image" Target="../media/image686.png"/><Relationship Id="rId7" Type="http://schemas.openxmlformats.org/officeDocument/2006/relationships/image" Target="../media/image687.png"/><Relationship Id="rId8" Type="http://schemas.openxmlformats.org/officeDocument/2006/relationships/image" Target="../media/image688.png"/><Relationship Id="rId9" Type="http://schemas.openxmlformats.org/officeDocument/2006/relationships/image" Target="../media/image689.png"/><Relationship Id="rId10" Type="http://schemas.openxmlformats.org/officeDocument/2006/relationships/image" Target="../media/image690.png"/><Relationship Id="rId11" Type="http://schemas.openxmlformats.org/officeDocument/2006/relationships/image" Target="../media/image691.png"/><Relationship Id="rId12" Type="http://schemas.openxmlformats.org/officeDocument/2006/relationships/image" Target="../media/image692.png"/><Relationship Id="rId13" Type="http://schemas.openxmlformats.org/officeDocument/2006/relationships/image" Target="../media/image693.png"/><Relationship Id="rId14" Type="http://schemas.openxmlformats.org/officeDocument/2006/relationships/image" Target="../media/image694.png"/><Relationship Id="rId15" Type="http://schemas.openxmlformats.org/officeDocument/2006/relationships/image" Target="../media/image695.png"/><Relationship Id="rId16" Type="http://schemas.openxmlformats.org/officeDocument/2006/relationships/image" Target="../media/image696.png"/><Relationship Id="rId17" Type="http://schemas.openxmlformats.org/officeDocument/2006/relationships/image" Target="../media/image697.png"/><Relationship Id="rId18" Type="http://schemas.openxmlformats.org/officeDocument/2006/relationships/image" Target="../media/image698.png"/></Relationships>
</file>

<file path=ppt/charts/_rels/chart90.xml.rels><?xml version='1.0' encoding='UTF-8' standalone='yes'?>
<Relationships xmlns="http://schemas.openxmlformats.org/package/2006/relationships"><Relationship Id="rId2" Type="http://schemas.openxmlformats.org/officeDocument/2006/relationships/image" Target="../media/image708.png"/><Relationship Id="rId3" Type="http://schemas.openxmlformats.org/officeDocument/2006/relationships/image" Target="../media/image709.png"/><Relationship Id="rId4" Type="http://schemas.openxmlformats.org/officeDocument/2006/relationships/image" Target="../media/image710.png"/><Relationship Id="rId5" Type="http://schemas.openxmlformats.org/officeDocument/2006/relationships/image" Target="../media/image711.png"/><Relationship Id="rId6" Type="http://schemas.openxmlformats.org/officeDocument/2006/relationships/image" Target="../media/image712.png"/><Relationship Id="rId7" Type="http://schemas.openxmlformats.org/officeDocument/2006/relationships/image" Target="../media/image713.png"/><Relationship Id="rId8" Type="http://schemas.openxmlformats.org/officeDocument/2006/relationships/image" Target="../media/image714.png"/><Relationship Id="rId9" Type="http://schemas.openxmlformats.org/officeDocument/2006/relationships/image" Target="../media/image715.png"/><Relationship Id="rId10" Type="http://schemas.openxmlformats.org/officeDocument/2006/relationships/image" Target="../media/image716.png"/></Relationships>
</file>

<file path=ppt/charts/_rels/chart95.xml.rels><?xml version='1.0' encoding='UTF-8' standalone='yes'?>
<Relationships xmlns="http://schemas.openxmlformats.org/package/2006/relationships"><Relationship Id="rId2" Type="http://schemas.openxmlformats.org/officeDocument/2006/relationships/image" Target="../media/image717.png"/><Relationship Id="rId3" Type="http://schemas.openxmlformats.org/officeDocument/2006/relationships/image" Target="../media/image718.png"/><Relationship Id="rId4" Type="http://schemas.openxmlformats.org/officeDocument/2006/relationships/image" Target="../media/image719.png"/><Relationship Id="rId5" Type="http://schemas.openxmlformats.org/officeDocument/2006/relationships/image" Target="../media/image720.png"/><Relationship Id="rId6" Type="http://schemas.openxmlformats.org/officeDocument/2006/relationships/image" Target="../media/image721.png"/><Relationship Id="rId7" Type="http://schemas.openxmlformats.org/officeDocument/2006/relationships/image" Target="../media/image722.png"/><Relationship Id="rId8" Type="http://schemas.openxmlformats.org/officeDocument/2006/relationships/image" Target="../media/image723.png"/><Relationship Id="rId9" Type="http://schemas.openxmlformats.org/officeDocument/2006/relationships/image" Target="../media/image724.png"/><Relationship Id="rId10" Type="http://schemas.openxmlformats.org/officeDocument/2006/relationships/image" Target="../media/image725.png"/></Relationships>
</file>

<file path=ppt/charts/_rels/chart96.xml.rels><?xml version='1.0' encoding='UTF-8' standalone='yes'?>
<Relationships xmlns="http://schemas.openxmlformats.org/package/2006/relationships"><Relationship Id="rId2" Type="http://schemas.openxmlformats.org/officeDocument/2006/relationships/image" Target="../media/image743.png"/><Relationship Id="rId3" Type="http://schemas.openxmlformats.org/officeDocument/2006/relationships/image" Target="../media/image744.png"/><Relationship Id="rId4" Type="http://schemas.openxmlformats.org/officeDocument/2006/relationships/image" Target="../media/image745.png"/><Relationship Id="rId5" Type="http://schemas.openxmlformats.org/officeDocument/2006/relationships/image" Target="../media/image746.png"/><Relationship Id="rId6" Type="http://schemas.openxmlformats.org/officeDocument/2006/relationships/image" Target="../media/image747.png"/><Relationship Id="rId7" Type="http://schemas.openxmlformats.org/officeDocument/2006/relationships/image" Target="../media/image748.png"/><Relationship Id="rId8" Type="http://schemas.openxmlformats.org/officeDocument/2006/relationships/image" Target="../media/image749.png"/><Relationship Id="rId9" Type="http://schemas.openxmlformats.org/officeDocument/2006/relationships/image" Target="../media/image750.png"/><Relationship Id="rId10" Type="http://schemas.openxmlformats.org/officeDocument/2006/relationships/image" Target="../media/image751.png"/><Relationship Id="rId11" Type="http://schemas.openxmlformats.org/officeDocument/2006/relationships/image" Target="../media/image752.png"/><Relationship Id="rId12" Type="http://schemas.openxmlformats.org/officeDocument/2006/relationships/image" Target="../media/image753.png"/><Relationship Id="rId13" Type="http://schemas.openxmlformats.org/officeDocument/2006/relationships/image" Target="../media/image754.png"/><Relationship Id="rId14" Type="http://schemas.openxmlformats.org/officeDocument/2006/relationships/image" Target="../media/image755.png"/><Relationship Id="rId15" Type="http://schemas.openxmlformats.org/officeDocument/2006/relationships/image" Target="../media/image756.png"/><Relationship Id="rId16" Type="http://schemas.openxmlformats.org/officeDocument/2006/relationships/image" Target="../media/image757.png"/><Relationship Id="rId17" Type="http://schemas.openxmlformats.org/officeDocument/2006/relationships/image" Target="../media/image758.png"/><Relationship Id="rId18" Type="http://schemas.openxmlformats.org/officeDocument/2006/relationships/image" Target="../media/image759.png"/><Relationship Id="rId19" Type="http://schemas.openxmlformats.org/officeDocument/2006/relationships/image" Target="../media/image760.png"/><Relationship Id="rId20" Type="http://schemas.openxmlformats.org/officeDocument/2006/relationships/image" Target="../media/image761.png"/><Relationship Id="rId21" Type="http://schemas.openxmlformats.org/officeDocument/2006/relationships/image" Target="../media/image762.png"/><Relationship Id="rId22" Type="http://schemas.openxmlformats.org/officeDocument/2006/relationships/image" Target="../media/image763.png"/></Relationships>
</file>

<file path=ppt/charts/_rels/chart105.xml.rels><?xml version='1.0' encoding='UTF-8' standalone='yes'?>
<Relationships xmlns="http://schemas.openxmlformats.org/package/2006/relationships"><Relationship Id="rId2" Type="http://schemas.openxmlformats.org/officeDocument/2006/relationships/image" Target="../media/image764.png"/><Relationship Id="rId3" Type="http://schemas.openxmlformats.org/officeDocument/2006/relationships/image" Target="../media/image765.png"/><Relationship Id="rId4" Type="http://schemas.openxmlformats.org/officeDocument/2006/relationships/image" Target="../media/image766.png"/><Relationship Id="rId5" Type="http://schemas.openxmlformats.org/officeDocument/2006/relationships/image" Target="../media/image767.png"/><Relationship Id="rId6" Type="http://schemas.openxmlformats.org/officeDocument/2006/relationships/image" Target="../media/image768.png"/><Relationship Id="rId7" Type="http://schemas.openxmlformats.org/officeDocument/2006/relationships/image" Target="../media/image769.png"/><Relationship Id="rId8" Type="http://schemas.openxmlformats.org/officeDocument/2006/relationships/image" Target="../media/image770.png"/><Relationship Id="rId9" Type="http://schemas.openxmlformats.org/officeDocument/2006/relationships/image" Target="../media/image771.png"/><Relationship Id="rId10" Type="http://schemas.openxmlformats.org/officeDocument/2006/relationships/image" Target="../media/image772.png"/><Relationship Id="rId11" Type="http://schemas.openxmlformats.org/officeDocument/2006/relationships/image" Target="../media/image773.png"/><Relationship Id="rId12" Type="http://schemas.openxmlformats.org/officeDocument/2006/relationships/image" Target="../media/image774.png"/><Relationship Id="rId13" Type="http://schemas.openxmlformats.org/officeDocument/2006/relationships/image" Target="../media/image775.png"/><Relationship Id="rId14" Type="http://schemas.openxmlformats.org/officeDocument/2006/relationships/image" Target="../media/image776.png"/><Relationship Id="rId15" Type="http://schemas.openxmlformats.org/officeDocument/2006/relationships/image" Target="../media/image777.png"/><Relationship Id="rId16" Type="http://schemas.openxmlformats.org/officeDocument/2006/relationships/image" Target="../media/image778.png"/><Relationship Id="rId17" Type="http://schemas.openxmlformats.org/officeDocument/2006/relationships/image" Target="../media/image779.png"/><Relationship Id="rId18" Type="http://schemas.openxmlformats.org/officeDocument/2006/relationships/image" Target="../media/image780.png"/><Relationship Id="rId19" Type="http://schemas.openxmlformats.org/officeDocument/2006/relationships/image" Target="../media/image781.png"/><Relationship Id="rId20" Type="http://schemas.openxmlformats.org/officeDocument/2006/relationships/image" Target="../media/image782.png"/><Relationship Id="rId21" Type="http://schemas.openxmlformats.org/officeDocument/2006/relationships/image" Target="../media/image783.png"/><Relationship Id="rId22" Type="http://schemas.openxmlformats.org/officeDocument/2006/relationships/image" Target="../media/image784.png"/></Relationships>
</file>

<file path=ppt/charts/_rels/chart106.xml.rels><?xml version='1.0' encoding='UTF-8' standalone='yes'?>
<Relationships xmlns="http://schemas.openxmlformats.org/package/2006/relationships"><Relationship Id="rId2" Type="http://schemas.openxmlformats.org/officeDocument/2006/relationships/image" Target="../media/image796.png"/><Relationship Id="rId3" Type="http://schemas.openxmlformats.org/officeDocument/2006/relationships/image" Target="../media/image797.png"/><Relationship Id="rId4" Type="http://schemas.openxmlformats.org/officeDocument/2006/relationships/image" Target="../media/image798.png"/><Relationship Id="rId5" Type="http://schemas.openxmlformats.org/officeDocument/2006/relationships/image" Target="../media/image799.png"/><Relationship Id="rId6" Type="http://schemas.openxmlformats.org/officeDocument/2006/relationships/image" Target="../media/image800.png"/><Relationship Id="rId7" Type="http://schemas.openxmlformats.org/officeDocument/2006/relationships/image" Target="../media/image801.png"/><Relationship Id="rId8" Type="http://schemas.openxmlformats.org/officeDocument/2006/relationships/image" Target="../media/image802.png"/><Relationship Id="rId9" Type="http://schemas.openxmlformats.org/officeDocument/2006/relationships/image" Target="../media/image803.png"/><Relationship Id="rId10" Type="http://schemas.openxmlformats.org/officeDocument/2006/relationships/image" Target="../media/image804.png"/><Relationship Id="rId11" Type="http://schemas.openxmlformats.org/officeDocument/2006/relationships/image" Target="../media/image805.png"/><Relationship Id="rId12" Type="http://schemas.openxmlformats.org/officeDocument/2006/relationships/image" Target="../media/image806.png"/><Relationship Id="rId13" Type="http://schemas.openxmlformats.org/officeDocument/2006/relationships/image" Target="../media/image807.png"/><Relationship Id="rId14" Type="http://schemas.openxmlformats.org/officeDocument/2006/relationships/image" Target="../media/image808.png"/><Relationship Id="rId15" Type="http://schemas.openxmlformats.org/officeDocument/2006/relationships/image" Target="../media/image809.png"/><Relationship Id="rId16" Type="http://schemas.openxmlformats.org/officeDocument/2006/relationships/image" Target="../media/image810.png"/><Relationship Id="rId17" Type="http://schemas.openxmlformats.org/officeDocument/2006/relationships/image" Target="../media/image811.png"/><Relationship Id="rId18" Type="http://schemas.openxmlformats.org/officeDocument/2006/relationships/image" Target="../media/image812.png"/><Relationship Id="rId19" Type="http://schemas.openxmlformats.org/officeDocument/2006/relationships/image" Target="../media/image813.png"/></Relationships>
</file>

<file path=ppt/charts/_rels/chart114.xml.rels><?xml version='1.0' encoding='UTF-8' standalone='yes'?>
<Relationships xmlns="http://schemas.openxmlformats.org/package/2006/relationships"><Relationship Id="rId2" Type="http://schemas.openxmlformats.org/officeDocument/2006/relationships/image" Target="../media/image814.png"/><Relationship Id="rId3" Type="http://schemas.openxmlformats.org/officeDocument/2006/relationships/image" Target="../media/image815.png"/><Relationship Id="rId4" Type="http://schemas.openxmlformats.org/officeDocument/2006/relationships/image" Target="../media/image816.png"/><Relationship Id="rId5" Type="http://schemas.openxmlformats.org/officeDocument/2006/relationships/image" Target="../media/image817.png"/><Relationship Id="rId6" Type="http://schemas.openxmlformats.org/officeDocument/2006/relationships/image" Target="../media/image818.png"/><Relationship Id="rId7" Type="http://schemas.openxmlformats.org/officeDocument/2006/relationships/image" Target="../media/image819.png"/><Relationship Id="rId8" Type="http://schemas.openxmlformats.org/officeDocument/2006/relationships/image" Target="../media/image820.png"/><Relationship Id="rId9" Type="http://schemas.openxmlformats.org/officeDocument/2006/relationships/image" Target="../media/image821.png"/><Relationship Id="rId10" Type="http://schemas.openxmlformats.org/officeDocument/2006/relationships/image" Target="../media/image822.png"/><Relationship Id="rId11" Type="http://schemas.openxmlformats.org/officeDocument/2006/relationships/image" Target="../media/image823.png"/><Relationship Id="rId12" Type="http://schemas.openxmlformats.org/officeDocument/2006/relationships/image" Target="../media/image824.png"/><Relationship Id="rId13" Type="http://schemas.openxmlformats.org/officeDocument/2006/relationships/image" Target="../media/image825.png"/><Relationship Id="rId14" Type="http://schemas.openxmlformats.org/officeDocument/2006/relationships/image" Target="../media/image826.png"/><Relationship Id="rId15" Type="http://schemas.openxmlformats.org/officeDocument/2006/relationships/image" Target="../media/image827.png"/><Relationship Id="rId16" Type="http://schemas.openxmlformats.org/officeDocument/2006/relationships/image" Target="../media/image828.png"/><Relationship Id="rId17" Type="http://schemas.openxmlformats.org/officeDocument/2006/relationships/image" Target="../media/image829.png"/><Relationship Id="rId18" Type="http://schemas.openxmlformats.org/officeDocument/2006/relationships/image" Target="../media/image830.png"/><Relationship Id="rId19" Type="http://schemas.openxmlformats.org/officeDocument/2006/relationships/image" Target="../media/image831.png"/></Relationships>
</file>

<file path=ppt/charts/_rels/chart141.xml.rels><?xml version='1.0' encoding='UTF-8' standalone='yes'?>
<Relationships xmlns="http://schemas.openxmlformats.org/package/2006/relationships"><Relationship Id="rId2" Type="http://schemas.openxmlformats.org/officeDocument/2006/relationships/image" Target="../media/image832.png"/><Relationship Id="rId3" Type="http://schemas.openxmlformats.org/officeDocument/2006/relationships/image" Target="../media/image833.png"/><Relationship Id="rId4" Type="http://schemas.openxmlformats.org/officeDocument/2006/relationships/image" Target="../media/image834.png"/><Relationship Id="rId5" Type="http://schemas.openxmlformats.org/officeDocument/2006/relationships/image" Target="../media/image835.png"/><Relationship Id="rId6" Type="http://schemas.openxmlformats.org/officeDocument/2006/relationships/image" Target="../media/image836.png"/><Relationship Id="rId7" Type="http://schemas.openxmlformats.org/officeDocument/2006/relationships/image" Target="../media/image837.png"/><Relationship Id="rId8" Type="http://schemas.openxmlformats.org/officeDocument/2006/relationships/image" Target="../media/image838.png"/><Relationship Id="rId9" Type="http://schemas.openxmlformats.org/officeDocument/2006/relationships/image" Target="../media/image839.png"/><Relationship Id="rId10" Type="http://schemas.openxmlformats.org/officeDocument/2006/relationships/image" Target="../media/image840.png"/><Relationship Id="rId11" Type="http://schemas.openxmlformats.org/officeDocument/2006/relationships/image" Target="../media/image841.png"/></Relationships>
</file>

<file path=ppt/charts/_rels/chart142.xml.rels><?xml version='1.0' encoding='UTF-8' standalone='yes'?>
<Relationships xmlns="http://schemas.openxmlformats.org/package/2006/relationships"><Relationship Id="rId2" Type="http://schemas.openxmlformats.org/officeDocument/2006/relationships/image" Target="../media/image842.png"/><Relationship Id="rId3" Type="http://schemas.openxmlformats.org/officeDocument/2006/relationships/image" Target="../media/image843.png"/><Relationship Id="rId4" Type="http://schemas.openxmlformats.org/officeDocument/2006/relationships/image" Target="../media/image844.png"/><Relationship Id="rId5" Type="http://schemas.openxmlformats.org/officeDocument/2006/relationships/image" Target="../media/image845.png"/><Relationship Id="rId6" Type="http://schemas.openxmlformats.org/officeDocument/2006/relationships/image" Target="../media/image846.png"/><Relationship Id="rId7" Type="http://schemas.openxmlformats.org/officeDocument/2006/relationships/image" Target="../media/image847.png"/><Relationship Id="rId8" Type="http://schemas.openxmlformats.org/officeDocument/2006/relationships/image" Target="../media/image848.png"/><Relationship Id="rId9" Type="http://schemas.openxmlformats.org/officeDocument/2006/relationships/image" Target="../media/image849.png"/><Relationship Id="rId10" Type="http://schemas.openxmlformats.org/officeDocument/2006/relationships/image" Target="../media/image850.png"/><Relationship Id="rId11" Type="http://schemas.openxmlformats.org/officeDocument/2006/relationships/image" Target="../media/image851.png"/><Relationship Id="rId12" Type="http://schemas.openxmlformats.org/officeDocument/2006/relationships/image" Target="../media/image852.png"/></Relationships>
</file>

<file path=ppt/charts/_rels/chart143.xml.rels><?xml version='1.0' encoding='UTF-8' standalone='yes'?>
<Relationships xmlns="http://schemas.openxmlformats.org/package/2006/relationships"><Relationship Id="rId2" Type="http://schemas.openxmlformats.org/officeDocument/2006/relationships/image" Target="../media/image853.png"/><Relationship Id="rId3" Type="http://schemas.openxmlformats.org/officeDocument/2006/relationships/image" Target="../media/image854.png"/><Relationship Id="rId4" Type="http://schemas.openxmlformats.org/officeDocument/2006/relationships/image" Target="../media/image855.png"/><Relationship Id="rId5" Type="http://schemas.openxmlformats.org/officeDocument/2006/relationships/image" Target="../media/image856.png"/><Relationship Id="rId6" Type="http://schemas.openxmlformats.org/officeDocument/2006/relationships/image" Target="../media/image857.png"/><Relationship Id="rId7" Type="http://schemas.openxmlformats.org/officeDocument/2006/relationships/image" Target="../media/image858.png"/><Relationship Id="rId8" Type="http://schemas.openxmlformats.org/officeDocument/2006/relationships/image" Target="../media/image859.png"/><Relationship Id="rId9" Type="http://schemas.openxmlformats.org/officeDocument/2006/relationships/image" Target="../media/image860.png"/><Relationship Id="rId10" Type="http://schemas.openxmlformats.org/officeDocument/2006/relationships/image" Target="../media/image861.png"/><Relationship Id="rId11" Type="http://schemas.openxmlformats.org/officeDocument/2006/relationships/image" Target="../media/image862.png"/></Relationships>
</file>

<file path=ppt/charts/_rels/chart144.xml.rels><?xml version='1.0' encoding='UTF-8' standalone='yes'?>
<Relationships xmlns="http://schemas.openxmlformats.org/package/2006/relationships"><Relationship Id="rId2" Type="http://schemas.openxmlformats.org/officeDocument/2006/relationships/image" Target="../media/image863.png"/><Relationship Id="rId3" Type="http://schemas.openxmlformats.org/officeDocument/2006/relationships/image" Target="../media/image864.png"/><Relationship Id="rId4" Type="http://schemas.openxmlformats.org/officeDocument/2006/relationships/image" Target="../media/image865.png"/><Relationship Id="rId5" Type="http://schemas.openxmlformats.org/officeDocument/2006/relationships/image" Target="../media/image866.png"/><Relationship Id="rId6" Type="http://schemas.openxmlformats.org/officeDocument/2006/relationships/image" Target="../media/image867.png"/><Relationship Id="rId7" Type="http://schemas.openxmlformats.org/officeDocument/2006/relationships/image" Target="../media/image868.png"/><Relationship Id="rId8" Type="http://schemas.openxmlformats.org/officeDocument/2006/relationships/image" Target="../media/image869.png"/><Relationship Id="rId9" Type="http://schemas.openxmlformats.org/officeDocument/2006/relationships/image" Target="../media/image870.png"/><Relationship Id="rId10" Type="http://schemas.openxmlformats.org/officeDocument/2006/relationships/image" Target="../media/image871.png"/><Relationship Id="rId11" Type="http://schemas.openxmlformats.org/officeDocument/2006/relationships/image" Target="../media/image872.png"/><Relationship Id="rId12" Type="http://schemas.openxmlformats.org/officeDocument/2006/relationships/image" Target="../media/image873.png"/></Relationships>
</file>

<file path=ppt/charts/_rels/chart145.xml.rels><?xml version='1.0' encoding='UTF-8' standalone='yes'?>
<Relationships xmlns="http://schemas.openxmlformats.org/package/2006/relationships"><Relationship Id="rId2" Type="http://schemas.openxmlformats.org/officeDocument/2006/relationships/image" Target="../media/image874.png"/><Relationship Id="rId3" Type="http://schemas.openxmlformats.org/officeDocument/2006/relationships/image" Target="../media/image875.png"/><Relationship Id="rId4" Type="http://schemas.openxmlformats.org/officeDocument/2006/relationships/image" Target="../media/image876.png"/><Relationship Id="rId5" Type="http://schemas.openxmlformats.org/officeDocument/2006/relationships/image" Target="../media/image877.png"/><Relationship Id="rId6" Type="http://schemas.openxmlformats.org/officeDocument/2006/relationships/image" Target="../media/image878.png"/><Relationship Id="rId7" Type="http://schemas.openxmlformats.org/officeDocument/2006/relationships/image" Target="../media/image879.png"/><Relationship Id="rId8" Type="http://schemas.openxmlformats.org/officeDocument/2006/relationships/image" Target="../media/image880.png"/><Relationship Id="rId9" Type="http://schemas.openxmlformats.org/officeDocument/2006/relationships/image" Target="../media/image881.png"/><Relationship Id="rId10" Type="http://schemas.openxmlformats.org/officeDocument/2006/relationships/image" Target="../media/image882.png"/><Relationship Id="rId11" Type="http://schemas.openxmlformats.org/officeDocument/2006/relationships/image" Target="../media/image883.png"/></Relationships>
</file>

<file path=ppt/charts/_rels/chart146.xml.rels><?xml version='1.0' encoding='UTF-8' standalone='yes'?>
<Relationships xmlns="http://schemas.openxmlformats.org/package/2006/relationships"><Relationship Id="rId2" Type="http://schemas.openxmlformats.org/officeDocument/2006/relationships/image" Target="../media/image884.png"/><Relationship Id="rId3" Type="http://schemas.openxmlformats.org/officeDocument/2006/relationships/image" Target="../media/image885.png"/><Relationship Id="rId4" Type="http://schemas.openxmlformats.org/officeDocument/2006/relationships/image" Target="../media/image886.png"/><Relationship Id="rId5" Type="http://schemas.openxmlformats.org/officeDocument/2006/relationships/image" Target="../media/image887.png"/><Relationship Id="rId6" Type="http://schemas.openxmlformats.org/officeDocument/2006/relationships/image" Target="../media/image888.png"/><Relationship Id="rId7" Type="http://schemas.openxmlformats.org/officeDocument/2006/relationships/image" Target="../media/image889.png"/><Relationship Id="rId8" Type="http://schemas.openxmlformats.org/officeDocument/2006/relationships/image" Target="../media/image890.png"/><Relationship Id="rId9" Type="http://schemas.openxmlformats.org/officeDocument/2006/relationships/image" Target="../media/image891.png"/><Relationship Id="rId10" Type="http://schemas.openxmlformats.org/officeDocument/2006/relationships/image" Target="../media/image892.png"/><Relationship Id="rId11" Type="http://schemas.openxmlformats.org/officeDocument/2006/relationships/image" Target="../media/image893.png"/><Relationship Id="rId12" Type="http://schemas.openxmlformats.org/officeDocument/2006/relationships/image" Target="../media/image894.png"/></Relationships>
</file>

<file path=ppt/charts/_rels/chart147.xml.rels><?xml version='1.0' encoding='UTF-8' standalone='yes'?>
<Relationships xmlns="http://schemas.openxmlformats.org/package/2006/relationships"><Relationship Id="rId2" Type="http://schemas.openxmlformats.org/officeDocument/2006/relationships/image" Target="../media/image895.png"/><Relationship Id="rId3" Type="http://schemas.openxmlformats.org/officeDocument/2006/relationships/image" Target="../media/image896.png"/><Relationship Id="rId4" Type="http://schemas.openxmlformats.org/officeDocument/2006/relationships/image" Target="../media/image897.png"/><Relationship Id="rId5" Type="http://schemas.openxmlformats.org/officeDocument/2006/relationships/image" Target="../media/image898.png"/><Relationship Id="rId6" Type="http://schemas.openxmlformats.org/officeDocument/2006/relationships/image" Target="../media/image899.png"/><Relationship Id="rId7" Type="http://schemas.openxmlformats.org/officeDocument/2006/relationships/image" Target="../media/image900.png"/><Relationship Id="rId8" Type="http://schemas.openxmlformats.org/officeDocument/2006/relationships/image" Target="../media/image901.png"/><Relationship Id="rId9" Type="http://schemas.openxmlformats.org/officeDocument/2006/relationships/image" Target="../media/image902.png"/><Relationship Id="rId10" Type="http://schemas.openxmlformats.org/officeDocument/2006/relationships/image" Target="../media/image903.png"/></Relationships>
</file>

<file path=ppt/charts/_rels/chart148.xml.rels><?xml version='1.0' encoding='UTF-8' standalone='yes'?>
<Relationships xmlns="http://schemas.openxmlformats.org/package/2006/relationships"><Relationship Id="rId2" Type="http://schemas.openxmlformats.org/officeDocument/2006/relationships/image" Target="../media/image904.png"/><Relationship Id="rId3" Type="http://schemas.openxmlformats.org/officeDocument/2006/relationships/image" Target="../media/image905.png"/><Relationship Id="rId4" Type="http://schemas.openxmlformats.org/officeDocument/2006/relationships/image" Target="../media/image906.png"/><Relationship Id="rId5" Type="http://schemas.openxmlformats.org/officeDocument/2006/relationships/image" Target="../media/image907.png"/></Relationships>
</file>

<file path=ppt/charts/_rels/chart149.xml.rels><?xml version='1.0' encoding='UTF-8' standalone='yes'?>
<Relationships xmlns="http://schemas.openxmlformats.org/package/2006/relationships"><Relationship Id="rId2" Type="http://schemas.openxmlformats.org/officeDocument/2006/relationships/image" Target="../media/image908.png"/><Relationship Id="rId3" Type="http://schemas.openxmlformats.org/officeDocument/2006/relationships/image" Target="../media/image909.png"/><Relationship Id="rId4" Type="http://schemas.openxmlformats.org/officeDocument/2006/relationships/image" Target="../media/image910.png"/><Relationship Id="rId5" Type="http://schemas.openxmlformats.org/officeDocument/2006/relationships/image" Target="../media/image911.png"/><Relationship Id="rId6" Type="http://schemas.openxmlformats.org/officeDocument/2006/relationships/image" Target="../media/image912.png"/></Relationships>
</file>

<file path=ppt/charts/_rels/chart150.xml.rels><?xml version='1.0' encoding='UTF-8' standalone='yes'?>
<Relationships xmlns="http://schemas.openxmlformats.org/package/2006/relationships"><Relationship Id="rId2" Type="http://schemas.openxmlformats.org/officeDocument/2006/relationships/image" Target="../media/image913.png"/><Relationship Id="rId3" Type="http://schemas.openxmlformats.org/officeDocument/2006/relationships/image" Target="../media/image914.png"/><Relationship Id="rId4" Type="http://schemas.openxmlformats.org/officeDocument/2006/relationships/image" Target="../media/image915.png"/><Relationship Id="rId5" Type="http://schemas.openxmlformats.org/officeDocument/2006/relationships/image" Target="../media/image916.png"/></Relationships>
</file>

<file path=ppt/charts/_rels/chart151.xml.rels><?xml version='1.0' encoding='UTF-8' standalone='yes'?>
<Relationships xmlns="http://schemas.openxmlformats.org/package/2006/relationships"><Relationship Id="rId2" Type="http://schemas.openxmlformats.org/officeDocument/2006/relationships/image" Target="../media/image917.png"/><Relationship Id="rId3" Type="http://schemas.openxmlformats.org/officeDocument/2006/relationships/image" Target="../media/image918.png"/><Relationship Id="rId4" Type="http://schemas.openxmlformats.org/officeDocument/2006/relationships/image" Target="../media/image919.png"/><Relationship Id="rId5" Type="http://schemas.openxmlformats.org/officeDocument/2006/relationships/image" Target="../media/image920.png"/><Relationship Id="rId6" Type="http://schemas.openxmlformats.org/officeDocument/2006/relationships/image" Target="../media/image921.png"/><Relationship Id="rId7" Type="http://schemas.openxmlformats.org/officeDocument/2006/relationships/image" Target="../media/image922.png"/><Relationship Id="rId8" Type="http://schemas.openxmlformats.org/officeDocument/2006/relationships/image" Target="../media/image923.png"/><Relationship Id="rId9" Type="http://schemas.openxmlformats.org/officeDocument/2006/relationships/image" Target="../media/image924.png"/><Relationship Id="rId10" Type="http://schemas.openxmlformats.org/officeDocument/2006/relationships/image" Target="../media/image925.png"/><Relationship Id="rId11" Type="http://schemas.openxmlformats.org/officeDocument/2006/relationships/image" Target="../media/image926.png"/></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3.6198398995503034</c:v>
                </c:pt>
                <c:pt idx="1">
                  <c:v>4.553107255971756</c:v>
                </c:pt>
                <c:pt idx="2">
                  <c:v>4.241087899563123</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010101577882717"/>
          <c:min val="0.0"/>
        </c:scaling>
        <c:delete val="0"/>
        <c:axPos val="l"/>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2225502.348</c:v>
                </c:pt>
                <c:pt idx="2">
                  <c:v>0.0</c:v>
                </c:pt>
                <c:pt idx="3">
                  <c:v>2658536.587</c:v>
                </c:pt>
                <c:pt idx="4">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2A5F8F"/>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0,,&quot;M&quot;"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2225502.348</c:v>
                </c:pt>
                <c:pt idx="1">
                  <c:v>433034.2389999996</c:v>
                </c:pt>
                <c:pt idx="2">
                  <c:v>2658536.587</c:v>
                </c:pt>
                <c:pt idx="3">
                  <c:v>1491119.3060000003</c:v>
                </c:pt>
                <c:pt idx="4">
                  <c:v>4149655.893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4.126859335369337</c:v>
                </c:pt>
                <c:pt idx="1">
                  <c:v>4.9939469101035305</c:v>
                </c:pt>
                <c:pt idx="2">
                  <c:v>4.704118403200064</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59200992133666"/>
          <c:min val="0.0"/>
        </c:scaling>
        <c:delete val="0"/>
        <c:axPos val="l"/>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8904.563</c:v>
                </c:pt>
                <c:pt idx="2">
                  <c:v>0.0</c:v>
                </c:pt>
                <c:pt idx="3">
                  <c:v>10899.999</c:v>
                </c:pt>
                <c:pt idx="4">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2A5F8F"/>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8904.563</c:v>
                </c:pt>
                <c:pt idx="1">
                  <c:v>1995.4359999999997</c:v>
                </c:pt>
                <c:pt idx="2">
                  <c:v>10899.999</c:v>
                </c:pt>
                <c:pt idx="3">
                  <c:v>6844.718000000001</c:v>
                </c:pt>
                <c:pt idx="4">
                  <c:v>17744.717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8904.563</c:v>
                </c:pt>
                <c:pt idx="1">
                  <c:v>9270.468</c:v>
                </c:pt>
                <c:pt idx="2">
                  <c:v>9652.224</c:v>
                </c:pt>
                <c:pt idx="3">
                  <c:v>10050.559000000001</c:v>
                </c:pt>
                <c:pt idx="4">
                  <c:v>10466.220000000001</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MM&quot;;&quot;MMMMMMMMMMM&quot;;&quot;MM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2225502.348</c:v>
                </c:pt>
                <c:pt idx="1">
                  <c:v>2305239.798</c:v>
                </c:pt>
                <c:pt idx="2">
                  <c:v>2388259.938</c:v>
                </c:pt>
                <c:pt idx="3">
                  <c:v>2474711.164</c:v>
                </c:pt>
                <c:pt idx="4">
                  <c:v>2564749.029</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max val="12350"/>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3507556"/>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10899.999</c:v>
                </c:pt>
                <c:pt idx="1">
                  <c:v>11439.934000000001</c:v>
                </c:pt>
                <c:pt idx="2">
                  <c:v>12007.632</c:v>
                </c:pt>
                <c:pt idx="3">
                  <c:v>12604.572</c:v>
                </c:pt>
                <c:pt idx="4">
                  <c:v>13232.323</c:v>
                </c:pt>
                <c:pt idx="5">
                  <c:v>13892.524000000001</c:v>
                </c:pt>
                <c:pt idx="6">
                  <c:v>14586.922999999999</c:v>
                </c:pt>
                <c:pt idx="7">
                  <c:v>15317.345</c:v>
                </c:pt>
                <c:pt idx="8">
                  <c:v>16085.737</c:v>
                </c:pt>
                <c:pt idx="9">
                  <c:v>16894.14</c:v>
                </c:pt>
                <c:pt idx="10">
                  <c:v>17744.717</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MM&quot;;&quot;MMMMMMMMMMM&quot;;&quot;MM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MM&quot;;&quot;MMMMMMMMMMM&quot;;&quot;MM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MM&quot;;&quot;MMMMMMMMMMM&quot;;&quot;MM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MM&quot;;&quot;MMMMMMMMMMM&quot;;&quot;MM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MM&quot;;&quot;MMMMMMMMMMM&quot;;&quot;MM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MM&quot;;&quot;MMMMMMMMMMM&quot;;&quot;MM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MM&quot;;&quot;MMMMMMMMMMM&quot;;&quot;MM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2658536.587</c:v>
                </c:pt>
                <c:pt idx="1">
                  <c:v>2777384.4790000003</c:v>
                </c:pt>
                <c:pt idx="2">
                  <c:v>2902057.076</c:v>
                </c:pt>
                <c:pt idx="3">
                  <c:v>3032860.3430000003</c:v>
                </c:pt>
                <c:pt idx="4">
                  <c:v>3170117.193</c:v>
                </c:pt>
                <c:pt idx="5">
                  <c:v>3314168.417</c:v>
                </c:pt>
                <c:pt idx="6">
                  <c:v>3465373.738</c:v>
                </c:pt>
                <c:pt idx="7">
                  <c:v>3624112.901</c:v>
                </c:pt>
                <c:pt idx="8">
                  <c:v>3790786.8149999995</c:v>
                </c:pt>
                <c:pt idx="9">
                  <c:v>3965818.8080000007</c:v>
                </c:pt>
                <c:pt idx="10">
                  <c:v>4149655.893</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max val="20939"/>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5803428"/>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2A5F8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9"/>
                <c:pt idx="0">
                  <c:v>Turkiye</c:v>
                </c:pt>
                <c:pt idx="1">
                  <c:v>Hungary</c:v>
                </c:pt>
                <c:pt idx="2">
                  <c:v>Russia</c:v>
                </c:pt>
                <c:pt idx="3">
                  <c:v>Brazil</c:v>
                </c:pt>
                <c:pt idx="4">
                  <c:v>Poland</c:v>
                </c:pt>
                <c:pt idx="5">
                  <c:v>France</c:v>
                </c:pt>
                <c:pt idx="6">
                  <c:v>Chile</c:v>
                </c:pt>
                <c:pt idx="7">
                  <c:v>Germany</c:v>
                </c:pt>
                <c:pt idx="8">
                  <c:v>India</c:v>
                </c:pt>
              </c:strCache>
            </c:strRef>
          </c:cat>
          <c:val>
            <c:numRef>
              <c:numCache>
                <c:formatCode>General</c:formatCode>
                <c:ptCount val="9"/>
                <c:pt idx="0">
                  <c:v>110.06599292276161</c:v>
                </c:pt>
                <c:pt idx="1">
                  <c:v>116.34082488153128</c:v>
                </c:pt>
                <c:pt idx="2">
                  <c:v>118.36155088916583</c:v>
                </c:pt>
                <c:pt idx="3">
                  <c:v>118.5729789167459</c:v>
                </c:pt>
                <c:pt idx="4">
                  <c:v>119.26787899803611</c:v>
                </c:pt>
                <c:pt idx="5">
                  <c:v>122.98526572334856</c:v>
                </c:pt>
                <c:pt idx="6">
                  <c:v>126.79162205238038</c:v>
                </c:pt>
                <c:pt idx="7">
                  <c:v>131.054746758804</c:v>
                </c:pt>
                <c:pt idx="8">
                  <c:v>135.42999057944166</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2A5F8F"/>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8"/>
                <c:pt idx="0">
                  <c:v>Japan</c:v>
                </c:pt>
                <c:pt idx="1">
                  <c:v>Russia</c:v>
                </c:pt>
                <c:pt idx="2">
                  <c:v>Mexico</c:v>
                </c:pt>
                <c:pt idx="3">
                  <c:v>Brazil</c:v>
                </c:pt>
                <c:pt idx="4">
                  <c:v>China</c:v>
                </c:pt>
                <c:pt idx="5">
                  <c:v>Canada</c:v>
                </c:pt>
                <c:pt idx="6">
                  <c:v>India</c:v>
                </c:pt>
                <c:pt idx="7">
                  <c:v>U.S.</c:v>
                </c:pt>
              </c:strCache>
            </c:strRef>
          </c:cat>
          <c:val>
            <c:numRef>
              <c:numCache>
                <c:formatCode>General</c:formatCode>
                <c:ptCount val="8"/>
                <c:pt idx="0">
                  <c:v>3.6518378112874776</c:v>
                </c:pt>
                <c:pt idx="1">
                  <c:v>4.5035018243264355</c:v>
                </c:pt>
                <c:pt idx="2">
                  <c:v>6.55236636483782</c:v>
                </c:pt>
                <c:pt idx="3">
                  <c:v>7.401985005079828</c:v>
                </c:pt>
                <c:pt idx="4">
                  <c:v>9.179384746018757</c:v>
                </c:pt>
                <c:pt idx="5">
                  <c:v>9.191306347463838</c:v>
                </c:pt>
                <c:pt idx="6">
                  <c:v>11.485513354969477</c:v>
                </c:pt>
                <c:pt idx="7">
                  <c:v>16.577600421229917</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Electric Motor-Driven</c:v>
                </c:pt>
                <c:pt idx="1">
                  <c:v>Natural Gas Engine-Driven</c:v>
                </c:pt>
                <c:pt idx="2">
                  <c:v>Diesel Engine-Driven</c:v>
                </c:pt>
                <c:pt idx="3">
                  <c:v>Steam Turbine-Driven</c:v>
                </c:pt>
                <c:pt idx="4">
                  <c:v>Gas Turbine-Driven</c:v>
                </c:pt>
                <c:pt idx="5">
                  <c:v>Other Drive Types</c:v>
                </c:pt>
              </c:strCache>
            </c:strRef>
          </c:cat>
          <c:val>
            <c:numRef>
              <c:numCache>
                <c:formatCode>General</c:formatCode>
                <c:ptCount val="6"/>
                <c:pt idx="0">
                  <c:v>798.446</c:v>
                </c:pt>
                <c:pt idx="1">
                  <c:v>4392.312</c:v>
                </c:pt>
                <c:pt idx="2">
                  <c:v>7137.532</c:v>
                </c:pt>
                <c:pt idx="3">
                  <c:v>3343.558</c:v>
                </c:pt>
                <c:pt idx="4">
                  <c:v>1450.737</c:v>
                </c:pt>
                <c:pt idx="5">
                  <c:v>622.132</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0.05712454941324217</c:v>
                </c:pt>
                <c:pt idx="1">
                  <c:v>0.058784549413242175</c:v>
                </c:pt>
                <c:pt idx="2">
                  <c:v>0.06111454941324218</c:v>
                </c:pt>
                <c:pt idx="3">
                  <c:v>0.06332454941324217</c:v>
                </c:pt>
                <c:pt idx="4">
                  <c:v>0.06478454941324219</c:v>
                </c:pt>
                <c:pt idx="5">
                  <c:v>0.06478454941324219</c:v>
                </c:pt>
                <c:pt idx="6">
                  <c:v>0.06312454941324218</c:v>
                </c:pt>
                <c:pt idx="7">
                  <c:v>0.06195454941324218</c:v>
                </c:pt>
                <c:pt idx="8">
                  <c:v>0.06127454941324218</c:v>
                </c:pt>
                <c:pt idx="9">
                  <c:v>0.060284549413242176</c:v>
                </c:pt>
                <c:pt idx="10">
                  <c:v>0.05947454941324218</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0.05300278715189366</c:v>
                </c:pt>
                <c:pt idx="1">
                  <c:v>0.05107278715189366</c:v>
                </c:pt>
                <c:pt idx="2">
                  <c:v>0.049052787151893665</c:v>
                </c:pt>
                <c:pt idx="3">
                  <c:v>0.04674278715189366</c:v>
                </c:pt>
                <c:pt idx="4">
                  <c:v>0.04586278715189366</c:v>
                </c:pt>
                <c:pt idx="5">
                  <c:v>0.046532787151893656</c:v>
                </c:pt>
                <c:pt idx="6">
                  <c:v>0.048912787151893664</c:v>
                </c:pt>
                <c:pt idx="7">
                  <c:v>0.05050278715189366</c:v>
                </c:pt>
                <c:pt idx="8">
                  <c:v>0.050362787151893657</c:v>
                </c:pt>
                <c:pt idx="9">
                  <c:v>0.049662787151893664</c:v>
                </c:pt>
                <c:pt idx="10">
                  <c:v>0.049122787151893665</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0.0412910180383521</c:v>
                </c:pt>
                <c:pt idx="1">
                  <c:v>0.039411018038352105</c:v>
                </c:pt>
                <c:pt idx="2">
                  <c:v>0.037441018038352106</c:v>
                </c:pt>
                <c:pt idx="3">
                  <c:v>0.035691018038352104</c:v>
                </c:pt>
                <c:pt idx="4">
                  <c:v>0.03468101803835211</c:v>
                </c:pt>
                <c:pt idx="5">
                  <c:v>0.03475101803835211</c:v>
                </c:pt>
                <c:pt idx="6">
                  <c:v>0.036331018038352106</c:v>
                </c:pt>
                <c:pt idx="7">
                  <c:v>0.0370010180383521</c:v>
                </c:pt>
                <c:pt idx="8">
                  <c:v>0.0370010180383521</c:v>
                </c:pt>
                <c:pt idx="9">
                  <c:v>0.036301018038352104</c:v>
                </c:pt>
                <c:pt idx="10">
                  <c:v>0.0357310180383521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D6E4"/>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9D6E4"/>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South Asia &amp; Pacific</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21.93168165716126</c:v>
                </c:pt>
                <c:pt idx="1">
                  <c:v>25.520202115708297</c:v>
                </c:pt>
              </c:numCache>
            </c:numRef>
          </c:val>
        </c:ser>
        <c:ser>
          <c:idx val="1"/>
          <c:order val="1"/>
          <c:tx>
            <c:strRef>
              <c:strCache>
                <c:ptCount val="1"/>
                <c:pt idx="0">
                  <c:v>North America</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27.99086394517993</c:v>
                </c:pt>
                <c:pt idx="1">
                  <c:v>23.517177668784594</c:v>
                </c:pt>
              </c:numCache>
            </c:numRef>
          </c:val>
        </c:ser>
        <c:ser>
          <c:idx val="2"/>
          <c:order val="2"/>
          <c:tx>
            <c:strRef>
              <c:strCache>
                <c:ptCount val="1"/>
                <c:pt idx="0">
                  <c:v>East Asia</c:v>
                </c:pt>
              </c:strCache>
            </c:strRef>
          </c:tx>
          <c:spPr>
            <a:solidFill>
              <a:srgbClr val="0E2A5C"/>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21.255378871338436</c:v>
                </c:pt>
                <c:pt idx="1">
                  <c:v>21.738692297877236</c:v>
                </c:pt>
              </c:numCache>
            </c:numRef>
          </c:val>
        </c:ser>
        <c:ser>
          <c:idx val="3"/>
          <c:order val="3"/>
          <c:tx>
            <c:strRef>
              <c:strCache>
                <c:ptCount val="1"/>
                <c:pt idx="0">
                  <c:v>Latin America</c:v>
                </c:pt>
              </c:strCache>
            </c:strRef>
          </c:tx>
          <c:spPr>
            <a:solidFill>
              <a:srgbClr val="00ACAC"/>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9.48547133912361</c:v>
                </c:pt>
                <c:pt idx="1">
                  <c:v>10.083008345482588</c:v>
                </c:pt>
              </c:numCache>
            </c:numRef>
          </c:val>
        </c:ser>
        <c:ser>
          <c:idx val="4"/>
          <c:order val="4"/>
          <c:tx>
            <c:strRef>
              <c:strCache>
                <c:ptCount val="1"/>
                <c:pt idx="0">
                  <c:v>Middle East &amp; Africa</c:v>
                </c:pt>
              </c:strCache>
            </c:strRef>
          </c:tx>
          <c:spPr>
            <a:solidFill>
              <a:srgbClr val="F47620"/>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8.761792150577614</c:v>
                </c:pt>
                <c:pt idx="1">
                  <c:v>8.687066669988099</c:v>
                </c:pt>
              </c:numCache>
            </c:numRef>
          </c:val>
        </c:ser>
        <c:ser>
          <c:idx val="5"/>
          <c:order val="5"/>
          <c:tx>
            <c:strRef>
              <c:strCache>
                <c:ptCount val="1"/>
                <c:pt idx="0">
                  <c:v>Eastern Europe</c:v>
                </c:pt>
              </c:strCache>
            </c:strRef>
          </c:tx>
          <c:spPr>
            <a:solidFill>
              <a:srgbClr val="79C3EC"/>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6.7517964160333</c:v>
                </c:pt>
                <c:pt idx="1">
                  <c:v>6.741032322026322</c:v>
                </c:pt>
              </c:numCache>
            </c:numRef>
          </c:val>
        </c:ser>
        <c:ser>
          <c:idx val="6"/>
          <c:order val="6"/>
          <c:tx>
            <c:strRef>
              <c:strCache>
                <c:ptCount val="1"/>
                <c:pt idx="0">
                  <c:v>Western Europe</c:v>
                </c:pt>
              </c:strCache>
            </c:strRef>
          </c:tx>
          <c:spPr>
            <a:solidFill>
              <a:srgbClr val="586272"/>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3.823015620585853</c:v>
                </c:pt>
                <c:pt idx="1">
                  <c:v>3.7128205801328593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North America</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39.60093023861745</c:v>
                </c:pt>
                <c:pt idx="1">
                  <c:v>36.79292828395065</c:v>
                </c:pt>
              </c:numCache>
            </c:numRef>
          </c:val>
        </c:ser>
        <c:ser>
          <c:idx val="1"/>
          <c:order val="1"/>
          <c:tx>
            <c:strRef>
              <c:strCache>
                <c:ptCount val="1"/>
                <c:pt idx="0">
                  <c:v>South Asia &amp; Pacific</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14.400340770673465</c:v>
                </c:pt>
                <c:pt idx="1">
                  <c:v>15.899413893160427</c:v>
                </c:pt>
              </c:numCache>
            </c:numRef>
          </c:val>
        </c:ser>
        <c:ser>
          <c:idx val="2"/>
          <c:order val="2"/>
          <c:tx>
            <c:strRef>
              <c:strCache>
                <c:ptCount val="1"/>
                <c:pt idx="0">
                  <c:v>East Asia</c:v>
                </c:pt>
              </c:strCache>
            </c:strRef>
          </c:tx>
          <c:spPr>
            <a:solidFill>
              <a:srgbClr val="0E2A5C"/>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15.600359229390756</c:v>
                </c:pt>
                <c:pt idx="1">
                  <c:v>15.307603947698913</c:v>
                </c:pt>
              </c:numCache>
            </c:numRef>
          </c:val>
        </c:ser>
        <c:ser>
          <c:idx val="3"/>
          <c:order val="3"/>
          <c:tx>
            <c:strRef>
              <c:strCache>
                <c:ptCount val="1"/>
                <c:pt idx="0">
                  <c:v>Latin America</c:v>
                </c:pt>
              </c:strCache>
            </c:strRef>
          </c:tx>
          <c:spPr>
            <a:solidFill>
              <a:srgbClr val="00ACAC"/>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9.600230238553232</c:v>
                </c:pt>
                <c:pt idx="1">
                  <c:v>10.450130030250694</c:v>
                </c:pt>
              </c:numCache>
            </c:numRef>
          </c:val>
        </c:ser>
        <c:ser>
          <c:idx val="4"/>
          <c:order val="4"/>
          <c:tx>
            <c:strRef>
              <c:strCache>
                <c:ptCount val="1"/>
                <c:pt idx="0">
                  <c:v>Middle East &amp; Africa</c:v>
                </c:pt>
              </c:strCache>
            </c:strRef>
          </c:tx>
          <c:spPr>
            <a:solidFill>
              <a:srgbClr val="F47620"/>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8.400202605523175</c:v>
                </c:pt>
                <c:pt idx="1">
                  <c:v>8.340510586897496</c:v>
                </c:pt>
              </c:numCache>
            </c:numRef>
          </c:val>
        </c:ser>
        <c:ser>
          <c:idx val="5"/>
          <c:order val="5"/>
          <c:tx>
            <c:strRef>
              <c:strCache>
                <c:ptCount val="1"/>
                <c:pt idx="0">
                  <c:v>Eastern Europe</c:v>
                </c:pt>
              </c:strCache>
            </c:strRef>
          </c:tx>
          <c:spPr>
            <a:solidFill>
              <a:srgbClr val="79C3EC"/>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7.373092419549764</c:v>
                </c:pt>
                <c:pt idx="1">
                  <c:v>7.89159951099812</c:v>
                </c:pt>
              </c:numCache>
            </c:numRef>
          </c:val>
        </c:ser>
        <c:ser>
          <c:idx val="6"/>
          <c:order val="6"/>
          <c:tx>
            <c:strRef>
              <c:strCache>
                <c:ptCount val="1"/>
                <c:pt idx="0">
                  <c:v>Western Europe</c:v>
                </c:pt>
              </c:strCache>
            </c:strRef>
          </c:tx>
          <c:spPr>
            <a:solidFill>
              <a:srgbClr val="586272"/>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5.024844497692156</c:v>
                </c:pt>
                <c:pt idx="1">
                  <c:v>5.317813747043697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2A5F8F"/>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675781.745</c:v>
                </c:pt>
                <c:pt idx="1">
                  <c:v>688909.276</c:v>
                </c:pt>
                <c:pt idx="2">
                  <c:v>702303.837</c:v>
                </c:pt>
                <c:pt idx="3">
                  <c:v>715971.13</c:v>
                </c:pt>
                <c:pt idx="4">
                  <c:v>729916.983</c:v>
                </c:pt>
                <c:pt idx="5">
                  <c:v>744147.359</c:v>
                </c:pt>
                <c:pt idx="6">
                  <c:v>764537.754</c:v>
                </c:pt>
                <c:pt idx="7">
                  <c:v>785500.335</c:v>
                </c:pt>
                <c:pt idx="8">
                  <c:v>807051.572</c:v>
                </c:pt>
                <c:pt idx="9">
                  <c:v>829208.418</c:v>
                </c:pt>
                <c:pt idx="10">
                  <c:v>851988.334</c:v>
                </c:pt>
                <c:pt idx="11">
                  <c:v>875409.291</c:v>
                </c:pt>
                <c:pt idx="12">
                  <c:v>899489.792</c:v>
                </c:pt>
                <c:pt idx="13">
                  <c:v>924248.892</c:v>
                </c:pt>
                <c:pt idx="14">
                  <c:v>949706.211</c:v>
                </c:pt>
                <c:pt idx="15">
                  <c:v>975881.949</c:v>
                </c:pt>
              </c:numCache>
            </c:numRef>
          </c:val>
        </c:ser>
        <c:ser>
          <c:idx val="1"/>
          <c:order val="1"/>
          <c:tx>
            <c:strRef>
              <c:strCache>
                <c:ptCount val="1"/>
                <c:pt idx="0">
                  <c:v>East Asia</c:v>
                </c:pt>
              </c:strCache>
            </c:strRef>
          </c:tx>
          <c:spPr>
            <a:solidFill>
              <a:srgbClr val="0081E2"/>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465061.54</c:v>
                </c:pt>
                <c:pt idx="1">
                  <c:v>483517.996</c:v>
                </c:pt>
                <c:pt idx="2">
                  <c:v>502717.377</c:v>
                </c:pt>
                <c:pt idx="3">
                  <c:v>522689.949</c:v>
                </c:pt>
                <c:pt idx="4">
                  <c:v>543467.228</c:v>
                </c:pt>
                <c:pt idx="5">
                  <c:v>565082.024</c:v>
                </c:pt>
                <c:pt idx="6">
                  <c:v>592087.691</c:v>
                </c:pt>
                <c:pt idx="7">
                  <c:v>620396.463</c:v>
                </c:pt>
                <c:pt idx="8">
                  <c:v>650071.749</c:v>
                </c:pt>
                <c:pt idx="9">
                  <c:v>681180.074</c:v>
                </c:pt>
                <c:pt idx="10">
                  <c:v>713791.217</c:v>
                </c:pt>
                <c:pt idx="11">
                  <c:v>747978.386</c:v>
                </c:pt>
                <c:pt idx="12">
                  <c:v>783818.378</c:v>
                </c:pt>
                <c:pt idx="13">
                  <c:v>821391.76</c:v>
                </c:pt>
                <c:pt idx="14">
                  <c:v>860783.052</c:v>
                </c:pt>
                <c:pt idx="15">
                  <c:v>902080.926</c:v>
                </c:pt>
              </c:numCache>
            </c:numRef>
          </c:val>
        </c:ser>
        <c:ser>
          <c:idx val="2"/>
          <c:order val="2"/>
          <c:tx>
            <c:strRef>
              <c:strCache>
                <c:ptCount val="1"/>
                <c:pt idx="0">
                  <c:v>South Asia &amp; Pacific</c:v>
                </c:pt>
              </c:strCache>
            </c:strRef>
          </c:tx>
          <c:spPr>
            <a:solidFill>
              <a:srgbClr val="0E2A5C"/>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450410.342</c:v>
                </c:pt>
                <c:pt idx="1">
                  <c:v>474211.194</c:v>
                </c:pt>
                <c:pt idx="2">
                  <c:v>499303.191</c:v>
                </c:pt>
                <c:pt idx="3">
                  <c:v>525757.868</c:v>
                </c:pt>
                <c:pt idx="4">
                  <c:v>553650.791</c:v>
                </c:pt>
                <c:pt idx="5">
                  <c:v>583061.781</c:v>
                </c:pt>
                <c:pt idx="6">
                  <c:v>618743.574</c:v>
                </c:pt>
                <c:pt idx="7">
                  <c:v>656650.801</c:v>
                </c:pt>
                <c:pt idx="8">
                  <c:v>696924.458</c:v>
                </c:pt>
                <c:pt idx="9">
                  <c:v>739714.596</c:v>
                </c:pt>
                <c:pt idx="10">
                  <c:v>785180.898</c:v>
                </c:pt>
                <c:pt idx="11">
                  <c:v>833493.309</c:v>
                </c:pt>
                <c:pt idx="12">
                  <c:v>884832.697</c:v>
                </c:pt>
                <c:pt idx="13">
                  <c:v>939391.571</c:v>
                </c:pt>
                <c:pt idx="14">
                  <c:v>997374.83</c:v>
                </c:pt>
                <c:pt idx="15">
                  <c:v>1059000.571</c:v>
                </c:pt>
              </c:numCache>
            </c:numRef>
          </c:val>
        </c:ser>
        <c:ser>
          <c:idx val="3"/>
          <c:order val="3"/>
          <c:tx>
            <c:strRef>
              <c:strCache>
                <c:ptCount val="1"/>
                <c:pt idx="0">
                  <c:v>Latin America</c:v>
                </c:pt>
              </c:strCache>
            </c:strRef>
          </c:tx>
          <c:spPr>
            <a:solidFill>
              <a:srgbClr val="00ACA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203541.364</c:v>
                </c:pt>
                <c:pt idx="1">
                  <c:v>212440.846</c:v>
                </c:pt>
                <c:pt idx="2">
                  <c:v>221735.753</c:v>
                </c:pt>
                <c:pt idx="3">
                  <c:v>231443.848</c:v>
                </c:pt>
                <c:pt idx="4">
                  <c:v>241583.704</c:v>
                </c:pt>
                <c:pt idx="5">
                  <c:v>252174.726</c:v>
                </c:pt>
                <c:pt idx="6">
                  <c:v>265241.576</c:v>
                </c:pt>
                <c:pt idx="7">
                  <c:v>278992.875</c:v>
                </c:pt>
                <c:pt idx="8">
                  <c:v>293464.761</c:v>
                </c:pt>
                <c:pt idx="9">
                  <c:v>308695.293</c:v>
                </c:pt>
                <c:pt idx="10">
                  <c:v>324724.552</c:v>
                </c:pt>
                <c:pt idx="11">
                  <c:v>341594.745</c:v>
                </c:pt>
                <c:pt idx="12">
                  <c:v>359350.328</c:v>
                </c:pt>
                <c:pt idx="13">
                  <c:v>378038.115</c:v>
                </c:pt>
                <c:pt idx="14">
                  <c:v>397707.414</c:v>
                </c:pt>
                <c:pt idx="15">
                  <c:v>418410.15</c:v>
                </c:pt>
              </c:numCache>
            </c:numRef>
          </c:val>
        </c:ser>
        <c:ser>
          <c:idx val="4"/>
          <c:order val="4"/>
          <c:tx>
            <c:strRef>
              <c:strCache>
                <c:ptCount val="1"/>
                <c:pt idx="0">
                  <c:v>Middle East &amp; Africa</c:v>
                </c:pt>
              </c:strCache>
            </c:strRef>
          </c:tx>
          <c:spPr>
            <a:solidFill>
              <a:srgbClr val="F4762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195003.22</c:v>
                </c:pt>
                <c:pt idx="1">
                  <c:v>202035.576</c:v>
                </c:pt>
                <c:pt idx="2">
                  <c:v>209334.161</c:v>
                </c:pt>
                <c:pt idx="3">
                  <c:v>216909.569</c:v>
                </c:pt>
                <c:pt idx="4">
                  <c:v>224772.832</c:v>
                </c:pt>
                <c:pt idx="5">
                  <c:v>232935.45</c:v>
                </c:pt>
                <c:pt idx="6">
                  <c:v>243264.779</c:v>
                </c:pt>
                <c:pt idx="7">
                  <c:v>254067.702</c:v>
                </c:pt>
                <c:pt idx="8">
                  <c:v>265366.689</c:v>
                </c:pt>
                <c:pt idx="9">
                  <c:v>277185.318</c:v>
                </c:pt>
                <c:pt idx="10">
                  <c:v>289548.32</c:v>
                </c:pt>
                <c:pt idx="11">
                  <c:v>302481.647</c:v>
                </c:pt>
                <c:pt idx="12">
                  <c:v>316012.53</c:v>
                </c:pt>
                <c:pt idx="13">
                  <c:v>330169.541</c:v>
                </c:pt>
                <c:pt idx="14">
                  <c:v>344982.666</c:v>
                </c:pt>
                <c:pt idx="15">
                  <c:v>360483.374</c:v>
                </c:pt>
              </c:numCache>
            </c:numRef>
          </c:val>
        </c:ser>
        <c:ser>
          <c:idx val="5"/>
          <c:order val="5"/>
          <c:tx>
            <c:strRef>
              <c:strCache>
                <c:ptCount val="1"/>
                <c:pt idx="0">
                  <c:v>Eastern Europe</c:v>
                </c:pt>
              </c:strCache>
            </c:strRef>
          </c:tx>
          <c:spPr>
            <a:solidFill>
              <a:srgbClr val="79C3E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149560.806</c:v>
                </c:pt>
                <c:pt idx="1">
                  <c:v>155107.299</c:v>
                </c:pt>
                <c:pt idx="2">
                  <c:v>160865.955</c:v>
                </c:pt>
                <c:pt idx="3">
                  <c:v>166845.02</c:v>
                </c:pt>
                <c:pt idx="4">
                  <c:v>173053.059</c:v>
                </c:pt>
                <c:pt idx="5">
                  <c:v>179498.978</c:v>
                </c:pt>
                <c:pt idx="6">
                  <c:v>187612.16</c:v>
                </c:pt>
                <c:pt idx="7">
                  <c:v>196099.234</c:v>
                </c:pt>
                <c:pt idx="8">
                  <c:v>204977.63</c:v>
                </c:pt>
                <c:pt idx="9">
                  <c:v>214265.599</c:v>
                </c:pt>
                <c:pt idx="10">
                  <c:v>223982.247</c:v>
                </c:pt>
                <c:pt idx="11">
                  <c:v>234147.578</c:v>
                </c:pt>
                <c:pt idx="12">
                  <c:v>244782.537</c:v>
                </c:pt>
                <c:pt idx="13">
                  <c:v>255909.049</c:v>
                </c:pt>
                <c:pt idx="14">
                  <c:v>267550.073</c:v>
                </c:pt>
                <c:pt idx="15">
                  <c:v>279729.645</c:v>
                </c:pt>
              </c:numCache>
            </c:numRef>
          </c:val>
        </c:ser>
        <c:ser>
          <c:idx val="6"/>
          <c:order val="6"/>
          <c:tx>
            <c:strRef>
              <c:strCache>
                <c:ptCount val="1"/>
                <c:pt idx="0">
                  <c:v>Western Europe</c:v>
                </c:pt>
              </c:strCache>
            </c:strRef>
          </c:tx>
          <c:spPr>
            <a:solidFill>
              <a:srgbClr val="586272"/>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86143.331</c:v>
                </c:pt>
                <c:pt idx="1">
                  <c:v>89017.611</c:v>
                </c:pt>
                <c:pt idx="2">
                  <c:v>91999.664</c:v>
                </c:pt>
                <c:pt idx="3">
                  <c:v>95093.78</c:v>
                </c:pt>
                <c:pt idx="4">
                  <c:v>98304.432</c:v>
                </c:pt>
                <c:pt idx="5">
                  <c:v>101636.269</c:v>
                </c:pt>
                <c:pt idx="6">
                  <c:v>105896.945</c:v>
                </c:pt>
                <c:pt idx="7">
                  <c:v>110349.666</c:v>
                </c:pt>
                <c:pt idx="8">
                  <c:v>115003.484</c:v>
                </c:pt>
                <c:pt idx="9">
                  <c:v>119867.895</c:v>
                </c:pt>
                <c:pt idx="10">
                  <c:v>124952.849</c:v>
                </c:pt>
                <c:pt idx="11">
                  <c:v>130268.782</c:v>
                </c:pt>
                <c:pt idx="12">
                  <c:v>135826.639</c:v>
                </c:pt>
                <c:pt idx="13">
                  <c:v>141637.887</c:v>
                </c:pt>
                <c:pt idx="14">
                  <c:v>147714.562</c:v>
                </c:pt>
                <c:pt idx="15">
                  <c:v>154069.278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2A5F8F"/>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3650.6</c:v>
                </c:pt>
                <c:pt idx="1">
                  <c:v>3774.844</c:v>
                </c:pt>
                <c:pt idx="2">
                  <c:v>3903.403</c:v>
                </c:pt>
                <c:pt idx="3">
                  <c:v>4036.426</c:v>
                </c:pt>
                <c:pt idx="4">
                  <c:v>4174.07</c:v>
                </c:pt>
                <c:pt idx="5">
                  <c:v>4316.501</c:v>
                </c:pt>
                <c:pt idx="6">
                  <c:v>4498.421</c:v>
                </c:pt>
                <c:pt idx="7">
                  <c:v>4688.108</c:v>
                </c:pt>
                <c:pt idx="8">
                  <c:v>4885.898</c:v>
                </c:pt>
                <c:pt idx="9">
                  <c:v>5092.141</c:v>
                </c:pt>
                <c:pt idx="10">
                  <c:v>5307.203</c:v>
                </c:pt>
                <c:pt idx="11">
                  <c:v>5531.469</c:v>
                </c:pt>
                <c:pt idx="12">
                  <c:v>5765.335</c:v>
                </c:pt>
                <c:pt idx="13">
                  <c:v>6009.219</c:v>
                </c:pt>
                <c:pt idx="14">
                  <c:v>6263.557</c:v>
                </c:pt>
                <c:pt idx="15">
                  <c:v>6528.801</c:v>
                </c:pt>
              </c:numCache>
            </c:numRef>
          </c:val>
        </c:ser>
        <c:ser>
          <c:idx val="1"/>
          <c:order val="1"/>
          <c:tx>
            <c:strRef>
              <c:strCache>
                <c:ptCount val="1"/>
                <c:pt idx="0">
                  <c:v>East Asia</c:v>
                </c:pt>
              </c:strCache>
            </c:strRef>
          </c:tx>
          <c:spPr>
            <a:solidFill>
              <a:srgbClr val="0081E2"/>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1398.599</c:v>
                </c:pt>
                <c:pt idx="1">
                  <c:v>1454.306</c:v>
                </c:pt>
                <c:pt idx="2">
                  <c:v>1512.252</c:v>
                </c:pt>
                <c:pt idx="3">
                  <c:v>1572.527</c:v>
                </c:pt>
                <c:pt idx="4">
                  <c:v>1635.222</c:v>
                </c:pt>
                <c:pt idx="5">
                  <c:v>1700.439</c:v>
                </c:pt>
                <c:pt idx="6">
                  <c:v>1781.884</c:v>
                </c:pt>
                <c:pt idx="7">
                  <c:v>1867.25</c:v>
                </c:pt>
                <c:pt idx="8">
                  <c:v>1956.73</c:v>
                </c:pt>
                <c:pt idx="9">
                  <c:v>2050.524</c:v>
                </c:pt>
                <c:pt idx="10">
                  <c:v>2148.839</c:v>
                </c:pt>
                <c:pt idx="11">
                  <c:v>2251.894</c:v>
                </c:pt>
                <c:pt idx="12">
                  <c:v>2359.921</c:v>
                </c:pt>
                <c:pt idx="13">
                  <c:v>2473.158</c:v>
                </c:pt>
                <c:pt idx="14">
                  <c:v>2591.86</c:v>
                </c:pt>
                <c:pt idx="15">
                  <c:v>2716.291</c:v>
                </c:pt>
              </c:numCache>
            </c:numRef>
          </c:val>
        </c:ser>
        <c:ser>
          <c:idx val="2"/>
          <c:order val="2"/>
          <c:tx>
            <c:strRef>
              <c:strCache>
                <c:ptCount val="1"/>
                <c:pt idx="0">
                  <c:v>South Asia &amp; Pacific</c:v>
                </c:pt>
              </c:strCache>
            </c:strRef>
          </c:tx>
          <c:spPr>
            <a:solidFill>
              <a:srgbClr val="0E2A5C"/>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1219.484</c:v>
                </c:pt>
                <c:pt idx="1">
                  <c:v>1282.422</c:v>
                </c:pt>
                <c:pt idx="2">
                  <c:v>1348.718</c:v>
                </c:pt>
                <c:pt idx="3">
                  <c:v>1418.554</c:v>
                </c:pt>
                <c:pt idx="4">
                  <c:v>1492.127</c:v>
                </c:pt>
                <c:pt idx="5">
                  <c:v>1569.637</c:v>
                </c:pt>
                <c:pt idx="6">
                  <c:v>1663.861</c:v>
                </c:pt>
                <c:pt idx="7">
                  <c:v>1763.876</c:v>
                </c:pt>
                <c:pt idx="8">
                  <c:v>1870.046</c:v>
                </c:pt>
                <c:pt idx="9">
                  <c:v>1982.757</c:v>
                </c:pt>
                <c:pt idx="10">
                  <c:v>2102.419</c:v>
                </c:pt>
                <c:pt idx="11">
                  <c:v>2229.471</c:v>
                </c:pt>
                <c:pt idx="12">
                  <c:v>2364.372</c:v>
                </c:pt>
                <c:pt idx="13">
                  <c:v>2507.624</c:v>
                </c:pt>
                <c:pt idx="14">
                  <c:v>2659.748</c:v>
                </c:pt>
                <c:pt idx="15">
                  <c:v>2821.306</c:v>
                </c:pt>
              </c:numCache>
            </c:numRef>
          </c:val>
        </c:ser>
        <c:ser>
          <c:idx val="3"/>
          <c:order val="3"/>
          <c:tx>
            <c:strRef>
              <c:strCache>
                <c:ptCount val="1"/>
                <c:pt idx="0">
                  <c:v>Latin America</c:v>
                </c:pt>
              </c:strCache>
            </c:strRef>
          </c:tx>
          <c:spPr>
            <a:solidFill>
              <a:srgbClr val="00ACA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817.319</c:v>
                </c:pt>
                <c:pt idx="1">
                  <c:v>858.676</c:v>
                </c:pt>
                <c:pt idx="2">
                  <c:v>902.151</c:v>
                </c:pt>
                <c:pt idx="3">
                  <c:v>947.857</c:v>
                </c:pt>
                <c:pt idx="4">
                  <c:v>995.908</c:v>
                </c:pt>
                <c:pt idx="5">
                  <c:v>1046.425</c:v>
                </c:pt>
                <c:pt idx="6">
                  <c:v>1107.907</c:v>
                </c:pt>
                <c:pt idx="7">
                  <c:v>1173.034</c:v>
                </c:pt>
                <c:pt idx="8">
                  <c:v>1242.024</c:v>
                </c:pt>
                <c:pt idx="9">
                  <c:v>1315.108</c:v>
                </c:pt>
                <c:pt idx="10">
                  <c:v>1392.529</c:v>
                </c:pt>
                <c:pt idx="11">
                  <c:v>1474.549</c:v>
                </c:pt>
                <c:pt idx="12">
                  <c:v>1561.44</c:v>
                </c:pt>
                <c:pt idx="13">
                  <c:v>1653.494</c:v>
                </c:pt>
                <c:pt idx="14">
                  <c:v>1751.02</c:v>
                </c:pt>
                <c:pt idx="15">
                  <c:v>1854.346</c:v>
                </c:pt>
              </c:numCache>
            </c:numRef>
          </c:val>
        </c:ser>
        <c:ser>
          <c:idx val="4"/>
          <c:order val="4"/>
          <c:tx>
            <c:strRef>
              <c:strCache>
                <c:ptCount val="1"/>
                <c:pt idx="0">
                  <c:v>Middle East &amp; Africa</c:v>
                </c:pt>
              </c:strCache>
            </c:strRef>
          </c:tx>
          <c:spPr>
            <a:solidFill>
              <a:srgbClr val="F4762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749.887</c:v>
                </c:pt>
                <c:pt idx="1">
                  <c:v>780.353</c:v>
                </c:pt>
                <c:pt idx="2">
                  <c:v>812.102</c:v>
                </c:pt>
                <c:pt idx="3">
                  <c:v>845.191</c:v>
                </c:pt>
                <c:pt idx="4">
                  <c:v>879.677</c:v>
                </c:pt>
                <c:pt idx="5">
                  <c:v>915.622</c:v>
                </c:pt>
                <c:pt idx="6">
                  <c:v>960.414</c:v>
                </c:pt>
                <c:pt idx="7">
                  <c:v>1007.457</c:v>
                </c:pt>
                <c:pt idx="8">
                  <c:v>1056.861</c:v>
                </c:pt>
                <c:pt idx="9">
                  <c:v>1108.752</c:v>
                </c:pt>
                <c:pt idx="10">
                  <c:v>1163.258</c:v>
                </c:pt>
                <c:pt idx="11">
                  <c:v>1220.515</c:v>
                </c:pt>
                <c:pt idx="12">
                  <c:v>1280.664</c:v>
                </c:pt>
                <c:pt idx="13">
                  <c:v>1343.852</c:v>
                </c:pt>
                <c:pt idx="14">
                  <c:v>1410.243</c:v>
                </c:pt>
                <c:pt idx="15">
                  <c:v>1480.0</c:v>
                </c:pt>
              </c:numCache>
            </c:numRef>
          </c:val>
        </c:ser>
        <c:ser>
          <c:idx val="5"/>
          <c:order val="5"/>
          <c:tx>
            <c:strRef>
              <c:strCache>
                <c:ptCount val="1"/>
                <c:pt idx="0">
                  <c:v>Eastern Europe</c:v>
                </c:pt>
              </c:strCache>
            </c:strRef>
          </c:tx>
          <c:spPr>
            <a:solidFill>
              <a:srgbClr val="79C3E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633.212</c:v>
                </c:pt>
                <c:pt idx="1">
                  <c:v>664.083</c:v>
                </c:pt>
                <c:pt idx="2">
                  <c:v>696.485</c:v>
                </c:pt>
                <c:pt idx="3">
                  <c:v>730.495</c:v>
                </c:pt>
                <c:pt idx="4">
                  <c:v>766.195</c:v>
                </c:pt>
                <c:pt idx="5">
                  <c:v>803.667</c:v>
                </c:pt>
                <c:pt idx="6">
                  <c:v>849.431</c:v>
                </c:pt>
                <c:pt idx="7">
                  <c:v>897.831</c:v>
                </c:pt>
                <c:pt idx="8">
                  <c:v>949.021</c:v>
                </c:pt>
                <c:pt idx="9">
                  <c:v>1003.164</c:v>
                </c:pt>
                <c:pt idx="10">
                  <c:v>1060.428</c:v>
                </c:pt>
                <c:pt idx="11">
                  <c:v>1120.998</c:v>
                </c:pt>
                <c:pt idx="12">
                  <c:v>1185.064</c:v>
                </c:pt>
                <c:pt idx="13">
                  <c:v>1252.833</c:v>
                </c:pt>
                <c:pt idx="14">
                  <c:v>1324.515</c:v>
                </c:pt>
                <c:pt idx="15">
                  <c:v>1400.342</c:v>
                </c:pt>
              </c:numCache>
            </c:numRef>
          </c:val>
        </c:ser>
        <c:ser>
          <c:idx val="6"/>
          <c:order val="6"/>
          <c:tx>
            <c:strRef>
              <c:strCache>
                <c:ptCount val="1"/>
                <c:pt idx="0">
                  <c:v>Western Europe</c:v>
                </c:pt>
              </c:strCache>
            </c:strRef>
          </c:tx>
          <c:spPr>
            <a:solidFill>
              <a:srgbClr val="586272"/>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435.462</c:v>
                </c:pt>
                <c:pt idx="1">
                  <c:v>455.784</c:v>
                </c:pt>
                <c:pt idx="2">
                  <c:v>477.113</c:v>
                </c:pt>
                <c:pt idx="3">
                  <c:v>499.509</c:v>
                </c:pt>
                <c:pt idx="4">
                  <c:v>523.021</c:v>
                </c:pt>
                <c:pt idx="5">
                  <c:v>547.708</c:v>
                </c:pt>
                <c:pt idx="6">
                  <c:v>578.016</c:v>
                </c:pt>
                <c:pt idx="7">
                  <c:v>610.076</c:v>
                </c:pt>
                <c:pt idx="8">
                  <c:v>643.992</c:v>
                </c:pt>
                <c:pt idx="9">
                  <c:v>679.877</c:v>
                </c:pt>
                <c:pt idx="10">
                  <c:v>717.848</c:v>
                </c:pt>
                <c:pt idx="11">
                  <c:v>758.027</c:v>
                </c:pt>
                <c:pt idx="12">
                  <c:v>800.549</c:v>
                </c:pt>
                <c:pt idx="13">
                  <c:v>845.557</c:v>
                </c:pt>
                <c:pt idx="14">
                  <c:v>893.197</c:v>
                </c:pt>
                <c:pt idx="15">
                  <c:v>943.631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Rotary Screw Air Compressor</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19.067728805009583</c:v>
                </c:pt>
                <c:pt idx="1">
                  <c:v>23.762480879670818</c:v>
                </c:pt>
                <c:pt idx="2">
                  <c:v>20.305743243243242</c:v>
                </c:pt>
                <c:pt idx="3">
                  <c:v>21.386246148237706</c:v>
                </c:pt>
                <c:pt idx="4">
                  <c:v>23.2377164302352</c:v>
                </c:pt>
                <c:pt idx="5">
                  <c:v>25.893291971874017</c:v>
                </c:pt>
                <c:pt idx="6">
                  <c:v>25.163900691719654</c:v>
                </c:pt>
              </c:numCache>
            </c:numRef>
          </c:val>
        </c:ser>
        <c:ser>
          <c:idx val="1"/>
          <c:order val="1"/>
          <c:tx>
            <c:strRef>
              <c:strCache>
                <c:ptCount val="1"/>
                <c:pt idx="0">
                  <c:v>Reciprocating (Piston) Air Compressor</c:v>
                </c:pt>
              </c:strCache>
            </c:strRef>
          </c:tx>
          <c:spPr>
            <a:solidFill>
              <a:srgbClr val="0081E2"/>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13.854992046679262</c:v>
                </c:pt>
                <c:pt idx="1">
                  <c:v>13.229482512129179</c:v>
                </c:pt>
                <c:pt idx="2">
                  <c:v>13.59581081081081</c:v>
                </c:pt>
                <c:pt idx="3">
                  <c:v>14.117484007838883</c:v>
                </c:pt>
                <c:pt idx="4">
                  <c:v>10.734821858188244</c:v>
                </c:pt>
                <c:pt idx="5">
                  <c:v>11.536607514392271</c:v>
                </c:pt>
                <c:pt idx="6">
                  <c:v>15.452515706942208</c:v>
                </c:pt>
              </c:numCache>
            </c:numRef>
          </c:val>
        </c:ser>
        <c:ser>
          <c:idx val="2"/>
          <c:order val="2"/>
          <c:tx>
            <c:strRef>
              <c:strCache>
                <c:ptCount val="1"/>
                <c:pt idx="0">
                  <c:v>Centrifugal Air Compressor</c:v>
                </c:pt>
              </c:strCache>
            </c:strRef>
          </c:tx>
          <c:spPr>
            <a:solidFill>
              <a:srgbClr val="0E2A5C"/>
            </a:solidFill>
            <a:ln>
              <a:noFill/>
            </a:ln>
          </c:spPr>
          <c:dLbls>
            <c:dLbl>
              <c:idx val="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23.46542239498278</c:v>
                </c:pt>
                <c:pt idx="1">
                  <c:v>22.76151111657009</c:v>
                </c:pt>
                <c:pt idx="2">
                  <c:v>25.356283783783784</c:v>
                </c:pt>
                <c:pt idx="3">
                  <c:v>20.434428094864714</c:v>
                </c:pt>
                <c:pt idx="4">
                  <c:v>19.74784734036228</c:v>
                </c:pt>
                <c:pt idx="5">
                  <c:v>25.42669954978297</c:v>
                </c:pt>
                <c:pt idx="6">
                  <c:v>21.276693837046032</c:v>
                </c:pt>
              </c:numCache>
            </c:numRef>
          </c:val>
        </c:ser>
        <c:ser>
          <c:idx val="3"/>
          <c:order val="3"/>
          <c:tx>
            <c:strRef>
              <c:strCache>
                <c:ptCount val="1"/>
                <c:pt idx="0">
                  <c:v>Axial Air Compressor</c:v>
                </c:pt>
              </c:strCache>
            </c:strRef>
          </c:tx>
          <c:spPr>
            <a:solidFill>
              <a:srgbClr val="00ACAC"/>
            </a:solidFill>
            <a:ln>
              <a:noFill/>
            </a:ln>
          </c:spPr>
          <c:dLbls>
            <c:dLbl>
              <c:idx val="0"/>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4.820634336938909</c:v>
                </c:pt>
                <c:pt idx="1">
                  <c:v>4.610088107048135</c:v>
                </c:pt>
                <c:pt idx="2">
                  <c:v>4.960270270270271</c:v>
                </c:pt>
                <c:pt idx="3">
                  <c:v>5.401634862102327</c:v>
                </c:pt>
                <c:pt idx="4">
                  <c:v>4.51774128766027</c:v>
                </c:pt>
                <c:pt idx="5">
                  <c:v>4.824219705342136</c:v>
                </c:pt>
                <c:pt idx="6">
                  <c:v>5.644114440002076</c:v>
                </c:pt>
              </c:numCache>
            </c:numRef>
          </c:val>
        </c:ser>
        <c:ser>
          <c:idx val="4"/>
          <c:order val="4"/>
          <c:tx>
            <c:strRef>
              <c:strCache>
                <c:ptCount val="1"/>
                <c:pt idx="0">
                  <c:v>Rotary Vane Air Compressor</c:v>
                </c:pt>
              </c:strCache>
            </c:strRef>
          </c:tx>
          <c:spPr>
            <a:solidFill>
              <a:srgbClr val="F47620"/>
            </a:solidFill>
            <a:ln>
              <a:noFill/>
            </a:ln>
          </c:spPr>
          <c:dLbls>
            <c:dLbl>
              <c:idx val="0"/>
              <c:numFmt formatCode="&quot;MMM&quot;;&quot;MMM&quot;;&quot;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quot;;&quot;MMM&quot;;&quot;MMM&quot;" sourceLinked="0"/>
              <c:spPr>
                <a:blipFill>
                  <a:blip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8.686234343721221</c:v>
                </c:pt>
                <c:pt idx="1">
                  <c:v>8.410302626072772</c:v>
                </c:pt>
                <c:pt idx="2">
                  <c:v>8.323243243243244</c:v>
                </c:pt>
                <c:pt idx="3">
                  <c:v>11.194297072930294</c:v>
                </c:pt>
                <c:pt idx="4">
                  <c:v>9.89338034842364</c:v>
                </c:pt>
                <c:pt idx="5">
                  <c:v>9.551817491615584</c:v>
                </c:pt>
                <c:pt idx="6">
                  <c:v>9.789485083095654</c:v>
                </c:pt>
              </c:numCache>
            </c:numRef>
          </c:val>
        </c:ser>
        <c:ser>
          <c:idx val="5"/>
          <c:order val="5"/>
          <c:tx>
            <c:strRef>
              <c:strCache>
                <c:ptCount val="1"/>
                <c:pt idx="0">
                  <c:v>Scroll Air Compressor</c:v>
                </c:pt>
              </c:strCache>
            </c:strRef>
          </c:tx>
          <c:spPr>
            <a:solidFill>
              <a:srgbClr val="79C3EC"/>
            </a:solidFill>
            <a:ln>
              <a:noFill/>
            </a:ln>
          </c:spPr>
          <c:dLbls>
            <c:dLbl>
              <c:idx val="0"/>
              <c:numFmt formatCode="&quot;MMMM&quot;;&quot;MMMM&quot;;&quot;MMMM&quot;" sourceLinked="0"/>
              <c:spPr>
                <a:blipFill>
                  <a:blip r:embed="rId3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3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30.10498807266823</c:v>
                </c:pt>
                <c:pt idx="1">
                  <c:v>27.22613475850899</c:v>
                </c:pt>
                <c:pt idx="2">
                  <c:v>27.458648648648648</c:v>
                </c:pt>
                <c:pt idx="3">
                  <c:v>27.465909814026073</c:v>
                </c:pt>
                <c:pt idx="4">
                  <c:v>31.86849273513037</c:v>
                </c:pt>
                <c:pt idx="5">
                  <c:v>22.767363766993014</c:v>
                </c:pt>
                <c:pt idx="6">
                  <c:v>22.673290241194362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Rotary Screw Air Compressor</c:v>
                </c:pt>
              </c:strCache>
            </c:strRef>
          </c:tx>
          <c:spPr>
            <a:solidFill>
              <a:srgbClr val="2A5F8F"/>
            </a:solidFill>
          </c:spPr>
          <c:invertIfNegative val="0"/>
          <c:xVal>
            <c:numRef>
              <c:numCache>
                <c:formatCode>General</c:formatCode>
                <c:ptCount val="1"/>
                <c:pt idx="0">
                  <c:v>106.47760832106626</c:v>
                </c:pt>
              </c:numCache>
            </c:numRef>
          </c:xVal>
          <c:yVal>
            <c:numRef>
              <c:numCache>
                <c:formatCode>General</c:formatCode>
                <c:ptCount val="1"/>
                <c:pt idx="0">
                  <c:v>138.1846365307006</c:v>
                </c:pt>
              </c:numCache>
            </c:numRef>
          </c:yVal>
          <c:bubbleSize>
            <c:numRef>
              <c:numCache>
                <c:formatCode>General</c:formatCode>
                <c:ptCount val="1"/>
                <c:pt idx="0">
                  <c:v>4214.419</c:v>
                </c:pt>
              </c:numCache>
            </c:numRef>
          </c:bubbleSize>
          <c:bubble3D val="0"/>
        </c:ser>
        <c:ser>
          <c:idx val="1"/>
          <c:order val="1"/>
          <c:tx>
            <c:strRef>
              <c:strCache>
                <c:ptCount val="1"/>
                <c:pt idx="0">
                  <c:v>Reciprocating (Piston) Air Compressor</c:v>
                </c:pt>
              </c:strCache>
            </c:strRef>
          </c:tx>
          <c:spPr>
            <a:solidFill>
              <a:srgbClr val="0081E2"/>
            </a:solidFill>
          </c:spPr>
          <c:invertIfNegative val="0"/>
          <c:xVal>
            <c:numRef>
              <c:numCache>
                <c:formatCode>General</c:formatCode>
                <c:ptCount val="1"/>
                <c:pt idx="0">
                  <c:v>33.9564921537157</c:v>
                </c:pt>
              </c:numCache>
            </c:numRef>
          </c:xVal>
          <c:yVal>
            <c:numRef>
              <c:numCache>
                <c:formatCode>General</c:formatCode>
                <c:ptCount val="1"/>
                <c:pt idx="0">
                  <c:v>111.89224879745403</c:v>
                </c:pt>
              </c:numCache>
            </c:numRef>
          </c:yVal>
          <c:bubbleSize>
            <c:numRef>
              <c:numCache>
                <c:formatCode>General</c:formatCode>
                <c:ptCount val="1"/>
                <c:pt idx="0">
                  <c:v>2404.939</c:v>
                </c:pt>
              </c:numCache>
            </c:numRef>
          </c:bubbleSize>
          <c:bubble3D val="0"/>
        </c:ser>
        <c:ser>
          <c:idx val="2"/>
          <c:order val="2"/>
          <c:tx>
            <c:strRef>
              <c:strCache>
                <c:ptCount val="1"/>
                <c:pt idx="0">
                  <c:v>Centrifugal Air Compressor</c:v>
                </c:pt>
              </c:strCache>
            </c:strRef>
          </c:tx>
          <c:spPr>
            <a:solidFill>
              <a:srgbClr val="0E2A5C"/>
            </a:solidFill>
          </c:spPr>
          <c:invertIfNegative val="0"/>
          <c:xVal>
            <c:numRef>
              <c:numCache>
                <c:formatCode>General</c:formatCode>
                <c:ptCount val="1"/>
                <c:pt idx="0">
                  <c:v>130.741560212863</c:v>
                </c:pt>
              </c:numCache>
            </c:numRef>
          </c:xVal>
          <c:yVal>
            <c:numRef>
              <c:numCache>
                <c:formatCode>General</c:formatCode>
                <c:ptCount val="1"/>
                <c:pt idx="0">
                  <c:v>115.14171698547864</c:v>
                </c:pt>
              </c:numCache>
            </c:numRef>
          </c:yVal>
          <c:bubbleSize>
            <c:numRef>
              <c:numCache>
                <c:formatCode>General</c:formatCode>
                <c:ptCount val="1"/>
                <c:pt idx="0">
                  <c:v>3937.251</c:v>
                </c:pt>
              </c:numCache>
            </c:numRef>
          </c:bubbleSize>
          <c:bubble3D val="0"/>
        </c:ser>
        <c:ser>
          <c:idx val="3"/>
          <c:order val="3"/>
          <c:tx>
            <c:strRef>
              <c:strCache>
                <c:ptCount val="1"/>
                <c:pt idx="0">
                  <c:v>Axial Air Compressor</c:v>
                </c:pt>
              </c:strCache>
            </c:strRef>
          </c:tx>
          <c:spPr>
            <a:solidFill>
              <a:srgbClr val="00ACAC"/>
            </a:solidFill>
          </c:spPr>
          <c:invertIfNegative val="0"/>
          <c:xVal>
            <c:numRef>
              <c:numCache>
                <c:formatCode>General</c:formatCode>
                <c:ptCount val="1"/>
                <c:pt idx="0">
                  <c:v>24.988771811792635</c:v>
                </c:pt>
              </c:numCache>
            </c:numRef>
          </c:xVal>
          <c:yVal>
            <c:numRef>
              <c:numCache>
                <c:formatCode>General</c:formatCode>
                <c:ptCount val="1"/>
                <c:pt idx="0">
                  <c:v>44.29470131144049</c:v>
                </c:pt>
              </c:numCache>
            </c:numRef>
          </c:yVal>
          <c:bubbleSize>
            <c:numRef>
              <c:numCache>
                <c:formatCode>General</c:formatCode>
                <c:ptCount val="1"/>
                <c:pt idx="0">
                  <c:v>910.937</c:v>
                </c:pt>
              </c:numCache>
            </c:numRef>
          </c:bubbleSize>
          <c:bubble3D val="0"/>
        </c:ser>
        <c:ser>
          <c:idx val="4"/>
          <c:order val="4"/>
          <c:tx>
            <c:strRef>
              <c:strCache>
                <c:ptCount val="1"/>
                <c:pt idx="0">
                  <c:v>Rotary Vane Air Compressor</c:v>
                </c:pt>
              </c:strCache>
            </c:strRef>
          </c:tx>
          <c:spPr>
            <a:solidFill>
              <a:srgbClr val="F47620"/>
            </a:solidFill>
          </c:spPr>
          <c:invertIfNegative val="0"/>
          <c:xVal>
            <c:numRef>
              <c:numCache>
                <c:formatCode>General</c:formatCode>
                <c:ptCount val="1"/>
                <c:pt idx="0">
                  <c:v>113.13820746288341</c:v>
                </c:pt>
              </c:numCache>
            </c:numRef>
          </c:xVal>
          <c:yVal>
            <c:numRef>
              <c:numCache>
                <c:formatCode>General</c:formatCode>
                <c:ptCount val="1"/>
                <c:pt idx="0">
                  <c:v>54.25993158347997</c:v>
                </c:pt>
              </c:numCache>
            </c:numRef>
          </c:yVal>
          <c:bubbleSize>
            <c:numRef>
              <c:numCache>
                <c:formatCode>General</c:formatCode>
                <c:ptCount val="1"/>
                <c:pt idx="0">
                  <c:v>1707.859</c:v>
                </c:pt>
              </c:numCache>
            </c:numRef>
          </c:bubbleSize>
          <c:bubble3D val="0"/>
        </c:ser>
        <c:ser>
          <c:idx val="5"/>
          <c:order val="5"/>
          <c:tx>
            <c:strRef>
              <c:strCache>
                <c:ptCount val="1"/>
                <c:pt idx="0">
                  <c:v>Scroll Air Compressor</c:v>
                </c:pt>
              </c:strCache>
            </c:strRef>
          </c:tx>
          <c:spPr>
            <a:solidFill>
              <a:srgbClr val="79C3EC"/>
            </a:solidFill>
          </c:spPr>
          <c:invertIfNegative val="0"/>
          <c:xVal>
            <c:numRef>
              <c:numCache>
                <c:formatCode>General</c:formatCode>
                <c:ptCount val="1"/>
                <c:pt idx="0">
                  <c:v>126.63335119761494</c:v>
                </c:pt>
              </c:numCache>
            </c:numRef>
          </c:xVal>
          <c:yVal>
            <c:numRef>
              <c:numCache>
                <c:formatCode>General</c:formatCode>
                <c:ptCount val="1"/>
                <c:pt idx="0">
                  <c:v>136.22676479144633</c:v>
                </c:pt>
              </c:numCache>
            </c:numRef>
          </c:yVal>
          <c:bubbleSize>
            <c:numRef>
              <c:numCache>
                <c:formatCode>General</c:formatCode>
                <c:ptCount val="1"/>
                <c:pt idx="0">
                  <c:v>4569.312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6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1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2510.354</c:v>
                </c:pt>
                <c:pt idx="2">
                  <c:v>2783.86</c:v>
                </c:pt>
                <c:pt idx="3">
                  <c:v>3087.43</c:v>
                </c:pt>
                <c:pt idx="4">
                  <c:v>3424.461</c:v>
                </c:pt>
                <c:pt idx="5">
                  <c:v>3798.719</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2510.354</c:v>
                </c:pt>
                <c:pt idx="1">
                  <c:v>273.5060000000003</c:v>
                </c:pt>
                <c:pt idx="2">
                  <c:v>303.5699999999997</c:v>
                </c:pt>
                <c:pt idx="3">
                  <c:v>337.03099999999995</c:v>
                </c:pt>
                <c:pt idx="4">
                  <c:v>374.25800000000027</c:v>
                </c:pt>
                <c:pt idx="5">
                  <c:v>415.6999999999998</c:v>
                </c:pt>
                <c:pt idx="6">
                  <c:v>4214.419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2032.709</c:v>
                </c:pt>
                <c:pt idx="2">
                  <c:v>2110.412</c:v>
                </c:pt>
                <c:pt idx="3">
                  <c:v>2187.342</c:v>
                </c:pt>
                <c:pt idx="4">
                  <c:v>2262.724</c:v>
                </c:pt>
                <c:pt idx="5">
                  <c:v>2335.617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2032.709</c:v>
                </c:pt>
                <c:pt idx="1">
                  <c:v>77.70299999999975</c:v>
                </c:pt>
                <c:pt idx="2">
                  <c:v>76.93000000000029</c:v>
                </c:pt>
                <c:pt idx="3">
                  <c:v>75.38200000000006</c:v>
                </c:pt>
                <c:pt idx="4">
                  <c:v>72.89300000000003</c:v>
                </c:pt>
                <c:pt idx="5">
                  <c:v>69.32199999999966</c:v>
                </c:pt>
                <c:pt idx="6">
                  <c:v>2404.939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2091.741</c:v>
                </c:pt>
                <c:pt idx="2">
                  <c:v>2379.871</c:v>
                </c:pt>
                <c:pt idx="3">
                  <c:v>2703.845</c:v>
                </c:pt>
                <c:pt idx="4">
                  <c:v>3068.03</c:v>
                </c:pt>
                <c:pt idx="5">
                  <c:v>3477.327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2091.741</c:v>
                </c:pt>
                <c:pt idx="1">
                  <c:v>288.1300000000001</c:v>
                </c:pt>
                <c:pt idx="2">
                  <c:v>323.9739999999997</c:v>
                </c:pt>
                <c:pt idx="3">
                  <c:v>364.1850000000004</c:v>
                </c:pt>
                <c:pt idx="4">
                  <c:v>409.297</c:v>
                </c:pt>
                <c:pt idx="5">
                  <c:v>459.924</c:v>
                </c:pt>
                <c:pt idx="6">
                  <c:v>3937.251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804.687</c:v>
                </c:pt>
                <c:pt idx="2">
                  <c:v>829.611</c:v>
                </c:pt>
                <c:pt idx="3">
                  <c:v>853.196</c:v>
                </c:pt>
                <c:pt idx="4">
                  <c:v>874.979</c:v>
                </c:pt>
                <c:pt idx="5">
                  <c:v>894.435</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804.687</c:v>
                </c:pt>
                <c:pt idx="1">
                  <c:v>24.923999999999978</c:v>
                </c:pt>
                <c:pt idx="2">
                  <c:v>23.585000000000036</c:v>
                </c:pt>
                <c:pt idx="3">
                  <c:v>21.783000000000015</c:v>
                </c:pt>
                <c:pt idx="4">
                  <c:v>19.455999999999904</c:v>
                </c:pt>
                <c:pt idx="5">
                  <c:v>16.502000000000066</c:v>
                </c:pt>
                <c:pt idx="6">
                  <c:v>910.937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985.722</c:v>
                </c:pt>
                <c:pt idx="2">
                  <c:v>1100.635</c:v>
                </c:pt>
                <c:pt idx="3">
                  <c:v>1228.691</c:v>
                </c:pt>
                <c:pt idx="4">
                  <c:v>1371.419</c:v>
                </c:pt>
                <c:pt idx="5">
                  <c:v>1530.506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985.722</c:v>
                </c:pt>
                <c:pt idx="1">
                  <c:v>114.91300000000001</c:v>
                </c:pt>
                <c:pt idx="2">
                  <c:v>128.05600000000004</c:v>
                </c:pt>
                <c:pt idx="3">
                  <c:v>142.72800000000007</c:v>
                </c:pt>
                <c:pt idx="4">
                  <c:v>159.087</c:v>
                </c:pt>
                <c:pt idx="5">
                  <c:v>177.35299999999984</c:v>
                </c:pt>
                <c:pt idx="6">
                  <c:v>1707.859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2474.786</c:v>
                </c:pt>
                <c:pt idx="2">
                  <c:v>2803.243</c:v>
                </c:pt>
                <c:pt idx="3">
                  <c:v>3171.819</c:v>
                </c:pt>
                <c:pt idx="4">
                  <c:v>3585.31</c:v>
                </c:pt>
                <c:pt idx="5">
                  <c:v>4049.133</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2474.786</c:v>
                </c:pt>
                <c:pt idx="1">
                  <c:v>328.4569999999999</c:v>
                </c:pt>
                <c:pt idx="2">
                  <c:v>368.576</c:v>
                </c:pt>
                <c:pt idx="3">
                  <c:v>413.491</c:v>
                </c:pt>
                <c:pt idx="4">
                  <c:v>463.82299999999987</c:v>
                </c:pt>
                <c:pt idx="5">
                  <c:v>520.1790000000001</c:v>
                </c:pt>
                <c:pt idx="6">
                  <c:v>4569.312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Scroll Air Compressor</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21.02607393535202</c:v>
                </c:pt>
                <c:pt idx="1">
                  <c:v>22.704460798574384</c:v>
                </c:pt>
                <c:pt idx="2">
                  <c:v>25.75026696678228</c:v>
                </c:pt>
              </c:numCache>
            </c:numRef>
          </c:val>
        </c:ser>
        <c:ser>
          <c:idx val="1"/>
          <c:order val="1"/>
          <c:tx>
            <c:strRef>
              <c:strCache>
                <c:ptCount val="1"/>
                <c:pt idx="0">
                  <c:v>Screw Air Compressor</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22.6254112638655</c:v>
                </c:pt>
                <c:pt idx="1">
                  <c:v>23.030772755116764</c:v>
                </c:pt>
                <c:pt idx="2">
                  <c:v>23.75027451832565</c:v>
                </c:pt>
              </c:numCache>
            </c:numRef>
          </c:val>
        </c:ser>
        <c:ser>
          <c:idx val="2"/>
          <c:order val="2"/>
          <c:tx>
            <c:strRef>
              <c:strCache>
                <c:ptCount val="1"/>
                <c:pt idx="0">
                  <c:v>Centrifugal Air Compressor</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17.545274259949643</c:v>
                </c:pt>
                <c:pt idx="1">
                  <c:v>19.190286164246437</c:v>
                </c:pt>
                <c:pt idx="2">
                  <c:v>22.188299762684295</c:v>
                </c:pt>
              </c:numCache>
            </c:numRef>
          </c:val>
        </c:ser>
        <c:ser>
          <c:idx val="3"/>
          <c:order val="3"/>
          <c:tx>
            <c:strRef>
              <c:strCache>
                <c:ptCount val="1"/>
                <c:pt idx="0">
                  <c:v>Reciprocating (Piston) Air Compressor</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21.459975071207875</c:v>
                </c:pt>
                <c:pt idx="1">
                  <c:v>18.648708132909004</c:v>
                </c:pt>
                <c:pt idx="2">
                  <c:v>13.552985939420727</c:v>
                </c:pt>
              </c:numCache>
            </c:numRef>
          </c:val>
        </c:ser>
        <c:ser>
          <c:idx val="4"/>
          <c:order val="4"/>
          <c:tx>
            <c:strRef>
              <c:strCache>
                <c:ptCount val="1"/>
                <c:pt idx="0">
                  <c:v>Vane Air Compressor</c:v>
                </c:pt>
              </c:strCache>
            </c:strRef>
          </c:tx>
          <c:spPr>
            <a:solidFill>
              <a:srgbClr val="F47620"/>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8.721056833445953</c:v>
                </c:pt>
                <c:pt idx="1">
                  <c:v>9.043321930579994</c:v>
                </c:pt>
                <c:pt idx="2">
                  <c:v>9.624605452992007</c:v>
                </c:pt>
              </c:numCache>
            </c:numRef>
          </c:val>
        </c:ser>
        <c:ser>
          <c:idx val="5"/>
          <c:order val="5"/>
          <c:tx>
            <c:strRef>
              <c:strCache>
                <c:ptCount val="1"/>
                <c:pt idx="0">
                  <c:v>Axial Air Compressor</c:v>
                </c:pt>
              </c:strCache>
            </c:strRef>
          </c:tx>
          <c:spPr>
            <a:solidFill>
              <a:srgbClr val="79C3EC"/>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8.622208636179002</c:v>
                </c:pt>
                <c:pt idx="1">
                  <c:v>7.382450218573415</c:v>
                </c:pt>
                <c:pt idx="2">
                  <c:v>5.13356735979503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Up to 500 HP</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30.787776154026307</c:v>
                </c:pt>
                <c:pt idx="1">
                  <c:v>34.28862377904826</c:v>
                </c:pt>
                <c:pt idx="2">
                  <c:v>29.488716216216215</c:v>
                </c:pt>
                <c:pt idx="3">
                  <c:v>28.125117966118513</c:v>
                </c:pt>
                <c:pt idx="4">
                  <c:v>28.687942492170386</c:v>
                </c:pt>
                <c:pt idx="5">
                  <c:v>33.783148655268164</c:v>
                </c:pt>
                <c:pt idx="6">
                  <c:v>31.254391120207213</c:v>
                </c:pt>
              </c:numCache>
            </c:numRef>
          </c:val>
        </c:ser>
        <c:ser>
          <c:idx val="1"/>
          <c:order val="1"/>
          <c:tx>
            <c:strRef>
              <c:strCache>
                <c:ptCount val="1"/>
                <c:pt idx="0">
                  <c:v>Above 500 to 2,000 HP</c:v>
                </c:pt>
              </c:strCache>
            </c:strRef>
          </c:tx>
          <c:spPr>
            <a:solidFill>
              <a:srgbClr val="0081E2"/>
            </a:solidFill>
            <a:ln>
              <a:noFill/>
            </a:ln>
          </c:spPr>
          <c:dLbls>
            <c:dLbl>
              <c:idx val="0"/>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8.73561805409106</c:v>
                </c:pt>
                <c:pt idx="1">
                  <c:v>7.6714831091262</c:v>
                </c:pt>
                <c:pt idx="2">
                  <c:v>8.066621621621621</c:v>
                </c:pt>
                <c:pt idx="3">
                  <c:v>8.594512566694673</c:v>
                </c:pt>
                <c:pt idx="4">
                  <c:v>7.657758318236153</c:v>
                </c:pt>
                <c:pt idx="5">
                  <c:v>6.816878424389272</c:v>
                </c:pt>
                <c:pt idx="6">
                  <c:v>7.814849924205072</c:v>
                </c:pt>
              </c:numCache>
            </c:numRef>
          </c:val>
        </c:ser>
        <c:ser>
          <c:idx val="2"/>
          <c:order val="2"/>
          <c:tx>
            <c:strRef>
              <c:strCache>
                <c:ptCount val="1"/>
                <c:pt idx="0">
                  <c:v>Above 2,000 to 5,000 HP</c:v>
                </c:pt>
              </c:strCache>
            </c:strRef>
          </c:tx>
          <c:spPr>
            <a:solidFill>
              <a:srgbClr val="0E2A5C"/>
            </a:solidFill>
            <a:ln>
              <a:noFill/>
            </a:ln>
          </c:spPr>
          <c:dLbls>
            <c:dLbl>
              <c:idx val="0"/>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23.627456071282097</c:v>
                </c:pt>
                <c:pt idx="1">
                  <c:v>22.07667841141664</c:v>
                </c:pt>
                <c:pt idx="2">
                  <c:v>23.53472972972973</c:v>
                </c:pt>
                <c:pt idx="3">
                  <c:v>22.912067111531503</c:v>
                </c:pt>
                <c:pt idx="4">
                  <c:v>26.63691040466577</c:v>
                </c:pt>
                <c:pt idx="5">
                  <c:v>22.617291424609736</c:v>
                </c:pt>
                <c:pt idx="6">
                  <c:v>27.359648425491905</c:v>
                </c:pt>
              </c:numCache>
            </c:numRef>
          </c:val>
        </c:ser>
        <c:ser>
          <c:idx val="3"/>
          <c:order val="3"/>
          <c:tx>
            <c:strRef>
              <c:strCache>
                <c:ptCount val="1"/>
                <c:pt idx="0">
                  <c:v>Above 5,000 to 12,000 HP</c:v>
                </c:pt>
              </c:strCache>
            </c:strRef>
          </c:tx>
          <c:spPr>
            <a:solidFill>
              <a:srgbClr val="00ACAC"/>
            </a:solidFill>
            <a:ln>
              <a:noFill/>
            </a:ln>
          </c:spPr>
          <c:dLbls>
            <c:dLbl>
              <c:idx val="0"/>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6.566867769286934</c:v>
                </c:pt>
                <c:pt idx="1">
                  <c:v>7.96919609638217</c:v>
                </c:pt>
                <c:pt idx="2">
                  <c:v>6.595202702702703</c:v>
                </c:pt>
                <c:pt idx="3">
                  <c:v>8.091100582092015</c:v>
                </c:pt>
                <c:pt idx="4">
                  <c:v>6.7712553625513605</c:v>
                </c:pt>
                <c:pt idx="5">
                  <c:v>7.075836509758246</c:v>
                </c:pt>
                <c:pt idx="6">
                  <c:v>6.636670347281223</c:v>
                </c:pt>
              </c:numCache>
            </c:numRef>
          </c:val>
        </c:ser>
        <c:ser>
          <c:idx val="4"/>
          <c:order val="4"/>
          <c:tx>
            <c:strRef>
              <c:strCache>
                <c:ptCount val="1"/>
                <c:pt idx="0">
                  <c:v>Above 12,000 to 20,000 HP</c:v>
                </c:pt>
              </c:strCache>
            </c:strRef>
          </c:tx>
          <c:spPr>
            <a:solidFill>
              <a:srgbClr val="F47620"/>
            </a:solidFill>
            <a:ln>
              <a:noFill/>
            </a:ln>
          </c:spPr>
          <c:dLbls>
            <c:dLbl>
              <c:idx val="0"/>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5.563933359544143</c:v>
                </c:pt>
                <c:pt idx="1">
                  <c:v>5.627982307179246</c:v>
                </c:pt>
                <c:pt idx="2">
                  <c:v>5.424121621621622</c:v>
                </c:pt>
                <c:pt idx="3">
                  <c:v>5.3533698673278876</c:v>
                </c:pt>
                <c:pt idx="4">
                  <c:v>4.801031995467349</c:v>
                </c:pt>
                <c:pt idx="5">
                  <c:v>5.05524746340879</c:v>
                </c:pt>
                <c:pt idx="6">
                  <c:v>4.611796254779399</c:v>
                </c:pt>
              </c:numCache>
            </c:numRef>
          </c:val>
        </c:ser>
        <c:ser>
          <c:idx val="5"/>
          <c:order val="5"/>
          <c:tx>
            <c:strRef>
              <c:strCache>
                <c:ptCount val="1"/>
                <c:pt idx="0">
                  <c:v>Above 20,000 HP</c:v>
                </c:pt>
              </c:strCache>
            </c:strRef>
          </c:tx>
          <c:spPr>
            <a:solidFill>
              <a:srgbClr val="79C3EC"/>
            </a:solidFill>
            <a:ln>
              <a:noFill/>
            </a:ln>
          </c:spPr>
          <c:dLbls>
            <c:dLbl>
              <c:idx val="0"/>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24.718348591769452</c:v>
                </c:pt>
                <c:pt idx="1">
                  <c:v>22.366036296847486</c:v>
                </c:pt>
                <c:pt idx="2">
                  <c:v>26.890608108108104</c:v>
                </c:pt>
                <c:pt idx="3">
                  <c:v>26.923831906235403</c:v>
                </c:pt>
                <c:pt idx="4">
                  <c:v>25.445101426908973</c:v>
                </c:pt>
                <c:pt idx="5">
                  <c:v>24.651597522565787</c:v>
                </c:pt>
                <c:pt idx="6">
                  <c:v>22.322643928035177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2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Up to 500 HP</c:v>
                </c:pt>
              </c:strCache>
            </c:strRef>
          </c:tx>
          <c:spPr>
            <a:solidFill>
              <a:srgbClr val="2A5F8F"/>
            </a:solidFill>
          </c:spPr>
          <c:invertIfNegative val="0"/>
          <c:xVal>
            <c:numRef>
              <c:numCache>
                <c:formatCode>General</c:formatCode>
                <c:ptCount val="1"/>
                <c:pt idx="0">
                  <c:v>123.19264359406743</c:v>
                </c:pt>
              </c:numCache>
            </c:numRef>
          </c:xVal>
          <c:yVal>
            <c:numRef>
              <c:numCache>
                <c:formatCode>General</c:formatCode>
                <c:ptCount val="1"/>
                <c:pt idx="0">
                  <c:v>166.69471254079932</c:v>
                </c:pt>
              </c:numCache>
            </c:numRef>
          </c:yVal>
          <c:bubbleSize>
            <c:numRef>
              <c:numCache>
                <c:formatCode>General</c:formatCode>
                <c:ptCount val="1"/>
                <c:pt idx="0">
                  <c:v>5501.562</c:v>
                </c:pt>
              </c:numCache>
            </c:numRef>
          </c:bubbleSize>
          <c:bubble3D val="0"/>
        </c:ser>
        <c:ser>
          <c:idx val="1"/>
          <c:order val="1"/>
          <c:tx>
            <c:strRef>
              <c:strCache>
                <c:ptCount val="1"/>
                <c:pt idx="0">
                  <c:v>Above 500 to 2,000 HP</c:v>
                </c:pt>
              </c:strCache>
            </c:strRef>
          </c:tx>
          <c:spPr>
            <a:solidFill>
              <a:srgbClr val="0081E2"/>
            </a:solidFill>
          </c:spPr>
          <c:invertIfNegative val="0"/>
          <c:xVal>
            <c:numRef>
              <c:numCache>
                <c:formatCode>General</c:formatCode>
                <c:ptCount val="1"/>
                <c:pt idx="0">
                  <c:v>98.63350085414162</c:v>
                </c:pt>
              </c:numCache>
            </c:numRef>
          </c:xVal>
          <c:yVal>
            <c:numRef>
              <c:numCache>
                <c:formatCode>General</c:formatCode>
                <c:ptCount val="1"/>
                <c:pt idx="0">
                  <c:v>46.93772907685588</c:v>
                </c:pt>
              </c:numCache>
            </c:numRef>
          </c:yVal>
          <c:bubbleSize>
            <c:numRef>
              <c:numCache>
                <c:formatCode>General</c:formatCode>
                <c:ptCount val="1"/>
                <c:pt idx="0">
                  <c:v>1379.165</c:v>
                </c:pt>
              </c:numCache>
            </c:numRef>
          </c:bubbleSize>
          <c:bubble3D val="0"/>
        </c:ser>
        <c:ser>
          <c:idx val="2"/>
          <c:order val="2"/>
          <c:tx>
            <c:strRef>
              <c:strCache>
                <c:ptCount val="1"/>
                <c:pt idx="0">
                  <c:v>Above 2,000 to 5,000 HP</c:v>
                </c:pt>
              </c:strCache>
            </c:strRef>
          </c:tx>
          <c:spPr>
            <a:solidFill>
              <a:srgbClr val="0E2A5C"/>
            </a:solidFill>
          </c:spPr>
          <c:invertIfNegative val="0"/>
          <c:xVal>
            <c:numRef>
              <c:numCache>
                <c:formatCode>General</c:formatCode>
                <c:ptCount val="1"/>
                <c:pt idx="0">
                  <c:v>67.44807329376809</c:v>
                </c:pt>
              </c:numCache>
            </c:numRef>
          </c:xVal>
          <c:yVal>
            <c:numRef>
              <c:numCache>
                <c:formatCode>General</c:formatCode>
                <c:ptCount val="1"/>
                <c:pt idx="0">
                  <c:v>176.00330055076154</c:v>
                </c:pt>
              </c:numCache>
            </c:numRef>
          </c:yVal>
          <c:bubbleSize>
            <c:numRef>
              <c:numCache>
                <c:formatCode>General</c:formatCode>
                <c:ptCount val="1"/>
                <c:pt idx="0">
                  <c:v>4453.184</c:v>
                </c:pt>
              </c:numCache>
            </c:numRef>
          </c:bubbleSize>
          <c:bubble3D val="0"/>
        </c:ser>
        <c:ser>
          <c:idx val="3"/>
          <c:order val="3"/>
          <c:tx>
            <c:strRef>
              <c:strCache>
                <c:ptCount val="1"/>
                <c:pt idx="0">
                  <c:v>Above 5,000 to 12,000 HP</c:v>
                </c:pt>
              </c:strCache>
            </c:strRef>
          </c:tx>
          <c:spPr>
            <a:solidFill>
              <a:srgbClr val="00ACAC"/>
            </a:solidFill>
          </c:spPr>
          <c:invertIfNegative val="0"/>
          <c:xVal>
            <c:numRef>
              <c:numCache>
                <c:formatCode>General</c:formatCode>
                <c:ptCount val="1"/>
                <c:pt idx="0">
                  <c:v>68.38516165806215</c:v>
                </c:pt>
              </c:numCache>
            </c:numRef>
          </c:xVal>
          <c:yVal>
            <c:numRef>
              <c:numCache>
                <c:formatCode>General</c:formatCode>
                <c:ptCount val="1"/>
                <c:pt idx="0">
                  <c:v>48.71097694596119</c:v>
                </c:pt>
              </c:numCache>
            </c:numRef>
          </c:yVal>
          <c:bubbleSize>
            <c:numRef>
              <c:numCache>
                <c:formatCode>General</c:formatCode>
                <c:ptCount val="1"/>
                <c:pt idx="0">
                  <c:v>1238.062</c:v>
                </c:pt>
              </c:numCache>
            </c:numRef>
          </c:bubbleSize>
          <c:bubble3D val="0"/>
        </c:ser>
        <c:ser>
          <c:idx val="4"/>
          <c:order val="4"/>
          <c:tx>
            <c:strRef>
              <c:strCache>
                <c:ptCount val="1"/>
                <c:pt idx="0">
                  <c:v>Above 12,000 to 20,000 HP</c:v>
                </c:pt>
              </c:strCache>
            </c:strRef>
          </c:tx>
          <c:spPr>
            <a:solidFill>
              <a:srgbClr val="F47620"/>
            </a:solidFill>
          </c:spPr>
          <c:invertIfNegative val="0"/>
          <c:xVal>
            <c:numRef>
              <c:numCache>
                <c:formatCode>General</c:formatCode>
                <c:ptCount val="1"/>
                <c:pt idx="0">
                  <c:v>108.12437241739809</c:v>
                </c:pt>
              </c:numCache>
            </c:numRef>
          </c:xVal>
          <c:yVal>
            <c:numRef>
              <c:numCache>
                <c:formatCode>General</c:formatCode>
                <c:ptCount val="1"/>
                <c:pt idx="0">
                  <c:v>28.791910898340454</c:v>
                </c:pt>
              </c:numCache>
            </c:numRef>
          </c:yVal>
          <c:bubbleSize>
            <c:numRef>
              <c:numCache>
                <c:formatCode>General</c:formatCode>
                <c:ptCount val="1"/>
                <c:pt idx="0">
                  <c:v>884.99</c:v>
                </c:pt>
              </c:numCache>
            </c:numRef>
          </c:bubbleSize>
          <c:bubble3D val="0"/>
        </c:ser>
        <c:ser>
          <c:idx val="5"/>
          <c:order val="5"/>
          <c:tx>
            <c:strRef>
              <c:strCache>
                <c:ptCount val="1"/>
                <c:pt idx="0">
                  <c:v>Above 20,000 HP</c:v>
                </c:pt>
              </c:strCache>
            </c:strRef>
          </c:tx>
          <c:spPr>
            <a:solidFill>
              <a:srgbClr val="79C3EC"/>
            </a:solidFill>
          </c:spPr>
          <c:invertIfNegative val="0"/>
          <c:xVal>
            <c:numRef>
              <c:numCache>
                <c:formatCode>General</c:formatCode>
                <c:ptCount val="1"/>
                <c:pt idx="0">
                  <c:v>118.43421914207168</c:v>
                </c:pt>
              </c:numCache>
            </c:numRef>
          </c:xVal>
          <c:yVal>
            <c:numRef>
              <c:numCache>
                <c:formatCode>General</c:formatCode>
                <c:ptCount val="1"/>
                <c:pt idx="0">
                  <c:v>132.86136998728168</c:v>
                </c:pt>
              </c:numCache>
            </c:numRef>
          </c:yVal>
          <c:bubbleSize>
            <c:numRef>
              <c:numCache>
                <c:formatCode>General</c:formatCode>
                <c:ptCount val="1"/>
                <c:pt idx="0">
                  <c:v>4287.754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40.0"/>
          <c:min val="5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3028.287</c:v>
                </c:pt>
                <c:pt idx="2">
                  <c:v>3420.751</c:v>
                </c:pt>
                <c:pt idx="3">
                  <c:v>3858.674</c:v>
                </c:pt>
                <c:pt idx="4">
                  <c:v>4347.359</c:v>
                </c:pt>
                <c:pt idx="5">
                  <c:v>4892.77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3028.287</c:v>
                </c:pt>
                <c:pt idx="1">
                  <c:v>392.4640000000004</c:v>
                </c:pt>
                <c:pt idx="2">
                  <c:v>437.9229999999998</c:v>
                </c:pt>
                <c:pt idx="3">
                  <c:v>488.6850000000004</c:v>
                </c:pt>
                <c:pt idx="4">
                  <c:v>545.4110000000001</c:v>
                </c:pt>
                <c:pt idx="5">
                  <c:v>608.7919999999995</c:v>
                </c:pt>
                <c:pt idx="6">
                  <c:v>5501.562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852.702</c:v>
                </c:pt>
                <c:pt idx="2">
                  <c:v>938.139</c:v>
                </c:pt>
                <c:pt idx="3">
                  <c:v>1032.486</c:v>
                </c:pt>
                <c:pt idx="4">
                  <c:v>1136.703</c:v>
                </c:pt>
                <c:pt idx="5">
                  <c:v>1251.866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852.702</c:v>
                </c:pt>
                <c:pt idx="1">
                  <c:v>85.43700000000001</c:v>
                </c:pt>
                <c:pt idx="2">
                  <c:v>94.3470000000001</c:v>
                </c:pt>
                <c:pt idx="3">
                  <c:v>104.21699999999987</c:v>
                </c:pt>
                <c:pt idx="4">
                  <c:v>115.16300000000001</c:v>
                </c:pt>
                <c:pt idx="5">
                  <c:v>127.29899999999998</c:v>
                </c:pt>
                <c:pt idx="6">
                  <c:v>1379.165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3197.393</c:v>
                </c:pt>
                <c:pt idx="2">
                  <c:v>3410.535</c:v>
                </c:pt>
                <c:pt idx="3">
                  <c:v>3641.106</c:v>
                </c:pt>
                <c:pt idx="4">
                  <c:v>3890.62</c:v>
                </c:pt>
                <c:pt idx="5">
                  <c:v>4160.711</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3197.393</c:v>
                </c:pt>
                <c:pt idx="1">
                  <c:v>213.14199999999983</c:v>
                </c:pt>
                <c:pt idx="2">
                  <c:v>230.57100000000037</c:v>
                </c:pt>
                <c:pt idx="3">
                  <c:v>249.51399999999967</c:v>
                </c:pt>
                <c:pt idx="4">
                  <c:v>270.09100000000035</c:v>
                </c:pt>
                <c:pt idx="5">
                  <c:v>292.47299999999996</c:v>
                </c:pt>
                <c:pt idx="6">
                  <c:v>4453.184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884.916</c:v>
                </c:pt>
                <c:pt idx="2">
                  <c:v>944.746</c:v>
                </c:pt>
                <c:pt idx="3">
                  <c:v>1009.521</c:v>
                </c:pt>
                <c:pt idx="4">
                  <c:v>1079.679</c:v>
                </c:pt>
                <c:pt idx="5">
                  <c:v>1155.687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884.916</c:v>
                </c:pt>
                <c:pt idx="1">
                  <c:v>59.82999999999993</c:v>
                </c:pt>
                <c:pt idx="2">
                  <c:v>64.77499999999998</c:v>
                </c:pt>
                <c:pt idx="3">
                  <c:v>70.15800000000013</c:v>
                </c:pt>
                <c:pt idx="4">
                  <c:v>76.00799999999981</c:v>
                </c:pt>
                <c:pt idx="5">
                  <c:v>82.375</c:v>
                </c:pt>
                <c:pt idx="6">
                  <c:v>1238.062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523.053</c:v>
                </c:pt>
                <c:pt idx="2">
                  <c:v>581.157</c:v>
                </c:pt>
                <c:pt idx="3">
                  <c:v>645.645</c:v>
                </c:pt>
                <c:pt idx="4">
                  <c:v>717.231</c:v>
                </c:pt>
                <c:pt idx="5">
                  <c:v>796.711</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523.053</c:v>
                </c:pt>
                <c:pt idx="1">
                  <c:v>58.10400000000004</c:v>
                </c:pt>
                <c:pt idx="2">
                  <c:v>64.48799999999994</c:v>
                </c:pt>
                <c:pt idx="3">
                  <c:v>71.58600000000001</c:v>
                </c:pt>
                <c:pt idx="4">
                  <c:v>79.48000000000002</c:v>
                </c:pt>
                <c:pt idx="5">
                  <c:v>88.279</c:v>
                </c:pt>
                <c:pt idx="6">
                  <c:v>884.99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2413.648</c:v>
                </c:pt>
                <c:pt idx="2">
                  <c:v>2712.304</c:v>
                </c:pt>
                <c:pt idx="3">
                  <c:v>3044.891</c:v>
                </c:pt>
                <c:pt idx="4">
                  <c:v>3415.331</c:v>
                </c:pt>
                <c:pt idx="5">
                  <c:v>3827.992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2413.648</c:v>
                </c:pt>
                <c:pt idx="1">
                  <c:v>298.65599999999995</c:v>
                </c:pt>
                <c:pt idx="2">
                  <c:v>332.587</c:v>
                </c:pt>
                <c:pt idx="3">
                  <c:v>370.44000000000005</c:v>
                </c:pt>
                <c:pt idx="4">
                  <c:v>412.66100000000006</c:v>
                </c:pt>
                <c:pt idx="5">
                  <c:v>459.7619999999997</c:v>
                </c:pt>
                <c:pt idx="6">
                  <c:v>4287.754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Up to 500 HP</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25.856417659125995</c:v>
                </c:pt>
                <c:pt idx="1">
                  <c:v>27.78245209013322</c:v>
                </c:pt>
                <c:pt idx="2">
                  <c:v>31.003943314508764</c:v>
                </c:pt>
              </c:numCache>
            </c:numRef>
          </c:val>
        </c:ser>
        <c:ser>
          <c:idx val="1"/>
          <c:order val="1"/>
          <c:tx>
            <c:strRef>
              <c:strCache>
                <c:ptCount val="1"/>
                <c:pt idx="0">
                  <c:v>2,000 to 5,000 HP</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31.88000354425029</c:v>
                </c:pt>
                <c:pt idx="1">
                  <c:v>29.33388342512692</c:v>
                </c:pt>
                <c:pt idx="2">
                  <c:v>25.095829930677393</c:v>
                </c:pt>
              </c:numCache>
            </c:numRef>
          </c:val>
        </c:ser>
        <c:ser>
          <c:idx val="2"/>
          <c:order val="2"/>
          <c:tx>
            <c:strRef>
              <c:strCache>
                <c:ptCount val="1"/>
                <c:pt idx="0">
                  <c:v>20,000 HP</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20.925395215913458</c:v>
                </c:pt>
                <c:pt idx="1">
                  <c:v>22.143561664546944</c:v>
                </c:pt>
                <c:pt idx="2">
                  <c:v>24.163552453386547</c:v>
                </c:pt>
              </c:numCache>
            </c:numRef>
          </c:val>
        </c:ser>
        <c:ser>
          <c:idx val="3"/>
          <c:order val="3"/>
          <c:tx>
            <c:strRef>
              <c:strCache>
                <c:ptCount val="1"/>
                <c:pt idx="0">
                  <c:v>500 to 2,000 HP</c:v>
                </c:pt>
              </c:strCache>
            </c:strRef>
          </c:tx>
          <c:spPr>
            <a:solidFill>
              <a:srgbClr val="00ACAC"/>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7.8481560521274325</c:v>
                </c:pt>
                <c:pt idx="1">
                  <c:v>7.822954846142646</c:v>
                </c:pt>
                <c:pt idx="2">
                  <c:v>7.772256948363843</c:v>
                </c:pt>
              </c:numCache>
            </c:numRef>
          </c:val>
        </c:ser>
        <c:ser>
          <c:idx val="4"/>
          <c:order val="4"/>
          <c:tx>
            <c:strRef>
              <c:strCache>
                <c:ptCount val="1"/>
                <c:pt idx="0">
                  <c:v>5,000 to 12,000 HP</c:v>
                </c:pt>
              </c:strCache>
            </c:strRef>
          </c:tx>
          <c:spPr>
            <a:solidFill>
              <a:srgbClr val="F4762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8.803744776694824</c:v>
                </c:pt>
                <c:pt idx="1">
                  <c:v>8.118496157660198</c:v>
                </c:pt>
                <c:pt idx="2">
                  <c:v>6.97707379610506</c:v>
                </c:pt>
              </c:numCache>
            </c:numRef>
          </c:val>
        </c:ser>
        <c:ser>
          <c:idx val="5"/>
          <c:order val="5"/>
          <c:tx>
            <c:strRef>
              <c:strCache>
                <c:ptCount val="1"/>
                <c:pt idx="0">
                  <c:v>12,000 to 20,000 HP</c:v>
                </c:pt>
              </c:strCache>
            </c:strRef>
          </c:tx>
          <c:spPr>
            <a:solidFill>
              <a:srgbClr val="79C3EC"/>
            </a:solidFill>
            <a:ln>
              <a:noFill/>
            </a:ln>
          </c:spPr>
          <c:dLbls>
            <c:dLbl>
              <c:idx val="0"/>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4.686282751887993</c:v>
                </c:pt>
                <c:pt idx="1">
                  <c:v>4.798651816390075</c:v>
                </c:pt>
                <c:pt idx="2">
                  <c:v>4.98734355695839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Single-Stage</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16.998699703591765</c:v>
                </c:pt>
                <c:pt idx="1">
                  <c:v>15.817778799750345</c:v>
                </c:pt>
                <c:pt idx="2">
                  <c:v>17.1802027027027</c:v>
                </c:pt>
                <c:pt idx="3">
                  <c:v>16.270372411621132</c:v>
                </c:pt>
                <c:pt idx="4">
                  <c:v>18.798317264240097</c:v>
                </c:pt>
                <c:pt idx="5">
                  <c:v>19.960472206843214</c:v>
                </c:pt>
                <c:pt idx="6">
                  <c:v>17.41554077080922</c:v>
                </c:pt>
              </c:numCache>
            </c:numRef>
          </c:val>
        </c:ser>
        <c:ser>
          <c:idx val="1"/>
          <c:order val="1"/>
          <c:tx>
            <c:strRef>
              <c:strCache>
                <c:ptCount val="1"/>
                <c:pt idx="0">
                  <c:v>Two-Stage</c:v>
                </c:pt>
              </c:strCache>
            </c:strRef>
          </c:tx>
          <c:spPr>
            <a:solidFill>
              <a:srgbClr val="0081E2"/>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61.96299188983829</c:v>
                </c:pt>
                <c:pt idx="1">
                  <c:v>62.81522656608172</c:v>
                </c:pt>
                <c:pt idx="2">
                  <c:v>59.93864864864865</c:v>
                </c:pt>
                <c:pt idx="3">
                  <c:v>64.92272747372928</c:v>
                </c:pt>
                <c:pt idx="4">
                  <c:v>61.91317498751053</c:v>
                </c:pt>
                <c:pt idx="5">
                  <c:v>61.41552883664516</c:v>
                </c:pt>
                <c:pt idx="6">
                  <c:v>65.81871617774841</c:v>
                </c:pt>
              </c:numCache>
            </c:numRef>
          </c:val>
        </c:ser>
        <c:ser>
          <c:idx val="2"/>
          <c:order val="2"/>
          <c:tx>
            <c:strRef>
              <c:strCache>
                <c:ptCount val="1"/>
                <c:pt idx="0">
                  <c:v>Multistage</c:v>
                </c:pt>
              </c:strCache>
            </c:strRef>
          </c:tx>
          <c:spPr>
            <a:solidFill>
              <a:srgbClr val="0E2A5C"/>
            </a:solidFill>
            <a:ln>
              <a:noFill/>
            </a:ln>
          </c:spPr>
          <c:dLbls>
            <c:dLbl>
              <c:idx val="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21.038308406569943</c:v>
                </c:pt>
                <c:pt idx="1">
                  <c:v>21.366994634167938</c:v>
                </c:pt>
                <c:pt idx="2">
                  <c:v>22.88114864864865</c:v>
                </c:pt>
                <c:pt idx="3">
                  <c:v>18.806900114649586</c:v>
                </c:pt>
                <c:pt idx="4">
                  <c:v>19.28850774824936</c:v>
                </c:pt>
                <c:pt idx="5">
                  <c:v>18.62399895651163</c:v>
                </c:pt>
                <c:pt idx="6">
                  <c:v>16.76574305144237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34.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Single-Stage</c:v>
                </c:pt>
              </c:strCache>
            </c:strRef>
          </c:tx>
          <c:spPr>
            <a:solidFill>
              <a:srgbClr val="2A5F8F"/>
            </a:solidFill>
          </c:spPr>
          <c:invertIfNegative val="0"/>
          <c:xVal>
            <c:numRef>
              <c:numCache>
                <c:formatCode>General</c:formatCode>
                <c:ptCount val="1"/>
                <c:pt idx="0">
                  <c:v>107.07464805385413</c:v>
                </c:pt>
              </c:numCache>
            </c:numRef>
          </c:xVal>
          <c:yVal>
            <c:numRef>
              <c:numCache>
                <c:formatCode>General</c:formatCode>
                <c:ptCount val="1"/>
                <c:pt idx="0">
                  <c:v>51.4742799517688</c:v>
                </c:pt>
              </c:numCache>
            </c:numRef>
          </c:yVal>
          <c:bubbleSize>
            <c:numRef>
              <c:numCache>
                <c:formatCode>General</c:formatCode>
                <c:ptCount val="1"/>
                <c:pt idx="0">
                  <c:v>3148.673</c:v>
                </c:pt>
              </c:numCache>
            </c:numRef>
          </c:bubbleSize>
          <c:bubble3D val="0"/>
        </c:ser>
        <c:ser>
          <c:idx val="1"/>
          <c:order val="1"/>
          <c:tx>
            <c:strRef>
              <c:strCache>
                <c:ptCount val="1"/>
                <c:pt idx="0">
                  <c:v>Two-Stage</c:v>
                </c:pt>
              </c:strCache>
            </c:strRef>
          </c:tx>
          <c:spPr>
            <a:solidFill>
              <a:srgbClr val="0081E2"/>
            </a:solidFill>
          </c:spPr>
          <c:invertIfNegative val="0"/>
          <c:xVal>
            <c:numRef>
              <c:numCache>
                <c:formatCode>General</c:formatCode>
                <c:ptCount val="1"/>
                <c:pt idx="0">
                  <c:v>104.44246387447322</c:v>
                </c:pt>
              </c:numCache>
            </c:numRef>
          </c:xVal>
          <c:yVal>
            <c:numRef>
              <c:numCache>
                <c:formatCode>General</c:formatCode>
                <c:ptCount val="1"/>
                <c:pt idx="0">
                  <c:v>186.5054207803138</c:v>
                </c:pt>
              </c:numCache>
            </c:numRef>
          </c:yVal>
          <c:bubbleSize>
            <c:numRef>
              <c:numCache>
                <c:formatCode>General</c:formatCode>
                <c:ptCount val="1"/>
                <c:pt idx="0">
                  <c:v>11266.949</c:v>
                </c:pt>
              </c:numCache>
            </c:numRef>
          </c:bubbleSize>
          <c:bubble3D val="0"/>
        </c:ser>
        <c:ser>
          <c:idx val="2"/>
          <c:order val="2"/>
          <c:tx>
            <c:strRef>
              <c:strCache>
                <c:ptCount val="1"/>
                <c:pt idx="0">
                  <c:v>Multistage</c:v>
                </c:pt>
              </c:strCache>
            </c:strRef>
          </c:tx>
          <c:spPr>
            <a:solidFill>
              <a:srgbClr val="0E2A5C"/>
            </a:solidFill>
          </c:spPr>
          <c:invertIfNegative val="0"/>
          <c:xVal>
            <c:numRef>
              <c:numCache>
                <c:formatCode>General</c:formatCode>
                <c:ptCount val="1"/>
                <c:pt idx="0">
                  <c:v>79.69120669135388</c:v>
                </c:pt>
              </c:numCache>
            </c:numRef>
          </c:xVal>
          <c:yVal>
            <c:numRef>
              <c:numCache>
                <c:formatCode>General</c:formatCode>
                <c:ptCount val="1"/>
                <c:pt idx="0">
                  <c:v>62.02029926791736</c:v>
                </c:pt>
              </c:numCache>
            </c:numRef>
          </c:yVal>
          <c:bubbleSize>
            <c:numRef>
              <c:numCache>
                <c:formatCode>General</c:formatCode>
                <c:ptCount val="1"/>
                <c:pt idx="0">
                  <c:v>3329.095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5.0"/>
          <c:min val="7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1870.232</c:v>
                </c:pt>
                <c:pt idx="2">
                  <c:v>2076.515</c:v>
                </c:pt>
                <c:pt idx="3">
                  <c:v>2304.87</c:v>
                </c:pt>
                <c:pt idx="4">
                  <c:v>2557.783</c:v>
                </c:pt>
                <c:pt idx="5">
                  <c:v>2838.026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1870.232</c:v>
                </c:pt>
                <c:pt idx="1">
                  <c:v>206.2829999999999</c:v>
                </c:pt>
                <c:pt idx="2">
                  <c:v>228.35500000000002</c:v>
                </c:pt>
                <c:pt idx="3">
                  <c:v>252.913</c:v>
                </c:pt>
                <c:pt idx="4">
                  <c:v>280.24299999999994</c:v>
                </c:pt>
                <c:pt idx="5">
                  <c:v>310.64699999999993</c:v>
                </c:pt>
                <c:pt idx="6">
                  <c:v>3148.673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6776.363</c:v>
                </c:pt>
                <c:pt idx="2">
                  <c:v>7501.865</c:v>
                </c:pt>
                <c:pt idx="3">
                  <c:v>8304.579</c:v>
                </c:pt>
                <c:pt idx="4">
                  <c:v>9193.105</c:v>
                </c:pt>
                <c:pt idx="5">
                  <c:v>10177.003</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6776.363</c:v>
                </c:pt>
                <c:pt idx="1">
                  <c:v>725.5019999999995</c:v>
                </c:pt>
                <c:pt idx="2">
                  <c:v>802.7139999999999</c:v>
                </c:pt>
                <c:pt idx="3">
                  <c:v>888.5259999999998</c:v>
                </c:pt>
                <c:pt idx="4">
                  <c:v>983.898000000001</c:v>
                </c:pt>
                <c:pt idx="5">
                  <c:v>1089.946</c:v>
                </c:pt>
                <c:pt idx="6">
                  <c:v>11266.949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2253.404</c:v>
                </c:pt>
                <c:pt idx="2">
                  <c:v>2429.252</c:v>
                </c:pt>
                <c:pt idx="3">
                  <c:v>2622.874</c:v>
                </c:pt>
                <c:pt idx="4">
                  <c:v>2836.035</c:v>
                </c:pt>
                <c:pt idx="5">
                  <c:v>3070.708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2253.404</c:v>
                </c:pt>
                <c:pt idx="1">
                  <c:v>175.84799999999996</c:v>
                </c:pt>
                <c:pt idx="2">
                  <c:v>193.62199999999984</c:v>
                </c:pt>
                <c:pt idx="3">
                  <c:v>213.16100000000006</c:v>
                </c:pt>
                <c:pt idx="4">
                  <c:v>234.67300000000023</c:v>
                </c:pt>
                <c:pt idx="5">
                  <c:v>258.3869999999997</c:v>
                </c:pt>
                <c:pt idx="6">
                  <c:v>3329.095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Two-Stage</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61.277942555968224</c:v>
                </c:pt>
                <c:pt idx="1">
                  <c:v>62.168473593437945</c:v>
                </c:pt>
                <c:pt idx="2">
                  <c:v>63.494667173333895</c:v>
                </c:pt>
              </c:numCache>
            </c:numRef>
          </c:val>
        </c:ser>
        <c:ser>
          <c:idx val="1"/>
          <c:order val="1"/>
          <c:tx>
            <c:strRef>
              <c:strCache>
                <c:ptCount val="1"/>
                <c:pt idx="0">
                  <c:v>Multistage</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21.954171136753146</c:v>
                </c:pt>
                <c:pt idx="1">
                  <c:v>20.67343308930579</c:v>
                </c:pt>
                <c:pt idx="2">
                  <c:v>18.76104871100508</c:v>
                </c:pt>
              </c:numCache>
            </c:numRef>
          </c:val>
        </c:ser>
        <c:ser>
          <c:idx val="2"/>
          <c:order val="2"/>
          <c:tx>
            <c:strRef>
              <c:strCache>
                <c:ptCount val="1"/>
                <c:pt idx="0">
                  <c:v>Single-Stage</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16.767886307278637</c:v>
                </c:pt>
                <c:pt idx="1">
                  <c:v>17.158093317256267</c:v>
                </c:pt>
                <c:pt idx="2">
                  <c:v>17.744284115661014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Automotive and Transportation</c:v>
                </c:pt>
              </c:strCache>
            </c:strRef>
          </c:tx>
          <c:spPr>
            <a:solidFill>
              <a:srgbClr val="2A5F8F"/>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9.3554578007717</c:v>
                </c:pt>
                <c:pt idx="1">
                  <c:v>10.23949863676159</c:v>
                </c:pt>
                <c:pt idx="2">
                  <c:v>9.885608108108107</c:v>
                </c:pt>
                <c:pt idx="3">
                  <c:v>11.95451118615404</c:v>
                </c:pt>
                <c:pt idx="4">
                  <c:v>9.965243046492441</c:v>
                </c:pt>
                <c:pt idx="5">
                  <c:v>10.718546658887764</c:v>
                </c:pt>
                <c:pt idx="6">
                  <c:v>9.334256014235997</c:v>
                </c:pt>
              </c:numCache>
            </c:numRef>
          </c:val>
        </c:ser>
        <c:ser>
          <c:idx val="1"/>
          <c:order val="1"/>
          <c:tx>
            <c:strRef>
              <c:strCache>
                <c:ptCount val="1"/>
                <c:pt idx="0">
                  <c:v>Oil and Gas</c:v>
                </c:pt>
              </c:strCache>
            </c:strRef>
          </c:tx>
          <c:spPr>
            <a:solidFill>
              <a:srgbClr val="0081E2"/>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11.786704760653265</c:v>
                </c:pt>
                <c:pt idx="1">
                  <c:v>12.798516362431464</c:v>
                </c:pt>
                <c:pt idx="2">
                  <c:v>11.241891891891893</c:v>
                </c:pt>
                <c:pt idx="3">
                  <c:v>11.11383743918341</c:v>
                </c:pt>
                <c:pt idx="4">
                  <c:v>10.906526583491974</c:v>
                </c:pt>
                <c:pt idx="5">
                  <c:v>12.534691380516684</c:v>
                </c:pt>
                <c:pt idx="6">
                  <c:v>14.092036194700988</c:v>
                </c:pt>
              </c:numCache>
            </c:numRef>
          </c:val>
        </c:ser>
        <c:ser>
          <c:idx val="2"/>
          <c:order val="2"/>
          <c:tx>
            <c:strRef>
              <c:strCache>
                <c:ptCount val="1"/>
                <c:pt idx="0">
                  <c:v>Food and Beverages</c:v>
                </c:pt>
              </c:strCache>
            </c:strRef>
          </c:tx>
          <c:spPr>
            <a:solidFill>
              <a:srgbClr val="0E2A5C"/>
            </a:solidFill>
            <a:ln>
              <a:noFill/>
            </a:ln>
          </c:spPr>
          <c:dLbls>
            <c:dLbl>
              <c:idx val="0"/>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4.6927241686633865</c:v>
                </c:pt>
                <c:pt idx="1">
                  <c:v>4.83631855646692</c:v>
                </c:pt>
                <c:pt idx="2">
                  <c:v>5.056554054054054</c:v>
                </c:pt>
                <c:pt idx="3">
                  <c:v>5.522000748511875</c:v>
                </c:pt>
                <c:pt idx="4">
                  <c:v>5.954737544688695</c:v>
                </c:pt>
                <c:pt idx="5">
                  <c:v>4.471120821350112</c:v>
                </c:pt>
                <c:pt idx="6">
                  <c:v>5.0300813273371325</c:v>
                </c:pt>
              </c:numCache>
            </c:numRef>
          </c:val>
        </c:ser>
        <c:ser>
          <c:idx val="3"/>
          <c:order val="3"/>
          <c:tx>
            <c:strRef>
              <c:strCache>
                <c:ptCount val="1"/>
                <c:pt idx="0">
                  <c:v>Pharmaceuticals</c:v>
                </c:pt>
              </c:strCache>
            </c:strRef>
          </c:tx>
          <c:spPr>
            <a:solidFill>
              <a:srgbClr val="00ACAC"/>
            </a:solidFill>
            <a:ln>
              <a:noFill/>
            </a:ln>
          </c:spPr>
          <c:dLbls>
            <c:dLbl>
              <c:idx val="0"/>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quot;;&quot;MMM&quot;;&quot;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8.716860722040714</c:v>
                </c:pt>
                <c:pt idx="1">
                  <c:v>8.180501620318465</c:v>
                </c:pt>
                <c:pt idx="2">
                  <c:v>10.312432432432432</c:v>
                </c:pt>
                <c:pt idx="3">
                  <c:v>9.68880672754707</c:v>
                </c:pt>
                <c:pt idx="4">
                  <c:v>8.293883092790868</c:v>
                </c:pt>
                <c:pt idx="5">
                  <c:v>8.21445812683913</c:v>
                </c:pt>
                <c:pt idx="6">
                  <c:v>8.564099288674903</c:v>
                </c:pt>
              </c:numCache>
            </c:numRef>
          </c:val>
        </c:ser>
        <c:ser>
          <c:idx val="4"/>
          <c:order val="4"/>
          <c:tx>
            <c:strRef>
              <c:strCache>
                <c:ptCount val="1"/>
                <c:pt idx="0">
                  <c:v>Mining and Metals</c:v>
                </c:pt>
              </c:strCache>
            </c:strRef>
          </c:tx>
          <c:spPr>
            <a:solidFill>
              <a:srgbClr val="F47620"/>
            </a:solidFill>
            <a:ln>
              <a:noFill/>
            </a:ln>
          </c:spPr>
          <c:dLbls>
            <c:dLbl>
              <c:idx val="0"/>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18.986870927301034</c:v>
                </c:pt>
                <c:pt idx="1">
                  <c:v>19.804233537235902</c:v>
                </c:pt>
                <c:pt idx="2">
                  <c:v>16.73668918918919</c:v>
                </c:pt>
                <c:pt idx="3">
                  <c:v>19.728626696420193</c:v>
                </c:pt>
                <c:pt idx="4">
                  <c:v>19.734998937889937</c:v>
                </c:pt>
                <c:pt idx="5">
                  <c:v>17.165312801943497</c:v>
                </c:pt>
                <c:pt idx="6">
                  <c:v>17.951917970849472</c:v>
                </c:pt>
              </c:numCache>
            </c:numRef>
          </c:val>
        </c:ser>
        <c:ser>
          <c:idx val="5"/>
          <c:order val="5"/>
          <c:tx>
            <c:strRef>
              <c:strCache>
                <c:ptCount val="1"/>
                <c:pt idx="0">
                  <c:v>Industrial Air Separation</c:v>
                </c:pt>
              </c:strCache>
            </c:strRef>
          </c:tx>
          <c:spPr>
            <a:solidFill>
              <a:srgbClr val="79C3EC"/>
            </a:solidFill>
            <a:ln>
              <a:noFill/>
            </a:ln>
          </c:spPr>
          <c:dLbls>
            <c:dLbl>
              <c:idx val="0"/>
              <c:numFmt formatCode="&quot;MMMM&quot;;&quot;MMMM&quot;;&quot;MMMM&quot;" sourceLinked="0"/>
              <c:spPr>
                <a:blipFill>
                  <a:blip r:embed="rId3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4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4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24.865122065722726</c:v>
                </c:pt>
                <c:pt idx="1">
                  <c:v>24.732958091666177</c:v>
                </c:pt>
                <c:pt idx="2">
                  <c:v>26.51486486486487</c:v>
                </c:pt>
                <c:pt idx="3">
                  <c:v>23.415101604554923</c:v>
                </c:pt>
                <c:pt idx="4">
                  <c:v>25.39738930769936</c:v>
                </c:pt>
                <c:pt idx="5">
                  <c:v>28.416414242198474</c:v>
                </c:pt>
                <c:pt idx="6">
                  <c:v>26.19197613773187</c:v>
                </c:pt>
              </c:numCache>
            </c:numRef>
          </c:val>
        </c:ser>
        <c:ser>
          <c:idx val="6"/>
          <c:order val="6"/>
          <c:tx>
            <c:strRef>
              <c:strCache>
                <c:ptCount val="1"/>
                <c:pt idx="0">
                  <c:v>Other Manufacturing</c:v>
                </c:pt>
              </c:strCache>
            </c:strRef>
          </c:tx>
          <c:spPr>
            <a:solidFill>
              <a:srgbClr val="586272"/>
            </a:solidFill>
            <a:ln>
              <a:noFill/>
            </a:ln>
          </c:spPr>
          <c:dLbls>
            <c:dLbl>
              <c:idx val="0"/>
              <c:numFmt formatCode="&quot;MMMM&quot;;&quot;MMMM&quot;;&quot;MMMM&quot;" sourceLinked="0"/>
              <c:spPr>
                <a:blipFill>
                  <a:blip r:embed="rId4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4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4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4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4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21.59625955484718</c:v>
                </c:pt>
                <c:pt idx="1">
                  <c:v>19.407973195119478</c:v>
                </c:pt>
                <c:pt idx="2">
                  <c:v>20.25195945945946</c:v>
                </c:pt>
                <c:pt idx="3">
                  <c:v>18.577115597628488</c:v>
                </c:pt>
                <c:pt idx="4">
                  <c:v>19.747221486946724</c:v>
                </c:pt>
                <c:pt idx="5">
                  <c:v>18.47945596826434</c:v>
                </c:pt>
                <c:pt idx="6">
                  <c:v>18.835633066469633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Automotive and Transportation</c:v>
                </c:pt>
              </c:strCache>
            </c:strRef>
          </c:tx>
          <c:spPr>
            <a:solidFill>
              <a:srgbClr val="2A5F8F"/>
            </a:solidFill>
          </c:spPr>
          <c:invertIfNegative val="0"/>
          <c:xVal>
            <c:numRef>
              <c:numCache>
                <c:formatCode>General</c:formatCode>
                <c:ptCount val="1"/>
                <c:pt idx="0">
                  <c:v>31.458841411986516</c:v>
                </c:pt>
              </c:numCache>
            </c:numRef>
          </c:xVal>
          <c:yVal>
            <c:numRef>
              <c:numCache>
                <c:formatCode>General</c:formatCode>
                <c:ptCount val="1"/>
                <c:pt idx="0">
                  <c:v>97.93065118629828</c:v>
                </c:pt>
              </c:numCache>
            </c:numRef>
          </c:yVal>
          <c:bubbleSize>
            <c:numRef>
              <c:numCache>
                <c:formatCode>General</c:formatCode>
                <c:ptCount val="1"/>
                <c:pt idx="0">
                  <c:v>1782.157</c:v>
                </c:pt>
              </c:numCache>
            </c:numRef>
          </c:bubbleSize>
          <c:bubble3D val="0"/>
        </c:ser>
        <c:ser>
          <c:idx val="1"/>
          <c:order val="1"/>
          <c:tx>
            <c:strRef>
              <c:strCache>
                <c:ptCount val="1"/>
                <c:pt idx="0">
                  <c:v>Oil and Gas</c:v>
                </c:pt>
              </c:strCache>
            </c:strRef>
          </c:tx>
          <c:spPr>
            <a:solidFill>
              <a:srgbClr val="0081E2"/>
            </a:solidFill>
          </c:spPr>
          <c:invertIfNegative val="0"/>
          <c:xVal>
            <c:numRef>
              <c:numCache>
                <c:formatCode>General</c:formatCode>
                <c:ptCount val="1"/>
                <c:pt idx="0">
                  <c:v>128.9151527311518</c:v>
                </c:pt>
              </c:numCache>
            </c:numRef>
          </c:xVal>
          <c:yVal>
            <c:numRef>
              <c:numCache>
                <c:formatCode>General</c:formatCode>
                <c:ptCount val="1"/>
                <c:pt idx="0">
                  <c:v>76.83624558130694</c:v>
                </c:pt>
              </c:numCache>
            </c:numRef>
          </c:yVal>
          <c:bubbleSize>
            <c:numRef>
              <c:numCache>
                <c:formatCode>General</c:formatCode>
                <c:ptCount val="1"/>
                <c:pt idx="0">
                  <c:v>2232.851</c:v>
                </c:pt>
              </c:numCache>
            </c:numRef>
          </c:bubbleSize>
          <c:bubble3D val="0"/>
        </c:ser>
        <c:ser>
          <c:idx val="2"/>
          <c:order val="2"/>
          <c:tx>
            <c:strRef>
              <c:strCache>
                <c:ptCount val="1"/>
                <c:pt idx="0">
                  <c:v>Food and Beverages</c:v>
                </c:pt>
              </c:strCache>
            </c:strRef>
          </c:tx>
          <c:spPr>
            <a:solidFill>
              <a:srgbClr val="0E2A5C"/>
            </a:solidFill>
          </c:spPr>
          <c:invertIfNegative val="0"/>
          <c:xVal>
            <c:numRef>
              <c:numCache>
                <c:formatCode>General</c:formatCode>
                <c:ptCount val="1"/>
                <c:pt idx="0">
                  <c:v>50.69886558947769</c:v>
                </c:pt>
              </c:numCache>
            </c:numRef>
          </c:xVal>
          <c:yVal>
            <c:numRef>
              <c:numCache>
                <c:formatCode>General</c:formatCode>
                <c:ptCount val="1"/>
                <c:pt idx="0">
                  <c:v>45.28859131087993</c:v>
                </c:pt>
              </c:numCache>
            </c:numRef>
          </c:yVal>
          <c:bubbleSize>
            <c:numRef>
              <c:numCache>
                <c:formatCode>General</c:formatCode>
                <c:ptCount val="1"/>
                <c:pt idx="0">
                  <c:v>905.537</c:v>
                </c:pt>
              </c:numCache>
            </c:numRef>
          </c:bubbleSize>
          <c:bubble3D val="0"/>
        </c:ser>
        <c:ser>
          <c:idx val="3"/>
          <c:order val="3"/>
          <c:tx>
            <c:strRef>
              <c:strCache>
                <c:ptCount val="1"/>
                <c:pt idx="0">
                  <c:v>Pharmaceuticals</c:v>
                </c:pt>
              </c:strCache>
            </c:strRef>
          </c:tx>
          <c:spPr>
            <a:solidFill>
              <a:srgbClr val="00ACAC"/>
            </a:solidFill>
          </c:spPr>
          <c:invertIfNegative val="0"/>
          <c:xVal>
            <c:numRef>
              <c:numCache>
                <c:formatCode>General</c:formatCode>
                <c:ptCount val="1"/>
                <c:pt idx="0">
                  <c:v>71.5528620634149</c:v>
                </c:pt>
              </c:numCache>
            </c:numRef>
          </c:xVal>
          <c:yVal>
            <c:numRef>
              <c:numCache>
                <c:formatCode>General</c:formatCode>
                <c:ptCount val="1"/>
                <c:pt idx="0">
                  <c:v>69.8550614545928</c:v>
                </c:pt>
              </c:numCache>
            </c:numRef>
          </c:yVal>
          <c:bubbleSize>
            <c:numRef>
              <c:numCache>
                <c:formatCode>General</c:formatCode>
                <c:ptCount val="1"/>
                <c:pt idx="0">
                  <c:v>1545.272</c:v>
                </c:pt>
              </c:numCache>
            </c:numRef>
          </c:bubbleSize>
          <c:bubble3D val="0"/>
        </c:ser>
        <c:ser>
          <c:idx val="4"/>
          <c:order val="4"/>
          <c:tx>
            <c:strRef>
              <c:strCache>
                <c:ptCount val="1"/>
                <c:pt idx="0">
                  <c:v>Mining and Metals</c:v>
                </c:pt>
              </c:strCache>
            </c:strRef>
          </c:tx>
          <c:spPr>
            <a:solidFill>
              <a:srgbClr val="F47620"/>
            </a:solidFill>
          </c:spPr>
          <c:invertIfNegative val="0"/>
          <c:xVal>
            <c:numRef>
              <c:numCache>
                <c:formatCode>General</c:formatCode>
                <c:ptCount val="1"/>
                <c:pt idx="0">
                  <c:v>71.89674032208544</c:v>
                </c:pt>
              </c:numCache>
            </c:numRef>
          </c:xVal>
          <c:yVal>
            <c:numRef>
              <c:numCache>
                <c:formatCode>General</c:formatCode>
                <c:ptCount val="1"/>
                <c:pt idx="0">
                  <c:v>147.2357658014464</c:v>
                </c:pt>
              </c:numCache>
            </c:numRef>
          </c:yVal>
          <c:bubbleSize>
            <c:numRef>
              <c:numCache>
                <c:formatCode>General</c:formatCode>
                <c:ptCount val="1"/>
                <c:pt idx="0">
                  <c:v>3262.424</c:v>
                </c:pt>
              </c:numCache>
            </c:numRef>
          </c:bubbleSize>
          <c:bubble3D val="0"/>
        </c:ser>
        <c:ser>
          <c:idx val="5"/>
          <c:order val="5"/>
          <c:tx>
            <c:strRef>
              <c:strCache>
                <c:ptCount val="1"/>
                <c:pt idx="0">
                  <c:v>Industrial Air Separation</c:v>
                </c:pt>
              </c:strCache>
            </c:strRef>
          </c:tx>
          <c:spPr>
            <a:solidFill>
              <a:srgbClr val="79C3EC"/>
            </a:solidFill>
          </c:spPr>
          <c:invertIfNegative val="0"/>
          <c:xVal>
            <c:numRef>
              <c:numCache>
                <c:formatCode>General</c:formatCode>
                <c:ptCount val="1"/>
                <c:pt idx="0">
                  <c:v>149.41897305807993</c:v>
                </c:pt>
              </c:numCache>
            </c:numRef>
          </c:xVal>
          <c:yVal>
            <c:numRef>
              <c:numCache>
                <c:formatCode>General</c:formatCode>
                <c:ptCount val="1"/>
                <c:pt idx="0">
                  <c:v>144.1291783604751</c:v>
                </c:pt>
              </c:numCache>
            </c:numRef>
          </c:yVal>
          <c:bubbleSize>
            <c:numRef>
              <c:numCache>
                <c:formatCode>General</c:formatCode>
                <c:ptCount val="1"/>
                <c:pt idx="0">
                  <c:v>4609.201</c:v>
                </c:pt>
              </c:numCache>
            </c:numRef>
          </c:bubbleSize>
          <c:bubble3D val="0"/>
        </c:ser>
        <c:ser>
          <c:idx val="6"/>
          <c:order val="6"/>
          <c:tx>
            <c:strRef>
              <c:strCache>
                <c:ptCount val="1"/>
                <c:pt idx="0">
                  <c:v>Other Manufacturing</c:v>
                </c:pt>
              </c:strCache>
            </c:strRef>
          </c:tx>
          <c:spPr>
            <a:solidFill>
              <a:srgbClr val="586272"/>
            </a:solidFill>
          </c:spPr>
          <c:invertIfNegative val="0"/>
          <c:xVal>
            <c:numRef>
              <c:numCache>
                <c:formatCode>General</c:formatCode>
                <c:ptCount val="1"/>
                <c:pt idx="0">
                  <c:v>126.25356848022842</c:v>
                </c:pt>
              </c:numCache>
            </c:numRef>
          </c:xVal>
          <c:yVal>
            <c:numRef>
              <c:numCache>
                <c:formatCode>General</c:formatCode>
                <c:ptCount val="1"/>
                <c:pt idx="0">
                  <c:v>118.7245063050006</c:v>
                </c:pt>
              </c:numCache>
            </c:numRef>
          </c:yVal>
          <c:bubbleSize>
            <c:numRef>
              <c:numCache>
                <c:formatCode>General</c:formatCode>
                <c:ptCount val="1"/>
                <c:pt idx="0">
                  <c:v>3407.275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80.0"/>
          <c:min val="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1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1524.92</c:v>
                </c:pt>
                <c:pt idx="2">
                  <c:v>1584.175</c:v>
                </c:pt>
                <c:pt idx="3">
                  <c:v>1640.814</c:v>
                </c:pt>
                <c:pt idx="4">
                  <c:v>1693.67</c:v>
                </c:pt>
                <c:pt idx="5">
                  <c:v>1741.337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1524.92</c:v>
                </c:pt>
                <c:pt idx="1">
                  <c:v>59.25499999999988</c:v>
                </c:pt>
                <c:pt idx="2">
                  <c:v>56.639000000000124</c:v>
                </c:pt>
                <c:pt idx="3">
                  <c:v>52.855999999999995</c:v>
                </c:pt>
                <c:pt idx="4">
                  <c:v>47.666999999999916</c:v>
                </c:pt>
                <c:pt idx="5">
                  <c:v>40.819999999999936</c:v>
                </c:pt>
                <c:pt idx="6">
                  <c:v>1782.157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1196.45</c:v>
                </c:pt>
                <c:pt idx="2">
                  <c:v>1357.294</c:v>
                </c:pt>
                <c:pt idx="3">
                  <c:v>1538.613</c:v>
                </c:pt>
                <c:pt idx="4">
                  <c:v>1742.981</c:v>
                </c:pt>
                <c:pt idx="5">
                  <c:v>1973.304</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1196.45</c:v>
                </c:pt>
                <c:pt idx="1">
                  <c:v>160.84400000000005</c:v>
                </c:pt>
                <c:pt idx="2">
                  <c:v>181.31899999999996</c:v>
                </c:pt>
                <c:pt idx="3">
                  <c:v>204.36799999999994</c:v>
                </c:pt>
                <c:pt idx="4">
                  <c:v>230.3230000000001</c:v>
                </c:pt>
                <c:pt idx="5">
                  <c:v>259.547</c:v>
                </c:pt>
                <c:pt idx="6">
                  <c:v>2232.851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705.208</c:v>
                </c:pt>
                <c:pt idx="2">
                  <c:v>743.38</c:v>
                </c:pt>
                <c:pt idx="3">
                  <c:v>782.681</c:v>
                </c:pt>
                <c:pt idx="4">
                  <c:v>822.945</c:v>
                </c:pt>
                <c:pt idx="5">
                  <c:v>863.98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705.208</c:v>
                </c:pt>
                <c:pt idx="1">
                  <c:v>38.172000000000025</c:v>
                </c:pt>
                <c:pt idx="2">
                  <c:v>39.301000000000045</c:v>
                </c:pt>
                <c:pt idx="3">
                  <c:v>40.26400000000001</c:v>
                </c:pt>
                <c:pt idx="4">
                  <c:v>41.03499999999997</c:v>
                </c:pt>
                <c:pt idx="5">
                  <c:v>41.557000000000016</c:v>
                </c:pt>
                <c:pt idx="6">
                  <c:v>905.537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1087.743</c:v>
                </c:pt>
                <c:pt idx="2">
                  <c:v>1167.209</c:v>
                </c:pt>
                <c:pt idx="3">
                  <c:v>1252.326</c:v>
                </c:pt>
                <c:pt idx="4">
                  <c:v>1343.459</c:v>
                </c:pt>
                <c:pt idx="5">
                  <c:v>1440.984</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1087.743</c:v>
                </c:pt>
                <c:pt idx="1">
                  <c:v>79.46600000000012</c:v>
                </c:pt>
                <c:pt idx="2">
                  <c:v>85.11699999999996</c:v>
                </c:pt>
                <c:pt idx="3">
                  <c:v>91.13300000000004</c:v>
                </c:pt>
                <c:pt idx="4">
                  <c:v>97.52499999999986</c:v>
                </c:pt>
                <c:pt idx="5">
                  <c:v>104.28800000000001</c:v>
                </c:pt>
                <c:pt idx="6">
                  <c:v>1545.272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2292.671</c:v>
                </c:pt>
                <c:pt idx="2">
                  <c:v>2461.042</c:v>
                </c:pt>
                <c:pt idx="3">
                  <c:v>2641.431</c:v>
                </c:pt>
                <c:pt idx="4">
                  <c:v>2834.591</c:v>
                </c:pt>
                <c:pt idx="5">
                  <c:v>3041.316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2292.671</c:v>
                </c:pt>
                <c:pt idx="1">
                  <c:v>168.3710000000001</c:v>
                </c:pt>
                <c:pt idx="2">
                  <c:v>180.38900000000012</c:v>
                </c:pt>
                <c:pt idx="3">
                  <c:v>193.15999999999985</c:v>
                </c:pt>
                <c:pt idx="4">
                  <c:v>206.7249999999999</c:v>
                </c:pt>
                <c:pt idx="5">
                  <c:v>221.10800000000017</c:v>
                </c:pt>
                <c:pt idx="6">
                  <c:v>3262.424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2244.297</c:v>
                </c:pt>
                <c:pt idx="2">
                  <c:v>2603.504</c:v>
                </c:pt>
                <c:pt idx="3">
                  <c:v>3012.515</c:v>
                </c:pt>
                <c:pt idx="4">
                  <c:v>3477.968</c:v>
                </c:pt>
                <c:pt idx="5">
                  <c:v>4007.36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2244.297</c:v>
                </c:pt>
                <c:pt idx="1">
                  <c:v>359.2069999999999</c:v>
                </c:pt>
                <c:pt idx="2">
                  <c:v>409.01099999999997</c:v>
                </c:pt>
                <c:pt idx="3">
                  <c:v>465.453</c:v>
                </c:pt>
                <c:pt idx="4">
                  <c:v>529.3920000000003</c:v>
                </c:pt>
                <c:pt idx="5">
                  <c:v>601.8409999999999</c:v>
                </c:pt>
                <c:pt idx="6">
                  <c:v>4609.201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1848.71</c:v>
                </c:pt>
                <c:pt idx="2">
                  <c:v>2091.028</c:v>
                </c:pt>
                <c:pt idx="3">
                  <c:v>2363.943</c:v>
                </c:pt>
                <c:pt idx="4">
                  <c:v>2671.309</c:v>
                </c:pt>
                <c:pt idx="5">
                  <c:v>3017.456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1848.71</c:v>
                </c:pt>
                <c:pt idx="1">
                  <c:v>242.31799999999976</c:v>
                </c:pt>
                <c:pt idx="2">
                  <c:v>272.9150000000004</c:v>
                </c:pt>
                <c:pt idx="3">
                  <c:v>307.366</c:v>
                </c:pt>
                <c:pt idx="4">
                  <c:v>346.14699999999993</c:v>
                </c:pt>
                <c:pt idx="5">
                  <c:v>389.81899999999996</c:v>
                </c:pt>
                <c:pt idx="6">
                  <c:v>3407.275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Industrial Air Separation</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17.822918429573694</c:v>
                </c:pt>
                <c:pt idx="1">
                  <c:v>20.589882622925014</c:v>
                </c:pt>
                <c:pt idx="2">
                  <c:v>25.97506063353955</c:v>
                </c:pt>
              </c:numCache>
            </c:numRef>
          </c:val>
        </c:ser>
        <c:ser>
          <c:idx val="1"/>
          <c:order val="1"/>
          <c:tx>
            <c:strRef>
              <c:strCache>
                <c:ptCount val="1"/>
                <c:pt idx="0">
                  <c:v>Other Manufacturing</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15.81433024843555</c:v>
                </c:pt>
                <c:pt idx="1">
                  <c:v>16.960643757857227</c:v>
                </c:pt>
                <c:pt idx="2">
                  <c:v>19.20163054727782</c:v>
                </c:pt>
              </c:numCache>
            </c:numRef>
          </c:val>
        </c:ser>
        <c:ser>
          <c:idx val="2"/>
          <c:order val="2"/>
          <c:tx>
            <c:strRef>
              <c:strCache>
                <c:ptCount val="1"/>
                <c:pt idx="0">
                  <c:v>Mining and Metals</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22.3986398883359</c:v>
                </c:pt>
                <c:pt idx="1">
                  <c:v>21.033680828778056</c:v>
                </c:pt>
                <c:pt idx="2">
                  <c:v>18.385325615505728</c:v>
                </c:pt>
              </c:numCache>
            </c:numRef>
          </c:val>
        </c:ser>
        <c:ser>
          <c:idx val="3"/>
          <c:order val="3"/>
          <c:tx>
            <c:strRef>
              <c:strCache>
                <c:ptCount val="1"/>
                <c:pt idx="0">
                  <c:v>Oil and Gas</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10.145966736379988</c:v>
                </c:pt>
                <c:pt idx="1">
                  <c:v>10.976606511615277</c:v>
                </c:pt>
                <c:pt idx="2">
                  <c:v>12.583187435449098</c:v>
                </c:pt>
              </c:numCache>
            </c:numRef>
          </c:val>
        </c:ser>
        <c:ser>
          <c:idx val="4"/>
          <c:order val="4"/>
          <c:tx>
            <c:strRef>
              <c:strCache>
                <c:ptCount val="1"/>
                <c:pt idx="0">
                  <c:v>Automotive and Transportation</c:v>
                </c:pt>
              </c:strCache>
            </c:strRef>
          </c:tx>
          <c:spPr>
            <a:solidFill>
              <a:srgbClr val="F47620"/>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16.00114458171614</c:v>
                </c:pt>
                <c:pt idx="1">
                  <c:v>13.990093026614039</c:v>
                </c:pt>
                <c:pt idx="2">
                  <c:v>10.043310355414516</c:v>
                </c:pt>
              </c:numCache>
            </c:numRef>
          </c:val>
        </c:ser>
        <c:ser>
          <c:idx val="5"/>
          <c:order val="5"/>
          <c:tx>
            <c:strRef>
              <c:strCache>
                <c:ptCount val="1"/>
                <c:pt idx="0">
                  <c:v>Pharmaceuticals</c:v>
                </c:pt>
              </c:strCache>
            </c:strRef>
          </c:tx>
          <c:spPr>
            <a:solidFill>
              <a:srgbClr val="79C3EC"/>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10.636883584292683</c:v>
                </c:pt>
                <c:pt idx="1">
                  <c:v>9.979294493513256</c:v>
                </c:pt>
                <c:pt idx="2">
                  <c:v>8.708349645700181</c:v>
                </c:pt>
              </c:numCache>
            </c:numRef>
          </c:val>
        </c:ser>
        <c:ser>
          <c:idx val="6"/>
          <c:order val="6"/>
          <c:tx>
            <c:strRef>
              <c:strCache>
                <c:ptCount val="1"/>
                <c:pt idx="0">
                  <c:v>Food and Beverages</c:v>
                </c:pt>
              </c:strCache>
            </c:strRef>
          </c:tx>
          <c:spPr>
            <a:solidFill>
              <a:srgbClr val="586272"/>
            </a:solidFill>
            <a:ln>
              <a:noFill/>
            </a:ln>
          </c:spPr>
          <c:dLbls>
            <c:dLbl>
              <c:idx val="0"/>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7.180116531266048</c:v>
                </c:pt>
                <c:pt idx="1">
                  <c:v>6.4697987586971335</c:v>
                </c:pt>
                <c:pt idx="2">
                  <c:v>5.103135767113107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Electric Motor-Driven</c:v>
                </c:pt>
              </c:strCache>
            </c:strRef>
          </c:tx>
          <c:spPr>
            <a:solidFill>
              <a:srgbClr val="2A5F8F"/>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4.228135786128265</c:v>
                </c:pt>
                <c:pt idx="1">
                  <c:v>4.533821023721347</c:v>
                </c:pt>
                <c:pt idx="2">
                  <c:v>4.277905405405406</c:v>
                </c:pt>
                <c:pt idx="3">
                  <c:v>3.3606996752493874</c:v>
                </c:pt>
                <c:pt idx="4">
                  <c:v>4.549586182040142</c:v>
                </c:pt>
                <c:pt idx="5">
                  <c:v>4.529143595200236</c:v>
                </c:pt>
                <c:pt idx="6">
                  <c:v>4.871736785973411</c:v>
                </c:pt>
              </c:numCache>
            </c:numRef>
          </c:val>
        </c:ser>
        <c:ser>
          <c:idx val="1"/>
          <c:order val="1"/>
          <c:tx>
            <c:strRef>
              <c:strCache>
                <c:ptCount val="1"/>
                <c:pt idx="0">
                  <c:v>Natural Gas Engine-Driven</c:v>
                </c:pt>
              </c:strCache>
            </c:strRef>
          </c:tx>
          <c:spPr>
            <a:solidFill>
              <a:srgbClr val="0081E2"/>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24.74823315469713</c:v>
                </c:pt>
                <c:pt idx="1">
                  <c:v>25.37708645459466</c:v>
                </c:pt>
                <c:pt idx="2">
                  <c:v>21.1972972972973</c:v>
                </c:pt>
                <c:pt idx="3">
                  <c:v>30.431807224757414</c:v>
                </c:pt>
                <c:pt idx="4">
                  <c:v>29.021117398688133</c:v>
                </c:pt>
                <c:pt idx="5">
                  <c:v>24.938096044881338</c:v>
                </c:pt>
                <c:pt idx="6">
                  <c:v>21.956634916579628</c:v>
                </c:pt>
              </c:numCache>
            </c:numRef>
          </c:val>
        </c:ser>
        <c:ser>
          <c:idx val="2"/>
          <c:order val="2"/>
          <c:tx>
            <c:strRef>
              <c:strCache>
                <c:ptCount val="1"/>
                <c:pt idx="0">
                  <c:v>Diesel Engine-Driven</c:v>
                </c:pt>
              </c:strCache>
            </c:strRef>
          </c:tx>
          <c:spPr>
            <a:solidFill>
              <a:srgbClr val="0E2A5C"/>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41.47881958095908</c:v>
                </c:pt>
                <c:pt idx="1">
                  <c:v>39.83755396895901</c:v>
                </c:pt>
                <c:pt idx="2">
                  <c:v>40.93668918918919</c:v>
                </c:pt>
                <c:pt idx="3">
                  <c:v>36.894732698212735</c:v>
                </c:pt>
                <c:pt idx="4">
                  <c:v>36.956975522872916</c:v>
                </c:pt>
                <c:pt idx="5">
                  <c:v>42.13218984399423</c:v>
                </c:pt>
                <c:pt idx="6">
                  <c:v>41.442632422094036</c:v>
                </c:pt>
              </c:numCache>
            </c:numRef>
          </c:val>
        </c:ser>
        <c:ser>
          <c:idx val="3"/>
          <c:order val="3"/>
          <c:tx>
            <c:strRef>
              <c:strCache>
                <c:ptCount val="1"/>
                <c:pt idx="0">
                  <c:v>Steam Turbine-Driven</c:v>
                </c:pt>
              </c:strCache>
            </c:strRef>
          </c:tx>
          <c:spPr>
            <a:solidFill>
              <a:srgbClr val="00ACAC"/>
            </a:solidFill>
            <a:ln>
              <a:noFill/>
            </a:ln>
          </c:spPr>
          <c:dLbls>
            <c:dLbl>
              <c:idx val="0"/>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18.420335915204145</c:v>
                </c:pt>
                <c:pt idx="1">
                  <c:v>17.338835798683462</c:v>
                </c:pt>
                <c:pt idx="2">
                  <c:v>22.13398648648649</c:v>
                </c:pt>
                <c:pt idx="3">
                  <c:v>18.397106041698798</c:v>
                </c:pt>
                <c:pt idx="4">
                  <c:v>18.563254084337796</c:v>
                </c:pt>
                <c:pt idx="5">
                  <c:v>18.21163673844666</c:v>
                </c:pt>
                <c:pt idx="6">
                  <c:v>18.995340798409995</c:v>
                </c:pt>
              </c:numCache>
            </c:numRef>
          </c:val>
        </c:ser>
        <c:ser>
          <c:idx val="4"/>
          <c:order val="4"/>
          <c:tx>
            <c:strRef>
              <c:strCache>
                <c:ptCount val="1"/>
                <c:pt idx="0">
                  <c:v>Gas Turbine-Driven</c:v>
                </c:pt>
              </c:strCache>
            </c:strRef>
          </c:tx>
          <c:spPr>
            <a:solidFill>
              <a:srgbClr val="F47620"/>
            </a:solidFill>
            <a:ln>
              <a:noFill/>
            </a:ln>
          </c:spPr>
          <c:dLbls>
            <c:dLbl>
              <c:idx val="0"/>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8.066924465177596</c:v>
                </c:pt>
                <c:pt idx="1">
                  <c:v>9.20082379875773</c:v>
                </c:pt>
                <c:pt idx="2">
                  <c:v>8.280067567567567</c:v>
                </c:pt>
                <c:pt idx="3">
                  <c:v>7.430706027893391</c:v>
                </c:pt>
                <c:pt idx="4">
                  <c:v>7.397808261338715</c:v>
                </c:pt>
                <c:pt idx="5">
                  <c:v>6.884400345088408</c:v>
                </c:pt>
                <c:pt idx="6">
                  <c:v>9.040863705295964</c:v>
                </c:pt>
              </c:numCache>
            </c:numRef>
          </c:val>
        </c:ser>
        <c:ser>
          <c:idx val="5"/>
          <c:order val="5"/>
          <c:tx>
            <c:strRef>
              <c:strCache>
                <c:ptCount val="1"/>
                <c:pt idx="0">
                  <c:v>Other Drive Types</c:v>
                </c:pt>
              </c:strCache>
            </c:strRef>
          </c:tx>
          <c:spPr>
            <a:solidFill>
              <a:srgbClr val="79C3EC"/>
            </a:solidFill>
            <a:ln>
              <a:noFill/>
            </a:ln>
          </c:spPr>
          <c:dLbls>
            <c:dLbl>
              <c:idx val="0"/>
              <c:numFmt formatCode="&quot;MMM&quot;;&quot;MMM&quot;;&quot;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3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3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3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3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3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3.0575510978337936</c:v>
                </c:pt>
                <c:pt idx="1">
                  <c:v>3.71187895528378</c:v>
                </c:pt>
                <c:pt idx="2">
                  <c:v>3.174054054054054</c:v>
                </c:pt>
                <c:pt idx="3">
                  <c:v>3.4849483321882757</c:v>
                </c:pt>
                <c:pt idx="4">
                  <c:v>3.5112585507222898</c:v>
                </c:pt>
                <c:pt idx="5">
                  <c:v>3.3045334323891127</c:v>
                </c:pt>
                <c:pt idx="6">
                  <c:v>3.692791371646953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Electric Motor-Driven</c:v>
                </c:pt>
              </c:strCache>
            </c:strRef>
          </c:tx>
          <c:spPr>
            <a:solidFill>
              <a:srgbClr val="2A5F8F"/>
            </a:solidFill>
          </c:spPr>
          <c:invertIfNegative val="0"/>
          <c:xVal>
            <c:numRef>
              <c:numCache>
                <c:formatCode>General</c:formatCode>
                <c:ptCount val="1"/>
                <c:pt idx="0">
                  <c:v>110.91348286507521</c:v>
                </c:pt>
              </c:numCache>
            </c:numRef>
          </c:xVal>
          <c:yVal>
            <c:numRef>
              <c:numCache>
                <c:formatCode>General</c:formatCode>
                <c:ptCount val="1"/>
                <c:pt idx="0">
                  <c:v>25.635525287662876</c:v>
                </c:pt>
              </c:numCache>
            </c:numRef>
          </c:yVal>
          <c:bubbleSize>
            <c:numRef>
              <c:numCache>
                <c:formatCode>General</c:formatCode>
                <c:ptCount val="1"/>
                <c:pt idx="0">
                  <c:v>798.446</c:v>
                </c:pt>
              </c:numCache>
            </c:numRef>
          </c:bubbleSize>
          <c:bubble3D val="0"/>
        </c:ser>
        <c:ser>
          <c:idx val="1"/>
          <c:order val="1"/>
          <c:tx>
            <c:strRef>
              <c:strCache>
                <c:ptCount val="1"/>
                <c:pt idx="0">
                  <c:v>Natural Gas Engine-Driven</c:v>
                </c:pt>
              </c:strCache>
            </c:strRef>
          </c:tx>
          <c:spPr>
            <a:solidFill>
              <a:srgbClr val="0081E2"/>
            </a:solidFill>
          </c:spPr>
          <c:invertIfNegative val="0"/>
          <c:xVal>
            <c:numRef>
              <c:numCache>
                <c:formatCode>General</c:formatCode>
                <c:ptCount val="1"/>
                <c:pt idx="0">
                  <c:v>60.588420438848075</c:v>
                </c:pt>
              </c:numCache>
            </c:numRef>
          </c:xVal>
          <c:yVal>
            <c:numRef>
              <c:numCache>
                <c:formatCode>General</c:formatCode>
                <c:ptCount val="1"/>
                <c:pt idx="0">
                  <c:v>179.45682380337834</c:v>
                </c:pt>
              </c:numCache>
            </c:numRef>
          </c:yVal>
          <c:bubbleSize>
            <c:numRef>
              <c:numCache>
                <c:formatCode>General</c:formatCode>
                <c:ptCount val="1"/>
                <c:pt idx="0">
                  <c:v>4392.312</c:v>
                </c:pt>
              </c:numCache>
            </c:numRef>
          </c:bubbleSize>
          <c:bubble3D val="0"/>
        </c:ser>
        <c:ser>
          <c:idx val="2"/>
          <c:order val="2"/>
          <c:tx>
            <c:strRef>
              <c:strCache>
                <c:ptCount val="1"/>
                <c:pt idx="0">
                  <c:v>Diesel Engine-Driven</c:v>
                </c:pt>
              </c:strCache>
            </c:strRef>
          </c:tx>
          <c:spPr>
            <a:solidFill>
              <a:srgbClr val="0E2A5C"/>
            </a:solidFill>
          </c:spPr>
          <c:invertIfNegative val="0"/>
          <c:xVal>
            <c:numRef>
              <c:numCache>
                <c:formatCode>General</c:formatCode>
                <c:ptCount val="1"/>
                <c:pt idx="0">
                  <c:v>113.74328269453007</c:v>
                </c:pt>
              </c:numCache>
            </c:numRef>
          </c:xVal>
          <c:yVal>
            <c:numRef>
              <c:numCache>
                <c:formatCode>General</c:formatCode>
                <c:ptCount val="1"/>
                <c:pt idx="0">
                  <c:v>226.11706661624464</c:v>
                </c:pt>
              </c:numCache>
            </c:numRef>
          </c:yVal>
          <c:bubbleSize>
            <c:numRef>
              <c:numCache>
                <c:formatCode>General</c:formatCode>
                <c:ptCount val="1"/>
                <c:pt idx="0">
                  <c:v>7137.532</c:v>
                </c:pt>
              </c:numCache>
            </c:numRef>
          </c:bubbleSize>
          <c:bubble3D val="0"/>
        </c:ser>
        <c:ser>
          <c:idx val="3"/>
          <c:order val="3"/>
          <c:tx>
            <c:strRef>
              <c:strCache>
                <c:ptCount val="1"/>
                <c:pt idx="0">
                  <c:v>Steam Turbine-Driven</c:v>
                </c:pt>
              </c:strCache>
            </c:strRef>
          </c:tx>
          <c:spPr>
            <a:solidFill>
              <a:srgbClr val="00ACAC"/>
            </a:solidFill>
          </c:spPr>
          <c:invertIfNegative val="0"/>
          <c:xVal>
            <c:numRef>
              <c:numCache>
                <c:formatCode>General</c:formatCode>
                <c:ptCount val="1"/>
                <c:pt idx="0">
                  <c:v>141.11126150753526</c:v>
                </c:pt>
              </c:numCache>
            </c:numRef>
          </c:xVal>
          <c:yVal>
            <c:numRef>
              <c:numCache>
                <c:formatCode>General</c:formatCode>
                <c:ptCount val="1"/>
                <c:pt idx="0">
                  <c:v>93.15105441752792</c:v>
                </c:pt>
              </c:numCache>
            </c:numRef>
          </c:yVal>
          <c:bubbleSize>
            <c:numRef>
              <c:numCache>
                <c:formatCode>General</c:formatCode>
                <c:ptCount val="1"/>
                <c:pt idx="0">
                  <c:v>3343.558</c:v>
                </c:pt>
              </c:numCache>
            </c:numRef>
          </c:bubbleSize>
          <c:bubble3D val="0"/>
        </c:ser>
        <c:ser>
          <c:idx val="4"/>
          <c:order val="4"/>
          <c:tx>
            <c:strRef>
              <c:strCache>
                <c:ptCount val="1"/>
                <c:pt idx="0">
                  <c:v>Gas Turbine-Driven</c:v>
                </c:pt>
              </c:strCache>
            </c:strRef>
          </c:tx>
          <c:spPr>
            <a:solidFill>
              <a:srgbClr val="F47620"/>
            </a:solidFill>
          </c:spPr>
          <c:invertIfNegative val="0"/>
          <c:xVal>
            <c:numRef>
              <c:numCache>
                <c:formatCode>General</c:formatCode>
                <c:ptCount val="1"/>
                <c:pt idx="0">
                  <c:v>103.07013566621794</c:v>
                </c:pt>
              </c:numCache>
            </c:numRef>
          </c:xVal>
          <c:yVal>
            <c:numRef>
              <c:numCache>
                <c:formatCode>General</c:formatCode>
                <c:ptCount val="1"/>
                <c:pt idx="0">
                  <c:v>48.342995260825255</c:v>
                </c:pt>
              </c:numCache>
            </c:numRef>
          </c:yVal>
          <c:bubbleSize>
            <c:numRef>
              <c:numCache>
                <c:formatCode>General</c:formatCode>
                <c:ptCount val="1"/>
                <c:pt idx="0">
                  <c:v>1450.737</c:v>
                </c:pt>
              </c:numCache>
            </c:numRef>
          </c:bubbleSize>
          <c:bubble3D val="0"/>
        </c:ser>
        <c:ser>
          <c:idx val="5"/>
          <c:order val="5"/>
          <c:tx>
            <c:strRef>
              <c:strCache>
                <c:ptCount val="1"/>
                <c:pt idx="0">
                  <c:v>Other Drive Types</c:v>
                </c:pt>
              </c:strCache>
            </c:strRef>
          </c:tx>
          <c:spPr>
            <a:solidFill>
              <a:srgbClr val="79C3EC"/>
            </a:solidFill>
          </c:spPr>
          <c:invertIfNegative val="0"/>
          <c:xVal>
            <c:numRef>
              <c:numCache>
                <c:formatCode>General</c:formatCode>
                <c:ptCount val="1"/>
                <c:pt idx="0">
                  <c:v>45.93476418687191</c:v>
                </c:pt>
              </c:numCache>
            </c:numRef>
          </c:xVal>
          <c:yVal>
            <c:numRef>
              <c:numCache>
                <c:formatCode>General</c:formatCode>
                <c:ptCount val="1"/>
                <c:pt idx="0">
                  <c:v>27.29653461436098</c:v>
                </c:pt>
              </c:numCache>
            </c:numRef>
          </c:yVal>
          <c:bubbleSize>
            <c:numRef>
              <c:numCache>
                <c:formatCode>General</c:formatCode>
                <c:ptCount val="1"/>
                <c:pt idx="0">
                  <c:v>622.132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70.0"/>
          <c:min val="2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3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465.712</c:v>
                </c:pt>
                <c:pt idx="2">
                  <c:v>518.526</c:v>
                </c:pt>
                <c:pt idx="3">
                  <c:v>577.44</c:v>
                </c:pt>
                <c:pt idx="4">
                  <c:v>643.175</c:v>
                </c:pt>
                <c:pt idx="5">
                  <c:v>716.543</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465.712</c:v>
                </c:pt>
                <c:pt idx="1">
                  <c:v>52.813999999999965</c:v>
                </c:pt>
                <c:pt idx="2">
                  <c:v>58.9140000000001</c:v>
                </c:pt>
                <c:pt idx="3">
                  <c:v>65.7349999999999</c:v>
                </c:pt>
                <c:pt idx="4">
                  <c:v>73.36800000000005</c:v>
                </c:pt>
                <c:pt idx="5">
                  <c:v>81.90300000000002</c:v>
                </c:pt>
                <c:pt idx="6">
                  <c:v>798.446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3260.132</c:v>
                </c:pt>
                <c:pt idx="2">
                  <c:v>3466.983</c:v>
                </c:pt>
                <c:pt idx="3">
                  <c:v>3683.811</c:v>
                </c:pt>
                <c:pt idx="4">
                  <c:v>3910.509</c:v>
                </c:pt>
                <c:pt idx="5">
                  <c:v>4146.818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3260.132</c:v>
                </c:pt>
                <c:pt idx="1">
                  <c:v>206.8510000000001</c:v>
                </c:pt>
                <c:pt idx="2">
                  <c:v>216.82799999999997</c:v>
                </c:pt>
                <c:pt idx="3">
                  <c:v>226.69799999999987</c:v>
                </c:pt>
                <c:pt idx="4">
                  <c:v>236.3090000000002</c:v>
                </c:pt>
                <c:pt idx="5">
                  <c:v>245.4939999999997</c:v>
                </c:pt>
                <c:pt idx="6">
                  <c:v>4392.312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4107.793</c:v>
                </c:pt>
                <c:pt idx="2">
                  <c:v>4586.294</c:v>
                </c:pt>
                <c:pt idx="3">
                  <c:v>5121.271</c:v>
                </c:pt>
                <c:pt idx="4">
                  <c:v>5719.549</c:v>
                </c:pt>
                <c:pt idx="5">
                  <c:v>6388.764</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4107.793</c:v>
                </c:pt>
                <c:pt idx="1">
                  <c:v>478.5010000000002</c:v>
                </c:pt>
                <c:pt idx="2">
                  <c:v>534.9769999999999</c:v>
                </c:pt>
                <c:pt idx="3">
                  <c:v>598.2780000000002</c:v>
                </c:pt>
                <c:pt idx="4">
                  <c:v>669.2150000000001</c:v>
                </c:pt>
                <c:pt idx="5">
                  <c:v>748.768</c:v>
                </c:pt>
                <c:pt idx="6">
                  <c:v>7137.532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1692.244</c:v>
                </c:pt>
                <c:pt idx="2">
                  <c:v>1944.624</c:v>
                </c:pt>
                <c:pt idx="3">
                  <c:v>2231.159</c:v>
                </c:pt>
                <c:pt idx="4">
                  <c:v>2556.327</c:v>
                </c:pt>
                <c:pt idx="5">
                  <c:v>2925.217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1692.244</c:v>
                </c:pt>
                <c:pt idx="1">
                  <c:v>252.3800000000001</c:v>
                </c:pt>
                <c:pt idx="2">
                  <c:v>286.5350000000001</c:v>
                </c:pt>
                <c:pt idx="3">
                  <c:v>325.1680000000001</c:v>
                </c:pt>
                <c:pt idx="4">
                  <c:v>368.8899999999999</c:v>
                </c:pt>
                <c:pt idx="5">
                  <c:v>418.3409999999999</c:v>
                </c:pt>
                <c:pt idx="6">
                  <c:v>3343.558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878.231</c:v>
                </c:pt>
                <c:pt idx="2">
                  <c:v>970.343</c:v>
                </c:pt>
                <c:pt idx="3">
                  <c:v>1072.461</c:v>
                </c:pt>
                <c:pt idx="4">
                  <c:v>1185.703</c:v>
                </c:pt>
                <c:pt idx="5">
                  <c:v>1311.325</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878.231</c:v>
                </c:pt>
                <c:pt idx="1">
                  <c:v>92.11199999999997</c:v>
                </c:pt>
                <c:pt idx="2">
                  <c:v>102.11800000000005</c:v>
                </c:pt>
                <c:pt idx="3">
                  <c:v>113.24199999999996</c:v>
                </c:pt>
                <c:pt idx="4">
                  <c:v>125.62200000000007</c:v>
                </c:pt>
                <c:pt idx="5">
                  <c:v>139.41200000000003</c:v>
                </c:pt>
                <c:pt idx="6">
                  <c:v>1450.737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495.887</c:v>
                </c:pt>
                <c:pt idx="2">
                  <c:v>520.862</c:v>
                </c:pt>
                <c:pt idx="3">
                  <c:v>546.181</c:v>
                </c:pt>
                <c:pt idx="4">
                  <c:v>571.66</c:v>
                </c:pt>
                <c:pt idx="5">
                  <c:v>597.07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495.887</c:v>
                </c:pt>
                <c:pt idx="1">
                  <c:v>24.974999999999966</c:v>
                </c:pt>
                <c:pt idx="2">
                  <c:v>25.319000000000074</c:v>
                </c:pt>
                <c:pt idx="3">
                  <c:v>25.478999999999928</c:v>
                </c:pt>
                <c:pt idx="4">
                  <c:v>25.410000000000082</c:v>
                </c:pt>
                <c:pt idx="5">
                  <c:v>25.061999999999898</c:v>
                </c:pt>
                <c:pt idx="6">
                  <c:v>622.132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Diesel Engine-Driven</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36.4109389758936</c:v>
                </c:pt>
                <c:pt idx="1">
                  <c:v>37.686177769374105</c:v>
                </c:pt>
                <c:pt idx="2">
                  <c:v>40.223419736702475</c:v>
                </c:pt>
              </c:numCache>
            </c:numRef>
          </c:val>
        </c:ser>
        <c:ser>
          <c:idx val="1"/>
          <c:order val="1"/>
          <c:tx>
            <c:strRef>
              <c:strCache>
                <c:ptCount val="1"/>
                <c:pt idx="0">
                  <c:v>Natural Gas Engine-Driven</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32.51251072062717</c:v>
                </c:pt>
                <c:pt idx="1">
                  <c:v>29.90947063389639</c:v>
                </c:pt>
                <c:pt idx="2">
                  <c:v>24.75278698443035</c:v>
                </c:pt>
              </c:numCache>
            </c:numRef>
          </c:val>
        </c:ser>
        <c:ser>
          <c:idx val="2"/>
          <c:order val="2"/>
          <c:tx>
            <c:strRef>
              <c:strCache>
                <c:ptCount val="1"/>
                <c:pt idx="0">
                  <c:v>Steam Turbine-Driven</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13.836366815530418</c:v>
                </c:pt>
                <c:pt idx="1">
                  <c:v>15.525175736254655</c:v>
                </c:pt>
                <c:pt idx="2">
                  <c:v>18.8425546600715</c:v>
                </c:pt>
              </c:numCache>
            </c:numRef>
          </c:val>
        </c:ser>
        <c:ser>
          <c:idx val="3"/>
          <c:order val="3"/>
          <c:tx>
            <c:strRef>
              <c:strCache>
                <c:ptCount val="1"/>
                <c:pt idx="0">
                  <c:v>Gas Turbine-Driven</c:v>
                </c:pt>
              </c:strCache>
            </c:strRef>
          </c:tx>
          <c:spPr>
            <a:solidFill>
              <a:srgbClr val="00ACAC"/>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7.997169541054401</c:v>
                </c:pt>
                <c:pt idx="1">
                  <c:v>8.05716587680421</c:v>
                </c:pt>
                <c:pt idx="2">
                  <c:v>8.175599531962105</c:v>
                </c:pt>
              </c:numCache>
            </c:numRef>
          </c:val>
        </c:ser>
        <c:ser>
          <c:idx val="4"/>
          <c:order val="4"/>
          <c:tx>
            <c:strRef>
              <c:strCache>
                <c:ptCount val="1"/>
                <c:pt idx="0">
                  <c:v>Electric Motor-Driven</c:v>
                </c:pt>
              </c:strCache>
            </c:strRef>
          </c:tx>
          <c:spPr>
            <a:solidFill>
              <a:srgbClr val="F47620"/>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4.157419067055845</c:v>
                </c:pt>
                <c:pt idx="1">
                  <c:v>4.272587547943812</c:v>
                </c:pt>
                <c:pt idx="2">
                  <c:v>4.499626564909432</c:v>
                </c:pt>
              </c:numCache>
            </c:numRef>
          </c:val>
        </c:ser>
        <c:ser>
          <c:idx val="5"/>
          <c:order val="5"/>
          <c:tx>
            <c:strRef>
              <c:strCache>
                <c:ptCount val="1"/>
                <c:pt idx="0">
                  <c:v>Other Drive Types</c:v>
                </c:pt>
              </c:strCache>
            </c:strRef>
          </c:tx>
          <c:spPr>
            <a:solidFill>
              <a:srgbClr val="79C3EC"/>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5.085594879838573</c:v>
                </c:pt>
                <c:pt idx="1">
                  <c:v>4.549422435726829</c:v>
                </c:pt>
                <c:pt idx="2">
                  <c:v>3.5060125219241303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1.946072181660452</c:v>
                </c:pt>
                <c:pt idx="1">
                  <c:v>2.7481081117567197</c:v>
                </c:pt>
                <c:pt idx="2">
                  <c:v>2.4800641505371868</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3.62750270751887"/>
          <c:min val="0.0"/>
        </c:scaling>
        <c:delete val="0"/>
        <c:axPos val="l"/>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675781.7449999999</c:v>
                </c:pt>
                <c:pt idx="2">
                  <c:v>0.0</c:v>
                </c:pt>
                <c:pt idx="3">
                  <c:v>744147.3589999999</c:v>
                </c:pt>
                <c:pt idx="4">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2A5F8F"/>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675781.7449999999</c:v>
                </c:pt>
                <c:pt idx="1">
                  <c:v>68365.61400000006</c:v>
                </c:pt>
                <c:pt idx="2">
                  <c:v>744147.3589999999</c:v>
                </c:pt>
                <c:pt idx="3">
                  <c:v>231734.5900000002</c:v>
                </c:pt>
                <c:pt idx="4">
                  <c:v>975881.9490000001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3.4078525414098504</c:v>
                </c:pt>
                <c:pt idx="1">
                  <c:v>4.224581164237939</c:v>
                </c:pt>
                <c:pt idx="2">
                  <c:v>3.9516240578739037</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57644713679408"/>
          <c:min val="0.0"/>
        </c:scaling>
        <c:delete val="0"/>
        <c:axPos val="l"/>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3650.6</c:v>
                </c:pt>
                <c:pt idx="2">
                  <c:v>0.0</c:v>
                </c:pt>
                <c:pt idx="3">
                  <c:v>4316.501</c:v>
                </c:pt>
                <c:pt idx="4">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2A5F8F"/>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3650.6</c:v>
                </c:pt>
                <c:pt idx="1">
                  <c:v>665.9010000000003</c:v>
                </c:pt>
                <c:pt idx="2">
                  <c:v>4316.501</c:v>
                </c:pt>
                <c:pt idx="3">
                  <c:v>2212.300000000001</c:v>
                </c:pt>
                <c:pt idx="4">
                  <c:v>6528.801000000001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3650.6</c:v>
                </c:pt>
                <c:pt idx="1">
                  <c:v>3774.844</c:v>
                </c:pt>
                <c:pt idx="2">
                  <c:v>3903.4030000000002</c:v>
                </c:pt>
                <c:pt idx="3">
                  <c:v>4036.426</c:v>
                </c:pt>
                <c:pt idx="4">
                  <c:v>4174.07</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quot;;&quot;MMMMMMMMM&quot;;&quot;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675781.7449999999</c:v>
                </c:pt>
                <c:pt idx="1">
                  <c:v>688909.276</c:v>
                </c:pt>
                <c:pt idx="2">
                  <c:v>702303.8369999998</c:v>
                </c:pt>
                <c:pt idx="3">
                  <c:v>715971.13</c:v>
                </c:pt>
                <c:pt idx="4">
                  <c:v>729916.983</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max val="4925"/>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036099"/>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4316.501</c:v>
                </c:pt>
                <c:pt idx="1">
                  <c:v>4498.421</c:v>
                </c:pt>
                <c:pt idx="2">
                  <c:v>4688.108</c:v>
                </c:pt>
                <c:pt idx="3">
                  <c:v>4885.898</c:v>
                </c:pt>
                <c:pt idx="4">
                  <c:v>5092.1410000000005</c:v>
                </c:pt>
                <c:pt idx="5">
                  <c:v>5307.2029999999995</c:v>
                </c:pt>
                <c:pt idx="6">
                  <c:v>5531.469</c:v>
                </c:pt>
                <c:pt idx="7">
                  <c:v>5765.335</c:v>
                </c:pt>
                <c:pt idx="8">
                  <c:v>6009.219</c:v>
                </c:pt>
                <c:pt idx="9">
                  <c:v>6263.557</c:v>
                </c:pt>
                <c:pt idx="10">
                  <c:v>6528.801000000001</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744147.3589999999</c:v>
                </c:pt>
                <c:pt idx="1">
                  <c:v>764537.7539999998</c:v>
                </c:pt>
                <c:pt idx="2">
                  <c:v>785500.335</c:v>
                </c:pt>
                <c:pt idx="3">
                  <c:v>807051.572</c:v>
                </c:pt>
                <c:pt idx="4">
                  <c:v>829208.418</c:v>
                </c:pt>
                <c:pt idx="5">
                  <c:v>851988.3339999999</c:v>
                </c:pt>
                <c:pt idx="6">
                  <c:v>875409.2910000001</c:v>
                </c:pt>
                <c:pt idx="7">
                  <c:v>899489.792</c:v>
                </c:pt>
                <c:pt idx="8">
                  <c:v>924248.8920000001</c:v>
                </c:pt>
                <c:pt idx="9">
                  <c:v>949706.2109999999</c:v>
                </c:pt>
                <c:pt idx="10">
                  <c:v>975881.9490000001</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max val="7704"/>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509245"/>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U.S.</c:v>
                </c:pt>
                <c:pt idx="1">
                  <c:v>Canada</c:v>
                </c:pt>
                <c:pt idx="2">
                  <c:v>Mexico</c:v>
                </c:pt>
              </c:strCache>
            </c:strRef>
          </c:cat>
          <c:val>
            <c:numRef>
              <c:numCache>
                <c:formatCode>General</c:formatCode>
                <c:ptCount val="3"/>
                <c:pt idx="0">
                  <c:v>90.56128536839825</c:v>
                </c:pt>
                <c:pt idx="1">
                  <c:v>107.73419084633349</c:v>
                </c:pt>
                <c:pt idx="2">
                  <c:v>119.5999932393295</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20.272612213533417</c:v>
                </c:pt>
                <c:pt idx="1">
                  <c:v>28.43732766803777</c:v>
                </c:pt>
                <c:pt idx="2">
                  <c:v>51.29006011842876</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Electric Motor-Driven</c:v>
                </c:pt>
                <c:pt idx="1">
                  <c:v>Natural Gas Engine-Driven</c:v>
                </c:pt>
                <c:pt idx="2">
                  <c:v>Diesel Engine-Driven</c:v>
                </c:pt>
                <c:pt idx="3">
                  <c:v>Steam Turbine-Driven</c:v>
                </c:pt>
                <c:pt idx="4">
                  <c:v>Gas Turbine-Driven</c:v>
                </c:pt>
                <c:pt idx="5">
                  <c:v>Other Drive Types</c:v>
                </c:pt>
              </c:strCache>
            </c:strRef>
          </c:cat>
          <c:val>
            <c:numRef>
              <c:numCache>
                <c:formatCode>General</c:formatCode>
                <c:ptCount val="6"/>
                <c:pt idx="0">
                  <c:v>318.066</c:v>
                </c:pt>
                <c:pt idx="1">
                  <c:v>1433.505</c:v>
                </c:pt>
                <c:pt idx="2">
                  <c:v>2705.707</c:v>
                </c:pt>
                <c:pt idx="3">
                  <c:v>1240.168</c:v>
                </c:pt>
                <c:pt idx="4">
                  <c:v>590.26</c:v>
                </c:pt>
                <c:pt idx="5">
                  <c:v>241.095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6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0.05636589903039713</c:v>
                </c:pt>
                <c:pt idx="1">
                  <c:v>0.054035899030397135</c:v>
                </c:pt>
                <c:pt idx="2">
                  <c:v>0.05203589903039713</c:v>
                </c:pt>
                <c:pt idx="3">
                  <c:v>0.04969589903039713</c:v>
                </c:pt>
                <c:pt idx="4">
                  <c:v>0.04903589903039714</c:v>
                </c:pt>
                <c:pt idx="5">
                  <c:v>0.04903589903039714</c:v>
                </c:pt>
                <c:pt idx="6">
                  <c:v>0.051365899030397136</c:v>
                </c:pt>
                <c:pt idx="7">
                  <c:v>0.053035899030397134</c:v>
                </c:pt>
                <c:pt idx="8">
                  <c:v>0.053035899030397134</c:v>
                </c:pt>
                <c:pt idx="9">
                  <c:v>0.05207589903039714</c:v>
                </c:pt>
                <c:pt idx="10">
                  <c:v>0.05098589903039714</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0.03715203706829546</c:v>
                </c:pt>
                <c:pt idx="1">
                  <c:v>0.03852203706829546</c:v>
                </c:pt>
                <c:pt idx="2">
                  <c:v>0.04027203706829546</c:v>
                </c:pt>
                <c:pt idx="3">
                  <c:v>0.04277203706829546</c:v>
                </c:pt>
                <c:pt idx="4">
                  <c:v>0.04477203706829546</c:v>
                </c:pt>
                <c:pt idx="5">
                  <c:v>0.04479203706829546</c:v>
                </c:pt>
                <c:pt idx="6">
                  <c:v>0.04397203706829546</c:v>
                </c:pt>
                <c:pt idx="7">
                  <c:v>0.04255203706829546</c:v>
                </c:pt>
                <c:pt idx="8">
                  <c:v>0.04138203706829546</c:v>
                </c:pt>
                <c:pt idx="9">
                  <c:v>0.040542037068295456</c:v>
                </c:pt>
                <c:pt idx="10">
                  <c:v>0.03985203706829546</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0.026378220243740546</c:v>
                </c:pt>
                <c:pt idx="1">
                  <c:v>0.028732332637729494</c:v>
                </c:pt>
                <c:pt idx="2">
                  <c:v>0.03171971503244061</c:v>
                </c:pt>
                <c:pt idx="3">
                  <c:v>0.033227172968942294</c:v>
                </c:pt>
                <c:pt idx="4">
                  <c:v>0.03273845372925453</c:v>
                </c:pt>
                <c:pt idx="5">
                  <c:v>0.032043233402374756</c:v>
                </c:pt>
                <c:pt idx="6">
                  <c:v>0.03198128307621715</c:v>
                </c:pt>
                <c:pt idx="7">
                  <c:v>0.032476885685477984</c:v>
                </c:pt>
                <c:pt idx="8">
                  <c:v>0.03223596775042064</c:v>
                </c:pt>
                <c:pt idx="9">
                  <c:v>0.03103826144470696</c:v>
                </c:pt>
                <c:pt idx="10">
                  <c:v>0.02986808861728556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D6E4"/>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9D6E4"/>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58.68262471385053</c:v>
                </c:pt>
                <c:pt idx="1">
                  <c:v>56.8242477041657</c:v>
                </c:pt>
              </c:numCache>
            </c:numRef>
          </c:val>
        </c:ser>
        <c:ser>
          <c:idx val="1"/>
          <c:order val="1"/>
          <c:tx>
            <c:strRef>
              <c:strCache>
                <c:ptCount val="1"/>
                <c:pt idx="0">
                  <c:v>Canada</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25.122094130821203</c:v>
                </c:pt>
                <c:pt idx="1">
                  <c:v>25.666222257380845</c:v>
                </c:pt>
              </c:numCache>
            </c:numRef>
          </c:val>
        </c:ser>
        <c:ser>
          <c:idx val="2"/>
          <c:order val="2"/>
          <c:tx>
            <c:strRef>
              <c:strCache>
                <c:ptCount val="1"/>
                <c:pt idx="0">
                  <c:v>Mexico</c:v>
                </c:pt>
              </c:strCache>
            </c:strRef>
          </c:tx>
          <c:spPr>
            <a:solidFill>
              <a:srgbClr val="0E2A5C"/>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16.19528115532827</c:v>
                </c:pt>
                <c:pt idx="1">
                  <c:v>17.509530038453452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57.692909140991745</c:v>
                </c:pt>
                <c:pt idx="1">
                  <c:v>55.52328827299223</c:v>
                </c:pt>
              </c:numCache>
            </c:numRef>
          </c:val>
        </c:ser>
        <c:ser>
          <c:idx val="1"/>
          <c:order val="1"/>
          <c:tx>
            <c:strRef>
              <c:strCache>
                <c:ptCount val="1"/>
                <c:pt idx="0">
                  <c:v>Canada</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25.997885787585822</c:v>
                </c:pt>
                <c:pt idx="1">
                  <c:v>26.82449656529583</c:v>
                </c:pt>
              </c:numCache>
            </c:numRef>
          </c:val>
        </c:ser>
        <c:ser>
          <c:idx val="2"/>
          <c:order val="2"/>
          <c:tx>
            <c:strRef>
              <c:strCache>
                <c:ptCount val="1"/>
                <c:pt idx="0">
                  <c:v>Mexico</c:v>
                </c:pt>
              </c:strCache>
            </c:strRef>
          </c:tx>
          <c:spPr>
            <a:solidFill>
              <a:srgbClr val="0E2A5C"/>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16.30920507142243</c:v>
                </c:pt>
                <c:pt idx="1">
                  <c:v>17.65221516171193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2A5F8F"/>
            </a:solidFill>
            <a:ln>
              <a:noFill/>
            </a:ln>
          </c:spPr>
          <c:dLbls>
            <c:dLbl>
              <c:idx val="0"/>
              <c:numFmt formatCode="&quot;MMMMMMMMM&quot;;&quot;MMMMMMMMM&quot;;&quot;M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402794.629</c:v>
                </c:pt>
                <c:pt idx="1">
                  <c:v>409355.501</c:v>
                </c:pt>
                <c:pt idx="2">
                  <c:v>416023.24</c:v>
                </c:pt>
                <c:pt idx="3">
                  <c:v>422799.586</c:v>
                </c:pt>
                <c:pt idx="4">
                  <c:v>429686.307</c:v>
                </c:pt>
                <c:pt idx="5">
                  <c:v>436685.202</c:v>
                </c:pt>
                <c:pt idx="6">
                  <c:v>447244.209</c:v>
                </c:pt>
                <c:pt idx="7">
                  <c:v>458058.531</c:v>
                </c:pt>
                <c:pt idx="8">
                  <c:v>469134.343</c:v>
                </c:pt>
                <c:pt idx="9">
                  <c:v>480477.966</c:v>
                </c:pt>
                <c:pt idx="10">
                  <c:v>492095.878</c:v>
                </c:pt>
                <c:pt idx="11">
                  <c:v>503994.71</c:v>
                </c:pt>
                <c:pt idx="12">
                  <c:v>516181.254</c:v>
                </c:pt>
                <c:pt idx="13">
                  <c:v>528662.467</c:v>
                </c:pt>
                <c:pt idx="14">
                  <c:v>541445.475</c:v>
                </c:pt>
                <c:pt idx="15">
                  <c:v>554537.576</c:v>
                </c:pt>
              </c:numCache>
            </c:numRef>
          </c:val>
        </c:ser>
        <c:ser>
          <c:idx val="1"/>
          <c:order val="1"/>
          <c:tx>
            <c:strRef>
              <c:strCache>
                <c:ptCount val="1"/>
                <c:pt idx="0">
                  <c:v>Canada</c:v>
                </c:pt>
              </c:strCache>
            </c:strRef>
          </c:tx>
          <c:spPr>
            <a:solidFill>
              <a:srgbClr val="0081E2"/>
            </a:solidFill>
            <a:ln>
              <a:noFill/>
            </a:ln>
          </c:spPr>
          <c:dLbls>
            <c:dLbl>
              <c:idx val="0"/>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quot;;&quot;MMMMMMMMM&quot;;&quot;MMMM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quot;;&quot;MMMMMMMMM&quot;;&quot;MMMM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quot;;&quot;MMMMMMMMM&quot;;&quot;MMMM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quot;;&quot;MMMMMMMMM&quot;;&quot;MMMM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quot;;&quot;MMMMMMMMM&quot;;&quot;MMMM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167830.931</c:v>
                </c:pt>
                <c:pt idx="1">
                  <c:v>171490.695</c:v>
                </c:pt>
                <c:pt idx="2">
                  <c:v>175230.264</c:v>
                </c:pt>
                <c:pt idx="3">
                  <c:v>179051.379</c:v>
                </c:pt>
                <c:pt idx="4">
                  <c:v>182955.819</c:v>
                </c:pt>
                <c:pt idx="5">
                  <c:v>186945.4</c:v>
                </c:pt>
                <c:pt idx="6">
                  <c:v>192494.9</c:v>
                </c:pt>
                <c:pt idx="7">
                  <c:v>198209.138</c:v>
                </c:pt>
                <c:pt idx="8">
                  <c:v>204093.004</c:v>
                </c:pt>
                <c:pt idx="9">
                  <c:v>210151.533</c:v>
                </c:pt>
                <c:pt idx="10">
                  <c:v>216389.911</c:v>
                </c:pt>
                <c:pt idx="11">
                  <c:v>222813.476</c:v>
                </c:pt>
                <c:pt idx="12">
                  <c:v>229427.725</c:v>
                </c:pt>
                <c:pt idx="13">
                  <c:v>236238.319</c:v>
                </c:pt>
                <c:pt idx="14">
                  <c:v>243251.087</c:v>
                </c:pt>
                <c:pt idx="15">
                  <c:v>250472.03</c:v>
                </c:pt>
              </c:numCache>
            </c:numRef>
          </c:val>
        </c:ser>
        <c:ser>
          <c:idx val="2"/>
          <c:order val="2"/>
          <c:tx>
            <c:strRef>
              <c:strCache>
                <c:ptCount val="1"/>
                <c:pt idx="0">
                  <c:v>Mexico</c:v>
                </c:pt>
              </c:strCache>
            </c:strRef>
          </c:tx>
          <c:spPr>
            <a:solidFill>
              <a:srgbClr val="0E2A5C"/>
            </a:solidFill>
            <a:ln>
              <a:noFill/>
            </a:ln>
          </c:spPr>
          <c:dLbls>
            <c:dLbl>
              <c:idx val="0"/>
              <c:numFmt formatCode="&quot;MMMMMMMMM&quot;;&quot;MMMMMMMMM&quot;;&quot;MMMMMMMMM&quot;" sourceLinked="0"/>
              <c:spPr>
                <a:blipFill>
                  <a:blip r:embed="rId3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3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3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3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3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3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4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4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4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4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4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quot;;&quot;MMMMMMMMM&quot;;&quot;MMMMMMMMM&quot;" sourceLinked="0"/>
              <c:spPr>
                <a:blipFill>
                  <a:blip r:embed="rId4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quot;;&quot;MMMMMMMMM&quot;;&quot;MMMMMMMMM&quot;" sourceLinked="0"/>
              <c:spPr>
                <a:blipFill>
                  <a:blip r:embed="rId4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quot;;&quot;MMMMMMMMM&quot;;&quot;MMMMMMMMM&quot;" sourceLinked="0"/>
              <c:spPr>
                <a:blipFill>
                  <a:blip r:embed="rId4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quot;;&quot;MMMMMMMMM&quot;;&quot;MMMMMMMMM&quot;" sourceLinked="0"/>
              <c:spPr>
                <a:blipFill>
                  <a:blip r:embed="rId4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quot;;&quot;MMMMMMMMM&quot;;&quot;MMMMMMMMM&quot;" sourceLinked="0"/>
              <c:spPr>
                <a:blipFill>
                  <a:blip r:embed="rId4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105156.185</c:v>
                </c:pt>
                <c:pt idx="1">
                  <c:v>108063.08</c:v>
                </c:pt>
                <c:pt idx="2">
                  <c:v>111050.333</c:v>
                </c:pt>
                <c:pt idx="3">
                  <c:v>114120.165</c:v>
                </c:pt>
                <c:pt idx="4">
                  <c:v>117274.857</c:v>
                </c:pt>
                <c:pt idx="5">
                  <c:v>120516.757</c:v>
                </c:pt>
                <c:pt idx="6">
                  <c:v>124798.645</c:v>
                </c:pt>
                <c:pt idx="7">
                  <c:v>129232.666</c:v>
                </c:pt>
                <c:pt idx="8">
                  <c:v>133824.225</c:v>
                </c:pt>
                <c:pt idx="9">
                  <c:v>138578.919</c:v>
                </c:pt>
                <c:pt idx="10">
                  <c:v>143502.545</c:v>
                </c:pt>
                <c:pt idx="11">
                  <c:v>148601.105</c:v>
                </c:pt>
                <c:pt idx="12">
                  <c:v>153880.813</c:v>
                </c:pt>
                <c:pt idx="13">
                  <c:v>159348.106</c:v>
                </c:pt>
                <c:pt idx="14">
                  <c:v>165009.649</c:v>
                </c:pt>
                <c:pt idx="15">
                  <c:v>170872.343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2A5F8F"/>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quot;;&quot;MMMMMMM&quot;;&quot;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quot;;&quot;MMMMMMM&quot;;&quot;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quot;;&quot;MMMMMMM&quot;;&quot;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2145.476</c:v>
                </c:pt>
                <c:pt idx="1">
                  <c:v>2210.394</c:v>
                </c:pt>
                <c:pt idx="2">
                  <c:v>2277.277</c:v>
                </c:pt>
                <c:pt idx="3">
                  <c:v>2346.184</c:v>
                </c:pt>
                <c:pt idx="4">
                  <c:v>2417.175</c:v>
                </c:pt>
                <c:pt idx="5">
                  <c:v>2490.315</c:v>
                </c:pt>
                <c:pt idx="6">
                  <c:v>2585.59</c:v>
                </c:pt>
                <c:pt idx="7">
                  <c:v>2684.511</c:v>
                </c:pt>
                <c:pt idx="8">
                  <c:v>2787.216</c:v>
                </c:pt>
                <c:pt idx="9">
                  <c:v>2893.85</c:v>
                </c:pt>
                <c:pt idx="10">
                  <c:v>3004.564</c:v>
                </c:pt>
                <c:pt idx="11">
                  <c:v>3119.514</c:v>
                </c:pt>
                <c:pt idx="12">
                  <c:v>3238.861</c:v>
                </c:pt>
                <c:pt idx="13">
                  <c:v>3362.774</c:v>
                </c:pt>
                <c:pt idx="14">
                  <c:v>3491.429</c:v>
                </c:pt>
                <c:pt idx="15">
                  <c:v>3625.005</c:v>
                </c:pt>
              </c:numCache>
            </c:numRef>
          </c:val>
        </c:ser>
        <c:ser>
          <c:idx val="1"/>
          <c:order val="1"/>
          <c:tx>
            <c:strRef>
              <c:strCache>
                <c:ptCount val="1"/>
                <c:pt idx="0">
                  <c:v>Canada</c:v>
                </c:pt>
              </c:strCache>
            </c:strRef>
          </c:tx>
          <c:spPr>
            <a:solidFill>
              <a:srgbClr val="0081E2"/>
            </a:solidFill>
            <a:ln>
              <a:noFill/>
            </a:ln>
          </c:spPr>
          <c:dLbls>
            <c:dLbl>
              <c:idx val="0"/>
              <c:numFmt formatCode="&quot;MMMMM&quot;;&quot;MMMMM&quot;;&quot;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quot;;&quot;MMMMMMM&quot;;&quot;MM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quot;;&quot;MMMMMMM&quot;;&quot;MM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quot;;&quot;MMMMMMM&quot;;&quot;MM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933.473</c:v>
                </c:pt>
                <c:pt idx="1">
                  <c:v>968.49</c:v>
                </c:pt>
                <c:pt idx="2">
                  <c:v>1004.822</c:v>
                </c:pt>
                <c:pt idx="3">
                  <c:v>1042.516</c:v>
                </c:pt>
                <c:pt idx="4">
                  <c:v>1081.624</c:v>
                </c:pt>
                <c:pt idx="5">
                  <c:v>1122.199</c:v>
                </c:pt>
                <c:pt idx="6">
                  <c:v>1173.274</c:v>
                </c:pt>
                <c:pt idx="7">
                  <c:v>1226.673</c:v>
                </c:pt>
                <c:pt idx="8">
                  <c:v>1282.503</c:v>
                </c:pt>
                <c:pt idx="9">
                  <c:v>1340.874</c:v>
                </c:pt>
                <c:pt idx="10">
                  <c:v>1401.901</c:v>
                </c:pt>
                <c:pt idx="11">
                  <c:v>1465.706</c:v>
                </c:pt>
                <c:pt idx="12">
                  <c:v>1532.415</c:v>
                </c:pt>
                <c:pt idx="13">
                  <c:v>1602.16</c:v>
                </c:pt>
                <c:pt idx="14">
                  <c:v>1675.08</c:v>
                </c:pt>
                <c:pt idx="15">
                  <c:v>1751.318</c:v>
                </c:pt>
              </c:numCache>
            </c:numRef>
          </c:val>
        </c:ser>
        <c:ser>
          <c:idx val="2"/>
          <c:order val="2"/>
          <c:tx>
            <c:strRef>
              <c:strCache>
                <c:ptCount val="1"/>
                <c:pt idx="0">
                  <c:v>Mexico</c:v>
                </c:pt>
              </c:strCache>
            </c:strRef>
          </c:tx>
          <c:spPr>
            <a:solidFill>
              <a:srgbClr val="0E2A5C"/>
            </a:solidFill>
            <a:ln>
              <a:noFill/>
            </a:ln>
          </c:spPr>
          <c:dLbls>
            <c:dLbl>
              <c:idx val="0"/>
              <c:numFmt formatCode="&quot;MMMMM&quot;;&quot;MMMMM&quot;;&quot;MMMMM&quot;" sourceLinked="0"/>
              <c:spPr>
                <a:blipFill>
                  <a:blip r:embed="rId3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3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3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3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3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4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4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4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4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quot;;&quot;MMMMM&quot;;&quot;MMMMM&quot;" sourceLinked="0"/>
              <c:spPr>
                <a:blipFill>
                  <a:blip r:embed="rId4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quot;;&quot;MMMMM&quot;;&quot;MMMMM&quot;" sourceLinked="0"/>
              <c:spPr>
                <a:blipFill>
                  <a:blip r:embed="rId4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quot;;&quot;MMMMM&quot;;&quot;MMMMM&quot;" sourceLinked="0"/>
              <c:spPr>
                <a:blipFill>
                  <a:blip r:embed="rId4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quot;;&quot;MMMMMMM&quot;;&quot;MMMMMMM&quot;" sourceLinked="0"/>
              <c:spPr>
                <a:blipFill>
                  <a:blip r:embed="rId4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4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4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571.651</c:v>
                </c:pt>
                <c:pt idx="1">
                  <c:v>595.96</c:v>
                </c:pt>
                <c:pt idx="2">
                  <c:v>621.304</c:v>
                </c:pt>
                <c:pt idx="3">
                  <c:v>647.726</c:v>
                </c:pt>
                <c:pt idx="4">
                  <c:v>675.271</c:v>
                </c:pt>
                <c:pt idx="5">
                  <c:v>703.987</c:v>
                </c:pt>
                <c:pt idx="6">
                  <c:v>739.557</c:v>
                </c:pt>
                <c:pt idx="7">
                  <c:v>776.924</c:v>
                </c:pt>
                <c:pt idx="8">
                  <c:v>816.179</c:v>
                </c:pt>
                <c:pt idx="9">
                  <c:v>857.417</c:v>
                </c:pt>
                <c:pt idx="10">
                  <c:v>900.738</c:v>
                </c:pt>
                <c:pt idx="11">
                  <c:v>946.249</c:v>
                </c:pt>
                <c:pt idx="12">
                  <c:v>994.059</c:v>
                </c:pt>
                <c:pt idx="13">
                  <c:v>1044.285</c:v>
                </c:pt>
                <c:pt idx="14">
                  <c:v>1097.048</c:v>
                </c:pt>
                <c:pt idx="15">
                  <c:v>1152.478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Rotary Screw Air Compressor</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19.094854739092632</c:v>
                </c:pt>
                <c:pt idx="1">
                  <c:v>26.954213912036533</c:v>
                </c:pt>
                <c:pt idx="2">
                  <c:v>26.228460374537416</c:v>
                </c:pt>
              </c:numCache>
            </c:numRef>
          </c:val>
        </c:ser>
        <c:ser>
          <c:idx val="1"/>
          <c:order val="1"/>
          <c:tx>
            <c:strRef>
              <c:strCache>
                <c:ptCount val="1"/>
                <c:pt idx="0">
                  <c:v>Reciprocating (Piston) Air Compressor</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12.739852734715978</c:v>
                </c:pt>
                <c:pt idx="1">
                  <c:v>14.446719556356985</c:v>
                </c:pt>
                <c:pt idx="2">
                  <c:v>16.800859585021264</c:v>
                </c:pt>
              </c:numCache>
            </c:numRef>
          </c:val>
        </c:ser>
        <c:ser>
          <c:idx val="2"/>
          <c:order val="2"/>
          <c:tx>
            <c:strRef>
              <c:strCache>
                <c:ptCount val="1"/>
                <c:pt idx="0">
                  <c:v>Centrifugal Air Compressor</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23.42257292547016</c:v>
                </c:pt>
                <c:pt idx="1">
                  <c:v>19.400360185871442</c:v>
                </c:pt>
                <c:pt idx="2">
                  <c:v>21.500963446946965</c:v>
                </c:pt>
              </c:numCache>
            </c:numRef>
          </c:val>
        </c:ser>
        <c:ser>
          <c:idx val="3"/>
          <c:order val="3"/>
          <c:tx>
            <c:strRef>
              <c:strCache>
                <c:ptCount val="1"/>
                <c:pt idx="0">
                  <c:v>Axial Air Compressor</c:v>
                </c:pt>
              </c:strCache>
            </c:strRef>
          </c:tx>
          <c:spPr>
            <a:solidFill>
              <a:srgbClr val="00ACAC"/>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4.548980544531002</c:v>
                </c:pt>
                <c:pt idx="1">
                  <c:v>5.206535877550508</c:v>
                </c:pt>
                <c:pt idx="2">
                  <c:v>6.20368799491311</c:v>
                </c:pt>
              </c:numCache>
            </c:numRef>
          </c:val>
        </c:ser>
        <c:ser>
          <c:idx val="4"/>
          <c:order val="4"/>
          <c:tx>
            <c:strRef>
              <c:strCache>
                <c:ptCount val="1"/>
                <c:pt idx="0">
                  <c:v>Rotary Vane Air Compressor</c:v>
                </c:pt>
              </c:strCache>
            </c:strRef>
          </c:tx>
          <c:spPr>
            <a:solidFill>
              <a:srgbClr val="F47620"/>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11.305118188807073</c:v>
                </c:pt>
                <c:pt idx="1">
                  <c:v>11.442525001170548</c:v>
                </c:pt>
                <c:pt idx="2">
                  <c:v>8.509008953091099</c:v>
                </c:pt>
              </c:numCache>
            </c:numRef>
          </c:val>
        </c:ser>
        <c:ser>
          <c:idx val="5"/>
          <c:order val="5"/>
          <c:tx>
            <c:strRef>
              <c:strCache>
                <c:ptCount val="1"/>
                <c:pt idx="0">
                  <c:v>Scroll Air Compressor</c:v>
                </c:pt>
              </c:strCache>
            </c:strRef>
          </c:tx>
          <c:spPr>
            <a:solidFill>
              <a:srgbClr val="79C3EC"/>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28.888620867383153</c:v>
                </c:pt>
                <c:pt idx="1">
                  <c:v>22.54964546701399</c:v>
                </c:pt>
                <c:pt idx="2">
                  <c:v>20.757019645490143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3.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Rotary Screw Air Compressor</c:v>
                </c:pt>
              </c:strCache>
            </c:strRef>
          </c:tx>
          <c:spPr>
            <a:solidFill>
              <a:srgbClr val="2A5F8F"/>
            </a:solidFill>
          </c:spPr>
          <c:invertIfNegative val="0"/>
          <c:xVal>
            <c:numRef>
              <c:numCache>
                <c:formatCode>General</c:formatCode>
                <c:ptCount val="1"/>
                <c:pt idx="0">
                  <c:v>110.36490355342569</c:v>
                </c:pt>
              </c:numCache>
            </c:numRef>
          </c:xVal>
          <c:yVal>
            <c:numRef>
              <c:numCache>
                <c:formatCode>General</c:formatCode>
                <c:ptCount val="1"/>
                <c:pt idx="0">
                  <c:v>144.78435195543798</c:v>
                </c:pt>
              </c:numCache>
            </c:numRef>
          </c:yVal>
          <c:bubbleSize>
            <c:numRef>
              <c:numCache>
                <c:formatCode>General</c:formatCode>
                <c:ptCount val="1"/>
                <c:pt idx="0">
                  <c:v>1642.901</c:v>
                </c:pt>
              </c:numCache>
            </c:numRef>
          </c:bubbleSize>
          <c:bubble3D val="0"/>
        </c:ser>
        <c:ser>
          <c:idx val="1"/>
          <c:order val="1"/>
          <c:tx>
            <c:strRef>
              <c:strCache>
                <c:ptCount val="1"/>
                <c:pt idx="0">
                  <c:v>Reciprocating (Piston) Air Compressor</c:v>
                </c:pt>
              </c:strCache>
            </c:strRef>
          </c:tx>
          <c:spPr>
            <a:solidFill>
              <a:srgbClr val="0081E2"/>
            </a:solidFill>
          </c:spPr>
          <c:invertIfNegative val="0"/>
          <c:xVal>
            <c:numRef>
              <c:numCache>
                <c:formatCode>General</c:formatCode>
                <c:ptCount val="1"/>
                <c:pt idx="0">
                  <c:v>26.2599024104263</c:v>
                </c:pt>
              </c:numCache>
            </c:numRef>
          </c:xVal>
          <c:yVal>
            <c:numRef>
              <c:numCache>
                <c:formatCode>General</c:formatCode>
                <c:ptCount val="1"/>
                <c:pt idx="0">
                  <c:v>125.58505141085337</c:v>
                </c:pt>
              </c:numCache>
            </c:numRef>
          </c:yVal>
          <c:bubbleSize>
            <c:numRef>
              <c:numCache>
                <c:formatCode>General</c:formatCode>
                <c:ptCount val="1"/>
                <c:pt idx="0">
                  <c:v>1008.864</c:v>
                </c:pt>
              </c:numCache>
            </c:numRef>
          </c:bubbleSize>
          <c:bubble3D val="0"/>
        </c:ser>
        <c:ser>
          <c:idx val="2"/>
          <c:order val="2"/>
          <c:tx>
            <c:strRef>
              <c:strCache>
                <c:ptCount val="1"/>
                <c:pt idx="0">
                  <c:v>Centrifugal Air Compressor</c:v>
                </c:pt>
              </c:strCache>
            </c:strRef>
          </c:tx>
          <c:spPr>
            <a:solidFill>
              <a:srgbClr val="0E2A5C"/>
            </a:solidFill>
          </c:spPr>
          <c:invertIfNegative val="0"/>
          <c:xVal>
            <c:numRef>
              <c:numCache>
                <c:formatCode>General</c:formatCode>
                <c:ptCount val="1"/>
                <c:pt idx="0">
                  <c:v>138.87717880623094</c:v>
                </c:pt>
              </c:numCache>
            </c:numRef>
          </c:xVal>
          <c:yVal>
            <c:numRef>
              <c:numCache>
                <c:formatCode>General</c:formatCode>
                <c:ptCount val="1"/>
                <c:pt idx="0">
                  <c:v>109.18218251310495</c:v>
                </c:pt>
              </c:numCache>
            </c:numRef>
          </c:yVal>
          <c:bubbleSize>
            <c:numRef>
              <c:numCache>
                <c:formatCode>General</c:formatCode>
                <c:ptCount val="1"/>
                <c:pt idx="0">
                  <c:v>1389.113</c:v>
                </c:pt>
              </c:numCache>
            </c:numRef>
          </c:bubbleSize>
          <c:bubble3D val="0"/>
        </c:ser>
        <c:ser>
          <c:idx val="3"/>
          <c:order val="3"/>
          <c:tx>
            <c:strRef>
              <c:strCache>
                <c:ptCount val="1"/>
                <c:pt idx="0">
                  <c:v>Axial Air Compressor</c:v>
                </c:pt>
              </c:strCache>
            </c:strRef>
          </c:tx>
          <c:spPr>
            <a:solidFill>
              <a:srgbClr val="00ACAC"/>
            </a:solidFill>
          </c:spPr>
          <c:invertIfNegative val="0"/>
          <c:xVal>
            <c:numRef>
              <c:numCache>
                <c:formatCode>General</c:formatCode>
                <c:ptCount val="1"/>
                <c:pt idx="0">
                  <c:v>15.423007380125133</c:v>
                </c:pt>
              </c:numCache>
            </c:numRef>
          </c:xVal>
          <c:yVal>
            <c:numRef>
              <c:numCache>
                <c:formatCode>General</c:formatCode>
                <c:ptCount val="1"/>
                <c:pt idx="0">
                  <c:v>48.00026688282941</c:v>
                </c:pt>
              </c:numCache>
            </c:numRef>
          </c:yVal>
          <c:bubbleSize>
            <c:numRef>
              <c:numCache>
                <c:formatCode>General</c:formatCode>
                <c:ptCount val="1"/>
                <c:pt idx="0">
                  <c:v>368.493</c:v>
                </c:pt>
              </c:numCache>
            </c:numRef>
          </c:bubbleSize>
          <c:bubble3D val="0"/>
        </c:ser>
        <c:ser>
          <c:idx val="4"/>
          <c:order val="4"/>
          <c:tx>
            <c:strRef>
              <c:strCache>
                <c:ptCount val="1"/>
                <c:pt idx="0">
                  <c:v>Rotary Vane Air Compressor</c:v>
                </c:pt>
              </c:strCache>
            </c:strRef>
          </c:tx>
          <c:spPr>
            <a:solidFill>
              <a:srgbClr val="F47620"/>
            </a:solidFill>
          </c:spPr>
          <c:invertIfNegative val="0"/>
          <c:xVal>
            <c:numRef>
              <c:numCache>
                <c:formatCode>General</c:formatCode>
                <c:ptCount val="1"/>
                <c:pt idx="0">
                  <c:v>119.32239717539485</c:v>
                </c:pt>
              </c:numCache>
            </c:numRef>
          </c:xVal>
          <c:yVal>
            <c:numRef>
              <c:numCache>
                <c:formatCode>General</c:formatCode>
                <c:ptCount val="1"/>
                <c:pt idx="0">
                  <c:v>54.32872597504321</c:v>
                </c:pt>
              </c:numCache>
            </c:numRef>
          </c:yVal>
          <c:bubbleSize>
            <c:numRef>
              <c:numCache>
                <c:formatCode>General</c:formatCode>
                <c:ptCount val="1"/>
                <c:pt idx="0">
                  <c:v>639.136</c:v>
                </c:pt>
              </c:numCache>
            </c:numRef>
          </c:bubbleSize>
          <c:bubble3D val="0"/>
        </c:ser>
        <c:ser>
          <c:idx val="5"/>
          <c:order val="5"/>
          <c:tx>
            <c:strRef>
              <c:strCache>
                <c:ptCount val="1"/>
                <c:pt idx="0">
                  <c:v>Scroll Air Compressor</c:v>
                </c:pt>
              </c:strCache>
            </c:strRef>
          </c:tx>
          <c:spPr>
            <a:solidFill>
              <a:srgbClr val="79C3EC"/>
            </a:solidFill>
          </c:spPr>
          <c:invertIfNegative val="0"/>
          <c:xVal>
            <c:numRef>
              <c:numCache>
                <c:formatCode>General</c:formatCode>
                <c:ptCount val="1"/>
                <c:pt idx="0">
                  <c:v>135.0952681979209</c:v>
                </c:pt>
              </c:numCache>
            </c:numRef>
          </c:xVal>
          <c:yVal>
            <c:numRef>
              <c:numCache>
                <c:formatCode>General</c:formatCode>
                <c:ptCount val="1"/>
                <c:pt idx="0">
                  <c:v>118.11942126273107</c:v>
                </c:pt>
              </c:numCache>
            </c:numRef>
          </c:yVal>
          <c:bubbleSize>
            <c:numRef>
              <c:numCache>
                <c:formatCode>General</c:formatCode>
                <c:ptCount val="1"/>
                <c:pt idx="0">
                  <c:v>1480.294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70.0"/>
          <c:min val="-2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1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1041.603</c:v>
                </c:pt>
                <c:pt idx="2">
                  <c:v>1141.485</c:v>
                </c:pt>
                <c:pt idx="3">
                  <c:v>1250.662</c:v>
                </c:pt>
                <c:pt idx="4">
                  <c:v>1369.988</c:v>
                </c:pt>
                <c:pt idx="5">
                  <c:v>1500.394</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1041.603</c:v>
                </c:pt>
                <c:pt idx="1">
                  <c:v>99.88199999999983</c:v>
                </c:pt>
                <c:pt idx="2">
                  <c:v>109.17700000000013</c:v>
                </c:pt>
                <c:pt idx="3">
                  <c:v>119.32600000000002</c:v>
                </c:pt>
                <c:pt idx="4">
                  <c:v>130.40599999999995</c:v>
                </c:pt>
                <c:pt idx="5">
                  <c:v>142.50700000000006</c:v>
                </c:pt>
                <c:pt idx="6">
                  <c:v>1642.901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903.48</c:v>
                </c:pt>
                <c:pt idx="2">
                  <c:v>927.791</c:v>
                </c:pt>
                <c:pt idx="3">
                  <c:v>950.843</c:v>
                </c:pt>
                <c:pt idx="4">
                  <c:v>972.3</c:v>
                </c:pt>
                <c:pt idx="5">
                  <c:v>991.784</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903.48</c:v>
                </c:pt>
                <c:pt idx="1">
                  <c:v>24.311000000000035</c:v>
                </c:pt>
                <c:pt idx="2">
                  <c:v>23.051999999999907</c:v>
                </c:pt>
                <c:pt idx="3">
                  <c:v>21.456999999999994</c:v>
                </c:pt>
                <c:pt idx="4">
                  <c:v>19.484000000000037</c:v>
                </c:pt>
                <c:pt idx="5">
                  <c:v>17.08000000000004</c:v>
                </c:pt>
                <c:pt idx="6">
                  <c:v>1008.864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785.475</c:v>
                </c:pt>
                <c:pt idx="2">
                  <c:v>883.173</c:v>
                </c:pt>
                <c:pt idx="3">
                  <c:v>991.287</c:v>
                </c:pt>
                <c:pt idx="4">
                  <c:v>1110.865</c:v>
                </c:pt>
                <c:pt idx="5">
                  <c:v>1243.053</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785.475</c:v>
                </c:pt>
                <c:pt idx="1">
                  <c:v>97.69799999999998</c:v>
                </c:pt>
                <c:pt idx="2">
                  <c:v>108.11400000000003</c:v>
                </c:pt>
                <c:pt idx="3">
                  <c:v>119.57799999999997</c:v>
                </c:pt>
                <c:pt idx="4">
                  <c:v>132.1880000000001</c:v>
                </c:pt>
                <c:pt idx="5">
                  <c:v>146.05999999999995</c:v>
                </c:pt>
                <c:pt idx="6">
                  <c:v>1389.113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345.322</c:v>
                </c:pt>
                <c:pt idx="2">
                  <c:v>352.045</c:v>
                </c:pt>
                <c:pt idx="3">
                  <c:v>357.906</c:v>
                </c:pt>
                <c:pt idx="4">
                  <c:v>362.734</c:v>
                </c:pt>
                <c:pt idx="5">
                  <c:v>366.336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345.322</c:v>
                </c:pt>
                <c:pt idx="1">
                  <c:v>6.723000000000013</c:v>
                </c:pt>
                <c:pt idx="2">
                  <c:v>5.86099999999999</c:v>
                </c:pt>
                <c:pt idx="3">
                  <c:v>4.8279999999999745</c:v>
                </c:pt>
                <c:pt idx="4">
                  <c:v>3.6020000000000323</c:v>
                </c:pt>
                <c:pt idx="5">
                  <c:v>2.1569999999999823</c:v>
                </c:pt>
                <c:pt idx="6">
                  <c:v>368.493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390.85</c:v>
                </c:pt>
                <c:pt idx="2">
                  <c:v>431.641</c:v>
                </c:pt>
                <c:pt idx="3">
                  <c:v>476.457</c:v>
                </c:pt>
                <c:pt idx="4">
                  <c:v>525.688</c:v>
                </c:pt>
                <c:pt idx="5">
                  <c:v>579.758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390.85</c:v>
                </c:pt>
                <c:pt idx="1">
                  <c:v>40.791</c:v>
                </c:pt>
                <c:pt idx="2">
                  <c:v>44.815999999999974</c:v>
                </c:pt>
                <c:pt idx="3">
                  <c:v>49.230999999999995</c:v>
                </c:pt>
                <c:pt idx="4">
                  <c:v>54.07000000000005</c:v>
                </c:pt>
                <c:pt idx="5">
                  <c:v>59.37799999999993</c:v>
                </c:pt>
                <c:pt idx="6">
                  <c:v>639.136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849.771</c:v>
                </c:pt>
                <c:pt idx="2">
                  <c:v>951.973</c:v>
                </c:pt>
                <c:pt idx="3">
                  <c:v>1064.986</c:v>
                </c:pt>
                <c:pt idx="4">
                  <c:v>1189.894</c:v>
                </c:pt>
                <c:pt idx="5">
                  <c:v>1327.894</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849.771</c:v>
                </c:pt>
                <c:pt idx="1">
                  <c:v>102.202</c:v>
                </c:pt>
                <c:pt idx="2">
                  <c:v>113.01300000000015</c:v>
                </c:pt>
                <c:pt idx="3">
                  <c:v>124.9079999999999</c:v>
                </c:pt>
                <c:pt idx="4">
                  <c:v>138.0</c:v>
                </c:pt>
                <c:pt idx="5">
                  <c:v>152.4000000000001</c:v>
                </c:pt>
                <c:pt idx="6">
                  <c:v>1480.294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Screw Air Compressor</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23.560620172026518</c:v>
                </c:pt>
                <c:pt idx="1">
                  <c:v>24.13072532590633</c:v>
                </c:pt>
                <c:pt idx="2">
                  <c:v>25.16390069171966</c:v>
                </c:pt>
              </c:numCache>
            </c:numRef>
          </c:val>
        </c:ser>
        <c:ser>
          <c:idx val="1"/>
          <c:order val="1"/>
          <c:tx>
            <c:strRef>
              <c:strCache>
                <c:ptCount val="1"/>
                <c:pt idx="0">
                  <c:v>Scroll Air Compressor</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18.08552018846217</c:v>
                </c:pt>
                <c:pt idx="1">
                  <c:v>19.68657021045518</c:v>
                </c:pt>
                <c:pt idx="2">
                  <c:v>22.673290241194362</c:v>
                </c:pt>
              </c:numCache>
            </c:numRef>
          </c:val>
        </c:ser>
        <c:ser>
          <c:idx val="2"/>
          <c:order val="2"/>
          <c:tx>
            <c:strRef>
              <c:strCache>
                <c:ptCount val="1"/>
                <c:pt idx="0">
                  <c:v>Centrifugal Air Compressor</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16.533364378458337</c:v>
                </c:pt>
                <c:pt idx="1">
                  <c:v>18.197030418850822</c:v>
                </c:pt>
                <c:pt idx="2">
                  <c:v>21.276693837046036</c:v>
                </c:pt>
              </c:numCache>
            </c:numRef>
          </c:val>
        </c:ser>
        <c:ser>
          <c:idx val="3"/>
          <c:order val="3"/>
          <c:tx>
            <c:strRef>
              <c:strCache>
                <c:ptCount val="1"/>
                <c:pt idx="0">
                  <c:v>Reciprocating (Piston) Air Compressor</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23.88692269763874</c:v>
                </c:pt>
                <c:pt idx="1">
                  <c:v>20.930841901808893</c:v>
                </c:pt>
                <c:pt idx="2">
                  <c:v>15.452515706942208</c:v>
                </c:pt>
              </c:numCache>
            </c:numRef>
          </c:val>
        </c:ser>
        <c:ser>
          <c:idx val="4"/>
          <c:order val="4"/>
          <c:tx>
            <c:strRef>
              <c:strCache>
                <c:ptCount val="1"/>
                <c:pt idx="0">
                  <c:v>Vane Air Compressor</c:v>
                </c:pt>
              </c:strCache>
            </c:strRef>
          </c:tx>
          <c:spPr>
            <a:solidFill>
              <a:srgbClr val="F47620"/>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8.661096806004492</c:v>
                </c:pt>
                <c:pt idx="1">
                  <c:v>9.054787662507202</c:v>
                </c:pt>
                <c:pt idx="2">
                  <c:v>9.789485083095654</c:v>
                </c:pt>
              </c:numCache>
            </c:numRef>
          </c:val>
        </c:ser>
        <c:ser>
          <c:idx val="5"/>
          <c:order val="5"/>
          <c:tx>
            <c:strRef>
              <c:strCache>
                <c:ptCount val="1"/>
                <c:pt idx="0">
                  <c:v>Axial Air Compressor</c:v>
                </c:pt>
              </c:strCache>
            </c:strRef>
          </c:tx>
          <c:spPr>
            <a:solidFill>
              <a:srgbClr val="79C3EC"/>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9.27247575740974</c:v>
                </c:pt>
                <c:pt idx="1">
                  <c:v>8.000044480471567</c:v>
                </c:pt>
                <c:pt idx="2">
                  <c:v>5.644114440002077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Up to 500 HP</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34.39267387316721</c:v>
                </c:pt>
                <c:pt idx="1">
                  <c:v>35.20108855159371</c:v>
                </c:pt>
                <c:pt idx="2">
                  <c:v>28.349919517352383</c:v>
                </c:pt>
              </c:numCache>
            </c:numRef>
          </c:val>
        </c:ser>
        <c:ser>
          <c:idx val="1"/>
          <c:order val="1"/>
          <c:tx>
            <c:strRef>
              <c:strCache>
                <c:ptCount val="1"/>
                <c:pt idx="0">
                  <c:v>Above 500 to 2,000 HP</c:v>
                </c:pt>
              </c:strCache>
            </c:strRef>
          </c:tx>
          <c:spPr>
            <a:solidFill>
              <a:srgbClr val="0081E2"/>
            </a:solidFill>
            <a:ln>
              <a:noFill/>
            </a:ln>
          </c:spPr>
          <c:dLbls>
            <c:dLbl>
              <c:idx val="0"/>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6.417996699286234</c:v>
                </c:pt>
                <c:pt idx="1">
                  <c:v>6.932721527443903</c:v>
                </c:pt>
                <c:pt idx="2">
                  <c:v>8.685119055008201</c:v>
                </c:pt>
              </c:numCache>
            </c:numRef>
          </c:val>
        </c:ser>
        <c:ser>
          <c:idx val="2"/>
          <c:order val="2"/>
          <c:tx>
            <c:strRef>
              <c:strCache>
                <c:ptCount val="1"/>
                <c:pt idx="0">
                  <c:v>Above 2,000 to 5,000 HP</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25.524738867032603</c:v>
                </c:pt>
                <c:pt idx="1">
                  <c:v>25.945830511648943</c:v>
                </c:pt>
                <c:pt idx="2">
                  <c:v>28.62605706750749</c:v>
                </c:pt>
              </c:numCache>
            </c:numRef>
          </c:val>
        </c:ser>
        <c:ser>
          <c:idx val="3"/>
          <c:order val="3"/>
          <c:tx>
            <c:strRef>
              <c:strCache>
                <c:ptCount val="1"/>
                <c:pt idx="0">
                  <c:v>Above 5,000 to 12,000 HP</c:v>
                </c:pt>
              </c:strCache>
            </c:strRef>
          </c:tx>
          <c:spPr>
            <a:solidFill>
              <a:srgbClr val="00ACAC"/>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7.62331254913326</c:v>
                </c:pt>
                <c:pt idx="1">
                  <c:v>5.363560472741102</c:v>
                </c:pt>
                <c:pt idx="2">
                  <c:v>6.938059395780144</c:v>
                </c:pt>
              </c:numCache>
            </c:numRef>
          </c:val>
        </c:ser>
        <c:ser>
          <c:idx val="4"/>
          <c:order val="4"/>
          <c:tx>
            <c:strRef>
              <c:strCache>
                <c:ptCount val="1"/>
                <c:pt idx="0">
                  <c:v>Above 12,000 to 20,000 HP</c:v>
                </c:pt>
              </c:strCache>
            </c:strRef>
          </c:tx>
          <c:spPr>
            <a:solidFill>
              <a:srgbClr val="F47620"/>
            </a:solidFill>
            <a:ln>
              <a:noFill/>
            </a:ln>
          </c:spPr>
          <c:dLbls>
            <c:dLbl>
              <c:idx val="0"/>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4.664470818531894</c:v>
                </c:pt>
                <c:pt idx="1">
                  <c:v>6.110712046584344</c:v>
                </c:pt>
                <c:pt idx="2">
                  <c:v>3.870891212563844</c:v>
                </c:pt>
              </c:numCache>
            </c:numRef>
          </c:val>
        </c:ser>
        <c:ser>
          <c:idx val="5"/>
          <c:order val="5"/>
          <c:tx>
            <c:strRef>
              <c:strCache>
                <c:ptCount val="1"/>
                <c:pt idx="0">
                  <c:v>Above 20,000 HP</c:v>
                </c:pt>
              </c:strCache>
            </c:strRef>
          </c:tx>
          <c:spPr>
            <a:solidFill>
              <a:srgbClr val="79C3EC"/>
            </a:solidFill>
            <a:ln>
              <a:noFill/>
            </a:ln>
          </c:spPr>
          <c:dLbls>
            <c:dLbl>
              <c:idx val="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21.376807192848805</c:v>
                </c:pt>
                <c:pt idx="1">
                  <c:v>20.446086889988</c:v>
                </c:pt>
                <c:pt idx="2">
                  <c:v>23.52995375178793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2.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Up to 500 HP</c:v>
                </c:pt>
              </c:strCache>
            </c:strRef>
          </c:tx>
          <c:spPr>
            <a:solidFill>
              <a:srgbClr val="2A5F8F"/>
            </a:solidFill>
          </c:spPr>
          <c:invertIfNegative val="0"/>
          <c:xVal>
            <c:numRef>
              <c:numCache>
                <c:formatCode>General</c:formatCode>
                <c:ptCount val="1"/>
                <c:pt idx="0">
                  <c:v>128.306315135144</c:v>
                </c:pt>
              </c:numCache>
            </c:numRef>
          </c:xVal>
          <c:yVal>
            <c:numRef>
              <c:numCache>
                <c:formatCode>General</c:formatCode>
                <c:ptCount val="1"/>
                <c:pt idx="0">
                  <c:v>167.3081507452448</c:v>
                </c:pt>
              </c:numCache>
            </c:numRef>
          </c:yVal>
          <c:bubbleSize>
            <c:numRef>
              <c:numCache>
                <c:formatCode>General</c:formatCode>
                <c:ptCount val="1"/>
                <c:pt idx="0">
                  <c:v>2040.537</c:v>
                </c:pt>
              </c:numCache>
            </c:numRef>
          </c:bubbleSize>
          <c:bubble3D val="0"/>
        </c:ser>
        <c:ser>
          <c:idx val="1"/>
          <c:order val="1"/>
          <c:tx>
            <c:strRef>
              <c:strCache>
                <c:ptCount val="1"/>
                <c:pt idx="0">
                  <c:v>Above 500 to 2,000 HP</c:v>
                </c:pt>
              </c:strCache>
            </c:strRef>
          </c:tx>
          <c:spPr>
            <a:solidFill>
              <a:srgbClr val="0081E2"/>
            </a:solidFill>
          </c:spPr>
          <c:invertIfNegative val="0"/>
          <c:xVal>
            <c:numRef>
              <c:numCache>
                <c:formatCode>General</c:formatCode>
                <c:ptCount val="1"/>
                <c:pt idx="0">
                  <c:v>99.12340142346898</c:v>
                </c:pt>
              </c:numCache>
            </c:numRef>
          </c:xVal>
          <c:yVal>
            <c:numRef>
              <c:numCache>
                <c:formatCode>General</c:formatCode>
                <c:ptCount val="1"/>
                <c:pt idx="0">
                  <c:v>47.056029872343366</c:v>
                </c:pt>
              </c:numCache>
            </c:numRef>
          </c:yVal>
          <c:bubbleSize>
            <c:numRef>
              <c:numCache>
                <c:formatCode>General</c:formatCode>
                <c:ptCount val="1"/>
                <c:pt idx="0">
                  <c:v>510.216</c:v>
                </c:pt>
              </c:numCache>
            </c:numRef>
          </c:bubbleSize>
          <c:bubble3D val="0"/>
        </c:ser>
        <c:ser>
          <c:idx val="2"/>
          <c:order val="2"/>
          <c:tx>
            <c:strRef>
              <c:strCache>
                <c:ptCount val="1"/>
                <c:pt idx="0">
                  <c:v>Above 2,000 to 5,000 HP</c:v>
                </c:pt>
              </c:strCache>
            </c:strRef>
          </c:tx>
          <c:spPr>
            <a:solidFill>
              <a:srgbClr val="0E2A5C"/>
            </a:solidFill>
          </c:spPr>
          <c:invertIfNegative val="0"/>
          <c:xVal>
            <c:numRef>
              <c:numCache>
                <c:formatCode>General</c:formatCode>
                <c:ptCount val="1"/>
                <c:pt idx="0">
                  <c:v>63.92699551590666</c:v>
                </c:pt>
              </c:numCache>
            </c:numRef>
          </c:xVal>
          <c:yVal>
            <c:numRef>
              <c:numCache>
                <c:formatCode>General</c:formatCode>
                <c:ptCount val="1"/>
                <c:pt idx="0">
                  <c:v>190.2091995345304</c:v>
                </c:pt>
              </c:numCache>
            </c:numRef>
          </c:yVal>
          <c:bubbleSize>
            <c:numRef>
              <c:numCache>
                <c:formatCode>General</c:formatCode>
                <c:ptCount val="1"/>
                <c:pt idx="0">
                  <c:v>1786.257</c:v>
                </c:pt>
              </c:numCache>
            </c:numRef>
          </c:bubbleSize>
          <c:bubble3D val="0"/>
        </c:ser>
        <c:ser>
          <c:idx val="3"/>
          <c:order val="3"/>
          <c:tx>
            <c:strRef>
              <c:strCache>
                <c:ptCount val="1"/>
                <c:pt idx="0">
                  <c:v>Above 5,000 to 12,000 HP</c:v>
                </c:pt>
              </c:strCache>
            </c:strRef>
          </c:tx>
          <c:spPr>
            <a:solidFill>
              <a:srgbClr val="00ACAC"/>
            </a:solidFill>
          </c:spPr>
          <c:invertIfNegative val="0"/>
          <c:xVal>
            <c:numRef>
              <c:numCache>
                <c:formatCode>General</c:formatCode>
                <c:ptCount val="1"/>
                <c:pt idx="0">
                  <c:v>63.03753938865479</c:v>
                </c:pt>
              </c:numCache>
            </c:numRef>
          </c:xVal>
          <c:yVal>
            <c:numRef>
              <c:numCache>
                <c:formatCode>General</c:formatCode>
                <c:ptCount val="1"/>
                <c:pt idx="0">
                  <c:v>46.308479947068236</c:v>
                </c:pt>
              </c:numCache>
            </c:numRef>
          </c:yVal>
          <c:bubbleSize>
            <c:numRef>
              <c:numCache>
                <c:formatCode>General</c:formatCode>
                <c:ptCount val="1"/>
                <c:pt idx="0">
                  <c:v>433.295</c:v>
                </c:pt>
              </c:numCache>
            </c:numRef>
          </c:bubbleSize>
          <c:bubble3D val="0"/>
        </c:ser>
        <c:ser>
          <c:idx val="4"/>
          <c:order val="4"/>
          <c:tx>
            <c:strRef>
              <c:strCache>
                <c:ptCount val="1"/>
                <c:pt idx="0">
                  <c:v>Above 12,000 to 20,000 HP</c:v>
                </c:pt>
              </c:strCache>
            </c:strRef>
          </c:tx>
          <c:spPr>
            <a:solidFill>
              <a:srgbClr val="F47620"/>
            </a:solidFill>
          </c:spPr>
          <c:invertIfNegative val="0"/>
          <c:xVal>
            <c:numRef>
              <c:numCache>
                <c:formatCode>General</c:formatCode>
                <c:ptCount val="1"/>
                <c:pt idx="0">
                  <c:v>110.80518941391833</c:v>
                </c:pt>
              </c:numCache>
            </c:numRef>
          </c:xVal>
          <c:yVal>
            <c:numRef>
              <c:numCache>
                <c:formatCode>General</c:formatCode>
                <c:ptCount val="1"/>
                <c:pt idx="0">
                  <c:v>26.487564812332952</c:v>
                </c:pt>
              </c:numCache>
            </c:numRef>
          </c:yVal>
          <c:bubbleSize>
            <c:numRef>
              <c:numCache>
                <c:formatCode>General</c:formatCode>
                <c:ptCount val="1"/>
                <c:pt idx="0">
                  <c:v>301.095</c:v>
                </c:pt>
              </c:numCache>
            </c:numRef>
          </c:bubbleSize>
          <c:bubble3D val="0"/>
        </c:ser>
        <c:ser>
          <c:idx val="5"/>
          <c:order val="5"/>
          <c:tx>
            <c:strRef>
              <c:strCache>
                <c:ptCount val="1"/>
                <c:pt idx="0">
                  <c:v>Above 20,000 HP</c:v>
                </c:pt>
              </c:strCache>
            </c:strRef>
          </c:tx>
          <c:spPr>
            <a:solidFill>
              <a:srgbClr val="79C3EC"/>
            </a:solidFill>
          </c:spPr>
          <c:invertIfNegative val="0"/>
          <c:xVal>
            <c:numRef>
              <c:numCache>
                <c:formatCode>General</c:formatCode>
                <c:ptCount val="1"/>
                <c:pt idx="0">
                  <c:v>121.85223823144106</c:v>
                </c:pt>
              </c:numCache>
            </c:numRef>
          </c:xVal>
          <c:yVal>
            <c:numRef>
              <c:numCache>
                <c:formatCode>General</c:formatCode>
                <c:ptCount val="1"/>
                <c:pt idx="0">
                  <c:v>122.63057508848023</c:v>
                </c:pt>
              </c:numCache>
            </c:numRef>
          </c:yVal>
          <c:bubbleSize>
            <c:numRef>
              <c:numCache>
                <c:formatCode>General</c:formatCode>
                <c:ptCount val="1"/>
                <c:pt idx="0">
                  <c:v>1457.401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50.0"/>
          <c:min val="4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5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8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1203.643</c:v>
                </c:pt>
                <c:pt idx="2">
                  <c:v>1341.722</c:v>
                </c:pt>
                <c:pt idx="3">
                  <c:v>1493.118</c:v>
                </c:pt>
                <c:pt idx="4">
                  <c:v>1659.103</c:v>
                </c:pt>
                <c:pt idx="5">
                  <c:v>1841.072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1203.643</c:v>
                </c:pt>
                <c:pt idx="1">
                  <c:v>138.07899999999995</c:v>
                </c:pt>
                <c:pt idx="2">
                  <c:v>151.39599999999996</c:v>
                </c:pt>
                <c:pt idx="3">
                  <c:v>165.98500000000013</c:v>
                </c:pt>
                <c:pt idx="4">
                  <c:v>181.96899999999982</c:v>
                </c:pt>
                <c:pt idx="5">
                  <c:v>199.46500000000015</c:v>
                </c:pt>
                <c:pt idx="6">
                  <c:v>2040.537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338.529</c:v>
                </c:pt>
                <c:pt idx="2">
                  <c:v>367.441</c:v>
                </c:pt>
                <c:pt idx="3">
                  <c:v>398.841</c:v>
                </c:pt>
                <c:pt idx="4">
                  <c:v>432.942</c:v>
                </c:pt>
                <c:pt idx="5">
                  <c:v>469.981</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338.529</c:v>
                </c:pt>
                <c:pt idx="1">
                  <c:v>28.911999999999978</c:v>
                </c:pt>
                <c:pt idx="2">
                  <c:v>31.400000000000034</c:v>
                </c:pt>
                <c:pt idx="3">
                  <c:v>34.101</c:v>
                </c:pt>
                <c:pt idx="4">
                  <c:v>37.03899999999999</c:v>
                </c:pt>
                <c:pt idx="5">
                  <c:v>40.235000000000014</c:v>
                </c:pt>
                <c:pt idx="6">
                  <c:v>510.216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1368.397</c:v>
                </c:pt>
                <c:pt idx="2">
                  <c:v>1441.607</c:v>
                </c:pt>
                <c:pt idx="3">
                  <c:v>1519.665</c:v>
                </c:pt>
                <c:pt idx="4">
                  <c:v>1602.895</c:v>
                </c:pt>
                <c:pt idx="5">
                  <c:v>1691.636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1368.397</c:v>
                </c:pt>
                <c:pt idx="1">
                  <c:v>73.21000000000004</c:v>
                </c:pt>
                <c:pt idx="2">
                  <c:v>78.05799999999999</c:v>
                </c:pt>
                <c:pt idx="3">
                  <c:v>83.23000000000002</c:v>
                </c:pt>
                <c:pt idx="4">
                  <c:v>88.74099999999999</c:v>
                </c:pt>
                <c:pt idx="5">
                  <c:v>94.6210000000001</c:v>
                </c:pt>
                <c:pt idx="6">
                  <c:v>1786.257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333.151</c:v>
                </c:pt>
                <c:pt idx="2">
                  <c:v>350.724</c:v>
                </c:pt>
                <c:pt idx="3">
                  <c:v>369.446</c:v>
                </c:pt>
                <c:pt idx="4">
                  <c:v>389.395</c:v>
                </c:pt>
                <c:pt idx="5">
                  <c:v>410.649</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333.151</c:v>
                </c:pt>
                <c:pt idx="1">
                  <c:v>17.57299999999998</c:v>
                </c:pt>
                <c:pt idx="2">
                  <c:v>18.722000000000037</c:v>
                </c:pt>
                <c:pt idx="3">
                  <c:v>19.948999999999955</c:v>
                </c:pt>
                <c:pt idx="4">
                  <c:v>21.25400000000002</c:v>
                </c:pt>
                <c:pt idx="5">
                  <c:v>22.646000000000015</c:v>
                </c:pt>
                <c:pt idx="6">
                  <c:v>433.295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190.556</c:v>
                </c:pt>
                <c:pt idx="2">
                  <c:v>208.961</c:v>
                </c:pt>
                <c:pt idx="3">
                  <c:v>229.056</c:v>
                </c:pt>
                <c:pt idx="4">
                  <c:v>250.993</c:v>
                </c:pt>
                <c:pt idx="5">
                  <c:v>274.943</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190.556</c:v>
                </c:pt>
                <c:pt idx="1">
                  <c:v>18.405</c:v>
                </c:pt>
                <c:pt idx="2">
                  <c:v>20.095</c:v>
                </c:pt>
                <c:pt idx="3">
                  <c:v>21.936999999999983</c:v>
                </c:pt>
                <c:pt idx="4">
                  <c:v>23.94999999999999</c:v>
                </c:pt>
                <c:pt idx="5">
                  <c:v>26.152000000000044</c:v>
                </c:pt>
                <c:pt idx="6">
                  <c:v>301.095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882.225</c:v>
                </c:pt>
                <c:pt idx="2">
                  <c:v>977.653</c:v>
                </c:pt>
                <c:pt idx="3">
                  <c:v>1082.015</c:v>
                </c:pt>
                <c:pt idx="4">
                  <c:v>1196.141</c:v>
                </c:pt>
                <c:pt idx="5">
                  <c:v>1320.938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882.225</c:v>
                </c:pt>
                <c:pt idx="1">
                  <c:v>95.428</c:v>
                </c:pt>
                <c:pt idx="2">
                  <c:v>104.36200000000008</c:v>
                </c:pt>
                <c:pt idx="3">
                  <c:v>114.12599999999998</c:v>
                </c:pt>
                <c:pt idx="4">
                  <c:v>124.79700000000003</c:v>
                </c:pt>
                <c:pt idx="5">
                  <c:v>136.46299999999997</c:v>
                </c:pt>
                <c:pt idx="6">
                  <c:v>1457.401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Up to 500 HP</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25.887032268668165</c:v>
                </c:pt>
                <c:pt idx="1">
                  <c:v>27.884691790874133</c:v>
                </c:pt>
                <c:pt idx="2">
                  <c:v>31.254391120207213</c:v>
                </c:pt>
              </c:numCache>
            </c:numRef>
          </c:val>
        </c:ser>
        <c:ser>
          <c:idx val="1"/>
          <c:order val="1"/>
          <c:tx>
            <c:strRef>
              <c:strCache>
                <c:ptCount val="1"/>
                <c:pt idx="0">
                  <c:v>2,000 to 5,000 HP</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34.29652659836739</c:v>
                </c:pt>
                <c:pt idx="1">
                  <c:v>31.701533255755066</c:v>
                </c:pt>
                <c:pt idx="2">
                  <c:v>27.359648425491905</c:v>
                </c:pt>
              </c:numCache>
            </c:numRef>
          </c:val>
        </c:ser>
        <c:ser>
          <c:idx val="2"/>
          <c:order val="2"/>
          <c:tx>
            <c:strRef>
              <c:strCache>
                <c:ptCount val="1"/>
                <c:pt idx="0">
                  <c:v>20,000 HP</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19.299074124801404</c:v>
                </c:pt>
                <c:pt idx="1">
                  <c:v>20.43842918141337</c:v>
                </c:pt>
                <c:pt idx="2">
                  <c:v>22.322643928035177</c:v>
                </c:pt>
              </c:numCache>
            </c:numRef>
          </c:val>
        </c:ser>
        <c:ser>
          <c:idx val="3"/>
          <c:order val="3"/>
          <c:tx>
            <c:strRef>
              <c:strCache>
                <c:ptCount val="1"/>
                <c:pt idx="0">
                  <c:v>500 to 2,000 HP</c:v>
                </c:pt>
              </c:strCache>
            </c:strRef>
          </c:tx>
          <c:spPr>
            <a:solidFill>
              <a:srgbClr val="00ACAC"/>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7.853530926423055</c:v>
                </c:pt>
                <c:pt idx="1">
                  <c:v>7.84267164539056</c:v>
                </c:pt>
                <c:pt idx="2">
                  <c:v>7.814849924205072</c:v>
                </c:pt>
              </c:numCache>
            </c:numRef>
          </c:val>
        </c:ser>
        <c:ser>
          <c:idx val="4"/>
          <c:order val="4"/>
          <c:tx>
            <c:strRef>
              <c:strCache>
                <c:ptCount val="1"/>
                <c:pt idx="0">
                  <c:v>5,000 to 12,000 HP</c:v>
                </c:pt>
              </c:strCache>
            </c:strRef>
          </c:tx>
          <c:spPr>
            <a:solidFill>
              <a:srgbClr val="F47620"/>
            </a:solidFill>
            <a:ln>
              <a:noFill/>
            </a:ln>
          </c:spPr>
          <c:dLbls>
            <c:dLbl>
              <c:idx val="0"/>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8.364488029365036</c:v>
                </c:pt>
                <c:pt idx="1">
                  <c:v>7.71807999117804</c:v>
                </c:pt>
                <c:pt idx="2">
                  <c:v>6.636670347281223</c:v>
                </c:pt>
              </c:numCache>
            </c:numRef>
          </c:val>
        </c:ser>
        <c:ser>
          <c:idx val="5"/>
          <c:order val="5"/>
          <c:tx>
            <c:strRef>
              <c:strCache>
                <c:ptCount val="1"/>
                <c:pt idx="0">
                  <c:v>12,000 to 20,000 HP</c:v>
                </c:pt>
              </c:strCache>
            </c:strRef>
          </c:tx>
          <c:spPr>
            <a:solidFill>
              <a:srgbClr val="79C3EC"/>
            </a:solidFill>
            <a:ln>
              <a:noFill/>
            </a:ln>
          </c:spPr>
          <c:dLbls>
            <c:dLbl>
              <c:idx val="0"/>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4.2993480523749525</c:v>
                </c:pt>
                <c:pt idx="1">
                  <c:v>4.414594135388826</c:v>
                </c:pt>
                <c:pt idx="2">
                  <c:v>4.611796254779399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Single-Stage</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14.871607093584432</c:v>
                </c:pt>
                <c:pt idx="1">
                  <c:v>18.007866075721257</c:v>
                </c:pt>
                <c:pt idx="2">
                  <c:v>17.938154568062664</c:v>
                </c:pt>
              </c:numCache>
            </c:numRef>
          </c:val>
        </c:ser>
        <c:ser>
          <c:idx val="1"/>
          <c:order val="1"/>
          <c:tx>
            <c:strRef>
              <c:strCache>
                <c:ptCount val="1"/>
                <c:pt idx="0">
                  <c:v>Two-Stage</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65.38988162897687</c:v>
                </c:pt>
                <c:pt idx="1">
                  <c:v>64.34382562161754</c:v>
                </c:pt>
                <c:pt idx="2">
                  <c:v>66.66760459640746</c:v>
                </c:pt>
              </c:numCache>
            </c:numRef>
          </c:val>
        </c:ser>
        <c:ser>
          <c:idx val="2"/>
          <c:order val="2"/>
          <c:tx>
            <c:strRef>
              <c:strCache>
                <c:ptCount val="1"/>
                <c:pt idx="0">
                  <c:v>Multistage</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19.7385112774387</c:v>
                </c:pt>
                <c:pt idx="1">
                  <c:v>17.648308302661196</c:v>
                </c:pt>
                <c:pt idx="2">
                  <c:v>15.394240835529882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Single-Stage</c:v>
                </c:pt>
              </c:strCache>
            </c:strRef>
          </c:tx>
          <c:spPr>
            <a:solidFill>
              <a:srgbClr val="2A5F8F"/>
            </a:solidFill>
          </c:spPr>
          <c:invertIfNegative val="0"/>
          <c:xVal>
            <c:numRef>
              <c:numCache>
                <c:formatCode>General</c:formatCode>
                <c:ptCount val="1"/>
                <c:pt idx="0">
                  <c:v>107.32852723830715</c:v>
                </c:pt>
              </c:numCache>
            </c:numRef>
          </c:xVal>
          <c:yVal>
            <c:numRef>
              <c:numCache>
                <c:formatCode>General</c:formatCode>
                <c:ptCount val="1"/>
                <c:pt idx="0">
                  <c:v>50.71969171326498</c:v>
                </c:pt>
              </c:numCache>
            </c:numRef>
          </c:yVal>
          <c:bubbleSize>
            <c:numRef>
              <c:numCache>
                <c:formatCode>General</c:formatCode>
                <c:ptCount val="1"/>
                <c:pt idx="0">
                  <c:v>1137.026</c:v>
                </c:pt>
              </c:numCache>
            </c:numRef>
          </c:bubbleSize>
          <c:bubble3D val="0"/>
        </c:ser>
        <c:ser>
          <c:idx val="1"/>
          <c:order val="1"/>
          <c:tx>
            <c:strRef>
              <c:strCache>
                <c:ptCount val="1"/>
                <c:pt idx="0">
                  <c:v>Two-Stage</c:v>
                </c:pt>
              </c:strCache>
            </c:strRef>
          </c:tx>
          <c:spPr>
            <a:solidFill>
              <a:srgbClr val="0081E2"/>
            </a:solidFill>
          </c:spPr>
          <c:invertIfNegative val="0"/>
          <c:xVal>
            <c:numRef>
              <c:numCache>
                <c:formatCode>General</c:formatCode>
                <c:ptCount val="1"/>
                <c:pt idx="0">
                  <c:v>104.83260861166829</c:v>
                </c:pt>
              </c:numCache>
            </c:numRef>
          </c:xVal>
          <c:yVal>
            <c:numRef>
              <c:numCache>
                <c:formatCode>General</c:formatCode>
                <c:ptCount val="1"/>
                <c:pt idx="0">
                  <c:v>193.62967829730607</c:v>
                </c:pt>
              </c:numCache>
            </c:numRef>
          </c:yVal>
          <c:bubbleSize>
            <c:numRef>
              <c:numCache>
                <c:formatCode>General</c:formatCode>
                <c:ptCount val="1"/>
                <c:pt idx="0">
                  <c:v>4297.173</c:v>
                </c:pt>
              </c:numCache>
            </c:numRef>
          </c:bubbleSize>
          <c:bubble3D val="0"/>
        </c:ser>
        <c:ser>
          <c:idx val="2"/>
          <c:order val="2"/>
          <c:tx>
            <c:strRef>
              <c:strCache>
                <c:ptCount val="1"/>
                <c:pt idx="0">
                  <c:v>Multistage</c:v>
                </c:pt>
              </c:strCache>
            </c:strRef>
          </c:tx>
          <c:spPr>
            <a:solidFill>
              <a:srgbClr val="0E2A5C"/>
            </a:solidFill>
          </c:spPr>
          <c:invertIfNegative val="0"/>
          <c:xVal>
            <c:numRef>
              <c:numCache>
                <c:formatCode>General</c:formatCode>
                <c:ptCount val="1"/>
                <c:pt idx="0">
                  <c:v>75.17269168253688</c:v>
                </c:pt>
              </c:numCache>
            </c:numRef>
          </c:xVal>
          <c:yVal>
            <c:numRef>
              <c:numCache>
                <c:formatCode>General</c:formatCode>
                <c:ptCount val="1"/>
                <c:pt idx="0">
                  <c:v>55.65062998942894</c:v>
                </c:pt>
              </c:numCache>
            </c:numRef>
          </c:yVal>
          <c:bubbleSize>
            <c:numRef>
              <c:numCache>
                <c:formatCode>General</c:formatCode>
                <c:ptCount val="1"/>
                <c:pt idx="0">
                  <c:v>1094.602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6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5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9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729.772</c:v>
                </c:pt>
                <c:pt idx="2">
                  <c:v>798.172</c:v>
                </c:pt>
                <c:pt idx="3">
                  <c:v>872.531</c:v>
                </c:pt>
                <c:pt idx="4">
                  <c:v>953.39</c:v>
                </c:pt>
                <c:pt idx="5">
                  <c:v>1041.342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729.772</c:v>
                </c:pt>
                <c:pt idx="1">
                  <c:v>68.39999999999998</c:v>
                </c:pt>
                <c:pt idx="2">
                  <c:v>74.35899999999992</c:v>
                </c:pt>
                <c:pt idx="3">
                  <c:v>80.85900000000004</c:v>
                </c:pt>
                <c:pt idx="4">
                  <c:v>87.95200000000011</c:v>
                </c:pt>
                <c:pt idx="5">
                  <c:v>95.68399999999997</c:v>
                </c:pt>
                <c:pt idx="6">
                  <c:v>1137.026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2786.009</c:v>
                </c:pt>
                <c:pt idx="2">
                  <c:v>3039.67</c:v>
                </c:pt>
                <c:pt idx="3">
                  <c:v>3315.521</c:v>
                </c:pt>
                <c:pt idx="4">
                  <c:v>3615.568</c:v>
                </c:pt>
                <c:pt idx="5">
                  <c:v>3941.992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2786.009</c:v>
                </c:pt>
                <c:pt idx="1">
                  <c:v>253.66100000000006</c:v>
                </c:pt>
                <c:pt idx="2">
                  <c:v>275.8510000000001</c:v>
                </c:pt>
                <c:pt idx="3">
                  <c:v>300.047</c:v>
                </c:pt>
                <c:pt idx="4">
                  <c:v>326.424</c:v>
                </c:pt>
                <c:pt idx="5">
                  <c:v>355.1809999999996</c:v>
                </c:pt>
                <c:pt idx="6">
                  <c:v>4297.173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800.72</c:v>
                </c:pt>
                <c:pt idx="2">
                  <c:v>850.266</c:v>
                </c:pt>
                <c:pt idx="3">
                  <c:v>904.089</c:v>
                </c:pt>
                <c:pt idx="4">
                  <c:v>962.511</c:v>
                </c:pt>
                <c:pt idx="5">
                  <c:v>1025.885</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800.72</c:v>
                </c:pt>
                <c:pt idx="1">
                  <c:v>49.545999999999935</c:v>
                </c:pt>
                <c:pt idx="2">
                  <c:v>53.82300000000009</c:v>
                </c:pt>
                <c:pt idx="3">
                  <c:v>58.42199999999991</c:v>
                </c:pt>
                <c:pt idx="4">
                  <c:v>63.374000000000024</c:v>
                </c:pt>
                <c:pt idx="5">
                  <c:v>68.7170000000001</c:v>
                </c:pt>
                <c:pt idx="6">
                  <c:v>1094.602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Two-Stage</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63.69100969703611</c:v>
                </c:pt>
                <c:pt idx="1">
                  <c:v>64.54322609910203</c:v>
                </c:pt>
                <c:pt idx="2">
                  <c:v>65.81871617774841</c:v>
                </c:pt>
              </c:numCache>
            </c:numRef>
          </c:val>
        </c:ser>
        <c:ser>
          <c:idx val="1"/>
          <c:order val="1"/>
          <c:tx>
            <c:strRef>
              <c:strCache>
                <c:ptCount val="1"/>
                <c:pt idx="0">
                  <c:v>Single-Stage</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16.55968881827645</c:v>
                </c:pt>
                <c:pt idx="1">
                  <c:v>16.90656390442166</c:v>
                </c:pt>
                <c:pt idx="2">
                  <c:v>17.41554077080922</c:v>
                </c:pt>
              </c:numCache>
            </c:numRef>
          </c:val>
        </c:ser>
        <c:ser>
          <c:idx val="2"/>
          <c:order val="2"/>
          <c:tx>
            <c:strRef>
              <c:strCache>
                <c:ptCount val="1"/>
                <c:pt idx="0">
                  <c:v>Multistage</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19.749301484687447</c:v>
                </c:pt>
                <c:pt idx="1">
                  <c:v>18.550209996476312</c:v>
                </c:pt>
                <c:pt idx="2">
                  <c:v>16.76574305144237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Automotive and Transportation</c:v>
                </c:pt>
              </c:strCache>
            </c:strRef>
          </c:tx>
          <c:spPr>
            <a:solidFill>
              <a:srgbClr val="2A5F8F"/>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9.607471899680514</c:v>
                </c:pt>
                <c:pt idx="1">
                  <c:v>11.682686982032962</c:v>
                </c:pt>
                <c:pt idx="2">
                  <c:v>8.112816396115315</c:v>
                </c:pt>
              </c:numCache>
            </c:numRef>
          </c:val>
        </c:ser>
        <c:ser>
          <c:idx val="1"/>
          <c:order val="1"/>
          <c:tx>
            <c:strRef>
              <c:strCache>
                <c:ptCount val="1"/>
                <c:pt idx="0">
                  <c:v>Oil and Gas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13.735099498645528</c:v>
                </c:pt>
                <c:pt idx="1">
                  <c:v>13.646807718529702</c:v>
                </c:pt>
                <c:pt idx="2">
                  <c:v>14.420614592255736</c:v>
                </c:pt>
              </c:numCache>
            </c:numRef>
          </c:val>
        </c:ser>
        <c:ser>
          <c:idx val="2"/>
          <c:order val="2"/>
          <c:tx>
            <c:strRef>
              <c:strCache>
                <c:ptCount val="1"/>
                <c:pt idx="0">
                  <c:v>Food and Beverages</c:v>
                </c:pt>
              </c:strCache>
            </c:strRef>
          </c:tx>
          <c:spPr>
            <a:solidFill>
              <a:srgbClr val="0E2A5C"/>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4.030272161377484</c:v>
                </c:pt>
                <c:pt idx="1">
                  <c:v>4.710281056895436</c:v>
                </c:pt>
                <c:pt idx="2">
                  <c:v>5.5024475828309205</c:v>
                </c:pt>
              </c:numCache>
            </c:numRef>
          </c:val>
        </c:ser>
        <c:ser>
          <c:idx val="3"/>
          <c:order val="3"/>
          <c:tx>
            <c:strRef>
              <c:strCache>
                <c:ptCount val="1"/>
                <c:pt idx="0">
                  <c:v>Pharmaceuticals</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10.14093110671093</c:v>
                </c:pt>
                <c:pt idx="1">
                  <c:v>9.039706095637687</c:v>
                </c:pt>
                <c:pt idx="2">
                  <c:v>7.833009885503607</c:v>
                </c:pt>
              </c:numCache>
            </c:numRef>
          </c:val>
        </c:ser>
        <c:ser>
          <c:idx val="4"/>
          <c:order val="4"/>
          <c:tx>
            <c:strRef>
              <c:strCache>
                <c:ptCount val="1"/>
                <c:pt idx="0">
                  <c:v>Mining and Metals</c:v>
                </c:pt>
              </c:strCache>
            </c:strRef>
          </c:tx>
          <c:spPr>
            <a:solidFill>
              <a:srgbClr val="F47620"/>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16.558493958236078</c:v>
                </c:pt>
                <c:pt idx="1">
                  <c:v>22.756575333548795</c:v>
                </c:pt>
                <c:pt idx="2">
                  <c:v>16.07368817422321</c:v>
                </c:pt>
              </c:numCache>
            </c:numRef>
          </c:val>
        </c:ser>
        <c:ser>
          <c:idx val="5"/>
          <c:order val="5"/>
          <c:tx>
            <c:strRef>
              <c:strCache>
                <c:ptCount val="1"/>
                <c:pt idx="0">
                  <c:v>Industrial Air Separation</c:v>
                </c:pt>
              </c:strCache>
            </c:strRef>
          </c:tx>
          <c:spPr>
            <a:solidFill>
              <a:srgbClr val="79C3EC"/>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25.91164430036842</c:v>
                </c:pt>
                <c:pt idx="1">
                  <c:v>21.162747142437873</c:v>
                </c:pt>
                <c:pt idx="2">
                  <c:v>28.710829364373293</c:v>
                </c:pt>
              </c:numCache>
            </c:numRef>
          </c:val>
        </c:ser>
        <c:ser>
          <c:idx val="6"/>
          <c:order val="6"/>
          <c:tx>
            <c:strRef>
              <c:strCache>
                <c:ptCount val="1"/>
                <c:pt idx="0">
                  <c:v>Other Manufacturing</c:v>
                </c:pt>
              </c:strCache>
            </c:strRef>
          </c:tx>
          <c:spPr>
            <a:solidFill>
              <a:srgbClr val="586272"/>
            </a:solidFill>
            <a:ln>
              <a:noFill/>
            </a:ln>
          </c:spPr>
          <c:dLbls>
            <c:dLbl>
              <c:idx val="0"/>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20.01608707498104</c:v>
                </c:pt>
                <c:pt idx="1">
                  <c:v>17.001195670917564</c:v>
                </c:pt>
                <c:pt idx="2">
                  <c:v>19.346594004697927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Automotive and Transportation</c:v>
                </c:pt>
              </c:strCache>
            </c:strRef>
          </c:tx>
          <c:spPr>
            <a:solidFill>
              <a:srgbClr val="2A5F8F"/>
            </a:solidFill>
          </c:spPr>
          <c:invertIfNegative val="0"/>
          <c:xVal>
            <c:numRef>
              <c:numCache>
                <c:formatCode>General</c:formatCode>
                <c:ptCount val="1"/>
                <c:pt idx="0">
                  <c:v>17.859128140323918</c:v>
                </c:pt>
              </c:numCache>
            </c:numRef>
          </c:xVal>
          <c:yVal>
            <c:numRef>
              <c:numCache>
                <c:formatCode>General</c:formatCode>
                <c:ptCount val="1"/>
                <c:pt idx="0">
                  <c:v>91.67184254098402</c:v>
                </c:pt>
              </c:numCache>
            </c:numRef>
          </c:yVal>
          <c:bubbleSize>
            <c:numRef>
              <c:numCache>
                <c:formatCode>General</c:formatCode>
                <c:ptCount val="1"/>
                <c:pt idx="0">
                  <c:v>609.415</c:v>
                </c:pt>
              </c:numCache>
            </c:numRef>
          </c:bubbleSize>
          <c:bubble3D val="0"/>
        </c:ser>
        <c:ser>
          <c:idx val="1"/>
          <c:order val="1"/>
          <c:tx>
            <c:strRef>
              <c:strCache>
                <c:ptCount val="1"/>
                <c:pt idx="0">
                  <c:v>Oil and Gas</c:v>
                </c:pt>
              </c:strCache>
            </c:strRef>
          </c:tx>
          <c:spPr>
            <a:solidFill>
              <a:srgbClr val="0081E2"/>
            </a:solidFill>
          </c:spPr>
          <c:invertIfNegative val="0"/>
          <c:xVal>
            <c:numRef>
              <c:numCache>
                <c:formatCode>General</c:formatCode>
                <c:ptCount val="1"/>
                <c:pt idx="0">
                  <c:v>133.707434295699</c:v>
                </c:pt>
              </c:numCache>
            </c:numRef>
          </c:xVal>
          <c:yVal>
            <c:numRef>
              <c:numCache>
                <c:formatCode>General</c:formatCode>
                <c:ptCount val="1"/>
                <c:pt idx="0">
                  <c:v>86.12649458438675</c:v>
                </c:pt>
              </c:numCache>
            </c:numRef>
          </c:yVal>
          <c:bubbleSize>
            <c:numRef>
              <c:numCache>
                <c:formatCode>General</c:formatCode>
                <c:ptCount val="1"/>
                <c:pt idx="0">
                  <c:v>920.041</c:v>
                </c:pt>
              </c:numCache>
            </c:numRef>
          </c:bubbleSize>
          <c:bubble3D val="0"/>
        </c:ser>
        <c:ser>
          <c:idx val="2"/>
          <c:order val="2"/>
          <c:tx>
            <c:strRef>
              <c:strCache>
                <c:ptCount val="1"/>
                <c:pt idx="0">
                  <c:v>Food and Beverages</c:v>
                </c:pt>
              </c:strCache>
            </c:strRef>
          </c:tx>
          <c:spPr>
            <a:solidFill>
              <a:srgbClr val="0E2A5C"/>
            </a:solidFill>
          </c:spPr>
          <c:invertIfNegative val="0"/>
          <c:xVal>
            <c:numRef>
              <c:numCache>
                <c:formatCode>General</c:formatCode>
                <c:ptCount val="1"/>
                <c:pt idx="0">
                  <c:v>39.89827786562601</c:v>
                </c:pt>
              </c:numCache>
            </c:numRef>
          </c:xVal>
          <c:yVal>
            <c:numRef>
              <c:numCache>
                <c:formatCode>General</c:formatCode>
                <c:ptCount val="1"/>
                <c:pt idx="0">
                  <c:v>45.05913470192639</c:v>
                </c:pt>
              </c:numCache>
            </c:numRef>
          </c:yVal>
          <c:bubbleSize>
            <c:numRef>
              <c:numCache>
                <c:formatCode>General</c:formatCode>
                <c:ptCount val="1"/>
                <c:pt idx="0">
                  <c:v>328.404</c:v>
                </c:pt>
              </c:numCache>
            </c:numRef>
          </c:bubbleSize>
          <c:bubble3D val="0"/>
        </c:ser>
        <c:ser>
          <c:idx val="3"/>
          <c:order val="3"/>
          <c:tx>
            <c:strRef>
              <c:strCache>
                <c:ptCount val="1"/>
                <c:pt idx="0">
                  <c:v>Pharmaceuticals</c:v>
                </c:pt>
              </c:strCache>
            </c:strRef>
          </c:tx>
          <c:spPr>
            <a:solidFill>
              <a:srgbClr val="00ACAC"/>
            </a:solidFill>
          </c:spPr>
          <c:invertIfNegative val="0"/>
          <c:xVal>
            <c:numRef>
              <c:numCache>
                <c:formatCode>General</c:formatCode>
                <c:ptCount val="1"/>
                <c:pt idx="0">
                  <c:v>66.288514398537</c:v>
                </c:pt>
              </c:numCache>
            </c:numRef>
          </c:xVal>
          <c:yVal>
            <c:numRef>
              <c:numCache>
                <c:formatCode>General</c:formatCode>
                <c:ptCount val="1"/>
                <c:pt idx="0">
                  <c:v>68.79118063450002</c:v>
                </c:pt>
              </c:numCache>
            </c:numRef>
          </c:yVal>
          <c:bubbleSize>
            <c:numRef>
              <c:numCache>
                <c:formatCode>General</c:formatCode>
                <c:ptCount val="1"/>
                <c:pt idx="0">
                  <c:v>559.133</c:v>
                </c:pt>
              </c:numCache>
            </c:numRef>
          </c:bubbleSize>
          <c:bubble3D val="0"/>
        </c:ser>
        <c:ser>
          <c:idx val="4"/>
          <c:order val="4"/>
          <c:tx>
            <c:strRef>
              <c:strCache>
                <c:ptCount val="1"/>
                <c:pt idx="0">
                  <c:v>Mining and Metals</c:v>
                </c:pt>
              </c:strCache>
            </c:strRef>
          </c:tx>
          <c:spPr>
            <a:solidFill>
              <a:srgbClr val="F47620"/>
            </a:solidFill>
          </c:spPr>
          <c:invertIfNegative val="0"/>
          <c:xVal>
            <c:numRef>
              <c:numCache>
                <c:formatCode>General</c:formatCode>
                <c:ptCount val="1"/>
                <c:pt idx="0">
                  <c:v>66.16905901777088</c:v>
                </c:pt>
              </c:numCache>
            </c:numRef>
          </c:xVal>
          <c:yVal>
            <c:numRef>
              <c:numCache>
                <c:formatCode>General</c:formatCode>
                <c:ptCount val="1"/>
                <c:pt idx="0">
                  <c:v>144.2696989992589</c:v>
                </c:pt>
              </c:numCache>
            </c:numRef>
          </c:yVal>
          <c:bubbleSize>
            <c:numRef>
              <c:numCache>
                <c:formatCode>General</c:formatCode>
                <c:ptCount val="1"/>
                <c:pt idx="0">
                  <c:v>1172.045</c:v>
                </c:pt>
              </c:numCache>
            </c:numRef>
          </c:bubbleSize>
          <c:bubble3D val="0"/>
        </c:ser>
        <c:ser>
          <c:idx val="5"/>
          <c:order val="5"/>
          <c:tx>
            <c:strRef>
              <c:strCache>
                <c:ptCount val="1"/>
                <c:pt idx="0">
                  <c:v>Industrial Air Separation</c:v>
                </c:pt>
              </c:strCache>
            </c:strRef>
          </c:tx>
          <c:spPr>
            <a:solidFill>
              <a:srgbClr val="79C3EC"/>
            </a:solidFill>
          </c:spPr>
          <c:invertIfNegative val="0"/>
          <c:xVal>
            <c:numRef>
              <c:numCache>
                <c:formatCode>General</c:formatCode>
                <c:ptCount val="1"/>
                <c:pt idx="0">
                  <c:v>155.41699562489364</c:v>
                </c:pt>
              </c:numCache>
            </c:numRef>
          </c:xVal>
          <c:yVal>
            <c:numRef>
              <c:numCache>
                <c:formatCode>General</c:formatCode>
                <c:ptCount val="1"/>
                <c:pt idx="0">
                  <c:v>146.82255373044046</c:v>
                </c:pt>
              </c:numCache>
            </c:numRef>
          </c:yVal>
          <c:bubbleSize>
            <c:numRef>
              <c:numCache>
                <c:formatCode>General</c:formatCode>
                <c:ptCount val="1"/>
                <c:pt idx="0">
                  <c:v>1710.022</c:v>
                </c:pt>
              </c:numCache>
            </c:numRef>
          </c:bubbleSize>
          <c:bubble3D val="0"/>
        </c:ser>
        <c:ser>
          <c:idx val="6"/>
          <c:order val="6"/>
          <c:tx>
            <c:strRef>
              <c:strCache>
                <c:ptCount val="1"/>
                <c:pt idx="0">
                  <c:v>Other Manufacturing</c:v>
                </c:pt>
              </c:strCache>
            </c:strRef>
          </c:tx>
          <c:spPr>
            <a:solidFill>
              <a:srgbClr val="586272"/>
            </a:solidFill>
          </c:spPr>
          <c:invertIfNegative val="0"/>
          <c:xVal>
            <c:numRef>
              <c:numCache>
                <c:formatCode>General</c:formatCode>
                <c:ptCount val="1"/>
                <c:pt idx="0">
                  <c:v>129.10312617944703</c:v>
                </c:pt>
              </c:numCache>
            </c:numRef>
          </c:xVal>
          <c:yVal>
            <c:numRef>
              <c:numCache>
                <c:formatCode>General</c:formatCode>
                <c:ptCount val="1"/>
                <c:pt idx="0">
                  <c:v>117.25909480850348</c:v>
                </c:pt>
              </c:numCache>
            </c:numRef>
          </c:yVal>
          <c:bubbleSize>
            <c:numRef>
              <c:numCache>
                <c:formatCode>General</c:formatCode>
                <c:ptCount val="1"/>
                <c:pt idx="0">
                  <c:v>1229.741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90.0"/>
          <c:min val="-2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1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565.288</c:v>
                </c:pt>
                <c:pt idx="2">
                  <c:v>578.106</c:v>
                </c:pt>
                <c:pt idx="3">
                  <c:v>589.318</c:v>
                </c:pt>
                <c:pt idx="4">
                  <c:v>598.56</c:v>
                </c:pt>
                <c:pt idx="5">
                  <c:v>605.417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565.288</c:v>
                </c:pt>
                <c:pt idx="1">
                  <c:v>12.817999999999984</c:v>
                </c:pt>
                <c:pt idx="2">
                  <c:v>11.211999999999989</c:v>
                </c:pt>
                <c:pt idx="3">
                  <c:v>9.241999999999962</c:v>
                </c:pt>
                <c:pt idx="4">
                  <c:v>6.857000000000085</c:v>
                </c:pt>
                <c:pt idx="5">
                  <c:v>3.9979999999999336</c:v>
                </c:pt>
                <c:pt idx="6">
                  <c:v>609.415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531.093</c:v>
                </c:pt>
                <c:pt idx="2">
                  <c:v>593.867</c:v>
                </c:pt>
                <c:pt idx="3">
                  <c:v>663.408</c:v>
                </c:pt>
                <c:pt idx="4">
                  <c:v>740.421</c:v>
                </c:pt>
                <c:pt idx="5">
                  <c:v>825.68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531.093</c:v>
                </c:pt>
                <c:pt idx="1">
                  <c:v>62.774</c:v>
                </c:pt>
                <c:pt idx="2">
                  <c:v>69.54100000000005</c:v>
                </c:pt>
                <c:pt idx="3">
                  <c:v>77.01300000000003</c:v>
                </c:pt>
                <c:pt idx="4">
                  <c:v>85.2589999999999</c:v>
                </c:pt>
                <c:pt idx="5">
                  <c:v>94.3610000000001</c:v>
                </c:pt>
                <c:pt idx="6">
                  <c:v>920.041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277.854</c:v>
                </c:pt>
                <c:pt idx="2">
                  <c:v>288.217</c:v>
                </c:pt>
                <c:pt idx="3">
                  <c:v>298.533</c:v>
                </c:pt>
                <c:pt idx="4">
                  <c:v>308.731</c:v>
                </c:pt>
                <c:pt idx="5">
                  <c:v>318.721</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277.854</c:v>
                </c:pt>
                <c:pt idx="1">
                  <c:v>10.363</c:v>
                </c:pt>
                <c:pt idx="2">
                  <c:v>10.316000000000031</c:v>
                </c:pt>
                <c:pt idx="3">
                  <c:v>10.197999999999979</c:v>
                </c:pt>
                <c:pt idx="4">
                  <c:v>9.990000000000009</c:v>
                </c:pt>
                <c:pt idx="5">
                  <c:v>9.682999999999993</c:v>
                </c:pt>
                <c:pt idx="6">
                  <c:v>328.404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424.196</c:v>
                </c:pt>
                <c:pt idx="2">
                  <c:v>448.611</c:v>
                </c:pt>
                <c:pt idx="3">
                  <c:v>474.273</c:v>
                </c:pt>
                <c:pt idx="4">
                  <c:v>501.223</c:v>
                </c:pt>
                <c:pt idx="5">
                  <c:v>529.497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424.196</c:v>
                </c:pt>
                <c:pt idx="1">
                  <c:v>24.414999999999964</c:v>
                </c:pt>
                <c:pt idx="2">
                  <c:v>25.662000000000035</c:v>
                </c:pt>
                <c:pt idx="3">
                  <c:v>26.94999999999999</c:v>
                </c:pt>
                <c:pt idx="4">
                  <c:v>28.273999999999944</c:v>
                </c:pt>
                <c:pt idx="5">
                  <c:v>29.63600000000008</c:v>
                </c:pt>
                <c:pt idx="6">
                  <c:v>559.133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889.629</c:v>
                </c:pt>
                <c:pt idx="2">
                  <c:v>940.769</c:v>
                </c:pt>
                <c:pt idx="3">
                  <c:v>994.503</c:v>
                </c:pt>
                <c:pt idx="4">
                  <c:v>1050.91</c:v>
                </c:pt>
                <c:pt idx="5">
                  <c:v>1110.066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889.629</c:v>
                </c:pt>
                <c:pt idx="1">
                  <c:v>51.139999999999986</c:v>
                </c:pt>
                <c:pt idx="2">
                  <c:v>53.73400000000004</c:v>
                </c:pt>
                <c:pt idx="3">
                  <c:v>56.40700000000004</c:v>
                </c:pt>
                <c:pt idx="4">
                  <c:v>59.15599999999995</c:v>
                </c:pt>
                <c:pt idx="5">
                  <c:v>61.97900000000004</c:v>
                </c:pt>
                <c:pt idx="6">
                  <c:v>1172.045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905.371</c:v>
                </c:pt>
                <c:pt idx="2">
                  <c:v>1033.361</c:v>
                </c:pt>
                <c:pt idx="3">
                  <c:v>1176.146</c:v>
                </c:pt>
                <c:pt idx="4">
                  <c:v>1335.314</c:v>
                </c:pt>
                <c:pt idx="5">
                  <c:v>1512.628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905.371</c:v>
                </c:pt>
                <c:pt idx="1">
                  <c:v>127.99000000000012</c:v>
                </c:pt>
                <c:pt idx="2">
                  <c:v>142.78499999999985</c:v>
                </c:pt>
                <c:pt idx="3">
                  <c:v>159.16800000000012</c:v>
                </c:pt>
                <c:pt idx="4">
                  <c:v>177.31399999999985</c:v>
                </c:pt>
                <c:pt idx="5">
                  <c:v>197.394</c:v>
                </c:pt>
                <c:pt idx="6">
                  <c:v>1710.022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723.07</c:v>
                </c:pt>
                <c:pt idx="2">
                  <c:v>805.177</c:v>
                </c:pt>
                <c:pt idx="3">
                  <c:v>895.96</c:v>
                </c:pt>
                <c:pt idx="4">
                  <c:v>996.31</c:v>
                </c:pt>
                <c:pt idx="5">
                  <c:v>1107.21</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723.07</c:v>
                </c:pt>
                <c:pt idx="1">
                  <c:v>82.10699999999997</c:v>
                </c:pt>
                <c:pt idx="2">
                  <c:v>90.78300000000002</c:v>
                </c:pt>
                <c:pt idx="3">
                  <c:v>100.34999999999991</c:v>
                </c:pt>
                <c:pt idx="4">
                  <c:v>110.90000000000009</c:v>
                </c:pt>
                <c:pt idx="5">
                  <c:v>122.53099999999995</c:v>
                </c:pt>
                <c:pt idx="6">
                  <c:v>1229.741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Industrial Air Separation</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18.24908234262861</c:v>
                </c:pt>
                <c:pt idx="1">
                  <c:v>20.974650532920062</c:v>
                </c:pt>
                <c:pt idx="2">
                  <c:v>26.19197613773187</c:v>
                </c:pt>
              </c:numCache>
            </c:numRef>
          </c:val>
        </c:ser>
        <c:ser>
          <c:idx val="1"/>
          <c:order val="1"/>
          <c:tx>
            <c:strRef>
              <c:strCache>
                <c:ptCount val="1"/>
                <c:pt idx="0">
                  <c:v>Other Manufacturing</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15.676135429792366</c:v>
                </c:pt>
                <c:pt idx="1">
                  <c:v>16.751299258357637</c:v>
                </c:pt>
                <c:pt idx="2">
                  <c:v>18.835633066469633</c:v>
                </c:pt>
              </c:numCache>
            </c:numRef>
          </c:val>
        </c:ser>
        <c:ser>
          <c:idx val="2"/>
          <c:order val="2"/>
          <c:tx>
            <c:strRef>
              <c:strCache>
                <c:ptCount val="1"/>
                <c:pt idx="0">
                  <c:v>Mining and Metals</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21.99350791650688</c:v>
                </c:pt>
                <c:pt idx="1">
                  <c:v>20.609956999894127</c:v>
                </c:pt>
                <c:pt idx="2">
                  <c:v>17.951917970849472</c:v>
                </c:pt>
              </c:numCache>
            </c:numRef>
          </c:val>
        </c:ser>
        <c:ser>
          <c:idx val="3"/>
          <c:order val="3"/>
          <c:tx>
            <c:strRef>
              <c:strCache>
                <c:ptCount val="1"/>
                <c:pt idx="0">
                  <c:v>Oil and Gas</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11.379827973483811</c:v>
                </c:pt>
                <c:pt idx="1">
                  <c:v>12.303784940626677</c:v>
                </c:pt>
                <c:pt idx="2">
                  <c:v>14.092036194700988</c:v>
                </c:pt>
              </c:numCache>
            </c:numRef>
          </c:val>
        </c:ser>
        <c:ser>
          <c:idx val="4"/>
          <c:order val="4"/>
          <c:tx>
            <c:strRef>
              <c:strCache>
                <c:ptCount val="1"/>
                <c:pt idx="0">
                  <c:v>Automotive and Transportation</c:v>
                </c:pt>
              </c:strCache>
            </c:strRef>
          </c:tx>
          <c:spPr>
            <a:solidFill>
              <a:srgbClr val="F47620"/>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15.037089793458607</c:v>
                </c:pt>
                <c:pt idx="1">
                  <c:v>13.095977505854858</c:v>
                </c:pt>
                <c:pt idx="2">
                  <c:v>9.334256014235997</c:v>
                </c:pt>
              </c:numCache>
            </c:numRef>
          </c:val>
        </c:ser>
        <c:ser>
          <c:idx val="5"/>
          <c:order val="5"/>
          <c:tx>
            <c:strRef>
              <c:strCache>
                <c:ptCount val="1"/>
                <c:pt idx="0">
                  <c:v>Pharmaceuticals</c:v>
                </c:pt>
              </c:strCache>
            </c:strRef>
          </c:tx>
          <c:spPr>
            <a:solidFill>
              <a:srgbClr val="79C3EC"/>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10.485728373418068</c:v>
                </c:pt>
                <c:pt idx="1">
                  <c:v>9.82731151921429</c:v>
                </c:pt>
                <c:pt idx="2">
                  <c:v>8.564099288674903</c:v>
                </c:pt>
              </c:numCache>
            </c:numRef>
          </c:val>
        </c:ser>
        <c:ser>
          <c:idx val="6"/>
          <c:order val="6"/>
          <c:tx>
            <c:strRef>
              <c:strCache>
                <c:ptCount val="1"/>
                <c:pt idx="0">
                  <c:v>Food and Beverages</c:v>
                </c:pt>
              </c:strCache>
            </c:strRef>
          </c:tx>
          <c:spPr>
            <a:solidFill>
              <a:srgbClr val="586272"/>
            </a:solidFill>
            <a:ln>
              <a:noFill/>
            </a:ln>
          </c:spPr>
          <c:dLbls>
            <c:dLbl>
              <c:idx val="0"/>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7.178628170711663</c:v>
                </c:pt>
                <c:pt idx="1">
                  <c:v>6.437019243132341</c:v>
                </c:pt>
                <c:pt idx="2">
                  <c:v>5.0300813273371325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Electric Motor-Driven</c:v>
                </c:pt>
              </c:strCache>
            </c:strRef>
          </c:tx>
          <c:spPr>
            <a:solidFill>
              <a:srgbClr val="2A5F8F"/>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3.438417045704994</c:v>
                </c:pt>
                <c:pt idx="1">
                  <c:v>4.601620037023545</c:v>
                </c:pt>
                <c:pt idx="2">
                  <c:v>5.457923506312405</c:v>
                </c:pt>
              </c:numCache>
            </c:numRef>
          </c:val>
        </c:ser>
        <c:ser>
          <c:idx val="1"/>
          <c:order val="1"/>
          <c:tx>
            <c:strRef>
              <c:strCache>
                <c:ptCount val="1"/>
                <c:pt idx="0">
                  <c:v>Natural Gas Engine-Driven</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25.92943205857292</c:v>
                </c:pt>
                <c:pt idx="1">
                  <c:v>19.784699295045215</c:v>
                </c:pt>
                <c:pt idx="2">
                  <c:v>21.742894147732216</c:v>
                </c:pt>
              </c:numCache>
            </c:numRef>
          </c:val>
        </c:ser>
        <c:ser>
          <c:idx val="2"/>
          <c:order val="2"/>
          <c:tx>
            <c:strRef>
              <c:strCache>
                <c:ptCount val="1"/>
                <c:pt idx="0">
                  <c:v>Diesel Engine-Driven</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38.47561515274044</c:v>
                </c:pt>
                <c:pt idx="1">
                  <c:v>44.66550335233236</c:v>
                </c:pt>
                <c:pt idx="2">
                  <c:v>40.8288816153357</c:v>
                </c:pt>
              </c:numCache>
            </c:numRef>
          </c:val>
        </c:ser>
        <c:ser>
          <c:idx val="3"/>
          <c:order val="3"/>
          <c:tx>
            <c:strRef>
              <c:strCache>
                <c:ptCount val="1"/>
                <c:pt idx="0">
                  <c:v>Steam Turbine-Driven</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20.570197435439113</c:v>
                </c:pt>
                <c:pt idx="1">
                  <c:v>20.42484574474767</c:v>
                </c:pt>
                <c:pt idx="2">
                  <c:v>17.80403061513019</c:v>
                </c:pt>
              </c:numCache>
            </c:numRef>
          </c:val>
        </c:ser>
        <c:ser>
          <c:idx val="4"/>
          <c:order val="4"/>
          <c:tx>
            <c:strRef>
              <c:strCache>
                <c:ptCount val="1"/>
                <c:pt idx="0">
                  <c:v>Gas Turbine-Driven</c:v>
                </c:pt>
              </c:strCache>
            </c:strRef>
          </c:tx>
          <c:spPr>
            <a:solidFill>
              <a:srgbClr val="F47620"/>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9.022558348185388</c:v>
                </c:pt>
                <c:pt idx="1">
                  <c:v>6.775525632694919</c:v>
                </c:pt>
                <c:pt idx="2">
                  <c:v>10.141117046735108</c:v>
                </c:pt>
              </c:numCache>
            </c:numRef>
          </c:val>
        </c:ser>
        <c:ser>
          <c:idx val="5"/>
          <c:order val="5"/>
          <c:tx>
            <c:strRef>
              <c:strCache>
                <c:ptCount val="1"/>
                <c:pt idx="0">
                  <c:v>Other Drive Types</c:v>
                </c:pt>
              </c:strCache>
            </c:strRef>
          </c:tx>
          <c:spPr>
            <a:solidFill>
              <a:srgbClr val="79C3EC"/>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2.5637799593571415</c:v>
                </c:pt>
                <c:pt idx="1">
                  <c:v>3.7478059381562914</c:v>
                </c:pt>
                <c:pt idx="2">
                  <c:v>4.025153068754388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Electric Motor-Driven</c:v>
                </c:pt>
              </c:strCache>
            </c:strRef>
          </c:tx>
          <c:spPr>
            <a:solidFill>
              <a:srgbClr val="2A5F8F"/>
            </a:solidFill>
          </c:spPr>
          <c:invertIfNegative val="0"/>
          <c:xVal>
            <c:numRef>
              <c:numCache>
                <c:formatCode>General</c:formatCode>
                <c:ptCount val="1"/>
                <c:pt idx="0">
                  <c:v>111.38023248744989</c:v>
                </c:pt>
              </c:numCache>
            </c:numRef>
          </c:xVal>
          <c:yVal>
            <c:numRef>
              <c:numCache>
                <c:formatCode>General</c:formatCode>
                <c:ptCount val="1"/>
                <c:pt idx="0">
                  <c:v>27.91566595258521</c:v>
                </c:pt>
              </c:numCache>
            </c:numRef>
          </c:yVal>
          <c:bubbleSize>
            <c:numRef>
              <c:numCache>
                <c:formatCode>General</c:formatCode>
                <c:ptCount val="1"/>
                <c:pt idx="0">
                  <c:v>318.066</c:v>
                </c:pt>
              </c:numCache>
            </c:numRef>
          </c:bubbleSize>
          <c:bubble3D val="0"/>
        </c:ser>
        <c:ser>
          <c:idx val="1"/>
          <c:order val="1"/>
          <c:tx>
            <c:strRef>
              <c:strCache>
                <c:ptCount val="1"/>
                <c:pt idx="0">
                  <c:v>Natural Gas Engine-Driven</c:v>
                </c:pt>
              </c:strCache>
            </c:strRef>
          </c:tx>
          <c:spPr>
            <a:solidFill>
              <a:srgbClr val="0081E2"/>
            </a:solidFill>
          </c:spPr>
          <c:invertIfNegative val="0"/>
          <c:xVal>
            <c:numRef>
              <c:numCache>
                <c:formatCode>General</c:formatCode>
                <c:ptCount val="1"/>
                <c:pt idx="0">
                  <c:v>50.57416766100262</c:v>
                </c:pt>
              </c:numCache>
            </c:numRef>
          </c:xVal>
          <c:yVal>
            <c:numRef>
              <c:numCache>
                <c:formatCode>General</c:formatCode>
                <c:ptCount val="1"/>
                <c:pt idx="0">
                  <c:v>161.2898039407381</c:v>
                </c:pt>
              </c:numCache>
            </c:numRef>
          </c:yVal>
          <c:bubbleSize>
            <c:numRef>
              <c:numCache>
                <c:formatCode>General</c:formatCode>
                <c:ptCount val="1"/>
                <c:pt idx="0">
                  <c:v>1433.505</c:v>
                </c:pt>
              </c:numCache>
            </c:numRef>
          </c:bubbleSize>
          <c:bubble3D val="0"/>
        </c:ser>
        <c:ser>
          <c:idx val="2"/>
          <c:order val="2"/>
          <c:tx>
            <c:strRef>
              <c:strCache>
                <c:ptCount val="1"/>
                <c:pt idx="0">
                  <c:v>Diesel Engine-Driven</c:v>
                </c:pt>
              </c:strCache>
            </c:strRef>
          </c:tx>
          <c:spPr>
            <a:solidFill>
              <a:srgbClr val="0E2A5C"/>
            </a:solidFill>
          </c:spPr>
          <c:invertIfNegative val="0"/>
          <c:xVal>
            <c:numRef>
              <c:numCache>
                <c:formatCode>General</c:formatCode>
                <c:ptCount val="1"/>
                <c:pt idx="0">
                  <c:v>114.71363349073383</c:v>
                </c:pt>
              </c:numCache>
            </c:numRef>
          </c:xVal>
          <c:yVal>
            <c:numRef>
              <c:numCache>
                <c:formatCode>General</c:formatCode>
                <c:ptCount val="1"/>
                <c:pt idx="0">
                  <c:v>234.30116198281894</c:v>
                </c:pt>
              </c:numCache>
            </c:numRef>
          </c:yVal>
          <c:bubbleSize>
            <c:numRef>
              <c:numCache>
                <c:formatCode>General</c:formatCode>
                <c:ptCount val="1"/>
                <c:pt idx="0">
                  <c:v>2705.707</c:v>
                </c:pt>
              </c:numCache>
            </c:numRef>
          </c:bubbleSize>
          <c:bubble3D val="0"/>
        </c:ser>
        <c:ser>
          <c:idx val="3"/>
          <c:order val="3"/>
          <c:tx>
            <c:strRef>
              <c:strCache>
                <c:ptCount val="1"/>
                <c:pt idx="0">
                  <c:v>Steam Turbine-Driven</c:v>
                </c:pt>
              </c:strCache>
            </c:strRef>
          </c:tx>
          <c:spPr>
            <a:solidFill>
              <a:srgbClr val="00ACAC"/>
            </a:solidFill>
          </c:spPr>
          <c:invertIfNegative val="0"/>
          <c:xVal>
            <c:numRef>
              <c:numCache>
                <c:formatCode>General</c:formatCode>
                <c:ptCount val="1"/>
                <c:pt idx="0">
                  <c:v>147.80931216285194</c:v>
                </c:pt>
              </c:numCache>
            </c:numRef>
          </c:xVal>
          <c:yVal>
            <c:numRef>
              <c:numCache>
                <c:formatCode>General</c:formatCode>
                <c:ptCount val="1"/>
                <c:pt idx="0">
                  <c:v>94.06813527901417</c:v>
                </c:pt>
              </c:numCache>
            </c:numRef>
          </c:yVal>
          <c:bubbleSize>
            <c:numRef>
              <c:numCache>
                <c:formatCode>General</c:formatCode>
                <c:ptCount val="1"/>
                <c:pt idx="0">
                  <c:v>1240.168</c:v>
                </c:pt>
              </c:numCache>
            </c:numRef>
          </c:bubbleSize>
          <c:bubble3D val="0"/>
        </c:ser>
        <c:ser>
          <c:idx val="4"/>
          <c:order val="4"/>
          <c:tx>
            <c:strRef>
              <c:strCache>
                <c:ptCount val="1"/>
                <c:pt idx="0">
                  <c:v>Gas Turbine-Driven</c:v>
                </c:pt>
              </c:strCache>
            </c:strRef>
          </c:tx>
          <c:spPr>
            <a:solidFill>
              <a:srgbClr val="F47620"/>
            </a:solidFill>
          </c:spPr>
          <c:invertIfNegative val="0"/>
          <c:xVal>
            <c:numRef>
              <c:numCache>
                <c:formatCode>General</c:formatCode>
                <c:ptCount val="1"/>
                <c:pt idx="0">
                  <c:v>103.75736813488604</c:v>
                </c:pt>
              </c:numCache>
            </c:numRef>
          </c:xVal>
          <c:yVal>
            <c:numRef>
              <c:numCache>
                <c:formatCode>General</c:formatCode>
                <c:ptCount val="1"/>
                <c:pt idx="0">
                  <c:v>53.42591140370408</c:v>
                </c:pt>
              </c:numCache>
            </c:numRef>
          </c:yVal>
          <c:bubbleSize>
            <c:numRef>
              <c:numCache>
                <c:formatCode>General</c:formatCode>
                <c:ptCount val="1"/>
                <c:pt idx="0">
                  <c:v>590.26</c:v>
                </c:pt>
              </c:numCache>
            </c:numRef>
          </c:bubbleSize>
          <c:bubble3D val="0"/>
        </c:ser>
        <c:ser>
          <c:idx val="5"/>
          <c:order val="5"/>
          <c:tx>
            <c:strRef>
              <c:strCache>
                <c:ptCount val="1"/>
                <c:pt idx="0">
                  <c:v>Other Drive Types</c:v>
                </c:pt>
              </c:strCache>
            </c:strRef>
          </c:tx>
          <c:spPr>
            <a:solidFill>
              <a:srgbClr val="79C3EC"/>
            </a:solidFill>
          </c:spPr>
          <c:invertIfNegative val="0"/>
          <c:xVal>
            <c:numRef>
              <c:numCache>
                <c:formatCode>General</c:formatCode>
                <c:ptCount val="1"/>
                <c:pt idx="0">
                  <c:v>34.48840926658389</c:v>
                </c:pt>
              </c:numCache>
            </c:numRef>
          </c:xVal>
          <c:yVal>
            <c:numRef>
              <c:numCache>
                <c:formatCode>General</c:formatCode>
                <c:ptCount val="1"/>
                <c:pt idx="0">
                  <c:v>28.99932144113948</c:v>
                </c:pt>
              </c:numCache>
            </c:numRef>
          </c:yVal>
          <c:bubbleSize>
            <c:numRef>
              <c:numCache>
                <c:formatCode>General</c:formatCode>
                <c:ptCount val="1"/>
                <c:pt idx="0">
                  <c:v>241.095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80.0"/>
          <c:min val="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3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0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200.83</c:v>
                </c:pt>
                <c:pt idx="2">
                  <c:v>220.226</c:v>
                </c:pt>
                <c:pt idx="3">
                  <c:v>241.466</c:v>
                </c:pt>
                <c:pt idx="4">
                  <c:v>264.723</c:v>
                </c:pt>
                <c:pt idx="5">
                  <c:v>290.188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200.83</c:v>
                </c:pt>
                <c:pt idx="1">
                  <c:v>19.395999999999987</c:v>
                </c:pt>
                <c:pt idx="2">
                  <c:v>21.24000000000001</c:v>
                </c:pt>
                <c:pt idx="3">
                  <c:v>23.257000000000005</c:v>
                </c:pt>
                <c:pt idx="4">
                  <c:v>25.464999999999975</c:v>
                </c:pt>
                <c:pt idx="5">
                  <c:v>27.877999999999986</c:v>
                </c:pt>
                <c:pt idx="6">
                  <c:v>318.066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1160.346</c:v>
                </c:pt>
                <c:pt idx="2">
                  <c:v>1213.456</c:v>
                </c:pt>
                <c:pt idx="3">
                  <c:v>1267.551</c:v>
                </c:pt>
                <c:pt idx="4">
                  <c:v>1322.43</c:v>
                </c:pt>
                <c:pt idx="5">
                  <c:v>1377.846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1160.346</c:v>
                </c:pt>
                <c:pt idx="1">
                  <c:v>53.1099999999999</c:v>
                </c:pt>
                <c:pt idx="2">
                  <c:v>54.09500000000003</c:v>
                </c:pt>
                <c:pt idx="3">
                  <c:v>54.87900000000013</c:v>
                </c:pt>
                <c:pt idx="4">
                  <c:v>55.41599999999994</c:v>
                </c:pt>
                <c:pt idx="5">
                  <c:v>55.659000000000106</c:v>
                </c:pt>
                <c:pt idx="6">
                  <c:v>1433.505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1685.602</c:v>
                </c:pt>
                <c:pt idx="2">
                  <c:v>1853.495</c:v>
                </c:pt>
                <c:pt idx="3">
                  <c:v>2037.79</c:v>
                </c:pt>
                <c:pt idx="4">
                  <c:v>2240.066</c:v>
                </c:pt>
                <c:pt idx="5">
                  <c:v>2462.067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1685.602</c:v>
                </c:pt>
                <c:pt idx="1">
                  <c:v>167.8929999999998</c:v>
                </c:pt>
                <c:pt idx="2">
                  <c:v>184.29500000000007</c:v>
                </c:pt>
                <c:pt idx="3">
                  <c:v>202.27599999999984</c:v>
                </c:pt>
                <c:pt idx="4">
                  <c:v>222.0010000000002</c:v>
                </c:pt>
                <c:pt idx="5">
                  <c:v>243.63999999999987</c:v>
                </c:pt>
                <c:pt idx="6">
                  <c:v>2705.707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676.742</c:v>
                </c:pt>
                <c:pt idx="2">
                  <c:v>766.478</c:v>
                </c:pt>
                <c:pt idx="3">
                  <c:v>866.518</c:v>
                </c:pt>
                <c:pt idx="4">
                  <c:v>977.974</c:v>
                </c:pt>
                <c:pt idx="5">
                  <c:v>1102.072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676.742</c:v>
                </c:pt>
                <c:pt idx="1">
                  <c:v>89.73599999999999</c:v>
                </c:pt>
                <c:pt idx="2">
                  <c:v>100.04000000000008</c:v>
                </c:pt>
                <c:pt idx="3">
                  <c:v>111.45600000000002</c:v>
                </c:pt>
                <c:pt idx="4">
                  <c:v>124.09799999999984</c:v>
                </c:pt>
                <c:pt idx="5">
                  <c:v>138.096</c:v>
                </c:pt>
                <c:pt idx="6">
                  <c:v>1240.168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384.355</c:v>
                </c:pt>
                <c:pt idx="2">
                  <c:v>418.755</c:v>
                </c:pt>
                <c:pt idx="3">
                  <c:v>456.25</c:v>
                </c:pt>
                <c:pt idx="4">
                  <c:v>497.124</c:v>
                </c:pt>
                <c:pt idx="5">
                  <c:v>541.682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384.355</c:v>
                </c:pt>
                <c:pt idx="1">
                  <c:v>34.39999999999998</c:v>
                </c:pt>
                <c:pt idx="2">
                  <c:v>37.495000000000005</c:v>
                </c:pt>
                <c:pt idx="3">
                  <c:v>40.874000000000024</c:v>
                </c:pt>
                <c:pt idx="4">
                  <c:v>44.55799999999999</c:v>
                </c:pt>
                <c:pt idx="5">
                  <c:v>48.577999999999975</c:v>
                </c:pt>
                <c:pt idx="6">
                  <c:v>590.26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208.626</c:v>
                </c:pt>
                <c:pt idx="2">
                  <c:v>215.698</c:v>
                </c:pt>
                <c:pt idx="3">
                  <c:v>222.566</c:v>
                </c:pt>
                <c:pt idx="4">
                  <c:v>229.152</c:v>
                </c:pt>
                <c:pt idx="5">
                  <c:v>235.364</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208.626</c:v>
                </c:pt>
                <c:pt idx="1">
                  <c:v>7.072000000000003</c:v>
                </c:pt>
                <c:pt idx="2">
                  <c:v>6.867999999999995</c:v>
                </c:pt>
                <c:pt idx="3">
                  <c:v>6.585999999999984</c:v>
                </c:pt>
                <c:pt idx="4">
                  <c:v>6.2120000000000175</c:v>
                </c:pt>
                <c:pt idx="5">
                  <c:v>5.7309999999999945</c:v>
                </c:pt>
                <c:pt idx="6">
                  <c:v>241.095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Diesel Engine-Driven</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37.818577768038125</c:v>
                </c:pt>
                <c:pt idx="1">
                  <c:v>39.05019366380316</c:v>
                </c:pt>
                <c:pt idx="2">
                  <c:v>41.44263242209404</c:v>
                </c:pt>
              </c:numCache>
            </c:numRef>
          </c:val>
        </c:ser>
        <c:ser>
          <c:idx val="1"/>
          <c:order val="1"/>
          <c:tx>
            <c:strRef>
              <c:strCache>
                <c:ptCount val="1"/>
                <c:pt idx="0">
                  <c:v>Natural Gas Engine-Driven</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29.4054949871254</c:v>
                </c:pt>
                <c:pt idx="1">
                  <c:v>26.881633990123017</c:v>
                </c:pt>
                <c:pt idx="2">
                  <c:v>21.95663491657963</c:v>
                </c:pt>
              </c:numCache>
            </c:numRef>
          </c:val>
        </c:ser>
        <c:ser>
          <c:idx val="2"/>
          <c:order val="2"/>
          <c:tx>
            <c:strRef>
              <c:strCache>
                <c:ptCount val="1"/>
                <c:pt idx="0">
                  <c:v>Steam Turbine-Driven</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13.981701638086887</c:v>
                </c:pt>
                <c:pt idx="1">
                  <c:v>15.678022546502362</c:v>
                </c:pt>
                <c:pt idx="2">
                  <c:v>18.99534079841</c:v>
                </c:pt>
              </c:numCache>
            </c:numRef>
          </c:val>
        </c:ser>
        <c:ser>
          <c:idx val="3"/>
          <c:order val="3"/>
          <c:tx>
            <c:strRef>
              <c:strCache>
                <c:ptCount val="1"/>
                <c:pt idx="0">
                  <c:v>Gas Turbine-Driven</c:v>
                </c:pt>
              </c:strCache>
            </c:strRef>
          </c:tx>
          <c:spPr>
            <a:solidFill>
              <a:srgbClr val="00ACAC"/>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8.833150714950968</c:v>
                </c:pt>
                <c:pt idx="1">
                  <c:v>8.904318567284012</c:v>
                </c:pt>
                <c:pt idx="2">
                  <c:v>9.040863705295966</c:v>
                </c:pt>
              </c:numCache>
            </c:numRef>
          </c:val>
        </c:ser>
        <c:ser>
          <c:idx val="4"/>
          <c:order val="4"/>
          <c:tx>
            <c:strRef>
              <c:strCache>
                <c:ptCount val="1"/>
                <c:pt idx="0">
                  <c:v>Electric Motor-Driven</c:v>
                </c:pt>
              </c:strCache>
            </c:strRef>
          </c:tx>
          <c:spPr>
            <a:solidFill>
              <a:srgbClr val="F47620"/>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4.5377198268777725</c:v>
                </c:pt>
                <c:pt idx="1">
                  <c:v>4.652610992097535</c:v>
                </c:pt>
                <c:pt idx="2">
                  <c:v>4.871736785973412</c:v>
                </c:pt>
              </c:numCache>
            </c:numRef>
          </c:val>
        </c:ser>
        <c:ser>
          <c:idx val="5"/>
          <c:order val="5"/>
          <c:tx>
            <c:strRef>
              <c:strCache>
                <c:ptCount val="1"/>
                <c:pt idx="0">
                  <c:v>Other Drive Types</c:v>
                </c:pt>
              </c:strCache>
            </c:strRef>
          </c:tx>
          <c:spPr>
            <a:solidFill>
              <a:srgbClr val="79C3EC"/>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5.423355064920835</c:v>
                </c:pt>
                <c:pt idx="1">
                  <c:v>4.833220240189913</c:v>
                </c:pt>
                <c:pt idx="2">
                  <c:v>3.692791371646954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Volume (Units)</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402794.629</c:v>
                </c:pt>
                <c:pt idx="1">
                  <c:v>409355.50100000005</c:v>
                </c:pt>
                <c:pt idx="2">
                  <c:v>416023.23999999993</c:v>
                </c:pt>
                <c:pt idx="3">
                  <c:v>422799.586</c:v>
                </c:pt>
                <c:pt idx="4">
                  <c:v>429686.307</c:v>
                </c:pt>
                <c:pt idx="5">
                  <c:v>436685.20200000005</c:v>
                </c:pt>
                <c:pt idx="6">
                  <c:v>447244.20900000003</c:v>
                </c:pt>
                <c:pt idx="7">
                  <c:v>458058.531</c:v>
                </c:pt>
                <c:pt idx="8">
                  <c:v>469134.343</c:v>
                </c:pt>
                <c:pt idx="9">
                  <c:v>480477.96599999996</c:v>
                </c:pt>
                <c:pt idx="10">
                  <c:v>492095.87799999997</c:v>
                </c:pt>
                <c:pt idx="11">
                  <c:v>503994.71</c:v>
                </c:pt>
                <c:pt idx="12">
                  <c:v>516181.25399999996</c:v>
                </c:pt>
                <c:pt idx="13">
                  <c:v>528662.4670000001</c:v>
                </c:pt>
                <c:pt idx="14">
                  <c:v>541445.475</c:v>
                </c:pt>
                <c:pt idx="15">
                  <c:v>554537.576</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2A5F8F"/>
            </a:solidFill>
            <a:ln>
              <a:noFill/>
            </a:ln>
          </c:spPr>
          <c:dPt>
            <c:idx val="0"/>
            <c:spPr>
              <a:solidFill>
                <a:srgbClr val="0E2A5C"/>
              </a:solidFill>
            </c:spPr>
          </c:dPt>
          <c:dPt>
            <c:idx val="1"/>
            <c:spPr>
              <a:solidFill>
                <a:srgbClr val="0081E2"/>
              </a:solidFill>
            </c:spPr>
          </c:dPt>
          <c:dPt>
            <c:idx val="2"/>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0.045531072559717556</c:v>
                </c:pt>
                <c:pt idx="1">
                  <c:v>0.027481081117567197</c:v>
                </c:pt>
                <c:pt idx="2">
                  <c:v>0.02417990494570499</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614669479556187"/>
          <c:min val="0.0"/>
        </c:scaling>
        <c:delete/>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436685.20200000005</c:v>
                </c:pt>
                <c:pt idx="2">
                  <c:v>447244.20900000003</c:v>
                </c:pt>
                <c:pt idx="3">
                  <c:v>458058.531</c:v>
                </c:pt>
                <c:pt idx="4">
                  <c:v>469134.343</c:v>
                </c:pt>
                <c:pt idx="5">
                  <c:v>480477.96599999996</c:v>
                </c:pt>
                <c:pt idx="6">
                  <c:v>492095.87799999997</c:v>
                </c:pt>
                <c:pt idx="7">
                  <c:v>503994.71</c:v>
                </c:pt>
                <c:pt idx="8">
                  <c:v>516181.25399999996</c:v>
                </c:pt>
                <c:pt idx="9">
                  <c:v>528662.4670000001</c:v>
                </c:pt>
                <c:pt idx="10">
                  <c:v>541445.475</c:v>
                </c:pt>
                <c:pt idx="11">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00ACAC"/>
              </a:solidFill>
            </c:spPr>
          </c:dPt>
          <c:dPt>
            <c:idx val="7"/>
            <c:spPr>
              <a:solidFill>
                <a:srgbClr val="00ACAC"/>
              </a:solidFill>
            </c:spPr>
          </c:dPt>
          <c:dPt>
            <c:idx val="8"/>
            <c:spPr>
              <a:solidFill>
                <a:srgbClr val="00ACAC"/>
              </a:solidFill>
            </c:spPr>
          </c:dPt>
          <c:dPt>
            <c:idx val="9"/>
            <c:spPr>
              <a:solidFill>
                <a:srgbClr val="00ACAC"/>
              </a:solidFill>
            </c:spPr>
          </c:dPt>
          <c:dPt>
            <c:idx val="10"/>
            <c:spPr>
              <a:solidFill>
                <a:srgbClr val="00ACAC"/>
              </a:solidFill>
            </c:spPr>
          </c:dPt>
          <c:dPt>
            <c:idx val="11"/>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436685.20200000005</c:v>
                </c:pt>
                <c:pt idx="1">
                  <c:v>10559.006999999983</c:v>
                </c:pt>
                <c:pt idx="2">
                  <c:v>10814.321999999986</c:v>
                </c:pt>
                <c:pt idx="3">
                  <c:v>11075.811999999976</c:v>
                </c:pt>
                <c:pt idx="4">
                  <c:v>11343.622999999963</c:v>
                </c:pt>
                <c:pt idx="5">
                  <c:v>11617.912000000011</c:v>
                </c:pt>
                <c:pt idx="6">
                  <c:v>11898.832000000053</c:v>
                </c:pt>
                <c:pt idx="7">
                  <c:v>12186.543999999936</c:v>
                </c:pt>
                <c:pt idx="8">
                  <c:v>12481.213000000105</c:v>
                </c:pt>
                <c:pt idx="9">
                  <c:v>12783.007999999914</c:v>
                </c:pt>
                <c:pt idx="10">
                  <c:v>13092.101000000024</c:v>
                </c:pt>
                <c:pt idx="11">
                  <c:v>554537.576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58.68262471385054</c:v>
                </c:pt>
                <c:pt idx="1">
                  <c:v>16.425773643114432</c:v>
                </c:pt>
              </c:numCache>
            </c:numRef>
          </c:val>
        </c:ser>
        <c:ser>
          <c:idx val="1"/>
          <c:order val="1"/>
          <c:tx>
            <c:strRef>
              <c:strCache>
                <c:ptCount val="1"/>
                <c:pt idx="0">
                  <c:v>Rest of the market</c:v>
                </c:pt>
              </c:strCache>
            </c:strRef>
          </c:tx>
          <c:spPr>
            <a:solidFill>
              <a:srgbClr val="0081E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41.31737528614946</c:v>
                </c:pt>
                <c:pt idx="1">
                  <c:v>83.57422635688556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2145.4759999999997</c:v>
                </c:pt>
                <c:pt idx="1">
                  <c:v>2210.3940000000002</c:v>
                </c:pt>
                <c:pt idx="2">
                  <c:v>2277.277</c:v>
                </c:pt>
                <c:pt idx="3">
                  <c:v>2346.184</c:v>
                </c:pt>
                <c:pt idx="4">
                  <c:v>2417.1749999999997</c:v>
                </c:pt>
                <c:pt idx="5">
                  <c:v>2490.315</c:v>
                </c:pt>
                <c:pt idx="6">
                  <c:v>2585.5899999999997</c:v>
                </c:pt>
                <c:pt idx="7">
                  <c:v>2684.5110000000004</c:v>
                </c:pt>
                <c:pt idx="8">
                  <c:v>2787.216</c:v>
                </c:pt>
                <c:pt idx="9">
                  <c:v>2893.85</c:v>
                </c:pt>
                <c:pt idx="10">
                  <c:v>3004.5639999999994</c:v>
                </c:pt>
                <c:pt idx="11">
                  <c:v>3119.5139999999997</c:v>
                </c:pt>
                <c:pt idx="12">
                  <c:v>3238.8610000000003</c:v>
                </c:pt>
                <c:pt idx="13">
                  <c:v>3362.7739999999994</c:v>
                </c:pt>
                <c:pt idx="14">
                  <c:v>3491.429</c:v>
                </c:pt>
                <c:pt idx="15">
                  <c:v>3625.005</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2A5F8F"/>
            </a:solidFill>
            <a:ln>
              <a:noFill/>
            </a:ln>
          </c:spPr>
          <c:dPt>
            <c:idx val="0"/>
            <c:spPr>
              <a:solidFill>
                <a:srgbClr val="0E2A5C"/>
              </a:solidFill>
            </c:spPr>
          </c:dPt>
          <c:dPt>
            <c:idx val="1"/>
            <c:spPr>
              <a:solidFill>
                <a:srgbClr val="0081E2"/>
              </a:solidFill>
            </c:spPr>
          </c:dPt>
          <c:dPt>
            <c:idx val="2"/>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0.049939469101035305</c:v>
                </c:pt>
                <c:pt idx="1">
                  <c:v>0.042245811642379394</c:v>
                </c:pt>
                <c:pt idx="2">
                  <c:v>0.03825835003765121</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6741828328639766"/>
          <c:min val="0.0"/>
        </c:scaling>
        <c:delete/>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2490.315</c:v>
                </c:pt>
                <c:pt idx="2">
                  <c:v>2585.5899999999997</c:v>
                </c:pt>
                <c:pt idx="3">
                  <c:v>2684.5110000000004</c:v>
                </c:pt>
                <c:pt idx="4">
                  <c:v>2787.216</c:v>
                </c:pt>
                <c:pt idx="5">
                  <c:v>2893.85</c:v>
                </c:pt>
                <c:pt idx="6">
                  <c:v>3004.5639999999994</c:v>
                </c:pt>
                <c:pt idx="7">
                  <c:v>3119.5139999999997</c:v>
                </c:pt>
                <c:pt idx="8">
                  <c:v>3238.8610000000003</c:v>
                </c:pt>
                <c:pt idx="9">
                  <c:v>3362.7739999999994</c:v>
                </c:pt>
                <c:pt idx="10">
                  <c:v>3491.429</c:v>
                </c:pt>
                <c:pt idx="11">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00ACAC"/>
              </a:solidFill>
            </c:spPr>
          </c:dPt>
          <c:dPt>
            <c:idx val="7"/>
            <c:spPr>
              <a:solidFill>
                <a:srgbClr val="00ACAC"/>
              </a:solidFill>
            </c:spPr>
          </c:dPt>
          <c:dPt>
            <c:idx val="8"/>
            <c:spPr>
              <a:solidFill>
                <a:srgbClr val="00ACAC"/>
              </a:solidFill>
            </c:spPr>
          </c:dPt>
          <c:dPt>
            <c:idx val="9"/>
            <c:spPr>
              <a:solidFill>
                <a:srgbClr val="00ACAC"/>
              </a:solidFill>
            </c:spPr>
          </c:dPt>
          <c:dPt>
            <c:idx val="10"/>
            <c:spPr>
              <a:solidFill>
                <a:srgbClr val="00ACAC"/>
              </a:solidFill>
            </c:spPr>
          </c:dPt>
          <c:dPt>
            <c:idx val="11"/>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2490.315</c:v>
                </c:pt>
                <c:pt idx="1">
                  <c:v>95.27499999999964</c:v>
                </c:pt>
                <c:pt idx="2">
                  <c:v>98.92100000000073</c:v>
                </c:pt>
                <c:pt idx="3">
                  <c:v>102.70499999999947</c:v>
                </c:pt>
                <c:pt idx="4">
                  <c:v>106.63400000000001</c:v>
                </c:pt>
                <c:pt idx="5">
                  <c:v>110.71399999999949</c:v>
                </c:pt>
                <c:pt idx="6">
                  <c:v>114.95000000000027</c:v>
                </c:pt>
                <c:pt idx="7">
                  <c:v>119.34700000000066</c:v>
                </c:pt>
                <c:pt idx="8">
                  <c:v>123.9129999999991</c:v>
                </c:pt>
                <c:pt idx="9">
                  <c:v>128.65500000000065</c:v>
                </c:pt>
                <c:pt idx="10">
                  <c:v>133.57600000000002</c:v>
                </c:pt>
                <c:pt idx="11">
                  <c:v>3625.005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57.692909140991745</c:v>
                </c:pt>
                <c:pt idx="1">
                  <c:v>22.846928701553093</c:v>
                </c:pt>
              </c:numCache>
            </c:numRef>
          </c:val>
        </c:ser>
        <c:ser>
          <c:idx val="1"/>
          <c:order val="1"/>
          <c:tx>
            <c:strRef>
              <c:strCache>
                <c:ptCount val="1"/>
                <c:pt idx="0">
                  <c:v>Rest of the market</c:v>
                </c:pt>
              </c:strCache>
            </c:strRef>
          </c:tx>
          <c:spPr>
            <a:solidFill>
              <a:srgbClr val="0081E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42.307090859008255</c:v>
                </c:pt>
                <c:pt idx="1">
                  <c:v>77.1530712984469</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2A5F8F"/>
            </a:solidFill>
            <a:ln>
              <a:noFill/>
            </a:ln>
          </c:spPr>
          <c:dPt>
            <c:idx val="0"/>
            <c:spPr>
              <a:solidFill>
                <a:srgbClr val="FFFFFF"/>
              </a:solidFill>
            </c:spPr>
          </c:dPt>
          <c:dPt>
            <c:idx val="1"/>
            <c:spPr>
              <a:solidFill>
                <a:srgbClr val="9EC6DE"/>
              </a:solidFill>
            </c:spPr>
          </c:dPt>
          <c:dPt>
            <c:idx val="2"/>
            <c:spPr>
              <a:solidFill>
                <a:srgbClr val="81B5D4"/>
              </a:solidFill>
            </c:spPr>
          </c:dPt>
          <c:dPt>
            <c:idx val="3"/>
            <c:spPr>
              <a:solidFill>
                <a:srgbClr val="64A4CB"/>
              </a:solidFill>
            </c:spPr>
          </c:dPt>
          <c:dPt>
            <c:idx val="4"/>
            <c:spPr>
              <a:solidFill>
                <a:srgbClr val="4793C1"/>
              </a:solidFill>
            </c:spPr>
          </c:dPt>
          <c:dPt>
            <c:idx val="5"/>
            <c:spPr>
              <a:solidFill>
                <a:srgbClr val="2A82B7"/>
              </a:solidFill>
            </c:spPr>
          </c:dPt>
          <c:dPt>
            <c:idx val="6"/>
            <c:spPr>
              <a:solidFill>
                <a:srgbClr val="0E72AE"/>
              </a:solidFill>
            </c:spPr>
          </c:dPt>
          <c:dLbls>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7"/>
                <c:pt idx="0">
                  <c:v> </c:v>
                </c:pt>
                <c:pt idx="1">
                  <c:v>Vane Air Compressor</c:v>
                </c:pt>
                <c:pt idx="2">
                  <c:v>Axial Air Compressor</c:v>
                </c:pt>
                <c:pt idx="3">
                  <c:v>Scroll Air Compressor</c:v>
                </c:pt>
                <c:pt idx="4">
                  <c:v>Centrifugal Air Compr…</c:v>
                </c:pt>
                <c:pt idx="5">
                  <c:v>Reciprocating (Piston…</c:v>
                </c:pt>
                <c:pt idx="6">
                  <c:v>Screw Air Compressor</c:v>
                </c:pt>
              </c:strCache>
            </c:strRef>
          </c:cat>
          <c:val>
            <c:numRef>
              <c:numCache>
                <c:formatCode>General</c:formatCode>
                <c:ptCount val="7"/>
                <c:pt idx="1">
                  <c:v>195.15</c:v>
                </c:pt>
                <c:pt idx="2">
                  <c:v>216.12</c:v>
                </c:pt>
                <c:pt idx="3">
                  <c:v>446.496</c:v>
                </c:pt>
                <c:pt idx="4">
                  <c:v>453.844</c:v>
                </c:pt>
                <c:pt idx="5">
                  <c:v>559.583</c:v>
                </c:pt>
                <c:pt idx="6">
                  <c:v>619.122</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829.62348"/>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2A5F8F"/>
            </a:solidFill>
            <a:ln>
              <a:noFill/>
            </a:ln>
          </c:spPr>
          <c:dPt>
            <c:idx val="0"/>
            <c:spPr>
              <a:solidFill>
                <a:srgbClr val="FFFFFF"/>
              </a:solidFill>
            </c:spPr>
          </c:dPt>
          <c:dPt>
            <c:idx val="1"/>
            <c:spPr>
              <a:solidFill>
                <a:srgbClr val="9DABB6"/>
              </a:solidFill>
            </c:spPr>
          </c:dPt>
          <c:dPt>
            <c:idx val="2"/>
            <c:spPr>
              <a:solidFill>
                <a:srgbClr val="8092A0"/>
              </a:solidFill>
            </c:spPr>
          </c:dPt>
          <c:dPt>
            <c:idx val="3"/>
            <c:spPr>
              <a:solidFill>
                <a:srgbClr val="62798B"/>
              </a:solidFill>
            </c:spPr>
          </c:dPt>
          <c:dPt>
            <c:idx val="4"/>
            <c:spPr>
              <a:solidFill>
                <a:srgbClr val="456075"/>
              </a:solidFill>
            </c:spPr>
          </c:dPt>
          <c:dPt>
            <c:idx val="5"/>
            <c:spPr>
              <a:solidFill>
                <a:srgbClr val="28475F"/>
              </a:solidFill>
            </c:spPr>
          </c:dPt>
          <c:dPt>
            <c:idx val="6"/>
            <c:spPr>
              <a:solidFill>
                <a:srgbClr val="0B2E4A"/>
              </a:solidFill>
            </c:spPr>
          </c:dPt>
          <c:dLbls>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7"/>
                <c:pt idx="0">
                  <c:v> </c:v>
                </c:pt>
                <c:pt idx="1">
                  <c:v>12,000 to 20,000 HP</c:v>
                </c:pt>
                <c:pt idx="2">
                  <c:v>5,000 to 12,000 HP</c:v>
                </c:pt>
                <c:pt idx="3">
                  <c:v>500 to 2,000 HP</c:v>
                </c:pt>
                <c:pt idx="4">
                  <c:v>20,000 HP</c:v>
                </c:pt>
                <c:pt idx="5">
                  <c:v>Up to 500 HP</c:v>
                </c:pt>
                <c:pt idx="6">
                  <c:v>2,000 to 5,000 HP</c:v>
                </c:pt>
              </c:strCache>
            </c:strRef>
          </c:cat>
          <c:val>
            <c:numRef>
              <c:numCache>
                <c:formatCode>General</c:formatCode>
                <c:ptCount val="7"/>
                <c:pt idx="1">
                  <c:v>92.344</c:v>
                </c:pt>
                <c:pt idx="2">
                  <c:v>199.99</c:v>
                </c:pt>
                <c:pt idx="3">
                  <c:v>214.975</c:v>
                </c:pt>
                <c:pt idx="4">
                  <c:v>532.963</c:v>
                </c:pt>
                <c:pt idx="5">
                  <c:v>629.462</c:v>
                </c:pt>
                <c:pt idx="6">
                  <c:v>820.581</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099.57854"/>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2A5F8F"/>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C5B1E6"/>
              </a:solidFill>
            </c:spPr>
          </c:dPt>
          <c:dPt>
            <c:idx val="5"/>
            <c:spPr>
              <a:solidFill>
                <a:srgbClr val="9A76D4"/>
              </a:solidFill>
            </c:spPr>
          </c:dPt>
          <c:dPt>
            <c:idx val="6"/>
            <c:spPr>
              <a:solidFill>
                <a:srgbClr val="6F3CC2"/>
              </a:solidFill>
            </c:spPr>
          </c:dPt>
          <c:dLbls>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7"/>
                <c:pt idx="0">
                  <c:v> </c:v>
                </c:pt>
                <c:pt idx="1">
                  <c:v>  </c:v>
                </c:pt>
                <c:pt idx="2">
                  <c:v>   </c:v>
                </c:pt>
                <c:pt idx="3">
                  <c:v>    </c:v>
                </c:pt>
                <c:pt idx="4">
                  <c:v>Multistage</c:v>
                </c:pt>
                <c:pt idx="5">
                  <c:v>Single-Stage</c:v>
                </c:pt>
                <c:pt idx="6">
                  <c:v>Two-Stage</c:v>
                </c:pt>
              </c:strCache>
            </c:strRef>
          </c:cat>
          <c:val>
            <c:numRef>
              <c:numCache>
                <c:formatCode>General</c:formatCode>
                <c:ptCount val="7"/>
                <c:pt idx="4">
                  <c:v>426.971</c:v>
                </c:pt>
                <c:pt idx="5">
                  <c:v>433.361</c:v>
                </c:pt>
                <c:pt idx="6">
                  <c:v>1629.983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2184.17722"/>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2A5F8F"/>
            </a:solidFill>
            <a:ln>
              <a:noFill/>
            </a:ln>
          </c:spPr>
          <c:dPt>
            <c:idx val="0"/>
            <c:spPr>
              <a:solidFill>
                <a:srgbClr val="DABAA0"/>
              </a:solidFill>
            </c:spPr>
          </c:dPt>
          <c:dPt>
            <c:idx val="1"/>
            <c:spPr>
              <a:solidFill>
                <a:srgbClr val="D1A989"/>
              </a:solidFill>
            </c:spPr>
          </c:dPt>
          <c:dPt>
            <c:idx val="2"/>
            <c:spPr>
              <a:solidFill>
                <a:srgbClr val="C79771"/>
              </a:solidFill>
            </c:spPr>
          </c:dPt>
          <c:dPt>
            <c:idx val="3"/>
            <c:spPr>
              <a:solidFill>
                <a:srgbClr val="BE8659"/>
              </a:solidFill>
            </c:spPr>
          </c:dPt>
          <c:dPt>
            <c:idx val="4"/>
            <c:spPr>
              <a:solidFill>
                <a:srgbClr val="B57542"/>
              </a:solidFill>
            </c:spPr>
          </c:dPt>
          <c:dPt>
            <c:idx val="5"/>
            <c:spPr>
              <a:solidFill>
                <a:srgbClr val="AC642A"/>
              </a:solidFill>
            </c:spPr>
          </c:dPt>
          <c:dPt>
            <c:idx val="6"/>
            <c:spPr>
              <a:solidFill>
                <a:srgbClr val="A35313"/>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7"/>
                <c:pt idx="0">
                  <c:v>Food and Beverages</c:v>
                </c:pt>
                <c:pt idx="1">
                  <c:v>Pharmaceuticals</c:v>
                </c:pt>
                <c:pt idx="2">
                  <c:v>Automotive and Transp…</c:v>
                </c:pt>
                <c:pt idx="3">
                  <c:v>Oil and Gas</c:v>
                </c:pt>
                <c:pt idx="4">
                  <c:v>Other Manufacturing</c:v>
                </c:pt>
                <c:pt idx="5">
                  <c:v>Mining and Metals</c:v>
                </c:pt>
                <c:pt idx="6">
                  <c:v>Industrial Air Separa…</c:v>
                </c:pt>
              </c:strCache>
            </c:strRef>
          </c:cat>
          <c:val>
            <c:numRef>
              <c:numCache>
                <c:formatCode>General</c:formatCode>
                <c:ptCount val="7"/>
                <c:pt idx="0">
                  <c:v>176.549</c:v>
                </c:pt>
                <c:pt idx="1">
                  <c:v>228.142</c:v>
                </c:pt>
                <c:pt idx="2">
                  <c:v>289.609</c:v>
                </c:pt>
                <c:pt idx="3">
                  <c:v>317.222</c:v>
                </c:pt>
                <c:pt idx="4">
                  <c:v>433.5</c:v>
                </c:pt>
                <c:pt idx="5">
                  <c:v>468.616</c:v>
                </c:pt>
                <c:pt idx="6">
                  <c:v>576.677</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772.7471800000001"/>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2A5F8F"/>
            </a:solidFill>
            <a:ln>
              <a:noFill/>
            </a:ln>
          </c:spPr>
          <c:dPt>
            <c:idx val="0"/>
            <c:spPr>
              <a:solidFill>
                <a:srgbClr val="FFFFFF"/>
              </a:solidFill>
            </c:spPr>
          </c:dPt>
          <c:dPt>
            <c:idx val="1"/>
            <c:spPr>
              <a:solidFill>
                <a:srgbClr val="DCC599"/>
              </a:solidFill>
            </c:spPr>
          </c:dPt>
          <c:dPt>
            <c:idx val="2"/>
            <c:spPr>
              <a:solidFill>
                <a:srgbClr val="D1B47A"/>
              </a:solidFill>
            </c:spPr>
          </c:dPt>
          <c:dPt>
            <c:idx val="3"/>
            <c:spPr>
              <a:solidFill>
                <a:srgbClr val="C7A25B"/>
              </a:solidFill>
            </c:spPr>
          </c:dPt>
          <c:dPt>
            <c:idx val="4"/>
            <c:spPr>
              <a:solidFill>
                <a:srgbClr val="BC913D"/>
              </a:solidFill>
            </c:spPr>
          </c:dPt>
          <c:dPt>
            <c:idx val="5"/>
            <c:spPr>
              <a:solidFill>
                <a:srgbClr val="B2801E"/>
              </a:solidFill>
            </c:spPr>
          </c:dPt>
          <c:dPt>
            <c:idx val="6"/>
            <c:spPr>
              <a:solidFill>
                <a:srgbClr val="A86F00"/>
              </a:solidFill>
            </c:spPr>
          </c:dPt>
          <c:dLbls>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7"/>
                <c:pt idx="0">
                  <c:v> </c:v>
                </c:pt>
                <c:pt idx="1">
                  <c:v>Electric Motor-Driven</c:v>
                </c:pt>
                <c:pt idx="2">
                  <c:v>Other Drive Types</c:v>
                </c:pt>
                <c:pt idx="3">
                  <c:v>Gas Turbine-Driven</c:v>
                </c:pt>
                <c:pt idx="4">
                  <c:v>Steam Turbine-Driven</c:v>
                </c:pt>
                <c:pt idx="5">
                  <c:v>Natural Gas Engine-Dr…</c:v>
                </c:pt>
                <c:pt idx="6">
                  <c:v>Diesel Engine-Driven</c:v>
                </c:pt>
              </c:strCache>
            </c:strRef>
          </c:cat>
          <c:val>
            <c:numRef>
              <c:numCache>
                <c:formatCode>General</c:formatCode>
                <c:ptCount val="7"/>
                <c:pt idx="1">
                  <c:v>128.598</c:v>
                </c:pt>
                <c:pt idx="2">
                  <c:v>130.088</c:v>
                </c:pt>
                <c:pt idx="3">
                  <c:v>247.148</c:v>
                </c:pt>
                <c:pt idx="4">
                  <c:v>366.141</c:v>
                </c:pt>
                <c:pt idx="5">
                  <c:v>662.793</c:v>
                </c:pt>
                <c:pt idx="6">
                  <c:v>955.547</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280.43298"/>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2026</c:v>
                </c:pt>
                <c:pt idx="1">
                  <c:v>Rotary Screw Air Compressor</c:v>
                </c:pt>
                <c:pt idx="2">
                  <c:v>Reciprocating (Piston) Air Compressor</c:v>
                </c:pt>
                <c:pt idx="3">
                  <c:v>Centrifugal Air Compressor</c:v>
                </c:pt>
                <c:pt idx="4">
                  <c:v>Axial Air Compressor</c:v>
                </c:pt>
                <c:pt idx="5">
                  <c:v>Rotary Vane Air Compressor</c:v>
                </c:pt>
                <c:pt idx="6">
                  <c:v>Scroll Air Compressor</c:v>
                </c:pt>
                <c:pt idx="7">
                  <c:v>2036 Total</c:v>
                </c:pt>
              </c:strCache>
            </c:strRef>
          </c:cat>
          <c:val>
            <c:numRef>
              <c:numCache>
                <c:formatCode>General</c:formatCode>
                <c:ptCount val="8"/>
                <c:pt idx="0">
                  <c:v>0.0</c:v>
                </c:pt>
                <c:pt idx="1">
                  <c:v>2490.315</c:v>
                </c:pt>
                <c:pt idx="2">
                  <c:v>2821.976</c:v>
                </c:pt>
                <c:pt idx="3">
                  <c:v>2871.425</c:v>
                </c:pt>
                <c:pt idx="4">
                  <c:v>3196.992</c:v>
                </c:pt>
                <c:pt idx="5">
                  <c:v>3205.7560000000003</c:v>
                </c:pt>
                <c:pt idx="6">
                  <c:v>3319.0580000000004</c:v>
                </c:pt>
                <c:pt idx="7">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00ACAC"/>
              </a:solidFill>
            </c:spPr>
          </c:dPt>
          <c:dPt>
            <c:idx val="7"/>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2026</c:v>
                </c:pt>
                <c:pt idx="1">
                  <c:v>Rotary Screw Air Compressor</c:v>
                </c:pt>
                <c:pt idx="2">
                  <c:v>Reciprocating (Piston) Air Compressor</c:v>
                </c:pt>
                <c:pt idx="3">
                  <c:v>Centrifugal Air Compressor</c:v>
                </c:pt>
                <c:pt idx="4">
                  <c:v>Axial Air Compressor</c:v>
                </c:pt>
                <c:pt idx="5">
                  <c:v>Rotary Vane Air Compressor</c:v>
                </c:pt>
                <c:pt idx="6">
                  <c:v>Scroll Air Compressor</c:v>
                </c:pt>
                <c:pt idx="7">
                  <c:v>2036 Total</c:v>
                </c:pt>
              </c:strCache>
            </c:strRef>
          </c:cat>
          <c:val>
            <c:numRef>
              <c:numCache>
                <c:formatCode>General</c:formatCode>
                <c:ptCount val="8"/>
                <c:pt idx="0">
                  <c:v>2490.315</c:v>
                </c:pt>
                <c:pt idx="1">
                  <c:v>331.66100000000006</c:v>
                </c:pt>
                <c:pt idx="2">
                  <c:v>49.44900000000007</c:v>
                </c:pt>
                <c:pt idx="3">
                  <c:v>325.56699999999995</c:v>
                </c:pt>
                <c:pt idx="4">
                  <c:v>8.763999999999982</c:v>
                </c:pt>
                <c:pt idx="5">
                  <c:v>113.30199999999999</c:v>
                </c:pt>
                <c:pt idx="6">
                  <c:v>305.947</c:v>
                </c:pt>
                <c:pt idx="7">
                  <c:v>3625.005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Rotary Screw Air Compressor</c:v>
                </c:pt>
                <c:pt idx="1">
                  <c:v>Reciprocating (Piston) Air Compressor</c:v>
                </c:pt>
                <c:pt idx="2">
                  <c:v>Centrifugal Air Compressor</c:v>
                </c:pt>
                <c:pt idx="3">
                  <c:v>Axial Air Compressor</c:v>
                </c:pt>
                <c:pt idx="4">
                  <c:v>Rotary Vane Air Compressor</c:v>
                </c:pt>
                <c:pt idx="5">
                  <c:v>Scroll Air Compressor</c:v>
                </c:pt>
                <c:pt idx="6">
                  <c:v>Total Absolute $ Opportunity</c:v>
                </c:pt>
              </c:strCache>
            </c:strRef>
          </c:cat>
          <c:val>
            <c:numRef>
              <c:numCache>
                <c:formatCode>General</c:formatCode>
                <c:ptCount val="7"/>
                <c:pt idx="0">
                  <c:v>0.0</c:v>
                </c:pt>
                <c:pt idx="1">
                  <c:v>331.66100000000006</c:v>
                </c:pt>
                <c:pt idx="2">
                  <c:v>381.1100000000001</c:v>
                </c:pt>
                <c:pt idx="3">
                  <c:v>706.6770000000001</c:v>
                </c:pt>
                <c:pt idx="4">
                  <c:v>715.4410000000001</c:v>
                </c:pt>
                <c:pt idx="5">
                  <c:v>828.7430000000002</c:v>
                </c:pt>
                <c:pt idx="6">
                  <c:v>0.0</c:v>
                </c:pt>
              </c:numCache>
            </c:numRef>
          </c:val>
        </c:ser>
        <c:ser>
          <c:idx val="1"/>
          <c:order val="1"/>
          <c:tx>
            <c:strRef>
              <c:strCache>
                <c:ptCount val="1"/>
                <c:pt idx="0">
                  <c:v>value</c:v>
                </c:pt>
              </c:strCache>
            </c:strRef>
          </c:tx>
          <c:spPr/>
          <c:dPt>
            <c:idx val="0"/>
            <c:spPr>
              <a:solidFill>
                <a:srgbClr val="00ACAC"/>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Rotary Screw Air Compressor</c:v>
                </c:pt>
                <c:pt idx="1">
                  <c:v>Reciprocating (Piston) Air Compressor</c:v>
                </c:pt>
                <c:pt idx="2">
                  <c:v>Centrifugal Air Compressor</c:v>
                </c:pt>
                <c:pt idx="3">
                  <c:v>Axial Air Compressor</c:v>
                </c:pt>
                <c:pt idx="4">
                  <c:v>Rotary Vane Air Compressor</c:v>
                </c:pt>
                <c:pt idx="5">
                  <c:v>Scroll Air Compressor</c:v>
                </c:pt>
                <c:pt idx="6">
                  <c:v>Total Absolute $ Opportunity</c:v>
                </c:pt>
              </c:strCache>
            </c:strRef>
          </c:cat>
          <c:val>
            <c:numRef>
              <c:numCache>
                <c:formatCode>General</c:formatCode>
                <c:ptCount val="7"/>
                <c:pt idx="0">
                  <c:v>331.66100000000006</c:v>
                </c:pt>
                <c:pt idx="1">
                  <c:v>49.44900000000007</c:v>
                </c:pt>
                <c:pt idx="2">
                  <c:v>325.56699999999995</c:v>
                </c:pt>
                <c:pt idx="3">
                  <c:v>8.763999999999982</c:v>
                </c:pt>
                <c:pt idx="4">
                  <c:v>113.30199999999999</c:v>
                </c:pt>
                <c:pt idx="5">
                  <c:v>305.947</c:v>
                </c:pt>
                <c:pt idx="6">
                  <c:v>1134.69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2026</c:v>
                </c:pt>
                <c:pt idx="1">
                  <c:v>Up to 500 HP</c:v>
                </c:pt>
                <c:pt idx="2">
                  <c:v>Above 500 to 2,000 HP</c:v>
                </c:pt>
                <c:pt idx="3">
                  <c:v>Above 2,000 to 5,000 HP</c:v>
                </c:pt>
                <c:pt idx="4">
                  <c:v>Above 5,000 to 12,000 HP</c:v>
                </c:pt>
                <c:pt idx="5">
                  <c:v>Above 12,000 to 20,000 HP</c:v>
                </c:pt>
                <c:pt idx="6">
                  <c:v>Above 20,000 HP</c:v>
                </c:pt>
                <c:pt idx="7">
                  <c:v>2036 Total</c:v>
                </c:pt>
              </c:strCache>
            </c:strRef>
          </c:cat>
          <c:val>
            <c:numRef>
              <c:numCache>
                <c:formatCode>General</c:formatCode>
                <c:ptCount val="8"/>
                <c:pt idx="0">
                  <c:v>0.0</c:v>
                </c:pt>
                <c:pt idx="1">
                  <c:v>2490.315</c:v>
                </c:pt>
                <c:pt idx="2">
                  <c:v>2888.5389999999998</c:v>
                </c:pt>
                <c:pt idx="3">
                  <c:v>2988.3999999999996</c:v>
                </c:pt>
                <c:pt idx="4">
                  <c:v>3205.5149999999994</c:v>
                </c:pt>
                <c:pt idx="5">
                  <c:v>3257.0299999999993</c:v>
                </c:pt>
                <c:pt idx="6">
                  <c:v>3305.0059999999994</c:v>
                </c:pt>
                <c:pt idx="7">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00ACAC"/>
              </a:solidFill>
            </c:spPr>
          </c:dPt>
          <c:dPt>
            <c:idx val="7"/>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2026</c:v>
                </c:pt>
                <c:pt idx="1">
                  <c:v>Up to 500 HP</c:v>
                </c:pt>
                <c:pt idx="2">
                  <c:v>Above 500 to 2,000 HP</c:v>
                </c:pt>
                <c:pt idx="3">
                  <c:v>Above 2,000 to 5,000 HP</c:v>
                </c:pt>
                <c:pt idx="4">
                  <c:v>Above 5,000 to 12,000 HP</c:v>
                </c:pt>
                <c:pt idx="5">
                  <c:v>Above 12,000 to 20,000 HP</c:v>
                </c:pt>
                <c:pt idx="6">
                  <c:v>Above 20,000 HP</c:v>
                </c:pt>
                <c:pt idx="7">
                  <c:v>2036 Total</c:v>
                </c:pt>
              </c:strCache>
            </c:strRef>
          </c:cat>
          <c:val>
            <c:numRef>
              <c:numCache>
                <c:formatCode>General</c:formatCode>
                <c:ptCount val="8"/>
                <c:pt idx="0">
                  <c:v>2490.315</c:v>
                </c:pt>
                <c:pt idx="1">
                  <c:v>398.22399999999993</c:v>
                </c:pt>
                <c:pt idx="2">
                  <c:v>99.86100000000002</c:v>
                </c:pt>
                <c:pt idx="3">
                  <c:v>217.1149999999999</c:v>
                </c:pt>
                <c:pt idx="4">
                  <c:v>51.514999999999986</c:v>
                </c:pt>
                <c:pt idx="5">
                  <c:v>47.976</c:v>
                </c:pt>
                <c:pt idx="6">
                  <c:v>319.999</c:v>
                </c:pt>
                <c:pt idx="7">
                  <c:v>3625.005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Up to 500 HP</c:v>
                </c:pt>
                <c:pt idx="1">
                  <c:v>Above 500 to 2,000 HP</c:v>
                </c:pt>
                <c:pt idx="2">
                  <c:v>Above 2,000 to 5,000 HP</c:v>
                </c:pt>
                <c:pt idx="3">
                  <c:v>Above 5,000 to 12,000 HP</c:v>
                </c:pt>
                <c:pt idx="4">
                  <c:v>Above 12,000 to 20,000 HP</c:v>
                </c:pt>
                <c:pt idx="5">
                  <c:v>Above 20,000 HP</c:v>
                </c:pt>
                <c:pt idx="6">
                  <c:v>Total Absolute $ Opportunity</c:v>
                </c:pt>
              </c:strCache>
            </c:strRef>
          </c:cat>
          <c:val>
            <c:numRef>
              <c:numCache>
                <c:formatCode>General</c:formatCode>
                <c:ptCount val="7"/>
                <c:pt idx="0">
                  <c:v>0.0</c:v>
                </c:pt>
                <c:pt idx="1">
                  <c:v>398.22399999999993</c:v>
                </c:pt>
                <c:pt idx="2">
                  <c:v>498.0849999999999</c:v>
                </c:pt>
                <c:pt idx="3">
                  <c:v>715.1999999999998</c:v>
                </c:pt>
                <c:pt idx="4">
                  <c:v>766.7149999999998</c:v>
                </c:pt>
                <c:pt idx="5">
                  <c:v>814.6909999999998</c:v>
                </c:pt>
                <c:pt idx="6">
                  <c:v>0.0</c:v>
                </c:pt>
              </c:numCache>
            </c:numRef>
          </c:val>
        </c:ser>
        <c:ser>
          <c:idx val="1"/>
          <c:order val="1"/>
          <c:tx>
            <c:strRef>
              <c:strCache>
                <c:ptCount val="1"/>
                <c:pt idx="0">
                  <c:v>value</c:v>
                </c:pt>
              </c:strCache>
            </c:strRef>
          </c:tx>
          <c:spPr/>
          <c:dPt>
            <c:idx val="0"/>
            <c:spPr>
              <a:solidFill>
                <a:srgbClr val="00ACAC"/>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Up to 500 HP</c:v>
                </c:pt>
                <c:pt idx="1">
                  <c:v>Above 500 to 2,000 HP</c:v>
                </c:pt>
                <c:pt idx="2">
                  <c:v>Above 2,000 to 5,000 HP</c:v>
                </c:pt>
                <c:pt idx="3">
                  <c:v>Above 5,000 to 12,000 HP</c:v>
                </c:pt>
                <c:pt idx="4">
                  <c:v>Above 12,000 to 20,000 HP</c:v>
                </c:pt>
                <c:pt idx="5">
                  <c:v>Above 20,000 HP</c:v>
                </c:pt>
                <c:pt idx="6">
                  <c:v>Total Absolute $ Opportunity</c:v>
                </c:pt>
              </c:strCache>
            </c:strRef>
          </c:cat>
          <c:val>
            <c:numRef>
              <c:numCache>
                <c:formatCode>General</c:formatCode>
                <c:ptCount val="7"/>
                <c:pt idx="0">
                  <c:v>398.22399999999993</c:v>
                </c:pt>
                <c:pt idx="1">
                  <c:v>99.86100000000002</c:v>
                </c:pt>
                <c:pt idx="2">
                  <c:v>217.1149999999999</c:v>
                </c:pt>
                <c:pt idx="3">
                  <c:v>51.514999999999986</c:v>
                </c:pt>
                <c:pt idx="4">
                  <c:v>47.976</c:v>
                </c:pt>
                <c:pt idx="5">
                  <c:v>319.999</c:v>
                </c:pt>
                <c:pt idx="6">
                  <c:v>1134.6899999999998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2026</c:v>
                </c:pt>
                <c:pt idx="1">
                  <c:v>Single-Stage</c:v>
                </c:pt>
                <c:pt idx="2">
                  <c:v>Two-Stage</c:v>
                </c:pt>
                <c:pt idx="3">
                  <c:v>Multistage</c:v>
                </c:pt>
                <c:pt idx="4">
                  <c:v>2036 Total</c:v>
                </c:pt>
              </c:strCache>
            </c:strRef>
          </c:cat>
          <c:val>
            <c:numRef>
              <c:numCache>
                <c:formatCode>General</c:formatCode>
                <c:ptCount val="5"/>
                <c:pt idx="0">
                  <c:v>0.0</c:v>
                </c:pt>
                <c:pt idx="1">
                  <c:v>2490.315</c:v>
                </c:pt>
                <c:pt idx="2">
                  <c:v>2707.213</c:v>
                </c:pt>
                <c:pt idx="3">
                  <c:v>3493.934</c:v>
                </c:pt>
                <c:pt idx="4">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2026</c:v>
                </c:pt>
                <c:pt idx="1">
                  <c:v>Single-Stage</c:v>
                </c:pt>
                <c:pt idx="2">
                  <c:v>Two-Stage</c:v>
                </c:pt>
                <c:pt idx="3">
                  <c:v>Multistage</c:v>
                </c:pt>
                <c:pt idx="4">
                  <c:v>2036 Total</c:v>
                </c:pt>
              </c:strCache>
            </c:strRef>
          </c:cat>
          <c:val>
            <c:numRef>
              <c:numCache>
                <c:formatCode>General</c:formatCode>
                <c:ptCount val="5"/>
                <c:pt idx="0">
                  <c:v>2490.315</c:v>
                </c:pt>
                <c:pt idx="1">
                  <c:v>216.89800000000002</c:v>
                </c:pt>
                <c:pt idx="2">
                  <c:v>786.7210000000002</c:v>
                </c:pt>
                <c:pt idx="3">
                  <c:v>131.07100000000003</c:v>
                </c:pt>
                <c:pt idx="4">
                  <c:v>3625.005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Single-Stage</c:v>
                </c:pt>
                <c:pt idx="1">
                  <c:v>Two-Stage</c:v>
                </c:pt>
                <c:pt idx="2">
                  <c:v>Multistage</c:v>
                </c:pt>
                <c:pt idx="3">
                  <c:v>Total Absolute $ Opportunity</c:v>
                </c:pt>
              </c:strCache>
            </c:strRef>
          </c:cat>
          <c:val>
            <c:numRef>
              <c:numCache>
                <c:formatCode>General</c:formatCode>
                <c:ptCount val="4"/>
                <c:pt idx="0">
                  <c:v>0.0</c:v>
                </c:pt>
                <c:pt idx="1">
                  <c:v>216.89800000000002</c:v>
                </c:pt>
                <c:pt idx="2">
                  <c:v>1003.6190000000003</c:v>
                </c:pt>
                <c:pt idx="3">
                  <c:v>0.0</c:v>
                </c:pt>
              </c:numCache>
            </c:numRef>
          </c:val>
        </c:ser>
        <c:ser>
          <c:idx val="1"/>
          <c:order val="1"/>
          <c:tx>
            <c:strRef>
              <c:strCache>
                <c:ptCount val="1"/>
                <c:pt idx="0">
                  <c:v>value</c:v>
                </c:pt>
              </c:strCache>
            </c:strRef>
          </c:tx>
          <c:spPr/>
          <c:dPt>
            <c:idx val="0"/>
            <c:spPr>
              <a:solidFill>
                <a:srgbClr val="00ACAC"/>
              </a:solidFill>
            </c:spPr>
          </c:dPt>
          <c:dPt>
            <c:idx val="1"/>
            <c:spPr>
              <a:solidFill>
                <a:srgbClr val="00ACAC"/>
              </a:solidFill>
            </c:spPr>
          </c:dPt>
          <c:dPt>
            <c:idx val="2"/>
            <c:spPr>
              <a:solidFill>
                <a:srgbClr val="00ACAC"/>
              </a:solidFill>
            </c:spPr>
          </c:dPt>
          <c:dPt>
            <c:idx val="3"/>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Single-Stage</c:v>
                </c:pt>
                <c:pt idx="1">
                  <c:v>Two-Stage</c:v>
                </c:pt>
                <c:pt idx="2">
                  <c:v>Multistage</c:v>
                </c:pt>
                <c:pt idx="3">
                  <c:v>Total Absolute $ Opportunity</c:v>
                </c:pt>
              </c:strCache>
            </c:strRef>
          </c:cat>
          <c:val>
            <c:numRef>
              <c:numCache>
                <c:formatCode>General</c:formatCode>
                <c:ptCount val="4"/>
                <c:pt idx="0">
                  <c:v>216.89800000000002</c:v>
                </c:pt>
                <c:pt idx="1">
                  <c:v>786.7210000000002</c:v>
                </c:pt>
                <c:pt idx="2">
                  <c:v>131.07100000000003</c:v>
                </c:pt>
                <c:pt idx="3">
                  <c:v>1134.6900000000003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9"/>
                <c:pt idx="0">
                  <c:v>2026</c:v>
                </c:pt>
                <c:pt idx="1">
                  <c:v>Automotive and Transportation</c:v>
                </c:pt>
                <c:pt idx="2">
                  <c:v>Oil and Gas</c:v>
                </c:pt>
                <c:pt idx="3">
                  <c:v>Food and Beverages</c:v>
                </c:pt>
                <c:pt idx="4">
                  <c:v>Pharmaceuticals</c:v>
                </c:pt>
                <c:pt idx="5">
                  <c:v>Mining and Metals</c:v>
                </c:pt>
                <c:pt idx="6">
                  <c:v>Industrial Air Separation</c:v>
                </c:pt>
                <c:pt idx="7">
                  <c:v>Other Manufacturing</c:v>
                </c:pt>
                <c:pt idx="8">
                  <c:v>2036 Total</c:v>
                </c:pt>
              </c:strCache>
            </c:strRef>
          </c:cat>
          <c:val>
            <c:numRef>
              <c:numCache>
                <c:formatCode>General</c:formatCode>
                <c:ptCount val="9"/>
                <c:pt idx="0">
                  <c:v>0.0</c:v>
                </c:pt>
                <c:pt idx="1">
                  <c:v>2490.315</c:v>
                </c:pt>
                <c:pt idx="2">
                  <c:v>2494.7960000000003</c:v>
                </c:pt>
                <c:pt idx="3">
                  <c:v>2700.322</c:v>
                </c:pt>
                <c:pt idx="4">
                  <c:v>2723.237</c:v>
                </c:pt>
                <c:pt idx="5">
                  <c:v>2779.042</c:v>
                </c:pt>
                <c:pt idx="6">
                  <c:v>2893.098</c:v>
                </c:pt>
                <c:pt idx="7">
                  <c:v>3357.19</c:v>
                </c:pt>
                <c:pt idx="8">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00ACAC"/>
              </a:solidFill>
            </c:spPr>
          </c:dPt>
          <c:dPt>
            <c:idx val="7"/>
            <c:spPr>
              <a:solidFill>
                <a:srgbClr val="00ACAC"/>
              </a:solidFill>
            </c:spPr>
          </c:dPt>
          <c:dPt>
            <c:idx val="8"/>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9"/>
                <c:pt idx="0">
                  <c:v>2026</c:v>
                </c:pt>
                <c:pt idx="1">
                  <c:v>Automotive and Transportation</c:v>
                </c:pt>
                <c:pt idx="2">
                  <c:v>Oil and Gas</c:v>
                </c:pt>
                <c:pt idx="3">
                  <c:v>Food and Beverages</c:v>
                </c:pt>
                <c:pt idx="4">
                  <c:v>Pharmaceuticals</c:v>
                </c:pt>
                <c:pt idx="5">
                  <c:v>Mining and Metals</c:v>
                </c:pt>
                <c:pt idx="6">
                  <c:v>Industrial Air Separation</c:v>
                </c:pt>
                <c:pt idx="7">
                  <c:v>Other Manufacturing</c:v>
                </c:pt>
                <c:pt idx="8">
                  <c:v>2036 Total</c:v>
                </c:pt>
              </c:strCache>
            </c:strRef>
          </c:cat>
          <c:val>
            <c:numRef>
              <c:numCache>
                <c:formatCode>General</c:formatCode>
                <c:ptCount val="9"/>
                <c:pt idx="0">
                  <c:v>2490.315</c:v>
                </c:pt>
                <c:pt idx="1">
                  <c:v>4.4809999999999945</c:v>
                </c:pt>
                <c:pt idx="2">
                  <c:v>205.52600000000007</c:v>
                </c:pt>
                <c:pt idx="3">
                  <c:v>22.914999999999992</c:v>
                </c:pt>
                <c:pt idx="4">
                  <c:v>55.80500000000001</c:v>
                </c:pt>
                <c:pt idx="5">
                  <c:v>114.05600000000004</c:v>
                </c:pt>
                <c:pt idx="6">
                  <c:v>464.092</c:v>
                </c:pt>
                <c:pt idx="7">
                  <c:v>267.81500000000005</c:v>
                </c:pt>
                <c:pt idx="8">
                  <c:v>3625.0049999999997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Automotive and Transportation</c:v>
                </c:pt>
                <c:pt idx="1">
                  <c:v>Oil and Gas</c:v>
                </c:pt>
                <c:pt idx="2">
                  <c:v>Food and Beverages</c:v>
                </c:pt>
                <c:pt idx="3">
                  <c:v>Pharmaceuticals</c:v>
                </c:pt>
                <c:pt idx="4">
                  <c:v>Mining and Metals</c:v>
                </c:pt>
                <c:pt idx="5">
                  <c:v>Industrial Air Separation</c:v>
                </c:pt>
                <c:pt idx="6">
                  <c:v>Other Manufacturing</c:v>
                </c:pt>
                <c:pt idx="7">
                  <c:v>Total Absolute $ Opportunity</c:v>
                </c:pt>
              </c:strCache>
            </c:strRef>
          </c:cat>
          <c:val>
            <c:numRef>
              <c:numCache>
                <c:formatCode>General</c:formatCode>
                <c:ptCount val="8"/>
                <c:pt idx="0">
                  <c:v>0.0</c:v>
                </c:pt>
                <c:pt idx="1">
                  <c:v>4.4809999999999945</c:v>
                </c:pt>
                <c:pt idx="2">
                  <c:v>210.00700000000006</c:v>
                </c:pt>
                <c:pt idx="3">
                  <c:v>232.92200000000005</c:v>
                </c:pt>
                <c:pt idx="4">
                  <c:v>288.7270000000001</c:v>
                </c:pt>
                <c:pt idx="5">
                  <c:v>402.78300000000013</c:v>
                </c:pt>
                <c:pt idx="6">
                  <c:v>866.8750000000001</c:v>
                </c:pt>
                <c:pt idx="7">
                  <c:v>0.0</c:v>
                </c:pt>
              </c:numCache>
            </c:numRef>
          </c:val>
        </c:ser>
        <c:ser>
          <c:idx val="1"/>
          <c:order val="1"/>
          <c:tx>
            <c:strRef>
              <c:strCache>
                <c:ptCount val="1"/>
                <c:pt idx="0">
                  <c:v>value</c:v>
                </c:pt>
              </c:strCache>
            </c:strRef>
          </c:tx>
          <c:spPr/>
          <c:dPt>
            <c:idx val="0"/>
            <c:spPr>
              <a:solidFill>
                <a:srgbClr val="00ACAC"/>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00ACAC"/>
              </a:solidFill>
            </c:spPr>
          </c:dPt>
          <c:dPt>
            <c:idx val="7"/>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Automotive and Transportation</c:v>
                </c:pt>
                <c:pt idx="1">
                  <c:v>Oil and Gas</c:v>
                </c:pt>
                <c:pt idx="2">
                  <c:v>Food and Beverages</c:v>
                </c:pt>
                <c:pt idx="3">
                  <c:v>Pharmaceuticals</c:v>
                </c:pt>
                <c:pt idx="4">
                  <c:v>Mining and Metals</c:v>
                </c:pt>
                <c:pt idx="5">
                  <c:v>Industrial Air Separation</c:v>
                </c:pt>
                <c:pt idx="6">
                  <c:v>Other Manufacturing</c:v>
                </c:pt>
                <c:pt idx="7">
                  <c:v>Total Absolute $ Opportunity</c:v>
                </c:pt>
              </c:strCache>
            </c:strRef>
          </c:cat>
          <c:val>
            <c:numRef>
              <c:numCache>
                <c:formatCode>General</c:formatCode>
                <c:ptCount val="8"/>
                <c:pt idx="0">
                  <c:v>4.4809999999999945</c:v>
                </c:pt>
                <c:pt idx="1">
                  <c:v>205.52600000000007</c:v>
                </c:pt>
                <c:pt idx="2">
                  <c:v>22.914999999999992</c:v>
                </c:pt>
                <c:pt idx="3">
                  <c:v>55.80500000000001</c:v>
                </c:pt>
                <c:pt idx="4">
                  <c:v>114.05600000000004</c:v>
                </c:pt>
                <c:pt idx="5">
                  <c:v>464.092</c:v>
                </c:pt>
                <c:pt idx="6">
                  <c:v>267.81500000000005</c:v>
                </c:pt>
                <c:pt idx="7">
                  <c:v>1134.69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2026</c:v>
                </c:pt>
                <c:pt idx="1">
                  <c:v>Electric Motor-Driven</c:v>
                </c:pt>
                <c:pt idx="2">
                  <c:v>Natural Gas Engine-Driven</c:v>
                </c:pt>
                <c:pt idx="3">
                  <c:v>Diesel Engine-Driven</c:v>
                </c:pt>
                <c:pt idx="4">
                  <c:v>Steam Turbine-Driven</c:v>
                </c:pt>
                <c:pt idx="5">
                  <c:v>Gas Turbine-Driven</c:v>
                </c:pt>
                <c:pt idx="6">
                  <c:v>Other Drive Types</c:v>
                </c:pt>
                <c:pt idx="7">
                  <c:v>2036 Total</c:v>
                </c:pt>
              </c:strCache>
            </c:strRef>
          </c:cat>
          <c:val>
            <c:numRef>
              <c:numCache>
                <c:formatCode>General</c:formatCode>
                <c:ptCount val="8"/>
                <c:pt idx="0">
                  <c:v>0.0</c:v>
                </c:pt>
                <c:pt idx="1">
                  <c:v>2490.3150000000005</c:v>
                </c:pt>
                <c:pt idx="2">
                  <c:v>2559.5670000000005</c:v>
                </c:pt>
                <c:pt idx="3">
                  <c:v>2684.9550000000004</c:v>
                </c:pt>
                <c:pt idx="4">
                  <c:v>3209.4570000000003</c:v>
                </c:pt>
                <c:pt idx="5">
                  <c:v>3488.713</c:v>
                </c:pt>
                <c:pt idx="6">
                  <c:v>3609.181</c:v>
                </c:pt>
                <c:pt idx="7">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00ACAC"/>
              </a:solidFill>
            </c:spPr>
          </c:dPt>
          <c:dPt>
            <c:idx val="7"/>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2026</c:v>
                </c:pt>
                <c:pt idx="1">
                  <c:v>Electric Motor-Driven</c:v>
                </c:pt>
                <c:pt idx="2">
                  <c:v>Natural Gas Engine-Driven</c:v>
                </c:pt>
                <c:pt idx="3">
                  <c:v>Diesel Engine-Driven</c:v>
                </c:pt>
                <c:pt idx="4">
                  <c:v>Steam Turbine-Driven</c:v>
                </c:pt>
                <c:pt idx="5">
                  <c:v>Gas Turbine-Driven</c:v>
                </c:pt>
                <c:pt idx="6">
                  <c:v>Other Drive Types</c:v>
                </c:pt>
                <c:pt idx="7">
                  <c:v>2036 Total</c:v>
                </c:pt>
              </c:strCache>
            </c:strRef>
          </c:cat>
          <c:val>
            <c:numRef>
              <c:numCache>
                <c:formatCode>General</c:formatCode>
                <c:ptCount val="8"/>
                <c:pt idx="0">
                  <c:v>2490.3150000000005</c:v>
                </c:pt>
                <c:pt idx="1">
                  <c:v>69.25199999999998</c:v>
                </c:pt>
                <c:pt idx="2">
                  <c:v>125.38800000000003</c:v>
                </c:pt>
                <c:pt idx="3">
                  <c:v>524.502</c:v>
                </c:pt>
                <c:pt idx="4">
                  <c:v>279.25600000000003</c:v>
                </c:pt>
                <c:pt idx="5">
                  <c:v>120.46799999999999</c:v>
                </c:pt>
                <c:pt idx="6">
                  <c:v>15.824000000000012</c:v>
                </c:pt>
                <c:pt idx="7">
                  <c:v>3625.0049999999997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Electric Motor-Driven</c:v>
                </c:pt>
                <c:pt idx="1">
                  <c:v>Natural Gas Engine-Driven</c:v>
                </c:pt>
                <c:pt idx="2">
                  <c:v>Diesel Engine-Driven</c:v>
                </c:pt>
                <c:pt idx="3">
                  <c:v>Steam Turbine-Driven</c:v>
                </c:pt>
                <c:pt idx="4">
                  <c:v>Gas Turbine-Driven</c:v>
                </c:pt>
                <c:pt idx="5">
                  <c:v>Other Drive Types</c:v>
                </c:pt>
                <c:pt idx="6">
                  <c:v>Total Absolute $ Opportunity</c:v>
                </c:pt>
              </c:strCache>
            </c:strRef>
          </c:cat>
          <c:val>
            <c:numRef>
              <c:numCache>
                <c:formatCode>General</c:formatCode>
                <c:ptCount val="7"/>
                <c:pt idx="0">
                  <c:v>0.0</c:v>
                </c:pt>
                <c:pt idx="1">
                  <c:v>69.25199999999998</c:v>
                </c:pt>
                <c:pt idx="2">
                  <c:v>194.64000000000001</c:v>
                </c:pt>
                <c:pt idx="3">
                  <c:v>719.1419999999999</c:v>
                </c:pt>
                <c:pt idx="4">
                  <c:v>998.3979999999999</c:v>
                </c:pt>
                <c:pt idx="5">
                  <c:v>1118.866</c:v>
                </c:pt>
                <c:pt idx="6">
                  <c:v>0.0</c:v>
                </c:pt>
              </c:numCache>
            </c:numRef>
          </c:val>
        </c:ser>
        <c:ser>
          <c:idx val="1"/>
          <c:order val="1"/>
          <c:tx>
            <c:strRef>
              <c:strCache>
                <c:ptCount val="1"/>
                <c:pt idx="0">
                  <c:v>value</c:v>
                </c:pt>
              </c:strCache>
            </c:strRef>
          </c:tx>
          <c:spPr/>
          <c:dPt>
            <c:idx val="0"/>
            <c:spPr>
              <a:solidFill>
                <a:srgbClr val="00ACAC"/>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Electric Motor-Driven</c:v>
                </c:pt>
                <c:pt idx="1">
                  <c:v>Natural Gas Engine-Driven</c:v>
                </c:pt>
                <c:pt idx="2">
                  <c:v>Diesel Engine-Driven</c:v>
                </c:pt>
                <c:pt idx="3">
                  <c:v>Steam Turbine-Driven</c:v>
                </c:pt>
                <c:pt idx="4">
                  <c:v>Gas Turbine-Driven</c:v>
                </c:pt>
                <c:pt idx="5">
                  <c:v>Other Drive Types</c:v>
                </c:pt>
                <c:pt idx="6">
                  <c:v>Total Absolute $ Opportunity</c:v>
                </c:pt>
              </c:strCache>
            </c:strRef>
          </c:cat>
          <c:val>
            <c:numRef>
              <c:numCache>
                <c:formatCode>General</c:formatCode>
                <c:ptCount val="7"/>
                <c:pt idx="0">
                  <c:v>69.25199999999998</c:v>
                </c:pt>
                <c:pt idx="1">
                  <c:v>125.38800000000003</c:v>
                </c:pt>
                <c:pt idx="2">
                  <c:v>524.502</c:v>
                </c:pt>
                <c:pt idx="3">
                  <c:v>279.25600000000003</c:v>
                </c:pt>
                <c:pt idx="4">
                  <c:v>120.46799999999999</c:v>
                </c:pt>
                <c:pt idx="5">
                  <c:v>15.824000000000012</c:v>
                </c:pt>
                <c:pt idx="6">
                  <c:v>1134.69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8.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strCache>
                <c:ptCount val="1"/>
                <c:pt idx="0">
                  <c:v>Rotary Screw Air Compressor</c:v>
                </c:pt>
              </c:strCache>
            </c:strRef>
          </c:tx>
          <c:spPr>
            <a:ln w="25400">
              <a:solidFill>
                <a:srgbClr val="C55A1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4921.0</c:v>
                </c:pt>
                <c:pt idx="1">
                  <c:v>4925.0</c:v>
                </c:pt>
                <c:pt idx="2">
                  <c:v>4931.0</c:v>
                </c:pt>
                <c:pt idx="3">
                  <c:v>4941.0</c:v>
                </c:pt>
                <c:pt idx="4">
                  <c:v>4952.0</c:v>
                </c:pt>
                <c:pt idx="5">
                  <c:v>4965.0</c:v>
                </c:pt>
                <c:pt idx="6">
                  <c:v>4968.0</c:v>
                </c:pt>
                <c:pt idx="7">
                  <c:v>4973.0</c:v>
                </c:pt>
                <c:pt idx="8">
                  <c:v>4977.0</c:v>
                </c:pt>
                <c:pt idx="9">
                  <c:v>4983.0</c:v>
                </c:pt>
                <c:pt idx="10">
                  <c:v>4989.0</c:v>
                </c:pt>
                <c:pt idx="11">
                  <c:v>4996.0</c:v>
                </c:pt>
                <c:pt idx="12">
                  <c:v>5004.0</c:v>
                </c:pt>
                <c:pt idx="13">
                  <c:v>5012.0</c:v>
                </c:pt>
                <c:pt idx="14">
                  <c:v>5022.0</c:v>
                </c:pt>
                <c:pt idx="15">
                  <c:v>5034.0</c:v>
                </c:pt>
              </c:numCache>
            </c:numRef>
          </c:val>
          <c:smooth val="0"/>
        </c:ser>
        <c:ser>
          <c:idx val="1"/>
          <c:order val="1"/>
          <c:tx>
            <c:strRef>
              <c:strCache>
                <c:ptCount val="1"/>
                <c:pt idx="0">
                  <c:v>Centrifugal Air Compressor</c:v>
                </c:pt>
              </c:strCache>
            </c:strRef>
          </c:tx>
          <c:spPr>
            <a:ln w="25400">
              <a:solidFill>
                <a:srgbClr val="0B2E4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4715.0</c:v>
                </c:pt>
                <c:pt idx="1">
                  <c:v>4726.0</c:v>
                </c:pt>
                <c:pt idx="2">
                  <c:v>4735.0</c:v>
                </c:pt>
                <c:pt idx="3">
                  <c:v>4744.0</c:v>
                </c:pt>
                <c:pt idx="4">
                  <c:v>4751.0</c:v>
                </c:pt>
                <c:pt idx="5">
                  <c:v>4758.0</c:v>
                </c:pt>
                <c:pt idx="6">
                  <c:v>4767.0</c:v>
                </c:pt>
                <c:pt idx="7">
                  <c:v>4774.0</c:v>
                </c:pt>
                <c:pt idx="8">
                  <c:v>4780.0</c:v>
                </c:pt>
                <c:pt idx="9">
                  <c:v>4786.0</c:v>
                </c:pt>
                <c:pt idx="10">
                  <c:v>4791.0</c:v>
                </c:pt>
                <c:pt idx="11">
                  <c:v>4798.0</c:v>
                </c:pt>
                <c:pt idx="12">
                  <c:v>4805.0</c:v>
                </c:pt>
                <c:pt idx="13">
                  <c:v>4812.0</c:v>
                </c:pt>
                <c:pt idx="14">
                  <c:v>4819.0</c:v>
                </c:pt>
                <c:pt idx="15">
                  <c:v>4825.0</c:v>
                </c:pt>
              </c:numCache>
            </c:numRef>
          </c:val>
          <c:smooth val="0"/>
        </c:ser>
        <c:ser>
          <c:idx val="2"/>
          <c:order val="2"/>
          <c:tx>
            <c:strRef>
              <c:strCache>
                <c:ptCount val="1"/>
                <c:pt idx="0">
                  <c:v>Scroll Air Compressor</c:v>
                </c:pt>
              </c:strCache>
            </c:strRef>
          </c:tx>
          <c:spPr>
            <a:ln w="25400">
              <a:solidFill>
                <a:srgbClr val="7030A0"/>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4376.0</c:v>
                </c:pt>
                <c:pt idx="1">
                  <c:v>4380.0</c:v>
                </c:pt>
                <c:pt idx="2">
                  <c:v>4387.0</c:v>
                </c:pt>
                <c:pt idx="3">
                  <c:v>4396.0</c:v>
                </c:pt>
                <c:pt idx="4">
                  <c:v>4406.0</c:v>
                </c:pt>
                <c:pt idx="5">
                  <c:v>4419.0</c:v>
                </c:pt>
                <c:pt idx="6">
                  <c:v>4425.0</c:v>
                </c:pt>
                <c:pt idx="7">
                  <c:v>4432.0</c:v>
                </c:pt>
                <c:pt idx="8">
                  <c:v>4440.0</c:v>
                </c:pt>
                <c:pt idx="9">
                  <c:v>4449.0</c:v>
                </c:pt>
                <c:pt idx="10">
                  <c:v>4459.0</c:v>
                </c:pt>
                <c:pt idx="11">
                  <c:v>4467.0</c:v>
                </c:pt>
                <c:pt idx="12">
                  <c:v>4475.0</c:v>
                </c:pt>
                <c:pt idx="13">
                  <c:v>4482.0</c:v>
                </c:pt>
                <c:pt idx="14">
                  <c:v>4489.0</c:v>
                </c:pt>
                <c:pt idx="15">
                  <c:v>4495.0</c:v>
                </c:pt>
              </c:numCache>
            </c:numRef>
          </c:val>
          <c:smooth val="0"/>
        </c:ser>
        <c:ser>
          <c:idx val="3"/>
          <c:order val="3"/>
          <c:tx>
            <c:strRef>
              <c:strCache>
                <c:ptCount val="1"/>
                <c:pt idx="0">
                  <c:v>Rotary Vane Air Compressor</c:v>
                </c:pt>
              </c:strCache>
            </c:strRef>
          </c:tx>
          <c:spPr>
            <a:ln w="25400">
              <a:solidFill>
                <a:srgbClr val="008189"/>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3373.0</c:v>
                </c:pt>
                <c:pt idx="1">
                  <c:v>3384.0</c:v>
                </c:pt>
                <c:pt idx="2">
                  <c:v>3395.0</c:v>
                </c:pt>
                <c:pt idx="3">
                  <c:v>3403.0</c:v>
                </c:pt>
                <c:pt idx="4">
                  <c:v>3406.0</c:v>
                </c:pt>
                <c:pt idx="5">
                  <c:v>3408.0</c:v>
                </c:pt>
                <c:pt idx="6">
                  <c:v>3409.0</c:v>
                </c:pt>
                <c:pt idx="7">
                  <c:v>3412.0</c:v>
                </c:pt>
                <c:pt idx="8">
                  <c:v>3417.0</c:v>
                </c:pt>
                <c:pt idx="9">
                  <c:v>3422.0</c:v>
                </c:pt>
                <c:pt idx="10">
                  <c:v>3428.0</c:v>
                </c:pt>
                <c:pt idx="11">
                  <c:v>3435.0</c:v>
                </c:pt>
                <c:pt idx="12">
                  <c:v>3442.0</c:v>
                </c:pt>
                <c:pt idx="13">
                  <c:v>3451.0</c:v>
                </c:pt>
                <c:pt idx="14">
                  <c:v>3459.0</c:v>
                </c:pt>
                <c:pt idx="15">
                  <c:v>3467.0</c:v>
                </c:pt>
              </c:numCache>
            </c:numRef>
          </c:val>
          <c:smooth val="0"/>
        </c:ser>
        <c:ser>
          <c:idx val="4"/>
          <c:order val="4"/>
          <c:tx>
            <c:strRef>
              <c:strCache>
                <c:ptCount val="1"/>
                <c:pt idx="0">
                  <c:v>Axial Air Compressor</c:v>
                </c:pt>
              </c:strCache>
            </c:strRef>
          </c:tx>
          <c:spPr>
            <a:ln w="25400">
              <a:solidFill>
                <a:srgbClr val="9E7E0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3318.0</c:v>
                </c:pt>
                <c:pt idx="1">
                  <c:v>3322.0</c:v>
                </c:pt>
                <c:pt idx="2">
                  <c:v>3327.0</c:v>
                </c:pt>
                <c:pt idx="3">
                  <c:v>3333.0</c:v>
                </c:pt>
                <c:pt idx="4">
                  <c:v>3344.0</c:v>
                </c:pt>
                <c:pt idx="5">
                  <c:v>3358.0</c:v>
                </c:pt>
                <c:pt idx="6">
                  <c:v>3367.0</c:v>
                </c:pt>
                <c:pt idx="7">
                  <c:v>3378.0</c:v>
                </c:pt>
                <c:pt idx="8">
                  <c:v>3389.0</c:v>
                </c:pt>
                <c:pt idx="9">
                  <c:v>3398.0</c:v>
                </c:pt>
                <c:pt idx="10">
                  <c:v>3406.0</c:v>
                </c:pt>
                <c:pt idx="11">
                  <c:v>3412.0</c:v>
                </c:pt>
                <c:pt idx="12">
                  <c:v>3416.0</c:v>
                </c:pt>
                <c:pt idx="13">
                  <c:v>3420.0</c:v>
                </c:pt>
                <c:pt idx="14">
                  <c:v>3422.0</c:v>
                </c:pt>
                <c:pt idx="15">
                  <c:v>3424.0</c:v>
                </c:pt>
              </c:numCache>
            </c:numRef>
          </c:val>
          <c:smooth val="0"/>
        </c:ser>
        <c:ser>
          <c:idx val="5"/>
          <c:order val="5"/>
          <c:tx>
            <c:strRef>
              <c:strCache>
                <c:ptCount val="1"/>
                <c:pt idx="0">
                  <c:v>Reciprocating (Piston) Air Compressor</c:v>
                </c:pt>
              </c:strCache>
            </c:strRef>
          </c:tx>
          <c:spPr>
            <a:ln w="25400">
              <a:solidFill>
                <a:srgbClr val="5B7DB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3211.0</c:v>
                </c:pt>
                <c:pt idx="1">
                  <c:v>3212.0</c:v>
                </c:pt>
                <c:pt idx="2">
                  <c:v>3216.0</c:v>
                </c:pt>
                <c:pt idx="3">
                  <c:v>3225.0</c:v>
                </c:pt>
                <c:pt idx="4">
                  <c:v>3239.0</c:v>
                </c:pt>
                <c:pt idx="5">
                  <c:v>3256.0</c:v>
                </c:pt>
                <c:pt idx="6">
                  <c:v>3260.0</c:v>
                </c:pt>
                <c:pt idx="7">
                  <c:v>3265.0</c:v>
                </c:pt>
                <c:pt idx="8">
                  <c:v>3271.0</c:v>
                </c:pt>
                <c:pt idx="9">
                  <c:v>3277.0</c:v>
                </c:pt>
                <c:pt idx="10">
                  <c:v>3285.0</c:v>
                </c:pt>
                <c:pt idx="11">
                  <c:v>3294.0</c:v>
                </c:pt>
                <c:pt idx="12">
                  <c:v>3303.0</c:v>
                </c:pt>
                <c:pt idx="13">
                  <c:v>3312.0</c:v>
                </c:pt>
                <c:pt idx="14">
                  <c:v>3323.0</c:v>
                </c:pt>
                <c:pt idx="15">
                  <c:v>3334.0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9DEE4"/>
            </a:solidFill>
          </a:ln>
        </c:spPr>
        <c:txPr>
          <a:bodyPr/>
          <a:lstStyle/>
          <a:p>
            <a:pPr>
              <a:defRPr sz="900">
                <a:solidFill>
                  <a:srgbClr val="59636E"/>
                </a:solidFill>
                <a:latin typeface="Calibri"/>
              </a:defRPr>
            </a:pPr>
          </a:p>
        </c:txPr>
        <c:crossAx val="2140495176"/>
        <c:crosses val="autoZero"/>
        <c:auto val="1"/>
        <c:lblAlgn val="ctr"/>
        <c:lblOffset val="100"/>
        <c:noMultiLvlLbl val="0"/>
      </c:catAx>
      <c:valAx>
        <c:axId val="2140495176"/>
        <c:scaling>
          <c:max val="5500.0"/>
          <c:min val="300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900">
                <a:solidFill>
                  <a:srgbClr val="59636E"/>
                </a:solidFill>
                <a:latin typeface="Calibri"/>
              </a:defRPr>
            </a:pPr>
          </a:p>
        </c:txPr>
        <c:crossAx val="2118791784"/>
        <c:crosses val="autoZero"/>
        <c:majorUnit val="500.0"/>
      </c:valAx>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lang="en-US"/>
    </a:p>
  </c:txPr>
</c:chartSpace>
</file>

<file path=ppt/charts/chart1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strCache>
                <c:ptCount val="1"/>
                <c:pt idx="0">
                  <c:v>Index</c:v>
                </c:pt>
              </c:strCache>
            </c:strRef>
          </c:tx>
          <c:dPt>
            <c:idx val="0"/>
            <c:spPr>
              <a:solidFill>
                <a:srgbClr val="5B7DB1"/>
              </a:solidFill>
            </c:spPr>
          </c:dPt>
          <c:dPt>
            <c:idx val="1"/>
            <c:spPr>
              <a:solidFill>
                <a:srgbClr val="5B7DB1"/>
              </a:solidFill>
            </c:spPr>
          </c:dPt>
          <c:dPt>
            <c:idx val="2"/>
            <c:spPr>
              <a:solidFill>
                <a:srgbClr val="5B7DB1"/>
              </a:solidFill>
            </c:spPr>
          </c:dPt>
          <c:dPt>
            <c:idx val="3"/>
            <c:spPr>
              <a:solidFill>
                <a:srgbClr val="C55A11"/>
              </a:solidFill>
            </c:spPr>
          </c:dPt>
          <c:dPt>
            <c:idx val="4"/>
            <c:spPr>
              <a:solidFill>
                <a:srgbClr val="C55A11"/>
              </a:solidFill>
            </c:spPr>
          </c:dPt>
          <c:dPt>
            <c:idx val="5"/>
            <c:spPr>
              <a:solidFill>
                <a:srgbClr val="C55A11"/>
              </a:solidFill>
            </c:spPr>
          </c:dPt>
          <c:cat>
            <c:strRef>
              <c:strCache>
                <c:ptCount val="6"/>
                <c:pt idx="0">
                  <c:v>Reciprocating (Piston) Air Compressor</c:v>
                </c:pt>
                <c:pt idx="1">
                  <c:v>Axial Air Compressor</c:v>
                </c:pt>
                <c:pt idx="2">
                  <c:v>Rotary Vane Air Compressor</c:v>
                </c:pt>
                <c:pt idx="3">
                  <c:v>Scroll Air Compressor</c:v>
                </c:pt>
                <c:pt idx="4">
                  <c:v>Centrifugal Air Compressor</c:v>
                </c:pt>
                <c:pt idx="5">
                  <c:v>Rotary Screw Air Compressor</c:v>
                </c:pt>
              </c:strCache>
            </c:strRef>
          </c:cat>
          <c:val>
            <c:numRef>
              <c:numCache>
                <c:formatCode>General</c:formatCode>
                <c:ptCount val="6"/>
                <c:pt idx="0">
                  <c:v>79.4</c:v>
                </c:pt>
                <c:pt idx="1">
                  <c:v>81.9</c:v>
                </c:pt>
                <c:pt idx="2">
                  <c:v>83.1</c:v>
                </c:pt>
                <c:pt idx="3">
                  <c:v>107.8</c:v>
                </c:pt>
                <c:pt idx="4">
                  <c:v>116.0</c:v>
                </c:pt>
                <c:pt idx="5">
                  <c:v>121.1</c:v>
                </c:pt>
              </c:numCache>
            </c:numRef>
          </c:val>
        </c:ser>
        <c:gapWidth val="45"/>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23.0"/>
          <c:min val="76.0"/>
        </c:scaling>
        <c:delete/>
        <c:axPos val="b"/>
        <c:majorTickMark val="out"/>
        <c:minorTickMark val="none"/>
        <c:tickLblPos val="none"/>
        <c:crossAx val="-2068027336"/>
        <c:crosses val="autoZero"/>
      </c:valAx>
    </c:plotArea>
    <c:dispBlanksAs val="gap"/>
  </c:chart>
  <c:txPr>
    <a:bodyPr/>
    <a:lstStyle/>
    <a:p>
      <a:pPr>
        <a:defRPr sz="1800"/>
      </a:pPr>
      <a:endParaRPr lang="en-US"/>
    </a:p>
  </c:txPr>
</c:chartSpace>
</file>

<file path=ppt/charts/chart14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strCache>
                <c:ptCount val="1"/>
                <c:pt idx="0">
                  <c:v>Base</c:v>
                </c:pt>
              </c:strCache>
            </c:strRef>
          </c:tx>
          <c:spPr>
            <a:noFill/>
          </c:spPr>
          <c:cat>
            <c:strRef>
              <c:strCache>
                <c:ptCount val="7"/>
                <c:pt idx="0">
                  <c:v>North America</c:v>
                </c:pt>
                <c:pt idx="1">
                  <c:v>Western Europe</c:v>
                </c:pt>
                <c:pt idx="2">
                  <c:v>Eastern Europe</c:v>
                </c:pt>
                <c:pt idx="3">
                  <c:v>Latin America</c:v>
                </c:pt>
                <c:pt idx="4">
                  <c:v>Middle East &amp; Africa</c:v>
                </c:pt>
                <c:pt idx="5">
                  <c:v>East Asia</c:v>
                </c:pt>
                <c:pt idx="6">
                  <c:v>South Asia &amp; Pacific</c:v>
                </c:pt>
              </c:strCache>
            </c:strRef>
          </c:cat>
          <c:val>
            <c:numRef>
              <c:numCache>
                <c:formatCode>General</c:formatCode>
                <c:ptCount val="7"/>
                <c:pt idx="0">
                  <c:v>109.5</c:v>
                </c:pt>
                <c:pt idx="1">
                  <c:v>100.8</c:v>
                </c:pt>
                <c:pt idx="2">
                  <c:v>82.9</c:v>
                </c:pt>
                <c:pt idx="3">
                  <c:v>78.3</c:v>
                </c:pt>
                <c:pt idx="4">
                  <c:v>73.3</c:v>
                </c:pt>
                <c:pt idx="5">
                  <c:v>55.7</c:v>
                </c:pt>
                <c:pt idx="6">
                  <c:v>49.6</c:v>
                </c:pt>
              </c:numCache>
            </c:numRef>
          </c:val>
        </c:ser>
        <c:ser>
          <c:idx val="1"/>
          <c:order val="1"/>
          <c:tx>
            <c:strRef>
              <c:strCache>
                <c:ptCount val="1"/>
                <c:pt idx="0">
                  <c:v>Range</c:v>
                </c:pt>
              </c:strCache>
            </c:strRef>
          </c:tx>
          <c:spPr>
            <a:solidFill>
              <a:srgbClr val="008189"/>
            </a:solidFill>
          </c:spPr>
          <c:dPt>
            <c:idx val="4"/>
            <c:spPr>
              <a:solidFill>
                <a:srgbClr val="5B7DB1"/>
              </a:solidFill>
            </c:spPr>
          </c:dPt>
          <c:dPt>
            <c:idx val="5"/>
            <c:spPr>
              <a:solidFill>
                <a:srgbClr val="5B7DB1"/>
              </a:solidFill>
            </c:spPr>
          </c:dPt>
          <c:dPt>
            <c:idx val="6"/>
            <c:spPr>
              <a:solidFill>
                <a:srgbClr val="5B7DB1"/>
              </a:solidFill>
            </c:spPr>
          </c:dPt>
          <c:cat>
            <c:strRef>
              <c:strCache>
                <c:ptCount val="7"/>
                <c:pt idx="0">
                  <c:v>North America</c:v>
                </c:pt>
                <c:pt idx="1">
                  <c:v>Western Europe</c:v>
                </c:pt>
                <c:pt idx="2">
                  <c:v>Eastern Europe</c:v>
                </c:pt>
                <c:pt idx="3">
                  <c:v>Latin America</c:v>
                </c:pt>
                <c:pt idx="4">
                  <c:v>Middle East &amp; Africa</c:v>
                </c:pt>
                <c:pt idx="5">
                  <c:v>East Asia</c:v>
                </c:pt>
                <c:pt idx="6">
                  <c:v>South Asia &amp; Pacific</c:v>
                </c:pt>
              </c:strCache>
            </c:strRef>
          </c:cat>
          <c:val>
            <c:numRef>
              <c:numCache>
                <c:formatCode>General</c:formatCode>
                <c:ptCount val="7"/>
                <c:pt idx="0">
                  <c:v>65.6</c:v>
                </c:pt>
                <c:pt idx="1">
                  <c:v>59.8</c:v>
                </c:pt>
                <c:pt idx="2">
                  <c:v>49.6</c:v>
                </c:pt>
                <c:pt idx="3">
                  <c:v>46.9</c:v>
                </c:pt>
                <c:pt idx="4">
                  <c:v>43.8</c:v>
                </c:pt>
                <c:pt idx="5">
                  <c:v>31.5</c:v>
                </c:pt>
                <c:pt idx="6">
                  <c:v>29.2</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80.0"/>
          <c:min val="45.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850">
                <a:solidFill>
                  <a:srgbClr val="59636E"/>
                </a:solidFill>
                <a:latin typeface="Calibri"/>
              </a:defRPr>
            </a:pPr>
          </a:p>
        </c:txPr>
        <c:crossAx val="-2068027336"/>
        <c:crosses val="autoZero"/>
        <c:majorUnit val="10.0"/>
      </c:valAx>
    </c:plotArea>
    <c:dispBlanksAs val="gap"/>
  </c:chart>
  <c:txPr>
    <a:bodyPr/>
    <a:lstStyle/>
    <a:p>
      <a:pPr>
        <a:defRPr sz="1800"/>
      </a:pPr>
      <a:endParaRPr lang="en-US"/>
    </a:p>
  </c:txPr>
</c:chartSpace>
</file>

<file path=ppt/charts/chart14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Atlas Copco</c:v>
                </c:pt>
                <c:pt idx="1">
                  <c:v>Ingersoll Rand</c:v>
                </c:pt>
                <c:pt idx="2">
                  <c:v>Hitachi</c:v>
                </c:pt>
                <c:pt idx="3">
                  <c:v>KAESER KOMPRESSOREN</c:v>
                </c:pt>
                <c:pt idx="4">
                  <c:v>Gardner Denver</c:v>
                </c:pt>
                <c:pt idx="5">
                  <c:v>ELGi Equipments</c:v>
                </c:pt>
                <c:pt idx="6">
                  <c:v>Kaishan Group</c:v>
                </c:pt>
                <c:pt idx="7">
                  <c:v>BOGE KOMPRESSOREN</c:v>
                </c:pt>
                <c:pt idx="8">
                  <c:v>ANEST IWATA</c:v>
                </c:pt>
                <c:pt idx="9">
                  <c:v>Quincy Compressor</c:v>
                </c:pt>
                <c:pt idx="10">
                  <c:v>Others</c:v>
                </c:pt>
              </c:strCache>
            </c:strRef>
          </c:cat>
          <c:val>
            <c:numRef>
              <c:numCache>
                <c:formatCode>General</c:formatCode>
                <c:ptCount val="11"/>
                <c:pt idx="0">
                  <c:v>15.401240790072531</c:v>
                </c:pt>
                <c:pt idx="1">
                  <c:v>13.483170759180721</c:v>
                </c:pt>
                <c:pt idx="2">
                  <c:v>9.299352883645389</c:v>
                </c:pt>
                <c:pt idx="3">
                  <c:v>6.532876475193234</c:v>
                </c:pt>
                <c:pt idx="4">
                  <c:v>6.473319829711895</c:v>
                </c:pt>
                <c:pt idx="5">
                  <c:v>6.433244680872182</c:v>
                </c:pt>
                <c:pt idx="6">
                  <c:v>5.1503700280767655</c:v>
                </c:pt>
                <c:pt idx="7">
                  <c:v>3.1015192989370006</c:v>
                </c:pt>
                <c:pt idx="8">
                  <c:v>2.164598136819089</c:v>
                </c:pt>
                <c:pt idx="9">
                  <c:v>2.136096181068746</c:v>
                </c:pt>
                <c:pt idx="10">
                  <c:v>29.824210936422443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Atlas Copco</c:v>
                </c:pt>
                <c:pt idx="1">
                  <c:v>Ingersoll Rand</c:v>
                </c:pt>
                <c:pt idx="2">
                  <c:v>Hitachi</c:v>
                </c:pt>
                <c:pt idx="3">
                  <c:v>KAESER KOMPRESSOREN</c:v>
                </c:pt>
                <c:pt idx="4">
                  <c:v>Gardner Denver</c:v>
                </c:pt>
                <c:pt idx="5">
                  <c:v>ELGi Equipments</c:v>
                </c:pt>
                <c:pt idx="6">
                  <c:v>Kaishan Group</c:v>
                </c:pt>
                <c:pt idx="7">
                  <c:v>BOGE KOMPRESSOREN</c:v>
                </c:pt>
                <c:pt idx="8">
                  <c:v>ANEST IWATA</c:v>
                </c:pt>
                <c:pt idx="9">
                  <c:v>Quincy Compressor</c:v>
                </c:pt>
                <c:pt idx="10">
                  <c:v>Others</c:v>
                </c:pt>
              </c:strCache>
            </c:strRef>
          </c:cat>
          <c:val>
            <c:numRef>
              <c:numCache>
                <c:formatCode>General</c:formatCode>
                <c:ptCount val="11"/>
                <c:pt idx="0">
                  <c:v>11.693602256562977</c:v>
                </c:pt>
                <c:pt idx="1">
                  <c:v>9.98907014549872</c:v>
                </c:pt>
                <c:pt idx="2">
                  <c:v>11.264513875278551</c:v>
                </c:pt>
                <c:pt idx="3">
                  <c:v>11.542462021743303</c:v>
                </c:pt>
                <c:pt idx="4">
                  <c:v>9.170712625473369</c:v>
                </c:pt>
                <c:pt idx="5">
                  <c:v>5.69371565484273</c:v>
                </c:pt>
                <c:pt idx="6">
                  <c:v>3.7515880157620747</c:v>
                </c:pt>
                <c:pt idx="7">
                  <c:v>3.240076671241286</c:v>
                </c:pt>
                <c:pt idx="8">
                  <c:v>3.3901784262482124</c:v>
                </c:pt>
                <c:pt idx="9">
                  <c:v>3.0300946920704144</c:v>
                </c:pt>
                <c:pt idx="10">
                  <c:v>27.23398561527836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Atlas Copco</c:v>
                </c:pt>
                <c:pt idx="1">
                  <c:v>Ingersoll Rand</c:v>
                </c:pt>
                <c:pt idx="2">
                  <c:v>Hitachi</c:v>
                </c:pt>
                <c:pt idx="3">
                  <c:v>KAESER KOMPRESSOREN</c:v>
                </c:pt>
                <c:pt idx="4">
                  <c:v>Gardner Denver</c:v>
                </c:pt>
                <c:pt idx="5">
                  <c:v>ELGi Equipments</c:v>
                </c:pt>
                <c:pt idx="6">
                  <c:v>Kaishan Group</c:v>
                </c:pt>
                <c:pt idx="7">
                  <c:v>BOGE KOMPRESSOREN</c:v>
                </c:pt>
                <c:pt idx="8">
                  <c:v>ANEST IWATA</c:v>
                </c:pt>
                <c:pt idx="9">
                  <c:v>Quincy Compressor</c:v>
                </c:pt>
                <c:pt idx="10">
                  <c:v>Others</c:v>
                </c:pt>
              </c:strCache>
            </c:strRef>
          </c:cat>
          <c:val>
            <c:numRef>
              <c:numCache>
                <c:formatCode>General</c:formatCode>
                <c:ptCount val="11"/>
                <c:pt idx="0">
                  <c:v>12.127056022733685</c:v>
                </c:pt>
                <c:pt idx="1">
                  <c:v>13.515963661294228</c:v>
                </c:pt>
                <c:pt idx="2">
                  <c:v>13.672509787055716</c:v>
                </c:pt>
                <c:pt idx="3">
                  <c:v>10.747277583816313</c:v>
                </c:pt>
                <c:pt idx="4">
                  <c:v>6.853819923875349</c:v>
                </c:pt>
                <c:pt idx="5">
                  <c:v>4.527540451517601</c:v>
                </c:pt>
                <c:pt idx="6">
                  <c:v>4.351504519294602</c:v>
                </c:pt>
                <c:pt idx="7">
                  <c:v>4.386878793633664</c:v>
                </c:pt>
                <c:pt idx="8">
                  <c:v>3.8343075690671227</c:v>
                </c:pt>
                <c:pt idx="9">
                  <c:v>2.614124464284719</c:v>
                </c:pt>
                <c:pt idx="10">
                  <c:v>23.369017223427004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Atlas Copco</c:v>
                </c:pt>
                <c:pt idx="1">
                  <c:v>Ingersoll Rand</c:v>
                </c:pt>
                <c:pt idx="2">
                  <c:v>Hitachi</c:v>
                </c:pt>
                <c:pt idx="3">
                  <c:v>KAESER KOMPRESSOREN</c:v>
                </c:pt>
                <c:pt idx="4">
                  <c:v>Gardner Denver</c:v>
                </c:pt>
                <c:pt idx="5">
                  <c:v>ELGi Equipments</c:v>
                </c:pt>
                <c:pt idx="6">
                  <c:v>Kaishan Group</c:v>
                </c:pt>
                <c:pt idx="7">
                  <c:v>BOGE KOMPRESSOREN</c:v>
                </c:pt>
                <c:pt idx="8">
                  <c:v>ANEST IWATA</c:v>
                </c:pt>
                <c:pt idx="9">
                  <c:v>Quincy Compressor</c:v>
                </c:pt>
                <c:pt idx="10">
                  <c:v>Others</c:v>
                </c:pt>
              </c:strCache>
            </c:strRef>
          </c:cat>
          <c:val>
            <c:numRef>
              <c:numCache>
                <c:formatCode>General</c:formatCode>
                <c:ptCount val="11"/>
                <c:pt idx="0">
                  <c:v>16.616982878130067</c:v>
                </c:pt>
                <c:pt idx="1">
                  <c:v>15.838373751146182</c:v>
                </c:pt>
                <c:pt idx="2">
                  <c:v>12.226323321243273</c:v>
                </c:pt>
                <c:pt idx="3">
                  <c:v>7.956018792951128</c:v>
                </c:pt>
                <c:pt idx="4">
                  <c:v>5.814138033935409</c:v>
                </c:pt>
                <c:pt idx="5">
                  <c:v>5.618762435113717</c:v>
                </c:pt>
                <c:pt idx="6">
                  <c:v>5.851259038190952</c:v>
                </c:pt>
                <c:pt idx="7">
                  <c:v>4.767350351372047</c:v>
                </c:pt>
                <c:pt idx="8">
                  <c:v>3.1905899020099833</c:v>
                </c:pt>
                <c:pt idx="9">
                  <c:v>1.9266097914653117</c:v>
                </c:pt>
                <c:pt idx="10">
                  <c:v>20.193591704441936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Atlas Copco</c:v>
                </c:pt>
                <c:pt idx="1">
                  <c:v>Ingersoll Rand</c:v>
                </c:pt>
                <c:pt idx="2">
                  <c:v>Hitachi</c:v>
                </c:pt>
                <c:pt idx="3">
                  <c:v>KAESER KOMPRESSOREN</c:v>
                </c:pt>
                <c:pt idx="4">
                  <c:v>Gardner Denver</c:v>
                </c:pt>
                <c:pt idx="5">
                  <c:v>ELGi Equipments</c:v>
                </c:pt>
                <c:pt idx="6">
                  <c:v>Kaishan Group</c:v>
                </c:pt>
                <c:pt idx="7">
                  <c:v>BOGE KOMPRESSOREN</c:v>
                </c:pt>
                <c:pt idx="8">
                  <c:v>ANEST IWATA</c:v>
                </c:pt>
                <c:pt idx="9">
                  <c:v>Quincy Compressor</c:v>
                </c:pt>
                <c:pt idx="10">
                  <c:v>Others</c:v>
                </c:pt>
              </c:strCache>
            </c:strRef>
          </c:cat>
          <c:val>
            <c:numRef>
              <c:numCache>
                <c:formatCode>General</c:formatCode>
                <c:ptCount val="11"/>
                <c:pt idx="0">
                  <c:v>17.074931814674855</c:v>
                </c:pt>
                <c:pt idx="1">
                  <c:v>12.550885260107192</c:v>
                </c:pt>
                <c:pt idx="2">
                  <c:v>8.380043562697718</c:v>
                </c:pt>
                <c:pt idx="3">
                  <c:v>7.444952014860334</c:v>
                </c:pt>
                <c:pt idx="4">
                  <c:v>8.04660708305492</c:v>
                </c:pt>
                <c:pt idx="5">
                  <c:v>6.919214229256515</c:v>
                </c:pt>
                <c:pt idx="6">
                  <c:v>4.691071174682332</c:v>
                </c:pt>
                <c:pt idx="7">
                  <c:v>2.86510879859984</c:v>
                </c:pt>
                <c:pt idx="8">
                  <c:v>2.560369933335589</c:v>
                </c:pt>
                <c:pt idx="9">
                  <c:v>2.6169804142295043</c:v>
                </c:pt>
                <c:pt idx="10">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Atlas Copco</c:v>
                </c:pt>
                <c:pt idx="1">
                  <c:v>Ingersoll Rand</c:v>
                </c:pt>
                <c:pt idx="2">
                  <c:v>Hitachi</c:v>
                </c:pt>
                <c:pt idx="3">
                  <c:v>KAESER KOMPRESSOREN</c:v>
                </c:pt>
                <c:pt idx="4">
                  <c:v>Gardner Denver</c:v>
                </c:pt>
                <c:pt idx="5">
                  <c:v>ELGi Equipments</c:v>
                </c:pt>
                <c:pt idx="6">
                  <c:v>Kaishan Group</c:v>
                </c:pt>
                <c:pt idx="7">
                  <c:v>BOGE KOMPRESSOREN</c:v>
                </c:pt>
                <c:pt idx="8">
                  <c:v>ANEST IWATA</c:v>
                </c:pt>
                <c:pt idx="9">
                  <c:v>Quincy Compressor</c:v>
                </c:pt>
                <c:pt idx="10">
                  <c:v>Others</c:v>
                </c:pt>
              </c:strCache>
            </c:strRef>
          </c:cat>
          <c:val>
            <c:numRef>
              <c:numCache>
                <c:formatCode>General</c:formatCode>
                <c:ptCount val="11"/>
                <c:pt idx="0">
                  <c:v>13.257277768762723</c:v>
                </c:pt>
                <c:pt idx="1">
                  <c:v>11.068290254169384</c:v>
                </c:pt>
                <c:pt idx="2">
                  <c:v>12.589358575079316</c:v>
                </c:pt>
                <c:pt idx="3">
                  <c:v>12.215437450069626</c:v>
                </c:pt>
                <c:pt idx="4">
                  <c:v>8.651701491037262</c:v>
                </c:pt>
                <c:pt idx="5">
                  <c:v>5.225916176548457</c:v>
                </c:pt>
                <c:pt idx="6">
                  <c:v>4.4928995088464045</c:v>
                </c:pt>
                <c:pt idx="7">
                  <c:v>4.585103214436975</c:v>
                </c:pt>
                <c:pt idx="8">
                  <c:v>3.999752878424063</c:v>
                </c:pt>
                <c:pt idx="9">
                  <c:v>2.5965461190797754</c:v>
                </c:pt>
                <c:pt idx="10">
                  <c:v>21.317716563546018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Atlas Copco</c:v>
                </c:pt>
                <c:pt idx="1">
                  <c:v>Ingersoll Rand</c:v>
                </c:pt>
                <c:pt idx="2">
                  <c:v>Hitachi</c:v>
                </c:pt>
                <c:pt idx="3">
                  <c:v>KAESER KOMPRESSOREN</c:v>
                </c:pt>
                <c:pt idx="4">
                  <c:v>Gardner Denver</c:v>
                </c:pt>
                <c:pt idx="5">
                  <c:v>ELGi Equipments</c:v>
                </c:pt>
                <c:pt idx="6">
                  <c:v>Kaishan Group</c:v>
                </c:pt>
                <c:pt idx="7">
                  <c:v>BOGE KOMPRESSOREN</c:v>
                </c:pt>
                <c:pt idx="8">
                  <c:v>ANEST IWATA</c:v>
                </c:pt>
                <c:pt idx="9">
                  <c:v>Quincy Compressor</c:v>
                </c:pt>
                <c:pt idx="10">
                  <c:v>Others</c:v>
                </c:pt>
              </c:strCache>
            </c:strRef>
          </c:cat>
          <c:val>
            <c:numRef>
              <c:numCache>
                <c:formatCode>General</c:formatCode>
                <c:ptCount val="11"/>
                <c:pt idx="0">
                  <c:v>15.570454803610694</c:v>
                </c:pt>
                <c:pt idx="1">
                  <c:v>10.546713911504883</c:v>
                </c:pt>
                <c:pt idx="2">
                  <c:v>10.489494550876001</c:v>
                </c:pt>
                <c:pt idx="3">
                  <c:v>11.523850319189417</c:v>
                </c:pt>
                <c:pt idx="4">
                  <c:v>9.716274527037694</c:v>
                </c:pt>
                <c:pt idx="5">
                  <c:v>6.041847824962319</c:v>
                </c:pt>
                <c:pt idx="6">
                  <c:v>4.100995695833606</c:v>
                </c:pt>
                <c:pt idx="7">
                  <c:v>3.8524851858046234</c:v>
                </c:pt>
                <c:pt idx="8">
                  <c:v>3.889793811996375</c:v>
                </c:pt>
                <c:pt idx="9">
                  <c:v>2.9792010725276863</c:v>
                </c:pt>
                <c:pt idx="10">
                  <c:v>21.288888296656708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1668A8"/>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Automotive and Transportation</c:v>
                </c:pt>
                <c:pt idx="1">
                  <c:v>Oil and Gas</c:v>
                </c:pt>
                <c:pt idx="2">
                  <c:v>Food and Beverages</c:v>
                </c:pt>
                <c:pt idx="3">
                  <c:v>Pharmaceuticals</c:v>
                </c:pt>
              </c:strCache>
            </c:strRef>
          </c:cat>
          <c:val>
            <c:numRef>
              <c:numCache>
                <c:formatCode>General</c:formatCode>
                <c:ptCount val="4"/>
                <c:pt idx="0">
                  <c:v>763.4935546779672</c:v>
                </c:pt>
                <c:pt idx="1">
                  <c:v>424.75852365506705</c:v>
                </c:pt>
                <c:pt idx="2">
                  <c:v>534.6500644677277</c:v>
                </c:pt>
                <c:pt idx="3">
                  <c:v>1010.004449886173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333.2058738497485"/>
          <c:min val="0.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E3A5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South Asia &amp; Pacific</c:v>
                </c:pt>
                <c:pt idx="2">
                  <c:v>East Asia</c:v>
                </c:pt>
                <c:pt idx="3">
                  <c:v>Latin America</c:v>
                </c:pt>
                <c:pt idx="4">
                  <c:v>Rest of the World</c:v>
                </c:pt>
              </c:strCache>
            </c:strRef>
          </c:cat>
          <c:val>
            <c:numRef>
              <c:numCache>
                <c:formatCode>General</c:formatCode>
                <c:ptCount val="5"/>
                <c:pt idx="0">
                  <c:v>907.2739073781455</c:v>
                </c:pt>
                <c:pt idx="1">
                  <c:v>552.2556073911977</c:v>
                </c:pt>
                <c:pt idx="2">
                  <c:v>297.81543941292296</c:v>
                </c:pt>
                <c:pt idx="3">
                  <c:v>336.508649912355</c:v>
                </c:pt>
                <c:pt idx="4">
                  <c:v>639.0529885923137</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197.6015577391522"/>
          <c:min val="0.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4"/>
                <c:pt idx="0">
                  <c:v>Scroll Air Compressor</c:v>
                </c:pt>
                <c:pt idx="1">
                  <c:v>Rotary Screw Air Compressor</c:v>
                </c:pt>
                <c:pt idx="2">
                  <c:v>Centrifugal Air Compressor</c:v>
                </c:pt>
                <c:pt idx="3">
                  <c:v>Reciprocating (Piston) Air Compressor</c:v>
                </c:pt>
              </c:strCache>
            </c:strRef>
          </c:cat>
          <c:val>
            <c:numRef>
              <c:numCache>
                <c:formatCode>General</c:formatCode>
                <c:ptCount val="4"/>
                <c:pt idx="0">
                  <c:v>314.88198539886116</c:v>
                </c:pt>
                <c:pt idx="1">
                  <c:v>437.7591415339569</c:v>
                </c:pt>
                <c:pt idx="2">
                  <c:v>816.2793661384206</c:v>
                </c:pt>
                <c:pt idx="3">
                  <c:v>1163.9860996156958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SAM</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South Asia &amp; Pacific</c:v>
                </c:pt>
                <c:pt idx="2">
                  <c:v>East Asia</c:v>
                </c:pt>
                <c:pt idx="3">
                  <c:v>Latin America</c:v>
                </c:pt>
                <c:pt idx="4">
                  <c:v>Rest of the World</c:v>
                </c:pt>
              </c:strCache>
            </c:strRef>
          </c:cat>
          <c:val>
            <c:numRef>
              <c:numCache>
                <c:formatCode>General</c:formatCode>
                <c:ptCount val="5"/>
                <c:pt idx="0">
                  <c:v>2768.1758520000003</c:v>
                </c:pt>
                <c:pt idx="1">
                  <c:v>2488.319464247069</c:v>
                </c:pt>
                <c:pt idx="2">
                  <c:v>1818.5074304918792</c:v>
                </c:pt>
                <c:pt idx="3">
                  <c:v>1165.038742407389</c:v>
                </c:pt>
                <c:pt idx="4">
                  <c:v>924.2987374890702</c:v>
                </c:pt>
              </c:numCache>
            </c:numRef>
          </c:val>
        </c:ser>
        <c:ser>
          <c:idx val="1"/>
          <c:order val="1"/>
          <c:tx>
            <c:strRef>
              <c:strCache>
                <c:ptCount val="1"/>
                <c:pt idx="0">
                  <c:v>SOM</c:v>
                </c:pt>
              </c:strCache>
            </c:strRef>
          </c:tx>
          <c:spPr>
            <a:solidFill>
              <a:srgbClr val="2A5F8F"/>
            </a:solidFill>
            <a:ln>
              <a:noFill/>
            </a:ln>
          </c:spPr>
          <c:dLbls>
            <c:dLbl>
              <c:idx val="0"/>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South Asia &amp; Pacific</c:v>
                </c:pt>
                <c:pt idx="2">
                  <c:v>East Asia</c:v>
                </c:pt>
                <c:pt idx="3">
                  <c:v>Latin America</c:v>
                </c:pt>
                <c:pt idx="4">
                  <c:v>Rest of the World</c:v>
                </c:pt>
              </c:strCache>
            </c:strRef>
          </c:cat>
          <c:val>
            <c:numRef>
              <c:numCache>
                <c:formatCode>General</c:formatCode>
                <c:ptCount val="5"/>
                <c:pt idx="0">
                  <c:v>907.2739073781455</c:v>
                </c:pt>
                <c:pt idx="1">
                  <c:v>552.2556073911977</c:v>
                </c:pt>
                <c:pt idx="2">
                  <c:v>297.81543941292296</c:v>
                </c:pt>
                <c:pt idx="3">
                  <c:v>336.508649912355</c:v>
                </c:pt>
                <c:pt idx="4">
                  <c:v>639.0529885923137</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3543.2650905600003"/>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Overview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Market Taxonomy Market Segments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Global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Global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By Region Global Industrial Air Compressor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By Region Volume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Technology By Technology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Technology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Technology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Technology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Technology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Technology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Capacity By Capacity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Capacity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Capacity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Capacity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Capacity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Capacity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Compression Stage By Compression Stage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Compression Stage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Compression Stage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Compression Stage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Compression Stage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End Use By End Use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End Use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End Use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End Use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End Use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End Use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Driver Type By Driver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Driver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Driver Type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Driver Type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Driver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Driver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North America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North America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North America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North America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North America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North America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North America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North America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North America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North America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By Country North America Industrial Air Compressor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Technology By Technology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Technology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Technology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Technology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Technology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Technology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Capacity By Capacity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Capacity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Capacity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Capacity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Capacity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Capacity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Compression Stage By Compression Stage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Compression Stage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Compression Stage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Compression Stage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Compression Stage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End Use By End Use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End Use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End Use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End Use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End Use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End Use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Driver Type By Driver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Driver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Driver Type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Driver Type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Driver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Driver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Country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Country Overview Key Segments (Value)</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Country Technology Segmental</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Country Technology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Country Capacity Segmental</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Country Capacity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Country Compression Stage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Country Compression Stage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Country End Use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Country End Use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Country Driver Type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Country Driver Type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Pricing Global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Pricing Price Forecast &amp; Dynamics  (1/2)</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Pricing Price Forecast &amp; Dynamics  (2/2)</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Pricing Competitor Pricing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Analysis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Dynamics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Market Dynamics Market Dynamics &amp; Forces Market Dynamics by Geography</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Market Dynamics Market Dynamics &amp; Forces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Market Dynamics Market Dynamics &amp; Forces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Competitive Landscape Competitive Landscape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Competitive Landscape Segment Leadership Map</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Competitive Landscape Value Chain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Competitive Landscape Player Landscape</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Competitive Landscape Corporate Scorecard</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Competitive Landscape Offering Scorecard</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Competitive Landscape Execution Scorecard</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Competitive Landscape Success Factors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Competitive Landscape Strategic Activity Tracker</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Competitive Landscape Strategic Activity by Function</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Competitive Landscape Industry Structure Landscape  (1/2)</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Competitive Landscape Industry Structure Landscape  (2/2)</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Competitive Landscape Competitive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Market Share by Leading Players Advice for Vendors &amp; Suppliers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Market Share by Leading Players Company Value Share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Market Share by Leading Players Company Share by Product Type</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Market Share by Leading Players Company Share by Region</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Market Share by Leading Players Who Shaped Growth</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Company Profiles &amp; Strategic Benchmarking Atlas Copco Snapshot</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Company Profiles &amp; Strategic Benchmarking Atlas Copco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Company Profiles &amp; Strategic Benchmarking Atlas Copco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Company Profiles &amp; Strategic Benchmarking Atlas Copco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Competitor Company Profiles &amp; Strategic Benchmarking Atlas Copco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Table of Contents  (1/10)</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Table of Contents  (2/10)</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Table of Contents  (3/10)</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Table of Contents  (4/10)</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Table of Contents  (5/10)</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Table of Contents  (6/10)</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Table of Contents  (7/10)</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Table of Contents  (8/10)</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Table of Contents  (9/10)</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Table of Contents  (10/10)</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List of Figures  (1/7)</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List of Figures  (2/7)</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List of Figures  (3/7)</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List of Figures  (4/7)</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List of Figures  (5/7)</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List of Figures  (6/7)</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List of Figures  (7/7)</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List of Tables  (1/6)</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List of Tables  (2/6)</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List of Tables  (3/6)</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List of Tables  (4/6)</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List of Tables  (5/6)</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Air Compressor Market List of Tables  (6/6)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7.jpg"/><Relationship Id="rId3" Type="http://schemas.openxmlformats.org/officeDocument/2006/relationships/image" Target="../media/image9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21.xml"/><Relationship Id="rId8" Type="http://schemas.openxmlformats.org/officeDocument/2006/relationships/slide" Target="slide35.xml"/><Relationship Id="rId9" Type="http://schemas.openxmlformats.org/officeDocument/2006/relationships/slide" Target="slide36.xml"/><Relationship Id="rId10" Type="http://schemas.openxmlformats.org/officeDocument/2006/relationships/slide" Target="slide47.xml"/><Relationship Id="rId11" Type="http://schemas.openxmlformats.org/officeDocument/2006/relationships/slide" Target="slide55.xml"/><Relationship Id="rId12" Type="http://schemas.openxmlformats.org/officeDocument/2006/relationships/slide" Target="slide90.xml"/><Relationship Id="rId13" Type="http://schemas.openxmlformats.org/officeDocument/2006/relationships/slide" Target="slide91.xml"/><Relationship Id="rId14" Type="http://schemas.openxmlformats.org/officeDocument/2006/relationships/slide" Target="slide101.xml"/><Relationship Id="rId15" Type="http://schemas.openxmlformats.org/officeDocument/2006/relationships/slide" Target="slide109.xml"/><Relationship Id="rId16" Type="http://schemas.openxmlformats.org/officeDocument/2006/relationships/slide" Target="slide144.xml"/><Relationship Id="rId17" Type="http://schemas.openxmlformats.org/officeDocument/2006/relationships/slide" Target="slide145.xml"/><Relationship Id="rId18" Type="http://schemas.openxmlformats.org/officeDocument/2006/relationships/slide" Target="slide149.xml"/><Relationship Id="rId19" Type="http://schemas.openxmlformats.org/officeDocument/2006/relationships/slide" Target="slide165.xml"/><Relationship Id="rId20" Type="http://schemas.openxmlformats.org/officeDocument/2006/relationships/slide" Target="slide166.xml"/><Relationship Id="rId21" Type="http://schemas.openxmlformats.org/officeDocument/2006/relationships/slide" Target="slide179.xml"/><Relationship Id="rId22" Type="http://schemas.openxmlformats.org/officeDocument/2006/relationships/slide" Target="slide183.xml"/><Relationship Id="rId23" Type="http://schemas.openxmlformats.org/officeDocument/2006/relationships/slide" Target="slide184.xml"/><Relationship Id="rId24" Type="http://schemas.openxmlformats.org/officeDocument/2006/relationships/slide" Target="slide192.xml"/><Relationship Id="rId25" Type="http://schemas.openxmlformats.org/officeDocument/2006/relationships/slide" Target="slide193.xml"/><Relationship Id="rId26" Type="http://schemas.openxmlformats.org/officeDocument/2006/relationships/slide" Target="slide207.xml"/><Relationship Id="rId27" Type="http://schemas.openxmlformats.org/officeDocument/2006/relationships/slide" Target="slide2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7.xml"/><Relationship Id="rId6"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9.xml"/><Relationship Id="rId6"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11.xml"/><Relationship Id="rId6"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4.xml"/><Relationship Id="rId5"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16.xml"/><Relationship Id="rId5"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62.png"/><Relationship Id="rId8" Type="http://schemas.openxmlformats.org/officeDocument/2006/relationships/image" Target="../media/image63.png"/><Relationship Id="rId9" Type="http://schemas.openxmlformats.org/officeDocument/2006/relationships/image" Target="../media/image64.png"/><Relationship Id="rId10" Type="http://schemas.openxmlformats.org/officeDocument/2006/relationships/image" Target="../media/image65.png"/><Relationship Id="rId11" Type="http://schemas.openxmlformats.org/officeDocument/2006/relationships/image" Target="../media/image66.png"/><Relationship Id="rId12" Type="http://schemas.openxmlformats.org/officeDocument/2006/relationships/image" Target="../media/image67.png"/><Relationship Id="rId13" Type="http://schemas.openxmlformats.org/officeDocument/2006/relationships/image" Target="../media/image68.png"/><Relationship Id="rId14" Type="http://schemas.openxmlformats.org/officeDocument/2006/relationships/image" Target="../media/image69.png"/><Relationship Id="rId15" Type="http://schemas.openxmlformats.org/officeDocument/2006/relationships/image" Target="../media/image70.png"/><Relationship Id="rId16" Type="http://schemas.openxmlformats.org/officeDocument/2006/relationships/image" Target="../media/image71.png"/><Relationship Id="rId17" Type="http://schemas.openxmlformats.org/officeDocument/2006/relationships/image" Target="../media/image72.png"/><Relationship Id="rId18" Type="http://schemas.openxmlformats.org/officeDocument/2006/relationships/image" Target="../media/image73.png"/><Relationship Id="rId19" Type="http://schemas.openxmlformats.org/officeDocument/2006/relationships/image" Target="../media/image74.png"/><Relationship Id="rId20" Type="http://schemas.openxmlformats.org/officeDocument/2006/relationships/image" Target="../media/image75.png"/><Relationship Id="rId21" Type="http://schemas.openxmlformats.org/officeDocument/2006/relationships/image" Target="../media/image76.png"/><Relationship Id="rId22" Type="http://schemas.openxmlformats.org/officeDocument/2006/relationships/image" Target="../media/image77.png"/><Relationship Id="rId23" Type="http://schemas.openxmlformats.org/officeDocument/2006/relationships/image" Target="../media/image78.png"/><Relationship Id="rId24" Type="http://schemas.openxmlformats.org/officeDocument/2006/relationships/image" Target="../media/image79.png"/><Relationship Id="rId25"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xml"/><Relationship Id="rId4" Type="http://schemas.openxmlformats.org/officeDocument/2006/relationships/notesSlide" Target="../notesSlides/notesSlide18.xml"/><Relationship Id="rId5" Type="http://schemas.openxmlformats.org/officeDocument/2006/relationships/image" Target="../media/image2.png"/><Relationship Id="rId6" Type="http://schemas.openxmlformats.org/officeDocument/2006/relationships/image" Target="../media/image94.png"/><Relationship Id="rId7" Type="http://schemas.openxmlformats.org/officeDocument/2006/relationships/image" Target="../media/image95.png"/><Relationship Id="rId8" Type="http://schemas.openxmlformats.org/officeDocument/2006/relationships/image" Target="../media/image9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19.xml"/><Relationship Id="rId5" Type="http://schemas.openxmlformats.org/officeDocument/2006/relationships/image" Target="../media/image2.png"/><Relationship Id="rId6" Type="http://schemas.openxmlformats.org/officeDocument/2006/relationships/image" Target="../media/image111.png"/><Relationship Id="rId7" Type="http://schemas.openxmlformats.org/officeDocument/2006/relationships/image" Target="../media/image112.png"/><Relationship Id="rId8" Type="http://schemas.openxmlformats.org/officeDocument/2006/relationships/image" Target="../media/image1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2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image" Target="../media/image116.png"/><Relationship Id="rId5" Type="http://schemas.openxmlformats.org/officeDocument/2006/relationships/image" Target="../media/image117.png"/><Relationship Id="rId6" Type="http://schemas.openxmlformats.org/officeDocument/2006/relationships/image" Target="../media/image118.png"/><Relationship Id="rId7" Type="http://schemas.openxmlformats.org/officeDocument/2006/relationships/image" Target="../media/image119.png"/><Relationship Id="rId8" Type="http://schemas.openxmlformats.org/officeDocument/2006/relationships/image" Target="../media/image120.png"/><Relationship Id="rId9" Type="http://schemas.openxmlformats.org/officeDocument/2006/relationships/image" Target="../media/image121.png"/><Relationship Id="rId10" Type="http://schemas.openxmlformats.org/officeDocument/2006/relationships/image" Target="../media/image122.png"/><Relationship Id="rId11" Type="http://schemas.openxmlformats.org/officeDocument/2006/relationships/image" Target="../media/image123.png"/><Relationship Id="rId12" Type="http://schemas.openxmlformats.org/officeDocument/2006/relationships/image" Target="../media/image124.png"/><Relationship Id="rId13" Type="http://schemas.openxmlformats.org/officeDocument/2006/relationships/image" Target="../media/image125.png"/><Relationship Id="rId14" Type="http://schemas.openxmlformats.org/officeDocument/2006/relationships/image" Target="../media/image126.png"/><Relationship Id="rId15" Type="http://schemas.openxmlformats.org/officeDocument/2006/relationships/image" Target="../media/image127.png"/><Relationship Id="rId16" Type="http://schemas.openxmlformats.org/officeDocument/2006/relationships/image" Target="../media/image128.png"/><Relationship Id="rId17" Type="http://schemas.openxmlformats.org/officeDocument/2006/relationships/image" Target="../media/image129.png"/><Relationship Id="rId18" Type="http://schemas.openxmlformats.org/officeDocument/2006/relationships/image" Target="../media/image76.png"/><Relationship Id="rId19" Type="http://schemas.openxmlformats.org/officeDocument/2006/relationships/image" Target="../media/image130.png"/><Relationship Id="rId20" Type="http://schemas.openxmlformats.org/officeDocument/2006/relationships/image" Target="../media/image131.png"/><Relationship Id="rId21" Type="http://schemas.openxmlformats.org/officeDocument/2006/relationships/image" Target="../media/image132.png"/><Relationship Id="rId22"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xml"/><Relationship Id="rId4" Type="http://schemas.openxmlformats.org/officeDocument/2006/relationships/chart" Target="../charts/chart16.xml"/><Relationship Id="rId5" Type="http://schemas.openxmlformats.org/officeDocument/2006/relationships/notesSlide" Target="../notesSlides/notesSlide25.xml"/><Relationship Id="rId6"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chart" Target="../charts/chart20.xml"/><Relationship Id="rId7" Type="http://schemas.openxmlformats.org/officeDocument/2006/relationships/notesSlide" Target="../notesSlides/notesSlide26.xml"/><Relationship Id="rId8"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notesSlide" Target="../notesSlides/notesSlide27.xml"/><Relationship Id="rId6"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3.xml"/><Relationship Id="rId4" Type="http://schemas.openxmlformats.org/officeDocument/2006/relationships/notesSlide" Target="../notesSlides/notesSlide30.xml"/><Relationship Id="rId5"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 Id="rId4" Type="http://schemas.openxmlformats.org/officeDocument/2006/relationships/image" Target="../media/image189.png"/><Relationship Id="rId5" Type="http://schemas.openxmlformats.org/officeDocument/2006/relationships/image" Target="../media/image190.png"/><Relationship Id="rId6" Type="http://schemas.openxmlformats.org/officeDocument/2006/relationships/image" Target="../media/image191.png"/><Relationship Id="rId7" Type="http://schemas.openxmlformats.org/officeDocument/2006/relationships/image" Target="../media/image192.png"/><Relationship Id="rId8" Type="http://schemas.openxmlformats.org/officeDocument/2006/relationships/image" Target="../media/image193.png"/><Relationship Id="rId9" Type="http://schemas.openxmlformats.org/officeDocument/2006/relationships/image" Target="../media/image194.png"/><Relationship Id="rId10" Type="http://schemas.openxmlformats.org/officeDocument/2006/relationships/image" Target="../media/image195.png"/><Relationship Id="rId11" Type="http://schemas.openxmlformats.org/officeDocument/2006/relationships/image" Target="../media/image196.png"/><Relationship Id="rId12" Type="http://schemas.openxmlformats.org/officeDocument/2006/relationships/image" Target="../media/image197.png"/><Relationship Id="rId13" Type="http://schemas.openxmlformats.org/officeDocument/2006/relationships/image" Target="../media/image198.png"/><Relationship Id="rId14" Type="http://schemas.openxmlformats.org/officeDocument/2006/relationships/image" Target="../media/image70.png"/><Relationship Id="rId15" Type="http://schemas.openxmlformats.org/officeDocument/2006/relationships/image" Target="../media/image199.png"/><Relationship Id="rId16" Type="http://schemas.openxmlformats.org/officeDocument/2006/relationships/image" Target="../media/image200.png"/><Relationship Id="rId17" Type="http://schemas.openxmlformats.org/officeDocument/2006/relationships/image" Target="../media/image201.png"/><Relationship Id="rId18" Type="http://schemas.openxmlformats.org/officeDocument/2006/relationships/image" Target="../media/image202.png"/><Relationship Id="rId19" Type="http://schemas.openxmlformats.org/officeDocument/2006/relationships/image" Target="../media/image203.png"/><Relationship Id="rId20" Type="http://schemas.openxmlformats.org/officeDocument/2006/relationships/image" Target="../media/image204.png"/><Relationship Id="rId21" Type="http://schemas.openxmlformats.org/officeDocument/2006/relationships/image" Target="../media/image73.png"/><Relationship Id="rId22" Type="http://schemas.openxmlformats.org/officeDocument/2006/relationships/image" Target="../media/image205.png"/><Relationship Id="rId23" Type="http://schemas.openxmlformats.org/officeDocument/2006/relationships/image" Target="../media/image206.png"/><Relationship Id="rId24" Type="http://schemas.openxmlformats.org/officeDocument/2006/relationships/image" Target="../media/image207.png"/><Relationship Id="rId25" Type="http://schemas.openxmlformats.org/officeDocument/2006/relationships/image" Target="../media/image208.png"/><Relationship Id="rId26"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4.xml"/><Relationship Id="rId4" Type="http://schemas.openxmlformats.org/officeDocument/2006/relationships/chart" Target="../charts/chart25.xml"/><Relationship Id="rId5" Type="http://schemas.openxmlformats.org/officeDocument/2006/relationships/notesSlide" Target="../notesSlides/notesSlide34.xml"/><Relationship Id="rId6"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6.xml"/><Relationship Id="rId4" Type="http://schemas.openxmlformats.org/officeDocument/2006/relationships/chart" Target="../charts/chart27.xml"/><Relationship Id="rId5" Type="http://schemas.openxmlformats.org/officeDocument/2006/relationships/chart" Target="../charts/chart28.xml"/><Relationship Id="rId6" Type="http://schemas.openxmlformats.org/officeDocument/2006/relationships/chart" Target="../charts/chart29.xml"/><Relationship Id="rId7" Type="http://schemas.openxmlformats.org/officeDocument/2006/relationships/notesSlide" Target="../notesSlides/notesSlide35.xml"/><Relationship Id="rId8"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0.xml"/><Relationship Id="rId4" Type="http://schemas.openxmlformats.org/officeDocument/2006/relationships/chart" Target="../charts/chart31.xml"/><Relationship Id="rId5" Type="http://schemas.openxmlformats.org/officeDocument/2006/relationships/notesSlide" Target="../notesSlides/notesSlide36.xml"/><Relationship Id="rId6"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2.xml"/><Relationship Id="rId4" Type="http://schemas.openxmlformats.org/officeDocument/2006/relationships/notesSlide" Target="../notesSlides/notesSlide39.xml"/><Relationship Id="rId5"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 Id="rId4" Type="http://schemas.openxmlformats.org/officeDocument/2006/relationships/image" Target="../media/image258.png"/><Relationship Id="rId5" Type="http://schemas.openxmlformats.org/officeDocument/2006/relationships/image" Target="../media/image259.png"/><Relationship Id="rId6" Type="http://schemas.openxmlformats.org/officeDocument/2006/relationships/image" Target="../media/image260.png"/><Relationship Id="rId7" Type="http://schemas.openxmlformats.org/officeDocument/2006/relationships/image" Target="../media/image261.png"/><Relationship Id="rId8" Type="http://schemas.openxmlformats.org/officeDocument/2006/relationships/image" Target="../media/image262.png"/><Relationship Id="rId9" Type="http://schemas.openxmlformats.org/officeDocument/2006/relationships/image" Target="../media/image263.png"/><Relationship Id="rId10" Type="http://schemas.openxmlformats.org/officeDocument/2006/relationships/image" Target="../media/image264.png"/><Relationship Id="rId11" Type="http://schemas.openxmlformats.org/officeDocument/2006/relationships/image" Target="../media/image265.png"/><Relationship Id="rId12" Type="http://schemas.openxmlformats.org/officeDocument/2006/relationships/image" Target="../media/image118.png"/><Relationship Id="rId13"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3.xml"/><Relationship Id="rId4" Type="http://schemas.openxmlformats.org/officeDocument/2006/relationships/chart" Target="../charts/chart34.xml"/><Relationship Id="rId5" Type="http://schemas.openxmlformats.org/officeDocument/2006/relationships/notesSlide" Target="../notesSlides/notesSlide43.xml"/><Relationship Id="rId6"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5.xml"/><Relationship Id="rId4" Type="http://schemas.openxmlformats.org/officeDocument/2006/relationships/chart" Target="../charts/chart36.xml"/><Relationship Id="rId5" Type="http://schemas.openxmlformats.org/officeDocument/2006/relationships/chart" Target="../charts/chart37.xml"/><Relationship Id="rId6" Type="http://schemas.openxmlformats.org/officeDocument/2006/relationships/notesSlide" Target="../notesSlides/notesSlide44.xml"/><Relationship Id="rId7"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 Id="rId4"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8.xml"/><Relationship Id="rId4" Type="http://schemas.openxmlformats.org/officeDocument/2006/relationships/notesSlide" Target="../notesSlides/notesSlide47.xml"/><Relationship Id="rId5"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 Id="rId4" Type="http://schemas.openxmlformats.org/officeDocument/2006/relationships/image" Target="../media/image295.png"/><Relationship Id="rId5" Type="http://schemas.openxmlformats.org/officeDocument/2006/relationships/image" Target="../media/image296.png"/><Relationship Id="rId6" Type="http://schemas.openxmlformats.org/officeDocument/2006/relationships/image" Target="../media/image297.png"/><Relationship Id="rId7" Type="http://schemas.openxmlformats.org/officeDocument/2006/relationships/image" Target="../media/image298.png"/><Relationship Id="rId8" Type="http://schemas.openxmlformats.org/officeDocument/2006/relationships/image" Target="../media/image299.png"/><Relationship Id="rId9" Type="http://schemas.openxmlformats.org/officeDocument/2006/relationships/image" Target="../media/image300.png"/><Relationship Id="rId10" Type="http://schemas.openxmlformats.org/officeDocument/2006/relationships/image" Target="../media/image301.png"/><Relationship Id="rId11" Type="http://schemas.openxmlformats.org/officeDocument/2006/relationships/image" Target="../media/image302.png"/><Relationship Id="rId12" Type="http://schemas.openxmlformats.org/officeDocument/2006/relationships/image" Target="../media/image121.png"/><Relationship Id="rId13" Type="http://schemas.openxmlformats.org/officeDocument/2006/relationships/image" Target="../media/image303.png"/><Relationship Id="rId14" Type="http://schemas.openxmlformats.org/officeDocument/2006/relationships/image" Target="../media/image304.png"/><Relationship Id="rId15" Type="http://schemas.openxmlformats.org/officeDocument/2006/relationships/image" Target="../media/image305.png"/><Relationship Id="rId16" Type="http://schemas.openxmlformats.org/officeDocument/2006/relationships/image" Target="../media/image306.png"/><Relationship Id="rId17" Type="http://schemas.openxmlformats.org/officeDocument/2006/relationships/image" Target="../media/image307.png"/><Relationship Id="rId18" Type="http://schemas.openxmlformats.org/officeDocument/2006/relationships/image" Target="../media/image308.png"/><Relationship Id="rId19" Type="http://schemas.openxmlformats.org/officeDocument/2006/relationships/image" Target="../media/image309.png"/><Relationship Id="rId20" Type="http://schemas.openxmlformats.org/officeDocument/2006/relationships/image" Target="../media/image310.png"/><Relationship Id="rId21" Type="http://schemas.openxmlformats.org/officeDocument/2006/relationships/image" Target="../media/image311.png"/><Relationship Id="rId22" Type="http://schemas.openxmlformats.org/officeDocument/2006/relationships/image" Target="../media/image312.png"/><Relationship Id="rId23" Type="http://schemas.openxmlformats.org/officeDocument/2006/relationships/image" Target="../media/image313.png"/><Relationship Id="rId24"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9.xml"/><Relationship Id="rId4" Type="http://schemas.openxmlformats.org/officeDocument/2006/relationships/chart" Target="../charts/chart40.xml"/><Relationship Id="rId5" Type="http://schemas.openxmlformats.org/officeDocument/2006/relationships/notesSlide" Target="../notesSlides/notesSlide51.xml"/><Relationship Id="rId6"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1.xml"/><Relationship Id="rId4" Type="http://schemas.openxmlformats.org/officeDocument/2006/relationships/chart" Target="../charts/chart42.xml"/><Relationship Id="rId5" Type="http://schemas.openxmlformats.org/officeDocument/2006/relationships/chart" Target="../charts/chart43.xml"/><Relationship Id="rId6" Type="http://schemas.openxmlformats.org/officeDocument/2006/relationships/chart" Target="../charts/chart44.xml"/><Relationship Id="rId7" Type="http://schemas.openxmlformats.org/officeDocument/2006/relationships/notesSlide" Target="../notesSlides/notesSlide52.xml"/><Relationship Id="rId8"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5.xml"/><Relationship Id="rId4" Type="http://schemas.openxmlformats.org/officeDocument/2006/relationships/chart" Target="../charts/chart46.xml"/><Relationship Id="rId5" Type="http://schemas.openxmlformats.org/officeDocument/2006/relationships/chart" Target="../charts/chart47.xml"/><Relationship Id="rId6" Type="http://schemas.openxmlformats.org/officeDocument/2006/relationships/notesSlide" Target="../notesSlides/notesSlide53.xml"/><Relationship Id="rId7"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 Id="rId4"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8.xml"/><Relationship Id="rId4" Type="http://schemas.openxmlformats.org/officeDocument/2006/relationships/notesSlide" Target="../notesSlides/notesSlide56.xml"/><Relationship Id="rId5"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 Id="rId4" Type="http://schemas.openxmlformats.org/officeDocument/2006/relationships/image" Target="../media/image380.png"/><Relationship Id="rId5" Type="http://schemas.openxmlformats.org/officeDocument/2006/relationships/image" Target="../media/image381.png"/><Relationship Id="rId6" Type="http://schemas.openxmlformats.org/officeDocument/2006/relationships/image" Target="../media/image76.png"/><Relationship Id="rId7" Type="http://schemas.openxmlformats.org/officeDocument/2006/relationships/image" Target="../media/image382.png"/><Relationship Id="rId8" Type="http://schemas.openxmlformats.org/officeDocument/2006/relationships/image" Target="../media/image383.png"/><Relationship Id="rId9" Type="http://schemas.openxmlformats.org/officeDocument/2006/relationships/image" Target="../media/image384.png"/><Relationship Id="rId10" Type="http://schemas.openxmlformats.org/officeDocument/2006/relationships/image" Target="../media/image385.png"/><Relationship Id="rId11" Type="http://schemas.openxmlformats.org/officeDocument/2006/relationships/image" Target="../media/image386.png"/><Relationship Id="rId12" Type="http://schemas.openxmlformats.org/officeDocument/2006/relationships/image" Target="../media/image387.png"/><Relationship Id="rId13" Type="http://schemas.openxmlformats.org/officeDocument/2006/relationships/image" Target="../media/image388.png"/><Relationship Id="rId14" Type="http://schemas.openxmlformats.org/officeDocument/2006/relationships/image" Target="../media/image389.png"/><Relationship Id="rId15" Type="http://schemas.openxmlformats.org/officeDocument/2006/relationships/image" Target="../media/image390.png"/><Relationship Id="rId16" Type="http://schemas.openxmlformats.org/officeDocument/2006/relationships/image" Target="../media/image391.png"/><Relationship Id="rId17" Type="http://schemas.openxmlformats.org/officeDocument/2006/relationships/image" Target="../media/image58.png"/><Relationship Id="rId18" Type="http://schemas.openxmlformats.org/officeDocument/2006/relationships/image" Target="../media/image392.png"/><Relationship Id="rId19" Type="http://schemas.openxmlformats.org/officeDocument/2006/relationships/image" Target="../media/image393.png"/><Relationship Id="rId20" Type="http://schemas.openxmlformats.org/officeDocument/2006/relationships/image" Target="../media/image53.png"/><Relationship Id="rId21" Type="http://schemas.openxmlformats.org/officeDocument/2006/relationships/image" Target="../media/image394.png"/><Relationship Id="rId22"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9.xml"/><Relationship Id="rId4" Type="http://schemas.openxmlformats.org/officeDocument/2006/relationships/chart" Target="../charts/chart50.xml"/><Relationship Id="rId5" Type="http://schemas.openxmlformats.org/officeDocument/2006/relationships/notesSlide" Target="../notesSlides/notesSlide60.xml"/><Relationship Id="rId6" Type="http://schemas.openxmlformats.org/officeDocument/2006/relationships/image" Target="../media/image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1.xml"/><Relationship Id="rId4" Type="http://schemas.openxmlformats.org/officeDocument/2006/relationships/chart" Target="../charts/chart52.xml"/><Relationship Id="rId5" Type="http://schemas.openxmlformats.org/officeDocument/2006/relationships/chart" Target="../charts/chart53.xml"/><Relationship Id="rId6" Type="http://schemas.openxmlformats.org/officeDocument/2006/relationships/chart" Target="../charts/chart54.xml"/><Relationship Id="rId7" Type="http://schemas.openxmlformats.org/officeDocument/2006/relationships/notesSlide" Target="../notesSlides/notesSlide61.xml"/><Relationship Id="rId8"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5.xml"/><Relationship Id="rId4" Type="http://schemas.openxmlformats.org/officeDocument/2006/relationships/chart" Target="../charts/chart56.xml"/><Relationship Id="rId5" Type="http://schemas.openxmlformats.org/officeDocument/2006/relationships/notesSlide" Target="../notesSlides/notesSlide62.xml"/><Relationship Id="rId6" Type="http://schemas.openxmlformats.org/officeDocument/2006/relationships/image" Target="../media/image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 Id="rId4"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7.xml"/><Relationship Id="rId4" Type="http://schemas.openxmlformats.org/officeDocument/2006/relationships/notesSlide" Target="../notesSlides/notesSlide65.xml"/><Relationship Id="rId5"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8.xml"/><Relationship Id="rId4" Type="http://schemas.openxmlformats.org/officeDocument/2006/relationships/chart" Target="../charts/chart59.xml"/><Relationship Id="rId5" Type="http://schemas.openxmlformats.org/officeDocument/2006/relationships/notesSlide" Target="../notesSlides/notesSlide69.xml"/><Relationship Id="rId6"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 Id="rId4"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0.xml"/><Relationship Id="rId4" Type="http://schemas.openxmlformats.org/officeDocument/2006/relationships/chart" Target="../charts/chart61.xml"/><Relationship Id="rId5" Type="http://schemas.openxmlformats.org/officeDocument/2006/relationships/notesSlide" Target="../notesSlides/notesSlide71.xml"/><Relationship Id="rId6"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2.xml"/><Relationship Id="rId4" Type="http://schemas.openxmlformats.org/officeDocument/2006/relationships/chart" Target="../charts/chart63.xml"/><Relationship Id="rId5" Type="http://schemas.openxmlformats.org/officeDocument/2006/relationships/notesSlide" Target="../notesSlides/notesSlide72.xml"/><Relationship Id="rId6"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4.xml"/><Relationship Id="rId4" Type="http://schemas.openxmlformats.org/officeDocument/2006/relationships/chart" Target="../charts/chart65.xml"/><Relationship Id="rId5" Type="http://schemas.openxmlformats.org/officeDocument/2006/relationships/notesSlide" Target="../notesSlides/notesSlide73.xml"/><Relationship Id="rId6"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 Id="rId4"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6.xml"/><Relationship Id="rId4" Type="http://schemas.openxmlformats.org/officeDocument/2006/relationships/notesSlide" Target="../notesSlides/notesSlide75.xml"/><Relationship Id="rId5" Type="http://schemas.openxmlformats.org/officeDocument/2006/relationships/image" Target="../media/image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 Id="rId4" Type="http://schemas.openxmlformats.org/officeDocument/2006/relationships/image" Target="../media/image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7.xml"/><Relationship Id="rId4" Type="http://schemas.openxmlformats.org/officeDocument/2006/relationships/notesSlide" Target="../notesSlides/notesSlide77.xml"/><Relationship Id="rId5"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 Id="rId4"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8.xml"/><Relationship Id="rId4" Type="http://schemas.openxmlformats.org/officeDocument/2006/relationships/notesSlide" Target="../notesSlides/notesSlide79.xml"/><Relationship Id="rId5"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9.xml"/><Relationship Id="rId4" Type="http://schemas.openxmlformats.org/officeDocument/2006/relationships/notesSlide" Target="../notesSlides/notesSlide80.xml"/><Relationship Id="rId5"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 Id="rId4"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 Id="rId4"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0.xml"/><Relationship Id="rId4" Type="http://schemas.openxmlformats.org/officeDocument/2006/relationships/chart" Target="../charts/chart71.xml"/><Relationship Id="rId5" Type="http://schemas.openxmlformats.org/officeDocument/2006/relationships/notesSlide" Target="../notesSlides/notesSlide83.xml"/><Relationship Id="rId6" Type="http://schemas.openxmlformats.org/officeDocument/2006/relationships/image" Target="../media/image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 Id="rId4" Type="http://schemas.openxmlformats.org/officeDocument/2006/relationships/image" Target="../media/image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 Id="rId4" Type="http://schemas.openxmlformats.org/officeDocument/2006/relationships/image" Target="../media/image602.png"/><Relationship Id="rId5" Type="http://schemas.openxmlformats.org/officeDocument/2006/relationships/image" Target="../media/image603.png"/><Relationship Id="rId6" Type="http://schemas.openxmlformats.org/officeDocument/2006/relationships/image" Target="../media/image604.png"/><Relationship Id="rId7" Type="http://schemas.openxmlformats.org/officeDocument/2006/relationships/image" Target="../media/image605.png"/><Relationship Id="rId8" Type="http://schemas.openxmlformats.org/officeDocument/2006/relationships/image" Target="../media/image606.png"/><Relationship Id="rId9" Type="http://schemas.openxmlformats.org/officeDocument/2006/relationships/image" Target="../media/image607.png"/><Relationship Id="rId10" Type="http://schemas.openxmlformats.org/officeDocument/2006/relationships/image" Target="../media/image608.png"/><Relationship Id="rId11" Type="http://schemas.openxmlformats.org/officeDocument/2006/relationships/image" Target="../media/image72.png"/><Relationship Id="rId12" Type="http://schemas.openxmlformats.org/officeDocument/2006/relationships/image" Target="../media/image76.png"/><Relationship Id="rId13" Type="http://schemas.openxmlformats.org/officeDocument/2006/relationships/image" Target="../media/image609.png"/><Relationship Id="rId14" Type="http://schemas.openxmlformats.org/officeDocument/2006/relationships/image" Target="../media/image610.png"/><Relationship Id="rId15" Type="http://schemas.openxmlformats.org/officeDocument/2006/relationships/image" Target="../media/image70.png"/><Relationship Id="rId16" Type="http://schemas.openxmlformats.org/officeDocument/2006/relationships/image" Target="../media/image611.png"/><Relationship Id="rId17" Type="http://schemas.openxmlformats.org/officeDocument/2006/relationships/image" Target="../media/image612.png"/><Relationship Id="rId18" Type="http://schemas.openxmlformats.org/officeDocument/2006/relationships/image" Target="../media/image113.png"/><Relationship Id="rId19" Type="http://schemas.openxmlformats.org/officeDocument/2006/relationships/image" Target="../media/image613.png"/><Relationship Id="rId20" Type="http://schemas.openxmlformats.org/officeDocument/2006/relationships/image" Target="../media/image614.png"/><Relationship Id="rId21" Type="http://schemas.openxmlformats.org/officeDocument/2006/relationships/image" Target="../media/image615.png"/><Relationship Id="rId22" Type="http://schemas.openxmlformats.org/officeDocument/2006/relationships/image" Target="../media/image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2.xml"/><Relationship Id="rId4" Type="http://schemas.openxmlformats.org/officeDocument/2006/relationships/chart" Target="../charts/chart73.xml"/><Relationship Id="rId5" Type="http://schemas.openxmlformats.org/officeDocument/2006/relationships/notesSlide" Target="../notesSlides/notesSlide86.xml"/><Relationship Id="rId6" Type="http://schemas.openxmlformats.org/officeDocument/2006/relationships/image" Target="../media/image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4.xml"/><Relationship Id="rId4" Type="http://schemas.openxmlformats.org/officeDocument/2006/relationships/chart" Target="../charts/chart75.xml"/><Relationship Id="rId5" Type="http://schemas.openxmlformats.org/officeDocument/2006/relationships/chart" Target="../charts/chart76.xml"/><Relationship Id="rId6" Type="http://schemas.openxmlformats.org/officeDocument/2006/relationships/chart" Target="../charts/chart77.xml"/><Relationship Id="rId7" Type="http://schemas.openxmlformats.org/officeDocument/2006/relationships/notesSlide" Target="../notesSlides/notesSlide87.xml"/><Relationship Id="rId8" Type="http://schemas.openxmlformats.org/officeDocument/2006/relationships/image" Target="../media/image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8.xml"/><Relationship Id="rId4" Type="http://schemas.openxmlformats.org/officeDocument/2006/relationships/chart" Target="../charts/chart79.xml"/><Relationship Id="rId5" Type="http://schemas.openxmlformats.org/officeDocument/2006/relationships/notesSlide" Target="../notesSlides/notesSlide88.xml"/><Relationship Id="rId6" Type="http://schemas.openxmlformats.org/officeDocument/2006/relationships/image" Target="../media/image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 Id="rId4" Type="http://schemas.openxmlformats.org/officeDocument/2006/relationships/image" Target="../media/image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0.xml"/><Relationship Id="rId4" Type="http://schemas.openxmlformats.org/officeDocument/2006/relationships/notesSlide" Target="../notesSlides/notesSlide91.xml"/><Relationship Id="rId5"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 Id="rId4" Type="http://schemas.openxmlformats.org/officeDocument/2006/relationships/image" Target="../media/image189.png"/><Relationship Id="rId5" Type="http://schemas.openxmlformats.org/officeDocument/2006/relationships/image" Target="../media/image652.png"/><Relationship Id="rId6" Type="http://schemas.openxmlformats.org/officeDocument/2006/relationships/image" Target="../media/image653.png"/><Relationship Id="rId7" Type="http://schemas.openxmlformats.org/officeDocument/2006/relationships/image" Target="../media/image654.png"/><Relationship Id="rId8" Type="http://schemas.openxmlformats.org/officeDocument/2006/relationships/image" Target="../media/image655.png"/><Relationship Id="rId9" Type="http://schemas.openxmlformats.org/officeDocument/2006/relationships/image" Target="../media/image656.png"/><Relationship Id="rId10" Type="http://schemas.openxmlformats.org/officeDocument/2006/relationships/image" Target="../media/image208.png"/><Relationship Id="rId11" Type="http://schemas.openxmlformats.org/officeDocument/2006/relationships/image" Target="../media/image196.png"/><Relationship Id="rId12" Type="http://schemas.openxmlformats.org/officeDocument/2006/relationships/image" Target="../media/image657.png"/><Relationship Id="rId13" Type="http://schemas.openxmlformats.org/officeDocument/2006/relationships/image" Target="../media/image658.png"/><Relationship Id="rId14" Type="http://schemas.openxmlformats.org/officeDocument/2006/relationships/image" Target="../media/image390.png"/><Relationship Id="rId15" Type="http://schemas.openxmlformats.org/officeDocument/2006/relationships/image" Target="../media/image202.png"/><Relationship Id="rId16" Type="http://schemas.openxmlformats.org/officeDocument/2006/relationships/image" Target="../media/image659.png"/><Relationship Id="rId17" Type="http://schemas.openxmlformats.org/officeDocument/2006/relationships/image" Target="../media/image660.png"/><Relationship Id="rId18" Type="http://schemas.openxmlformats.org/officeDocument/2006/relationships/image" Target="../media/image61.png"/><Relationship Id="rId19" Type="http://schemas.openxmlformats.org/officeDocument/2006/relationships/image" Target="../media/image199.png"/><Relationship Id="rId20" Type="http://schemas.openxmlformats.org/officeDocument/2006/relationships/image" Target="../media/image661.png"/><Relationship Id="rId21" Type="http://schemas.openxmlformats.org/officeDocument/2006/relationships/image" Target="../media/image662.png"/><Relationship Id="rId22" Type="http://schemas.openxmlformats.org/officeDocument/2006/relationships/image" Target="../media/image205.png"/><Relationship Id="rId23" Type="http://schemas.openxmlformats.org/officeDocument/2006/relationships/image" Target="../media/image663.png"/><Relationship Id="rId24" Type="http://schemas.openxmlformats.org/officeDocument/2006/relationships/image" Target="../media/image664.png"/><Relationship Id="rId25" Type="http://schemas.openxmlformats.org/officeDocument/2006/relationships/image" Target="../media/image604.png"/><Relationship Id="rId26" Type="http://schemas.openxmlformats.org/officeDocument/2006/relationships/image" Target="../media/image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1.xml"/><Relationship Id="rId4" Type="http://schemas.openxmlformats.org/officeDocument/2006/relationships/chart" Target="../charts/chart82.xml"/><Relationship Id="rId5" Type="http://schemas.openxmlformats.org/officeDocument/2006/relationships/notesSlide" Target="../notesSlides/notesSlide95.xml"/><Relationship Id="rId6" Type="http://schemas.openxmlformats.org/officeDocument/2006/relationships/image" Target="../media/image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3.xml"/><Relationship Id="rId4" Type="http://schemas.openxmlformats.org/officeDocument/2006/relationships/chart" Target="../charts/chart84.xml"/><Relationship Id="rId5" Type="http://schemas.openxmlformats.org/officeDocument/2006/relationships/chart" Target="../charts/chart85.xml"/><Relationship Id="rId6" Type="http://schemas.openxmlformats.org/officeDocument/2006/relationships/chart" Target="../charts/chart86.xml"/><Relationship Id="rId7" Type="http://schemas.openxmlformats.org/officeDocument/2006/relationships/notesSlide" Target="../notesSlides/notesSlide96.xml"/><Relationship Id="rId8" Type="http://schemas.openxmlformats.org/officeDocument/2006/relationships/image" Target="../media/image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7.xml"/><Relationship Id="rId4" Type="http://schemas.openxmlformats.org/officeDocument/2006/relationships/chart" Target="../charts/chart88.xml"/><Relationship Id="rId5" Type="http://schemas.openxmlformats.org/officeDocument/2006/relationships/notesSlide" Target="../notesSlides/notesSlide97.xml"/><Relationship Id="rId6" Type="http://schemas.openxmlformats.org/officeDocument/2006/relationships/image" Target="../media/image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 Id="rId4" Type="http://schemas.openxmlformats.org/officeDocument/2006/relationships/image" Target="../media/image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9.xml"/><Relationship Id="rId4" Type="http://schemas.openxmlformats.org/officeDocument/2006/relationships/notesSlide" Target="../notesSlides/notesSlide100.xml"/><Relationship Id="rId5" Type="http://schemas.openxmlformats.org/officeDocument/2006/relationships/image" Target="../media/image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 Id="rId4" Type="http://schemas.openxmlformats.org/officeDocument/2006/relationships/image" Target="../media/image699.png"/><Relationship Id="rId5" Type="http://schemas.openxmlformats.org/officeDocument/2006/relationships/image" Target="../media/image700.png"/><Relationship Id="rId6" Type="http://schemas.openxmlformats.org/officeDocument/2006/relationships/image" Target="../media/image701.png"/><Relationship Id="rId7" Type="http://schemas.openxmlformats.org/officeDocument/2006/relationships/image" Target="../media/image702.png"/><Relationship Id="rId8" Type="http://schemas.openxmlformats.org/officeDocument/2006/relationships/image" Target="../media/image703.png"/><Relationship Id="rId9" Type="http://schemas.openxmlformats.org/officeDocument/2006/relationships/image" Target="../media/image704.png"/><Relationship Id="rId10" Type="http://schemas.openxmlformats.org/officeDocument/2006/relationships/image" Target="../media/image705.png"/><Relationship Id="rId11" Type="http://schemas.openxmlformats.org/officeDocument/2006/relationships/image" Target="../media/image706.png"/><Relationship Id="rId12" Type="http://schemas.openxmlformats.org/officeDocument/2006/relationships/image" Target="../media/image707.png"/><Relationship Id="rId13" Type="http://schemas.openxmlformats.org/officeDocument/2006/relationships/image" Target="../media/image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0.xml"/><Relationship Id="rId4" Type="http://schemas.openxmlformats.org/officeDocument/2006/relationships/chart" Target="../charts/chart91.xml"/><Relationship Id="rId5" Type="http://schemas.openxmlformats.org/officeDocument/2006/relationships/notesSlide" Target="../notesSlides/notesSlide104.xml"/><Relationship Id="rId6" Type="http://schemas.openxmlformats.org/officeDocument/2006/relationships/image" Target="../media/image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2.xml"/><Relationship Id="rId4" Type="http://schemas.openxmlformats.org/officeDocument/2006/relationships/chart" Target="../charts/chart93.xml"/><Relationship Id="rId5" Type="http://schemas.openxmlformats.org/officeDocument/2006/relationships/chart" Target="../charts/chart94.xml"/><Relationship Id="rId6" Type="http://schemas.openxmlformats.org/officeDocument/2006/relationships/notesSlide" Target="../notesSlides/notesSlide105.xml"/><Relationship Id="rId7" Type="http://schemas.openxmlformats.org/officeDocument/2006/relationships/image" Target="../media/image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 Id="rId4" Type="http://schemas.openxmlformats.org/officeDocument/2006/relationships/image" Target="../media/image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5.xml"/><Relationship Id="rId4" Type="http://schemas.openxmlformats.org/officeDocument/2006/relationships/notesSlide" Target="../notesSlides/notesSlide108.xml"/><Relationship Id="rId5" Type="http://schemas.openxmlformats.org/officeDocument/2006/relationships/image" Target="../media/image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 Id="rId4" Type="http://schemas.openxmlformats.org/officeDocument/2006/relationships/image" Target="../media/image726.png"/><Relationship Id="rId5" Type="http://schemas.openxmlformats.org/officeDocument/2006/relationships/image" Target="../media/image727.png"/><Relationship Id="rId6" Type="http://schemas.openxmlformats.org/officeDocument/2006/relationships/image" Target="../media/image728.png"/><Relationship Id="rId7" Type="http://schemas.openxmlformats.org/officeDocument/2006/relationships/image" Target="../media/image729.png"/><Relationship Id="rId8" Type="http://schemas.openxmlformats.org/officeDocument/2006/relationships/image" Target="../media/image730.png"/><Relationship Id="rId9" Type="http://schemas.openxmlformats.org/officeDocument/2006/relationships/image" Target="../media/image731.png"/><Relationship Id="rId10" Type="http://schemas.openxmlformats.org/officeDocument/2006/relationships/image" Target="../media/image732.png"/><Relationship Id="rId11" Type="http://schemas.openxmlformats.org/officeDocument/2006/relationships/image" Target="../media/image733.png"/><Relationship Id="rId12" Type="http://schemas.openxmlformats.org/officeDocument/2006/relationships/image" Target="../media/image394.png"/><Relationship Id="rId13" Type="http://schemas.openxmlformats.org/officeDocument/2006/relationships/image" Target="../media/image734.png"/><Relationship Id="rId14" Type="http://schemas.openxmlformats.org/officeDocument/2006/relationships/image" Target="../media/image735.png"/><Relationship Id="rId15" Type="http://schemas.openxmlformats.org/officeDocument/2006/relationships/image" Target="../media/image736.png"/><Relationship Id="rId16" Type="http://schemas.openxmlformats.org/officeDocument/2006/relationships/image" Target="../media/image737.png"/><Relationship Id="rId17" Type="http://schemas.openxmlformats.org/officeDocument/2006/relationships/image" Target="../media/image738.png"/><Relationship Id="rId18" Type="http://schemas.openxmlformats.org/officeDocument/2006/relationships/image" Target="../media/image79.png"/><Relationship Id="rId19" Type="http://schemas.openxmlformats.org/officeDocument/2006/relationships/image" Target="../media/image739.png"/><Relationship Id="rId20" Type="http://schemas.openxmlformats.org/officeDocument/2006/relationships/image" Target="../media/image740.png"/><Relationship Id="rId21" Type="http://schemas.openxmlformats.org/officeDocument/2006/relationships/image" Target="../media/image741.png"/><Relationship Id="rId22" Type="http://schemas.openxmlformats.org/officeDocument/2006/relationships/image" Target="../media/image742.png"/><Relationship Id="rId23" Type="http://schemas.openxmlformats.org/officeDocument/2006/relationships/image" Target="../media/image127.png"/><Relationship Id="rId24" Type="http://schemas.openxmlformats.org/officeDocument/2006/relationships/image" Target="../media/image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6.xml"/><Relationship Id="rId4" Type="http://schemas.openxmlformats.org/officeDocument/2006/relationships/chart" Target="../charts/chart97.xml"/><Relationship Id="rId5" Type="http://schemas.openxmlformats.org/officeDocument/2006/relationships/notesSlide" Target="../notesSlides/notesSlide112.xml"/><Relationship Id="rId6" Type="http://schemas.openxmlformats.org/officeDocument/2006/relationships/image" Target="../media/image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8.xml"/><Relationship Id="rId4" Type="http://schemas.openxmlformats.org/officeDocument/2006/relationships/chart" Target="../charts/chart99.xml"/><Relationship Id="rId5" Type="http://schemas.openxmlformats.org/officeDocument/2006/relationships/chart" Target="../charts/chart100.xml"/><Relationship Id="rId6" Type="http://schemas.openxmlformats.org/officeDocument/2006/relationships/chart" Target="../charts/chart101.xml"/><Relationship Id="rId7" Type="http://schemas.openxmlformats.org/officeDocument/2006/relationships/notesSlide" Target="../notesSlides/notesSlide113.xml"/><Relationship Id="rId8" Type="http://schemas.openxmlformats.org/officeDocument/2006/relationships/image" Target="../media/image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2.xml"/><Relationship Id="rId4" Type="http://schemas.openxmlformats.org/officeDocument/2006/relationships/chart" Target="../charts/chart103.xml"/><Relationship Id="rId5" Type="http://schemas.openxmlformats.org/officeDocument/2006/relationships/chart" Target="../charts/chart104.xml"/><Relationship Id="rId6" Type="http://schemas.openxmlformats.org/officeDocument/2006/relationships/notesSlide" Target="../notesSlides/notesSlide114.xml"/><Relationship Id="rId7" Type="http://schemas.openxmlformats.org/officeDocument/2006/relationships/image" Target="../media/image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 Id="rId4" Type="http://schemas.openxmlformats.org/officeDocument/2006/relationships/image" Target="../media/image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5.xml"/><Relationship Id="rId4" Type="http://schemas.openxmlformats.org/officeDocument/2006/relationships/notesSlide" Target="../notesSlides/notesSlide117.xml"/><Relationship Id="rId5" Type="http://schemas.openxmlformats.org/officeDocument/2006/relationships/image" Target="../media/image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 Id="rId4" Type="http://schemas.openxmlformats.org/officeDocument/2006/relationships/image" Target="../media/image785.png"/><Relationship Id="rId5" Type="http://schemas.openxmlformats.org/officeDocument/2006/relationships/image" Target="../media/image786.png"/><Relationship Id="rId6" Type="http://schemas.openxmlformats.org/officeDocument/2006/relationships/image" Target="../media/image64.png"/><Relationship Id="rId7" Type="http://schemas.openxmlformats.org/officeDocument/2006/relationships/image" Target="../media/image787.png"/><Relationship Id="rId8" Type="http://schemas.openxmlformats.org/officeDocument/2006/relationships/image" Target="../media/image788.png"/><Relationship Id="rId9" Type="http://schemas.openxmlformats.org/officeDocument/2006/relationships/image" Target="../media/image789.png"/><Relationship Id="rId10" Type="http://schemas.openxmlformats.org/officeDocument/2006/relationships/image" Target="../media/image790.png"/><Relationship Id="rId11" Type="http://schemas.openxmlformats.org/officeDocument/2006/relationships/image" Target="../media/image791.png"/><Relationship Id="rId12" Type="http://schemas.openxmlformats.org/officeDocument/2006/relationships/image" Target="../media/image195.png"/><Relationship Id="rId13" Type="http://schemas.openxmlformats.org/officeDocument/2006/relationships/image" Target="../media/image792.png"/><Relationship Id="rId14" Type="http://schemas.openxmlformats.org/officeDocument/2006/relationships/image" Target="../media/image492.png"/><Relationship Id="rId15" Type="http://schemas.openxmlformats.org/officeDocument/2006/relationships/image" Target="../media/image701.png"/><Relationship Id="rId16" Type="http://schemas.openxmlformats.org/officeDocument/2006/relationships/image" Target="../media/image793.png"/><Relationship Id="rId17" Type="http://schemas.openxmlformats.org/officeDocument/2006/relationships/image" Target="../media/image493.png"/><Relationship Id="rId18" Type="http://schemas.openxmlformats.org/officeDocument/2006/relationships/image" Target="../media/image794.png"/><Relationship Id="rId19" Type="http://schemas.openxmlformats.org/officeDocument/2006/relationships/image" Target="../media/image795.png"/><Relationship Id="rId20" Type="http://schemas.openxmlformats.org/officeDocument/2006/relationships/image" Target="../media/image488.png"/><Relationship Id="rId21" Type="http://schemas.openxmlformats.org/officeDocument/2006/relationships/image" Target="../media/image604.png"/><Relationship Id="rId22"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6.xml"/><Relationship Id="rId4" Type="http://schemas.openxmlformats.org/officeDocument/2006/relationships/chart" Target="../charts/chart107.xml"/><Relationship Id="rId5" Type="http://schemas.openxmlformats.org/officeDocument/2006/relationships/notesSlide" Target="../notesSlides/notesSlide121.xml"/><Relationship Id="rId6" Type="http://schemas.openxmlformats.org/officeDocument/2006/relationships/image" Target="../media/image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8.xml"/><Relationship Id="rId4" Type="http://schemas.openxmlformats.org/officeDocument/2006/relationships/chart" Target="../charts/chart109.xml"/><Relationship Id="rId5" Type="http://schemas.openxmlformats.org/officeDocument/2006/relationships/chart" Target="../charts/chart110.xml"/><Relationship Id="rId6" Type="http://schemas.openxmlformats.org/officeDocument/2006/relationships/chart" Target="../charts/chart111.xml"/><Relationship Id="rId7" Type="http://schemas.openxmlformats.org/officeDocument/2006/relationships/notesSlide" Target="../notesSlides/notesSlide122.xml"/><Relationship Id="rId8" Type="http://schemas.openxmlformats.org/officeDocument/2006/relationships/image" Target="../media/image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2.xml"/><Relationship Id="rId4" Type="http://schemas.openxmlformats.org/officeDocument/2006/relationships/chart" Target="../charts/chart113.xml"/><Relationship Id="rId5" Type="http://schemas.openxmlformats.org/officeDocument/2006/relationships/notesSlide" Target="../notesSlides/notesSlide123.xml"/><Relationship Id="rId6" Type="http://schemas.openxmlformats.org/officeDocument/2006/relationships/image" Target="../media/image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 Id="rId4" Type="http://schemas.openxmlformats.org/officeDocument/2006/relationships/image" Target="../media/image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4.xml"/><Relationship Id="rId4" Type="http://schemas.openxmlformats.org/officeDocument/2006/relationships/notesSlide" Target="../notesSlides/notesSlide126.xml"/><Relationship Id="rId5" Type="http://schemas.openxmlformats.org/officeDocument/2006/relationships/image" Target="../media/image2.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5.xml"/><Relationship Id="rId4" Type="http://schemas.openxmlformats.org/officeDocument/2006/relationships/chart" Target="../charts/chart116.xml"/><Relationship Id="rId5" Type="http://schemas.openxmlformats.org/officeDocument/2006/relationships/chart" Target="../charts/chart117.xml"/><Relationship Id="rId6" Type="http://schemas.openxmlformats.org/officeDocument/2006/relationships/chart" Target="../charts/chart118.xml"/><Relationship Id="rId7" Type="http://schemas.openxmlformats.org/officeDocument/2006/relationships/notesSlide" Target="../notesSlides/notesSlide130.xml"/><Relationship Id="rId8" Type="http://schemas.openxmlformats.org/officeDocument/2006/relationships/image" Target="../media/image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9.xml"/><Relationship Id="rId4" Type="http://schemas.openxmlformats.org/officeDocument/2006/relationships/chart" Target="../charts/chart120.xml"/><Relationship Id="rId5" Type="http://schemas.openxmlformats.org/officeDocument/2006/relationships/chart" Target="../charts/chart121.xml"/><Relationship Id="rId6" Type="http://schemas.openxmlformats.org/officeDocument/2006/relationships/chart" Target="../charts/chart122.xml"/><Relationship Id="rId7" Type="http://schemas.openxmlformats.org/officeDocument/2006/relationships/notesSlide" Target="../notesSlides/notesSlide131.xml"/><Relationship Id="rId8" Type="http://schemas.openxmlformats.org/officeDocument/2006/relationships/image" Target="../media/image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3.xml"/><Relationship Id="rId4" Type="http://schemas.openxmlformats.org/officeDocument/2006/relationships/chart" Target="../charts/chart124.xml"/><Relationship Id="rId5" Type="http://schemas.openxmlformats.org/officeDocument/2006/relationships/chart" Target="../charts/chart125.xml"/><Relationship Id="rId6" Type="http://schemas.openxmlformats.org/officeDocument/2006/relationships/chart" Target="../charts/chart126.xml"/><Relationship Id="rId7" Type="http://schemas.openxmlformats.org/officeDocument/2006/relationships/chart" Target="../charts/chart127.xml"/><Relationship Id="rId8" Type="http://schemas.openxmlformats.org/officeDocument/2006/relationships/notesSlide" Target="../notesSlides/notesSlide132.xml"/><Relationship Id="rId9" Type="http://schemas.openxmlformats.org/officeDocument/2006/relationships/image" Target="../media/image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8.xml"/><Relationship Id="rId4" Type="http://schemas.openxmlformats.org/officeDocument/2006/relationships/chart" Target="../charts/chart129.xml"/><Relationship Id="rId5" Type="http://schemas.openxmlformats.org/officeDocument/2006/relationships/notesSlide" Target="../notesSlides/notesSlide133.xml"/><Relationship Id="rId6" Type="http://schemas.openxmlformats.org/officeDocument/2006/relationships/image" Target="../media/image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 Id="rId4" Type="http://schemas.openxmlformats.org/officeDocument/2006/relationships/image" Target="../media/image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0.xml"/><Relationship Id="rId4" Type="http://schemas.openxmlformats.org/officeDocument/2006/relationships/chart" Target="../charts/chart131.xml"/><Relationship Id="rId5" Type="http://schemas.openxmlformats.org/officeDocument/2006/relationships/notesSlide" Target="../notesSlides/notesSlide136.xml"/><Relationship Id="rId6" Type="http://schemas.openxmlformats.org/officeDocument/2006/relationships/image" Target="../media/image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7.xml"/><Relationship Id="rId4" Type="http://schemas.openxmlformats.org/officeDocument/2006/relationships/image" Target="../media/image2.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2.xml"/><Relationship Id="rId4" Type="http://schemas.openxmlformats.org/officeDocument/2006/relationships/chart" Target="../charts/chart133.xml"/><Relationship Id="rId5" Type="http://schemas.openxmlformats.org/officeDocument/2006/relationships/notesSlide" Target="../notesSlides/notesSlide139.xml"/><Relationship Id="rId6" Type="http://schemas.openxmlformats.org/officeDocument/2006/relationships/image" Target="../media/image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0.xml"/><Relationship Id="rId4" Type="http://schemas.openxmlformats.org/officeDocument/2006/relationships/image" Target="../media/image2.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4.xml"/><Relationship Id="rId4" Type="http://schemas.openxmlformats.org/officeDocument/2006/relationships/chart" Target="../charts/chart135.xml"/><Relationship Id="rId5" Type="http://schemas.openxmlformats.org/officeDocument/2006/relationships/notesSlide" Target="../notesSlides/notesSlide142.xml"/><Relationship Id="rId6" Type="http://schemas.openxmlformats.org/officeDocument/2006/relationships/image" Target="../media/image2.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3.xml"/><Relationship Id="rId4" Type="http://schemas.openxmlformats.org/officeDocument/2006/relationships/image" Target="../media/image2.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6.xml"/><Relationship Id="rId4" Type="http://schemas.openxmlformats.org/officeDocument/2006/relationships/chart" Target="../charts/chart137.xml"/><Relationship Id="rId5" Type="http://schemas.openxmlformats.org/officeDocument/2006/relationships/notesSlide" Target="../notesSlides/notesSlide145.xml"/><Relationship Id="rId6" Type="http://schemas.openxmlformats.org/officeDocument/2006/relationships/image" Target="../media/image2.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 Id="rId4" Type="http://schemas.openxmlformats.org/officeDocument/2006/relationships/image" Target="../media/image2.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8.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 Id="rId4" Type="http://schemas.openxmlformats.org/officeDocument/2006/relationships/image" Target="../media/image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8.xml"/><Relationship Id="rId4" Type="http://schemas.openxmlformats.org/officeDocument/2006/relationships/chart" Target="../charts/chart139.xml"/><Relationship Id="rId5" Type="http://schemas.openxmlformats.org/officeDocument/2006/relationships/notesSlide" Target="../notesSlides/notesSlide150.xml"/><Relationship Id="rId6" Type="http://schemas.openxmlformats.org/officeDocument/2006/relationships/image" Target="../media/image2.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0.xml"/><Relationship Id="rId4" Type="http://schemas.openxmlformats.org/officeDocument/2006/relationships/notesSlide" Target="../notesSlides/notesSlide151.xml"/><Relationship Id="rId5" Type="http://schemas.openxmlformats.org/officeDocument/2006/relationships/image" Target="../media/image2.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2.xml"/><Relationship Id="rId4" Type="http://schemas.openxmlformats.org/officeDocument/2006/relationships/image" Target="../media/image2.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 Id="rId4" Type="http://schemas.openxmlformats.org/officeDocument/2006/relationships/image" Target="../media/image2.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 Id="rId4" Type="http://schemas.openxmlformats.org/officeDocument/2006/relationships/image" Target="../media/image2.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5.xml"/><Relationship Id="rId4" Type="http://schemas.openxmlformats.org/officeDocument/2006/relationships/image" Target="../media/image2.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6.xml"/><Relationship Id="rId4" Type="http://schemas.openxmlformats.org/officeDocument/2006/relationships/image" Target="../media/image2.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 Id="rId4" Type="http://schemas.openxmlformats.org/officeDocument/2006/relationships/image" Target="../media/image2.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 Id="rId4" Type="http://schemas.openxmlformats.org/officeDocument/2006/relationships/image" Target="../media/image2.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 Id="rId4" Type="http://schemas.openxmlformats.org/officeDocument/2006/relationships/image" Target="../media/image2.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 Id="rId4" Type="http://schemas.openxmlformats.org/officeDocument/2006/relationships/image" Target="../media/image2.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2.xml"/><Relationship Id="rId4" Type="http://schemas.openxmlformats.org/officeDocument/2006/relationships/image" Target="../media/image2.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3.xml"/><Relationship Id="rId4" Type="http://schemas.openxmlformats.org/officeDocument/2006/relationships/image" Target="../media/image2.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5.xml"/><Relationship Id="rId4" Type="http://schemas.openxmlformats.org/officeDocument/2006/relationships/image" Target="../media/image2.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 Id="rId4" Type="http://schemas.openxmlformats.org/officeDocument/2006/relationships/image" Target="../media/image2.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7.xml"/><Relationship Id="rId4" Type="http://schemas.openxmlformats.org/officeDocument/2006/relationships/image" Target="../media/image2.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8.xml"/><Relationship Id="rId4" Type="http://schemas.openxmlformats.org/officeDocument/2006/relationships/image" Target="../media/image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9.xml"/><Relationship Id="rId4" Type="http://schemas.openxmlformats.org/officeDocument/2006/relationships/image" Target="../media/image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0.xml"/><Relationship Id="rId4" Type="http://schemas.openxmlformats.org/officeDocument/2006/relationships/image" Target="../media/image2.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1.xml"/><Relationship Id="rId4" Type="http://schemas.openxmlformats.org/officeDocument/2006/relationships/image" Target="../media/image2.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3.xml"/><Relationship Id="rId4" Type="http://schemas.openxmlformats.org/officeDocument/2006/relationships/image" Target="../media/image2.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4.xml"/><Relationship Id="rId4" Type="http://schemas.openxmlformats.org/officeDocument/2006/relationships/image" Target="../media/image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5.xml"/><Relationship Id="rId4" Type="http://schemas.openxmlformats.org/officeDocument/2006/relationships/image" Target="../media/image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6.xml"/><Relationship Id="rId4" Type="http://schemas.openxmlformats.org/officeDocument/2006/relationships/image" Target="../media/image2.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7.xml"/><Relationship Id="rId4" Type="http://schemas.openxmlformats.org/officeDocument/2006/relationships/image" Target="../media/image2.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8.xml"/><Relationship Id="rId4" Type="http://schemas.openxmlformats.org/officeDocument/2006/relationships/image" Target="../media/image2.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9.xml"/><Relationship Id="rId4" Type="http://schemas.openxmlformats.org/officeDocument/2006/relationships/image" Target="../media/image2.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0.xml"/><Relationship Id="rId4" Type="http://schemas.openxmlformats.org/officeDocument/2006/relationships/image" Target="../media/image2.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1.xml"/><Relationship Id="rId4" Type="http://schemas.openxmlformats.org/officeDocument/2006/relationships/image" Target="../media/image2.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3.xml"/><Relationship Id="rId4" Type="http://schemas.openxmlformats.org/officeDocument/2006/relationships/image" Target="../media/image2.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4.xml"/><Relationship Id="rId4" Type="http://schemas.openxmlformats.org/officeDocument/2006/relationships/image" Target="../media/image2.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5.xml"/><Relationship Id="rId4" Type="http://schemas.openxmlformats.org/officeDocument/2006/relationships/image" Target="../media/image2.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6.xml"/><Relationship Id="rId4" Type="http://schemas.openxmlformats.org/officeDocument/2006/relationships/image" Target="../media/image2.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1.xml"/><Relationship Id="rId4" Type="http://schemas.openxmlformats.org/officeDocument/2006/relationships/notesSlide" Target="../notesSlides/notesSlide187.xml"/><Relationship Id="rId5" Type="http://schemas.openxmlformats.org/officeDocument/2006/relationships/image" Target="../media/image2.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2.xml"/><Relationship Id="rId4" Type="http://schemas.openxmlformats.org/officeDocument/2006/relationships/chart" Target="../charts/chart143.xml"/><Relationship Id="rId5" Type="http://schemas.openxmlformats.org/officeDocument/2006/relationships/chart" Target="../charts/chart144.xml"/><Relationship Id="rId6" Type="http://schemas.openxmlformats.org/officeDocument/2006/relationships/notesSlide" Target="../notesSlides/notesSlide188.xml"/><Relationship Id="rId7" Type="http://schemas.openxmlformats.org/officeDocument/2006/relationships/image" Target="../media/image2.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5.xml"/><Relationship Id="rId4" Type="http://schemas.openxmlformats.org/officeDocument/2006/relationships/chart" Target="../charts/chart146.xml"/><Relationship Id="rId5" Type="http://schemas.openxmlformats.org/officeDocument/2006/relationships/chart" Target="../charts/chart147.xml"/><Relationship Id="rId6" Type="http://schemas.openxmlformats.org/officeDocument/2006/relationships/notesSlide" Target="../notesSlides/notesSlide189.xml"/><Relationship Id="rId7" Type="http://schemas.openxmlformats.org/officeDocument/2006/relationships/image" Target="../media/image2.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0.xml"/><Relationship Id="rId4" Type="http://schemas.openxmlformats.org/officeDocument/2006/relationships/image" Target="../media/image2.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8.xml"/><Relationship Id="rId4" Type="http://schemas.openxmlformats.org/officeDocument/2006/relationships/chart" Target="../charts/chart149.xml"/><Relationship Id="rId5" Type="http://schemas.openxmlformats.org/officeDocument/2006/relationships/chart" Target="../charts/chart150.xml"/><Relationship Id="rId6" Type="http://schemas.openxmlformats.org/officeDocument/2006/relationships/notesSlide" Target="../notesSlides/notesSlide191.xml"/><Relationship Id="rId7" Type="http://schemas.openxmlformats.org/officeDocument/2006/relationships/image" Target="../media/image2.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1.xml"/><Relationship Id="rId4" Type="http://schemas.openxmlformats.org/officeDocument/2006/relationships/notesSlide" Target="../notesSlides/notesSlide192.xml"/><Relationship Id="rId5" Type="http://schemas.openxmlformats.org/officeDocument/2006/relationships/image" Target="../media/image2.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3.xml"/><Relationship Id="rId4" Type="http://schemas.openxmlformats.org/officeDocument/2006/relationships/image" Target="../media/image2.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4.xml"/><Relationship Id="rId4" Type="http://schemas.openxmlformats.org/officeDocument/2006/relationships/image" Target="../media/image2.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5.xml"/><Relationship Id="rId4" Type="http://schemas.openxmlformats.org/officeDocument/2006/relationships/image" Target="../media/image2.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9.jpg"/><Relationship Id="rId3" Type="http://schemas.openxmlformats.org/officeDocument/2006/relationships/image" Target="../media/image93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pic>
        <p:nvPicPr>
          <p:cNvPr id="3" name="Picture 17">
            <a:extLst>
              <a:ext uri="{FF2B5EF4-FFF2-40B4-BE49-F238E27FC236}">
                <a16:creationId xmlns:a16="http://schemas.microsoft.com/office/drawing/2014/main" id="{A0C23977-F6BF-1BE4-6D85-57D27DB6574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540" r="6551"/>
          <a:stretch/>
        </p:blipFill>
        <p:spPr>
          <a:xfrm>
            <a:off x="0" y="-1"/>
            <a:ext cx="12192000" cy="6858000"/>
          </a:xfrm>
          <a:prstGeom prst="rect">
            <a:avLst/>
          </a:prstGeom>
        </p:spPr>
      </p:pic>
      <p:pic>
        <p:nvPicPr>
          <p:cNvPr id="4" name="Picture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628811" y="117564"/>
            <a:ext cx="1563189" cy="1172392"/>
          </a:xfrm>
          <a:prstGeom prst="rect">
            <a:avLst/>
          </a:prstGeom>
        </p:spPr>
      </p:pic>
      <p:sp>
        <p:nvSpPr>
          <p:cNvPr id="5" name="Rectangle 19"/>
          <p:cNvSpPr/>
          <p:nvPr userDrawn="1"/>
        </p:nvSpPr>
        <p:spPr bwMode="gray">
          <a:xfrm>
            <a:off x="161109" y="6503175"/>
            <a:ext cx="3372718" cy="169277"/>
          </a:xfrm>
          <a:prstGeom prst="rect">
            <a:avLst/>
          </a:prstGeom>
        </p:spPr>
        <p:txBody>
          <a:bodyPr wrap="none" lIns="0" tIns="0" rIns="0" bIns="0">
            <a:spAutoFit/>
          </a:bodyPr>
          <a:lstStyle/>
          <a:p>
            <a:pPr algn="l">
              <a:spcBef>
                <a:spcPts val="200"/>
              </a:spcBef>
              <a:spcAft>
                <a:spcPts val="200"/>
              </a:spcAft>
              <a:tabLst>
                <a:tab pos="931344" algn="l"/>
              </a:tabLst>
              <a:defRPr/>
            </a:pPr>
            <a:r>
              <a:rPr lang="en-US" sz="1100" dirty="0">
                <a:solidFill>
                  <a:srgbClr val="000000"/>
                </a:solidFill>
                <a:ea typeface="ＭＳ Ｐゴシック" charset="0"/>
              </a:rPr>
              <a:t>©2026 Transparency Market Research, All Rights Reserved</a:t>
            </a:r>
            <a:endParaRPr lang="en-GB" sz="1100" dirty="0">
              <a:solidFill>
                <a:srgbClr val="000000"/>
              </a:solidFill>
              <a:ea typeface="ＭＳ Ｐゴシック" charset="0"/>
            </a:endParaRPr>
          </a:p>
        </p:txBody>
      </p:sp>
      <p:sp>
        <p:nvSpPr>
          <p:cNvPr id="6" name="Cover bottom line"/>
          <p:cNvSpPr/>
          <p:nvPr/>
        </p:nvSpPr>
        <p:spPr>
          <a:xfrm>
            <a:off x="8622792" y="6172200"/>
            <a:ext cx="2651760" cy="22860"/>
          </a:xfrm>
          <a:prstGeom prst="rect">
            <a:avLst/>
          </a:prstGeom>
          <a:solidFill>
            <a:srgbClr val="3F7396"/>
          </a:solidFill>
          <a:ln>
            <a:noFill/>
          </a:ln>
        </p:spPr>
        <p:style>
          <a:lnRef idx="1">
            <a:srgbClr val="2A5F8F"/>
          </a:lnRef>
          <a:fillRef idx="3">
            <a:srgbClr val="2A5F8F"/>
          </a:fillRef>
          <a:effectRef idx="2">
            <a:srgbClr val="2A5F8F"/>
          </a:effectRef>
          <a:fontRef idx="minor">
            <a:srgbClr val="FFFFFF"/>
          </a:fontRef>
        </p:style>
        <p:txBody>
          <a:bodyPr rtlCol="0" anchor="ctr"/>
          <a:lstStyle/>
          <a:p>
            <a:pPr algn="ctr"/>
            <a:endParaRPr/>
          </a:p>
        </p:txBody>
      </p:sp>
      <p:sp>
        <p:nvSpPr>
          <p:cNvPr id="7" name="Title 1">
            <a:extLst>
              <a:ext uri="{FF2B5EF4-FFF2-40B4-BE49-F238E27FC236}">
                <a16:creationId xmlns:a16="http://schemas.microsoft.com/office/drawing/2014/main" id="{C7021366-A59A-8F49-E457-CE02C74158AB}"/>
              </a:ext>
            </a:extLst>
          </p:cNvPr>
          <p:cNvSpPr>
            <a:spLocks noGrp="1"/>
          </p:cNvSpPr>
          <p:nvPr/>
        </p:nvSpPr>
        <p:spPr bwMode="gray">
          <a:xfrm>
            <a:off x="2887038" y="1480455"/>
            <a:ext cx="9216989" cy="2114377"/>
          </a:xfrm>
        </p:spPr>
        <p:txBody>
          <a:bodyPr anchor="b">
            <a:noAutofit/>
          </a:bodyPr>
          <a:lstStyle>
            <a:lvl1pPr algn="l">
              <a:defRPr sz="3600" b="1">
                <a:solidFill>
                  <a:sysClr val="windowText" lastClr="000000"/>
                </a:solidFill>
                <a:latin typeface="Calibri" panose="020F0502020204030204" pitchFamily="34" charset="0"/>
                <a:cs typeface="Calibri" panose="020F0502020204030204" pitchFamily="34" charset="0"/>
              </a:defRPr>
            </a:lvl1pPr>
          </a:lstStyle>
          <a:p>
            <a:r>
              <a:rPr lang="en-US" noProof="0" dirty="0" sz="3600"/>
              <a:t>Industrial Air Compressor Market</a:t>
            </a:r>
            <a:endParaRPr lang="en-GB" noProof="0" dirty="0"/>
          </a:p>
        </p:txBody>
      </p:sp>
      <p:sp>
        <p:nvSpPr>
          <p:cNvPr id="8" name="Subtitle 2">
            <a:extLst>
              <a:ext uri="{FF2B5EF4-FFF2-40B4-BE49-F238E27FC236}">
                <a16:creationId xmlns:a16="http://schemas.microsoft.com/office/drawing/2014/main" id="{892EDD5C-8176-C4BE-C570-D3D16C8D35E6}"/>
              </a:ext>
            </a:extLst>
          </p:cNvPr>
          <p:cNvSpPr>
            <a:spLocks noGrp="1"/>
          </p:cNvSpPr>
          <p:nvPr/>
        </p:nvSpPr>
        <p:spPr bwMode="gray">
          <a:xfrm>
            <a:off x="2887038" y="3612121"/>
            <a:ext cx="9216989" cy="898917"/>
          </a:xfrm>
        </p:spPr>
        <p:txBody>
          <a:bodyPr>
            <a:noAutofit/>
          </a:bodyPr>
          <a:lstStyle>
            <a:lvl1pPr marL="0" indent="0" algn="l">
              <a:buNone/>
              <a:defRPr sz="1800">
                <a:solidFill>
                  <a:sysClr val="windowText" lastClr="000000"/>
                </a:solidFill>
                <a:latin typeface="Calibri" panose="020F0502020204030204" pitchFamily="34" charset="0"/>
                <a:cs typeface="Calibri" panose="020F0502020204030204" pitchFamily="34" charset="0"/>
              </a:defRPr>
            </a:lvl1pPr>
            <a:lvl2pPr marL="457196" indent="0" algn="ctr">
              <a:buNone/>
              <a:defRPr sz="2000"/>
            </a:lvl2pPr>
            <a:lvl3pPr marL="914391" indent="0" algn="ctr">
              <a:buNone/>
              <a:defRPr sz="1800"/>
            </a:lvl3pPr>
            <a:lvl4pPr marL="1371587" indent="0" algn="ctr">
              <a:buNone/>
              <a:defRPr sz="1600"/>
            </a:lvl4pPr>
            <a:lvl5pPr marL="1828783" indent="0" algn="ctr">
              <a:buNone/>
              <a:defRPr sz="1600"/>
            </a:lvl5pPr>
            <a:lvl6pPr marL="2285978" indent="0" algn="ctr">
              <a:buNone/>
              <a:defRPr sz="1600"/>
            </a:lvl6pPr>
            <a:lvl7pPr marL="2743174" indent="0" algn="ctr">
              <a:buNone/>
              <a:defRPr sz="1600"/>
            </a:lvl7pPr>
            <a:lvl8pPr marL="3200370" indent="0" algn="ctr">
              <a:buNone/>
              <a:defRPr sz="1600"/>
            </a:lvl8pPr>
            <a:lvl9pPr marL="3657565" indent="0" algn="ctr">
              <a:buNone/>
              <a:defRPr sz="1600"/>
            </a:lvl9pPr>
          </a:lstStyle>
          <a:p>
            <a:r>
              <a:rPr lang="en-US" sz="2000" noProof="0" dirty="0"/>
              <a:t>Global Industry Analysis 2021–2025 and Opportunity Assessment, 2026–2036</a:t>
            </a:r>
            <a:endParaRPr lang="en-GB" sz="2000" noProof="0" dirty="0"/>
          </a:p>
        </p:txBody>
      </p:sp>
      <p:sp>
        <p:nvSpPr>
          <p:cNvPr id="8" name="Front Page Tag">
            <a:extLst>
              <a:ext uri="{FF2B5EF4-FFF2-40B4-BE49-F238E27FC236}">
                <a16:creationId xmlns:a16="http://schemas.microsoft.com/office/drawing/2014/main" id="{892EDD5C-8176-C4BE-C570-D3D16C8D35E6}"/>
              </a:ext>
            </a:extLst>
          </p:cNvPr>
          <p:cNvSpPr>
            <a:spLocks noGrp="1"/>
          </p:cNvSpPr>
          <p:nvPr/>
        </p:nvSpPr>
        <p:spPr bwMode="gray">
          <a:xfrm>
            <a:off x="2887038" y="2450000"/>
            <a:ext cx="9216989" cy="898917"/>
          </a:xfrm>
        </p:spPr>
        <p:txBody>
          <a:bodyPr>
            <a:noAutofit/>
          </a:bodyPr>
          <a:lstStyle>
            <a:lvl1pPr marL="0" indent="0" algn="l">
              <a:buNone/>
              <a:defRPr sz="1800">
                <a:solidFill>
                  <a:sysClr val="windowText" lastClr="000000"/>
                </a:solidFill>
                <a:latin typeface="Calibri" panose="020F0502020204030204" pitchFamily="34" charset="0"/>
                <a:cs typeface="Calibri" panose="020F0502020204030204" pitchFamily="34" charset="0"/>
              </a:defRPr>
            </a:lvl1pPr>
            <a:lvl2pPr marL="457196" indent="0" algn="ctr">
              <a:buNone/>
              <a:defRPr sz="2000"/>
            </a:lvl2pPr>
            <a:lvl3pPr marL="914391" indent="0" algn="ctr">
              <a:buNone/>
              <a:defRPr sz="1800"/>
            </a:lvl3pPr>
            <a:lvl4pPr marL="1371587" indent="0" algn="ctr">
              <a:buNone/>
              <a:defRPr sz="1600"/>
            </a:lvl4pPr>
            <a:lvl5pPr marL="1828783" indent="0" algn="ctr">
              <a:buNone/>
              <a:defRPr sz="1600"/>
            </a:lvl5pPr>
            <a:lvl6pPr marL="2285978" indent="0" algn="ctr">
              <a:buNone/>
              <a:defRPr sz="1600"/>
            </a:lvl6pPr>
            <a:lvl7pPr marL="2743174" indent="0" algn="ctr">
              <a:buNone/>
              <a:defRPr sz="1600"/>
            </a:lvl7pPr>
            <a:lvl8pPr marL="3200370" indent="0" algn="ctr">
              <a:buNone/>
              <a:defRPr sz="1600"/>
            </a:lvl8pPr>
            <a:lvl9pPr marL="3657565" indent="0" algn="ctr">
              <a:buNone/>
              <a:defRPr sz="1600"/>
            </a:lvl9pPr>
          </a:lstStyle>
          <a:p>
            <a:r>
              <a:rPr lang="en-US" sz="2000" noProof="0" dirty="0" b="1">
                <a:solidFill>
                  <a:srgbClr val="0070C0"/>
                </a:solidFill>
              </a:rPr>
              <a:t>Sample Report | 2026</a:t>
            </a:r>
            <a:endParaRPr lang="en-GB" sz="2000" noProof="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Agenda</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Storyline of the report by section · click a section card to jump to it</a:t>
            </a:r>
          </a:p>
        </p:txBody>
      </p:sp>
      <p:sp>
        <p:nvSpPr>
          <p:cNvPr id="7" name="Rounded Rectangle 6">
            <a:hlinkClick action="ppaction://hlinksldjump" r:id="rId3"/>
          </p:cNvPr>
          <p:cNvSpPr/>
          <p:nvPr/>
        </p:nvSpPr>
        <p:spPr>
          <a:xfrm>
            <a:off x="314325" y="1135037"/>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 Market Signals</a:t>
            </a:r>
          </a:p>
        </p:txBody>
      </p:sp>
      <p:sp>
        <p:nvSpPr>
          <p:cNvPr id="8" name="Rounded Rectangle 7">
            <a:hlinkClick action="ppaction://hlinksldjump" r:id="rId4"/>
          </p:cNvPr>
          <p:cNvSpPr/>
          <p:nvPr/>
        </p:nvSpPr>
        <p:spPr>
          <a:xfrm>
            <a:off x="142875" y="1559435"/>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Market Overview</a:t>
            </a:r>
          </a:p>
        </p:txBody>
      </p:sp>
      <p:sp>
        <p:nvSpPr>
          <p:cNvPr id="9" name="Rounded Rectangle 8">
            <a:hlinkClick action="ppaction://hlinksldjump" r:id="rId5"/>
          </p:cNvPr>
          <p:cNvSpPr/>
          <p:nvPr/>
        </p:nvSpPr>
        <p:spPr>
          <a:xfrm>
            <a:off x="314325" y="1965580"/>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2. Market Taxonomy</a:t>
            </a:r>
          </a:p>
        </p:txBody>
      </p:sp>
      <p:sp>
        <p:nvSpPr>
          <p:cNvPr id="10" name="Rounded Rectangle 9">
            <a:hlinkClick action="ppaction://hlinksldjump" r:id="rId6"/>
          </p:cNvPr>
          <p:cNvSpPr/>
          <p:nvPr/>
        </p:nvSpPr>
        <p:spPr>
          <a:xfrm>
            <a:off x="314325" y="2389979"/>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3. Table of Contents</a:t>
            </a:r>
          </a:p>
        </p:txBody>
      </p:sp>
      <p:sp>
        <p:nvSpPr>
          <p:cNvPr id="11" name="Rounded Rectangle 10">
            <a:hlinkClick action="ppaction://hlinksldjump" r:id="rId7"/>
          </p:cNvPr>
          <p:cNvSpPr/>
          <p:nvPr/>
        </p:nvSpPr>
        <p:spPr>
          <a:xfrm>
            <a:off x="314325" y="2814377"/>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4. List of Figures, List of Tables</a:t>
            </a:r>
          </a:p>
        </p:txBody>
      </p:sp>
      <p:sp>
        <p:nvSpPr>
          <p:cNvPr id="12" name="Rounded Rectangle 11">
            <a:hlinkClick action="ppaction://hlinksldjump" r:id="rId8"/>
          </p:cNvPr>
          <p:cNvSpPr/>
          <p:nvPr/>
        </p:nvSpPr>
        <p:spPr>
          <a:xfrm>
            <a:off x="142875" y="3238775"/>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Global Market Outlook</a:t>
            </a:r>
          </a:p>
        </p:txBody>
      </p:sp>
      <p:sp>
        <p:nvSpPr>
          <p:cNvPr id="13" name="Rounded Rectangle 12">
            <a:hlinkClick action="ppaction://hlinksldjump" r:id="rId9"/>
          </p:cNvPr>
          <p:cNvSpPr/>
          <p:nvPr/>
        </p:nvSpPr>
        <p:spPr>
          <a:xfrm>
            <a:off x="314325" y="3644920"/>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5. Industrial Air Compressor Market Global Overview</a:t>
            </a:r>
          </a:p>
        </p:txBody>
      </p:sp>
      <p:sp>
        <p:nvSpPr>
          <p:cNvPr id="14" name="Rounded Rectangle 13">
            <a:hlinkClick action="ppaction://hlinksldjump" r:id="rId10"/>
          </p:cNvPr>
          <p:cNvSpPr/>
          <p:nvPr/>
        </p:nvSpPr>
        <p:spPr>
          <a:xfrm>
            <a:off x="314325" y="4069319"/>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6. Global Market Analysis By Region</a:t>
            </a:r>
          </a:p>
        </p:txBody>
      </p:sp>
      <p:sp>
        <p:nvSpPr>
          <p:cNvPr id="15" name="Rounded Rectangle 14">
            <a:hlinkClick action="ppaction://hlinksldjump" r:id="rId11"/>
          </p:cNvPr>
          <p:cNvSpPr/>
          <p:nvPr/>
        </p:nvSpPr>
        <p:spPr>
          <a:xfrm>
            <a:off x="314325" y="4493717"/>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7. Global Market Analysis By Segments</a:t>
            </a:r>
          </a:p>
        </p:txBody>
      </p:sp>
      <p:sp>
        <p:nvSpPr>
          <p:cNvPr id="16" name="Rounded Rectangle 15">
            <a:hlinkClick action="ppaction://hlinksldjump" r:id="rId12"/>
          </p:cNvPr>
          <p:cNvSpPr/>
          <p:nvPr/>
        </p:nvSpPr>
        <p:spPr>
          <a:xfrm>
            <a:off x="142875" y="4918115"/>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North America Market Outlook</a:t>
            </a:r>
          </a:p>
        </p:txBody>
      </p:sp>
      <p:sp>
        <p:nvSpPr>
          <p:cNvPr id="17" name="Rounded Rectangle 16">
            <a:hlinkClick action="ppaction://hlinksldjump" r:id="rId13"/>
          </p:cNvPr>
          <p:cNvSpPr/>
          <p:nvPr/>
        </p:nvSpPr>
        <p:spPr>
          <a:xfrm>
            <a:off x="314325" y="5324261"/>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8. North America Overview</a:t>
            </a:r>
          </a:p>
        </p:txBody>
      </p:sp>
      <p:sp>
        <p:nvSpPr>
          <p:cNvPr id="18" name="Rounded Rectangle 17">
            <a:hlinkClick action="ppaction://hlinksldjump" r:id="rId14"/>
          </p:cNvPr>
          <p:cNvSpPr/>
          <p:nvPr/>
        </p:nvSpPr>
        <p:spPr>
          <a:xfrm>
            <a:off x="314325" y="5748660"/>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9. North America Market Analysis By Country</a:t>
            </a:r>
          </a:p>
        </p:txBody>
      </p:sp>
      <p:sp>
        <p:nvSpPr>
          <p:cNvPr id="19" name="Rounded Rectangle 18">
            <a:hlinkClick action="ppaction://hlinksldjump" r:id="rId15"/>
          </p:cNvPr>
          <p:cNvSpPr/>
          <p:nvPr/>
        </p:nvSpPr>
        <p:spPr>
          <a:xfrm>
            <a:off x="314325" y="6173058"/>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10. North America Market Analysis By Segments</a:t>
            </a:r>
          </a:p>
        </p:txBody>
      </p:sp>
      <p:sp>
        <p:nvSpPr>
          <p:cNvPr id="20" name="Rounded Rectangle 19">
            <a:hlinkClick action="ppaction://hlinksldjump" r:id="rId16"/>
          </p:cNvPr>
          <p:cNvSpPr/>
          <p:nvPr/>
        </p:nvSpPr>
        <p:spPr>
          <a:xfrm>
            <a:off x="6219825" y="1135037"/>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Country Market Outlook</a:t>
            </a:r>
          </a:p>
        </p:txBody>
      </p:sp>
      <p:sp>
        <p:nvSpPr>
          <p:cNvPr id="21" name="Rounded Rectangle 20">
            <a:hlinkClick action="ppaction://hlinksldjump" r:id="rId17"/>
          </p:cNvPr>
          <p:cNvSpPr/>
          <p:nvPr/>
        </p:nvSpPr>
        <p:spPr>
          <a:xfrm>
            <a:off x="6391275" y="1581423"/>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11. Industrial Air Compressor Market Overview (Volume &amp; Value)</a:t>
            </a:r>
          </a:p>
        </p:txBody>
      </p:sp>
      <p:sp>
        <p:nvSpPr>
          <p:cNvPr id="22" name="Rounded Rectangle 21">
            <a:hlinkClick action="ppaction://hlinksldjump" r:id="rId18"/>
          </p:cNvPr>
          <p:cNvSpPr/>
          <p:nvPr/>
        </p:nvSpPr>
        <p:spPr>
          <a:xfrm>
            <a:off x="6391275" y="2046062"/>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12. Segment Overview (Volume &amp; Value)</a:t>
            </a:r>
          </a:p>
        </p:txBody>
      </p:sp>
      <p:sp>
        <p:nvSpPr>
          <p:cNvPr id="23" name="Rounded Rectangle 22">
            <a:hlinkClick action="ppaction://hlinksldjump" r:id="rId19"/>
          </p:cNvPr>
          <p:cNvSpPr/>
          <p:nvPr/>
        </p:nvSpPr>
        <p:spPr>
          <a:xfrm>
            <a:off x="6219825" y="2510702"/>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Pricing Assessment</a:t>
            </a:r>
          </a:p>
        </p:txBody>
      </p:sp>
      <p:sp>
        <p:nvSpPr>
          <p:cNvPr id="24" name="Rounded Rectangle 23">
            <a:hlinkClick action="ppaction://hlinksldjump" r:id="rId20"/>
          </p:cNvPr>
          <p:cNvSpPr/>
          <p:nvPr/>
        </p:nvSpPr>
        <p:spPr>
          <a:xfrm>
            <a:off x="6391275" y="2957088"/>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13. Industrial Air Compressor Market Pricing Analysis</a:t>
            </a:r>
          </a:p>
        </p:txBody>
      </p:sp>
      <p:sp>
        <p:nvSpPr>
          <p:cNvPr id="25" name="Rounded Rectangle 24">
            <a:hlinkClick action="ppaction://hlinksldjump" r:id="rId21"/>
          </p:cNvPr>
          <p:cNvSpPr/>
          <p:nvPr/>
        </p:nvSpPr>
        <p:spPr>
          <a:xfrm>
            <a:off x="6391275" y="3421727"/>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14. Supply Chain Analysis</a:t>
            </a:r>
          </a:p>
        </p:txBody>
      </p:sp>
      <p:sp>
        <p:nvSpPr>
          <p:cNvPr id="26" name="Rounded Rectangle 25">
            <a:hlinkClick action="ppaction://hlinksldjump" r:id="rId22"/>
          </p:cNvPr>
          <p:cNvSpPr/>
          <p:nvPr/>
        </p:nvSpPr>
        <p:spPr>
          <a:xfrm>
            <a:off x="6219825" y="3886367"/>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Market Dynamics</a:t>
            </a:r>
          </a:p>
        </p:txBody>
      </p:sp>
      <p:sp>
        <p:nvSpPr>
          <p:cNvPr id="27" name="Rounded Rectangle 26">
            <a:hlinkClick action="ppaction://hlinksldjump" r:id="rId23"/>
          </p:cNvPr>
          <p:cNvSpPr/>
          <p:nvPr/>
        </p:nvSpPr>
        <p:spPr>
          <a:xfrm>
            <a:off x="6391275" y="4332753"/>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15. Market Dynamics &amp; Forces</a:t>
            </a:r>
          </a:p>
        </p:txBody>
      </p:sp>
      <p:sp>
        <p:nvSpPr>
          <p:cNvPr id="28" name="Rounded Rectangle 27">
            <a:hlinkClick action="ppaction://hlinksldjump" r:id="rId24"/>
          </p:cNvPr>
          <p:cNvSpPr/>
          <p:nvPr/>
        </p:nvSpPr>
        <p:spPr>
          <a:xfrm>
            <a:off x="6219825" y="4797393"/>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Competition Assessment</a:t>
            </a:r>
          </a:p>
        </p:txBody>
      </p:sp>
      <p:sp>
        <p:nvSpPr>
          <p:cNvPr id="29" name="Rounded Rectangle 28">
            <a:hlinkClick action="ppaction://hlinksldjump" r:id="rId25"/>
          </p:cNvPr>
          <p:cNvSpPr/>
          <p:nvPr/>
        </p:nvSpPr>
        <p:spPr>
          <a:xfrm>
            <a:off x="6391275" y="5243779"/>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16. Competitive Landscape</a:t>
            </a:r>
          </a:p>
        </p:txBody>
      </p:sp>
      <p:sp>
        <p:nvSpPr>
          <p:cNvPr id="30" name="Rounded Rectangle 29">
            <a:hlinkClick action="ppaction://hlinksldjump" r:id="rId26"/>
          </p:cNvPr>
          <p:cNvSpPr/>
          <p:nvPr/>
        </p:nvSpPr>
        <p:spPr>
          <a:xfrm>
            <a:off x="6391275" y="5708418"/>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17. Market Share by Leading Players</a:t>
            </a:r>
          </a:p>
        </p:txBody>
      </p:sp>
      <p:sp>
        <p:nvSpPr>
          <p:cNvPr id="31" name="Rounded Rectangle 30">
            <a:hlinkClick action="ppaction://hlinksldjump" r:id="rId27"/>
          </p:cNvPr>
          <p:cNvSpPr/>
          <p:nvPr/>
        </p:nvSpPr>
        <p:spPr>
          <a:xfrm>
            <a:off x="6391275" y="6173058"/>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18. Company Profiles &amp; Strategic Benchmarking</a:t>
            </a:r>
          </a:p>
        </p:txBody>
      </p:sp>
      <p:sp>
        <p:nvSpPr>
          <p:cNvPr id="32" name="Rectangle 3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E2A5C"/>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Signals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Signals Reshaping Industrial Air Compressor Demand</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Signals reshaping Industrial Air Compressor demand, the evidence behind each and what it implies for the global market</a:t>
            </a:r>
          </a:p>
        </p:txBody>
      </p:sp>
      <p:graphicFrame>
        <p:nvGraphicFramePr>
          <p:cNvPr id="7" name="Table 6"/>
          <p:cNvGraphicFramePr>
            <a:graphicFrameLocks noGrp="1"/>
          </p:cNvGraphicFramePr>
          <p:nvPr/>
        </p:nvGraphicFramePr>
        <p:xfrm>
          <a:off x="142875" y="1062022"/>
          <a:ext cx="11906250" cy="5549125"/>
        </p:xfrm>
        <a:graphic>
          <a:graphicData uri="http://schemas.openxmlformats.org/drawingml/2006/table">
            <a:tbl>
              <a:tblPr>
                <a:tableStyleId>{5C22544A-7EE6-4342-B048-85BDC9FD1C3A}</a:tableStyleId>
              </a:tblPr>
              <a:tblGrid>
                <a:gridCol w="3571875"/>
                <a:gridCol w="5000625"/>
                <a:gridCol w="3333750"/>
              </a:tblGrid>
              <a:tr h="346820">
                <a:tc>
                  <a:txBody>
                    <a:bodyPr wrap="square"/>
                    <a:lstStyle/>
                    <a:p>
                      <a:pPr algn="l"/>
                      <a:r>
                        <a:rPr sz="1100" b="1">
                          <a:solidFill>
                            <a:srgbClr val="0E2A5C"/>
                          </a:solidFill>
                          <a:latin typeface="Calibri"/>
                        </a:rPr>
                        <a:t>QUESTIONS WE'RE HEARING</a:t>
                      </a:r>
                    </a:p>
                  </a:txBody>
                  <a:tcPr marL="70000" marR="70000" marT="45000" marB="45000" anchor="ctr">
                    <a:solidFill>
                      <a:srgbClr val="EBF2F9"/>
                    </a:solidFill>
                  </a:tcPr>
                </a:tc>
                <a:tc>
                  <a:txBody>
                    <a:bodyPr wrap="square"/>
                    <a:lstStyle/>
                    <a:p>
                      <a:pPr algn="l"/>
                      <a:r>
                        <a:rPr sz="1100" b="1">
                          <a:solidFill>
                            <a:srgbClr val="0E2A5C"/>
                          </a:solidFill>
                          <a:latin typeface="Calibri"/>
                        </a:rPr>
                        <a:t>WHAT WE'RE OBSERVING</a:t>
                      </a:r>
                    </a:p>
                  </a:txBody>
                  <a:tcPr marL="70000" marR="70000" marT="45000" marB="45000" anchor="ctr">
                    <a:solidFill>
                      <a:srgbClr val="EBF2F9"/>
                    </a:solidFill>
                  </a:tcPr>
                </a:tc>
                <a:tc>
                  <a:txBody>
                    <a:bodyPr wrap="square"/>
                    <a:lstStyle/>
                    <a:p>
                      <a:pPr algn="l"/>
                      <a:r>
                        <a:rPr sz="1100" b="1">
                          <a:solidFill>
                            <a:srgbClr val="0E2A5C"/>
                          </a:solidFill>
                          <a:latin typeface="Calibri"/>
                        </a:rPr>
                        <a:t>SELECT DATA POINTS</a:t>
                      </a:r>
                    </a:p>
                  </a:txBody>
                  <a:tcPr marL="70000" marR="70000" marT="45000" marB="45000" anchor="ctr">
                    <a:solidFill>
                      <a:srgbClr val="EBF2F9"/>
                    </a:solidFill>
                  </a:tcPr>
                </a:tc>
              </a:tr>
              <a:tr h="1040461">
                <a:tc>
                  <a:txBody>
                    <a:bodyPr wrap="square"/>
                    <a:lstStyle/>
                    <a:p>
                      <a:pPr algn="l"/>
                      <a:r>
                        <a:rPr sz="1100" b="1">
                          <a:solidFill>
                            <a:srgbClr val="0E2A5C"/>
                          </a:solidFill>
                          <a:latin typeface="Calibri"/>
                        </a:rPr>
                        <a:t>How fast is Industrial Air Compressor demand set to grow through 2036?</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a:t> </a:t>
                      </a:r>
                    </a:p>
                  </a:txBody>
                  <a:tcPr marL="70000" marR="70000" marT="45000" marB="45000" anchor="ctr">
                    <a:solidFill>
                      <a:srgbClr val="FFFFFF"/>
                    </a:solidFill>
                  </a:tcPr>
                </a:tc>
              </a:tr>
              <a:tr h="1040461">
                <a:tc>
                  <a:txBody>
                    <a:bodyPr wrap="square"/>
                    <a:lstStyle/>
                    <a:p>
                      <a:pPr algn="l"/>
                      <a:r>
                        <a:rPr sz="1100" b="1">
                          <a:solidFill>
                            <a:srgbClr val="0E2A5C"/>
                          </a:solidFill>
                          <a:latin typeface="Calibri"/>
                        </a:rPr>
                        <a:t>Which driver type categories are buyers prioritising?</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E2A5C"/>
                          </a:solidFill>
                          <a:latin typeface="Calibri"/>
                        </a:rPr>
                        <a:t>Where is incremental demand concentrating?</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r h="1040461">
                <a:tc>
                  <a:txBody>
                    <a:bodyPr wrap="square"/>
                    <a:lstStyle/>
                    <a:p>
                      <a:pPr algn="l"/>
                      <a:r>
                        <a:rPr sz="1100" b="1">
                          <a:solidFill>
                            <a:srgbClr val="0E2A5C"/>
                          </a:solidFill>
                          <a:latin typeface="Calibri"/>
                        </a:rPr>
                        <a:t>Which regions will drive the next wave of Industrial Air Compressor demand?</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E2A5C"/>
                          </a:solidFill>
                          <a:latin typeface="Calibri"/>
                        </a:rPr>
                        <a:t>Where should suppliers focus investment?</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10" name="TextBox 9"/>
          <p:cNvSpPr txBox="1"/>
          <p:nvPr/>
        </p:nvSpPr>
        <p:spPr>
          <a:xfrm>
            <a:off x="3784750" y="1761432"/>
            <a:ext cx="1689844" cy="186689"/>
          </a:xfrm>
          <a:prstGeom prst="rect">
            <a:avLst/>
          </a:prstGeom>
          <a:noFill/>
        </p:spPr>
        <p:txBody>
          <a:bodyPr wrap="none" lIns="0" rIns="0" tIns="0" bIns="0">
            <a:spAutoFit/>
          </a:bodyPr>
          <a:lstStyle/>
          <a:p>
            <a:r>
              <a:rPr sz="1100" b="0">
                <a:solidFill>
                  <a:srgbClr val="2E2E2E"/>
                </a:solidFill>
                <a:latin typeface="Calibri"/>
              </a:rPr>
              <a:t>Global demand expands at a</a:t>
            </a:r>
          </a:p>
        </p:txBody>
      </p:sp>
      <p:pic>
        <p:nvPicPr>
          <p:cNvPr id="11" name="Picture 10" descr="lock.png"/>
          <p:cNvPicPr>
            <a:picLocks noChangeAspect="1"/>
          </p:cNvPicPr>
          <p:nvPr/>
        </p:nvPicPr>
        <p:blipFill>
          <a:blip r:embed="rId4"/>
          <a:stretch>
            <a:fillRect/>
          </a:stretch>
        </p:blipFill>
        <p:spPr>
          <a:xfrm>
            <a:off x="5422645" y="1751653"/>
            <a:ext cx="128699" cy="187198"/>
          </a:xfrm>
          <a:prstGeom prst="rect">
            <a:avLst/>
          </a:prstGeom>
        </p:spPr>
      </p:pic>
      <p:sp>
        <p:nvSpPr>
          <p:cNvPr id="12" name="TextBox 11"/>
          <p:cNvSpPr txBox="1"/>
          <p:nvPr/>
        </p:nvSpPr>
        <p:spPr>
          <a:xfrm>
            <a:off x="5590141" y="1761432"/>
            <a:ext cx="2708109" cy="186689"/>
          </a:xfrm>
          <a:prstGeom prst="rect">
            <a:avLst/>
          </a:prstGeom>
          <a:noFill/>
        </p:spPr>
        <p:txBody>
          <a:bodyPr wrap="none" lIns="0" rIns="0" tIns="0" bIns="0">
            <a:spAutoFit/>
          </a:bodyPr>
          <a:lstStyle/>
          <a:p>
            <a:r>
              <a:rPr sz="1100" b="0">
                <a:solidFill>
                  <a:srgbClr val="2E2E2E"/>
                </a:solidFill>
                <a:latin typeface="Calibri"/>
              </a:rPr>
              <a:t>forecast CAGR (2026–2036), accelerating from</a:t>
            </a:r>
          </a:p>
        </p:txBody>
      </p:sp>
      <p:pic>
        <p:nvPicPr>
          <p:cNvPr id="13" name="Picture 12" descr="lock.png"/>
          <p:cNvPicPr>
            <a:picLocks noChangeAspect="1"/>
          </p:cNvPicPr>
          <p:nvPr/>
        </p:nvPicPr>
        <p:blipFill>
          <a:blip r:embed="rId4"/>
          <a:stretch>
            <a:fillRect/>
          </a:stretch>
        </p:blipFill>
        <p:spPr>
          <a:xfrm>
            <a:off x="8246302" y="1751653"/>
            <a:ext cx="128699" cy="187198"/>
          </a:xfrm>
          <a:prstGeom prst="rect">
            <a:avLst/>
          </a:prstGeom>
        </p:spPr>
      </p:pic>
      <p:sp>
        <p:nvSpPr>
          <p:cNvPr id="14" name="TextBox 13"/>
          <p:cNvSpPr txBox="1"/>
          <p:nvPr/>
        </p:nvSpPr>
        <p:spPr>
          <a:xfrm>
            <a:off x="3784750" y="1929072"/>
            <a:ext cx="1137865" cy="186689"/>
          </a:xfrm>
          <a:prstGeom prst="rect">
            <a:avLst/>
          </a:prstGeom>
          <a:noFill/>
        </p:spPr>
        <p:txBody>
          <a:bodyPr wrap="none" lIns="0" rIns="0" tIns="0" bIns="0">
            <a:spAutoFit/>
          </a:bodyPr>
          <a:lstStyle/>
          <a:p>
            <a:r>
              <a:rPr sz="1100" b="0">
                <a:solidFill>
                  <a:srgbClr val="2E2E2E"/>
                </a:solidFill>
                <a:latin typeface="Calibri"/>
              </a:rPr>
              <a:t>across 2021–2025.</a:t>
            </a:r>
          </a:p>
        </p:txBody>
      </p:sp>
      <p:pic>
        <p:nvPicPr>
          <p:cNvPr id="15" name="Picture 14" descr="lock.png"/>
          <p:cNvPicPr>
            <a:picLocks noChangeAspect="1"/>
          </p:cNvPicPr>
          <p:nvPr/>
        </p:nvPicPr>
        <p:blipFill>
          <a:blip r:embed="rId4"/>
          <a:stretch>
            <a:fillRect/>
          </a:stretch>
        </p:blipFill>
        <p:spPr>
          <a:xfrm>
            <a:off x="10214228" y="1689042"/>
            <a:ext cx="330041" cy="480060"/>
          </a:xfrm>
          <a:prstGeom prst="rect">
            <a:avLst/>
          </a:prstGeom>
        </p:spPr>
      </p:pic>
      <p:sp>
        <p:nvSpPr>
          <p:cNvPr id="16" name="TextBox 15"/>
          <p:cNvSpPr txBox="1"/>
          <p:nvPr/>
        </p:nvSpPr>
        <p:spPr>
          <a:xfrm>
            <a:off x="3784750" y="2801893"/>
            <a:ext cx="2445097" cy="186689"/>
          </a:xfrm>
          <a:prstGeom prst="rect">
            <a:avLst/>
          </a:prstGeom>
          <a:noFill/>
        </p:spPr>
        <p:txBody>
          <a:bodyPr wrap="none" lIns="0" rIns="0" tIns="0" bIns="0">
            <a:spAutoFit/>
          </a:bodyPr>
          <a:lstStyle/>
          <a:p>
            <a:r>
              <a:rPr sz="1100" b="0">
                <a:solidFill>
                  <a:srgbClr val="2E2E2E"/>
                </a:solidFill>
                <a:latin typeface="Calibri"/>
              </a:rPr>
              <a:t>Diesel Engine-Driven leads Driver Type, at</a:t>
            </a:r>
          </a:p>
        </p:txBody>
      </p:sp>
      <p:pic>
        <p:nvPicPr>
          <p:cNvPr id="17" name="Picture 16" descr="lock.png"/>
          <p:cNvPicPr>
            <a:picLocks noChangeAspect="1"/>
          </p:cNvPicPr>
          <p:nvPr/>
        </p:nvPicPr>
        <p:blipFill>
          <a:blip r:embed="rId4"/>
          <a:stretch>
            <a:fillRect/>
          </a:stretch>
        </p:blipFill>
        <p:spPr>
          <a:xfrm>
            <a:off x="6177898" y="2792114"/>
            <a:ext cx="128699" cy="187198"/>
          </a:xfrm>
          <a:prstGeom prst="rect">
            <a:avLst/>
          </a:prstGeom>
        </p:spPr>
      </p:pic>
      <p:sp>
        <p:nvSpPr>
          <p:cNvPr id="18" name="TextBox 17"/>
          <p:cNvSpPr txBox="1"/>
          <p:nvPr/>
        </p:nvSpPr>
        <p:spPr>
          <a:xfrm>
            <a:off x="6345394" y="2801893"/>
            <a:ext cx="1854100" cy="186689"/>
          </a:xfrm>
          <a:prstGeom prst="rect">
            <a:avLst/>
          </a:prstGeom>
          <a:noFill/>
        </p:spPr>
        <p:txBody>
          <a:bodyPr wrap="none" lIns="0" rIns="0" tIns="0" bIns="0">
            <a:spAutoFit/>
          </a:bodyPr>
          <a:lstStyle/>
          <a:p>
            <a:r>
              <a:rPr sz="1100" b="0">
                <a:solidFill>
                  <a:srgbClr val="2E2E2E"/>
                </a:solidFill>
                <a:latin typeface="Calibri"/>
              </a:rPr>
              <a:t>of 2036 value, within a mix of 6</a:t>
            </a:r>
          </a:p>
        </p:txBody>
      </p:sp>
      <p:sp>
        <p:nvSpPr>
          <p:cNvPr id="19" name="TextBox 18"/>
          <p:cNvSpPr txBox="1"/>
          <p:nvPr/>
        </p:nvSpPr>
        <p:spPr>
          <a:xfrm>
            <a:off x="3784750" y="2969533"/>
            <a:ext cx="1158602" cy="186689"/>
          </a:xfrm>
          <a:prstGeom prst="rect">
            <a:avLst/>
          </a:prstGeom>
          <a:noFill/>
        </p:spPr>
        <p:txBody>
          <a:bodyPr wrap="none" lIns="0" rIns="0" tIns="0" bIns="0">
            <a:spAutoFit/>
          </a:bodyPr>
          <a:lstStyle/>
          <a:p>
            <a:r>
              <a:rPr sz="1100" b="0">
                <a:solidFill>
                  <a:srgbClr val="2E2E2E"/>
                </a:solidFill>
                <a:latin typeface="Calibri"/>
              </a:rPr>
              <a:t>tracked categories.</a:t>
            </a:r>
          </a:p>
        </p:txBody>
      </p:sp>
      <p:sp>
        <p:nvSpPr>
          <p:cNvPr id="20" name="TextBox 19"/>
          <p:cNvSpPr txBox="1"/>
          <p:nvPr/>
        </p:nvSpPr>
        <p:spPr>
          <a:xfrm>
            <a:off x="8785375" y="2885713"/>
            <a:ext cx="1654646" cy="186689"/>
          </a:xfrm>
          <a:prstGeom prst="rect">
            <a:avLst/>
          </a:prstGeom>
          <a:noFill/>
        </p:spPr>
        <p:txBody>
          <a:bodyPr wrap="none" lIns="0" rIns="0" tIns="0" bIns="0">
            <a:spAutoFit/>
          </a:bodyPr>
          <a:lstStyle/>
          <a:p>
            <a:r>
              <a:rPr sz="1100" b="0">
                <a:solidFill>
                  <a:srgbClr val="2E2E2E"/>
                </a:solidFill>
                <a:latin typeface="Calibri"/>
              </a:rPr>
              <a:t>Lead: Diesel Engine-Driven ·</a:t>
            </a:r>
          </a:p>
        </p:txBody>
      </p:sp>
      <p:pic>
        <p:nvPicPr>
          <p:cNvPr id="21" name="Picture 20" descr="lock.png"/>
          <p:cNvPicPr>
            <a:picLocks noChangeAspect="1"/>
          </p:cNvPicPr>
          <p:nvPr/>
        </p:nvPicPr>
        <p:blipFill>
          <a:blip r:embed="rId4"/>
          <a:stretch>
            <a:fillRect/>
          </a:stretch>
        </p:blipFill>
        <p:spPr>
          <a:xfrm>
            <a:off x="10388072" y="2875934"/>
            <a:ext cx="128699" cy="187198"/>
          </a:xfrm>
          <a:prstGeom prst="rect">
            <a:avLst/>
          </a:prstGeom>
        </p:spPr>
      </p:pic>
      <p:sp>
        <p:nvSpPr>
          <p:cNvPr id="22" name="TextBox 21"/>
          <p:cNvSpPr txBox="1"/>
          <p:nvPr/>
        </p:nvSpPr>
        <p:spPr>
          <a:xfrm>
            <a:off x="10555568" y="2885713"/>
            <a:ext cx="789433" cy="186689"/>
          </a:xfrm>
          <a:prstGeom prst="rect">
            <a:avLst/>
          </a:prstGeom>
          <a:noFill/>
        </p:spPr>
        <p:txBody>
          <a:bodyPr wrap="none" lIns="0" rIns="0" tIns="0" bIns="0">
            <a:spAutoFit/>
          </a:bodyPr>
          <a:lstStyle/>
          <a:p>
            <a:r>
              <a:rPr sz="1100" b="0">
                <a:solidFill>
                  <a:srgbClr val="2E2E2E"/>
                </a:solidFill>
                <a:latin typeface="Calibri"/>
              </a:rPr>
              <a:t>share (2036)</a:t>
            </a:r>
          </a:p>
        </p:txBody>
      </p:sp>
      <p:sp>
        <p:nvSpPr>
          <p:cNvPr id="23" name="TextBox 22"/>
          <p:cNvSpPr txBox="1"/>
          <p:nvPr/>
        </p:nvSpPr>
        <p:spPr>
          <a:xfrm>
            <a:off x="3784750" y="3842354"/>
            <a:ext cx="3896667" cy="186689"/>
          </a:xfrm>
          <a:prstGeom prst="rect">
            <a:avLst/>
          </a:prstGeom>
          <a:noFill/>
        </p:spPr>
        <p:txBody>
          <a:bodyPr wrap="none" lIns="0" rIns="0" tIns="0" bIns="0">
            <a:spAutoFit/>
          </a:bodyPr>
          <a:lstStyle/>
          <a:p>
            <a:r>
              <a:rPr sz="1100" b="0">
                <a:solidFill>
                  <a:srgbClr val="2E2E2E"/>
                </a:solidFill>
                <a:latin typeface="Calibri"/>
              </a:rPr>
              <a:t>Industrial Air Separation is the fastest-growing part of End Use, at a</a:t>
            </a:r>
          </a:p>
        </p:txBody>
      </p:sp>
      <p:pic>
        <p:nvPicPr>
          <p:cNvPr id="24" name="Picture 23" descr="lock.png"/>
          <p:cNvPicPr>
            <a:picLocks noChangeAspect="1"/>
          </p:cNvPicPr>
          <p:nvPr/>
        </p:nvPicPr>
        <p:blipFill>
          <a:blip r:embed="rId4"/>
          <a:stretch>
            <a:fillRect/>
          </a:stretch>
        </p:blipFill>
        <p:spPr>
          <a:xfrm>
            <a:off x="7629469" y="3832575"/>
            <a:ext cx="128699" cy="187198"/>
          </a:xfrm>
          <a:prstGeom prst="rect">
            <a:avLst/>
          </a:prstGeom>
        </p:spPr>
      </p:pic>
      <p:sp>
        <p:nvSpPr>
          <p:cNvPr id="25" name="TextBox 24"/>
          <p:cNvSpPr txBox="1"/>
          <p:nvPr/>
        </p:nvSpPr>
        <p:spPr>
          <a:xfrm>
            <a:off x="7796964" y="3842354"/>
            <a:ext cx="538410" cy="186689"/>
          </a:xfrm>
          <a:prstGeom prst="rect">
            <a:avLst/>
          </a:prstGeom>
          <a:noFill/>
        </p:spPr>
        <p:txBody>
          <a:bodyPr wrap="none" lIns="0" rIns="0" tIns="0" bIns="0">
            <a:spAutoFit/>
          </a:bodyPr>
          <a:lstStyle/>
          <a:p>
            <a:r>
              <a:rPr sz="1100" b="0">
                <a:solidFill>
                  <a:srgbClr val="2E2E2E"/>
                </a:solidFill>
                <a:latin typeface="Calibri"/>
              </a:rPr>
              <a:t>forecast</a:t>
            </a:r>
          </a:p>
        </p:txBody>
      </p:sp>
      <p:sp>
        <p:nvSpPr>
          <p:cNvPr id="26" name="TextBox 25"/>
          <p:cNvSpPr txBox="1"/>
          <p:nvPr/>
        </p:nvSpPr>
        <p:spPr>
          <a:xfrm>
            <a:off x="3784750" y="4009994"/>
            <a:ext cx="2043169" cy="186689"/>
          </a:xfrm>
          <a:prstGeom prst="rect">
            <a:avLst/>
          </a:prstGeom>
          <a:noFill/>
        </p:spPr>
        <p:txBody>
          <a:bodyPr wrap="none" lIns="0" rIns="0" tIns="0" bIns="0">
            <a:spAutoFit/>
          </a:bodyPr>
          <a:lstStyle/>
          <a:p>
            <a:r>
              <a:rPr sz="1100" b="0">
                <a:solidFill>
                  <a:srgbClr val="2E2E2E"/>
                </a:solidFill>
                <a:latin typeface="Calibri"/>
              </a:rPr>
              <a:t>CAGR outpacing the wider market.</a:t>
            </a:r>
          </a:p>
        </p:txBody>
      </p:sp>
      <p:sp>
        <p:nvSpPr>
          <p:cNvPr id="27" name="TextBox 26"/>
          <p:cNvSpPr txBox="1"/>
          <p:nvPr/>
        </p:nvSpPr>
        <p:spPr>
          <a:xfrm>
            <a:off x="8785375" y="3926174"/>
            <a:ext cx="1993468" cy="186689"/>
          </a:xfrm>
          <a:prstGeom prst="rect">
            <a:avLst/>
          </a:prstGeom>
          <a:noFill/>
        </p:spPr>
        <p:txBody>
          <a:bodyPr wrap="none" lIns="0" rIns="0" tIns="0" bIns="0">
            <a:spAutoFit/>
          </a:bodyPr>
          <a:lstStyle/>
          <a:p>
            <a:r>
              <a:rPr sz="1100" b="0">
                <a:solidFill>
                  <a:srgbClr val="2E2E2E"/>
                </a:solidFill>
                <a:latin typeface="Calibri"/>
              </a:rPr>
              <a:t>Fastest: Industrial Air Separation ·</a:t>
            </a:r>
          </a:p>
        </p:txBody>
      </p:sp>
      <p:pic>
        <p:nvPicPr>
          <p:cNvPr id="28" name="Picture 27" descr="lock.png"/>
          <p:cNvPicPr>
            <a:picLocks noChangeAspect="1"/>
          </p:cNvPicPr>
          <p:nvPr/>
        </p:nvPicPr>
        <p:blipFill>
          <a:blip r:embed="rId4"/>
          <a:stretch>
            <a:fillRect/>
          </a:stretch>
        </p:blipFill>
        <p:spPr>
          <a:xfrm>
            <a:off x="10726894" y="3916395"/>
            <a:ext cx="128699" cy="187198"/>
          </a:xfrm>
          <a:prstGeom prst="rect">
            <a:avLst/>
          </a:prstGeom>
        </p:spPr>
      </p:pic>
      <p:sp>
        <p:nvSpPr>
          <p:cNvPr id="29" name="TextBox 28"/>
          <p:cNvSpPr txBox="1"/>
          <p:nvPr/>
        </p:nvSpPr>
        <p:spPr>
          <a:xfrm>
            <a:off x="10894390" y="3926174"/>
            <a:ext cx="502377" cy="186689"/>
          </a:xfrm>
          <a:prstGeom prst="rect">
            <a:avLst/>
          </a:prstGeom>
          <a:noFill/>
        </p:spPr>
        <p:txBody>
          <a:bodyPr wrap="none" lIns="0" rIns="0" tIns="0" bIns="0">
            <a:spAutoFit/>
          </a:bodyPr>
          <a:lstStyle/>
          <a:p>
            <a:r>
              <a:rPr sz="1100" b="0">
                <a:solidFill>
                  <a:srgbClr val="2E2E2E"/>
                </a:solidFill>
                <a:latin typeface="Calibri"/>
              </a:rPr>
              <a:t>F-CAGR</a:t>
            </a:r>
          </a:p>
        </p:txBody>
      </p:sp>
      <p:sp>
        <p:nvSpPr>
          <p:cNvPr id="30" name="TextBox 29"/>
          <p:cNvSpPr txBox="1"/>
          <p:nvPr/>
        </p:nvSpPr>
        <p:spPr>
          <a:xfrm>
            <a:off x="3784750" y="4882815"/>
            <a:ext cx="2673474" cy="186689"/>
          </a:xfrm>
          <a:prstGeom prst="rect">
            <a:avLst/>
          </a:prstGeom>
          <a:noFill/>
        </p:spPr>
        <p:txBody>
          <a:bodyPr wrap="none" lIns="0" rIns="0" tIns="0" bIns="0">
            <a:spAutoFit/>
          </a:bodyPr>
          <a:lstStyle/>
          <a:p>
            <a:r>
              <a:rPr sz="1100" b="0">
                <a:solidFill>
                  <a:srgbClr val="2E2E2E"/>
                </a:solidFill>
                <a:latin typeface="Calibri"/>
              </a:rPr>
              <a:t>North America is the largest regional market (</a:t>
            </a:r>
          </a:p>
        </p:txBody>
      </p:sp>
      <p:pic>
        <p:nvPicPr>
          <p:cNvPr id="31" name="Picture 30" descr="lock.png"/>
          <p:cNvPicPr>
            <a:picLocks noChangeAspect="1"/>
          </p:cNvPicPr>
          <p:nvPr/>
        </p:nvPicPr>
        <p:blipFill>
          <a:blip r:embed="rId4"/>
          <a:stretch>
            <a:fillRect/>
          </a:stretch>
        </p:blipFill>
        <p:spPr>
          <a:xfrm>
            <a:off x="6406275" y="4873036"/>
            <a:ext cx="128699" cy="187198"/>
          </a:xfrm>
          <a:prstGeom prst="rect">
            <a:avLst/>
          </a:prstGeom>
        </p:spPr>
      </p:pic>
      <p:sp>
        <p:nvSpPr>
          <p:cNvPr id="32" name="TextBox 31"/>
          <p:cNvSpPr txBox="1"/>
          <p:nvPr/>
        </p:nvSpPr>
        <p:spPr>
          <a:xfrm>
            <a:off x="6573771" y="4882815"/>
            <a:ext cx="2016720" cy="186689"/>
          </a:xfrm>
          <a:prstGeom prst="rect">
            <a:avLst/>
          </a:prstGeom>
          <a:noFill/>
        </p:spPr>
        <p:txBody>
          <a:bodyPr wrap="none" lIns="0" rIns="0" tIns="0" bIns="0">
            <a:spAutoFit/>
          </a:bodyPr>
          <a:lstStyle/>
          <a:p>
            <a:r>
              <a:rPr sz="1100" b="0">
                <a:solidFill>
                  <a:srgbClr val="2E2E2E"/>
                </a:solidFill>
                <a:latin typeface="Calibri"/>
              </a:rPr>
              <a:t>of 2036 value), while South Asia &amp;</a:t>
            </a:r>
          </a:p>
        </p:txBody>
      </p:sp>
      <p:sp>
        <p:nvSpPr>
          <p:cNvPr id="33" name="TextBox 32"/>
          <p:cNvSpPr txBox="1"/>
          <p:nvPr/>
        </p:nvSpPr>
        <p:spPr>
          <a:xfrm>
            <a:off x="3784750" y="5050455"/>
            <a:ext cx="1374154" cy="186689"/>
          </a:xfrm>
          <a:prstGeom prst="rect">
            <a:avLst/>
          </a:prstGeom>
          <a:noFill/>
        </p:spPr>
        <p:txBody>
          <a:bodyPr wrap="none" lIns="0" rIns="0" tIns="0" bIns="0">
            <a:spAutoFit/>
          </a:bodyPr>
          <a:lstStyle/>
          <a:p>
            <a:r>
              <a:rPr sz="1100" b="0">
                <a:solidFill>
                  <a:srgbClr val="2E2E2E"/>
                </a:solidFill>
                <a:latin typeface="Calibri"/>
              </a:rPr>
              <a:t>Pacific grows fastest at</a:t>
            </a:r>
          </a:p>
        </p:txBody>
      </p:sp>
      <p:pic>
        <p:nvPicPr>
          <p:cNvPr id="34" name="Picture 33" descr="lock.png"/>
          <p:cNvPicPr>
            <a:picLocks noChangeAspect="1"/>
          </p:cNvPicPr>
          <p:nvPr/>
        </p:nvPicPr>
        <p:blipFill>
          <a:blip r:embed="rId4"/>
          <a:stretch>
            <a:fillRect/>
          </a:stretch>
        </p:blipFill>
        <p:spPr>
          <a:xfrm>
            <a:off x="5106956" y="5040676"/>
            <a:ext cx="128699" cy="187198"/>
          </a:xfrm>
          <a:prstGeom prst="rect">
            <a:avLst/>
          </a:prstGeom>
        </p:spPr>
      </p:pic>
      <p:sp>
        <p:nvSpPr>
          <p:cNvPr id="35" name="TextBox 34"/>
          <p:cNvSpPr txBox="1"/>
          <p:nvPr/>
        </p:nvSpPr>
        <p:spPr>
          <a:xfrm>
            <a:off x="5274452" y="505045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6" name="TextBox 35"/>
          <p:cNvSpPr txBox="1"/>
          <p:nvPr/>
        </p:nvSpPr>
        <p:spPr>
          <a:xfrm>
            <a:off x="8785375" y="4882815"/>
            <a:ext cx="1464195" cy="186689"/>
          </a:xfrm>
          <a:prstGeom prst="rect">
            <a:avLst/>
          </a:prstGeom>
          <a:noFill/>
        </p:spPr>
        <p:txBody>
          <a:bodyPr wrap="none" lIns="0" rIns="0" tIns="0" bIns="0">
            <a:spAutoFit/>
          </a:bodyPr>
          <a:lstStyle/>
          <a:p>
            <a:r>
              <a:rPr sz="1100" b="0">
                <a:solidFill>
                  <a:srgbClr val="2E2E2E"/>
                </a:solidFill>
                <a:latin typeface="Calibri"/>
              </a:rPr>
              <a:t>Largest: North America (</a:t>
            </a:r>
          </a:p>
        </p:txBody>
      </p:sp>
      <p:pic>
        <p:nvPicPr>
          <p:cNvPr id="37" name="Picture 36" descr="lock.png"/>
          <p:cNvPicPr>
            <a:picLocks noChangeAspect="1"/>
          </p:cNvPicPr>
          <p:nvPr/>
        </p:nvPicPr>
        <p:blipFill>
          <a:blip r:embed="rId4"/>
          <a:stretch>
            <a:fillRect/>
          </a:stretch>
        </p:blipFill>
        <p:spPr>
          <a:xfrm>
            <a:off x="10197622" y="4873036"/>
            <a:ext cx="128699" cy="187198"/>
          </a:xfrm>
          <a:prstGeom prst="rect">
            <a:avLst/>
          </a:prstGeom>
        </p:spPr>
      </p:pic>
      <p:sp>
        <p:nvSpPr>
          <p:cNvPr id="38" name="TextBox 37"/>
          <p:cNvSpPr txBox="1"/>
          <p:nvPr/>
        </p:nvSpPr>
        <p:spPr>
          <a:xfrm>
            <a:off x="10365118" y="4882815"/>
            <a:ext cx="1413931" cy="186689"/>
          </a:xfrm>
          <a:prstGeom prst="rect">
            <a:avLst/>
          </a:prstGeom>
          <a:noFill/>
        </p:spPr>
        <p:txBody>
          <a:bodyPr wrap="none" lIns="0" rIns="0" tIns="0" bIns="0">
            <a:spAutoFit/>
          </a:bodyPr>
          <a:lstStyle/>
          <a:p>
            <a:r>
              <a:rPr sz="1100" b="0">
                <a:solidFill>
                  <a:srgbClr val="2E2E2E"/>
                </a:solidFill>
                <a:latin typeface="Calibri"/>
              </a:rPr>
              <a:t>) · Fastest: South Asia &amp;</a:t>
            </a:r>
          </a:p>
        </p:txBody>
      </p:sp>
      <p:sp>
        <p:nvSpPr>
          <p:cNvPr id="39" name="TextBox 38"/>
          <p:cNvSpPr txBox="1"/>
          <p:nvPr/>
        </p:nvSpPr>
        <p:spPr>
          <a:xfrm>
            <a:off x="8785375" y="5050455"/>
            <a:ext cx="514672" cy="186689"/>
          </a:xfrm>
          <a:prstGeom prst="rect">
            <a:avLst/>
          </a:prstGeom>
          <a:noFill/>
        </p:spPr>
        <p:txBody>
          <a:bodyPr wrap="none" lIns="0" rIns="0" tIns="0" bIns="0">
            <a:spAutoFit/>
          </a:bodyPr>
          <a:lstStyle/>
          <a:p>
            <a:r>
              <a:rPr sz="1100" b="0">
                <a:solidFill>
                  <a:srgbClr val="2E2E2E"/>
                </a:solidFill>
                <a:latin typeface="Calibri"/>
              </a:rPr>
              <a:t>Pacific (</a:t>
            </a:r>
          </a:p>
        </p:txBody>
      </p:sp>
      <p:pic>
        <p:nvPicPr>
          <p:cNvPr id="40" name="Picture 39" descr="lock.png"/>
          <p:cNvPicPr>
            <a:picLocks noChangeAspect="1"/>
          </p:cNvPicPr>
          <p:nvPr/>
        </p:nvPicPr>
        <p:blipFill>
          <a:blip r:embed="rId4"/>
          <a:stretch>
            <a:fillRect/>
          </a:stretch>
        </p:blipFill>
        <p:spPr>
          <a:xfrm>
            <a:off x="9248099" y="5040676"/>
            <a:ext cx="128699" cy="187198"/>
          </a:xfrm>
          <a:prstGeom prst="rect">
            <a:avLst/>
          </a:prstGeom>
        </p:spPr>
      </p:pic>
      <p:sp>
        <p:nvSpPr>
          <p:cNvPr id="41" name="TextBox 40"/>
          <p:cNvSpPr txBox="1"/>
          <p:nvPr/>
        </p:nvSpPr>
        <p:spPr>
          <a:xfrm>
            <a:off x="9415594" y="5050455"/>
            <a:ext cx="118491" cy="186689"/>
          </a:xfrm>
          <a:prstGeom prst="rect">
            <a:avLst/>
          </a:prstGeom>
          <a:noFill/>
        </p:spPr>
        <p:txBody>
          <a:bodyPr wrap="none" lIns="0" rIns="0" tIns="0" bIns="0">
            <a:spAutoFit/>
          </a:bodyPr>
          <a:lstStyle/>
          <a:p>
            <a:r>
              <a:rPr sz="1100" b="0">
                <a:solidFill>
                  <a:srgbClr val="2E2E2E"/>
                </a:solidFill>
                <a:latin typeface="Calibri"/>
              </a:rPr>
              <a:t>)</a:t>
            </a:r>
          </a:p>
        </p:txBody>
      </p:sp>
      <p:sp>
        <p:nvSpPr>
          <p:cNvPr id="42" name="TextBox 41"/>
          <p:cNvSpPr txBox="1"/>
          <p:nvPr/>
        </p:nvSpPr>
        <p:spPr>
          <a:xfrm>
            <a:off x="3784750" y="5923276"/>
            <a:ext cx="945777" cy="186689"/>
          </a:xfrm>
          <a:prstGeom prst="rect">
            <a:avLst/>
          </a:prstGeom>
          <a:noFill/>
        </p:spPr>
        <p:txBody>
          <a:bodyPr wrap="none" lIns="0" rIns="0" tIns="0" bIns="0">
            <a:spAutoFit/>
          </a:bodyPr>
          <a:lstStyle/>
          <a:p>
            <a:r>
              <a:rPr sz="1100" b="0">
                <a:solidFill>
                  <a:srgbClr val="2E2E2E"/>
                </a:solidFill>
                <a:latin typeface="Calibri"/>
              </a:rPr>
              <a:t>An incremental</a:t>
            </a:r>
          </a:p>
        </p:txBody>
      </p:sp>
      <p:pic>
        <p:nvPicPr>
          <p:cNvPr id="43" name="Picture 42" descr="lock.png"/>
          <p:cNvPicPr>
            <a:picLocks noChangeAspect="1"/>
          </p:cNvPicPr>
          <p:nvPr/>
        </p:nvPicPr>
        <p:blipFill>
          <a:blip r:embed="rId4"/>
          <a:stretch>
            <a:fillRect/>
          </a:stretch>
        </p:blipFill>
        <p:spPr>
          <a:xfrm>
            <a:off x="4678579" y="5913497"/>
            <a:ext cx="128699" cy="187198"/>
          </a:xfrm>
          <a:prstGeom prst="rect">
            <a:avLst/>
          </a:prstGeom>
        </p:spPr>
      </p:pic>
      <p:sp>
        <p:nvSpPr>
          <p:cNvPr id="44" name="TextBox 43"/>
          <p:cNvSpPr txBox="1"/>
          <p:nvPr/>
        </p:nvSpPr>
        <p:spPr>
          <a:xfrm>
            <a:off x="4846075" y="5923276"/>
            <a:ext cx="3125043" cy="186689"/>
          </a:xfrm>
          <a:prstGeom prst="rect">
            <a:avLst/>
          </a:prstGeom>
          <a:noFill/>
        </p:spPr>
        <p:txBody>
          <a:bodyPr wrap="none" lIns="0" rIns="0" tIns="0" bIns="0">
            <a:spAutoFit/>
          </a:bodyPr>
          <a:lstStyle/>
          <a:p>
            <a:r>
              <a:rPr sz="1100" b="0">
                <a:solidFill>
                  <a:srgbClr val="2E2E2E"/>
                </a:solidFill>
                <a:latin typeface="Calibri"/>
              </a:rPr>
              <a:t>US$ Mn of demand is added between 2026 and 2036,</a:t>
            </a:r>
          </a:p>
        </p:txBody>
      </p:sp>
      <p:sp>
        <p:nvSpPr>
          <p:cNvPr id="45" name="TextBox 44"/>
          <p:cNvSpPr txBox="1"/>
          <p:nvPr/>
        </p:nvSpPr>
        <p:spPr>
          <a:xfrm>
            <a:off x="3784750" y="6090916"/>
            <a:ext cx="3324497" cy="186689"/>
          </a:xfrm>
          <a:prstGeom prst="rect">
            <a:avLst/>
          </a:prstGeom>
          <a:noFill/>
        </p:spPr>
        <p:txBody>
          <a:bodyPr wrap="none" lIns="0" rIns="0" tIns="0" bIns="0">
            <a:spAutoFit/>
          </a:bodyPr>
          <a:lstStyle/>
          <a:p>
            <a:r>
              <a:rPr sz="1100" b="0">
                <a:solidFill>
                  <a:srgbClr val="2E2E2E"/>
                </a:solidFill>
                <a:latin typeface="Calibri"/>
              </a:rPr>
              <a:t>front-loaded in the leading categories and regions above.</a:t>
            </a:r>
          </a:p>
        </p:txBody>
      </p:sp>
      <p:sp>
        <p:nvSpPr>
          <p:cNvPr id="46" name="TextBox 45"/>
          <p:cNvSpPr txBox="1"/>
          <p:nvPr/>
        </p:nvSpPr>
        <p:spPr>
          <a:xfrm>
            <a:off x="8785375" y="6007096"/>
            <a:ext cx="857919" cy="186689"/>
          </a:xfrm>
          <a:prstGeom prst="rect">
            <a:avLst/>
          </a:prstGeom>
          <a:noFill/>
        </p:spPr>
        <p:txBody>
          <a:bodyPr wrap="none" lIns="0" rIns="0" tIns="0" bIns="0">
            <a:spAutoFit/>
          </a:bodyPr>
          <a:lstStyle/>
          <a:p>
            <a:r>
              <a:rPr sz="1100" b="0">
                <a:solidFill>
                  <a:srgbClr val="2E2E2E"/>
                </a:solidFill>
                <a:latin typeface="Calibri"/>
              </a:rPr>
              <a:t>$ opportunity</a:t>
            </a:r>
          </a:p>
        </p:txBody>
      </p:sp>
      <p:pic>
        <p:nvPicPr>
          <p:cNvPr id="47" name="Picture 46" descr="lock.png"/>
          <p:cNvPicPr>
            <a:picLocks noChangeAspect="1"/>
          </p:cNvPicPr>
          <p:nvPr/>
        </p:nvPicPr>
        <p:blipFill>
          <a:blip r:embed="rId4"/>
          <a:stretch>
            <a:fillRect/>
          </a:stretch>
        </p:blipFill>
        <p:spPr>
          <a:xfrm>
            <a:off x="9591346" y="5997317"/>
            <a:ext cx="128699" cy="187198"/>
          </a:xfrm>
          <a:prstGeom prst="rect">
            <a:avLst/>
          </a:prstGeom>
        </p:spPr>
      </p:pic>
      <p:sp>
        <p:nvSpPr>
          <p:cNvPr id="48" name="TextBox 47"/>
          <p:cNvSpPr txBox="1"/>
          <p:nvPr/>
        </p:nvSpPr>
        <p:spPr>
          <a:xfrm>
            <a:off x="9758842" y="6007096"/>
            <a:ext cx="1345778" cy="186689"/>
          </a:xfrm>
          <a:prstGeom prst="rect">
            <a:avLst/>
          </a:prstGeom>
          <a:noFill/>
        </p:spPr>
        <p:txBody>
          <a:bodyPr wrap="none" lIns="0" rIns="0" tIns="0" bIns="0">
            <a:spAutoFit/>
          </a:bodyPr>
          <a:lstStyle/>
          <a:p>
            <a:r>
              <a:rPr sz="1100" b="0">
                <a:solidFill>
                  <a:srgbClr val="2E2E2E"/>
                </a:solidFill>
                <a:latin typeface="Calibri"/>
              </a:rPr>
              <a:t>US$ Mn (2026–2036) ·</a:t>
            </a:r>
          </a:p>
        </p:txBody>
      </p:sp>
      <p:pic>
        <p:nvPicPr>
          <p:cNvPr id="49" name="Picture 48" descr="lock.png"/>
          <p:cNvPicPr>
            <a:picLocks noChangeAspect="1"/>
          </p:cNvPicPr>
          <p:nvPr/>
        </p:nvPicPr>
        <p:blipFill>
          <a:blip r:embed="rId4"/>
          <a:stretch>
            <a:fillRect/>
          </a:stretch>
        </p:blipFill>
        <p:spPr>
          <a:xfrm>
            <a:off x="11052672" y="5997317"/>
            <a:ext cx="128699" cy="187198"/>
          </a:xfrm>
          <a:prstGeom prst="rect">
            <a:avLst/>
          </a:prstGeom>
        </p:spPr>
      </p:pic>
      <p:sp>
        <p:nvSpPr>
          <p:cNvPr id="50" name="TextBox 49"/>
          <p:cNvSpPr txBox="1"/>
          <p:nvPr/>
        </p:nvSpPr>
        <p:spPr>
          <a:xfrm>
            <a:off x="11220167" y="6007096"/>
            <a:ext cx="528315" cy="186689"/>
          </a:xfrm>
          <a:prstGeom prst="rect">
            <a:avLst/>
          </a:prstGeom>
          <a:noFill/>
        </p:spPr>
        <p:txBody>
          <a:bodyPr wrap="none" lIns="0" rIns="0" tIns="0" bIns="0">
            <a:spAutoFit/>
          </a:bodyPr>
          <a:lstStyle/>
          <a:p>
            <a:r>
              <a:rPr sz="1100" b="0">
                <a:solidFill>
                  <a:srgbClr val="2E2E2E"/>
                </a:solidFill>
                <a:latin typeface="Calibri"/>
              </a:rPr>
              <a:t>by 2031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Industrial Air Compressor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Market Overview</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Taxonomy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Table of Contents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List of Figures, List of Tables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Geographic Coverage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Segments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Coverage</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Regions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Geographic scope of the study: the global market broken into 7 regions and the countries assessed under each</a:t>
            </a:r>
          </a:p>
        </p:txBody>
      </p:sp>
      <p:cxnSp>
        <p:nvCxnSpPr>
          <p:cNvPr id="7" name="Connector 6"/>
          <p:cNvCxnSpPr/>
          <p:nvPr/>
        </p:nvCxnSpPr>
        <p:spPr>
          <a:xfrm>
            <a:off x="6096000" y="1682648"/>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42975" y="1846931"/>
            <a:ext cx="10296525" cy="0"/>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42975" y="1846931"/>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657475" y="1846931"/>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371975" y="1846931"/>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86475" y="1846931"/>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810500" y="1846931"/>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525000" y="1846931"/>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239500" y="1846931"/>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09650" y="2294147"/>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09650" y="2759616"/>
            <a:ext cx="0" cy="219044"/>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09650" y="3279846"/>
            <a:ext cx="0" cy="219044"/>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724150" y="2294147"/>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724150" y="2759616"/>
            <a:ext cx="0" cy="20991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724150" y="3270720"/>
            <a:ext cx="0" cy="20991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438650" y="2294147"/>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438650" y="2759616"/>
            <a:ext cx="0" cy="219044"/>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438650" y="3279846"/>
            <a:ext cx="0" cy="219044"/>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153150" y="2294147"/>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153150" y="2759616"/>
            <a:ext cx="0" cy="219044"/>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153150" y="3279846"/>
            <a:ext cx="0" cy="20991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153150" y="3964360"/>
            <a:ext cx="0" cy="219044"/>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877175" y="2294147"/>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877175" y="2759616"/>
            <a:ext cx="0" cy="219044"/>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877175" y="3279846"/>
            <a:ext cx="0" cy="228171"/>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877175" y="3809204"/>
            <a:ext cx="0" cy="219044"/>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877175" y="4329434"/>
            <a:ext cx="0" cy="219044"/>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877175" y="4849664"/>
            <a:ext cx="0" cy="219044"/>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877175" y="5369895"/>
            <a:ext cx="0" cy="228171"/>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877175" y="5899252"/>
            <a:ext cx="0" cy="219044"/>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591675" y="2294147"/>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591675" y="2759616"/>
            <a:ext cx="0" cy="219044"/>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591675" y="3279846"/>
            <a:ext cx="0" cy="20991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591675" y="3790950"/>
            <a:ext cx="0" cy="219044"/>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91675" y="4484591"/>
            <a:ext cx="0" cy="219044"/>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1306175" y="2294147"/>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1306175" y="2933026"/>
            <a:ext cx="0" cy="219044"/>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1306175" y="3453257"/>
            <a:ext cx="0" cy="228171"/>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1306175" y="3982614"/>
            <a:ext cx="0" cy="219044"/>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1306175" y="4502844"/>
            <a:ext cx="0" cy="228171"/>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306175" y="5032201"/>
            <a:ext cx="0" cy="219044"/>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4667250" y="1080276"/>
            <a:ext cx="2857500" cy="602372"/>
          </a:xfrm>
          <a:prstGeom prst="roundRect">
            <a:avLst>
              <a:gd name="adj" fmla="val 10606"/>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Industrial Air Compressor Market</a:t>
            </a:r>
          </a:p>
        </p:txBody>
      </p:sp>
      <p:sp>
        <p:nvSpPr>
          <p:cNvPr id="49" name="Rounded Rectangle 48"/>
          <p:cNvSpPr/>
          <p:nvPr/>
        </p:nvSpPr>
        <p:spPr>
          <a:xfrm>
            <a:off x="142875" y="2011214"/>
            <a:ext cx="1600200" cy="282932"/>
          </a:xfrm>
          <a:prstGeom prst="roundRect">
            <a:avLst>
              <a:gd name="adj" fmla="val 22580"/>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North America</a:t>
            </a:r>
          </a:p>
        </p:txBody>
      </p:sp>
      <p:sp>
        <p:nvSpPr>
          <p:cNvPr id="50" name="Rounded Rectangle 49"/>
          <p:cNvSpPr/>
          <p:nvPr/>
        </p:nvSpPr>
        <p:spPr>
          <a:xfrm>
            <a:off x="276225" y="2458430"/>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U.S.</a:t>
            </a:r>
          </a:p>
        </p:txBody>
      </p:sp>
      <p:sp>
        <p:nvSpPr>
          <p:cNvPr id="51" name="Rounded Rectangle 50"/>
          <p:cNvSpPr/>
          <p:nvPr/>
        </p:nvSpPr>
        <p:spPr>
          <a:xfrm>
            <a:off x="276225" y="2978660"/>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Canada</a:t>
            </a:r>
          </a:p>
        </p:txBody>
      </p:sp>
      <p:sp>
        <p:nvSpPr>
          <p:cNvPr id="52" name="Rounded Rectangle 51"/>
          <p:cNvSpPr/>
          <p:nvPr/>
        </p:nvSpPr>
        <p:spPr>
          <a:xfrm>
            <a:off x="276225" y="3498891"/>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Mexico</a:t>
            </a:r>
          </a:p>
        </p:txBody>
      </p:sp>
      <p:sp>
        <p:nvSpPr>
          <p:cNvPr id="53" name="Rounded Rectangle 52"/>
          <p:cNvSpPr/>
          <p:nvPr/>
        </p:nvSpPr>
        <p:spPr>
          <a:xfrm>
            <a:off x="1857375" y="2011214"/>
            <a:ext cx="1600200" cy="282932"/>
          </a:xfrm>
          <a:prstGeom prst="roundRect">
            <a:avLst>
              <a:gd name="adj" fmla="val 22580"/>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Latin America</a:t>
            </a:r>
          </a:p>
        </p:txBody>
      </p:sp>
      <p:sp>
        <p:nvSpPr>
          <p:cNvPr id="54" name="Rounded Rectangle 53"/>
          <p:cNvSpPr/>
          <p:nvPr/>
        </p:nvSpPr>
        <p:spPr>
          <a:xfrm>
            <a:off x="1990725" y="2458430"/>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Brazil</a:t>
            </a:r>
          </a:p>
        </p:txBody>
      </p:sp>
      <p:sp>
        <p:nvSpPr>
          <p:cNvPr id="55" name="Rounded Rectangle 54"/>
          <p:cNvSpPr/>
          <p:nvPr/>
        </p:nvSpPr>
        <p:spPr>
          <a:xfrm>
            <a:off x="1990725" y="2969534"/>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Chile</a:t>
            </a:r>
          </a:p>
        </p:txBody>
      </p:sp>
      <p:sp>
        <p:nvSpPr>
          <p:cNvPr id="56" name="Rounded Rectangle 55"/>
          <p:cNvSpPr/>
          <p:nvPr/>
        </p:nvSpPr>
        <p:spPr>
          <a:xfrm>
            <a:off x="1990725" y="3480637"/>
            <a:ext cx="1466850" cy="474596"/>
          </a:xfrm>
          <a:prstGeom prst="roundRect">
            <a:avLst>
              <a:gd name="adj" fmla="val 13461"/>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Rest of Latin America</a:t>
            </a:r>
          </a:p>
        </p:txBody>
      </p:sp>
      <p:sp>
        <p:nvSpPr>
          <p:cNvPr id="57" name="Rounded Rectangle 56"/>
          <p:cNvSpPr/>
          <p:nvPr/>
        </p:nvSpPr>
        <p:spPr>
          <a:xfrm>
            <a:off x="3571875" y="2011214"/>
            <a:ext cx="1600200" cy="282932"/>
          </a:xfrm>
          <a:prstGeom prst="roundRect">
            <a:avLst>
              <a:gd name="adj" fmla="val 22580"/>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 Asia</a:t>
            </a:r>
          </a:p>
        </p:txBody>
      </p:sp>
      <p:sp>
        <p:nvSpPr>
          <p:cNvPr id="58" name="Rounded Rectangle 57"/>
          <p:cNvSpPr/>
          <p:nvPr/>
        </p:nvSpPr>
        <p:spPr>
          <a:xfrm>
            <a:off x="3705225" y="2458430"/>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China</a:t>
            </a:r>
          </a:p>
        </p:txBody>
      </p:sp>
      <p:sp>
        <p:nvSpPr>
          <p:cNvPr id="59" name="Rounded Rectangle 58"/>
          <p:cNvSpPr/>
          <p:nvPr/>
        </p:nvSpPr>
        <p:spPr>
          <a:xfrm>
            <a:off x="3705225" y="2978660"/>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Japan</a:t>
            </a:r>
          </a:p>
        </p:txBody>
      </p:sp>
      <p:sp>
        <p:nvSpPr>
          <p:cNvPr id="60" name="Rounded Rectangle 59"/>
          <p:cNvSpPr/>
          <p:nvPr/>
        </p:nvSpPr>
        <p:spPr>
          <a:xfrm>
            <a:off x="3705225" y="3498891"/>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South Korea</a:t>
            </a:r>
          </a:p>
        </p:txBody>
      </p:sp>
      <p:sp>
        <p:nvSpPr>
          <p:cNvPr id="61" name="Rounded Rectangle 60"/>
          <p:cNvSpPr/>
          <p:nvPr/>
        </p:nvSpPr>
        <p:spPr>
          <a:xfrm>
            <a:off x="5286375" y="2011214"/>
            <a:ext cx="1600200" cy="282932"/>
          </a:xfrm>
          <a:prstGeom prst="roundRect">
            <a:avLst>
              <a:gd name="adj" fmla="val 22580"/>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South Asia &amp; Pacific</a:t>
            </a:r>
          </a:p>
        </p:txBody>
      </p:sp>
      <p:sp>
        <p:nvSpPr>
          <p:cNvPr id="62" name="Rounded Rectangle 61"/>
          <p:cNvSpPr/>
          <p:nvPr/>
        </p:nvSpPr>
        <p:spPr>
          <a:xfrm>
            <a:off x="5419725" y="2458430"/>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India</a:t>
            </a:r>
          </a:p>
        </p:txBody>
      </p:sp>
      <p:sp>
        <p:nvSpPr>
          <p:cNvPr id="63" name="Rounded Rectangle 62"/>
          <p:cNvSpPr/>
          <p:nvPr/>
        </p:nvSpPr>
        <p:spPr>
          <a:xfrm>
            <a:off x="5419725" y="2978660"/>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ASEAN</a:t>
            </a:r>
          </a:p>
        </p:txBody>
      </p:sp>
      <p:sp>
        <p:nvSpPr>
          <p:cNvPr id="64" name="Rounded Rectangle 63"/>
          <p:cNvSpPr/>
          <p:nvPr/>
        </p:nvSpPr>
        <p:spPr>
          <a:xfrm>
            <a:off x="5419725" y="3489764"/>
            <a:ext cx="1466850" cy="474596"/>
          </a:xfrm>
          <a:prstGeom prst="roundRect">
            <a:avLst>
              <a:gd name="adj" fmla="val 13461"/>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Australia &amp; New Zealand</a:t>
            </a:r>
          </a:p>
        </p:txBody>
      </p:sp>
      <p:sp>
        <p:nvSpPr>
          <p:cNvPr id="65" name="Rounded Rectangle 64"/>
          <p:cNvSpPr/>
          <p:nvPr/>
        </p:nvSpPr>
        <p:spPr>
          <a:xfrm>
            <a:off x="5419725" y="4183405"/>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Rest of South Asia</a:t>
            </a:r>
          </a:p>
        </p:txBody>
      </p:sp>
      <p:sp>
        <p:nvSpPr>
          <p:cNvPr id="66" name="Rounded Rectangle 65"/>
          <p:cNvSpPr/>
          <p:nvPr/>
        </p:nvSpPr>
        <p:spPr>
          <a:xfrm>
            <a:off x="7010400" y="2011214"/>
            <a:ext cx="1600200" cy="282932"/>
          </a:xfrm>
          <a:prstGeom prst="roundRect">
            <a:avLst>
              <a:gd name="adj" fmla="val 22580"/>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Western Europe</a:t>
            </a:r>
          </a:p>
        </p:txBody>
      </p:sp>
      <p:sp>
        <p:nvSpPr>
          <p:cNvPr id="67" name="Rounded Rectangle 66"/>
          <p:cNvSpPr/>
          <p:nvPr/>
        </p:nvSpPr>
        <p:spPr>
          <a:xfrm>
            <a:off x="7143750" y="2458430"/>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Germany</a:t>
            </a:r>
          </a:p>
        </p:txBody>
      </p:sp>
      <p:sp>
        <p:nvSpPr>
          <p:cNvPr id="68" name="Rounded Rectangle 67"/>
          <p:cNvSpPr/>
          <p:nvPr/>
        </p:nvSpPr>
        <p:spPr>
          <a:xfrm>
            <a:off x="7143750" y="2978660"/>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Italy</a:t>
            </a:r>
          </a:p>
        </p:txBody>
      </p:sp>
      <p:sp>
        <p:nvSpPr>
          <p:cNvPr id="69" name="Rounded Rectangle 68"/>
          <p:cNvSpPr/>
          <p:nvPr/>
        </p:nvSpPr>
        <p:spPr>
          <a:xfrm>
            <a:off x="7143750" y="3508018"/>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France</a:t>
            </a:r>
          </a:p>
        </p:txBody>
      </p:sp>
      <p:sp>
        <p:nvSpPr>
          <p:cNvPr id="70" name="Rounded Rectangle 69"/>
          <p:cNvSpPr/>
          <p:nvPr/>
        </p:nvSpPr>
        <p:spPr>
          <a:xfrm>
            <a:off x="7143750" y="4028248"/>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U.K.</a:t>
            </a:r>
          </a:p>
        </p:txBody>
      </p:sp>
      <p:sp>
        <p:nvSpPr>
          <p:cNvPr id="71" name="Rounded Rectangle 70"/>
          <p:cNvSpPr/>
          <p:nvPr/>
        </p:nvSpPr>
        <p:spPr>
          <a:xfrm>
            <a:off x="7143750" y="4548478"/>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Spain</a:t>
            </a:r>
          </a:p>
        </p:txBody>
      </p:sp>
      <p:sp>
        <p:nvSpPr>
          <p:cNvPr id="72" name="Rounded Rectangle 71"/>
          <p:cNvSpPr/>
          <p:nvPr/>
        </p:nvSpPr>
        <p:spPr>
          <a:xfrm>
            <a:off x="7143750" y="5068709"/>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BENELUX</a:t>
            </a:r>
          </a:p>
        </p:txBody>
      </p:sp>
      <p:sp>
        <p:nvSpPr>
          <p:cNvPr id="73" name="Rounded Rectangle 72"/>
          <p:cNvSpPr/>
          <p:nvPr/>
        </p:nvSpPr>
        <p:spPr>
          <a:xfrm>
            <a:off x="7143750" y="5598066"/>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Nordic Countries</a:t>
            </a:r>
          </a:p>
        </p:txBody>
      </p:sp>
      <p:sp>
        <p:nvSpPr>
          <p:cNvPr id="74" name="Rounded Rectangle 73"/>
          <p:cNvSpPr/>
          <p:nvPr/>
        </p:nvSpPr>
        <p:spPr>
          <a:xfrm>
            <a:off x="7143750" y="6118296"/>
            <a:ext cx="1466850" cy="474596"/>
          </a:xfrm>
          <a:prstGeom prst="roundRect">
            <a:avLst>
              <a:gd name="adj" fmla="val 13461"/>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Rest of Western Europe</a:t>
            </a:r>
          </a:p>
        </p:txBody>
      </p:sp>
      <p:sp>
        <p:nvSpPr>
          <p:cNvPr id="75" name="Rounded Rectangle 74"/>
          <p:cNvSpPr/>
          <p:nvPr/>
        </p:nvSpPr>
        <p:spPr>
          <a:xfrm>
            <a:off x="8724900" y="2011214"/>
            <a:ext cx="1600200" cy="282932"/>
          </a:xfrm>
          <a:prstGeom prst="roundRect">
            <a:avLst>
              <a:gd name="adj" fmla="val 22580"/>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Eastern Europe</a:t>
            </a:r>
          </a:p>
        </p:txBody>
      </p:sp>
      <p:sp>
        <p:nvSpPr>
          <p:cNvPr id="76" name="Rounded Rectangle 75"/>
          <p:cNvSpPr/>
          <p:nvPr/>
        </p:nvSpPr>
        <p:spPr>
          <a:xfrm>
            <a:off x="8858250" y="2458430"/>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Russia</a:t>
            </a:r>
          </a:p>
        </p:txBody>
      </p:sp>
      <p:sp>
        <p:nvSpPr>
          <p:cNvPr id="77" name="Rounded Rectangle 76"/>
          <p:cNvSpPr/>
          <p:nvPr/>
        </p:nvSpPr>
        <p:spPr>
          <a:xfrm>
            <a:off x="8858250" y="2978660"/>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Hungary</a:t>
            </a:r>
          </a:p>
        </p:txBody>
      </p:sp>
      <p:sp>
        <p:nvSpPr>
          <p:cNvPr id="78" name="Rounded Rectangle 77"/>
          <p:cNvSpPr/>
          <p:nvPr/>
        </p:nvSpPr>
        <p:spPr>
          <a:xfrm>
            <a:off x="8858250" y="3489764"/>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Poland</a:t>
            </a:r>
          </a:p>
        </p:txBody>
      </p:sp>
      <p:sp>
        <p:nvSpPr>
          <p:cNvPr id="79" name="Rounded Rectangle 78"/>
          <p:cNvSpPr/>
          <p:nvPr/>
        </p:nvSpPr>
        <p:spPr>
          <a:xfrm>
            <a:off x="8858250" y="4009994"/>
            <a:ext cx="1466850" cy="474596"/>
          </a:xfrm>
          <a:prstGeom prst="roundRect">
            <a:avLst>
              <a:gd name="adj" fmla="val 13461"/>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Balkan &amp; Baltic Countries</a:t>
            </a:r>
          </a:p>
        </p:txBody>
      </p:sp>
      <p:sp>
        <p:nvSpPr>
          <p:cNvPr id="80" name="Rounded Rectangle 79"/>
          <p:cNvSpPr/>
          <p:nvPr/>
        </p:nvSpPr>
        <p:spPr>
          <a:xfrm>
            <a:off x="8858250" y="4703635"/>
            <a:ext cx="1466850" cy="474596"/>
          </a:xfrm>
          <a:prstGeom prst="roundRect">
            <a:avLst>
              <a:gd name="adj" fmla="val 13461"/>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Rest of Eastern Europe</a:t>
            </a:r>
          </a:p>
        </p:txBody>
      </p:sp>
      <p:sp>
        <p:nvSpPr>
          <p:cNvPr id="81" name="Rounded Rectangle 80"/>
          <p:cNvSpPr/>
          <p:nvPr/>
        </p:nvSpPr>
        <p:spPr>
          <a:xfrm>
            <a:off x="10439400" y="2011214"/>
            <a:ext cx="1600200" cy="282932"/>
          </a:xfrm>
          <a:prstGeom prst="roundRect">
            <a:avLst>
              <a:gd name="adj" fmla="val 22580"/>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Middle East &amp; Africa</a:t>
            </a:r>
          </a:p>
        </p:txBody>
      </p:sp>
      <p:sp>
        <p:nvSpPr>
          <p:cNvPr id="82" name="Rounded Rectangle 81"/>
          <p:cNvSpPr/>
          <p:nvPr/>
        </p:nvSpPr>
        <p:spPr>
          <a:xfrm>
            <a:off x="10572750" y="2458430"/>
            <a:ext cx="1466850" cy="474596"/>
          </a:xfrm>
          <a:prstGeom prst="roundRect">
            <a:avLst>
              <a:gd name="adj" fmla="val 13461"/>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Kingdom of Saudi Arabia</a:t>
            </a:r>
          </a:p>
        </p:txBody>
      </p:sp>
      <p:sp>
        <p:nvSpPr>
          <p:cNvPr id="83" name="Rounded Rectangle 82"/>
          <p:cNvSpPr/>
          <p:nvPr/>
        </p:nvSpPr>
        <p:spPr>
          <a:xfrm>
            <a:off x="10572750" y="3152071"/>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Other GCC Countries</a:t>
            </a:r>
          </a:p>
        </p:txBody>
      </p:sp>
      <p:sp>
        <p:nvSpPr>
          <p:cNvPr id="84" name="Rounded Rectangle 83"/>
          <p:cNvSpPr/>
          <p:nvPr/>
        </p:nvSpPr>
        <p:spPr>
          <a:xfrm>
            <a:off x="10572750" y="3681428"/>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Turkiye</a:t>
            </a:r>
          </a:p>
        </p:txBody>
      </p:sp>
      <p:sp>
        <p:nvSpPr>
          <p:cNvPr id="85" name="Rounded Rectangle 84"/>
          <p:cNvSpPr/>
          <p:nvPr/>
        </p:nvSpPr>
        <p:spPr>
          <a:xfrm>
            <a:off x="10572750" y="4201658"/>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South Africa</a:t>
            </a:r>
          </a:p>
        </p:txBody>
      </p:sp>
      <p:sp>
        <p:nvSpPr>
          <p:cNvPr id="86" name="Rounded Rectangle 85"/>
          <p:cNvSpPr/>
          <p:nvPr/>
        </p:nvSpPr>
        <p:spPr>
          <a:xfrm>
            <a:off x="10572750" y="4731015"/>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Other African Union</a:t>
            </a:r>
          </a:p>
        </p:txBody>
      </p:sp>
      <p:sp>
        <p:nvSpPr>
          <p:cNvPr id="87" name="Rounded Rectangle 86"/>
          <p:cNvSpPr/>
          <p:nvPr/>
        </p:nvSpPr>
        <p:spPr>
          <a:xfrm>
            <a:off x="10572750" y="5251246"/>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Rest of MEA</a:t>
            </a:r>
          </a:p>
        </p:txBody>
      </p:sp>
      <p:sp>
        <p:nvSpPr>
          <p:cNvPr id="88" name="Rectangle 8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Segments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Segmentation framework of the study: 5 axes and the sub-segments sized under each</a:t>
            </a:r>
          </a:p>
        </p:txBody>
      </p:sp>
      <p:sp>
        <p:nvSpPr>
          <p:cNvPr id="7" name="Rectangle 6"/>
          <p:cNvSpPr/>
          <p:nvPr/>
        </p:nvSpPr>
        <p:spPr>
          <a:xfrm>
            <a:off x="142875" y="1028700"/>
            <a:ext cx="2876550" cy="12915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2875" y="1028700"/>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Technology</a:t>
            </a:r>
          </a:p>
        </p:txBody>
      </p:sp>
      <p:sp>
        <p:nvSpPr>
          <p:cNvPr id="10" name="TextBox 9"/>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 name="TextBox 10"/>
          <p:cNvSpPr txBox="1"/>
          <p:nvPr/>
        </p:nvSpPr>
        <p:spPr>
          <a:xfrm>
            <a:off x="3905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Rotary Screw Air Compressor</a:t>
            </a:r>
          </a:p>
        </p:txBody>
      </p:sp>
      <p:cxnSp>
        <p:nvCxnSpPr>
          <p:cNvPr id="12" name="Connector 11"/>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000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 name="TextBox 13"/>
          <p:cNvSpPr txBox="1"/>
          <p:nvPr/>
        </p:nvSpPr>
        <p:spPr>
          <a:xfrm>
            <a:off x="3905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Reciprocating (Piston) Air Compressor</a:t>
            </a:r>
          </a:p>
        </p:txBody>
      </p:sp>
      <p:cxnSp>
        <p:nvCxnSpPr>
          <p:cNvPr id="15" name="Connector 14"/>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000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 name="TextBox 16"/>
          <p:cNvSpPr txBox="1"/>
          <p:nvPr/>
        </p:nvSpPr>
        <p:spPr>
          <a:xfrm>
            <a:off x="3905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Centrifugal Air Compressor</a:t>
            </a:r>
          </a:p>
        </p:txBody>
      </p:sp>
      <p:cxnSp>
        <p:nvCxnSpPr>
          <p:cNvPr id="18" name="Connector 17"/>
          <p:cNvCxnSpPr/>
          <p:nvPr/>
        </p:nvCxnSpPr>
        <p:spPr>
          <a:xfrm>
            <a:off x="1524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000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 name="TextBox 19"/>
          <p:cNvSpPr txBox="1"/>
          <p:nvPr/>
        </p:nvSpPr>
        <p:spPr>
          <a:xfrm>
            <a:off x="3905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Axial Air Compressor</a:t>
            </a:r>
          </a:p>
        </p:txBody>
      </p:sp>
      <p:cxnSp>
        <p:nvCxnSpPr>
          <p:cNvPr id="21" name="Connector 20"/>
          <p:cNvCxnSpPr/>
          <p:nvPr/>
        </p:nvCxnSpPr>
        <p:spPr>
          <a:xfrm>
            <a:off x="1524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000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390525" y="19659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Rotary Vane Air Compressor</a:t>
            </a:r>
          </a:p>
        </p:txBody>
      </p:sp>
      <p:cxnSp>
        <p:nvCxnSpPr>
          <p:cNvPr id="24" name="Connector 23"/>
          <p:cNvCxnSpPr/>
          <p:nvPr/>
        </p:nvCxnSpPr>
        <p:spPr>
          <a:xfrm>
            <a:off x="1524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000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390525" y="21431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Scroll Air Compressor</a:t>
            </a:r>
          </a:p>
        </p:txBody>
      </p:sp>
      <p:sp>
        <p:nvSpPr>
          <p:cNvPr id="27" name="Rectangle 26"/>
          <p:cNvSpPr/>
          <p:nvPr/>
        </p:nvSpPr>
        <p:spPr>
          <a:xfrm>
            <a:off x="3152775" y="1028700"/>
            <a:ext cx="2876550" cy="12915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152775" y="1028700"/>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289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Capacity</a:t>
            </a:r>
          </a:p>
        </p:txBody>
      </p:sp>
      <p:sp>
        <p:nvSpPr>
          <p:cNvPr id="30" name="TextBox 29"/>
          <p:cNvSpPr txBox="1"/>
          <p:nvPr/>
        </p:nvSpPr>
        <p:spPr>
          <a:xfrm>
            <a:off x="32099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1" name="TextBox 30"/>
          <p:cNvSpPr txBox="1"/>
          <p:nvPr/>
        </p:nvSpPr>
        <p:spPr>
          <a:xfrm>
            <a:off x="34004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Up to 500 HP</a:t>
            </a:r>
          </a:p>
        </p:txBody>
      </p:sp>
      <p:cxnSp>
        <p:nvCxnSpPr>
          <p:cNvPr id="32" name="Connector 31"/>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2099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4" name="TextBox 33"/>
          <p:cNvSpPr txBox="1"/>
          <p:nvPr/>
        </p:nvSpPr>
        <p:spPr>
          <a:xfrm>
            <a:off x="34004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Above 500 to 2,000 HP</a:t>
            </a:r>
          </a:p>
        </p:txBody>
      </p:sp>
      <p:cxnSp>
        <p:nvCxnSpPr>
          <p:cNvPr id="35" name="Connector 34"/>
          <p:cNvCxnSpPr/>
          <p:nvPr/>
        </p:nvCxnSpPr>
        <p:spPr>
          <a:xfrm>
            <a:off x="31623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2099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 name="TextBox 36"/>
          <p:cNvSpPr txBox="1"/>
          <p:nvPr/>
        </p:nvSpPr>
        <p:spPr>
          <a:xfrm>
            <a:off x="34004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Above 2,000 to 5,000 HP</a:t>
            </a:r>
          </a:p>
        </p:txBody>
      </p:sp>
      <p:cxnSp>
        <p:nvCxnSpPr>
          <p:cNvPr id="38" name="Connector 37"/>
          <p:cNvCxnSpPr/>
          <p:nvPr/>
        </p:nvCxnSpPr>
        <p:spPr>
          <a:xfrm>
            <a:off x="31623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2099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0" name="TextBox 39"/>
          <p:cNvSpPr txBox="1"/>
          <p:nvPr/>
        </p:nvSpPr>
        <p:spPr>
          <a:xfrm>
            <a:off x="34004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Above 5,000 to 12,000 HP</a:t>
            </a:r>
          </a:p>
        </p:txBody>
      </p:sp>
      <p:cxnSp>
        <p:nvCxnSpPr>
          <p:cNvPr id="41" name="Connector 40"/>
          <p:cNvCxnSpPr/>
          <p:nvPr/>
        </p:nvCxnSpPr>
        <p:spPr>
          <a:xfrm>
            <a:off x="31623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2099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3" name="TextBox 42"/>
          <p:cNvSpPr txBox="1"/>
          <p:nvPr/>
        </p:nvSpPr>
        <p:spPr>
          <a:xfrm>
            <a:off x="3400425" y="19659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Above 12,000 to 20,000 HP</a:t>
            </a:r>
          </a:p>
        </p:txBody>
      </p:sp>
      <p:cxnSp>
        <p:nvCxnSpPr>
          <p:cNvPr id="44" name="Connector 43"/>
          <p:cNvCxnSpPr/>
          <p:nvPr/>
        </p:nvCxnSpPr>
        <p:spPr>
          <a:xfrm>
            <a:off x="31623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2099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6" name="TextBox 45"/>
          <p:cNvSpPr txBox="1"/>
          <p:nvPr/>
        </p:nvSpPr>
        <p:spPr>
          <a:xfrm>
            <a:off x="3400425" y="21431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Above 20,000 HP</a:t>
            </a:r>
          </a:p>
        </p:txBody>
      </p:sp>
      <p:sp>
        <p:nvSpPr>
          <p:cNvPr id="47" name="Rectangle 46"/>
          <p:cNvSpPr/>
          <p:nvPr/>
        </p:nvSpPr>
        <p:spPr>
          <a:xfrm>
            <a:off x="6162675" y="1028700"/>
            <a:ext cx="2876550" cy="76009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62675" y="1028700"/>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Compression Stage</a:t>
            </a:r>
          </a:p>
        </p:txBody>
      </p:sp>
      <p:sp>
        <p:nvSpPr>
          <p:cNvPr id="50" name="TextBox 49"/>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1" name="TextBox 50"/>
          <p:cNvSpPr txBox="1"/>
          <p:nvPr/>
        </p:nvSpPr>
        <p:spPr>
          <a:xfrm>
            <a:off x="64103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Single-Stage</a:t>
            </a:r>
          </a:p>
        </p:txBody>
      </p:sp>
      <p:cxnSp>
        <p:nvCxnSpPr>
          <p:cNvPr id="52" name="Connector 51"/>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2198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4" name="TextBox 53"/>
          <p:cNvSpPr txBox="1"/>
          <p:nvPr/>
        </p:nvSpPr>
        <p:spPr>
          <a:xfrm>
            <a:off x="64103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Two-Stage</a:t>
            </a:r>
          </a:p>
        </p:txBody>
      </p:sp>
      <p:cxnSp>
        <p:nvCxnSpPr>
          <p:cNvPr id="55" name="Connector 54"/>
          <p:cNvCxnSpPr/>
          <p:nvPr/>
        </p:nvCxnSpPr>
        <p:spPr>
          <a:xfrm>
            <a:off x="61722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2198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7" name="TextBox 56"/>
          <p:cNvSpPr txBox="1"/>
          <p:nvPr/>
        </p:nvSpPr>
        <p:spPr>
          <a:xfrm>
            <a:off x="64103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Multistage</a:t>
            </a:r>
          </a:p>
        </p:txBody>
      </p:sp>
      <p:sp>
        <p:nvSpPr>
          <p:cNvPr id="58" name="Rectangle 57"/>
          <p:cNvSpPr/>
          <p:nvPr/>
        </p:nvSpPr>
        <p:spPr>
          <a:xfrm>
            <a:off x="6162675" y="1903095"/>
            <a:ext cx="2876550" cy="12915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162675" y="1903095"/>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38875" y="1903095"/>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Driver Type</a:t>
            </a:r>
          </a:p>
        </p:txBody>
      </p:sp>
      <p:sp>
        <p:nvSpPr>
          <p:cNvPr id="61" name="TextBox 60"/>
          <p:cNvSpPr txBox="1"/>
          <p:nvPr/>
        </p:nvSpPr>
        <p:spPr>
          <a:xfrm>
            <a:off x="6219825" y="21316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2" name="TextBox 61"/>
          <p:cNvSpPr txBox="1"/>
          <p:nvPr/>
        </p:nvSpPr>
        <p:spPr>
          <a:xfrm>
            <a:off x="6410325" y="21316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Electric Motor-Driven</a:t>
            </a:r>
          </a:p>
        </p:txBody>
      </p:sp>
      <p:cxnSp>
        <p:nvCxnSpPr>
          <p:cNvPr id="63" name="Connector 62"/>
          <p:cNvCxnSpPr/>
          <p:nvPr/>
        </p:nvCxnSpPr>
        <p:spPr>
          <a:xfrm>
            <a:off x="6172200" y="23088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6219825" y="23088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5" name="TextBox 64"/>
          <p:cNvSpPr txBox="1"/>
          <p:nvPr/>
        </p:nvSpPr>
        <p:spPr>
          <a:xfrm>
            <a:off x="6410325" y="23088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Natural Gas Engine-Driven</a:t>
            </a:r>
          </a:p>
        </p:txBody>
      </p:sp>
      <p:cxnSp>
        <p:nvCxnSpPr>
          <p:cNvPr id="66" name="Connector 65"/>
          <p:cNvCxnSpPr/>
          <p:nvPr/>
        </p:nvCxnSpPr>
        <p:spPr>
          <a:xfrm>
            <a:off x="6172200" y="24860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219825" y="24860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6410325" y="24860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Diesel Engine-Driven</a:t>
            </a:r>
          </a:p>
        </p:txBody>
      </p:sp>
      <p:cxnSp>
        <p:nvCxnSpPr>
          <p:cNvPr id="69" name="Connector 68"/>
          <p:cNvCxnSpPr/>
          <p:nvPr/>
        </p:nvCxnSpPr>
        <p:spPr>
          <a:xfrm>
            <a:off x="6172200" y="26631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6219825" y="26631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6410325" y="266319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Steam Turbine-Driven</a:t>
            </a:r>
          </a:p>
        </p:txBody>
      </p:sp>
      <p:cxnSp>
        <p:nvCxnSpPr>
          <p:cNvPr id="72" name="Connector 71"/>
          <p:cNvCxnSpPr/>
          <p:nvPr/>
        </p:nvCxnSpPr>
        <p:spPr>
          <a:xfrm>
            <a:off x="6172200" y="28403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219825" y="28403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4" name="TextBox 73"/>
          <p:cNvSpPr txBox="1"/>
          <p:nvPr/>
        </p:nvSpPr>
        <p:spPr>
          <a:xfrm>
            <a:off x="6410325" y="284035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Gas Turbine-Driven</a:t>
            </a:r>
          </a:p>
        </p:txBody>
      </p:sp>
      <p:cxnSp>
        <p:nvCxnSpPr>
          <p:cNvPr id="75" name="Connector 74"/>
          <p:cNvCxnSpPr/>
          <p:nvPr/>
        </p:nvCxnSpPr>
        <p:spPr>
          <a:xfrm>
            <a:off x="6172200" y="30175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219825" y="30175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7" name="TextBox 76"/>
          <p:cNvSpPr txBox="1"/>
          <p:nvPr/>
        </p:nvSpPr>
        <p:spPr>
          <a:xfrm>
            <a:off x="6410325" y="301752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Drive Types</a:t>
            </a:r>
          </a:p>
        </p:txBody>
      </p:sp>
      <p:sp>
        <p:nvSpPr>
          <p:cNvPr id="78" name="Rectangle 77"/>
          <p:cNvSpPr/>
          <p:nvPr/>
        </p:nvSpPr>
        <p:spPr>
          <a:xfrm>
            <a:off x="9172575" y="1028700"/>
            <a:ext cx="2876550" cy="146875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9172575" y="1028700"/>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2487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End Use</a:t>
            </a:r>
          </a:p>
        </p:txBody>
      </p:sp>
      <p:sp>
        <p:nvSpPr>
          <p:cNvPr id="81" name="TextBox 80"/>
          <p:cNvSpPr txBox="1"/>
          <p:nvPr/>
        </p:nvSpPr>
        <p:spPr>
          <a:xfrm>
            <a:off x="92297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2" name="TextBox 81"/>
          <p:cNvSpPr txBox="1"/>
          <p:nvPr/>
        </p:nvSpPr>
        <p:spPr>
          <a:xfrm>
            <a:off x="94202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Automotive and Transportation</a:t>
            </a:r>
          </a:p>
        </p:txBody>
      </p:sp>
      <p:cxnSp>
        <p:nvCxnSpPr>
          <p:cNvPr id="83" name="Connector 82"/>
          <p:cNvCxnSpPr/>
          <p:nvPr/>
        </p:nvCxnSpPr>
        <p:spPr>
          <a:xfrm>
            <a:off x="91821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92297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5" name="TextBox 84"/>
          <p:cNvSpPr txBox="1"/>
          <p:nvPr/>
        </p:nvSpPr>
        <p:spPr>
          <a:xfrm>
            <a:off x="94202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Oil and Gas</a:t>
            </a:r>
          </a:p>
        </p:txBody>
      </p:sp>
      <p:cxnSp>
        <p:nvCxnSpPr>
          <p:cNvPr id="86" name="Connector 85"/>
          <p:cNvCxnSpPr/>
          <p:nvPr/>
        </p:nvCxnSpPr>
        <p:spPr>
          <a:xfrm>
            <a:off x="91821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92297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8" name="TextBox 87"/>
          <p:cNvSpPr txBox="1"/>
          <p:nvPr/>
        </p:nvSpPr>
        <p:spPr>
          <a:xfrm>
            <a:off x="94202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Food and Beverages</a:t>
            </a:r>
          </a:p>
        </p:txBody>
      </p:sp>
      <p:cxnSp>
        <p:nvCxnSpPr>
          <p:cNvPr id="89" name="Connector 88"/>
          <p:cNvCxnSpPr/>
          <p:nvPr/>
        </p:nvCxnSpPr>
        <p:spPr>
          <a:xfrm>
            <a:off x="91821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92297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1" name="TextBox 90"/>
          <p:cNvSpPr txBox="1"/>
          <p:nvPr/>
        </p:nvSpPr>
        <p:spPr>
          <a:xfrm>
            <a:off x="94202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Pharmaceuticals</a:t>
            </a:r>
          </a:p>
        </p:txBody>
      </p:sp>
      <p:cxnSp>
        <p:nvCxnSpPr>
          <p:cNvPr id="92" name="Connector 91"/>
          <p:cNvCxnSpPr/>
          <p:nvPr/>
        </p:nvCxnSpPr>
        <p:spPr>
          <a:xfrm>
            <a:off x="91821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92297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4" name="TextBox 93"/>
          <p:cNvSpPr txBox="1"/>
          <p:nvPr/>
        </p:nvSpPr>
        <p:spPr>
          <a:xfrm>
            <a:off x="9420225" y="19659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Mining and Metals</a:t>
            </a:r>
          </a:p>
        </p:txBody>
      </p:sp>
      <p:cxnSp>
        <p:nvCxnSpPr>
          <p:cNvPr id="95" name="Connector 94"/>
          <p:cNvCxnSpPr/>
          <p:nvPr/>
        </p:nvCxnSpPr>
        <p:spPr>
          <a:xfrm>
            <a:off x="91821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92297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7" name="TextBox 96"/>
          <p:cNvSpPr txBox="1"/>
          <p:nvPr/>
        </p:nvSpPr>
        <p:spPr>
          <a:xfrm>
            <a:off x="9420225" y="21431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Industrial Air Separation</a:t>
            </a:r>
          </a:p>
        </p:txBody>
      </p:sp>
      <p:cxnSp>
        <p:nvCxnSpPr>
          <p:cNvPr id="98" name="Connector 97"/>
          <p:cNvCxnSpPr/>
          <p:nvPr/>
        </p:nvCxnSpPr>
        <p:spPr>
          <a:xfrm>
            <a:off x="91821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922972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0" name="TextBox 99"/>
          <p:cNvSpPr txBox="1"/>
          <p:nvPr/>
        </p:nvSpPr>
        <p:spPr>
          <a:xfrm>
            <a:off x="9420225" y="232029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Manufacturing</a:t>
            </a:r>
          </a:p>
        </p:txBody>
      </p:sp>
      <p:sp>
        <p:nvSpPr>
          <p:cNvPr id="101" name="Rectangle 10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Company Coverage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Companies profiled and benchmarked across the competition assessment</a:t>
            </a:r>
          </a:p>
        </p:txBody>
      </p:sp>
      <p:sp>
        <p:nvSpPr>
          <p:cNvPr id="7" name="TextBox 6"/>
          <p:cNvSpPr txBox="1"/>
          <p:nvPr/>
        </p:nvSpPr>
        <p:spPr>
          <a:xfrm>
            <a:off x="142875" y="1007261"/>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Companies covered in this study of the Industrial Air Compressor Market profiled and benchmarked in the Competition Assessment section.</a:t>
            </a:r>
          </a:p>
        </p:txBody>
      </p:sp>
      <p:sp>
        <p:nvSpPr>
          <p:cNvPr id="8" name="Rectangle 7"/>
          <p:cNvSpPr/>
          <p:nvPr/>
        </p:nvSpPr>
        <p:spPr>
          <a:xfrm>
            <a:off x="142875" y="1846931"/>
            <a:ext cx="5857875" cy="407057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2875" y="1846931"/>
            <a:ext cx="5857875" cy="273805"/>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2875" y="1910819"/>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11" name="TextBox 10"/>
          <p:cNvSpPr txBox="1"/>
          <p:nvPr/>
        </p:nvSpPr>
        <p:spPr>
          <a:xfrm>
            <a:off x="333375" y="212073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2" name="TextBox 11"/>
          <p:cNvSpPr txBox="1"/>
          <p:nvPr/>
        </p:nvSpPr>
        <p:spPr>
          <a:xfrm>
            <a:off x="581025" y="212073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Atlas Copco</a:t>
            </a:r>
          </a:p>
        </p:txBody>
      </p:sp>
      <p:sp>
        <p:nvSpPr>
          <p:cNvPr id="13" name="Rectangle 12"/>
          <p:cNvSpPr/>
          <p:nvPr/>
        </p:nvSpPr>
        <p:spPr>
          <a:xfrm>
            <a:off x="152400" y="2595333"/>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52400" y="259533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33375" y="2595333"/>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6" name="TextBox 15"/>
          <p:cNvSpPr txBox="1"/>
          <p:nvPr/>
        </p:nvSpPr>
        <p:spPr>
          <a:xfrm>
            <a:off x="581025" y="2595333"/>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Ingersoll Rand</a:t>
            </a:r>
          </a:p>
        </p:txBody>
      </p:sp>
      <p:cxnSp>
        <p:nvCxnSpPr>
          <p:cNvPr id="17" name="Connector 16"/>
          <p:cNvCxnSpPr/>
          <p:nvPr/>
        </p:nvCxnSpPr>
        <p:spPr>
          <a:xfrm>
            <a:off x="152400" y="306992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3375" y="306992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9" name="TextBox 18"/>
          <p:cNvSpPr txBox="1"/>
          <p:nvPr/>
        </p:nvSpPr>
        <p:spPr>
          <a:xfrm>
            <a:off x="581025" y="306992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Hitachi</a:t>
            </a:r>
          </a:p>
        </p:txBody>
      </p:sp>
      <p:sp>
        <p:nvSpPr>
          <p:cNvPr id="20" name="Rectangle 19"/>
          <p:cNvSpPr/>
          <p:nvPr/>
        </p:nvSpPr>
        <p:spPr>
          <a:xfrm>
            <a:off x="152400" y="354452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152400" y="354452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33375" y="354452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3" name="TextBox 22"/>
          <p:cNvSpPr txBox="1"/>
          <p:nvPr/>
        </p:nvSpPr>
        <p:spPr>
          <a:xfrm>
            <a:off x="581025" y="354452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KAESER KOMPRESSOREN</a:t>
            </a:r>
          </a:p>
        </p:txBody>
      </p:sp>
      <p:cxnSp>
        <p:nvCxnSpPr>
          <p:cNvPr id="24" name="Connector 23"/>
          <p:cNvCxnSpPr/>
          <p:nvPr/>
        </p:nvCxnSpPr>
        <p:spPr>
          <a:xfrm>
            <a:off x="152400" y="401912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33375" y="401912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6" name="TextBox 25"/>
          <p:cNvSpPr txBox="1"/>
          <p:nvPr/>
        </p:nvSpPr>
        <p:spPr>
          <a:xfrm>
            <a:off x="581025" y="401912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Gardner Denver</a:t>
            </a:r>
          </a:p>
        </p:txBody>
      </p:sp>
      <p:sp>
        <p:nvSpPr>
          <p:cNvPr id="27" name="Rectangle 26"/>
          <p:cNvSpPr/>
          <p:nvPr/>
        </p:nvSpPr>
        <p:spPr>
          <a:xfrm>
            <a:off x="152400" y="4493717"/>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152400" y="449371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33375" y="449371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0" name="TextBox 29"/>
          <p:cNvSpPr txBox="1"/>
          <p:nvPr/>
        </p:nvSpPr>
        <p:spPr>
          <a:xfrm>
            <a:off x="581025" y="449371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ELGi Equipments</a:t>
            </a:r>
          </a:p>
        </p:txBody>
      </p:sp>
      <p:cxnSp>
        <p:nvCxnSpPr>
          <p:cNvPr id="31" name="Connector 30"/>
          <p:cNvCxnSpPr/>
          <p:nvPr/>
        </p:nvCxnSpPr>
        <p:spPr>
          <a:xfrm>
            <a:off x="152400" y="4968314"/>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33375" y="4968314"/>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3" name="TextBox 32"/>
          <p:cNvSpPr txBox="1"/>
          <p:nvPr/>
        </p:nvSpPr>
        <p:spPr>
          <a:xfrm>
            <a:off x="581025" y="4968314"/>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Kaishan Group</a:t>
            </a:r>
          </a:p>
        </p:txBody>
      </p:sp>
      <p:sp>
        <p:nvSpPr>
          <p:cNvPr id="34" name="Rectangle 33"/>
          <p:cNvSpPr/>
          <p:nvPr/>
        </p:nvSpPr>
        <p:spPr>
          <a:xfrm>
            <a:off x="152400" y="5442910"/>
            <a:ext cx="5838825" cy="46546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152400" y="544291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33375" y="5442910"/>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7" name="TextBox 36"/>
          <p:cNvSpPr txBox="1"/>
          <p:nvPr/>
        </p:nvSpPr>
        <p:spPr>
          <a:xfrm>
            <a:off x="581025" y="5442910"/>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BOGE KOMPRESSOREN</a:t>
            </a:r>
          </a:p>
        </p:txBody>
      </p:sp>
      <p:sp>
        <p:nvSpPr>
          <p:cNvPr id="38" name="Rectangle 37"/>
          <p:cNvSpPr/>
          <p:nvPr/>
        </p:nvSpPr>
        <p:spPr>
          <a:xfrm>
            <a:off x="6191250" y="1846931"/>
            <a:ext cx="5857875" cy="407057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91250" y="1846931"/>
            <a:ext cx="5857875" cy="273805"/>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91250" y="1910819"/>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41" name="TextBox 40"/>
          <p:cNvSpPr txBox="1"/>
          <p:nvPr/>
        </p:nvSpPr>
        <p:spPr>
          <a:xfrm>
            <a:off x="6381750" y="212073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2" name="TextBox 41"/>
          <p:cNvSpPr txBox="1"/>
          <p:nvPr/>
        </p:nvSpPr>
        <p:spPr>
          <a:xfrm>
            <a:off x="6629400" y="212073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ANEST IWATA</a:t>
            </a:r>
          </a:p>
        </p:txBody>
      </p:sp>
      <p:sp>
        <p:nvSpPr>
          <p:cNvPr id="43" name="Rectangle 42"/>
          <p:cNvSpPr/>
          <p:nvPr/>
        </p:nvSpPr>
        <p:spPr>
          <a:xfrm>
            <a:off x="6200775" y="2595333"/>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6200775" y="259533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381750" y="2595333"/>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6" name="TextBox 45"/>
          <p:cNvSpPr txBox="1"/>
          <p:nvPr/>
        </p:nvSpPr>
        <p:spPr>
          <a:xfrm>
            <a:off x="6629400" y="2595333"/>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Quincy Compressor</a:t>
            </a:r>
          </a:p>
        </p:txBody>
      </p:sp>
      <p:cxnSp>
        <p:nvCxnSpPr>
          <p:cNvPr id="47" name="Connector 46"/>
          <p:cNvCxnSpPr/>
          <p:nvPr/>
        </p:nvCxnSpPr>
        <p:spPr>
          <a:xfrm>
            <a:off x="6200775" y="306992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381750" y="306992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9" name="TextBox 48"/>
          <p:cNvSpPr txBox="1"/>
          <p:nvPr/>
        </p:nvSpPr>
        <p:spPr>
          <a:xfrm>
            <a:off x="6629400" y="306992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CompAir</a:t>
            </a:r>
          </a:p>
        </p:txBody>
      </p:sp>
      <p:sp>
        <p:nvSpPr>
          <p:cNvPr id="50" name="Rectangle 49"/>
          <p:cNvSpPr/>
          <p:nvPr/>
        </p:nvSpPr>
        <p:spPr>
          <a:xfrm>
            <a:off x="6200775" y="354452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6200775" y="354452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381750" y="354452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3" name="TextBox 52"/>
          <p:cNvSpPr txBox="1"/>
          <p:nvPr/>
        </p:nvSpPr>
        <p:spPr>
          <a:xfrm>
            <a:off x="6629400" y="354452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Kobelco Compressors</a:t>
            </a:r>
          </a:p>
        </p:txBody>
      </p:sp>
      <p:cxnSp>
        <p:nvCxnSpPr>
          <p:cNvPr id="54" name="Connector 53"/>
          <p:cNvCxnSpPr/>
          <p:nvPr/>
        </p:nvCxnSpPr>
        <p:spPr>
          <a:xfrm>
            <a:off x="6200775" y="401912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381750" y="401912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6" name="TextBox 55"/>
          <p:cNvSpPr txBox="1"/>
          <p:nvPr/>
        </p:nvSpPr>
        <p:spPr>
          <a:xfrm>
            <a:off x="6629400" y="401912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Doosan Bobcat</a:t>
            </a:r>
          </a:p>
        </p:txBody>
      </p:sp>
      <p:sp>
        <p:nvSpPr>
          <p:cNvPr id="57" name="Rectangle 56"/>
          <p:cNvSpPr/>
          <p:nvPr/>
        </p:nvSpPr>
        <p:spPr>
          <a:xfrm>
            <a:off x="6200775" y="4493717"/>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6200775" y="449371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381750" y="449371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0" name="TextBox 59"/>
          <p:cNvSpPr txBox="1"/>
          <p:nvPr/>
        </p:nvSpPr>
        <p:spPr>
          <a:xfrm>
            <a:off x="6629400" y="449371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Sullair</a:t>
            </a:r>
          </a:p>
        </p:txBody>
      </p:sp>
      <p:cxnSp>
        <p:nvCxnSpPr>
          <p:cNvPr id="61" name="Connector 60"/>
          <p:cNvCxnSpPr/>
          <p:nvPr/>
        </p:nvCxnSpPr>
        <p:spPr>
          <a:xfrm>
            <a:off x="6200775" y="4968314"/>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381750" y="4968314"/>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3" name="TextBox 62"/>
          <p:cNvSpPr txBox="1"/>
          <p:nvPr/>
        </p:nvSpPr>
        <p:spPr>
          <a:xfrm>
            <a:off x="6629400" y="4968314"/>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Fu Sheng Industrial</a:t>
            </a:r>
          </a:p>
        </p:txBody>
      </p:sp>
      <p:sp>
        <p:nvSpPr>
          <p:cNvPr id="64" name="Rectangle 63"/>
          <p:cNvSpPr/>
          <p:nvPr/>
        </p:nvSpPr>
        <p:spPr>
          <a:xfrm>
            <a:off x="6200775" y="5442910"/>
            <a:ext cx="5838825" cy="46546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6200775" y="544291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42875" y="6337341"/>
            <a:ext cx="11906250" cy="182537"/>
          </a:xfrm>
          <a:prstGeom prst="rect">
            <a:avLst/>
          </a:prstGeom>
          <a:noFill/>
        </p:spPr>
        <p:txBody>
          <a:bodyPr wrap="square" lIns="28575" rIns="28575" tIns="9525" bIns="9525" anchor="ctr">
            <a:spAutoFit/>
          </a:bodyPr>
          <a:lstStyle/>
          <a:p>
            <a:pPr algn="l"/>
            <a:r>
              <a:rPr sz="1100" b="1">
                <a:solidFill>
                  <a:srgbClr val="B06A2C"/>
                </a:solidFill>
                <a:latin typeface="Calibri"/>
              </a:rPr>
              <a:t>Note: the list of companies is indicative and can be customised on request.</a:t>
            </a:r>
          </a:p>
        </p:txBody>
      </p:sp>
      <p:sp>
        <p:nvSpPr>
          <p:cNvPr id="67" name="Rectangle 6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E2A5C"/>
                </a:solidFill>
                <a:latin typeface="Calibri"/>
              </a:rPr>
              <a:t>Table of Contents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The full contents of this study, as delivered</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(1/10)</a:t>
            </a:r>
          </a:p>
        </p:txBody>
      </p:sp>
      <p:graphicFrame>
        <p:nvGraphicFramePr>
          <p:cNvPr id="6"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1.</a:t>
                      </a:r>
                      <a:r>
                        <a:rPr sz="700" b="1" i="0">
                          <a:solidFill>
                            <a:srgbClr val="000000"/>
                          </a:solidFill>
                          <a:latin typeface="Times New Roman"/>
                        </a:rPr>
                        <a:t>       </a:t>
                      </a:r>
                      <a:r>
                        <a:rPr sz="1100" b="1" i="0">
                          <a:solidFill>
                            <a:srgbClr val="000000"/>
                          </a:solidFill>
                          <a:latin typeface="Calibri"/>
                        </a:rPr>
                        <a:t>Executive Summary</a:t>
                      </a:r>
                      <a:endParaRPr sz="1100"/>
                    </a:p>
                  </a:txBody>
                  <a:tcPr marL="171450" marR="9525" marT="9525" marB="0" anchor="ctr"/>
                </a:tc>
              </a:tr>
              <a:tr h="175260">
                <a:tc>
                  <a:txBody>
                    <a:bodyPr wrap="square"/>
                    <a:lstStyle/>
                    <a:p>
                      <a:pPr algn="l"/>
                      <a:r>
                        <a:rPr sz="1100" b="0" i="0">
                          <a:solidFill>
                            <a:srgbClr val="0070C0"/>
                          </a:solidFill>
                          <a:latin typeface="Calibri"/>
                        </a:rPr>
                        <a:t>1.1.</a:t>
                      </a:r>
                      <a:r>
                        <a:rPr sz="700" b="0" i="0">
                          <a:solidFill>
                            <a:srgbClr val="0070C0"/>
                          </a:solidFill>
                          <a:latin typeface="Times New Roman"/>
                        </a:rPr>
                        <a:t>    </a:t>
                      </a:r>
                      <a:r>
                        <a:rPr sz="1100" b="0" i="0">
                          <a:solidFill>
                            <a:srgbClr val="0070C0"/>
                          </a:solidFill>
                          <a:latin typeface="Calibri"/>
                        </a:rPr>
                        <a:t>Global Market Outlook</a:t>
                      </a:r>
                      <a:endParaRPr sz="1100"/>
                    </a:p>
                  </a:txBody>
                  <a:tcPr marL="428625" marR="9525" marT="9525" marB="0" anchor="ctr"/>
                </a:tc>
              </a:tr>
              <a:tr h="175260">
                <a:tc>
                  <a:txBody>
                    <a:bodyPr wrap="square"/>
                    <a:lstStyle/>
                    <a:p>
                      <a:pPr algn="l"/>
                      <a:r>
                        <a:rPr sz="1100" b="0" i="0">
                          <a:solidFill>
                            <a:srgbClr val="0070C0"/>
                          </a:solidFill>
                          <a:latin typeface="Calibri"/>
                        </a:rPr>
                        <a:t>1.2.</a:t>
                      </a:r>
                      <a:r>
                        <a:rPr sz="700" b="0" i="0">
                          <a:solidFill>
                            <a:srgbClr val="0070C0"/>
                          </a:solidFill>
                          <a:latin typeface="Times New Roman"/>
                        </a:rPr>
                        <a:t>    </a:t>
                      </a:r>
                      <a:r>
                        <a:rPr sz="1100" b="0" i="0">
                          <a:solidFill>
                            <a:srgbClr val="0070C0"/>
                          </a:solidFill>
                          <a:latin typeface="Calibri"/>
                        </a:rPr>
                        <a:t>Demand Side Trends</a:t>
                      </a:r>
                      <a:endParaRPr sz="1100"/>
                    </a:p>
                  </a:txBody>
                  <a:tcPr marL="428625" marR="9525" marT="9525" marB="0" anchor="ctr"/>
                </a:tc>
              </a:tr>
              <a:tr h="175260">
                <a:tc>
                  <a:txBody>
                    <a:bodyPr wrap="square"/>
                    <a:lstStyle/>
                    <a:p>
                      <a:pPr algn="l"/>
                      <a:r>
                        <a:rPr sz="1100" b="0" i="0">
                          <a:solidFill>
                            <a:srgbClr val="0070C0"/>
                          </a:solidFill>
                          <a:latin typeface="Calibri"/>
                        </a:rPr>
                        <a:t>1.3.</a:t>
                      </a:r>
                      <a:r>
                        <a:rPr sz="700" b="0" i="0">
                          <a:solidFill>
                            <a:srgbClr val="0070C0"/>
                          </a:solidFill>
                          <a:latin typeface="Times New Roman"/>
                        </a:rPr>
                        <a:t>    </a:t>
                      </a:r>
                      <a:r>
                        <a:rPr sz="1100" b="0" i="0">
                          <a:solidFill>
                            <a:srgbClr val="0070C0"/>
                          </a:solidFill>
                          <a:latin typeface="Calibri"/>
                        </a:rPr>
                        <a:t>Supply Side Trends</a:t>
                      </a:r>
                      <a:endParaRPr sz="1100"/>
                    </a:p>
                  </a:txBody>
                  <a:tcPr marL="428625" marR="9525" marT="9525" marB="0" anchor="ctr"/>
                </a:tc>
              </a:tr>
              <a:tr h="175260">
                <a:tc>
                  <a:txBody>
                    <a:bodyPr wrap="square"/>
                    <a:lstStyle/>
                    <a:p>
                      <a:pPr algn="l"/>
                      <a:r>
                        <a:rPr sz="1100" b="0" i="0">
                          <a:solidFill>
                            <a:srgbClr val="0070C0"/>
                          </a:solidFill>
                          <a:latin typeface="Calibri"/>
                        </a:rPr>
                        <a:t>1.4.</a:t>
                      </a:r>
                      <a:r>
                        <a:rPr sz="700" b="0" i="0">
                          <a:solidFill>
                            <a:srgbClr val="0070C0"/>
                          </a:solidFill>
                          <a:latin typeface="Times New Roman"/>
                        </a:rPr>
                        <a:t>    </a:t>
                      </a:r>
                      <a:r>
                        <a:rPr sz="1100" b="0" i="0">
                          <a:solidFill>
                            <a:srgbClr val="0070C0"/>
                          </a:solidFill>
                          <a:latin typeface="Calibri"/>
                        </a:rPr>
                        <a:t>Technology Roadmap</a:t>
                      </a:r>
                      <a:endParaRPr sz="1100"/>
                    </a:p>
                  </a:txBody>
                  <a:tcPr marL="428625" marR="9525" marT="9525" marB="0" anchor="ctr"/>
                </a:tc>
              </a:tr>
              <a:tr h="175260">
                <a:tc>
                  <a:txBody>
                    <a:bodyPr wrap="square"/>
                    <a:lstStyle/>
                    <a:p>
                      <a:pPr algn="l"/>
                      <a:r>
                        <a:rPr sz="1100" b="0" i="0">
                          <a:solidFill>
                            <a:srgbClr val="0070C0"/>
                          </a:solidFill>
                          <a:latin typeface="Calibri"/>
                        </a:rPr>
                        <a:t>1.5.</a:t>
                      </a:r>
                      <a:r>
                        <a:rPr sz="700" b="0" i="0">
                          <a:solidFill>
                            <a:srgbClr val="0070C0"/>
                          </a:solidFill>
                          <a:latin typeface="Times New Roman"/>
                        </a:rPr>
                        <a:t>    </a:t>
                      </a:r>
                      <a:r>
                        <a:rPr sz="1100" b="0" i="0">
                          <a:solidFill>
                            <a:srgbClr val="0070C0"/>
                          </a:solidFill>
                          <a:latin typeface="Calibri"/>
                        </a:rPr>
                        <a:t>Analysis and Recommendations</a:t>
                      </a:r>
                      <a:endParaRPr sz="1100"/>
                    </a:p>
                  </a:txBody>
                  <a:tcPr marL="428625" marR="9525" marT="9525" marB="0" anchor="ctr"/>
                </a:tc>
              </a:tr>
              <a:tr h="175260">
                <a:tc>
                  <a:txBody>
                    <a:bodyPr wrap="square"/>
                    <a:lstStyle/>
                    <a:p>
                      <a:pPr algn="l"/>
                      <a:r>
                        <a:rPr sz="1100" b="1" i="0">
                          <a:solidFill>
                            <a:srgbClr val="000000"/>
                          </a:solidFill>
                          <a:latin typeface="Calibri"/>
                        </a:rPr>
                        <a:t>2.</a:t>
                      </a:r>
                      <a:r>
                        <a:rPr sz="700" b="1" i="0">
                          <a:solidFill>
                            <a:srgbClr val="000000"/>
                          </a:solidFill>
                          <a:latin typeface="Times New Roman"/>
                        </a:rPr>
                        <a:t>       </a:t>
                      </a:r>
                      <a:r>
                        <a:rPr sz="1100" b="1" i="0">
                          <a:solidFill>
                            <a:srgbClr val="000000"/>
                          </a:solidFill>
                          <a:latin typeface="Calibri"/>
                        </a:rPr>
                        <a:t>Market Overview</a:t>
                      </a:r>
                      <a:endParaRPr sz="1100"/>
                    </a:p>
                  </a:txBody>
                  <a:tcPr marL="171450" marR="9525" marT="9525" marB="0" anchor="ctr"/>
                </a:tc>
              </a:tr>
              <a:tr h="175260">
                <a:tc>
                  <a:txBody>
                    <a:bodyPr wrap="square"/>
                    <a:lstStyle/>
                    <a:p>
                      <a:pPr algn="l"/>
                      <a:r>
                        <a:rPr sz="1100" b="0" i="0">
                          <a:solidFill>
                            <a:srgbClr val="0070C0"/>
                          </a:solidFill>
                          <a:latin typeface="Calibri"/>
                        </a:rPr>
                        <a:t>2.1.</a:t>
                      </a:r>
                      <a:r>
                        <a:rPr sz="700" b="0" i="0">
                          <a:solidFill>
                            <a:srgbClr val="0070C0"/>
                          </a:solidFill>
                          <a:latin typeface="Times New Roman"/>
                        </a:rPr>
                        <a:t>    </a:t>
                      </a:r>
                      <a:r>
                        <a:rPr sz="1100" b="0" i="0">
                          <a:solidFill>
                            <a:srgbClr val="0070C0"/>
                          </a:solidFill>
                          <a:latin typeface="Calibri"/>
                        </a:rPr>
                        <a:t>Market Coverage / Taxonomy</a:t>
                      </a:r>
                      <a:endParaRPr sz="1100"/>
                    </a:p>
                  </a:txBody>
                  <a:tcPr marL="428625" marR="9525" marT="9525" marB="0" anchor="ctr"/>
                </a:tc>
              </a:tr>
              <a:tr h="175260">
                <a:tc>
                  <a:txBody>
                    <a:bodyPr wrap="square"/>
                    <a:lstStyle/>
                    <a:p>
                      <a:pPr algn="l"/>
                      <a:r>
                        <a:rPr sz="1100" b="0" i="0">
                          <a:solidFill>
                            <a:srgbClr val="0070C0"/>
                          </a:solidFill>
                          <a:latin typeface="Calibri"/>
                        </a:rPr>
                        <a:t>2.2.</a:t>
                      </a:r>
                      <a:r>
                        <a:rPr sz="700" b="0" i="0">
                          <a:solidFill>
                            <a:srgbClr val="0070C0"/>
                          </a:solidFill>
                          <a:latin typeface="Times New Roman"/>
                        </a:rPr>
                        <a:t>    </a:t>
                      </a:r>
                      <a:r>
                        <a:rPr sz="1100" b="0" i="0">
                          <a:solidFill>
                            <a:srgbClr val="0070C0"/>
                          </a:solidFill>
                          <a:latin typeface="Calibri"/>
                        </a:rPr>
                        <a:t>Market Definition / Scope / Limitations</a:t>
                      </a:r>
                      <a:endParaRPr sz="1100"/>
                    </a:p>
                  </a:txBody>
                  <a:tcPr marL="428625" marR="9525" marT="9525" marB="0" anchor="ctr"/>
                </a:tc>
              </a:tr>
              <a:tr h="175260">
                <a:tc>
                  <a:txBody>
                    <a:bodyPr wrap="square"/>
                    <a:lstStyle/>
                    <a:p>
                      <a:pPr algn="l"/>
                      <a:r>
                        <a:rPr sz="1100" b="1" i="0">
                          <a:solidFill>
                            <a:srgbClr val="000000"/>
                          </a:solidFill>
                          <a:latin typeface="Calibri"/>
                        </a:rPr>
                        <a:t>3.</a:t>
                      </a:r>
                      <a:r>
                        <a:rPr sz="700" b="1" i="0">
                          <a:solidFill>
                            <a:srgbClr val="000000"/>
                          </a:solidFill>
                          <a:latin typeface="Times New Roman"/>
                        </a:rPr>
                        <a:t>       </a:t>
                      </a:r>
                      <a:r>
                        <a:rPr sz="1100" b="1" i="0">
                          <a:solidFill>
                            <a:srgbClr val="000000"/>
                          </a:solidFill>
                          <a:latin typeface="Calibri"/>
                        </a:rPr>
                        <a:t>Key Market Trends</a:t>
                      </a:r>
                      <a:endParaRPr sz="1100"/>
                    </a:p>
                  </a:txBody>
                  <a:tcPr marL="171450" marR="9525" marT="9525" marB="0" anchor="ctr"/>
                </a:tc>
              </a:tr>
              <a:tr h="175260">
                <a:tc>
                  <a:txBody>
                    <a:bodyPr wrap="square"/>
                    <a:lstStyle/>
                    <a:p>
                      <a:pPr algn="l"/>
                      <a:r>
                        <a:rPr sz="1100" b="0" i="0">
                          <a:solidFill>
                            <a:srgbClr val="0070C0"/>
                          </a:solidFill>
                          <a:latin typeface="Calibri"/>
                        </a:rPr>
                        <a:t>3.1.</a:t>
                      </a:r>
                      <a:r>
                        <a:rPr sz="700" b="0" i="0">
                          <a:solidFill>
                            <a:srgbClr val="0070C0"/>
                          </a:solidFill>
                          <a:latin typeface="Times New Roman"/>
                        </a:rPr>
                        <a:t>    </a:t>
                      </a:r>
                      <a:r>
                        <a:rPr sz="1100" b="0" i="0">
                          <a:solidFill>
                            <a:srgbClr val="0070C0"/>
                          </a:solidFill>
                          <a:latin typeface="Calibri"/>
                        </a:rPr>
                        <a:t>Key Trends Impacting the Market</a:t>
                      </a:r>
                      <a:endParaRPr sz="1100"/>
                    </a:p>
                  </a:txBody>
                  <a:tcPr marL="428625" marR="9525" marT="9525" marB="0" anchor="ctr"/>
                </a:tc>
              </a:tr>
              <a:tr h="175260">
                <a:tc>
                  <a:txBody>
                    <a:bodyPr wrap="square"/>
                    <a:lstStyle/>
                    <a:p>
                      <a:pPr algn="l"/>
                      <a:r>
                        <a:rPr sz="1100" b="0" i="0">
                          <a:solidFill>
                            <a:srgbClr val="0070C0"/>
                          </a:solidFill>
                          <a:latin typeface="Calibri"/>
                        </a:rPr>
                        <a:t>3.2.</a:t>
                      </a:r>
                      <a:r>
                        <a:rPr sz="700" b="0" i="0">
                          <a:solidFill>
                            <a:srgbClr val="0070C0"/>
                          </a:solidFill>
                          <a:latin typeface="Times New Roman"/>
                        </a:rPr>
                        <a:t>    </a:t>
                      </a:r>
                      <a:r>
                        <a:rPr sz="1100" b="0" i="0">
                          <a:solidFill>
                            <a:srgbClr val="0070C0"/>
                          </a:solidFill>
                          <a:latin typeface="Calibri"/>
                        </a:rPr>
                        <a:t>Product Innovation / Development Trends</a:t>
                      </a:r>
                      <a:endParaRPr sz="1100"/>
                    </a:p>
                  </a:txBody>
                  <a:tcPr marL="428625" marR="9525" marT="9525" marB="0" anchor="ctr"/>
                </a:tc>
              </a:tr>
              <a:tr h="175260">
                <a:tc>
                  <a:txBody>
                    <a:bodyPr wrap="square"/>
                    <a:lstStyle/>
                    <a:p>
                      <a:pPr algn="l"/>
                      <a:r>
                        <a:rPr sz="1100" b="1" i="0">
                          <a:solidFill>
                            <a:srgbClr val="000000"/>
                          </a:solidFill>
                          <a:latin typeface="Calibri"/>
                        </a:rPr>
                        <a:t>4.</a:t>
                      </a:r>
                      <a:r>
                        <a:rPr sz="700" b="1" i="0">
                          <a:solidFill>
                            <a:srgbClr val="000000"/>
                          </a:solidFill>
                          <a:latin typeface="Times New Roman"/>
                        </a:rPr>
                        <a:t>       </a:t>
                      </a:r>
                      <a:r>
                        <a:rPr sz="1100" b="1" i="0">
                          <a:solidFill>
                            <a:srgbClr val="000000"/>
                          </a:solidFill>
                          <a:latin typeface="Calibri"/>
                        </a:rPr>
                        <a:t>Key Success Factors</a:t>
                      </a:r>
                      <a:endParaRPr sz="1100"/>
                    </a:p>
                  </a:txBody>
                  <a:tcPr marL="171450" marR="9525" marT="9525" marB="0" anchor="ctr"/>
                </a:tc>
              </a:tr>
              <a:tr h="175260">
                <a:tc>
                  <a:txBody>
                    <a:bodyPr wrap="square"/>
                    <a:lstStyle/>
                    <a:p>
                      <a:pPr algn="l"/>
                      <a:r>
                        <a:rPr sz="1100" b="0" i="0">
                          <a:solidFill>
                            <a:srgbClr val="0070C0"/>
                          </a:solidFill>
                          <a:latin typeface="Calibri"/>
                        </a:rPr>
                        <a:t>4.1.</a:t>
                      </a:r>
                      <a:r>
                        <a:rPr sz="700" b="0" i="0">
                          <a:solidFill>
                            <a:srgbClr val="0070C0"/>
                          </a:solidFill>
                          <a:latin typeface="Times New Roman"/>
                        </a:rPr>
                        <a:t>    </a:t>
                      </a:r>
                      <a:r>
                        <a:rPr sz="1100" b="0" i="0">
                          <a:solidFill>
                            <a:srgbClr val="0070C0"/>
                          </a:solidFill>
                          <a:latin typeface="Calibri"/>
                        </a:rPr>
                        <a:t>Product Adoption / Usage Analysis</a:t>
                      </a:r>
                      <a:endParaRPr sz="1100"/>
                    </a:p>
                  </a:txBody>
                  <a:tcPr marL="428625" marR="9525" marT="9525" marB="0" anchor="ctr"/>
                </a:tc>
              </a:tr>
              <a:tr h="175260">
                <a:tc>
                  <a:txBody>
                    <a:bodyPr wrap="square"/>
                    <a:lstStyle/>
                    <a:p>
                      <a:pPr algn="l"/>
                      <a:r>
                        <a:rPr sz="1100" b="0" i="0">
                          <a:solidFill>
                            <a:srgbClr val="0070C0"/>
                          </a:solidFill>
                          <a:latin typeface="Calibri"/>
                        </a:rPr>
                        <a:t>4.2.</a:t>
                      </a:r>
                      <a:r>
                        <a:rPr sz="700" b="0" i="0">
                          <a:solidFill>
                            <a:srgbClr val="0070C0"/>
                          </a:solidFill>
                          <a:latin typeface="Times New Roman"/>
                        </a:rPr>
                        <a:t>    </a:t>
                      </a:r>
                      <a:r>
                        <a:rPr sz="1100" b="0" i="0">
                          <a:solidFill>
                            <a:srgbClr val="0070C0"/>
                          </a:solidFill>
                          <a:latin typeface="Calibri"/>
                        </a:rPr>
                        <a:t>Product USPs / Performance Features</a:t>
                      </a:r>
                      <a:endParaRPr sz="1100"/>
                    </a:p>
                  </a:txBody>
                  <a:tcPr marL="428625" marR="9525" marT="9525" marB="0" anchor="ctr"/>
                </a:tc>
              </a:tr>
              <a:tr h="175260">
                <a:tc>
                  <a:txBody>
                    <a:bodyPr wrap="square"/>
                    <a:lstStyle/>
                    <a:p>
                      <a:pPr algn="l"/>
                      <a:r>
                        <a:rPr sz="1100" b="0" i="0">
                          <a:solidFill>
                            <a:srgbClr val="0070C0"/>
                          </a:solidFill>
                          <a:latin typeface="Calibri"/>
                        </a:rPr>
                        <a:t>4.3.</a:t>
                      </a:r>
                      <a:r>
                        <a:rPr sz="700" b="0" i="0">
                          <a:solidFill>
                            <a:srgbClr val="0070C0"/>
                          </a:solidFill>
                          <a:latin typeface="Times New Roman"/>
                        </a:rPr>
                        <a:t>    </a:t>
                      </a:r>
                      <a:r>
                        <a:rPr sz="1100" b="0" i="0">
                          <a:solidFill>
                            <a:srgbClr val="0070C0"/>
                          </a:solidFill>
                          <a:latin typeface="Calibri"/>
                        </a:rPr>
                        <a:t>Compressor Technology &amp; Energy Efficiency</a:t>
                      </a:r>
                      <a:endParaRPr sz="1100"/>
                    </a:p>
                  </a:txBody>
                  <a:tcPr marL="428625" marR="9525" marT="9525" marB="0" anchor="ctr"/>
                </a:tc>
              </a:tr>
              <a:tr h="175260">
                <a:tc>
                  <a:txBody>
                    <a:bodyPr wrap="square"/>
                    <a:lstStyle/>
                    <a:p>
                      <a:pPr algn="l"/>
                      <a:r>
                        <a:rPr sz="1100" b="0" i="0">
                          <a:solidFill>
                            <a:srgbClr val="0070C0"/>
                          </a:solidFill>
                          <a:latin typeface="Calibri"/>
                        </a:rPr>
                        <a:t>4.4.</a:t>
                      </a:r>
                      <a:r>
                        <a:rPr sz="700" b="0" i="0">
                          <a:solidFill>
                            <a:srgbClr val="0070C0"/>
                          </a:solidFill>
                          <a:latin typeface="Times New Roman"/>
                        </a:rPr>
                        <a:t>    </a:t>
                      </a:r>
                      <a:r>
                        <a:rPr sz="1100" b="0" i="0">
                          <a:solidFill>
                            <a:srgbClr val="0070C0"/>
                          </a:solidFill>
                          <a:latin typeface="Calibri"/>
                        </a:rPr>
                        <a:t>Air Quality &amp; Application Suitability</a:t>
                      </a:r>
                      <a:endParaRPr sz="1100"/>
                    </a:p>
                  </a:txBody>
                  <a:tcPr marL="428625" marR="9525" marT="9525" marB="0" anchor="ctr"/>
                </a:tc>
              </a:tr>
              <a:tr h="175260">
                <a:tc>
                  <a:txBody>
                    <a:bodyPr wrap="square"/>
                    <a:lstStyle/>
                    <a:p>
                      <a:pPr algn="l"/>
                      <a:r>
                        <a:rPr sz="1100" b="0" i="0">
                          <a:solidFill>
                            <a:srgbClr val="0070C0"/>
                          </a:solidFill>
                          <a:latin typeface="Calibri"/>
                        </a:rPr>
                        <a:t>4.5.</a:t>
                      </a:r>
                      <a:r>
                        <a:rPr sz="700" b="0" i="0">
                          <a:solidFill>
                            <a:srgbClr val="0070C0"/>
                          </a:solidFill>
                          <a:latin typeface="Times New Roman"/>
                        </a:rPr>
                        <a:t>    </a:t>
                      </a:r>
                      <a:r>
                        <a:rPr sz="1100" b="0" i="0">
                          <a:solidFill>
                            <a:srgbClr val="0070C0"/>
                          </a:solidFill>
                          <a:latin typeface="Calibri"/>
                        </a:rPr>
                        <a:t>Reliability, Durability &amp; Manufacturing Quality</a:t>
                      </a:r>
                      <a:endParaRPr sz="1100"/>
                    </a:p>
                  </a:txBody>
                  <a:tcPr marL="428625" marR="9525" marT="9525" marB="0" anchor="ctr"/>
                </a:tc>
              </a:tr>
              <a:tr h="350520">
                <a:tc>
                  <a:txBody>
                    <a:bodyPr wrap="square"/>
                    <a:lstStyle/>
                    <a:p>
                      <a:pPr algn="l"/>
                      <a:r>
                        <a:rPr sz="1100" b="1" i="0">
                          <a:solidFill>
                            <a:srgbClr val="000000"/>
                          </a:solidFill>
                          <a:latin typeface="Calibri"/>
                        </a:rPr>
                        <a:t>5.</a:t>
                      </a:r>
                      <a:r>
                        <a:rPr sz="700" b="1" i="0">
                          <a:solidFill>
                            <a:srgbClr val="000000"/>
                          </a:solidFill>
                          <a:latin typeface="Times New Roman"/>
                        </a:rPr>
                        <a:t>       </a:t>
                      </a:r>
                      <a:r>
                        <a:rPr sz="1100" b="1" i="0">
                          <a:solidFill>
                            <a:srgbClr val="000000"/>
                          </a:solidFill>
                          <a:latin typeface="Calibri"/>
                        </a:rPr>
                        <a:t>Global Industrial Air Compressor Market Demand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5.1.</a:t>
                      </a:r>
                      <a:r>
                        <a:rPr sz="700" b="0" i="0">
                          <a:solidFill>
                            <a:srgbClr val="0070C0"/>
                          </a:solidFill>
                          <a:latin typeface="Times New Roman"/>
                        </a:rPr>
                        <a:t>    </a:t>
                      </a:r>
                      <a:r>
                        <a:rPr sz="1100" b="0" i="0">
                          <a:solidFill>
                            <a:srgbClr val="0070C0"/>
                          </a:solidFill>
                          <a:latin typeface="Calibri"/>
                        </a:rPr>
                        <a:t>Historical Market Volume (Units) Analysis, 2021–2025</a:t>
                      </a:r>
                      <a:endParaRPr sz="1100"/>
                    </a:p>
                  </a:txBody>
                  <a:tcPr marL="428625" marR="9525" marT="9525" marB="0" anchor="ctr"/>
                </a:tc>
              </a:tr>
              <a:tr h="175260">
                <a:tc>
                  <a:txBody>
                    <a:bodyPr wrap="square"/>
                    <a:lstStyle/>
                    <a:p>
                      <a:pPr algn="l"/>
                      <a:r>
                        <a:rPr sz="1100" b="0" i="0">
                          <a:solidFill>
                            <a:srgbClr val="0070C0"/>
                          </a:solidFill>
                          <a:latin typeface="Calibri"/>
                        </a:rPr>
                        <a:t>5.2.</a:t>
                      </a:r>
                      <a:r>
                        <a:rPr sz="700" b="0" i="0">
                          <a:solidFill>
                            <a:srgbClr val="0070C0"/>
                          </a:solidFill>
                          <a:latin typeface="Times New Roman"/>
                        </a:rPr>
                        <a:t>    </a:t>
                      </a:r>
                      <a:r>
                        <a:rPr sz="1100" b="0" i="0">
                          <a:solidFill>
                            <a:srgbClr val="0070C0"/>
                          </a:solidFill>
                          <a:latin typeface="Calibri"/>
                        </a:rPr>
                        <a:t>Current and Future Market Volume (Units) Projections, 2026–2036</a:t>
                      </a:r>
                      <a:endParaRPr sz="1100"/>
                    </a:p>
                  </a:txBody>
                  <a:tcPr marL="428625" marR="9525" marT="9525" marB="0" anchor="ctr"/>
                </a:tc>
              </a:tr>
              <a:tr h="175260">
                <a:tc>
                  <a:txBody>
                    <a:bodyPr wrap="square"/>
                    <a:lstStyle/>
                    <a:p>
                      <a:pPr algn="l"/>
                      <a:r>
                        <a:rPr sz="1100" b="0" i="0">
                          <a:solidFill>
                            <a:srgbClr val="0070C0"/>
                          </a:solidFill>
                          <a:latin typeface="Calibri"/>
                        </a:rPr>
                        <a:t>5.3.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1" i="0">
                          <a:solidFill>
                            <a:srgbClr val="000000"/>
                          </a:solidFill>
                          <a:latin typeface="Calibri"/>
                        </a:rPr>
                        <a:t>6.</a:t>
                      </a:r>
                      <a:r>
                        <a:rPr sz="700" b="1" i="0">
                          <a:solidFill>
                            <a:srgbClr val="000000"/>
                          </a:solidFill>
                          <a:latin typeface="Times New Roman"/>
                        </a:rPr>
                        <a:t>       </a:t>
                      </a:r>
                      <a:r>
                        <a:rPr sz="1100" b="1" i="0">
                          <a:solidFill>
                            <a:srgbClr val="000000"/>
                          </a:solidFill>
                          <a:latin typeface="Calibri"/>
                        </a:rPr>
                        <a:t>Global Industrial Air Compressor Market - Pricing Analysis</a:t>
                      </a:r>
                      <a:endParaRPr sz="1100"/>
                    </a:p>
                  </a:txBody>
                  <a:tcPr marL="171450" marR="9525" marT="9525" marB="0" anchor="ctr"/>
                </a:tc>
              </a:tr>
              <a:tr h="175260">
                <a:tc>
                  <a:txBody>
                    <a:bodyPr wrap="square"/>
                    <a:lstStyle/>
                    <a:p>
                      <a:pPr algn="l"/>
                      <a:r>
                        <a:rPr sz="1100" b="0" i="0">
                          <a:solidFill>
                            <a:srgbClr val="0070C0"/>
                          </a:solidFill>
                          <a:latin typeface="Calibri"/>
                        </a:rPr>
                        <a:t>6.1.</a:t>
                      </a:r>
                      <a:r>
                        <a:rPr sz="700" b="0" i="0">
                          <a:solidFill>
                            <a:srgbClr val="0070C0"/>
                          </a:solidFill>
                          <a:latin typeface="Times New Roman"/>
                        </a:rPr>
                        <a:t>    </a:t>
                      </a:r>
                      <a:r>
                        <a:rPr sz="1100" b="0" i="0">
                          <a:solidFill>
                            <a:srgbClr val="0070C0"/>
                          </a:solidFill>
                          <a:latin typeface="Calibri"/>
                        </a:rPr>
                        <a:t>Market Price Benchmarking and Price Structure</a:t>
                      </a:r>
                      <a:endParaRPr sz="1100"/>
                    </a:p>
                  </a:txBody>
                  <a:tcPr marL="428625" marR="9525" marT="9525" marB="0" anchor="ctr"/>
                </a:tc>
              </a:tr>
              <a:tr h="175260">
                <a:tc>
                  <a:txBody>
                    <a:bodyPr wrap="square"/>
                    <a:lstStyle/>
                    <a:p>
                      <a:pPr algn="l"/>
                      <a:r>
                        <a:rPr sz="1100" b="0" i="0">
                          <a:solidFill>
                            <a:srgbClr val="000000"/>
                          </a:solidFill>
                          <a:latin typeface="Calibri"/>
                        </a:rPr>
                        <a:t>6.1.1.</a:t>
                      </a:r>
                      <a:r>
                        <a:rPr sz="700" b="0" i="0">
                          <a:solidFill>
                            <a:srgbClr val="000000"/>
                          </a:solidFill>
                          <a:latin typeface="Times New Roman"/>
                        </a:rPr>
                        <a:t>   </a:t>
                      </a:r>
                      <a:r>
                        <a:rPr sz="1100" b="0" i="0">
                          <a:solidFill>
                            <a:srgbClr val="000000"/>
                          </a:solidFill>
                          <a:latin typeface="Calibri"/>
                        </a:rPr>
                        <a:t>Average Selling Price (ASP) by industrial air compressor</a:t>
                      </a:r>
                      <a:endParaRPr sz="1100"/>
                    </a:p>
                  </a:txBody>
                  <a:tcPr marL="771525" marR="9525" marT="9525" marB="0" anchor="ctr"/>
                </a:tc>
              </a:tr>
              <a:tr h="175260">
                <a:tc>
                  <a:txBody>
                    <a:bodyPr wrap="square"/>
                    <a:lstStyle/>
                    <a:p>
                      <a:pPr algn="l"/>
                      <a:r>
                        <a:rPr sz="1100" b="0" i="0">
                          <a:solidFill>
                            <a:srgbClr val="000000"/>
                          </a:solidFill>
                          <a:latin typeface="Calibri"/>
                        </a:rPr>
                        <a:t>6.1.2.</a:t>
                      </a:r>
                      <a:r>
                        <a:rPr sz="700" b="0" i="0">
                          <a:solidFill>
                            <a:srgbClr val="000000"/>
                          </a:solidFill>
                          <a:latin typeface="Times New Roman"/>
                        </a:rPr>
                        <a:t>   </a:t>
                      </a:r>
                      <a:r>
                        <a:rPr sz="1100" b="0" i="0">
                          <a:solidFill>
                            <a:srgbClr val="000000"/>
                          </a:solidFill>
                          <a:latin typeface="Calibri"/>
                        </a:rPr>
                        <a:t>Minimum, maximum, and typical transaction price</a:t>
                      </a:r>
                      <a:endParaRPr sz="1100"/>
                    </a:p>
                  </a:txBody>
                  <a:tcPr marL="771525" marR="9525" marT="9525" marB="0" anchor="ctr"/>
                </a:tc>
              </a:tr>
              <a:tr h="175260">
                <a:tc>
                  <a:txBody>
                    <a:bodyPr wrap="square"/>
                    <a:lstStyle/>
                    <a:p>
                      <a:pPr algn="l"/>
                      <a:r>
                        <a:rPr sz="1100" b="0" i="0">
                          <a:solidFill>
                            <a:srgbClr val="000000"/>
                          </a:solidFill>
                          <a:latin typeface="Calibri"/>
                        </a:rPr>
                        <a:t>6.1.3.</a:t>
                      </a:r>
                      <a:r>
                        <a:rPr sz="700" b="0" i="0">
                          <a:solidFill>
                            <a:srgbClr val="000000"/>
                          </a:solidFill>
                          <a:latin typeface="Times New Roman"/>
                        </a:rPr>
                        <a:t>   </a:t>
                      </a:r>
                      <a:r>
                        <a:rPr sz="1100" b="0" i="0">
                          <a:solidFill>
                            <a:srgbClr val="000000"/>
                          </a:solidFill>
                          <a:latin typeface="Calibri"/>
                        </a:rPr>
                        <a:t>ASP per compressor (USD/unit)</a:t>
                      </a:r>
                      <a:endParaRPr sz="1100"/>
                    </a:p>
                  </a:txBody>
                  <a:tcPr marL="771525" marR="9525" marT="9525" marB="0" anchor="ctr"/>
                </a:tc>
              </a:tr>
              <a:tr h="175260">
                <a:tc>
                  <a:txBody>
                    <a:bodyPr wrap="square"/>
                    <a:lstStyle/>
                    <a:p>
                      <a:pPr algn="l"/>
                      <a:r>
                        <a:rPr sz="1100" b="0" i="0">
                          <a:solidFill>
                            <a:srgbClr val="000000"/>
                          </a:solidFill>
                          <a:latin typeface="Calibri"/>
                        </a:rPr>
                        <a:t>6.1.4.</a:t>
                      </a:r>
                      <a:r>
                        <a:rPr sz="700" b="0" i="0">
                          <a:solidFill>
                            <a:srgbClr val="000000"/>
                          </a:solidFill>
                          <a:latin typeface="Times New Roman"/>
                        </a:rPr>
                        <a:t>   </a:t>
                      </a:r>
                      <a:r>
                        <a:rPr sz="1100" b="0" i="0">
                          <a:solidFill>
                            <a:srgbClr val="000000"/>
                          </a:solidFill>
                          <a:latin typeface="Calibri"/>
                        </a:rPr>
                        <a:t>ASP per kW (USD/kW)</a:t>
                      </a:r>
                      <a:endParaRPr sz="1100"/>
                    </a:p>
                  </a:txBody>
                  <a:tcPr marL="771525" marR="9525" marT="9525" marB="0" anchor="ctr"/>
                </a:tc>
              </a:tr>
              <a:tr h="175260">
                <a:tc>
                  <a:txBody>
                    <a:bodyPr wrap="square"/>
                    <a:lstStyle/>
                    <a:p>
                      <a:pPr algn="l"/>
                      <a:r>
                        <a:rPr sz="1100" b="0" i="0">
                          <a:solidFill>
                            <a:srgbClr val="000000"/>
                          </a:solidFill>
                          <a:latin typeface="Calibri"/>
                        </a:rPr>
                        <a:t>6.1.5.</a:t>
                      </a:r>
                      <a:r>
                        <a:rPr sz="700" b="0" i="0">
                          <a:solidFill>
                            <a:srgbClr val="000000"/>
                          </a:solidFill>
                          <a:latin typeface="Times New Roman"/>
                        </a:rPr>
                        <a:t>   </a:t>
                      </a:r>
                      <a:r>
                        <a:rPr sz="1100" b="0" i="0">
                          <a:solidFill>
                            <a:srgbClr val="000000"/>
                          </a:solidFill>
                          <a:latin typeface="Calibri"/>
                        </a:rPr>
                        <a:t>ASP by capacity and pressure class</a:t>
                      </a:r>
                      <a:endParaRPr sz="1100"/>
                    </a:p>
                  </a:txBody>
                  <a:tcPr marL="771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6.1.6.</a:t>
                      </a:r>
                      <a:r>
                        <a:rPr sz="700" b="0" i="0">
                          <a:solidFill>
                            <a:srgbClr val="000000"/>
                          </a:solidFill>
                          <a:latin typeface="Times New Roman"/>
                        </a:rPr>
                        <a:t>   </a:t>
                      </a:r>
                      <a:r>
                        <a:rPr sz="1100" b="0" i="0">
                          <a:solidFill>
                            <a:srgbClr val="000000"/>
                          </a:solidFill>
                          <a:latin typeface="Calibri"/>
                        </a:rPr>
                        <a:t>Fixed-speed vs. VSD pricing</a:t>
                      </a:r>
                      <a:endParaRPr sz="1100"/>
                    </a:p>
                  </a:txBody>
                  <a:tcPr marL="771525" marR="9525" marT="9525" marB="0" anchor="ctr"/>
                </a:tc>
              </a:tr>
              <a:tr h="175260">
                <a:tc>
                  <a:txBody>
                    <a:bodyPr wrap="square"/>
                    <a:lstStyle/>
                    <a:p>
                      <a:pPr algn="l"/>
                      <a:r>
                        <a:rPr sz="1100" b="0" i="0">
                          <a:solidFill>
                            <a:srgbClr val="000000"/>
                          </a:solidFill>
                          <a:latin typeface="Calibri"/>
                        </a:rPr>
                        <a:t>6.1.7.</a:t>
                      </a:r>
                      <a:r>
                        <a:rPr sz="700" b="0" i="0">
                          <a:solidFill>
                            <a:srgbClr val="000000"/>
                          </a:solidFill>
                          <a:latin typeface="Times New Roman"/>
                        </a:rPr>
                        <a:t>   </a:t>
                      </a:r>
                      <a:r>
                        <a:rPr sz="1100" b="0" i="0">
                          <a:solidFill>
                            <a:srgbClr val="000000"/>
                          </a:solidFill>
                          <a:latin typeface="Calibri"/>
                        </a:rPr>
                        <a:t>Oil-injected vs. oil-free pricing</a:t>
                      </a:r>
                      <a:endParaRPr sz="1100"/>
                    </a:p>
                  </a:txBody>
                  <a:tcPr marL="771525" marR="9525" marT="9525" marB="0" anchor="ctr"/>
                </a:tc>
              </a:tr>
              <a:tr h="175260">
                <a:tc>
                  <a:txBody>
                    <a:bodyPr wrap="square"/>
                    <a:lstStyle/>
                    <a:p>
                      <a:pPr algn="l"/>
                      <a:r>
                        <a:rPr sz="1100" b="0" i="0">
                          <a:solidFill>
                            <a:srgbClr val="000000"/>
                          </a:solidFill>
                          <a:latin typeface="Calibri"/>
                        </a:rPr>
                        <a:t>6.1.8.</a:t>
                      </a:r>
                      <a:r>
                        <a:rPr sz="700" b="0" i="0">
                          <a:solidFill>
                            <a:srgbClr val="000000"/>
                          </a:solidFill>
                          <a:latin typeface="Times New Roman"/>
                        </a:rPr>
                        <a:t>   </a:t>
                      </a:r>
                      <a:r>
                        <a:rPr sz="1100" b="0" i="0">
                          <a:solidFill>
                            <a:srgbClr val="000000"/>
                          </a:solidFill>
                          <a:latin typeface="Calibri"/>
                        </a:rPr>
                        <a:t>Standalone compressor vs. complete compressed-air package</a:t>
                      </a:r>
                      <a:endParaRPr sz="1100"/>
                    </a:p>
                  </a:txBody>
                  <a:tcPr marL="771525" marR="9525" marT="9525" marB="0" anchor="ctr"/>
                </a:tc>
              </a:tr>
              <a:tr h="175260">
                <a:tc>
                  <a:txBody>
                    <a:bodyPr wrap="square"/>
                    <a:lstStyle/>
                    <a:p>
                      <a:pPr algn="l"/>
                      <a:r>
                        <a:rPr sz="1100" b="0" i="0">
                          <a:solidFill>
                            <a:srgbClr val="000000"/>
                          </a:solidFill>
                          <a:latin typeface="Calibri"/>
                        </a:rPr>
                        <a:t>6.1.9.</a:t>
                      </a:r>
                      <a:r>
                        <a:rPr sz="700" b="0" i="0">
                          <a:solidFill>
                            <a:srgbClr val="000000"/>
                          </a:solidFill>
                          <a:latin typeface="Times New Roman"/>
                        </a:rPr>
                        <a:t>   </a:t>
                      </a:r>
                      <a:r>
                        <a:rPr sz="1100" b="0" i="0">
                          <a:solidFill>
                            <a:srgbClr val="000000"/>
                          </a:solidFill>
                          <a:latin typeface="Calibri"/>
                        </a:rPr>
                        <a:t>Standard vs. customized configuration</a:t>
                      </a:r>
                      <a:endParaRPr sz="1100"/>
                    </a:p>
                  </a:txBody>
                  <a:tcPr marL="771525" marR="9525" marT="9525" marB="0" anchor="ctr"/>
                </a:tc>
              </a:tr>
              <a:tr h="175260">
                <a:tc>
                  <a:txBody>
                    <a:bodyPr wrap="square"/>
                    <a:lstStyle/>
                    <a:p>
                      <a:pPr algn="l"/>
                      <a:r>
                        <a:rPr sz="1100" b="0" i="0">
                          <a:solidFill>
                            <a:srgbClr val="000000"/>
                          </a:solidFill>
                          <a:latin typeface="Calibri"/>
                        </a:rPr>
                        <a:t>6.1.10.</a:t>
                      </a:r>
                      <a:r>
                        <a:rPr sz="700" b="0" i="0">
                          <a:solidFill>
                            <a:srgbClr val="000000"/>
                          </a:solidFill>
                          <a:latin typeface="Times New Roman"/>
                        </a:rPr>
                        <a:t> </a:t>
                      </a:r>
                      <a:r>
                        <a:rPr sz="1100" b="0" i="0">
                          <a:solidFill>
                            <a:srgbClr val="000000"/>
                          </a:solidFill>
                          <a:latin typeface="Calibri"/>
                        </a:rPr>
                        <a:t>Historical vs. current pricing</a:t>
                      </a:r>
                      <a:endParaRPr sz="1100"/>
                    </a:p>
                  </a:txBody>
                  <a:tcPr marL="771525" marR="9525" marT="9525" marB="0" anchor="ctr"/>
                </a:tc>
              </a:tr>
              <a:tr h="175260">
                <a:tc>
                  <a:txBody>
                    <a:bodyPr wrap="square"/>
                    <a:lstStyle/>
                    <a:p>
                      <a:pPr algn="l"/>
                      <a:r>
                        <a:rPr sz="1100" b="0" i="0">
                          <a:solidFill>
                            <a:srgbClr val="0070C0"/>
                          </a:solidFill>
                          <a:latin typeface="Calibri"/>
                        </a:rPr>
                        <a:t>6.2.</a:t>
                      </a:r>
                      <a:r>
                        <a:rPr sz="700" b="0" i="0">
                          <a:solidFill>
                            <a:srgbClr val="0070C0"/>
                          </a:solidFill>
                          <a:latin typeface="Times New Roman"/>
                        </a:rPr>
                        <a:t>    </a:t>
                      </a:r>
                      <a:r>
                        <a:rPr sz="1100" b="0" i="0">
                          <a:solidFill>
                            <a:srgbClr val="0070C0"/>
                          </a:solidFill>
                          <a:latin typeface="Calibri"/>
                        </a:rPr>
                        <a:t>Technology-wise Pricing</a:t>
                      </a:r>
                      <a:endParaRPr sz="1100"/>
                    </a:p>
                  </a:txBody>
                  <a:tcPr marL="428625" marR="9525" marT="9525" marB="0" anchor="ctr"/>
                </a:tc>
              </a:tr>
              <a:tr h="175260">
                <a:tc>
                  <a:txBody>
                    <a:bodyPr wrap="square"/>
                    <a:lstStyle/>
                    <a:p>
                      <a:pPr algn="l"/>
                      <a:r>
                        <a:rPr sz="1100" b="0" i="0">
                          <a:solidFill>
                            <a:srgbClr val="000000"/>
                          </a:solidFill>
                          <a:latin typeface="Calibri"/>
                        </a:rPr>
                        <a:t>6.2.1.</a:t>
                      </a:r>
                      <a:r>
                        <a:rPr sz="700" b="0" i="0">
                          <a:solidFill>
                            <a:srgbClr val="000000"/>
                          </a:solidFill>
                          <a:latin typeface="Times New Roman"/>
                        </a:rPr>
                        <a:t>   </a:t>
                      </a:r>
                      <a:r>
                        <a:rPr sz="1100" b="0" i="0">
                          <a:solidFill>
                            <a:srgbClr val="000000"/>
                          </a:solidFill>
                          <a:latin typeface="Calibri"/>
                        </a:rPr>
                        <a:t>Rotary Screw Air Compressors</a:t>
                      </a:r>
                      <a:endParaRPr sz="1100"/>
                    </a:p>
                  </a:txBody>
                  <a:tcPr marL="771525" marR="9525" marT="9525" marB="0" anchor="ctr"/>
                </a:tc>
              </a:tr>
              <a:tr h="175260">
                <a:tc>
                  <a:txBody>
                    <a:bodyPr wrap="square"/>
                    <a:lstStyle/>
                    <a:p>
                      <a:pPr algn="l"/>
                      <a:r>
                        <a:rPr sz="1100" b="0" i="0">
                          <a:solidFill>
                            <a:srgbClr val="000000"/>
                          </a:solidFill>
                          <a:latin typeface="Calibri"/>
                        </a:rPr>
                        <a:t>6.2.2.</a:t>
                      </a:r>
                      <a:r>
                        <a:rPr sz="700" b="0" i="0">
                          <a:solidFill>
                            <a:srgbClr val="000000"/>
                          </a:solidFill>
                          <a:latin typeface="Times New Roman"/>
                        </a:rPr>
                        <a:t>   </a:t>
                      </a:r>
                      <a:r>
                        <a:rPr sz="1100" b="0" i="0">
                          <a:solidFill>
                            <a:srgbClr val="000000"/>
                          </a:solidFill>
                          <a:latin typeface="Calibri"/>
                        </a:rPr>
                        <a:t>Reciprocating (Piston) Air Compressors</a:t>
                      </a:r>
                      <a:endParaRPr sz="1100"/>
                    </a:p>
                  </a:txBody>
                  <a:tcPr marL="771525" marR="9525" marT="9525" marB="0" anchor="ctr"/>
                </a:tc>
              </a:tr>
              <a:tr h="175260">
                <a:tc>
                  <a:txBody>
                    <a:bodyPr wrap="square"/>
                    <a:lstStyle/>
                    <a:p>
                      <a:pPr algn="l"/>
                      <a:r>
                        <a:rPr sz="1100" b="0" i="0">
                          <a:solidFill>
                            <a:srgbClr val="000000"/>
                          </a:solidFill>
                          <a:latin typeface="Calibri"/>
                        </a:rPr>
                        <a:t>6.2.3.</a:t>
                      </a:r>
                      <a:r>
                        <a:rPr sz="700" b="0" i="0">
                          <a:solidFill>
                            <a:srgbClr val="000000"/>
                          </a:solidFill>
                          <a:latin typeface="Times New Roman"/>
                        </a:rPr>
                        <a:t>   </a:t>
                      </a:r>
                      <a:r>
                        <a:rPr sz="1100" b="0" i="0">
                          <a:solidFill>
                            <a:srgbClr val="000000"/>
                          </a:solidFill>
                          <a:latin typeface="Calibri"/>
                        </a:rPr>
                        <a:t>Centrifugal Air Compressors</a:t>
                      </a:r>
                      <a:endParaRPr sz="1100"/>
                    </a:p>
                  </a:txBody>
                  <a:tcPr marL="771525" marR="9525" marT="9525" marB="0" anchor="ctr"/>
                </a:tc>
              </a:tr>
              <a:tr h="175260">
                <a:tc>
                  <a:txBody>
                    <a:bodyPr wrap="square"/>
                    <a:lstStyle/>
                    <a:p>
                      <a:pPr algn="l"/>
                      <a:r>
                        <a:rPr sz="1100" b="0" i="0">
                          <a:solidFill>
                            <a:srgbClr val="000000"/>
                          </a:solidFill>
                          <a:latin typeface="Calibri"/>
                        </a:rPr>
                        <a:t>6.2.4.</a:t>
                      </a:r>
                      <a:r>
                        <a:rPr sz="700" b="0" i="0">
                          <a:solidFill>
                            <a:srgbClr val="000000"/>
                          </a:solidFill>
                          <a:latin typeface="Times New Roman"/>
                        </a:rPr>
                        <a:t>   </a:t>
                      </a:r>
                      <a:r>
                        <a:rPr sz="1100" b="0" i="0">
                          <a:solidFill>
                            <a:srgbClr val="000000"/>
                          </a:solidFill>
                          <a:latin typeface="Calibri"/>
                        </a:rPr>
                        <a:t>Axial Air Compressors</a:t>
                      </a:r>
                      <a:endParaRPr sz="1100"/>
                    </a:p>
                  </a:txBody>
                  <a:tcPr marL="771525" marR="9525" marT="9525" marB="0" anchor="ctr"/>
                </a:tc>
              </a:tr>
              <a:tr h="175260">
                <a:tc>
                  <a:txBody>
                    <a:bodyPr wrap="square"/>
                    <a:lstStyle/>
                    <a:p>
                      <a:pPr algn="l"/>
                      <a:r>
                        <a:rPr sz="1100" b="0" i="0">
                          <a:solidFill>
                            <a:srgbClr val="000000"/>
                          </a:solidFill>
                          <a:latin typeface="Calibri"/>
                        </a:rPr>
                        <a:t>6.2.5.</a:t>
                      </a:r>
                      <a:r>
                        <a:rPr sz="700" b="0" i="0">
                          <a:solidFill>
                            <a:srgbClr val="000000"/>
                          </a:solidFill>
                          <a:latin typeface="Times New Roman"/>
                        </a:rPr>
                        <a:t>   </a:t>
                      </a:r>
                      <a:r>
                        <a:rPr sz="1100" b="0" i="0">
                          <a:solidFill>
                            <a:srgbClr val="000000"/>
                          </a:solidFill>
                          <a:latin typeface="Calibri"/>
                        </a:rPr>
                        <a:t>Rotary Vane Air Compressors</a:t>
                      </a:r>
                      <a:endParaRPr sz="1100"/>
                    </a:p>
                  </a:txBody>
                  <a:tcPr marL="771525" marR="9525" marT="9525" marB="0" anchor="ctr"/>
                </a:tc>
              </a:tr>
              <a:tr h="175260">
                <a:tc>
                  <a:txBody>
                    <a:bodyPr wrap="square"/>
                    <a:lstStyle/>
                    <a:p>
                      <a:pPr algn="l"/>
                      <a:r>
                        <a:rPr sz="1100" b="0" i="0">
                          <a:solidFill>
                            <a:srgbClr val="000000"/>
                          </a:solidFill>
                          <a:latin typeface="Calibri"/>
                        </a:rPr>
                        <a:t>6.2.6.</a:t>
                      </a:r>
                      <a:r>
                        <a:rPr sz="700" b="0" i="0">
                          <a:solidFill>
                            <a:srgbClr val="000000"/>
                          </a:solidFill>
                          <a:latin typeface="Times New Roman"/>
                        </a:rPr>
                        <a:t>   </a:t>
                      </a:r>
                      <a:r>
                        <a:rPr sz="1100" b="0" i="0">
                          <a:solidFill>
                            <a:srgbClr val="000000"/>
                          </a:solidFill>
                          <a:latin typeface="Calibri"/>
                        </a:rPr>
                        <a:t>Scroll Air Compressors</a:t>
                      </a:r>
                      <a:endParaRPr sz="1100"/>
                    </a:p>
                  </a:txBody>
                  <a:tcPr marL="771525" marR="9525" marT="9525" marB="0" anchor="ctr"/>
                </a:tc>
              </a:tr>
              <a:tr h="175260">
                <a:tc>
                  <a:txBody>
                    <a:bodyPr wrap="square"/>
                    <a:lstStyle/>
                    <a:p>
                      <a:pPr algn="l"/>
                      <a:r>
                        <a:rPr sz="1100" b="0" i="0">
                          <a:solidFill>
                            <a:srgbClr val="000000"/>
                          </a:solidFill>
                          <a:latin typeface="Calibri"/>
                        </a:rPr>
                        <a:t>6.2.7.</a:t>
                      </a:r>
                      <a:r>
                        <a:rPr sz="700" b="0" i="0">
                          <a:solidFill>
                            <a:srgbClr val="000000"/>
                          </a:solidFill>
                          <a:latin typeface="Times New Roman"/>
                        </a:rPr>
                        <a:t>   </a:t>
                      </a:r>
                      <a:r>
                        <a:rPr sz="1100" b="0" i="0">
                          <a:solidFill>
                            <a:srgbClr val="000000"/>
                          </a:solidFill>
                          <a:latin typeface="Calibri"/>
                        </a:rPr>
                        <a:t>Other Specialized Air Compressors</a:t>
                      </a:r>
                      <a:endParaRPr sz="1100"/>
                    </a:p>
                  </a:txBody>
                  <a:tcPr marL="771525" marR="9525" marT="9525" marB="0" anchor="ctr"/>
                </a:tc>
              </a:tr>
              <a:tr h="175260">
                <a:tc>
                  <a:txBody>
                    <a:bodyPr wrap="square"/>
                    <a:lstStyle/>
                    <a:p>
                      <a:pPr algn="l"/>
                      <a:r>
                        <a:rPr sz="1100" b="0" i="0">
                          <a:solidFill>
                            <a:srgbClr val="000000"/>
                          </a:solidFill>
                          <a:latin typeface="Calibri"/>
                        </a:rPr>
                        <a:t>6.2.8.</a:t>
                      </a:r>
                      <a:r>
                        <a:rPr sz="700" b="0" i="0">
                          <a:solidFill>
                            <a:srgbClr val="000000"/>
                          </a:solidFill>
                          <a:latin typeface="Times New Roman"/>
                        </a:rPr>
                        <a:t>   </a:t>
                      </a:r>
                      <a:r>
                        <a:rPr sz="1100" b="0" i="0">
                          <a:solidFill>
                            <a:srgbClr val="000000"/>
                          </a:solidFill>
                          <a:latin typeface="Calibri"/>
                        </a:rPr>
                        <a:t>Technology-wise ASP and price range</a:t>
                      </a:r>
                      <a:endParaRPr sz="1100"/>
                    </a:p>
                  </a:txBody>
                  <a:tcPr marL="771525" marR="9525" marT="9525" marB="0" anchor="ctr"/>
                </a:tc>
              </a:tr>
              <a:tr h="175260">
                <a:tc>
                  <a:txBody>
                    <a:bodyPr wrap="square"/>
                    <a:lstStyle/>
                    <a:p>
                      <a:pPr algn="l"/>
                      <a:r>
                        <a:rPr sz="1100" b="0" i="0">
                          <a:solidFill>
                            <a:srgbClr val="000000"/>
                          </a:solidFill>
                          <a:latin typeface="Calibri"/>
                        </a:rPr>
                        <a:t>6.2.9.</a:t>
                      </a:r>
                      <a:r>
                        <a:rPr sz="700" b="0" i="0">
                          <a:solidFill>
                            <a:srgbClr val="000000"/>
                          </a:solidFill>
                          <a:latin typeface="Times New Roman"/>
                        </a:rPr>
                        <a:t>   </a:t>
                      </a:r>
                      <a:r>
                        <a:rPr sz="1100" b="0" i="0">
                          <a:solidFill>
                            <a:srgbClr val="000000"/>
                          </a:solidFill>
                          <a:latin typeface="Calibri"/>
                        </a:rPr>
                        <a:t>Price premium/discount by technology</a:t>
                      </a:r>
                      <a:endParaRPr sz="1100"/>
                    </a:p>
                  </a:txBody>
                  <a:tcPr marL="771525" marR="9525" marT="9525" marB="0" anchor="ctr"/>
                </a:tc>
              </a:tr>
              <a:tr h="175260">
                <a:tc>
                  <a:txBody>
                    <a:bodyPr wrap="square"/>
                    <a:lstStyle/>
                    <a:p>
                      <a:pPr algn="l"/>
                      <a:r>
                        <a:rPr sz="1100" b="0" i="0">
                          <a:solidFill>
                            <a:srgbClr val="000000"/>
                          </a:solidFill>
                          <a:latin typeface="Calibri"/>
                        </a:rPr>
                        <a:t>6.2.10.</a:t>
                      </a:r>
                      <a:r>
                        <a:rPr sz="700" b="0" i="0">
                          <a:solidFill>
                            <a:srgbClr val="000000"/>
                          </a:solidFill>
                          <a:latin typeface="Times New Roman"/>
                        </a:rPr>
                        <a:t> </a:t>
                      </a:r>
                      <a:r>
                        <a:rPr sz="1100" b="0" i="0">
                          <a:solidFill>
                            <a:srgbClr val="000000"/>
                          </a:solidFill>
                          <a:latin typeface="Calibri"/>
                        </a:rPr>
                        <a:t>Technology-specific maintenance and efficiency considerations</a:t>
                      </a:r>
                      <a:endParaRPr sz="1100"/>
                    </a:p>
                  </a:txBody>
                  <a:tcPr marL="771525" marR="9525" marT="9525" marB="0" anchor="ctr"/>
                </a:tc>
              </a:tr>
              <a:tr h="175260">
                <a:tc>
                  <a:txBody>
                    <a:bodyPr wrap="square"/>
                    <a:lstStyle/>
                    <a:p>
                      <a:pPr algn="l"/>
                      <a:r>
                        <a:rPr sz="1100" b="0" i="0">
                          <a:solidFill>
                            <a:srgbClr val="0070C0"/>
                          </a:solidFill>
                          <a:latin typeface="Calibri"/>
                        </a:rPr>
                        <a:t>6.3.</a:t>
                      </a:r>
                      <a:r>
                        <a:rPr sz="700" b="0" i="0">
                          <a:solidFill>
                            <a:srgbClr val="0070C0"/>
                          </a:solidFill>
                          <a:latin typeface="Times New Roman"/>
                        </a:rPr>
                        <a:t>    </a:t>
                      </a:r>
                      <a:r>
                        <a:rPr sz="1100" b="0" i="0">
                          <a:solidFill>
                            <a:srgbClr val="0070C0"/>
                          </a:solidFill>
                          <a:latin typeface="Calibri"/>
                        </a:rPr>
                        <a:t>Company-wise Price Benchmarking</a:t>
                      </a:r>
                      <a:endParaRPr sz="1100"/>
                    </a:p>
                  </a:txBody>
                  <a:tcPr marL="428625" marR="9525" marT="9525" marB="0" anchor="ctr"/>
                </a:tc>
              </a:tr>
              <a:tr h="175260">
                <a:tc>
                  <a:txBody>
                    <a:bodyPr wrap="square"/>
                    <a:lstStyle/>
                    <a:p>
                      <a:pPr algn="l"/>
                      <a:r>
                        <a:rPr sz="1100" b="0" i="0">
                          <a:solidFill>
                            <a:srgbClr val="000000"/>
                          </a:solidFill>
                          <a:latin typeface="Calibri"/>
                        </a:rPr>
                        <a:t>6.3.1.</a:t>
                      </a:r>
                      <a:r>
                        <a:rPr sz="700" b="0" i="0">
                          <a:solidFill>
                            <a:srgbClr val="000000"/>
                          </a:solidFill>
                          <a:latin typeface="Times New Roman"/>
                        </a:rPr>
                        <a:t>   </a:t>
                      </a:r>
                      <a:r>
                        <a:rPr sz="1100" b="0" i="0">
                          <a:solidFill>
                            <a:srgbClr val="000000"/>
                          </a:solidFill>
                          <a:latin typeface="Calibri"/>
                        </a:rPr>
                        <a:t>Company-level ASP</a:t>
                      </a:r>
                      <a:endParaRPr sz="1100"/>
                    </a:p>
                  </a:txBody>
                  <a:tcPr marL="771525" marR="9525" marT="9525" marB="0" anchor="ctr"/>
                </a:tc>
              </a:tr>
              <a:tr h="175260">
                <a:tc>
                  <a:txBody>
                    <a:bodyPr wrap="square"/>
                    <a:lstStyle/>
                    <a:p>
                      <a:pPr algn="l"/>
                      <a:r>
                        <a:rPr sz="1100" b="0" i="0">
                          <a:solidFill>
                            <a:srgbClr val="000000"/>
                          </a:solidFill>
                          <a:latin typeface="Calibri"/>
                        </a:rPr>
                        <a:t>6.3.2.</a:t>
                      </a:r>
                      <a:r>
                        <a:rPr sz="700" b="0" i="0">
                          <a:solidFill>
                            <a:srgbClr val="000000"/>
                          </a:solidFill>
                          <a:latin typeface="Times New Roman"/>
                        </a:rPr>
                        <a:t>   </a:t>
                      </a:r>
                      <a:r>
                        <a:rPr sz="1100" b="0" i="0">
                          <a:solidFill>
                            <a:srgbClr val="000000"/>
                          </a:solidFill>
                          <a:latin typeface="Calibri"/>
                        </a:rPr>
                        <a:t>Minimum–maximum price range</a:t>
                      </a:r>
                      <a:endParaRPr sz="1100"/>
                    </a:p>
                  </a:txBody>
                  <a:tcPr marL="771525" marR="9525" marT="9525" marB="0" anchor="ctr"/>
                </a:tc>
              </a:tr>
              <a:tr h="175260">
                <a:tc>
                  <a:txBody>
                    <a:bodyPr wrap="square"/>
                    <a:lstStyle/>
                    <a:p>
                      <a:pPr algn="l"/>
                      <a:r>
                        <a:rPr sz="1100" b="0" i="0">
                          <a:solidFill>
                            <a:srgbClr val="000000"/>
                          </a:solidFill>
                          <a:latin typeface="Calibri"/>
                        </a:rPr>
                        <a:t>6.3.3.</a:t>
                      </a:r>
                      <a:r>
                        <a:rPr sz="700" b="0" i="0">
                          <a:solidFill>
                            <a:srgbClr val="000000"/>
                          </a:solidFill>
                          <a:latin typeface="Times New Roman"/>
                        </a:rPr>
                        <a:t>   </a:t>
                      </a:r>
                      <a:r>
                        <a:rPr sz="1100" b="0" i="0">
                          <a:solidFill>
                            <a:srgbClr val="000000"/>
                          </a:solidFill>
                          <a:latin typeface="Calibri"/>
                        </a:rPr>
                        <a:t>Price positioning versus the market average</a:t>
                      </a:r>
                      <a:endParaRPr sz="1100"/>
                    </a:p>
                  </a:txBody>
                  <a:tcPr marL="771525" marR="9525" marT="9525" marB="0" anchor="ctr"/>
                </a:tc>
              </a:tr>
              <a:tr h="175260">
                <a:tc>
                  <a:txBody>
                    <a:bodyPr wrap="square"/>
                    <a:lstStyle/>
                    <a:p>
                      <a:pPr algn="l"/>
                      <a:r>
                        <a:rPr sz="1100" b="0" i="0">
                          <a:solidFill>
                            <a:srgbClr val="000000"/>
                          </a:solidFill>
                          <a:latin typeface="Calibri"/>
                        </a:rPr>
                        <a:t>6.3.4.</a:t>
                      </a:r>
                      <a:r>
                        <a:rPr sz="700" b="0" i="0">
                          <a:solidFill>
                            <a:srgbClr val="000000"/>
                          </a:solidFill>
                          <a:latin typeface="Times New Roman"/>
                        </a:rPr>
                        <a:t>   </a:t>
                      </a:r>
                      <a:r>
                        <a:rPr sz="1100" b="0" i="0">
                          <a:solidFill>
                            <a:srgbClr val="000000"/>
                          </a:solidFill>
                          <a:latin typeface="Calibri"/>
                        </a:rPr>
                        <a:t>Technology-wise pricing</a:t>
                      </a:r>
                      <a:endParaRPr sz="1100"/>
                    </a:p>
                  </a:txBody>
                  <a:tcPr marL="771525" marR="9525" marT="9525" marB="0" anchor="ctr"/>
                </a:tc>
              </a:tr>
              <a:tr h="175260">
                <a:tc>
                  <a:txBody>
                    <a:bodyPr wrap="square"/>
                    <a:lstStyle/>
                    <a:p>
                      <a:pPr algn="l"/>
                      <a:r>
                        <a:rPr sz="1100" b="0" i="0">
                          <a:solidFill>
                            <a:srgbClr val="000000"/>
                          </a:solidFill>
                          <a:latin typeface="Calibri"/>
                        </a:rPr>
                        <a:t>6.3.5.</a:t>
                      </a:r>
                      <a:r>
                        <a:rPr sz="700" b="0" i="0">
                          <a:solidFill>
                            <a:srgbClr val="000000"/>
                          </a:solidFill>
                          <a:latin typeface="Times New Roman"/>
                        </a:rPr>
                        <a:t>   </a:t>
                      </a:r>
                      <a:r>
                        <a:rPr sz="1100" b="0" i="0">
                          <a:solidFill>
                            <a:srgbClr val="000000"/>
                          </a:solidFill>
                          <a:latin typeface="Calibri"/>
                        </a:rPr>
                        <a:t>Capacity- and pressure-wise pricing</a:t>
                      </a:r>
                      <a:endParaRPr sz="1100"/>
                    </a:p>
                  </a:txBody>
                  <a:tcPr marL="771525" marR="9525" marT="9525" marB="0" anchor="ctr"/>
                </a:tc>
              </a:tr>
              <a:tr h="175260">
                <a:tc>
                  <a:txBody>
                    <a:bodyPr wrap="square"/>
                    <a:lstStyle/>
                    <a:p>
                      <a:pPr algn="l"/>
                      <a:r>
                        <a:rPr sz="1100" b="0" i="0">
                          <a:solidFill>
                            <a:srgbClr val="000000"/>
                          </a:solidFill>
                          <a:latin typeface="Calibri"/>
                        </a:rPr>
                        <a:t>6.3.6.</a:t>
                      </a:r>
                      <a:r>
                        <a:rPr sz="700" b="0" i="0">
                          <a:solidFill>
                            <a:srgbClr val="000000"/>
                          </a:solidFill>
                          <a:latin typeface="Times New Roman"/>
                        </a:rPr>
                        <a:t>   </a:t>
                      </a:r>
                      <a:r>
                        <a:rPr sz="1100" b="0" i="0">
                          <a:solidFill>
                            <a:srgbClr val="000000"/>
                          </a:solidFill>
                          <a:latin typeface="Calibri"/>
                        </a:rPr>
                        <a:t>Oil-free vs. oil-injected product pricing</a:t>
                      </a:r>
                      <a:endParaRPr sz="1100"/>
                    </a:p>
                  </a:txBody>
                  <a:tcPr marL="771525" marR="9525" marT="9525" marB="0" anchor="ctr"/>
                </a:tc>
              </a:tr>
              <a:tr h="175260">
                <a:tc>
                  <a:txBody>
                    <a:bodyPr wrap="square"/>
                    <a:lstStyle/>
                    <a:p>
                      <a:pPr algn="l"/>
                      <a:r>
                        <a:rPr sz="1100" b="0" i="0">
                          <a:solidFill>
                            <a:srgbClr val="000000"/>
                          </a:solidFill>
                          <a:latin typeface="Calibri"/>
                        </a:rPr>
                        <a:t>6.3.7.</a:t>
                      </a:r>
                      <a:r>
                        <a:rPr sz="700" b="0" i="0">
                          <a:solidFill>
                            <a:srgbClr val="000000"/>
                          </a:solidFill>
                          <a:latin typeface="Times New Roman"/>
                        </a:rPr>
                        <a:t>   </a:t>
                      </a:r>
                      <a:r>
                        <a:rPr sz="1100" b="0" i="0">
                          <a:solidFill>
                            <a:srgbClr val="000000"/>
                          </a:solidFill>
                          <a:latin typeface="Calibri"/>
                        </a:rPr>
                        <a:t>VSD vs. fixed-speed pricing</a:t>
                      </a:r>
                      <a:endParaRPr sz="1100"/>
                    </a:p>
                  </a:txBody>
                  <a:tcPr marL="771525" marR="9525" marT="9525" marB="0" anchor="ctr"/>
                </a:tc>
              </a:tr>
              <a:tr h="175260">
                <a:tc>
                  <a:txBody>
                    <a:bodyPr wrap="square"/>
                    <a:lstStyle/>
                    <a:p>
                      <a:pPr algn="l"/>
                      <a:r>
                        <a:rPr sz="1100" b="0" i="0">
                          <a:solidFill>
                            <a:srgbClr val="000000"/>
                          </a:solidFill>
                          <a:latin typeface="Calibri"/>
                        </a:rPr>
                        <a:t>6.3.8.</a:t>
                      </a:r>
                      <a:r>
                        <a:rPr sz="700" b="0" i="0">
                          <a:solidFill>
                            <a:srgbClr val="000000"/>
                          </a:solidFill>
                          <a:latin typeface="Times New Roman"/>
                        </a:rPr>
                        <a:t>   </a:t>
                      </a:r>
                      <a:r>
                        <a:rPr sz="1100" b="0" i="0">
                          <a:solidFill>
                            <a:srgbClr val="000000"/>
                          </a:solidFill>
                          <a:latin typeface="Calibri"/>
                        </a:rPr>
                        <a:t>Standalone vs. integrated package pricing</a:t>
                      </a:r>
                      <a:endParaRPr sz="1100"/>
                    </a:p>
                  </a:txBody>
                  <a:tcPr marL="771525" marR="9525" marT="9525" marB="0" anchor="ctr"/>
                </a:tc>
              </a:tr>
              <a:tr h="175260">
                <a:tc>
                  <a:txBody>
                    <a:bodyPr wrap="square"/>
                    <a:lstStyle/>
                    <a:p>
                      <a:pPr algn="l"/>
                      <a:r>
                        <a:rPr sz="1100" b="0" i="0">
                          <a:solidFill>
                            <a:srgbClr val="000000"/>
                          </a:solidFill>
                          <a:latin typeface="Calibri"/>
                        </a:rPr>
                        <a:t>6.3.9.</a:t>
                      </a:r>
                      <a:r>
                        <a:rPr sz="700" b="0" i="0">
                          <a:solidFill>
                            <a:srgbClr val="000000"/>
                          </a:solidFill>
                          <a:latin typeface="Times New Roman"/>
                        </a:rPr>
                        <a:t>   </a:t>
                      </a:r>
                      <a:r>
                        <a:rPr sz="1100" b="0" i="0">
                          <a:solidFill>
                            <a:srgbClr val="000000"/>
                          </a:solidFill>
                          <a:latin typeface="Calibri"/>
                        </a:rPr>
                        <a:t>OEM vs. distributor pricing</a:t>
                      </a:r>
                      <a:endParaRPr sz="1100"/>
                    </a:p>
                  </a:txBody>
                  <a:tcPr marL="771525" marR="9525" marT="9525" marB="0" anchor="ctr"/>
                </a:tc>
              </a:tr>
              <a:tr h="175260">
                <a:tc>
                  <a:txBody>
                    <a:bodyPr wrap="square"/>
                    <a:lstStyle/>
                    <a:p>
                      <a:pPr algn="l"/>
                      <a:r>
                        <a:rPr sz="1100" b="0" i="0">
                          <a:solidFill>
                            <a:srgbClr val="000000"/>
                          </a:solidFill>
                          <a:latin typeface="Calibri"/>
                        </a:rPr>
                        <a:t>6.3.10.</a:t>
                      </a:r>
                      <a:r>
                        <a:rPr sz="700" b="0" i="0">
                          <a:solidFill>
                            <a:srgbClr val="000000"/>
                          </a:solidFill>
                          <a:latin typeface="Times New Roman"/>
                        </a:rPr>
                        <a:t> </a:t>
                      </a:r>
                      <a:r>
                        <a:rPr sz="1100" b="0" i="0">
                          <a:solidFill>
                            <a:srgbClr val="000000"/>
                          </a:solidFill>
                          <a:latin typeface="Calibri"/>
                        </a:rPr>
                        <a:t>Service, warranty, and lifecycle support premiums</a:t>
                      </a:r>
                      <a:endParaRPr sz="1100"/>
                    </a:p>
                  </a:txBody>
                  <a:tcPr marL="771525" marR="9525" marT="9525" marB="0" anchor="ctr"/>
                </a:tc>
              </a:tr>
              <a:tr h="175260">
                <a:tc>
                  <a:txBody>
                    <a:bodyPr wrap="square"/>
                    <a:lstStyle/>
                    <a:p>
                      <a:pPr algn="l"/>
                      <a:r>
                        <a:rPr sz="1100" b="0" i="0">
                          <a:solidFill>
                            <a:srgbClr val="0070C0"/>
                          </a:solidFill>
                          <a:latin typeface="Calibri"/>
                        </a:rPr>
                        <a:t>6.4.</a:t>
                      </a:r>
                      <a:r>
                        <a:rPr sz="700" b="0" i="0">
                          <a:solidFill>
                            <a:srgbClr val="0070C0"/>
                          </a:solidFill>
                          <a:latin typeface="Times New Roman"/>
                        </a:rPr>
                        <a:t>    </a:t>
                      </a:r>
                      <a:r>
                        <a:rPr sz="1100" b="0" i="0">
                          <a:solidFill>
                            <a:srgbClr val="0070C0"/>
                          </a:solidFill>
                          <a:latin typeface="Calibri"/>
                        </a:rPr>
                        <a:t>Regional Pricing, Cost Drivers &amp; Price Outlook</a:t>
                      </a:r>
                      <a:endParaRPr sz="1100"/>
                    </a:p>
                  </a:txBody>
                  <a:tcPr marL="428625" marR="9525" marT="9525" marB="0" anchor="ctr"/>
                </a:tc>
              </a:tr>
              <a:tr h="175260">
                <a:tc>
                  <a:txBody>
                    <a:bodyPr wrap="square"/>
                    <a:lstStyle/>
                    <a:p>
                      <a:pPr algn="l"/>
                      <a:r>
                        <a:rPr sz="1100" b="0" i="0">
                          <a:solidFill>
                            <a:srgbClr val="000000"/>
                          </a:solidFill>
                          <a:latin typeface="Calibri"/>
                        </a:rPr>
                        <a:t>6.4.1.</a:t>
                      </a:r>
                      <a:r>
                        <a:rPr sz="700" b="0" i="0">
                          <a:solidFill>
                            <a:srgbClr val="000000"/>
                          </a:solidFill>
                          <a:latin typeface="Times New Roman"/>
                        </a:rPr>
                        <a:t>   </a:t>
                      </a:r>
                      <a:r>
                        <a:rPr sz="1100" b="0" i="0">
                          <a:solidFill>
                            <a:srgbClr val="000000"/>
                          </a:solidFill>
                          <a:latin typeface="Calibri"/>
                        </a:rPr>
                        <a:t>North America</a:t>
                      </a:r>
                      <a:endParaRPr sz="1100"/>
                    </a:p>
                  </a:txBody>
                  <a:tcPr marL="771525" marR="9525" marT="9525" marB="0" anchor="ctr"/>
                </a:tc>
              </a:tr>
              <a:tr h="175260">
                <a:tc>
                  <a:txBody>
                    <a:bodyPr wrap="square"/>
                    <a:lstStyle/>
                    <a:p>
                      <a:pPr algn="l"/>
                      <a:r>
                        <a:rPr sz="1100" b="0" i="0">
                          <a:solidFill>
                            <a:srgbClr val="000000"/>
                          </a:solidFill>
                          <a:latin typeface="Calibri"/>
                        </a:rPr>
                        <a:t>6.4.2.</a:t>
                      </a:r>
                      <a:r>
                        <a:rPr sz="700" b="0" i="0">
                          <a:solidFill>
                            <a:srgbClr val="000000"/>
                          </a:solidFill>
                          <a:latin typeface="Times New Roman"/>
                        </a:rPr>
                        <a:t>   </a:t>
                      </a:r>
                      <a:r>
                        <a:rPr sz="1100" b="0" i="0">
                          <a:solidFill>
                            <a:srgbClr val="000000"/>
                          </a:solidFill>
                          <a:latin typeface="Calibri"/>
                        </a:rPr>
                        <a:t>Europe</a:t>
                      </a:r>
                      <a:endParaRPr sz="1100"/>
                    </a:p>
                  </a:txBody>
                  <a:tcPr marL="771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(2/10)</a:t>
            </a:r>
          </a:p>
        </p:txBody>
      </p:sp>
      <p:graphicFrame>
        <p:nvGraphicFramePr>
          <p:cNvPr id="6"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6.4.3.</a:t>
                      </a:r>
                      <a:r>
                        <a:rPr sz="700" b="0" i="0">
                          <a:solidFill>
                            <a:srgbClr val="000000"/>
                          </a:solidFill>
                          <a:latin typeface="Times New Roman"/>
                        </a:rPr>
                        <a:t>   </a:t>
                      </a:r>
                      <a:r>
                        <a:rPr sz="1100" b="0" i="0">
                          <a:solidFill>
                            <a:srgbClr val="000000"/>
                          </a:solidFill>
                          <a:latin typeface="Calibri"/>
                        </a:rPr>
                        <a:t>Asia Pacific</a:t>
                      </a:r>
                      <a:endParaRPr sz="1100"/>
                    </a:p>
                  </a:txBody>
                  <a:tcPr marL="771525" marR="9525" marT="9525" marB="0" anchor="ctr"/>
                </a:tc>
              </a:tr>
              <a:tr h="175260">
                <a:tc>
                  <a:txBody>
                    <a:bodyPr wrap="square"/>
                    <a:lstStyle/>
                    <a:p>
                      <a:pPr algn="l"/>
                      <a:r>
                        <a:rPr sz="1100" b="0" i="0">
                          <a:solidFill>
                            <a:srgbClr val="000000"/>
                          </a:solidFill>
                          <a:latin typeface="Calibri"/>
                        </a:rPr>
                        <a:t>6.4.4.</a:t>
                      </a:r>
                      <a:r>
                        <a:rPr sz="700" b="0" i="0">
                          <a:solidFill>
                            <a:srgbClr val="000000"/>
                          </a:solidFill>
                          <a:latin typeface="Times New Roman"/>
                        </a:rPr>
                        <a:t>   </a:t>
                      </a:r>
                      <a:r>
                        <a:rPr sz="1100" b="0" i="0">
                          <a:solidFill>
                            <a:srgbClr val="000000"/>
                          </a:solidFill>
                          <a:latin typeface="Calibri"/>
                        </a:rPr>
                        <a:t>Latin America</a:t>
                      </a:r>
                      <a:endParaRPr sz="1100"/>
                    </a:p>
                  </a:txBody>
                  <a:tcPr marL="771525" marR="9525" marT="9525" marB="0" anchor="ctr"/>
                </a:tc>
              </a:tr>
              <a:tr h="175260">
                <a:tc>
                  <a:txBody>
                    <a:bodyPr wrap="square"/>
                    <a:lstStyle/>
                    <a:p>
                      <a:pPr algn="l"/>
                      <a:r>
                        <a:rPr sz="1100" b="0" i="0">
                          <a:solidFill>
                            <a:srgbClr val="000000"/>
                          </a:solidFill>
                          <a:latin typeface="Calibri"/>
                        </a:rPr>
                        <a:t>6.4.5.</a:t>
                      </a:r>
                      <a:r>
                        <a:rPr sz="700" b="0" i="0">
                          <a:solidFill>
                            <a:srgbClr val="000000"/>
                          </a:solidFill>
                          <a:latin typeface="Times New Roman"/>
                        </a:rPr>
                        <a:t>   </a:t>
                      </a:r>
                      <a:r>
                        <a:rPr sz="1100" b="0" i="0">
                          <a:solidFill>
                            <a:srgbClr val="000000"/>
                          </a:solidFill>
                          <a:latin typeface="Calibri"/>
                        </a:rPr>
                        <a:t>Middle East &amp; Africa</a:t>
                      </a:r>
                      <a:endParaRPr sz="1100"/>
                    </a:p>
                  </a:txBody>
                  <a:tcPr marL="771525" marR="9525" marT="9525" marB="0" anchor="ctr"/>
                </a:tc>
              </a:tr>
              <a:tr h="175260">
                <a:tc>
                  <a:txBody>
                    <a:bodyPr wrap="square"/>
                    <a:lstStyle/>
                    <a:p>
                      <a:pPr algn="l"/>
                      <a:r>
                        <a:rPr sz="1100" b="0" i="0">
                          <a:solidFill>
                            <a:srgbClr val="000000"/>
                          </a:solidFill>
                          <a:latin typeface="Calibri"/>
                        </a:rPr>
                        <a:t>6.4.6.</a:t>
                      </a:r>
                      <a:r>
                        <a:rPr sz="700" b="0" i="0">
                          <a:solidFill>
                            <a:srgbClr val="000000"/>
                          </a:solidFill>
                          <a:latin typeface="Times New Roman"/>
                        </a:rPr>
                        <a:t>   </a:t>
                      </a:r>
                      <a:r>
                        <a:rPr sz="1100" b="0" i="0">
                          <a:solidFill>
                            <a:srgbClr val="000000"/>
                          </a:solidFill>
                          <a:latin typeface="Calibri"/>
                        </a:rPr>
                        <a:t>Compressor air-end and motor costs</a:t>
                      </a:r>
                      <a:endParaRPr sz="1100"/>
                    </a:p>
                  </a:txBody>
                  <a:tcPr marL="771525" marR="9525" marT="9525" marB="0" anchor="ctr"/>
                </a:tc>
              </a:tr>
              <a:tr h="175260">
                <a:tc>
                  <a:txBody>
                    <a:bodyPr wrap="square"/>
                    <a:lstStyle/>
                    <a:p>
                      <a:pPr algn="l"/>
                      <a:r>
                        <a:rPr sz="1100" b="0" i="0">
                          <a:solidFill>
                            <a:srgbClr val="000000"/>
                          </a:solidFill>
                          <a:latin typeface="Calibri"/>
                        </a:rPr>
                        <a:t>6.4.7.</a:t>
                      </a:r>
                      <a:r>
                        <a:rPr sz="700" b="0" i="0">
                          <a:solidFill>
                            <a:srgbClr val="000000"/>
                          </a:solidFill>
                          <a:latin typeface="Times New Roman"/>
                        </a:rPr>
                        <a:t>   </a:t>
                      </a:r>
                      <a:r>
                        <a:rPr sz="1100" b="0" i="0">
                          <a:solidFill>
                            <a:srgbClr val="000000"/>
                          </a:solidFill>
                          <a:latin typeface="Calibri"/>
                        </a:rPr>
                        <a:t>Steel, castings, bearings, and component costs</a:t>
                      </a:r>
                      <a:endParaRPr sz="1100"/>
                    </a:p>
                  </a:txBody>
                  <a:tcPr marL="771525" marR="9525" marT="9525" marB="0" anchor="ctr"/>
                </a:tc>
              </a:tr>
              <a:tr h="175260">
                <a:tc>
                  <a:txBody>
                    <a:bodyPr wrap="square"/>
                    <a:lstStyle/>
                    <a:p>
                      <a:pPr algn="l"/>
                      <a:r>
                        <a:rPr sz="1100" b="0" i="0">
                          <a:solidFill>
                            <a:srgbClr val="000000"/>
                          </a:solidFill>
                          <a:latin typeface="Calibri"/>
                        </a:rPr>
                        <a:t>6.4.8.</a:t>
                      </a:r>
                      <a:r>
                        <a:rPr sz="700" b="0" i="0">
                          <a:solidFill>
                            <a:srgbClr val="000000"/>
                          </a:solidFill>
                          <a:latin typeface="Times New Roman"/>
                        </a:rPr>
                        <a:t>   </a:t>
                      </a:r>
                      <a:r>
                        <a:rPr sz="1100" b="0" i="0">
                          <a:solidFill>
                            <a:srgbClr val="000000"/>
                          </a:solidFill>
                          <a:latin typeface="Calibri"/>
                        </a:rPr>
                        <a:t>Power electronics and VSD costs</a:t>
                      </a:r>
                      <a:endParaRPr sz="1100"/>
                    </a:p>
                  </a:txBody>
                  <a:tcPr marL="771525" marR="9525" marT="9525" marB="0" anchor="ctr"/>
                </a:tc>
              </a:tr>
              <a:tr h="175260">
                <a:tc>
                  <a:txBody>
                    <a:bodyPr wrap="square"/>
                    <a:lstStyle/>
                    <a:p>
                      <a:pPr algn="l"/>
                      <a:r>
                        <a:rPr sz="1100" b="0" i="0">
                          <a:solidFill>
                            <a:srgbClr val="000000"/>
                          </a:solidFill>
                          <a:latin typeface="Calibri"/>
                        </a:rPr>
                        <a:t>6.4.9.</a:t>
                      </a:r>
                      <a:r>
                        <a:rPr sz="700" b="0" i="0">
                          <a:solidFill>
                            <a:srgbClr val="000000"/>
                          </a:solidFill>
                          <a:latin typeface="Times New Roman"/>
                        </a:rPr>
                        <a:t>   </a:t>
                      </a:r>
                      <a:r>
                        <a:rPr sz="1100" b="0" i="0">
                          <a:solidFill>
                            <a:srgbClr val="000000"/>
                          </a:solidFill>
                          <a:latin typeface="Calibri"/>
                        </a:rPr>
                        <a:t>Cooling, filtration, and drying equipment</a:t>
                      </a:r>
                      <a:endParaRPr sz="1100"/>
                    </a:p>
                  </a:txBody>
                  <a:tcPr marL="771525" marR="9525" marT="9525" marB="0" anchor="ctr"/>
                </a:tc>
              </a:tr>
              <a:tr h="175260">
                <a:tc>
                  <a:txBody>
                    <a:bodyPr wrap="square"/>
                    <a:lstStyle/>
                    <a:p>
                      <a:pPr algn="l"/>
                      <a:r>
                        <a:rPr sz="1100" b="0" i="0">
                          <a:solidFill>
                            <a:srgbClr val="000000"/>
                          </a:solidFill>
                          <a:latin typeface="Calibri"/>
                        </a:rPr>
                        <a:t>6.4.10.</a:t>
                      </a:r>
                      <a:r>
                        <a:rPr sz="700" b="0" i="0">
                          <a:solidFill>
                            <a:srgbClr val="000000"/>
                          </a:solidFill>
                          <a:latin typeface="Times New Roman"/>
                        </a:rPr>
                        <a:t> </a:t>
                      </a:r>
                      <a:r>
                        <a:rPr sz="1100" b="0" i="0">
                          <a:solidFill>
                            <a:srgbClr val="000000"/>
                          </a:solidFill>
                          <a:latin typeface="Calibri"/>
                        </a:rPr>
                        <a:t>Manufacturing labor and energy costs</a:t>
                      </a:r>
                      <a:endParaRPr sz="1100"/>
                    </a:p>
                  </a:txBody>
                  <a:tcPr marL="771525" marR="9525" marT="9525" marB="0" anchor="ctr"/>
                </a:tc>
              </a:tr>
              <a:tr h="175260">
                <a:tc>
                  <a:txBody>
                    <a:bodyPr wrap="square"/>
                    <a:lstStyle/>
                    <a:p>
                      <a:pPr algn="l"/>
                      <a:r>
                        <a:rPr sz="1100" b="0" i="0">
                          <a:solidFill>
                            <a:srgbClr val="000000"/>
                          </a:solidFill>
                          <a:latin typeface="Calibri"/>
                        </a:rPr>
                        <a:t>6.4.11.</a:t>
                      </a:r>
                      <a:r>
                        <a:rPr sz="700" b="0" i="0">
                          <a:solidFill>
                            <a:srgbClr val="000000"/>
                          </a:solidFill>
                          <a:latin typeface="Times New Roman"/>
                        </a:rPr>
                        <a:t> </a:t>
                      </a:r>
                      <a:r>
                        <a:rPr sz="1100" b="0" i="0">
                          <a:solidFill>
                            <a:srgbClr val="000000"/>
                          </a:solidFill>
                          <a:latin typeface="Calibri"/>
                        </a:rPr>
                        <a:t>Freight, import duties, and tariffs</a:t>
                      </a:r>
                      <a:endParaRPr sz="1100"/>
                    </a:p>
                  </a:txBody>
                  <a:tcPr marL="771525" marR="9525" marT="9525" marB="0" anchor="ctr"/>
                </a:tc>
              </a:tr>
              <a:tr h="175260">
                <a:tc>
                  <a:txBody>
                    <a:bodyPr wrap="square"/>
                    <a:lstStyle/>
                    <a:p>
                      <a:pPr algn="l"/>
                      <a:r>
                        <a:rPr sz="1100" b="0" i="0">
                          <a:solidFill>
                            <a:srgbClr val="000000"/>
                          </a:solidFill>
                          <a:latin typeface="Calibri"/>
                        </a:rPr>
                        <a:t>6.4.12.</a:t>
                      </a:r>
                      <a:r>
                        <a:rPr sz="700" b="0" i="0">
                          <a:solidFill>
                            <a:srgbClr val="000000"/>
                          </a:solidFill>
                          <a:latin typeface="Times New Roman"/>
                        </a:rPr>
                        <a:t> </a:t>
                      </a:r>
                      <a:r>
                        <a:rPr sz="1100" b="0" i="0">
                          <a:solidFill>
                            <a:srgbClr val="000000"/>
                          </a:solidFill>
                          <a:latin typeface="Calibri"/>
                        </a:rPr>
                        <a:t>Distributor and system-integrator margins</a:t>
                      </a:r>
                      <a:endParaRPr sz="1100"/>
                    </a:p>
                  </a:txBody>
                  <a:tcPr marL="771525" marR="9525" marT="9525" marB="0" anchor="ctr"/>
                </a:tc>
              </a:tr>
              <a:tr h="175260">
                <a:tc>
                  <a:txBody>
                    <a:bodyPr wrap="square"/>
                    <a:lstStyle/>
                    <a:p>
                      <a:pPr algn="l"/>
                      <a:r>
                        <a:rPr sz="1100" b="0" i="0">
                          <a:solidFill>
                            <a:srgbClr val="000000"/>
                          </a:solidFill>
                          <a:latin typeface="Calibri"/>
                        </a:rPr>
                        <a:t>6.4.13.</a:t>
                      </a:r>
                      <a:r>
                        <a:rPr sz="700" b="0" i="0">
                          <a:solidFill>
                            <a:srgbClr val="000000"/>
                          </a:solidFill>
                          <a:latin typeface="Times New Roman"/>
                        </a:rPr>
                        <a:t> </a:t>
                      </a:r>
                      <a:r>
                        <a:rPr sz="1100" b="0" i="0">
                          <a:solidFill>
                            <a:srgbClr val="000000"/>
                          </a:solidFill>
                          <a:latin typeface="Calibri"/>
                        </a:rPr>
                        <a:t>Installation and commissioning</a:t>
                      </a:r>
                      <a:endParaRPr sz="1100"/>
                    </a:p>
                  </a:txBody>
                  <a:tcPr marL="771525" marR="9525" marT="9525" marB="0" anchor="ctr"/>
                </a:tc>
              </a:tr>
              <a:tr h="175260">
                <a:tc>
                  <a:txBody>
                    <a:bodyPr wrap="square"/>
                    <a:lstStyle/>
                    <a:p>
                      <a:pPr algn="l"/>
                      <a:r>
                        <a:rPr sz="1100" b="0" i="0">
                          <a:solidFill>
                            <a:srgbClr val="000000"/>
                          </a:solidFill>
                          <a:latin typeface="Calibri"/>
                        </a:rPr>
                        <a:t>6.4.14.</a:t>
                      </a:r>
                      <a:r>
                        <a:rPr sz="700" b="0" i="0">
                          <a:solidFill>
                            <a:srgbClr val="000000"/>
                          </a:solidFill>
                          <a:latin typeface="Times New Roman"/>
                        </a:rPr>
                        <a:t> </a:t>
                      </a:r>
                      <a:r>
                        <a:rPr sz="1100" b="0" i="0">
                          <a:solidFill>
                            <a:srgbClr val="000000"/>
                          </a:solidFill>
                          <a:latin typeface="Calibri"/>
                        </a:rPr>
                        <a:t>Regional price differentials</a:t>
                      </a:r>
                      <a:endParaRPr sz="1100"/>
                    </a:p>
                  </a:txBody>
                  <a:tcPr marL="771525" marR="9525" marT="9525" marB="0" anchor="ctr"/>
                </a:tc>
              </a:tr>
              <a:tr h="175260">
                <a:tc>
                  <a:txBody>
                    <a:bodyPr wrap="square"/>
                    <a:lstStyle/>
                    <a:p>
                      <a:pPr algn="l"/>
                      <a:r>
                        <a:rPr sz="1100" b="0" i="0">
                          <a:solidFill>
                            <a:srgbClr val="000000"/>
                          </a:solidFill>
                          <a:latin typeface="Calibri"/>
                        </a:rPr>
                        <a:t>6.4.15.</a:t>
                      </a:r>
                      <a:r>
                        <a:rPr sz="700" b="0" i="0">
                          <a:solidFill>
                            <a:srgbClr val="000000"/>
                          </a:solidFill>
                          <a:latin typeface="Times New Roman"/>
                        </a:rPr>
                        <a:t> </a:t>
                      </a:r>
                      <a:r>
                        <a:rPr sz="1100" b="0" i="0">
                          <a:solidFill>
                            <a:srgbClr val="000000"/>
                          </a:solidFill>
                          <a:latin typeface="Calibri"/>
                        </a:rPr>
                        <a:t>2026–2036 pricing outlook</a:t>
                      </a:r>
                      <a:endParaRPr sz="1100"/>
                    </a:p>
                  </a:txBody>
                  <a:tcPr marL="771525" marR="9525" marT="9525" marB="0" anchor="ctr"/>
                </a:tc>
              </a:tr>
              <a:tr h="350520">
                <a:tc>
                  <a:txBody>
                    <a:bodyPr wrap="square"/>
                    <a:lstStyle/>
                    <a:p>
                      <a:pPr algn="l"/>
                      <a:r>
                        <a:rPr sz="1100" b="1" i="0">
                          <a:solidFill>
                            <a:srgbClr val="000000"/>
                          </a:solidFill>
                          <a:latin typeface="Calibri"/>
                        </a:rPr>
                        <a:t>7.</a:t>
                      </a:r>
                      <a:r>
                        <a:rPr sz="700" b="1" i="0">
                          <a:solidFill>
                            <a:srgbClr val="000000"/>
                          </a:solidFill>
                          <a:latin typeface="Times New Roman"/>
                        </a:rPr>
                        <a:t>       </a:t>
                      </a:r>
                      <a:r>
                        <a:rPr sz="1100" b="1" i="0">
                          <a:solidFill>
                            <a:srgbClr val="000000"/>
                          </a:solidFill>
                          <a:latin typeface="Calibri"/>
                        </a:rPr>
                        <a:t>Global Industrial Air Compressor Market Demand (US$ Mn)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7.1.</a:t>
                      </a:r>
                      <a:r>
                        <a:rPr sz="700" b="0" i="0">
                          <a:solidFill>
                            <a:srgbClr val="0070C0"/>
                          </a:solidFill>
                          <a:latin typeface="Times New Roman"/>
                        </a:rPr>
                        <a:t>    </a:t>
                      </a:r>
                      <a:r>
                        <a:rPr sz="1100" b="0" i="0">
                          <a:solidFill>
                            <a:srgbClr val="0070C0"/>
                          </a:solidFill>
                          <a:latin typeface="Calibri"/>
                        </a:rPr>
                        <a:t>Historical Market Value (US$ Mn) Analysis, 2021–2025</a:t>
                      </a:r>
                      <a:endParaRPr sz="1100"/>
                    </a:p>
                  </a:txBody>
                  <a:tcPr marL="428625" marR="9525" marT="9525" marB="0" anchor="ctr"/>
                </a:tc>
              </a:tr>
              <a:tr h="175260">
                <a:tc>
                  <a:txBody>
                    <a:bodyPr wrap="square"/>
                    <a:lstStyle/>
                    <a:p>
                      <a:pPr algn="l"/>
                      <a:r>
                        <a:rPr sz="1100" b="0" i="0">
                          <a:solidFill>
                            <a:srgbClr val="0070C0"/>
                          </a:solidFill>
                          <a:latin typeface="Calibri"/>
                        </a:rPr>
                        <a:t>7.2.</a:t>
                      </a:r>
                      <a:r>
                        <a:rPr sz="700" b="0" i="0">
                          <a:solidFill>
                            <a:srgbClr val="0070C0"/>
                          </a:solidFill>
                          <a:latin typeface="Times New Roman"/>
                        </a:rPr>
                        <a:t>    </a:t>
                      </a:r>
                      <a:r>
                        <a:rPr sz="1100" b="0" i="0">
                          <a:solidFill>
                            <a:srgbClr val="0070C0"/>
                          </a:solidFill>
                          <a:latin typeface="Calibri"/>
                        </a:rPr>
                        <a:t>Current and Future Market Value (US$ Mn) Projections, 2026–2036</a:t>
                      </a:r>
                      <a:endParaRPr sz="1100"/>
                    </a:p>
                  </a:txBody>
                  <a:tcPr marL="428625" marR="9525" marT="9525" marB="0" anchor="ctr"/>
                </a:tc>
              </a:tr>
              <a:tr h="175260">
                <a:tc>
                  <a:txBody>
                    <a:bodyPr wrap="square"/>
                    <a:lstStyle/>
                    <a:p>
                      <a:pPr algn="l"/>
                      <a:r>
                        <a:rPr sz="1100" b="0" i="0">
                          <a:solidFill>
                            <a:srgbClr val="000000"/>
                          </a:solidFill>
                          <a:latin typeface="Calibri"/>
                        </a:rPr>
                        <a:t>7.2.1.</a:t>
                      </a:r>
                      <a:r>
                        <a:rPr sz="700" b="0" i="0">
                          <a:solidFill>
                            <a:srgbClr val="000000"/>
                          </a:solidFill>
                          <a:latin typeface="Times New Roman"/>
                        </a:rPr>
                        <a:t>   </a:t>
                      </a:r>
                      <a:r>
                        <a:rPr sz="1100" b="0" i="0">
                          <a:solidFill>
                            <a:srgbClr val="000000"/>
                          </a:solidFill>
                          <a:latin typeface="Calibri"/>
                        </a:rPr>
                        <a:t>Y-o-Y Growth Trend Analysis</a:t>
                      </a:r>
                      <a:endParaRPr sz="1100"/>
                    </a:p>
                  </a:txBody>
                  <a:tcPr marL="771525" marR="9525" marT="9525" marB="0" anchor="ctr"/>
                </a:tc>
              </a:tr>
              <a:tr h="175260">
                <a:tc>
                  <a:txBody>
                    <a:bodyPr wrap="square"/>
                    <a:lstStyle/>
                    <a:p>
                      <a:pPr algn="l"/>
                      <a:r>
                        <a:rPr sz="1100" b="0" i="0">
                          <a:solidFill>
                            <a:srgbClr val="000000"/>
                          </a:solidFill>
                          <a:latin typeface="Calibri"/>
                        </a:rPr>
                        <a:t>7.2.2.</a:t>
                      </a:r>
                      <a:r>
                        <a:rPr sz="700" b="0" i="0">
                          <a:solidFill>
                            <a:srgbClr val="000000"/>
                          </a:solidFill>
                          <a:latin typeface="Times New Roman"/>
                        </a:rPr>
                        <a:t>   </a:t>
                      </a:r>
                      <a:r>
                        <a:rPr sz="1100" b="0" i="0">
                          <a:solidFill>
                            <a:srgbClr val="000000"/>
                          </a:solidFill>
                          <a:latin typeface="Calibri"/>
                        </a:rPr>
                        <a:t>Absolute $ Opportunity Analysis</a:t>
                      </a:r>
                      <a:endParaRPr sz="1100"/>
                    </a:p>
                  </a:txBody>
                  <a:tcPr marL="771525" marR="9525" marT="9525" marB="0" anchor="ctr"/>
                </a:tc>
              </a:tr>
              <a:tr h="175260">
                <a:tc>
                  <a:txBody>
                    <a:bodyPr wrap="square"/>
                    <a:lstStyle/>
                    <a:p>
                      <a:pPr algn="l"/>
                      <a:r>
                        <a:rPr sz="1100" b="1" i="0">
                          <a:solidFill>
                            <a:srgbClr val="000000"/>
                          </a:solidFill>
                          <a:latin typeface="Calibri"/>
                        </a:rPr>
                        <a:t>8.</a:t>
                      </a:r>
                      <a:r>
                        <a:rPr sz="700" b="1" i="0">
                          <a:solidFill>
                            <a:srgbClr val="000000"/>
                          </a:solidFill>
                          <a:latin typeface="Times New Roman"/>
                        </a:rPr>
                        <a:t>       </a:t>
                      </a:r>
                      <a:r>
                        <a:rPr sz="1100" b="1" i="0">
                          <a:solidFill>
                            <a:srgbClr val="000000"/>
                          </a:solidFill>
                          <a:latin typeface="Calibri"/>
                        </a:rPr>
                        <a:t>Market Background</a:t>
                      </a:r>
                      <a:endParaRPr sz="1100"/>
                    </a:p>
                  </a:txBody>
                  <a:tcPr marL="171450" marR="9525" marT="9525" marB="0" anchor="ctr"/>
                </a:tc>
              </a:tr>
              <a:tr h="175260">
                <a:tc>
                  <a:txBody>
                    <a:bodyPr wrap="square"/>
                    <a:lstStyle/>
                    <a:p>
                      <a:pPr algn="l"/>
                      <a:r>
                        <a:rPr sz="1100" b="0" i="0">
                          <a:solidFill>
                            <a:srgbClr val="0070C0"/>
                          </a:solidFill>
                          <a:latin typeface="Calibri"/>
                        </a:rPr>
                        <a:t>8.1.</a:t>
                      </a:r>
                      <a:r>
                        <a:rPr sz="700" b="0" i="0">
                          <a:solidFill>
                            <a:srgbClr val="0070C0"/>
                          </a:solidFill>
                          <a:latin typeface="Times New Roman"/>
                        </a:rPr>
                        <a:t>    </a:t>
                      </a:r>
                      <a:r>
                        <a:rPr sz="1100" b="0" i="0">
                          <a:solidFill>
                            <a:srgbClr val="0070C0"/>
                          </a:solidFill>
                          <a:latin typeface="Calibri"/>
                        </a:rPr>
                        <a:t>Macro-Economic Factors</a:t>
                      </a:r>
                      <a:endParaRPr sz="1100"/>
                    </a:p>
                  </a:txBody>
                  <a:tcPr marL="428625" marR="9525" marT="9525" marB="0" anchor="ctr"/>
                </a:tc>
              </a:tr>
              <a:tr h="175260">
                <a:tc>
                  <a:txBody>
                    <a:bodyPr wrap="square"/>
                    <a:lstStyle/>
                    <a:p>
                      <a:pPr algn="l"/>
                      <a:r>
                        <a:rPr sz="1100" b="0" i="0">
                          <a:solidFill>
                            <a:srgbClr val="0070C0"/>
                          </a:solidFill>
                          <a:latin typeface="Calibri"/>
                        </a:rPr>
                        <a:t>8.2.</a:t>
                      </a:r>
                      <a:r>
                        <a:rPr sz="700" b="0" i="0">
                          <a:solidFill>
                            <a:srgbClr val="0070C0"/>
                          </a:solidFill>
                          <a:latin typeface="Times New Roman"/>
                        </a:rPr>
                        <a:t>    </a:t>
                      </a:r>
                      <a:r>
                        <a:rPr sz="1100" b="0" i="0">
                          <a:solidFill>
                            <a:srgbClr val="0070C0"/>
                          </a:solidFill>
                          <a:latin typeface="Calibri"/>
                        </a:rPr>
                        <a:t>Forecast Factors - Relevance &amp; Impact</a:t>
                      </a:r>
                      <a:endParaRPr sz="1100"/>
                    </a:p>
                  </a:txBody>
                  <a:tcPr marL="428625" marR="9525" marT="9525" marB="0" anchor="ctr"/>
                </a:tc>
              </a:tr>
              <a:tr h="175260">
                <a:tc>
                  <a:txBody>
                    <a:bodyPr wrap="square"/>
                    <a:lstStyle/>
                    <a:p>
                      <a:pPr algn="l"/>
                      <a:r>
                        <a:rPr sz="1100" b="0" i="0">
                          <a:solidFill>
                            <a:srgbClr val="0070C0"/>
                          </a:solidFill>
                          <a:latin typeface="Calibri"/>
                        </a:rPr>
                        <a:t>8.3.</a:t>
                      </a:r>
                      <a:r>
                        <a:rPr sz="700" b="0" i="0">
                          <a:solidFill>
                            <a:srgbClr val="0070C0"/>
                          </a:solidFill>
                          <a:latin typeface="Times New Roman"/>
                        </a:rPr>
                        <a:t>    </a:t>
                      </a:r>
                      <a:r>
                        <a:rPr sz="1100" b="0" i="0">
                          <a:solidFill>
                            <a:srgbClr val="0070C0"/>
                          </a:solidFill>
                          <a:latin typeface="Calibri"/>
                        </a:rPr>
                        <a:t>Value Chain</a:t>
                      </a:r>
                      <a:endParaRPr sz="1100"/>
                    </a:p>
                  </a:txBody>
                  <a:tcPr marL="428625" marR="9525" marT="9525" marB="0" anchor="ctr"/>
                </a:tc>
              </a:tr>
              <a:tr h="175260">
                <a:tc>
                  <a:txBody>
                    <a:bodyPr wrap="square"/>
                    <a:lstStyle/>
                    <a:p>
                      <a:pPr algn="l"/>
                      <a:r>
                        <a:rPr sz="1100" b="0" i="0">
                          <a:solidFill>
                            <a:srgbClr val="000000"/>
                          </a:solidFill>
                          <a:latin typeface="Calibri"/>
                        </a:rPr>
                        <a:t>8.3.1.</a:t>
                      </a:r>
                      <a:r>
                        <a:rPr sz="700" b="0" i="0">
                          <a:solidFill>
                            <a:srgbClr val="000000"/>
                          </a:solidFill>
                          <a:latin typeface="Times New Roman"/>
                        </a:rPr>
                        <a:t>   </a:t>
                      </a:r>
                      <a:r>
                        <a:rPr sz="1100" b="0" i="0">
                          <a:solidFill>
                            <a:srgbClr val="000000"/>
                          </a:solidFill>
                          <a:latin typeface="Calibri"/>
                        </a:rPr>
                        <a:t>Raw Material Suppliers</a:t>
                      </a:r>
                      <a:endParaRPr sz="1100"/>
                    </a:p>
                  </a:txBody>
                  <a:tcPr marL="771525" marR="9525" marT="9525" marB="0" anchor="ctr"/>
                </a:tc>
              </a:tr>
              <a:tr h="175260">
                <a:tc>
                  <a:txBody>
                    <a:bodyPr wrap="square"/>
                    <a:lstStyle/>
                    <a:p>
                      <a:pPr algn="l"/>
                      <a:r>
                        <a:rPr sz="1100" b="0" i="0">
                          <a:solidFill>
                            <a:srgbClr val="000000"/>
                          </a:solidFill>
                          <a:latin typeface="Calibri"/>
                        </a:rPr>
                        <a:t>8.3.2.</a:t>
                      </a:r>
                      <a:r>
                        <a:rPr sz="700" b="0" i="0">
                          <a:solidFill>
                            <a:srgbClr val="000000"/>
                          </a:solidFill>
                          <a:latin typeface="Times New Roman"/>
                        </a:rPr>
                        <a:t>   </a:t>
                      </a:r>
                      <a:r>
                        <a:rPr sz="1100" b="0" i="0">
                          <a:solidFill>
                            <a:srgbClr val="000000"/>
                          </a:solidFill>
                          <a:latin typeface="Calibri"/>
                        </a:rPr>
                        <a:t>Product Manufacturers</a:t>
                      </a:r>
                      <a:endParaRPr sz="1100"/>
                    </a:p>
                  </a:txBody>
                  <a:tcPr marL="771525" marR="9525" marT="9525" marB="0" anchor="ctr"/>
                </a:tc>
              </a:tr>
              <a:tr h="175260">
                <a:tc>
                  <a:txBody>
                    <a:bodyPr wrap="square"/>
                    <a:lstStyle/>
                    <a:p>
                      <a:pPr algn="l"/>
                      <a:r>
                        <a:rPr sz="1100" b="0" i="0">
                          <a:solidFill>
                            <a:srgbClr val="000000"/>
                          </a:solidFill>
                          <a:latin typeface="Calibri"/>
                        </a:rPr>
                        <a:t>8.3.3.</a:t>
                      </a:r>
                      <a:r>
                        <a:rPr sz="700" b="0" i="0">
                          <a:solidFill>
                            <a:srgbClr val="000000"/>
                          </a:solidFill>
                          <a:latin typeface="Times New Roman"/>
                        </a:rPr>
                        <a:t>   </a:t>
                      </a:r>
                      <a:r>
                        <a:rPr sz="1100" b="0" i="0">
                          <a:solidFill>
                            <a:srgbClr val="000000"/>
                          </a:solidFill>
                          <a:latin typeface="Calibri"/>
                        </a:rPr>
                        <a:t>End Customers</a:t>
                      </a:r>
                      <a:endParaRPr sz="1100"/>
                    </a:p>
                  </a:txBody>
                  <a:tcPr marL="771525" marR="9525" marT="9525" marB="0" anchor="ctr"/>
                </a:tc>
              </a:tr>
              <a:tr h="175260">
                <a:tc>
                  <a:txBody>
                    <a:bodyPr wrap="square"/>
                    <a:lstStyle/>
                    <a:p>
                      <a:pPr algn="l"/>
                      <a:r>
                        <a:rPr sz="1100" b="0" i="0">
                          <a:solidFill>
                            <a:srgbClr val="0070C0"/>
                          </a:solidFill>
                          <a:latin typeface="Calibri"/>
                        </a:rPr>
                        <a:t>8.4.</a:t>
                      </a:r>
                      <a:r>
                        <a:rPr sz="700" b="0" i="0">
                          <a:solidFill>
                            <a:srgbClr val="0070C0"/>
                          </a:solidFill>
                          <a:latin typeface="Times New Roman"/>
                        </a:rPr>
                        <a:t>    </a:t>
                      </a:r>
                      <a:r>
                        <a:rPr sz="1100" b="0" i="0">
                          <a:solidFill>
                            <a:srgbClr val="0070C0"/>
                          </a:solidFill>
                          <a:latin typeface="Calibri"/>
                        </a:rPr>
                        <a:t>Market Dynamics</a:t>
                      </a:r>
                      <a:endParaRPr sz="1100"/>
                    </a:p>
                  </a:txBody>
                  <a:tcPr marL="428625" marR="9525" marT="9525" marB="0" anchor="ctr"/>
                </a:tc>
              </a:tr>
              <a:tr h="175260">
                <a:tc>
                  <a:txBody>
                    <a:bodyPr wrap="square"/>
                    <a:lstStyle/>
                    <a:p>
                      <a:pPr algn="l"/>
                      <a:r>
                        <a:rPr sz="1100" b="0" i="0">
                          <a:solidFill>
                            <a:srgbClr val="000000"/>
                          </a:solidFill>
                          <a:latin typeface="Calibri"/>
                        </a:rPr>
                        <a:t>8.4.1.</a:t>
                      </a:r>
                      <a:r>
                        <a:rPr sz="700" b="0" i="0">
                          <a:solidFill>
                            <a:srgbClr val="000000"/>
                          </a:solidFill>
                          <a:latin typeface="Times New Roman"/>
                        </a:rPr>
                        <a:t>   </a:t>
                      </a:r>
                      <a:r>
                        <a:rPr sz="1100" b="0" i="0">
                          <a:solidFill>
                            <a:srgbClr val="000000"/>
                          </a:solidFill>
                          <a:latin typeface="Calibri"/>
                        </a:rPr>
                        <a:t>Drivers</a:t>
                      </a:r>
                      <a:endParaRPr sz="1100"/>
                    </a:p>
                  </a:txBody>
                  <a:tcPr marL="771525" marR="9525" marT="9525" marB="0" anchor="ctr"/>
                </a:tc>
              </a:tr>
              <a:tr h="175260">
                <a:tc>
                  <a:txBody>
                    <a:bodyPr wrap="square"/>
                    <a:lstStyle/>
                    <a:p>
                      <a:pPr algn="l"/>
                      <a:r>
                        <a:rPr sz="1100" b="0" i="0">
                          <a:solidFill>
                            <a:srgbClr val="000000"/>
                          </a:solidFill>
                          <a:latin typeface="Calibri"/>
                        </a:rPr>
                        <a:t>8.4.2.</a:t>
                      </a:r>
                      <a:r>
                        <a:rPr sz="700" b="0" i="0">
                          <a:solidFill>
                            <a:srgbClr val="000000"/>
                          </a:solidFill>
                          <a:latin typeface="Times New Roman"/>
                        </a:rPr>
                        <a:t>   </a:t>
                      </a:r>
                      <a:r>
                        <a:rPr sz="1100" b="0" i="0">
                          <a:solidFill>
                            <a:srgbClr val="000000"/>
                          </a:solidFill>
                          <a:latin typeface="Calibri"/>
                        </a:rPr>
                        <a:t>Restraints</a:t>
                      </a:r>
                      <a:endParaRPr sz="1100"/>
                    </a:p>
                  </a:txBody>
                  <a:tcPr marL="771525" marR="9525" marT="9525" marB="0" anchor="ctr"/>
                </a:tc>
              </a:tr>
              <a:tr h="175260">
                <a:tc>
                  <a:txBody>
                    <a:bodyPr wrap="square"/>
                    <a:lstStyle/>
                    <a:p>
                      <a:pPr algn="l"/>
                      <a:r>
                        <a:rPr sz="1100" b="0" i="0">
                          <a:solidFill>
                            <a:srgbClr val="000000"/>
                          </a:solidFill>
                          <a:latin typeface="Calibri"/>
                        </a:rPr>
                        <a:t>8.4.3.</a:t>
                      </a:r>
                      <a:r>
                        <a:rPr sz="700" b="0" i="0">
                          <a:solidFill>
                            <a:srgbClr val="000000"/>
                          </a:solidFill>
                          <a:latin typeface="Times New Roman"/>
                        </a:rPr>
                        <a:t>   </a:t>
                      </a:r>
                      <a:r>
                        <a:rPr sz="1100" b="0" i="0">
                          <a:solidFill>
                            <a:srgbClr val="000000"/>
                          </a:solidFill>
                          <a:latin typeface="Calibri"/>
                        </a:rPr>
                        <a:t>Opportunity Analysis</a:t>
                      </a:r>
                      <a:endParaRPr sz="1100"/>
                    </a:p>
                  </a:txBody>
                  <a:tcPr marL="771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9.</a:t>
                      </a:r>
                      <a:r>
                        <a:rPr sz="700" b="1" i="0">
                          <a:solidFill>
                            <a:srgbClr val="000000"/>
                          </a:solidFill>
                          <a:latin typeface="Times New Roman"/>
                        </a:rPr>
                        <a:t>       </a:t>
                      </a:r>
                      <a:r>
                        <a:rPr sz="1100" b="1" i="0">
                          <a:solidFill>
                            <a:srgbClr val="000000"/>
                          </a:solidFill>
                          <a:latin typeface="Calibri"/>
                        </a:rPr>
                        <a:t>Global Industrial Air Compressor Market Outlook, 2021–2036, by Technology</a:t>
                      </a:r>
                      <a:endParaRPr sz="1100"/>
                    </a:p>
                  </a:txBody>
                  <a:tcPr marL="171450" marR="9525" marT="9525" marB="0" anchor="ctr"/>
                </a:tc>
              </a:tr>
              <a:tr h="175260">
                <a:tc>
                  <a:txBody>
                    <a:bodyPr wrap="square"/>
                    <a:lstStyle/>
                    <a:p>
                      <a:pPr algn="l"/>
                      <a:r>
                        <a:rPr sz="1100" b="0" i="0">
                          <a:solidFill>
                            <a:srgbClr val="0070C0"/>
                          </a:solidFill>
                          <a:latin typeface="Calibri"/>
                        </a:rPr>
                        <a:t>9.1.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9.2.</a:t>
                      </a:r>
                      <a:r>
                        <a:rPr sz="700" b="0" i="0">
                          <a:solidFill>
                            <a:srgbClr val="0070C0"/>
                          </a:solidFill>
                          <a:latin typeface="Times New Roman"/>
                        </a:rPr>
                        <a:t>    </a:t>
                      </a:r>
                      <a:r>
                        <a:rPr sz="1100" b="0" i="0">
                          <a:solidFill>
                            <a:srgbClr val="0070C0"/>
                          </a:solidFill>
                          <a:latin typeface="Calibri"/>
                        </a:rPr>
                        <a:t>Historical Market Size (US$ Mn) and Volume Analysis By Technology, 2021–2025</a:t>
                      </a:r>
                      <a:endParaRPr sz="1100"/>
                    </a:p>
                  </a:txBody>
                  <a:tcPr marL="428625" marR="9525" marT="9525" marB="0" anchor="ctr"/>
                </a:tc>
              </a:tr>
              <a:tr h="175260">
                <a:tc>
                  <a:txBody>
                    <a:bodyPr wrap="square"/>
                    <a:lstStyle/>
                    <a:p>
                      <a:pPr algn="l"/>
                      <a:r>
                        <a:rPr sz="1100" b="0" i="0">
                          <a:solidFill>
                            <a:srgbClr val="0070C0"/>
                          </a:solidFill>
                          <a:latin typeface="Calibri"/>
                        </a:rPr>
                        <a:t>9.3.</a:t>
                      </a:r>
                      <a:r>
                        <a:rPr sz="700" b="0" i="0">
                          <a:solidFill>
                            <a:srgbClr val="0070C0"/>
                          </a:solidFill>
                          <a:latin typeface="Times New Roman"/>
                        </a:rPr>
                        <a:t>    </a:t>
                      </a:r>
                      <a:r>
                        <a:rPr sz="1100" b="0" i="0">
                          <a:solidFill>
                            <a:srgbClr val="0070C0"/>
                          </a:solidFill>
                          <a:latin typeface="Calibri"/>
                        </a:rPr>
                        <a:t>Market Size (US$ Mn) and Volume Analysis and Forecast By Technology, 2026–2036</a:t>
                      </a:r>
                      <a:endParaRPr sz="1100"/>
                    </a:p>
                  </a:txBody>
                  <a:tcPr marL="428625" marR="9525" marT="9525" marB="0" anchor="ctr"/>
                </a:tc>
              </a:tr>
              <a:tr h="175260">
                <a:tc>
                  <a:txBody>
                    <a:bodyPr wrap="square"/>
                    <a:lstStyle/>
                    <a:p>
                      <a:pPr algn="l"/>
                      <a:r>
                        <a:rPr sz="1100" b="0" i="0">
                          <a:solidFill>
                            <a:srgbClr val="000000"/>
                          </a:solidFill>
                          <a:latin typeface="Calibri"/>
                        </a:rPr>
                        <a:t>9.3.1.</a:t>
                      </a:r>
                      <a:r>
                        <a:rPr sz="700" b="0" i="0">
                          <a:solidFill>
                            <a:srgbClr val="000000"/>
                          </a:solidFill>
                          <a:latin typeface="Times New Roman"/>
                        </a:rPr>
                        <a:t>   </a:t>
                      </a:r>
                      <a:r>
                        <a:rPr sz="1100" b="0" i="0">
                          <a:solidFill>
                            <a:srgbClr val="000000"/>
                          </a:solidFill>
                          <a:latin typeface="Calibri"/>
                        </a:rPr>
                        <a:t>Rotary Screw Air Compressor</a:t>
                      </a:r>
                      <a:endParaRPr sz="1100"/>
                    </a:p>
                  </a:txBody>
                  <a:tcPr marL="771525" marR="9525" marT="9525" marB="0" anchor="ctr"/>
                </a:tc>
              </a:tr>
              <a:tr h="175260">
                <a:tc>
                  <a:txBody>
                    <a:bodyPr wrap="square"/>
                    <a:lstStyle/>
                    <a:p>
                      <a:pPr algn="l"/>
                      <a:r>
                        <a:rPr sz="1100" b="0" i="0">
                          <a:solidFill>
                            <a:srgbClr val="000000"/>
                          </a:solidFill>
                          <a:latin typeface="Calibri"/>
                        </a:rPr>
                        <a:t>9.3.2.</a:t>
                      </a:r>
                      <a:r>
                        <a:rPr sz="700" b="0" i="0">
                          <a:solidFill>
                            <a:srgbClr val="000000"/>
                          </a:solidFill>
                          <a:latin typeface="Times New Roman"/>
                        </a:rPr>
                        <a:t>   </a:t>
                      </a:r>
                      <a:r>
                        <a:rPr sz="1100" b="0" i="0">
                          <a:solidFill>
                            <a:srgbClr val="000000"/>
                          </a:solidFill>
                          <a:latin typeface="Calibri"/>
                        </a:rPr>
                        <a:t>Reciprocating (Piston) Air Compressor</a:t>
                      </a:r>
                      <a:endParaRPr sz="1100"/>
                    </a:p>
                  </a:txBody>
                  <a:tcPr marL="771525" marR="9525" marT="9525" marB="0" anchor="ctr"/>
                </a:tc>
              </a:tr>
              <a:tr h="175260">
                <a:tc>
                  <a:txBody>
                    <a:bodyPr wrap="square"/>
                    <a:lstStyle/>
                    <a:p>
                      <a:pPr algn="l"/>
                      <a:r>
                        <a:rPr sz="1100" b="0" i="0">
                          <a:solidFill>
                            <a:srgbClr val="000000"/>
                          </a:solidFill>
                          <a:latin typeface="Calibri"/>
                        </a:rPr>
                        <a:t>9.3.3.</a:t>
                      </a:r>
                      <a:r>
                        <a:rPr sz="700" b="0" i="0">
                          <a:solidFill>
                            <a:srgbClr val="000000"/>
                          </a:solidFill>
                          <a:latin typeface="Times New Roman"/>
                        </a:rPr>
                        <a:t>   </a:t>
                      </a:r>
                      <a:r>
                        <a:rPr sz="1100" b="0" i="0">
                          <a:solidFill>
                            <a:srgbClr val="000000"/>
                          </a:solidFill>
                          <a:latin typeface="Calibri"/>
                        </a:rPr>
                        <a:t>Centrifugal Air Compressor</a:t>
                      </a:r>
                      <a:endParaRPr sz="1100"/>
                    </a:p>
                  </a:txBody>
                  <a:tcPr marL="771525" marR="9525" marT="9525" marB="0" anchor="ctr"/>
                </a:tc>
              </a:tr>
              <a:tr h="175260">
                <a:tc>
                  <a:txBody>
                    <a:bodyPr wrap="square"/>
                    <a:lstStyle/>
                    <a:p>
                      <a:pPr algn="l"/>
                      <a:r>
                        <a:rPr sz="1100" b="0" i="0">
                          <a:solidFill>
                            <a:srgbClr val="000000"/>
                          </a:solidFill>
                          <a:latin typeface="Calibri"/>
                        </a:rPr>
                        <a:t>9.3.4.</a:t>
                      </a:r>
                      <a:r>
                        <a:rPr sz="700" b="0" i="0">
                          <a:solidFill>
                            <a:srgbClr val="000000"/>
                          </a:solidFill>
                          <a:latin typeface="Times New Roman"/>
                        </a:rPr>
                        <a:t>   </a:t>
                      </a:r>
                      <a:r>
                        <a:rPr sz="1100" b="0" i="0">
                          <a:solidFill>
                            <a:srgbClr val="000000"/>
                          </a:solidFill>
                          <a:latin typeface="Calibri"/>
                        </a:rPr>
                        <a:t>Axial Air Compressor</a:t>
                      </a:r>
                      <a:endParaRPr sz="1100"/>
                    </a:p>
                  </a:txBody>
                  <a:tcPr marL="771525" marR="9525" marT="9525" marB="0" anchor="ctr"/>
                </a:tc>
              </a:tr>
              <a:tr h="175260">
                <a:tc>
                  <a:txBody>
                    <a:bodyPr wrap="square"/>
                    <a:lstStyle/>
                    <a:p>
                      <a:pPr algn="l"/>
                      <a:r>
                        <a:rPr sz="1100" b="0" i="0">
                          <a:solidFill>
                            <a:srgbClr val="000000"/>
                          </a:solidFill>
                          <a:latin typeface="Calibri"/>
                        </a:rPr>
                        <a:t>9.3.5.</a:t>
                      </a:r>
                      <a:r>
                        <a:rPr sz="700" b="0" i="0">
                          <a:solidFill>
                            <a:srgbClr val="000000"/>
                          </a:solidFill>
                          <a:latin typeface="Times New Roman"/>
                        </a:rPr>
                        <a:t>   </a:t>
                      </a:r>
                      <a:r>
                        <a:rPr sz="1100" b="0" i="0">
                          <a:solidFill>
                            <a:srgbClr val="000000"/>
                          </a:solidFill>
                          <a:latin typeface="Calibri"/>
                        </a:rPr>
                        <a:t>Rotary Vane Air Compressor</a:t>
                      </a:r>
                      <a:endParaRPr sz="1100"/>
                    </a:p>
                  </a:txBody>
                  <a:tcPr marL="771525" marR="9525" marT="9525" marB="0" anchor="ctr"/>
                </a:tc>
              </a:tr>
              <a:tr h="175260">
                <a:tc>
                  <a:txBody>
                    <a:bodyPr wrap="square"/>
                    <a:lstStyle/>
                    <a:p>
                      <a:pPr algn="l"/>
                      <a:r>
                        <a:rPr sz="1100" b="0" i="0">
                          <a:solidFill>
                            <a:srgbClr val="000000"/>
                          </a:solidFill>
                          <a:latin typeface="Calibri"/>
                        </a:rPr>
                        <a:t>9.3.6.</a:t>
                      </a:r>
                      <a:r>
                        <a:rPr sz="700" b="0" i="0">
                          <a:solidFill>
                            <a:srgbClr val="000000"/>
                          </a:solidFill>
                          <a:latin typeface="Times New Roman"/>
                        </a:rPr>
                        <a:t>   </a:t>
                      </a:r>
                      <a:r>
                        <a:rPr sz="1100" b="0" i="0">
                          <a:solidFill>
                            <a:srgbClr val="000000"/>
                          </a:solidFill>
                          <a:latin typeface="Calibri"/>
                        </a:rPr>
                        <a:t>Scroll Air Compressor</a:t>
                      </a:r>
                      <a:endParaRPr sz="1100"/>
                    </a:p>
                  </a:txBody>
                  <a:tcPr marL="771525" marR="9525" marT="9525" marB="0" anchor="ctr"/>
                </a:tc>
              </a:tr>
              <a:tr h="175260">
                <a:tc>
                  <a:txBody>
                    <a:bodyPr wrap="square"/>
                    <a:lstStyle/>
                    <a:p>
                      <a:pPr algn="l"/>
                      <a:r>
                        <a:rPr sz="1100" b="0" i="0">
                          <a:solidFill>
                            <a:srgbClr val="0070C0"/>
                          </a:solidFill>
                          <a:latin typeface="Calibri"/>
                        </a:rPr>
                        <a:t>9.4.</a:t>
                      </a:r>
                      <a:r>
                        <a:rPr sz="700" b="0" i="0">
                          <a:solidFill>
                            <a:srgbClr val="0070C0"/>
                          </a:solidFill>
                          <a:latin typeface="Times New Roman"/>
                        </a:rPr>
                        <a:t>    </a:t>
                      </a:r>
                      <a:r>
                        <a:rPr sz="1100" b="0" i="0">
                          <a:solidFill>
                            <a:srgbClr val="0070C0"/>
                          </a:solidFill>
                          <a:latin typeface="Calibri"/>
                        </a:rPr>
                        <a:t>Market Attractiveness Analysis By Technology</a:t>
                      </a:r>
                      <a:endParaRPr sz="1100"/>
                    </a:p>
                  </a:txBody>
                  <a:tcPr marL="428625" marR="9525" marT="9525" marB="0" anchor="ctr"/>
                </a:tc>
              </a:tr>
              <a:tr h="175260">
                <a:tc>
                  <a:txBody>
                    <a:bodyPr wrap="square"/>
                    <a:lstStyle/>
                    <a:p>
                      <a:pPr algn="l"/>
                      <a:r>
                        <a:rPr sz="1100" b="1" i="0">
                          <a:solidFill>
                            <a:srgbClr val="000000"/>
                          </a:solidFill>
                          <a:latin typeface="Calibri"/>
                        </a:rPr>
                        <a:t>10.</a:t>
                      </a:r>
                      <a:r>
                        <a:rPr sz="700" b="1" i="0">
                          <a:solidFill>
                            <a:srgbClr val="000000"/>
                          </a:solidFill>
                          <a:latin typeface="Times New Roman"/>
                        </a:rPr>
                        <a:t>    </a:t>
                      </a:r>
                      <a:r>
                        <a:rPr sz="1100" b="1" i="0">
                          <a:solidFill>
                            <a:srgbClr val="000000"/>
                          </a:solidFill>
                          <a:latin typeface="Calibri"/>
                        </a:rPr>
                        <a:t>Global Industrial Air Compressor Market Outlook, 2021–2036, by Capacity</a:t>
                      </a:r>
                      <a:endParaRPr sz="1100"/>
                    </a:p>
                  </a:txBody>
                  <a:tcPr marL="171450" marR="9525" marT="9525" marB="0" anchor="ctr"/>
                </a:tc>
              </a:tr>
              <a:tr h="175260">
                <a:tc>
                  <a:txBody>
                    <a:bodyPr wrap="square"/>
                    <a:lstStyle/>
                    <a:p>
                      <a:pPr algn="l"/>
                      <a:r>
                        <a:rPr sz="1100" b="0" i="0">
                          <a:solidFill>
                            <a:srgbClr val="0070C0"/>
                          </a:solidFill>
                          <a:latin typeface="Calibri"/>
                        </a:rPr>
                        <a:t>10.1.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10.2.</a:t>
                      </a:r>
                      <a:r>
                        <a:rPr sz="700" b="0" i="0">
                          <a:solidFill>
                            <a:srgbClr val="0070C0"/>
                          </a:solidFill>
                          <a:latin typeface="Times New Roman"/>
                        </a:rPr>
                        <a:t>  </a:t>
                      </a:r>
                      <a:r>
                        <a:rPr sz="1100" b="0" i="0">
                          <a:solidFill>
                            <a:srgbClr val="0070C0"/>
                          </a:solidFill>
                          <a:latin typeface="Calibri"/>
                        </a:rPr>
                        <a:t>Historical Market Size (US$ Mn) and Volume Analysis By Capacity, 2021–2025</a:t>
                      </a:r>
                      <a:endParaRPr sz="1100"/>
                    </a:p>
                  </a:txBody>
                  <a:tcPr marL="428625" marR="9525" marT="9525" marB="0" anchor="ctr"/>
                </a:tc>
              </a:tr>
              <a:tr h="175260">
                <a:tc>
                  <a:txBody>
                    <a:bodyPr wrap="square"/>
                    <a:lstStyle/>
                    <a:p>
                      <a:pPr algn="l"/>
                      <a:r>
                        <a:rPr sz="1100" b="0" i="0">
                          <a:solidFill>
                            <a:srgbClr val="0070C0"/>
                          </a:solidFill>
                          <a:latin typeface="Calibri"/>
                        </a:rPr>
                        <a:t>10.3.</a:t>
                      </a:r>
                      <a:r>
                        <a:rPr sz="700" b="0" i="0">
                          <a:solidFill>
                            <a:srgbClr val="0070C0"/>
                          </a:solidFill>
                          <a:latin typeface="Times New Roman"/>
                        </a:rPr>
                        <a:t>  </a:t>
                      </a:r>
                      <a:r>
                        <a:rPr sz="1100" b="0" i="0">
                          <a:solidFill>
                            <a:srgbClr val="0070C0"/>
                          </a:solidFill>
                          <a:latin typeface="Calibri"/>
                        </a:rPr>
                        <a:t>Market Size (US$ Mn) and Volume Analysis and Forecast By Capacity, 2026–2036</a:t>
                      </a:r>
                      <a:endParaRPr sz="1100"/>
                    </a:p>
                  </a:txBody>
                  <a:tcPr marL="428625" marR="9525" marT="9525" marB="0" anchor="ctr"/>
                </a:tc>
              </a:tr>
              <a:tr h="175260">
                <a:tc>
                  <a:txBody>
                    <a:bodyPr wrap="square"/>
                    <a:lstStyle/>
                    <a:p>
                      <a:pPr algn="l"/>
                      <a:r>
                        <a:rPr sz="1100" b="0" i="0">
                          <a:solidFill>
                            <a:srgbClr val="000000"/>
                          </a:solidFill>
                          <a:latin typeface="Calibri"/>
                        </a:rPr>
                        <a:t>10.3.1.</a:t>
                      </a:r>
                      <a:r>
                        <a:rPr sz="700" b="0" i="0">
                          <a:solidFill>
                            <a:srgbClr val="000000"/>
                          </a:solidFill>
                          <a:latin typeface="Times New Roman"/>
                        </a:rPr>
                        <a:t> </a:t>
                      </a:r>
                      <a:r>
                        <a:rPr sz="1100" b="0" i="0">
                          <a:solidFill>
                            <a:srgbClr val="000000"/>
                          </a:solidFill>
                          <a:latin typeface="Calibri"/>
                        </a:rPr>
                        <a:t>Up to 500 HP</a:t>
                      </a:r>
                      <a:endParaRPr sz="1100"/>
                    </a:p>
                  </a:txBody>
                  <a:tcPr marL="771525" marR="9525" marT="9525" marB="0" anchor="ctr"/>
                </a:tc>
              </a:tr>
              <a:tr h="175260">
                <a:tc>
                  <a:txBody>
                    <a:bodyPr wrap="square"/>
                    <a:lstStyle/>
                    <a:p>
                      <a:pPr algn="l"/>
                      <a:r>
                        <a:rPr sz="1100" b="0" i="0">
                          <a:solidFill>
                            <a:srgbClr val="000000"/>
                          </a:solidFill>
                          <a:latin typeface="Calibri"/>
                        </a:rPr>
                        <a:t>10.3.2.</a:t>
                      </a:r>
                      <a:r>
                        <a:rPr sz="700" b="0" i="0">
                          <a:solidFill>
                            <a:srgbClr val="000000"/>
                          </a:solidFill>
                          <a:latin typeface="Times New Roman"/>
                        </a:rPr>
                        <a:t> </a:t>
                      </a:r>
                      <a:r>
                        <a:rPr sz="1100" b="0" i="0">
                          <a:solidFill>
                            <a:srgbClr val="000000"/>
                          </a:solidFill>
                          <a:latin typeface="Calibri"/>
                        </a:rPr>
                        <a:t>Above 500 to 2,000 HP</a:t>
                      </a:r>
                      <a:endParaRPr sz="1100"/>
                    </a:p>
                  </a:txBody>
                  <a:tcPr marL="771525" marR="9525" marT="9525" marB="0" anchor="ctr"/>
                </a:tc>
              </a:tr>
              <a:tr h="175260">
                <a:tc>
                  <a:txBody>
                    <a:bodyPr wrap="square"/>
                    <a:lstStyle/>
                    <a:p>
                      <a:pPr algn="l"/>
                      <a:r>
                        <a:rPr sz="1100" b="0" i="0">
                          <a:solidFill>
                            <a:srgbClr val="000000"/>
                          </a:solidFill>
                          <a:latin typeface="Calibri"/>
                        </a:rPr>
                        <a:t>10.3.3.</a:t>
                      </a:r>
                      <a:r>
                        <a:rPr sz="700" b="0" i="0">
                          <a:solidFill>
                            <a:srgbClr val="000000"/>
                          </a:solidFill>
                          <a:latin typeface="Times New Roman"/>
                        </a:rPr>
                        <a:t> </a:t>
                      </a:r>
                      <a:r>
                        <a:rPr sz="1100" b="0" i="0">
                          <a:solidFill>
                            <a:srgbClr val="000000"/>
                          </a:solidFill>
                          <a:latin typeface="Calibri"/>
                        </a:rPr>
                        <a:t>Above 2,000 to 5,000 HP</a:t>
                      </a:r>
                      <a:endParaRPr sz="1100"/>
                    </a:p>
                  </a:txBody>
                  <a:tcPr marL="771525" marR="9525" marT="9525" marB="0" anchor="ctr"/>
                </a:tc>
              </a:tr>
              <a:tr h="175260">
                <a:tc>
                  <a:txBody>
                    <a:bodyPr wrap="square"/>
                    <a:lstStyle/>
                    <a:p>
                      <a:pPr algn="l"/>
                      <a:r>
                        <a:rPr sz="1100" b="0" i="0">
                          <a:solidFill>
                            <a:srgbClr val="000000"/>
                          </a:solidFill>
                          <a:latin typeface="Calibri"/>
                        </a:rPr>
                        <a:t>10.3.4.</a:t>
                      </a:r>
                      <a:r>
                        <a:rPr sz="700" b="0" i="0">
                          <a:solidFill>
                            <a:srgbClr val="000000"/>
                          </a:solidFill>
                          <a:latin typeface="Times New Roman"/>
                        </a:rPr>
                        <a:t> </a:t>
                      </a:r>
                      <a:r>
                        <a:rPr sz="1100" b="0" i="0">
                          <a:solidFill>
                            <a:srgbClr val="000000"/>
                          </a:solidFill>
                          <a:latin typeface="Calibri"/>
                        </a:rPr>
                        <a:t>Above 5,000 to 12,000 HP</a:t>
                      </a:r>
                      <a:endParaRPr sz="1100"/>
                    </a:p>
                  </a:txBody>
                  <a:tcPr marL="771525" marR="9525" marT="9525" marB="0" anchor="ctr"/>
                </a:tc>
              </a:tr>
              <a:tr h="175260">
                <a:tc>
                  <a:txBody>
                    <a:bodyPr wrap="square"/>
                    <a:lstStyle/>
                    <a:p>
                      <a:pPr algn="l"/>
                      <a:r>
                        <a:rPr sz="1100" b="0" i="0">
                          <a:solidFill>
                            <a:srgbClr val="000000"/>
                          </a:solidFill>
                          <a:latin typeface="Calibri"/>
                        </a:rPr>
                        <a:t>10.3.5.</a:t>
                      </a:r>
                      <a:r>
                        <a:rPr sz="700" b="0" i="0">
                          <a:solidFill>
                            <a:srgbClr val="000000"/>
                          </a:solidFill>
                          <a:latin typeface="Times New Roman"/>
                        </a:rPr>
                        <a:t> </a:t>
                      </a:r>
                      <a:r>
                        <a:rPr sz="1100" b="0" i="0">
                          <a:solidFill>
                            <a:srgbClr val="000000"/>
                          </a:solidFill>
                          <a:latin typeface="Calibri"/>
                        </a:rPr>
                        <a:t>Above 12,000 to 20,000 HP</a:t>
                      </a:r>
                      <a:endParaRPr sz="1100"/>
                    </a:p>
                  </a:txBody>
                  <a:tcPr marL="771525" marR="9525" marT="9525" marB="0" anchor="ctr"/>
                </a:tc>
              </a:tr>
              <a:tr h="175260">
                <a:tc>
                  <a:txBody>
                    <a:bodyPr wrap="square"/>
                    <a:lstStyle/>
                    <a:p>
                      <a:pPr algn="l"/>
                      <a:r>
                        <a:rPr sz="1100" b="0" i="0">
                          <a:solidFill>
                            <a:srgbClr val="000000"/>
                          </a:solidFill>
                          <a:latin typeface="Calibri"/>
                        </a:rPr>
                        <a:t>10.3.6.</a:t>
                      </a:r>
                      <a:r>
                        <a:rPr sz="700" b="0" i="0">
                          <a:solidFill>
                            <a:srgbClr val="000000"/>
                          </a:solidFill>
                          <a:latin typeface="Times New Roman"/>
                        </a:rPr>
                        <a:t> </a:t>
                      </a:r>
                      <a:r>
                        <a:rPr sz="1100" b="0" i="0">
                          <a:solidFill>
                            <a:srgbClr val="000000"/>
                          </a:solidFill>
                          <a:latin typeface="Calibri"/>
                        </a:rPr>
                        <a:t>Above 20,000 HP</a:t>
                      </a:r>
                      <a:endParaRPr sz="1100"/>
                    </a:p>
                  </a:txBody>
                  <a:tcPr marL="771525" marR="9525" marT="9525" marB="0" anchor="ctr"/>
                </a:tc>
              </a:tr>
              <a:tr h="175260">
                <a:tc>
                  <a:txBody>
                    <a:bodyPr wrap="square"/>
                    <a:lstStyle/>
                    <a:p>
                      <a:pPr algn="l"/>
                      <a:r>
                        <a:rPr sz="1100" b="0" i="0">
                          <a:solidFill>
                            <a:srgbClr val="0070C0"/>
                          </a:solidFill>
                          <a:latin typeface="Calibri"/>
                        </a:rPr>
                        <a:t>10.4.</a:t>
                      </a:r>
                      <a:r>
                        <a:rPr sz="700" b="0" i="0">
                          <a:solidFill>
                            <a:srgbClr val="0070C0"/>
                          </a:solidFill>
                          <a:latin typeface="Times New Roman"/>
                        </a:rPr>
                        <a:t>  </a:t>
                      </a:r>
                      <a:r>
                        <a:rPr sz="1100" b="0" i="0">
                          <a:solidFill>
                            <a:srgbClr val="0070C0"/>
                          </a:solidFill>
                          <a:latin typeface="Calibri"/>
                        </a:rPr>
                        <a:t>Market Attractiveness Analysis By Capacity</a:t>
                      </a:r>
                      <a:endParaRPr sz="1100"/>
                    </a:p>
                  </a:txBody>
                  <a:tcPr marL="428625" marR="9525" marT="9525" marB="0" anchor="ctr"/>
                </a:tc>
              </a:tr>
              <a:tr h="175260">
                <a:tc>
                  <a:txBody>
                    <a:bodyPr wrap="square"/>
                    <a:lstStyle/>
                    <a:p>
                      <a:pPr algn="l"/>
                      <a:r>
                        <a:rPr sz="1100" b="1" i="0">
                          <a:solidFill>
                            <a:srgbClr val="000000"/>
                          </a:solidFill>
                          <a:latin typeface="Calibri"/>
                        </a:rPr>
                        <a:t>11.</a:t>
                      </a:r>
                      <a:r>
                        <a:rPr sz="700" b="1" i="0">
                          <a:solidFill>
                            <a:srgbClr val="000000"/>
                          </a:solidFill>
                          <a:latin typeface="Times New Roman"/>
                        </a:rPr>
                        <a:t>    </a:t>
                      </a:r>
                      <a:r>
                        <a:rPr sz="1100" b="1" i="0">
                          <a:solidFill>
                            <a:srgbClr val="000000"/>
                          </a:solidFill>
                          <a:latin typeface="Calibri"/>
                        </a:rPr>
                        <a:t>Global Industrial Air Compressor Market Outlook, 2021–2036, by Compression Stage</a:t>
                      </a:r>
                      <a:endParaRPr sz="1100"/>
                    </a:p>
                  </a:txBody>
                  <a:tcPr marL="171450" marR="9525" marT="9525" marB="0" anchor="ctr"/>
                </a:tc>
              </a:tr>
              <a:tr h="175260">
                <a:tc>
                  <a:txBody>
                    <a:bodyPr wrap="square"/>
                    <a:lstStyle/>
                    <a:p>
                      <a:pPr algn="l"/>
                      <a:r>
                        <a:rPr sz="1100" b="0" i="0">
                          <a:solidFill>
                            <a:srgbClr val="0070C0"/>
                          </a:solidFill>
                          <a:latin typeface="Calibri"/>
                        </a:rPr>
                        <a:t>11.1.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350520">
                <a:tc>
                  <a:txBody>
                    <a:bodyPr wrap="square"/>
                    <a:lstStyle/>
                    <a:p>
                      <a:pPr algn="l"/>
                      <a:r>
                        <a:rPr sz="1100" b="0" i="0">
                          <a:solidFill>
                            <a:srgbClr val="0070C0"/>
                          </a:solidFill>
                          <a:latin typeface="Calibri"/>
                        </a:rPr>
                        <a:t>11.2.</a:t>
                      </a:r>
                      <a:r>
                        <a:rPr sz="700" b="0" i="0">
                          <a:solidFill>
                            <a:srgbClr val="0070C0"/>
                          </a:solidFill>
                          <a:latin typeface="Times New Roman"/>
                        </a:rPr>
                        <a:t>  </a:t>
                      </a:r>
                      <a:r>
                        <a:rPr sz="1100" b="0" i="0">
                          <a:solidFill>
                            <a:srgbClr val="0070C0"/>
                          </a:solidFill>
                          <a:latin typeface="Calibri"/>
                        </a:rPr>
                        <a:t>Historical Market Size (US$ Mn) and Volume Analysis By Compression Stage, 2021–2025</a:t>
                      </a:r>
                      <a:endParaRPr sz="1100"/>
                    </a:p>
                  </a:txBody>
                  <a:tcPr marL="428625" marR="9525" marT="9525" marB="0" anchor="ctr"/>
                </a:tc>
              </a:tr>
              <a:tr h="350520">
                <a:tc>
                  <a:txBody>
                    <a:bodyPr wrap="square"/>
                    <a:lstStyle/>
                    <a:p>
                      <a:pPr algn="l"/>
                      <a:r>
                        <a:rPr sz="1100" b="0" i="0">
                          <a:solidFill>
                            <a:srgbClr val="0070C0"/>
                          </a:solidFill>
                          <a:latin typeface="Calibri"/>
                        </a:rPr>
                        <a:t>11.3.</a:t>
                      </a:r>
                      <a:r>
                        <a:rPr sz="700" b="0" i="0">
                          <a:solidFill>
                            <a:srgbClr val="0070C0"/>
                          </a:solidFill>
                          <a:latin typeface="Times New Roman"/>
                        </a:rPr>
                        <a:t>  </a:t>
                      </a:r>
                      <a:r>
                        <a:rPr sz="1100" b="0" i="0">
                          <a:solidFill>
                            <a:srgbClr val="0070C0"/>
                          </a:solidFill>
                          <a:latin typeface="Calibri"/>
                        </a:rPr>
                        <a:t>Market Size (US$ Mn) and Volume Analysis and Forecast By Compression Stage, 2026–2036</a:t>
                      </a:r>
                      <a:endParaRPr sz="1100"/>
                    </a:p>
                  </a:txBody>
                  <a:tcPr marL="428625" marR="9525" marT="9525" marB="0" anchor="ctr"/>
                </a:tc>
              </a:tr>
              <a:tr h="175260">
                <a:tc>
                  <a:txBody>
                    <a:bodyPr wrap="square"/>
                    <a:lstStyle/>
                    <a:p>
                      <a:pPr algn="l"/>
                      <a:r>
                        <a:rPr sz="1100" b="0" i="0">
                          <a:solidFill>
                            <a:srgbClr val="000000"/>
                          </a:solidFill>
                          <a:latin typeface="Calibri"/>
                        </a:rPr>
                        <a:t>11.3.1.</a:t>
                      </a:r>
                      <a:r>
                        <a:rPr sz="700" b="0" i="0">
                          <a:solidFill>
                            <a:srgbClr val="000000"/>
                          </a:solidFill>
                          <a:latin typeface="Times New Roman"/>
                        </a:rPr>
                        <a:t> </a:t>
                      </a:r>
                      <a:r>
                        <a:rPr sz="1100" b="0" i="0">
                          <a:solidFill>
                            <a:srgbClr val="000000"/>
                          </a:solidFill>
                          <a:latin typeface="Calibri"/>
                        </a:rPr>
                        <a:t>Single-Stage</a:t>
                      </a:r>
                      <a:endParaRPr sz="1100"/>
                    </a:p>
                  </a:txBody>
                  <a:tcPr marL="771525" marR="9525" marT="9525" marB="0" anchor="ctr"/>
                </a:tc>
              </a:tr>
              <a:tr h="175260">
                <a:tc>
                  <a:txBody>
                    <a:bodyPr wrap="square"/>
                    <a:lstStyle/>
                    <a:p>
                      <a:pPr algn="l"/>
                      <a:r>
                        <a:rPr sz="1100" b="0" i="0">
                          <a:solidFill>
                            <a:srgbClr val="000000"/>
                          </a:solidFill>
                          <a:latin typeface="Calibri"/>
                        </a:rPr>
                        <a:t>11.3.2.</a:t>
                      </a:r>
                      <a:r>
                        <a:rPr sz="700" b="0" i="0">
                          <a:solidFill>
                            <a:srgbClr val="000000"/>
                          </a:solidFill>
                          <a:latin typeface="Times New Roman"/>
                        </a:rPr>
                        <a:t> </a:t>
                      </a:r>
                      <a:r>
                        <a:rPr sz="1100" b="0" i="0">
                          <a:solidFill>
                            <a:srgbClr val="000000"/>
                          </a:solidFill>
                          <a:latin typeface="Calibri"/>
                        </a:rPr>
                        <a:t>Two-Stage</a:t>
                      </a:r>
                      <a:endParaRPr sz="1100"/>
                    </a:p>
                  </a:txBody>
                  <a:tcPr marL="771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(3/10)</a:t>
            </a:r>
          </a:p>
        </p:txBody>
      </p:sp>
      <p:graphicFrame>
        <p:nvGraphicFramePr>
          <p:cNvPr id="6"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11.3.3.</a:t>
                      </a:r>
                      <a:r>
                        <a:rPr sz="700" b="0" i="0">
                          <a:solidFill>
                            <a:srgbClr val="000000"/>
                          </a:solidFill>
                          <a:latin typeface="Times New Roman"/>
                        </a:rPr>
                        <a:t> </a:t>
                      </a:r>
                      <a:r>
                        <a:rPr sz="1100" b="0" i="0">
                          <a:solidFill>
                            <a:srgbClr val="000000"/>
                          </a:solidFill>
                          <a:latin typeface="Calibri"/>
                        </a:rPr>
                        <a:t>Multistage</a:t>
                      </a:r>
                      <a:endParaRPr sz="1100"/>
                    </a:p>
                  </a:txBody>
                  <a:tcPr marL="771525" marR="9525" marT="9525" marB="0" anchor="ctr"/>
                </a:tc>
              </a:tr>
              <a:tr h="175260">
                <a:tc>
                  <a:txBody>
                    <a:bodyPr wrap="square"/>
                    <a:lstStyle/>
                    <a:p>
                      <a:pPr algn="l"/>
                      <a:r>
                        <a:rPr sz="1100" b="0" i="0">
                          <a:solidFill>
                            <a:srgbClr val="0070C0"/>
                          </a:solidFill>
                          <a:latin typeface="Calibri"/>
                        </a:rPr>
                        <a:t>11.4.</a:t>
                      </a:r>
                      <a:r>
                        <a:rPr sz="700" b="0" i="0">
                          <a:solidFill>
                            <a:srgbClr val="0070C0"/>
                          </a:solidFill>
                          <a:latin typeface="Times New Roman"/>
                        </a:rPr>
                        <a:t>  </a:t>
                      </a:r>
                      <a:r>
                        <a:rPr sz="1100" b="0" i="0">
                          <a:solidFill>
                            <a:srgbClr val="0070C0"/>
                          </a:solidFill>
                          <a:latin typeface="Calibri"/>
                        </a:rPr>
                        <a:t>Market Attractiveness Analysis By Compression Stage</a:t>
                      </a:r>
                      <a:endParaRPr sz="1100"/>
                    </a:p>
                  </a:txBody>
                  <a:tcPr marL="428625" marR="9525" marT="9525" marB="0" anchor="ctr"/>
                </a:tc>
              </a:tr>
              <a:tr h="175260">
                <a:tc>
                  <a:txBody>
                    <a:bodyPr wrap="square"/>
                    <a:lstStyle/>
                    <a:p>
                      <a:pPr algn="l"/>
                      <a:r>
                        <a:rPr sz="1100" b="1" i="0">
                          <a:solidFill>
                            <a:srgbClr val="000000"/>
                          </a:solidFill>
                          <a:latin typeface="Calibri"/>
                        </a:rPr>
                        <a:t>12.</a:t>
                      </a:r>
                      <a:r>
                        <a:rPr sz="700" b="1" i="0">
                          <a:solidFill>
                            <a:srgbClr val="000000"/>
                          </a:solidFill>
                          <a:latin typeface="Times New Roman"/>
                        </a:rPr>
                        <a:t>    </a:t>
                      </a:r>
                      <a:r>
                        <a:rPr sz="1100" b="1" i="0">
                          <a:solidFill>
                            <a:srgbClr val="000000"/>
                          </a:solidFill>
                          <a:latin typeface="Calibri"/>
                        </a:rPr>
                        <a:t>Global Industrial Air Compressor Market Outlook, 2021–2036, by End Use</a:t>
                      </a:r>
                      <a:endParaRPr sz="1100"/>
                    </a:p>
                  </a:txBody>
                  <a:tcPr marL="171450" marR="9525" marT="9525" marB="0" anchor="ctr"/>
                </a:tc>
              </a:tr>
              <a:tr h="175260">
                <a:tc>
                  <a:txBody>
                    <a:bodyPr wrap="square"/>
                    <a:lstStyle/>
                    <a:p>
                      <a:pPr algn="l"/>
                      <a:r>
                        <a:rPr sz="1100" b="0" i="0">
                          <a:solidFill>
                            <a:srgbClr val="0070C0"/>
                          </a:solidFill>
                          <a:latin typeface="Calibri"/>
                        </a:rPr>
                        <a:t>12.1.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12.2.</a:t>
                      </a:r>
                      <a:r>
                        <a:rPr sz="700" b="0" i="0">
                          <a:solidFill>
                            <a:srgbClr val="0070C0"/>
                          </a:solidFill>
                          <a:latin typeface="Times New Roman"/>
                        </a:rPr>
                        <a:t>  </a:t>
                      </a:r>
                      <a:r>
                        <a:rPr sz="1100" b="0" i="0">
                          <a:solidFill>
                            <a:srgbClr val="0070C0"/>
                          </a:solidFill>
                          <a:latin typeface="Calibri"/>
                        </a:rPr>
                        <a:t>Historical Market Size (US$ Mn) and Volume Analysis By End Use, 2021–2025</a:t>
                      </a:r>
                      <a:endParaRPr sz="1100"/>
                    </a:p>
                  </a:txBody>
                  <a:tcPr marL="428625" marR="9525" marT="9525" marB="0" anchor="ctr"/>
                </a:tc>
              </a:tr>
              <a:tr h="175260">
                <a:tc>
                  <a:txBody>
                    <a:bodyPr wrap="square"/>
                    <a:lstStyle/>
                    <a:p>
                      <a:pPr algn="l"/>
                      <a:r>
                        <a:rPr sz="1100" b="0" i="0">
                          <a:solidFill>
                            <a:srgbClr val="0070C0"/>
                          </a:solidFill>
                          <a:latin typeface="Calibri"/>
                        </a:rPr>
                        <a:t>12.3.</a:t>
                      </a:r>
                      <a:r>
                        <a:rPr sz="700" b="0" i="0">
                          <a:solidFill>
                            <a:srgbClr val="0070C0"/>
                          </a:solidFill>
                          <a:latin typeface="Times New Roman"/>
                        </a:rPr>
                        <a:t>  </a:t>
                      </a:r>
                      <a:r>
                        <a:rPr sz="1100" b="0" i="0">
                          <a:solidFill>
                            <a:srgbClr val="0070C0"/>
                          </a:solidFill>
                          <a:latin typeface="Calibri"/>
                        </a:rPr>
                        <a:t>Market Size (US$ Mn) and Volume Analysis and Forecast By End Use, 2026–2036</a:t>
                      </a:r>
                      <a:endParaRPr sz="1100"/>
                    </a:p>
                  </a:txBody>
                  <a:tcPr marL="428625" marR="9525" marT="9525" marB="0" anchor="ctr"/>
                </a:tc>
              </a:tr>
              <a:tr h="175260">
                <a:tc>
                  <a:txBody>
                    <a:bodyPr wrap="square"/>
                    <a:lstStyle/>
                    <a:p>
                      <a:pPr algn="l"/>
                      <a:r>
                        <a:rPr sz="1100" b="0" i="0">
                          <a:solidFill>
                            <a:srgbClr val="000000"/>
                          </a:solidFill>
                          <a:latin typeface="Calibri"/>
                        </a:rPr>
                        <a:t>12.3.1.</a:t>
                      </a:r>
                      <a:r>
                        <a:rPr sz="700" b="0" i="0">
                          <a:solidFill>
                            <a:srgbClr val="000000"/>
                          </a:solidFill>
                          <a:latin typeface="Times New Roman"/>
                        </a:rPr>
                        <a:t> </a:t>
                      </a:r>
                      <a:r>
                        <a:rPr sz="1100" b="0" i="0">
                          <a:solidFill>
                            <a:srgbClr val="000000"/>
                          </a:solidFill>
                          <a:latin typeface="Calibri"/>
                        </a:rPr>
                        <a:t>Automotive and Transportation</a:t>
                      </a:r>
                      <a:endParaRPr sz="1100"/>
                    </a:p>
                  </a:txBody>
                  <a:tcPr marL="771525" marR="9525" marT="9525" marB="0" anchor="ctr"/>
                </a:tc>
              </a:tr>
              <a:tr h="175260">
                <a:tc>
                  <a:txBody>
                    <a:bodyPr wrap="square"/>
                    <a:lstStyle/>
                    <a:p>
                      <a:pPr algn="l"/>
                      <a:r>
                        <a:rPr sz="1100" b="0" i="0">
                          <a:solidFill>
                            <a:srgbClr val="000000"/>
                          </a:solidFill>
                          <a:latin typeface="Calibri"/>
                        </a:rPr>
                        <a:t>12.3.2.</a:t>
                      </a:r>
                      <a:r>
                        <a:rPr sz="700" b="0" i="0">
                          <a:solidFill>
                            <a:srgbClr val="000000"/>
                          </a:solidFill>
                          <a:latin typeface="Times New Roman"/>
                        </a:rPr>
                        <a:t> </a:t>
                      </a:r>
                      <a:r>
                        <a:rPr sz="1100" b="0" i="0">
                          <a:solidFill>
                            <a:srgbClr val="000000"/>
                          </a:solidFill>
                          <a:latin typeface="Calibri"/>
                        </a:rPr>
                        <a:t>Oil and Gas</a:t>
                      </a:r>
                      <a:endParaRPr sz="1100"/>
                    </a:p>
                  </a:txBody>
                  <a:tcPr marL="771525" marR="9525" marT="9525" marB="0" anchor="ctr"/>
                </a:tc>
              </a:tr>
              <a:tr h="175260">
                <a:tc>
                  <a:txBody>
                    <a:bodyPr wrap="square"/>
                    <a:lstStyle/>
                    <a:p>
                      <a:pPr algn="l"/>
                      <a:r>
                        <a:rPr sz="1100" b="0" i="0">
                          <a:solidFill>
                            <a:srgbClr val="000000"/>
                          </a:solidFill>
                          <a:latin typeface="Calibri"/>
                        </a:rPr>
                        <a:t>12.3.3.</a:t>
                      </a:r>
                      <a:r>
                        <a:rPr sz="700" b="0" i="0">
                          <a:solidFill>
                            <a:srgbClr val="000000"/>
                          </a:solidFill>
                          <a:latin typeface="Times New Roman"/>
                        </a:rPr>
                        <a:t> </a:t>
                      </a:r>
                      <a:r>
                        <a:rPr sz="1100" b="0" i="0">
                          <a:solidFill>
                            <a:srgbClr val="000000"/>
                          </a:solidFill>
                          <a:latin typeface="Calibri"/>
                        </a:rPr>
                        <a:t>Food and Beverages</a:t>
                      </a:r>
                      <a:endParaRPr sz="1100"/>
                    </a:p>
                  </a:txBody>
                  <a:tcPr marL="771525" marR="9525" marT="9525" marB="0" anchor="ctr"/>
                </a:tc>
              </a:tr>
              <a:tr h="175260">
                <a:tc>
                  <a:txBody>
                    <a:bodyPr wrap="square"/>
                    <a:lstStyle/>
                    <a:p>
                      <a:pPr algn="l"/>
                      <a:r>
                        <a:rPr sz="1100" b="0" i="0">
                          <a:solidFill>
                            <a:srgbClr val="000000"/>
                          </a:solidFill>
                          <a:latin typeface="Calibri"/>
                        </a:rPr>
                        <a:t>12.3.4.</a:t>
                      </a:r>
                      <a:r>
                        <a:rPr sz="700" b="0" i="0">
                          <a:solidFill>
                            <a:srgbClr val="000000"/>
                          </a:solidFill>
                          <a:latin typeface="Times New Roman"/>
                        </a:rPr>
                        <a:t> </a:t>
                      </a:r>
                      <a:r>
                        <a:rPr sz="1100" b="0" i="0">
                          <a:solidFill>
                            <a:srgbClr val="000000"/>
                          </a:solidFill>
                          <a:latin typeface="Calibri"/>
                        </a:rPr>
                        <a:t>Pharmaceuticals</a:t>
                      </a:r>
                      <a:endParaRPr sz="1100"/>
                    </a:p>
                  </a:txBody>
                  <a:tcPr marL="771525" marR="9525" marT="9525" marB="0" anchor="ctr"/>
                </a:tc>
              </a:tr>
              <a:tr h="175260">
                <a:tc>
                  <a:txBody>
                    <a:bodyPr wrap="square"/>
                    <a:lstStyle/>
                    <a:p>
                      <a:pPr algn="l"/>
                      <a:r>
                        <a:rPr sz="1100" b="0" i="0">
                          <a:solidFill>
                            <a:srgbClr val="000000"/>
                          </a:solidFill>
                          <a:latin typeface="Calibri"/>
                        </a:rPr>
                        <a:t>12.3.5.</a:t>
                      </a:r>
                      <a:r>
                        <a:rPr sz="700" b="0" i="0">
                          <a:solidFill>
                            <a:srgbClr val="000000"/>
                          </a:solidFill>
                          <a:latin typeface="Times New Roman"/>
                        </a:rPr>
                        <a:t> </a:t>
                      </a:r>
                      <a:r>
                        <a:rPr sz="1100" b="0" i="0">
                          <a:solidFill>
                            <a:srgbClr val="000000"/>
                          </a:solidFill>
                          <a:latin typeface="Calibri"/>
                        </a:rPr>
                        <a:t>Mining and Metals</a:t>
                      </a:r>
                      <a:endParaRPr sz="1100"/>
                    </a:p>
                  </a:txBody>
                  <a:tcPr marL="771525" marR="9525" marT="9525" marB="0" anchor="ctr"/>
                </a:tc>
              </a:tr>
              <a:tr h="175260">
                <a:tc>
                  <a:txBody>
                    <a:bodyPr wrap="square"/>
                    <a:lstStyle/>
                    <a:p>
                      <a:pPr algn="l"/>
                      <a:r>
                        <a:rPr sz="1100" b="0" i="0">
                          <a:solidFill>
                            <a:srgbClr val="000000"/>
                          </a:solidFill>
                          <a:latin typeface="Calibri"/>
                        </a:rPr>
                        <a:t>12.3.6.</a:t>
                      </a:r>
                      <a:r>
                        <a:rPr sz="700" b="0" i="0">
                          <a:solidFill>
                            <a:srgbClr val="000000"/>
                          </a:solidFill>
                          <a:latin typeface="Times New Roman"/>
                        </a:rPr>
                        <a:t> </a:t>
                      </a:r>
                      <a:r>
                        <a:rPr sz="1100" b="0" i="0">
                          <a:solidFill>
                            <a:srgbClr val="000000"/>
                          </a:solidFill>
                          <a:latin typeface="Calibri"/>
                        </a:rPr>
                        <a:t>Industrial Air Separation</a:t>
                      </a:r>
                      <a:endParaRPr sz="1100"/>
                    </a:p>
                  </a:txBody>
                  <a:tcPr marL="771525" marR="9525" marT="9525" marB="0" anchor="ctr"/>
                </a:tc>
              </a:tr>
              <a:tr h="175260">
                <a:tc>
                  <a:txBody>
                    <a:bodyPr wrap="square"/>
                    <a:lstStyle/>
                    <a:p>
                      <a:pPr algn="l"/>
                      <a:r>
                        <a:rPr sz="1100" b="0" i="0">
                          <a:solidFill>
                            <a:srgbClr val="000000"/>
                          </a:solidFill>
                          <a:latin typeface="Calibri"/>
                        </a:rPr>
                        <a:t>12.3.7.</a:t>
                      </a:r>
                      <a:r>
                        <a:rPr sz="700" b="0" i="0">
                          <a:solidFill>
                            <a:srgbClr val="000000"/>
                          </a:solidFill>
                          <a:latin typeface="Times New Roman"/>
                        </a:rPr>
                        <a:t> </a:t>
                      </a:r>
                      <a:r>
                        <a:rPr sz="1100" b="0" i="0">
                          <a:solidFill>
                            <a:srgbClr val="000000"/>
                          </a:solidFill>
                          <a:latin typeface="Calibri"/>
                        </a:rPr>
                        <a:t>Other Manufacturing</a:t>
                      </a:r>
                      <a:endParaRPr sz="1100"/>
                    </a:p>
                  </a:txBody>
                  <a:tcPr marL="771525" marR="9525" marT="9525" marB="0" anchor="ctr"/>
                </a:tc>
              </a:tr>
              <a:tr h="175260">
                <a:tc>
                  <a:txBody>
                    <a:bodyPr wrap="square"/>
                    <a:lstStyle/>
                    <a:p>
                      <a:pPr algn="l"/>
                      <a:r>
                        <a:rPr sz="1100" b="0" i="0">
                          <a:solidFill>
                            <a:srgbClr val="0070C0"/>
                          </a:solidFill>
                          <a:latin typeface="Calibri"/>
                        </a:rPr>
                        <a:t>12.4.</a:t>
                      </a:r>
                      <a:r>
                        <a:rPr sz="700" b="0" i="0">
                          <a:solidFill>
                            <a:srgbClr val="0070C0"/>
                          </a:solidFill>
                          <a:latin typeface="Times New Roman"/>
                        </a:rPr>
                        <a:t>  </a:t>
                      </a:r>
                      <a:r>
                        <a:rPr sz="1100" b="0" i="0">
                          <a:solidFill>
                            <a:srgbClr val="0070C0"/>
                          </a:solidFill>
                          <a:latin typeface="Calibri"/>
                        </a:rPr>
                        <a:t>Market Attractiveness Analysis By End Use</a:t>
                      </a:r>
                      <a:endParaRPr sz="1100"/>
                    </a:p>
                  </a:txBody>
                  <a:tcPr marL="428625" marR="9525" marT="9525" marB="0" anchor="ctr"/>
                </a:tc>
              </a:tr>
              <a:tr h="175260">
                <a:tc>
                  <a:txBody>
                    <a:bodyPr wrap="square"/>
                    <a:lstStyle/>
                    <a:p>
                      <a:pPr algn="l"/>
                      <a:r>
                        <a:rPr sz="1100" b="1" i="0">
                          <a:solidFill>
                            <a:srgbClr val="000000"/>
                          </a:solidFill>
                          <a:latin typeface="Calibri"/>
                        </a:rPr>
                        <a:t>13.</a:t>
                      </a:r>
                      <a:r>
                        <a:rPr sz="700" b="1" i="0">
                          <a:solidFill>
                            <a:srgbClr val="000000"/>
                          </a:solidFill>
                          <a:latin typeface="Times New Roman"/>
                        </a:rPr>
                        <a:t>    </a:t>
                      </a:r>
                      <a:r>
                        <a:rPr sz="1100" b="1" i="0">
                          <a:solidFill>
                            <a:srgbClr val="000000"/>
                          </a:solidFill>
                          <a:latin typeface="Calibri"/>
                        </a:rPr>
                        <a:t>Global Industrial Air Compressor Market Outlook, 2021–2036, by Driver Type</a:t>
                      </a:r>
                      <a:endParaRPr sz="1100"/>
                    </a:p>
                  </a:txBody>
                  <a:tcPr marL="171450" marR="9525" marT="9525" marB="0" anchor="ctr"/>
                </a:tc>
              </a:tr>
              <a:tr h="175260">
                <a:tc>
                  <a:txBody>
                    <a:bodyPr wrap="square"/>
                    <a:lstStyle/>
                    <a:p>
                      <a:pPr algn="l"/>
                      <a:r>
                        <a:rPr sz="1100" b="0" i="0">
                          <a:solidFill>
                            <a:srgbClr val="0070C0"/>
                          </a:solidFill>
                          <a:latin typeface="Calibri"/>
                        </a:rPr>
                        <a:t>13.1.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13.2.</a:t>
                      </a:r>
                      <a:r>
                        <a:rPr sz="700" b="0" i="0">
                          <a:solidFill>
                            <a:srgbClr val="0070C0"/>
                          </a:solidFill>
                          <a:latin typeface="Times New Roman"/>
                        </a:rPr>
                        <a:t>  </a:t>
                      </a:r>
                      <a:r>
                        <a:rPr sz="1100" b="0" i="0">
                          <a:solidFill>
                            <a:srgbClr val="0070C0"/>
                          </a:solidFill>
                          <a:latin typeface="Calibri"/>
                        </a:rPr>
                        <a:t>Historical Market Size (US$ Mn) and Volume Analysis By Driver Type, 2021–2025</a:t>
                      </a:r>
                      <a:endParaRPr sz="1100"/>
                    </a:p>
                  </a:txBody>
                  <a:tcPr marL="428625" marR="9525" marT="9525" marB="0" anchor="ctr"/>
                </a:tc>
              </a:tr>
              <a:tr h="175260">
                <a:tc>
                  <a:txBody>
                    <a:bodyPr wrap="square"/>
                    <a:lstStyle/>
                    <a:p>
                      <a:pPr algn="l"/>
                      <a:r>
                        <a:rPr sz="1100" b="0" i="0">
                          <a:solidFill>
                            <a:srgbClr val="0070C0"/>
                          </a:solidFill>
                          <a:latin typeface="Calibri"/>
                        </a:rPr>
                        <a:t>13.3.</a:t>
                      </a:r>
                      <a:r>
                        <a:rPr sz="700" b="0" i="0">
                          <a:solidFill>
                            <a:srgbClr val="0070C0"/>
                          </a:solidFill>
                          <a:latin typeface="Times New Roman"/>
                        </a:rPr>
                        <a:t>  </a:t>
                      </a:r>
                      <a:r>
                        <a:rPr sz="1100" b="0" i="0">
                          <a:solidFill>
                            <a:srgbClr val="0070C0"/>
                          </a:solidFill>
                          <a:latin typeface="Calibri"/>
                        </a:rPr>
                        <a:t>Market Size (US$ Mn) and Volume Analysis and Forecast By Driver Type, 2026–2036</a:t>
                      </a:r>
                      <a:endParaRPr sz="1100"/>
                    </a:p>
                  </a:txBody>
                  <a:tcPr marL="428625" marR="9525" marT="9525" marB="0" anchor="ctr"/>
                </a:tc>
              </a:tr>
              <a:tr h="175260">
                <a:tc>
                  <a:txBody>
                    <a:bodyPr wrap="square"/>
                    <a:lstStyle/>
                    <a:p>
                      <a:pPr algn="l"/>
                      <a:r>
                        <a:rPr sz="1100" b="0" i="0">
                          <a:solidFill>
                            <a:srgbClr val="000000"/>
                          </a:solidFill>
                          <a:latin typeface="Calibri"/>
                        </a:rPr>
                        <a:t>13.3.1.</a:t>
                      </a:r>
                      <a:r>
                        <a:rPr sz="700" b="0" i="0">
                          <a:solidFill>
                            <a:srgbClr val="000000"/>
                          </a:solidFill>
                          <a:latin typeface="Times New Roman"/>
                        </a:rPr>
                        <a:t> </a:t>
                      </a:r>
                      <a:r>
                        <a:rPr sz="1100" b="0" i="0">
                          <a:solidFill>
                            <a:srgbClr val="000000"/>
                          </a:solidFill>
                          <a:latin typeface="Calibri"/>
                        </a:rPr>
                        <a:t>Electric Motor-Driven</a:t>
                      </a:r>
                      <a:endParaRPr sz="1100"/>
                    </a:p>
                  </a:txBody>
                  <a:tcPr marL="771525" marR="9525" marT="9525" marB="0" anchor="ctr"/>
                </a:tc>
              </a:tr>
              <a:tr h="175260">
                <a:tc>
                  <a:txBody>
                    <a:bodyPr wrap="square"/>
                    <a:lstStyle/>
                    <a:p>
                      <a:pPr algn="l"/>
                      <a:r>
                        <a:rPr sz="1100" b="0" i="0">
                          <a:solidFill>
                            <a:srgbClr val="000000"/>
                          </a:solidFill>
                          <a:latin typeface="Calibri"/>
                        </a:rPr>
                        <a:t>13.3.2.</a:t>
                      </a:r>
                      <a:r>
                        <a:rPr sz="700" b="0" i="0">
                          <a:solidFill>
                            <a:srgbClr val="000000"/>
                          </a:solidFill>
                          <a:latin typeface="Times New Roman"/>
                        </a:rPr>
                        <a:t> </a:t>
                      </a:r>
                      <a:r>
                        <a:rPr sz="1100" b="0" i="0">
                          <a:solidFill>
                            <a:srgbClr val="000000"/>
                          </a:solidFill>
                          <a:latin typeface="Calibri"/>
                        </a:rPr>
                        <a:t>Natural Gas Engine-Driven</a:t>
                      </a:r>
                      <a:endParaRPr sz="1100"/>
                    </a:p>
                  </a:txBody>
                  <a:tcPr marL="771525" marR="9525" marT="9525" marB="0" anchor="ctr"/>
                </a:tc>
              </a:tr>
              <a:tr h="175260">
                <a:tc>
                  <a:txBody>
                    <a:bodyPr wrap="square"/>
                    <a:lstStyle/>
                    <a:p>
                      <a:pPr algn="l"/>
                      <a:r>
                        <a:rPr sz="1100" b="0" i="0">
                          <a:solidFill>
                            <a:srgbClr val="000000"/>
                          </a:solidFill>
                          <a:latin typeface="Calibri"/>
                        </a:rPr>
                        <a:t>13.3.3.</a:t>
                      </a:r>
                      <a:r>
                        <a:rPr sz="700" b="0" i="0">
                          <a:solidFill>
                            <a:srgbClr val="000000"/>
                          </a:solidFill>
                          <a:latin typeface="Times New Roman"/>
                        </a:rPr>
                        <a:t> </a:t>
                      </a:r>
                      <a:r>
                        <a:rPr sz="1100" b="0" i="0">
                          <a:solidFill>
                            <a:srgbClr val="000000"/>
                          </a:solidFill>
                          <a:latin typeface="Calibri"/>
                        </a:rPr>
                        <a:t>Diesel Engine-Driven</a:t>
                      </a:r>
                      <a:endParaRPr sz="1100"/>
                    </a:p>
                  </a:txBody>
                  <a:tcPr marL="771525" marR="9525" marT="9525" marB="0" anchor="ctr"/>
                </a:tc>
              </a:tr>
              <a:tr h="175260">
                <a:tc>
                  <a:txBody>
                    <a:bodyPr wrap="square"/>
                    <a:lstStyle/>
                    <a:p>
                      <a:pPr algn="l"/>
                      <a:r>
                        <a:rPr sz="1100" b="0" i="0">
                          <a:solidFill>
                            <a:srgbClr val="000000"/>
                          </a:solidFill>
                          <a:latin typeface="Calibri"/>
                        </a:rPr>
                        <a:t>13.3.4.</a:t>
                      </a:r>
                      <a:r>
                        <a:rPr sz="700" b="0" i="0">
                          <a:solidFill>
                            <a:srgbClr val="000000"/>
                          </a:solidFill>
                          <a:latin typeface="Times New Roman"/>
                        </a:rPr>
                        <a:t> </a:t>
                      </a:r>
                      <a:r>
                        <a:rPr sz="1100" b="0" i="0">
                          <a:solidFill>
                            <a:srgbClr val="000000"/>
                          </a:solidFill>
                          <a:latin typeface="Calibri"/>
                        </a:rPr>
                        <a:t>Steam Turbine-Driven</a:t>
                      </a:r>
                      <a:endParaRPr sz="1100"/>
                    </a:p>
                  </a:txBody>
                  <a:tcPr marL="771525" marR="9525" marT="9525" marB="0" anchor="ctr"/>
                </a:tc>
              </a:tr>
              <a:tr h="175260">
                <a:tc>
                  <a:txBody>
                    <a:bodyPr wrap="square"/>
                    <a:lstStyle/>
                    <a:p>
                      <a:pPr algn="l"/>
                      <a:r>
                        <a:rPr sz="1100" b="0" i="0">
                          <a:solidFill>
                            <a:srgbClr val="000000"/>
                          </a:solidFill>
                          <a:latin typeface="Calibri"/>
                        </a:rPr>
                        <a:t>13.3.5.</a:t>
                      </a:r>
                      <a:r>
                        <a:rPr sz="700" b="0" i="0">
                          <a:solidFill>
                            <a:srgbClr val="000000"/>
                          </a:solidFill>
                          <a:latin typeface="Times New Roman"/>
                        </a:rPr>
                        <a:t> </a:t>
                      </a:r>
                      <a:r>
                        <a:rPr sz="1100" b="0" i="0">
                          <a:solidFill>
                            <a:srgbClr val="000000"/>
                          </a:solidFill>
                          <a:latin typeface="Calibri"/>
                        </a:rPr>
                        <a:t>Gas Turbine-Driven</a:t>
                      </a:r>
                      <a:endParaRPr sz="1100"/>
                    </a:p>
                  </a:txBody>
                  <a:tcPr marL="771525" marR="9525" marT="9525" marB="0" anchor="ctr"/>
                </a:tc>
              </a:tr>
              <a:tr h="175260">
                <a:tc>
                  <a:txBody>
                    <a:bodyPr wrap="square"/>
                    <a:lstStyle/>
                    <a:p>
                      <a:pPr algn="l"/>
                      <a:r>
                        <a:rPr sz="1100" b="0" i="0">
                          <a:solidFill>
                            <a:srgbClr val="000000"/>
                          </a:solidFill>
                          <a:latin typeface="Calibri"/>
                        </a:rPr>
                        <a:t>13.3.6.</a:t>
                      </a:r>
                      <a:r>
                        <a:rPr sz="700" b="0" i="0">
                          <a:solidFill>
                            <a:srgbClr val="000000"/>
                          </a:solidFill>
                          <a:latin typeface="Times New Roman"/>
                        </a:rPr>
                        <a:t> </a:t>
                      </a:r>
                      <a:r>
                        <a:rPr sz="1100" b="0" i="0">
                          <a:solidFill>
                            <a:srgbClr val="000000"/>
                          </a:solidFill>
                          <a:latin typeface="Calibri"/>
                        </a:rPr>
                        <a:t>Other Drive Types</a:t>
                      </a:r>
                      <a:endParaRPr sz="1100"/>
                    </a:p>
                  </a:txBody>
                  <a:tcPr marL="771525" marR="9525" marT="9525" marB="0" anchor="ctr"/>
                </a:tc>
              </a:tr>
              <a:tr h="175260">
                <a:tc>
                  <a:txBody>
                    <a:bodyPr wrap="square"/>
                    <a:lstStyle/>
                    <a:p>
                      <a:pPr algn="l"/>
                      <a:r>
                        <a:rPr sz="1100" b="0" i="0">
                          <a:solidFill>
                            <a:srgbClr val="0070C0"/>
                          </a:solidFill>
                          <a:latin typeface="Calibri"/>
                        </a:rPr>
                        <a:t>13.4.</a:t>
                      </a:r>
                      <a:r>
                        <a:rPr sz="700" b="0" i="0">
                          <a:solidFill>
                            <a:srgbClr val="0070C0"/>
                          </a:solidFill>
                          <a:latin typeface="Times New Roman"/>
                        </a:rPr>
                        <a:t>  </a:t>
                      </a:r>
                      <a:r>
                        <a:rPr sz="1100" b="0" i="0">
                          <a:solidFill>
                            <a:srgbClr val="0070C0"/>
                          </a:solidFill>
                          <a:latin typeface="Calibri"/>
                        </a:rPr>
                        <a:t>Market Attractiveness Analysis By Driver Type</a:t>
                      </a:r>
                      <a:endParaRPr sz="1100"/>
                    </a:p>
                  </a:txBody>
                  <a:tcPr marL="428625" marR="9525" marT="9525" marB="0" anchor="ctr"/>
                </a:tc>
              </a:tr>
              <a:tr h="175260">
                <a:tc>
                  <a:txBody>
                    <a:bodyPr wrap="square"/>
                    <a:lstStyle/>
                    <a:p>
                      <a:pPr algn="l"/>
                      <a:r>
                        <a:rPr sz="1100" b="1" i="0">
                          <a:solidFill>
                            <a:srgbClr val="000000"/>
                          </a:solidFill>
                          <a:latin typeface="Calibri"/>
                        </a:rPr>
                        <a:t>14.</a:t>
                      </a:r>
                      <a:r>
                        <a:rPr sz="700" b="1" i="0">
                          <a:solidFill>
                            <a:srgbClr val="000000"/>
                          </a:solidFill>
                          <a:latin typeface="Times New Roman"/>
                        </a:rPr>
                        <a:t>    </a:t>
                      </a:r>
                      <a:r>
                        <a:rPr sz="1100" b="1" i="0">
                          <a:solidFill>
                            <a:srgbClr val="000000"/>
                          </a:solidFill>
                          <a:latin typeface="Calibri"/>
                        </a:rPr>
                        <a:t>Global Industrial Air Compressor Market Outlook, 2021–2036, by Region</a:t>
                      </a:r>
                      <a:endParaRPr sz="1100"/>
                    </a:p>
                  </a:txBody>
                  <a:tcPr marL="171450" marR="9525" marT="9525" marB="0" anchor="ctr"/>
                </a:tc>
              </a:tr>
              <a:tr h="175260">
                <a:tc>
                  <a:txBody>
                    <a:bodyPr wrap="square"/>
                    <a:lstStyle/>
                    <a:p>
                      <a:pPr algn="l"/>
                      <a:r>
                        <a:rPr sz="1100" b="0" i="0">
                          <a:solidFill>
                            <a:srgbClr val="0070C0"/>
                          </a:solidFill>
                          <a:latin typeface="Calibri"/>
                        </a:rPr>
                        <a:t>14.1.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14.2.</a:t>
                      </a:r>
                      <a:r>
                        <a:rPr sz="700" b="0" i="0">
                          <a:solidFill>
                            <a:srgbClr val="0070C0"/>
                          </a:solidFill>
                          <a:latin typeface="Times New Roman"/>
                        </a:rPr>
                        <a:t>  </a:t>
                      </a:r>
                      <a:r>
                        <a:rPr sz="1100" b="0" i="0">
                          <a:solidFill>
                            <a:srgbClr val="0070C0"/>
                          </a:solidFill>
                          <a:latin typeface="Calibri"/>
                        </a:rPr>
                        <a:t>Historical Market Size (US$ Mn) and Volume Analysis By Region, 2021–2025</a:t>
                      </a:r>
                      <a:endParaRPr sz="1100"/>
                    </a:p>
                  </a:txBody>
                  <a:tcPr marL="428625" marR="9525" marT="9525" marB="0" anchor="ctr"/>
                </a:tc>
              </a:tr>
              <a:tr h="175260">
                <a:tc>
                  <a:txBody>
                    <a:bodyPr wrap="square"/>
                    <a:lstStyle/>
                    <a:p>
                      <a:pPr algn="l"/>
                      <a:r>
                        <a:rPr sz="1100" b="0" i="0">
                          <a:solidFill>
                            <a:srgbClr val="0070C0"/>
                          </a:solidFill>
                          <a:latin typeface="Calibri"/>
                        </a:rPr>
                        <a:t>14.3.</a:t>
                      </a:r>
                      <a:r>
                        <a:rPr sz="700" b="0" i="0">
                          <a:solidFill>
                            <a:srgbClr val="0070C0"/>
                          </a:solidFill>
                          <a:latin typeface="Times New Roman"/>
                        </a:rPr>
                        <a:t>  </a:t>
                      </a:r>
                      <a:r>
                        <a:rPr sz="1100" b="0" i="0">
                          <a:solidFill>
                            <a:srgbClr val="0070C0"/>
                          </a:solidFill>
                          <a:latin typeface="Calibri"/>
                        </a:rPr>
                        <a:t>Market Size (US$ Mn) and Volume Analysis and Forecast By Region, 2026–2036</a:t>
                      </a:r>
                      <a:endParaRPr sz="1100"/>
                    </a:p>
                  </a:txBody>
                  <a:tcPr marL="428625" marR="9525" marT="9525" marB="0" anchor="ctr"/>
                </a:tc>
              </a:tr>
              <a:tr h="175260">
                <a:tc>
                  <a:txBody>
                    <a:bodyPr wrap="square"/>
                    <a:lstStyle/>
                    <a:p>
                      <a:pPr algn="l"/>
                      <a:r>
                        <a:rPr sz="1100" b="0" i="0">
                          <a:solidFill>
                            <a:srgbClr val="000000"/>
                          </a:solidFill>
                          <a:latin typeface="Calibri"/>
                        </a:rPr>
                        <a:t>14.3.1.</a:t>
                      </a:r>
                      <a:r>
                        <a:rPr sz="700" b="0" i="0">
                          <a:solidFill>
                            <a:srgbClr val="000000"/>
                          </a:solidFill>
                          <a:latin typeface="Times New Roman"/>
                        </a:rPr>
                        <a:t> </a:t>
                      </a:r>
                      <a:r>
                        <a:rPr sz="1100" b="0" i="0">
                          <a:solidFill>
                            <a:srgbClr val="000000"/>
                          </a:solidFill>
                          <a:latin typeface="Calibri"/>
                        </a:rPr>
                        <a:t>North America</a:t>
                      </a:r>
                      <a:endParaRPr sz="1100"/>
                    </a:p>
                  </a:txBody>
                  <a:tcPr marL="771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14.3.2.</a:t>
                      </a:r>
                      <a:r>
                        <a:rPr sz="700" b="0" i="0">
                          <a:solidFill>
                            <a:srgbClr val="000000"/>
                          </a:solidFill>
                          <a:latin typeface="Times New Roman"/>
                        </a:rPr>
                        <a:t> </a:t>
                      </a:r>
                      <a:r>
                        <a:rPr sz="1100" b="0" i="0">
                          <a:solidFill>
                            <a:srgbClr val="000000"/>
                          </a:solidFill>
                          <a:latin typeface="Calibri"/>
                        </a:rPr>
                        <a:t>Latin America</a:t>
                      </a:r>
                      <a:endParaRPr sz="1100"/>
                    </a:p>
                  </a:txBody>
                  <a:tcPr marL="771525" marR="9525" marT="9525" marB="0" anchor="ctr"/>
                </a:tc>
              </a:tr>
              <a:tr h="175260">
                <a:tc>
                  <a:txBody>
                    <a:bodyPr wrap="square"/>
                    <a:lstStyle/>
                    <a:p>
                      <a:pPr algn="l"/>
                      <a:r>
                        <a:rPr sz="1100" b="0" i="0">
                          <a:solidFill>
                            <a:srgbClr val="000000"/>
                          </a:solidFill>
                          <a:latin typeface="Calibri"/>
                        </a:rPr>
                        <a:t>14.3.3.</a:t>
                      </a:r>
                      <a:r>
                        <a:rPr sz="700" b="0" i="0">
                          <a:solidFill>
                            <a:srgbClr val="000000"/>
                          </a:solidFill>
                          <a:latin typeface="Times New Roman"/>
                        </a:rPr>
                        <a:t> </a:t>
                      </a:r>
                      <a:r>
                        <a:rPr sz="1100" b="0" i="0">
                          <a:solidFill>
                            <a:srgbClr val="000000"/>
                          </a:solidFill>
                          <a:latin typeface="Calibri"/>
                        </a:rPr>
                        <a:t>Western Europe</a:t>
                      </a:r>
                      <a:endParaRPr sz="1100"/>
                    </a:p>
                  </a:txBody>
                  <a:tcPr marL="771525" marR="9525" marT="9525" marB="0" anchor="ctr"/>
                </a:tc>
              </a:tr>
              <a:tr h="175260">
                <a:tc>
                  <a:txBody>
                    <a:bodyPr wrap="square"/>
                    <a:lstStyle/>
                    <a:p>
                      <a:pPr algn="l"/>
                      <a:r>
                        <a:rPr sz="1100" b="0" i="0">
                          <a:solidFill>
                            <a:srgbClr val="000000"/>
                          </a:solidFill>
                          <a:latin typeface="Calibri"/>
                        </a:rPr>
                        <a:t>14.3.4.</a:t>
                      </a:r>
                      <a:r>
                        <a:rPr sz="700" b="0" i="0">
                          <a:solidFill>
                            <a:srgbClr val="000000"/>
                          </a:solidFill>
                          <a:latin typeface="Times New Roman"/>
                        </a:rPr>
                        <a:t> </a:t>
                      </a:r>
                      <a:r>
                        <a:rPr sz="1100" b="0" i="0">
                          <a:solidFill>
                            <a:srgbClr val="000000"/>
                          </a:solidFill>
                          <a:latin typeface="Calibri"/>
                        </a:rPr>
                        <a:t>Eastern Europe</a:t>
                      </a:r>
                      <a:endParaRPr sz="1100"/>
                    </a:p>
                  </a:txBody>
                  <a:tcPr marL="771525" marR="9525" marT="9525" marB="0" anchor="ctr"/>
                </a:tc>
              </a:tr>
              <a:tr h="175260">
                <a:tc>
                  <a:txBody>
                    <a:bodyPr wrap="square"/>
                    <a:lstStyle/>
                    <a:p>
                      <a:pPr algn="l"/>
                      <a:r>
                        <a:rPr sz="1100" b="0" i="0">
                          <a:solidFill>
                            <a:srgbClr val="000000"/>
                          </a:solidFill>
                          <a:latin typeface="Calibri"/>
                        </a:rPr>
                        <a:t>14.3.5.</a:t>
                      </a:r>
                      <a:r>
                        <a:rPr sz="700" b="0" i="0">
                          <a:solidFill>
                            <a:srgbClr val="000000"/>
                          </a:solidFill>
                          <a:latin typeface="Times New Roman"/>
                        </a:rPr>
                        <a:t> </a:t>
                      </a:r>
                      <a:r>
                        <a:rPr sz="1100" b="0" i="0">
                          <a:solidFill>
                            <a:srgbClr val="000000"/>
                          </a:solidFill>
                          <a:latin typeface="Calibri"/>
                        </a:rPr>
                        <a:t>Middle East and Africa (MEA)</a:t>
                      </a:r>
                      <a:endParaRPr sz="1100"/>
                    </a:p>
                  </a:txBody>
                  <a:tcPr marL="771525" marR="9525" marT="9525" marB="0" anchor="ctr"/>
                </a:tc>
              </a:tr>
              <a:tr h="175260">
                <a:tc>
                  <a:txBody>
                    <a:bodyPr wrap="square"/>
                    <a:lstStyle/>
                    <a:p>
                      <a:pPr algn="l"/>
                      <a:r>
                        <a:rPr sz="1100" b="0" i="0">
                          <a:solidFill>
                            <a:srgbClr val="000000"/>
                          </a:solidFill>
                          <a:latin typeface="Calibri"/>
                        </a:rPr>
                        <a:t>14.3.6.</a:t>
                      </a:r>
                      <a:r>
                        <a:rPr sz="700" b="0" i="0">
                          <a:solidFill>
                            <a:srgbClr val="000000"/>
                          </a:solidFill>
                          <a:latin typeface="Times New Roman"/>
                        </a:rPr>
                        <a:t> </a:t>
                      </a:r>
                      <a:r>
                        <a:rPr sz="1100" b="0" i="0">
                          <a:solidFill>
                            <a:srgbClr val="000000"/>
                          </a:solidFill>
                          <a:latin typeface="Calibri"/>
                        </a:rPr>
                        <a:t>East Asia</a:t>
                      </a:r>
                      <a:endParaRPr sz="1100"/>
                    </a:p>
                  </a:txBody>
                  <a:tcPr marL="771525" marR="9525" marT="9525" marB="0" anchor="ctr"/>
                </a:tc>
              </a:tr>
              <a:tr h="175260">
                <a:tc>
                  <a:txBody>
                    <a:bodyPr wrap="square"/>
                    <a:lstStyle/>
                    <a:p>
                      <a:pPr algn="l"/>
                      <a:r>
                        <a:rPr sz="1100" b="0" i="0">
                          <a:solidFill>
                            <a:srgbClr val="000000"/>
                          </a:solidFill>
                          <a:latin typeface="Calibri"/>
                        </a:rPr>
                        <a:t>14.3.7.</a:t>
                      </a:r>
                      <a:r>
                        <a:rPr sz="700" b="0" i="0">
                          <a:solidFill>
                            <a:srgbClr val="000000"/>
                          </a:solidFill>
                          <a:latin typeface="Times New Roman"/>
                        </a:rPr>
                        <a:t> </a:t>
                      </a:r>
                      <a:r>
                        <a:rPr sz="1100" b="0" i="0">
                          <a:solidFill>
                            <a:srgbClr val="000000"/>
                          </a:solidFill>
                          <a:latin typeface="Calibri"/>
                        </a:rPr>
                        <a:t>South Asia and Pacific</a:t>
                      </a:r>
                      <a:endParaRPr sz="1100"/>
                    </a:p>
                  </a:txBody>
                  <a:tcPr marL="771525" marR="9525" marT="9525" marB="0" anchor="ctr"/>
                </a:tc>
              </a:tr>
              <a:tr h="175260">
                <a:tc>
                  <a:txBody>
                    <a:bodyPr wrap="square"/>
                    <a:lstStyle/>
                    <a:p>
                      <a:pPr algn="l"/>
                      <a:r>
                        <a:rPr sz="1100" b="0" i="0">
                          <a:solidFill>
                            <a:srgbClr val="0070C0"/>
                          </a:solidFill>
                          <a:latin typeface="Calibri"/>
                        </a:rPr>
                        <a:t>14.4.</a:t>
                      </a:r>
                      <a:r>
                        <a:rPr sz="700" b="0" i="0">
                          <a:solidFill>
                            <a:srgbClr val="0070C0"/>
                          </a:solidFill>
                          <a:latin typeface="Times New Roman"/>
                        </a:rPr>
                        <a:t>  </a:t>
                      </a:r>
                      <a:r>
                        <a:rPr sz="1100" b="0" i="0">
                          <a:solidFill>
                            <a:srgbClr val="0070C0"/>
                          </a:solidFill>
                          <a:latin typeface="Calibri"/>
                        </a:rPr>
                        <a:t>Market Attractiveness Analysis By Region</a:t>
                      </a:r>
                      <a:endParaRPr sz="1100"/>
                    </a:p>
                  </a:txBody>
                  <a:tcPr marL="428625" marR="9525" marT="9525" marB="0" anchor="ctr"/>
                </a:tc>
              </a:tr>
              <a:tr h="175260">
                <a:tc>
                  <a:txBody>
                    <a:bodyPr wrap="square"/>
                    <a:lstStyle/>
                    <a:p>
                      <a:pPr algn="l"/>
                      <a:r>
                        <a:rPr sz="1100" b="1" i="0">
                          <a:solidFill>
                            <a:srgbClr val="000000"/>
                          </a:solidFill>
                          <a:latin typeface="Calibri"/>
                        </a:rPr>
                        <a:t>15.</a:t>
                      </a:r>
                      <a:r>
                        <a:rPr sz="700" b="1" i="0">
                          <a:solidFill>
                            <a:srgbClr val="000000"/>
                          </a:solidFill>
                          <a:latin typeface="Times New Roman"/>
                        </a:rPr>
                        <a:t>    </a:t>
                      </a:r>
                      <a:r>
                        <a:rPr sz="1100" b="1" i="0">
                          <a:solidFill>
                            <a:srgbClr val="000000"/>
                          </a:solidFill>
                          <a:latin typeface="Calibri"/>
                        </a:rPr>
                        <a:t>North America Industrial Air Compressor Market Outlook, 2021–2036</a:t>
                      </a:r>
                      <a:endParaRPr sz="1100"/>
                    </a:p>
                  </a:txBody>
                  <a:tcPr marL="171450" marR="9525" marT="9525" marB="0" anchor="ctr"/>
                </a:tc>
              </a:tr>
              <a:tr h="175260">
                <a:tc>
                  <a:txBody>
                    <a:bodyPr wrap="square"/>
                    <a:lstStyle/>
                    <a:p>
                      <a:pPr algn="l"/>
                      <a:r>
                        <a:rPr sz="1100" b="0" i="0">
                          <a:solidFill>
                            <a:srgbClr val="0070C0"/>
                          </a:solidFill>
                          <a:latin typeface="Calibri"/>
                        </a:rPr>
                        <a:t>15.1.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15.2.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15.3.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15.4.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15.4.1.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15.4.1.1.</a:t>
                      </a:r>
                      <a:r>
                        <a:rPr sz="700" b="0" i="1">
                          <a:solidFill>
                            <a:srgbClr val="000000"/>
                          </a:solidFill>
                          <a:latin typeface="Times New Roman"/>
                        </a:rPr>
                        <a:t> </a:t>
                      </a:r>
                      <a:r>
                        <a:rPr sz="1100" b="0" i="1">
                          <a:solidFill>
                            <a:srgbClr val="000000"/>
                          </a:solidFill>
                          <a:latin typeface="Calibri"/>
                        </a:rPr>
                        <a:t>U.S.</a:t>
                      </a:r>
                      <a:endParaRPr sz="1100"/>
                    </a:p>
                  </a:txBody>
                  <a:tcPr marL="1028700" marR="9525" marT="9525" marB="0" anchor="ctr"/>
                </a:tc>
              </a:tr>
              <a:tr h="175260">
                <a:tc>
                  <a:txBody>
                    <a:bodyPr wrap="square"/>
                    <a:lstStyle/>
                    <a:p>
                      <a:pPr algn="l"/>
                      <a:r>
                        <a:rPr sz="1100" b="0" i="1">
                          <a:solidFill>
                            <a:srgbClr val="000000"/>
                          </a:solidFill>
                          <a:latin typeface="Calibri"/>
                        </a:rPr>
                        <a:t>15.4.1.2.</a:t>
                      </a:r>
                      <a:r>
                        <a:rPr sz="700" b="0" i="1">
                          <a:solidFill>
                            <a:srgbClr val="000000"/>
                          </a:solidFill>
                          <a:latin typeface="Times New Roman"/>
                        </a:rPr>
                        <a:t> </a:t>
                      </a:r>
                      <a:r>
                        <a:rPr sz="1100" b="0" i="1">
                          <a:solidFill>
                            <a:srgbClr val="000000"/>
                          </a:solidFill>
                          <a:latin typeface="Calibri"/>
                        </a:rPr>
                        <a:t>Canada</a:t>
                      </a:r>
                      <a:endParaRPr sz="1100"/>
                    </a:p>
                  </a:txBody>
                  <a:tcPr marL="1028700" marR="9525" marT="9525" marB="0" anchor="ctr"/>
                </a:tc>
              </a:tr>
              <a:tr h="175260">
                <a:tc>
                  <a:txBody>
                    <a:bodyPr wrap="square"/>
                    <a:lstStyle/>
                    <a:p>
                      <a:pPr algn="l"/>
                      <a:r>
                        <a:rPr sz="1100" b="0" i="1">
                          <a:solidFill>
                            <a:srgbClr val="000000"/>
                          </a:solidFill>
                          <a:latin typeface="Calibri"/>
                        </a:rPr>
                        <a:t>15.4.1.3.</a:t>
                      </a:r>
                      <a:r>
                        <a:rPr sz="700" b="0" i="1">
                          <a:solidFill>
                            <a:srgbClr val="000000"/>
                          </a:solidFill>
                          <a:latin typeface="Times New Roman"/>
                        </a:rPr>
                        <a:t> </a:t>
                      </a:r>
                      <a:r>
                        <a:rPr sz="1100" b="0" i="1">
                          <a:solidFill>
                            <a:srgbClr val="000000"/>
                          </a:solidFill>
                          <a:latin typeface="Calibri"/>
                        </a:rPr>
                        <a:t>Mexico</a:t>
                      </a:r>
                      <a:endParaRPr sz="1100"/>
                    </a:p>
                  </a:txBody>
                  <a:tcPr marL="1028700" marR="9525" marT="9525" marB="0" anchor="ctr"/>
                </a:tc>
              </a:tr>
              <a:tr h="175260">
                <a:tc>
                  <a:txBody>
                    <a:bodyPr wrap="square"/>
                    <a:lstStyle/>
                    <a:p>
                      <a:pPr algn="l"/>
                      <a:r>
                        <a:rPr sz="1100" b="0" i="0">
                          <a:solidFill>
                            <a:srgbClr val="000000"/>
                          </a:solidFill>
                          <a:latin typeface="Calibri"/>
                        </a:rPr>
                        <a:t>15.4.2.</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15.4.3.</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15.4.4.</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15.4.5.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15.4.6.</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15.5.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15.5.1.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15.5.2.</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15.5.3.</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15.5.4.</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15.5.5.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15.5.6.</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15.6.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(4/10)</a:t>
            </a:r>
          </a:p>
        </p:txBody>
      </p:sp>
      <p:graphicFrame>
        <p:nvGraphicFramePr>
          <p:cNvPr id="6"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15.7.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15.8.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16.</a:t>
                      </a:r>
                      <a:r>
                        <a:rPr sz="700" b="1" i="0">
                          <a:solidFill>
                            <a:srgbClr val="000000"/>
                          </a:solidFill>
                          <a:latin typeface="Times New Roman"/>
                        </a:rPr>
                        <a:t>    </a:t>
                      </a:r>
                      <a:r>
                        <a:rPr sz="1100" b="1" i="0">
                          <a:solidFill>
                            <a:srgbClr val="000000"/>
                          </a:solidFill>
                          <a:latin typeface="Calibri"/>
                        </a:rPr>
                        <a:t>Latin America Industrial Air Compressor Market Outlook, 2021–2036</a:t>
                      </a:r>
                      <a:endParaRPr sz="1100"/>
                    </a:p>
                  </a:txBody>
                  <a:tcPr marL="171450" marR="9525" marT="9525" marB="0" anchor="ctr"/>
                </a:tc>
              </a:tr>
              <a:tr h="175260">
                <a:tc>
                  <a:txBody>
                    <a:bodyPr wrap="square"/>
                    <a:lstStyle/>
                    <a:p>
                      <a:pPr algn="l"/>
                      <a:r>
                        <a:rPr sz="1100" b="0" i="0">
                          <a:solidFill>
                            <a:srgbClr val="0070C0"/>
                          </a:solidFill>
                          <a:latin typeface="Calibri"/>
                        </a:rPr>
                        <a:t>16.1.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16.2.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16.3.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16.4.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16.4.1.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16.4.1.1.</a:t>
                      </a:r>
                      <a:r>
                        <a:rPr sz="700" b="0" i="1">
                          <a:solidFill>
                            <a:srgbClr val="000000"/>
                          </a:solidFill>
                          <a:latin typeface="Times New Roman"/>
                        </a:rPr>
                        <a:t> </a:t>
                      </a:r>
                      <a:r>
                        <a:rPr sz="1100" b="0" i="1">
                          <a:solidFill>
                            <a:srgbClr val="000000"/>
                          </a:solidFill>
                          <a:latin typeface="Calibri"/>
                        </a:rPr>
                        <a:t>Brazil</a:t>
                      </a:r>
                      <a:endParaRPr sz="1100"/>
                    </a:p>
                  </a:txBody>
                  <a:tcPr marL="1028700" marR="9525" marT="9525" marB="0" anchor="ctr"/>
                </a:tc>
              </a:tr>
              <a:tr h="175260">
                <a:tc>
                  <a:txBody>
                    <a:bodyPr wrap="square"/>
                    <a:lstStyle/>
                    <a:p>
                      <a:pPr algn="l"/>
                      <a:r>
                        <a:rPr sz="1100" b="0" i="1">
                          <a:solidFill>
                            <a:srgbClr val="000000"/>
                          </a:solidFill>
                          <a:latin typeface="Calibri"/>
                        </a:rPr>
                        <a:t>16.4.1.2.</a:t>
                      </a:r>
                      <a:r>
                        <a:rPr sz="700" b="0" i="1">
                          <a:solidFill>
                            <a:srgbClr val="000000"/>
                          </a:solidFill>
                          <a:latin typeface="Times New Roman"/>
                        </a:rPr>
                        <a:t> </a:t>
                      </a:r>
                      <a:r>
                        <a:rPr sz="1100" b="0" i="1">
                          <a:solidFill>
                            <a:srgbClr val="000000"/>
                          </a:solidFill>
                          <a:latin typeface="Calibri"/>
                        </a:rPr>
                        <a:t>Argentina</a:t>
                      </a:r>
                      <a:endParaRPr sz="1100"/>
                    </a:p>
                  </a:txBody>
                  <a:tcPr marL="1028700" marR="9525" marT="9525" marB="0" anchor="ctr"/>
                </a:tc>
              </a:tr>
              <a:tr h="175260">
                <a:tc>
                  <a:txBody>
                    <a:bodyPr wrap="square"/>
                    <a:lstStyle/>
                    <a:p>
                      <a:pPr algn="l"/>
                      <a:r>
                        <a:rPr sz="1100" b="0" i="1">
                          <a:solidFill>
                            <a:srgbClr val="000000"/>
                          </a:solidFill>
                          <a:latin typeface="Calibri"/>
                        </a:rPr>
                        <a:t>16.4.1.3.</a:t>
                      </a:r>
                      <a:r>
                        <a:rPr sz="700" b="0" i="1">
                          <a:solidFill>
                            <a:srgbClr val="000000"/>
                          </a:solidFill>
                          <a:latin typeface="Times New Roman"/>
                        </a:rPr>
                        <a:t> </a:t>
                      </a:r>
                      <a:r>
                        <a:rPr sz="1100" b="0" i="1">
                          <a:solidFill>
                            <a:srgbClr val="000000"/>
                          </a:solidFill>
                          <a:latin typeface="Calibri"/>
                        </a:rPr>
                        <a:t>Rest of Latin America</a:t>
                      </a:r>
                      <a:endParaRPr sz="1100"/>
                    </a:p>
                  </a:txBody>
                  <a:tcPr marL="1028700" marR="9525" marT="9525" marB="0" anchor="ctr"/>
                </a:tc>
              </a:tr>
              <a:tr h="175260">
                <a:tc>
                  <a:txBody>
                    <a:bodyPr wrap="square"/>
                    <a:lstStyle/>
                    <a:p>
                      <a:pPr algn="l"/>
                      <a:r>
                        <a:rPr sz="1100" b="0" i="0">
                          <a:solidFill>
                            <a:srgbClr val="000000"/>
                          </a:solidFill>
                          <a:latin typeface="Calibri"/>
                        </a:rPr>
                        <a:t>16.4.2.</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16.4.3.</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16.4.4.</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16.4.5.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16.4.6.</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16.5.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16.5.1.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16.5.2.</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16.5.3.</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16.5.4.</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16.5.5.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16.5.6.</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16.6.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16.7.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16.8.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17.</a:t>
                      </a:r>
                      <a:r>
                        <a:rPr sz="700" b="1" i="0">
                          <a:solidFill>
                            <a:srgbClr val="000000"/>
                          </a:solidFill>
                          <a:latin typeface="Times New Roman"/>
                        </a:rPr>
                        <a:t>    </a:t>
                      </a:r>
                      <a:r>
                        <a:rPr sz="1100" b="1" i="0">
                          <a:solidFill>
                            <a:srgbClr val="000000"/>
                          </a:solidFill>
                          <a:latin typeface="Calibri"/>
                        </a:rPr>
                        <a:t>Western Europe Industrial Air Compressor Market Outlook, 2021–2036</a:t>
                      </a:r>
                      <a:endParaRPr sz="1100"/>
                    </a:p>
                  </a:txBody>
                  <a:tcPr marL="171450" marR="9525" marT="9525" marB="0" anchor="ctr"/>
                </a:tc>
              </a:tr>
              <a:tr h="175260">
                <a:tc>
                  <a:txBody>
                    <a:bodyPr wrap="square"/>
                    <a:lstStyle/>
                    <a:p>
                      <a:pPr algn="l"/>
                      <a:r>
                        <a:rPr sz="1100" b="0" i="0">
                          <a:solidFill>
                            <a:srgbClr val="0070C0"/>
                          </a:solidFill>
                          <a:latin typeface="Calibri"/>
                        </a:rPr>
                        <a:t>17.1.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17.2.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350520">
                <a:tc>
                  <a:txBody>
                    <a:bodyPr wrap="square"/>
                    <a:lstStyle/>
                    <a:p>
                      <a:pPr algn="l"/>
                      <a:r>
                        <a:rPr sz="1100" b="0" i="0">
                          <a:solidFill>
                            <a:srgbClr val="0070C0"/>
                          </a:solidFill>
                          <a:latin typeface="Calibri"/>
                        </a:rPr>
                        <a:t>17.3.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17.4.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17.4.1.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17.4.1.1.</a:t>
                      </a:r>
                      <a:r>
                        <a:rPr sz="700" b="0" i="1">
                          <a:solidFill>
                            <a:srgbClr val="000000"/>
                          </a:solidFill>
                          <a:latin typeface="Times New Roman"/>
                        </a:rPr>
                        <a:t> </a:t>
                      </a:r>
                      <a:r>
                        <a:rPr sz="1100" b="0" i="1">
                          <a:solidFill>
                            <a:srgbClr val="000000"/>
                          </a:solidFill>
                          <a:latin typeface="Calibri"/>
                        </a:rPr>
                        <a:t>Germany</a:t>
                      </a:r>
                      <a:endParaRPr sz="1100"/>
                    </a:p>
                  </a:txBody>
                  <a:tcPr marL="1028700" marR="9525" marT="9525" marB="0" anchor="ctr"/>
                </a:tc>
              </a:tr>
              <a:tr h="175260">
                <a:tc>
                  <a:txBody>
                    <a:bodyPr wrap="square"/>
                    <a:lstStyle/>
                    <a:p>
                      <a:pPr algn="l"/>
                      <a:r>
                        <a:rPr sz="1100" b="0" i="1">
                          <a:solidFill>
                            <a:srgbClr val="000000"/>
                          </a:solidFill>
                          <a:latin typeface="Calibri"/>
                        </a:rPr>
                        <a:t>17.4.1.2.</a:t>
                      </a:r>
                      <a:r>
                        <a:rPr sz="700" b="0" i="1">
                          <a:solidFill>
                            <a:srgbClr val="000000"/>
                          </a:solidFill>
                          <a:latin typeface="Times New Roman"/>
                        </a:rPr>
                        <a:t> </a:t>
                      </a:r>
                      <a:r>
                        <a:rPr sz="1100" b="0" i="1">
                          <a:solidFill>
                            <a:srgbClr val="000000"/>
                          </a:solidFill>
                          <a:latin typeface="Calibri"/>
                        </a:rPr>
                        <a:t>Italy</a:t>
                      </a:r>
                      <a:endParaRPr sz="1100"/>
                    </a:p>
                  </a:txBody>
                  <a:tcPr marL="1028700" marR="9525" marT="9525" marB="0" anchor="ctr"/>
                </a:tc>
              </a:tr>
              <a:tr h="175260">
                <a:tc>
                  <a:txBody>
                    <a:bodyPr wrap="square"/>
                    <a:lstStyle/>
                    <a:p>
                      <a:pPr algn="l"/>
                      <a:r>
                        <a:rPr sz="1100" b="0" i="1">
                          <a:solidFill>
                            <a:srgbClr val="000000"/>
                          </a:solidFill>
                          <a:latin typeface="Calibri"/>
                        </a:rPr>
                        <a:t>17.4.1.3.</a:t>
                      </a:r>
                      <a:r>
                        <a:rPr sz="700" b="0" i="1">
                          <a:solidFill>
                            <a:srgbClr val="000000"/>
                          </a:solidFill>
                          <a:latin typeface="Times New Roman"/>
                        </a:rPr>
                        <a:t> </a:t>
                      </a:r>
                      <a:r>
                        <a:rPr sz="1100" b="0" i="1">
                          <a:solidFill>
                            <a:srgbClr val="000000"/>
                          </a:solidFill>
                          <a:latin typeface="Calibri"/>
                        </a:rPr>
                        <a:t>France</a:t>
                      </a:r>
                      <a:endParaRPr sz="1100"/>
                    </a:p>
                  </a:txBody>
                  <a:tcPr marL="1028700" marR="9525" marT="9525" marB="0" anchor="ctr"/>
                </a:tc>
              </a:tr>
              <a:tr h="175260">
                <a:tc>
                  <a:txBody>
                    <a:bodyPr wrap="square"/>
                    <a:lstStyle/>
                    <a:p>
                      <a:pPr algn="l"/>
                      <a:r>
                        <a:rPr sz="1100" b="0" i="1">
                          <a:solidFill>
                            <a:srgbClr val="000000"/>
                          </a:solidFill>
                          <a:latin typeface="Calibri"/>
                        </a:rPr>
                        <a:t>17.4.1.4.</a:t>
                      </a:r>
                      <a:r>
                        <a:rPr sz="700" b="0" i="1">
                          <a:solidFill>
                            <a:srgbClr val="000000"/>
                          </a:solidFill>
                          <a:latin typeface="Times New Roman"/>
                        </a:rPr>
                        <a:t> </a:t>
                      </a:r>
                      <a:r>
                        <a:rPr sz="1100" b="0" i="1">
                          <a:solidFill>
                            <a:srgbClr val="000000"/>
                          </a:solidFill>
                          <a:latin typeface="Calibri"/>
                        </a:rPr>
                        <a:t>U.K.</a:t>
                      </a:r>
                      <a:endParaRPr sz="1100"/>
                    </a:p>
                  </a:txBody>
                  <a:tcPr marL="1028700" marR="9525" marT="9525" marB="0" anchor="ctr"/>
                </a:tc>
              </a:tr>
              <a:tr h="175260">
                <a:tc>
                  <a:txBody>
                    <a:bodyPr wrap="square"/>
                    <a:lstStyle/>
                    <a:p>
                      <a:pPr algn="l"/>
                      <a:r>
                        <a:rPr sz="1100" b="0" i="1">
                          <a:solidFill>
                            <a:srgbClr val="000000"/>
                          </a:solidFill>
                          <a:latin typeface="Calibri"/>
                        </a:rPr>
                        <a:t>17.4.1.5.</a:t>
                      </a:r>
                      <a:r>
                        <a:rPr sz="700" b="0" i="1">
                          <a:solidFill>
                            <a:srgbClr val="000000"/>
                          </a:solidFill>
                          <a:latin typeface="Times New Roman"/>
                        </a:rPr>
                        <a:t> </a:t>
                      </a:r>
                      <a:r>
                        <a:rPr sz="1100" b="0" i="1">
                          <a:solidFill>
                            <a:srgbClr val="000000"/>
                          </a:solidFill>
                          <a:latin typeface="Calibri"/>
                        </a:rPr>
                        <a:t>Spain</a:t>
                      </a:r>
                      <a:endParaRPr sz="1100"/>
                    </a:p>
                  </a:txBody>
                  <a:tcPr marL="1028700" marR="9525" marT="9525" marB="0" anchor="ctr"/>
                </a:tc>
              </a:tr>
              <a:tr h="175260">
                <a:tc>
                  <a:txBody>
                    <a:bodyPr wrap="square"/>
                    <a:lstStyle/>
                    <a:p>
                      <a:pPr algn="l"/>
                      <a:r>
                        <a:rPr sz="1100" b="0" i="1">
                          <a:solidFill>
                            <a:srgbClr val="000000"/>
                          </a:solidFill>
                          <a:latin typeface="Calibri"/>
                        </a:rPr>
                        <a:t>17.4.1.6.</a:t>
                      </a:r>
                      <a:r>
                        <a:rPr sz="700" b="0" i="1">
                          <a:solidFill>
                            <a:srgbClr val="000000"/>
                          </a:solidFill>
                          <a:latin typeface="Times New Roman"/>
                        </a:rPr>
                        <a:t> </a:t>
                      </a:r>
                      <a:r>
                        <a:rPr sz="1100" b="0" i="1">
                          <a:solidFill>
                            <a:srgbClr val="000000"/>
                          </a:solidFill>
                          <a:latin typeface="Calibri"/>
                        </a:rPr>
                        <a:t>BENELUX</a:t>
                      </a:r>
                      <a:endParaRPr sz="1100"/>
                    </a:p>
                  </a:txBody>
                  <a:tcPr marL="1028700" marR="9525" marT="9525" marB="0" anchor="ctr"/>
                </a:tc>
              </a:tr>
              <a:tr h="175260">
                <a:tc>
                  <a:txBody>
                    <a:bodyPr wrap="square"/>
                    <a:lstStyle/>
                    <a:p>
                      <a:pPr algn="l"/>
                      <a:r>
                        <a:rPr sz="1100" b="0" i="1">
                          <a:solidFill>
                            <a:srgbClr val="000000"/>
                          </a:solidFill>
                          <a:latin typeface="Calibri"/>
                        </a:rPr>
                        <a:t>17.4.1.7.</a:t>
                      </a:r>
                      <a:r>
                        <a:rPr sz="700" b="0" i="1">
                          <a:solidFill>
                            <a:srgbClr val="000000"/>
                          </a:solidFill>
                          <a:latin typeface="Times New Roman"/>
                        </a:rPr>
                        <a:t> </a:t>
                      </a:r>
                      <a:r>
                        <a:rPr sz="1100" b="0" i="1">
                          <a:solidFill>
                            <a:srgbClr val="000000"/>
                          </a:solidFill>
                          <a:latin typeface="Calibri"/>
                        </a:rPr>
                        <a:t>Rest of Western Europe</a:t>
                      </a:r>
                      <a:endParaRPr sz="1100"/>
                    </a:p>
                  </a:txBody>
                  <a:tcPr marL="1028700" marR="9525" marT="9525" marB="0" anchor="ctr"/>
                </a:tc>
              </a:tr>
              <a:tr h="175260">
                <a:tc>
                  <a:txBody>
                    <a:bodyPr wrap="square"/>
                    <a:lstStyle/>
                    <a:p>
                      <a:pPr algn="l"/>
                      <a:r>
                        <a:rPr sz="1100" b="0" i="0">
                          <a:solidFill>
                            <a:srgbClr val="000000"/>
                          </a:solidFill>
                          <a:latin typeface="Calibri"/>
                        </a:rPr>
                        <a:t>17.4.2.</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17.4.3.</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17.4.4.</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17.4.5.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17.4.6.</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17.5.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17.5.1.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17.5.2.</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17.5.3.</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17.5.4.</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17.5.5.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17.5.6.</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17.6.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17.7.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17.8.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18.</a:t>
                      </a:r>
                      <a:r>
                        <a:rPr sz="700" b="1" i="0">
                          <a:solidFill>
                            <a:srgbClr val="000000"/>
                          </a:solidFill>
                          <a:latin typeface="Times New Roman"/>
                        </a:rPr>
                        <a:t>    </a:t>
                      </a:r>
                      <a:r>
                        <a:rPr sz="1100" b="1" i="0">
                          <a:solidFill>
                            <a:srgbClr val="000000"/>
                          </a:solidFill>
                          <a:latin typeface="Calibri"/>
                        </a:rPr>
                        <a:t>Eastern Europe Industrial Air Compressor Market Outlook, 2021–2036</a:t>
                      </a:r>
                      <a:endParaRPr sz="1100"/>
                    </a:p>
                  </a:txBody>
                  <a:tcPr marL="171450" marR="9525" marT="9525" marB="0" anchor="ctr"/>
                </a:tc>
              </a:tr>
              <a:tr h="175260">
                <a:tc>
                  <a:txBody>
                    <a:bodyPr wrap="square"/>
                    <a:lstStyle/>
                    <a:p>
                      <a:pPr algn="l"/>
                      <a:r>
                        <a:rPr sz="1100" b="0" i="0">
                          <a:solidFill>
                            <a:srgbClr val="0070C0"/>
                          </a:solidFill>
                          <a:latin typeface="Calibri"/>
                        </a:rPr>
                        <a:t>18.1.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18.2.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175260">
                <a:tc>
                  <a:txBody>
                    <a:bodyPr wrap="square"/>
                    <a:lstStyle/>
                    <a:p>
                      <a:pPr algn="l"/>
                      <a:endParaRPr sz="110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(5/10)</a:t>
            </a:r>
          </a:p>
        </p:txBody>
      </p:sp>
      <p:graphicFrame>
        <p:nvGraphicFramePr>
          <p:cNvPr id="6"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350520">
                <a:tc>
                  <a:txBody>
                    <a:bodyPr wrap="square"/>
                    <a:lstStyle/>
                    <a:p>
                      <a:pPr algn="l"/>
                      <a:r>
                        <a:rPr sz="1100" b="0" i="0">
                          <a:solidFill>
                            <a:srgbClr val="0070C0"/>
                          </a:solidFill>
                          <a:latin typeface="Calibri"/>
                        </a:rPr>
                        <a:t>18.3.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18.4.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18.4.1.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18.4.1.1.</a:t>
                      </a:r>
                      <a:r>
                        <a:rPr sz="700" b="0" i="1">
                          <a:solidFill>
                            <a:srgbClr val="000000"/>
                          </a:solidFill>
                          <a:latin typeface="Times New Roman"/>
                        </a:rPr>
                        <a:t> </a:t>
                      </a:r>
                      <a:r>
                        <a:rPr sz="1100" b="0" i="1">
                          <a:solidFill>
                            <a:srgbClr val="000000"/>
                          </a:solidFill>
                          <a:latin typeface="Calibri"/>
                        </a:rPr>
                        <a:t>Russia</a:t>
                      </a:r>
                      <a:endParaRPr sz="1100"/>
                    </a:p>
                  </a:txBody>
                  <a:tcPr marL="1028700" marR="9525" marT="9525" marB="0" anchor="ctr"/>
                </a:tc>
              </a:tr>
              <a:tr h="175260">
                <a:tc>
                  <a:txBody>
                    <a:bodyPr wrap="square"/>
                    <a:lstStyle/>
                    <a:p>
                      <a:pPr algn="l"/>
                      <a:r>
                        <a:rPr sz="1100" b="0" i="1">
                          <a:solidFill>
                            <a:srgbClr val="000000"/>
                          </a:solidFill>
                          <a:latin typeface="Calibri"/>
                        </a:rPr>
                        <a:t>18.4.1.2.</a:t>
                      </a:r>
                      <a:r>
                        <a:rPr sz="700" b="0" i="1">
                          <a:solidFill>
                            <a:srgbClr val="000000"/>
                          </a:solidFill>
                          <a:latin typeface="Times New Roman"/>
                        </a:rPr>
                        <a:t> </a:t>
                      </a:r>
                      <a:r>
                        <a:rPr sz="1100" b="0" i="1">
                          <a:solidFill>
                            <a:srgbClr val="000000"/>
                          </a:solidFill>
                          <a:latin typeface="Calibri"/>
                        </a:rPr>
                        <a:t>Hungary</a:t>
                      </a:r>
                      <a:endParaRPr sz="1100"/>
                    </a:p>
                  </a:txBody>
                  <a:tcPr marL="1028700" marR="9525" marT="9525" marB="0" anchor="ctr"/>
                </a:tc>
              </a:tr>
              <a:tr h="175260">
                <a:tc>
                  <a:txBody>
                    <a:bodyPr wrap="square"/>
                    <a:lstStyle/>
                    <a:p>
                      <a:pPr algn="l"/>
                      <a:r>
                        <a:rPr sz="1100" b="0" i="1">
                          <a:solidFill>
                            <a:srgbClr val="000000"/>
                          </a:solidFill>
                          <a:latin typeface="Calibri"/>
                        </a:rPr>
                        <a:t>18.4.1.3.</a:t>
                      </a:r>
                      <a:r>
                        <a:rPr sz="700" b="0" i="1">
                          <a:solidFill>
                            <a:srgbClr val="000000"/>
                          </a:solidFill>
                          <a:latin typeface="Times New Roman"/>
                        </a:rPr>
                        <a:t> </a:t>
                      </a:r>
                      <a:r>
                        <a:rPr sz="1100" b="0" i="1">
                          <a:solidFill>
                            <a:srgbClr val="000000"/>
                          </a:solidFill>
                          <a:latin typeface="Calibri"/>
                        </a:rPr>
                        <a:t>Poland</a:t>
                      </a:r>
                      <a:endParaRPr sz="1100"/>
                    </a:p>
                  </a:txBody>
                  <a:tcPr marL="1028700" marR="9525" marT="9525" marB="0" anchor="ctr"/>
                </a:tc>
              </a:tr>
              <a:tr h="175260">
                <a:tc>
                  <a:txBody>
                    <a:bodyPr wrap="square"/>
                    <a:lstStyle/>
                    <a:p>
                      <a:pPr algn="l"/>
                      <a:r>
                        <a:rPr sz="1100" b="0" i="1">
                          <a:solidFill>
                            <a:srgbClr val="000000"/>
                          </a:solidFill>
                          <a:latin typeface="Calibri"/>
                        </a:rPr>
                        <a:t>18.4.1.4.</a:t>
                      </a:r>
                      <a:r>
                        <a:rPr sz="700" b="0" i="1">
                          <a:solidFill>
                            <a:srgbClr val="000000"/>
                          </a:solidFill>
                          <a:latin typeface="Times New Roman"/>
                        </a:rPr>
                        <a:t> </a:t>
                      </a:r>
                      <a:r>
                        <a:rPr sz="1100" b="0" i="1">
                          <a:solidFill>
                            <a:srgbClr val="000000"/>
                          </a:solidFill>
                          <a:latin typeface="Calibri"/>
                        </a:rPr>
                        <a:t>Balkan &amp; Baltics</a:t>
                      </a:r>
                      <a:endParaRPr sz="1100"/>
                    </a:p>
                  </a:txBody>
                  <a:tcPr marL="1028700" marR="9525" marT="9525" marB="0" anchor="ctr"/>
                </a:tc>
              </a:tr>
              <a:tr h="175260">
                <a:tc>
                  <a:txBody>
                    <a:bodyPr wrap="square"/>
                    <a:lstStyle/>
                    <a:p>
                      <a:pPr algn="l"/>
                      <a:r>
                        <a:rPr sz="1100" b="0" i="1">
                          <a:solidFill>
                            <a:srgbClr val="000000"/>
                          </a:solidFill>
                          <a:latin typeface="Calibri"/>
                        </a:rPr>
                        <a:t>18.4.1.5.</a:t>
                      </a:r>
                      <a:r>
                        <a:rPr sz="700" b="0" i="1">
                          <a:solidFill>
                            <a:srgbClr val="000000"/>
                          </a:solidFill>
                          <a:latin typeface="Times New Roman"/>
                        </a:rPr>
                        <a:t> </a:t>
                      </a:r>
                      <a:r>
                        <a:rPr sz="1100" b="0" i="1">
                          <a:solidFill>
                            <a:srgbClr val="000000"/>
                          </a:solidFill>
                          <a:latin typeface="Calibri"/>
                        </a:rPr>
                        <a:t>Rest of Eastern Europe</a:t>
                      </a:r>
                      <a:endParaRPr sz="1100"/>
                    </a:p>
                  </a:txBody>
                  <a:tcPr marL="1028700" marR="9525" marT="9525" marB="0" anchor="ctr"/>
                </a:tc>
              </a:tr>
              <a:tr h="175260">
                <a:tc>
                  <a:txBody>
                    <a:bodyPr wrap="square"/>
                    <a:lstStyle/>
                    <a:p>
                      <a:pPr algn="l"/>
                      <a:r>
                        <a:rPr sz="1100" b="0" i="0">
                          <a:solidFill>
                            <a:srgbClr val="000000"/>
                          </a:solidFill>
                          <a:latin typeface="Calibri"/>
                        </a:rPr>
                        <a:t>18.4.2.</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18.4.3.</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18.4.4.</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18.4.5.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18.4.6.</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18.5.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18.5.1.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18.5.2.</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18.5.3.</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18.5.4.</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18.5.5.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18.5.6.</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18.6.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18.7.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18.8.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19.</a:t>
                      </a:r>
                      <a:r>
                        <a:rPr sz="700" b="1" i="0">
                          <a:solidFill>
                            <a:srgbClr val="000000"/>
                          </a:solidFill>
                          <a:latin typeface="Times New Roman"/>
                        </a:rPr>
                        <a:t>    </a:t>
                      </a:r>
                      <a:r>
                        <a:rPr sz="1100" b="1" i="0">
                          <a:solidFill>
                            <a:srgbClr val="000000"/>
                          </a:solidFill>
                          <a:latin typeface="Calibri"/>
                        </a:rPr>
                        <a:t>South Asia and Pacific Industrial Air Compressor Market Outlook, 2021–2036</a:t>
                      </a:r>
                      <a:endParaRPr sz="1100"/>
                    </a:p>
                  </a:txBody>
                  <a:tcPr marL="171450" marR="9525" marT="9525" marB="0" anchor="ctr"/>
                </a:tc>
              </a:tr>
              <a:tr h="175260">
                <a:tc>
                  <a:txBody>
                    <a:bodyPr wrap="square"/>
                    <a:lstStyle/>
                    <a:p>
                      <a:pPr algn="l"/>
                      <a:r>
                        <a:rPr sz="1100" b="0" i="0">
                          <a:solidFill>
                            <a:srgbClr val="0070C0"/>
                          </a:solidFill>
                          <a:latin typeface="Calibri"/>
                        </a:rPr>
                        <a:t>19.1.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19.2.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19.3.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19.4.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19.4.1.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19.4.1.1.</a:t>
                      </a:r>
                      <a:r>
                        <a:rPr sz="700" b="0" i="1">
                          <a:solidFill>
                            <a:srgbClr val="000000"/>
                          </a:solidFill>
                          <a:latin typeface="Times New Roman"/>
                        </a:rPr>
                        <a:t> </a:t>
                      </a:r>
                      <a:r>
                        <a:rPr sz="1100" b="0" i="1">
                          <a:solidFill>
                            <a:srgbClr val="000000"/>
                          </a:solidFill>
                          <a:latin typeface="Calibri"/>
                        </a:rPr>
                        <a:t>India</a:t>
                      </a:r>
                      <a:endParaRPr sz="1100"/>
                    </a:p>
                  </a:txBody>
                  <a:tcPr marL="1028700" marR="9525" marT="9525" marB="0" anchor="ctr"/>
                </a:tc>
              </a:tr>
              <a:tr h="175260">
                <a:tc>
                  <a:txBody>
                    <a:bodyPr wrap="square"/>
                    <a:lstStyle/>
                    <a:p>
                      <a:pPr algn="l"/>
                      <a:r>
                        <a:rPr sz="1100" b="0" i="1">
                          <a:solidFill>
                            <a:srgbClr val="000000"/>
                          </a:solidFill>
                          <a:latin typeface="Calibri"/>
                        </a:rPr>
                        <a:t>19.4.1.2.</a:t>
                      </a:r>
                      <a:r>
                        <a:rPr sz="700" b="0" i="1">
                          <a:solidFill>
                            <a:srgbClr val="000000"/>
                          </a:solidFill>
                          <a:latin typeface="Times New Roman"/>
                        </a:rPr>
                        <a:t> </a:t>
                      </a:r>
                      <a:r>
                        <a:rPr sz="1100" b="0" i="1">
                          <a:solidFill>
                            <a:srgbClr val="000000"/>
                          </a:solidFill>
                          <a:latin typeface="Calibri"/>
                        </a:rPr>
                        <a:t>ASEAN</a:t>
                      </a:r>
                      <a:endParaRPr sz="1100"/>
                    </a:p>
                  </a:txBody>
                  <a:tcPr marL="1028700" marR="9525" marT="9525" marB="0" anchor="ctr"/>
                </a:tc>
              </a:tr>
              <a:tr h="175260">
                <a:tc>
                  <a:txBody>
                    <a:bodyPr wrap="square"/>
                    <a:lstStyle/>
                    <a:p>
                      <a:pPr algn="l"/>
                      <a:r>
                        <a:rPr sz="1100" b="0" i="1">
                          <a:solidFill>
                            <a:srgbClr val="000000"/>
                          </a:solidFill>
                          <a:latin typeface="Calibri"/>
                        </a:rPr>
                        <a:t>19.4.1.3.</a:t>
                      </a:r>
                      <a:r>
                        <a:rPr sz="700" b="0" i="1">
                          <a:solidFill>
                            <a:srgbClr val="000000"/>
                          </a:solidFill>
                          <a:latin typeface="Times New Roman"/>
                        </a:rPr>
                        <a:t> </a:t>
                      </a:r>
                      <a:r>
                        <a:rPr sz="1100" b="0" i="1">
                          <a:solidFill>
                            <a:srgbClr val="000000"/>
                          </a:solidFill>
                          <a:latin typeface="Calibri"/>
                        </a:rPr>
                        <a:t>Australia and New Zealand</a:t>
                      </a:r>
                      <a:endParaRPr sz="1100"/>
                    </a:p>
                  </a:txBody>
                  <a:tcPr marL="1028700" marR="9525" marT="9525" marB="0" anchor="ctr"/>
                </a:tc>
              </a:tr>
              <a:tr h="175260">
                <a:tc>
                  <a:txBody>
                    <a:bodyPr wrap="square"/>
                    <a:lstStyle/>
                    <a:p>
                      <a:pPr algn="l"/>
                      <a:r>
                        <a:rPr sz="1100" b="0" i="1">
                          <a:solidFill>
                            <a:srgbClr val="000000"/>
                          </a:solidFill>
                          <a:latin typeface="Calibri"/>
                        </a:rPr>
                        <a:t>19.4.1.4.</a:t>
                      </a:r>
                      <a:r>
                        <a:rPr sz="700" b="0" i="1">
                          <a:solidFill>
                            <a:srgbClr val="000000"/>
                          </a:solidFill>
                          <a:latin typeface="Times New Roman"/>
                        </a:rPr>
                        <a:t> </a:t>
                      </a:r>
                      <a:r>
                        <a:rPr sz="1100" b="0" i="1">
                          <a:solidFill>
                            <a:srgbClr val="000000"/>
                          </a:solidFill>
                          <a:latin typeface="Calibri"/>
                        </a:rPr>
                        <a:t>Rest of South Asia &amp; Pacific</a:t>
                      </a:r>
                      <a:endParaRPr sz="1100"/>
                    </a:p>
                  </a:txBody>
                  <a:tcPr marL="1028700" marR="9525" marT="9525" marB="0" anchor="ctr"/>
                </a:tc>
              </a:tr>
              <a:tr h="175260">
                <a:tc>
                  <a:txBody>
                    <a:bodyPr wrap="square"/>
                    <a:lstStyle/>
                    <a:p>
                      <a:pPr algn="l"/>
                      <a:r>
                        <a:rPr sz="1100" b="0" i="0">
                          <a:solidFill>
                            <a:srgbClr val="000000"/>
                          </a:solidFill>
                          <a:latin typeface="Calibri"/>
                        </a:rPr>
                        <a:t>19.4.2.</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19.4.3.</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19.4.4.</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19.4.5.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19.4.6.</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19.5.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19.5.1.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19.5.2.</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19.5.3.</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19.5.4.</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19.5.5.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19.5.6.</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19.6.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19.7.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19.8.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20.</a:t>
                      </a:r>
                      <a:r>
                        <a:rPr sz="700" b="1" i="0">
                          <a:solidFill>
                            <a:srgbClr val="000000"/>
                          </a:solidFill>
                          <a:latin typeface="Times New Roman"/>
                        </a:rPr>
                        <a:t>    </a:t>
                      </a:r>
                      <a:r>
                        <a:rPr sz="1100" b="1" i="0">
                          <a:solidFill>
                            <a:srgbClr val="000000"/>
                          </a:solidFill>
                          <a:latin typeface="Calibri"/>
                        </a:rPr>
                        <a:t>East Asia Industrial Air Compressor Market Outlook, 2021–2036</a:t>
                      </a:r>
                      <a:endParaRPr sz="1100"/>
                    </a:p>
                  </a:txBody>
                  <a:tcPr marL="171450" marR="9525" marT="9525" marB="0" anchor="ctr"/>
                </a:tc>
              </a:tr>
              <a:tr h="175260">
                <a:tc>
                  <a:txBody>
                    <a:bodyPr wrap="square"/>
                    <a:lstStyle/>
                    <a:p>
                      <a:pPr algn="l"/>
                      <a:r>
                        <a:rPr sz="1100" b="0" i="0">
                          <a:solidFill>
                            <a:srgbClr val="0070C0"/>
                          </a:solidFill>
                          <a:latin typeface="Calibri"/>
                        </a:rPr>
                        <a:t>20.1.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20.2.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20.3.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20.4.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20.4.1.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20.4.1.1.</a:t>
                      </a:r>
                      <a:r>
                        <a:rPr sz="700" b="0" i="1">
                          <a:solidFill>
                            <a:srgbClr val="000000"/>
                          </a:solidFill>
                          <a:latin typeface="Times New Roman"/>
                        </a:rPr>
                        <a:t> </a:t>
                      </a:r>
                      <a:r>
                        <a:rPr sz="1100" b="0" i="1">
                          <a:solidFill>
                            <a:srgbClr val="000000"/>
                          </a:solidFill>
                          <a:latin typeface="Calibri"/>
                        </a:rPr>
                        <a:t>China</a:t>
                      </a:r>
                      <a:endParaRPr sz="1100"/>
                    </a:p>
                  </a:txBody>
                  <a:tcPr marL="1028700" marR="9525" marT="9525" marB="0" anchor="ctr"/>
                </a:tc>
              </a:tr>
              <a:tr h="175260">
                <a:tc>
                  <a:txBody>
                    <a:bodyPr wrap="square"/>
                    <a:lstStyle/>
                    <a:p>
                      <a:pPr algn="l"/>
                      <a:r>
                        <a:rPr sz="1100" b="0" i="1">
                          <a:solidFill>
                            <a:srgbClr val="000000"/>
                          </a:solidFill>
                          <a:latin typeface="Calibri"/>
                        </a:rPr>
                        <a:t>20.4.1.2.</a:t>
                      </a:r>
                      <a:r>
                        <a:rPr sz="700" b="0" i="1">
                          <a:solidFill>
                            <a:srgbClr val="000000"/>
                          </a:solidFill>
                          <a:latin typeface="Times New Roman"/>
                        </a:rPr>
                        <a:t> </a:t>
                      </a:r>
                      <a:r>
                        <a:rPr sz="1100" b="0" i="1">
                          <a:solidFill>
                            <a:srgbClr val="000000"/>
                          </a:solidFill>
                          <a:latin typeface="Calibri"/>
                        </a:rPr>
                        <a:t>Japan</a:t>
                      </a:r>
                      <a:endParaRPr sz="1100"/>
                    </a:p>
                  </a:txBody>
                  <a:tcPr marL="1028700" marR="9525" marT="9525" marB="0" anchor="ctr"/>
                </a:tc>
              </a:tr>
              <a:tr h="175260">
                <a:tc>
                  <a:txBody>
                    <a:bodyPr wrap="square"/>
                    <a:lstStyle/>
                    <a:p>
                      <a:pPr algn="l"/>
                      <a:r>
                        <a:rPr sz="1100" b="0" i="1">
                          <a:solidFill>
                            <a:srgbClr val="000000"/>
                          </a:solidFill>
                          <a:latin typeface="Calibri"/>
                        </a:rPr>
                        <a:t>20.4.1.3.</a:t>
                      </a:r>
                      <a:r>
                        <a:rPr sz="700" b="0" i="1">
                          <a:solidFill>
                            <a:srgbClr val="000000"/>
                          </a:solidFill>
                          <a:latin typeface="Times New Roman"/>
                        </a:rPr>
                        <a:t> </a:t>
                      </a:r>
                      <a:r>
                        <a:rPr sz="1100" b="0" i="1">
                          <a:solidFill>
                            <a:srgbClr val="000000"/>
                          </a:solidFill>
                          <a:latin typeface="Calibri"/>
                        </a:rPr>
                        <a:t>South Korea</a:t>
                      </a:r>
                      <a:endParaRPr sz="1100"/>
                    </a:p>
                  </a:txBody>
                  <a:tcPr marL="1028700"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(6/10)</a:t>
            </a:r>
          </a:p>
        </p:txBody>
      </p:sp>
      <p:graphicFrame>
        <p:nvGraphicFramePr>
          <p:cNvPr id="6"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20.4.2.</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20.4.3.</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20.4.4.</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20.4.5.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20.4.6.</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20.5.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20.5.1.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20.5.2.</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20.5.3.</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20.5.4.</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20.5.5.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20.5.6.</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20.6.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20.7.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20.8.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21.</a:t>
                      </a:r>
                      <a:r>
                        <a:rPr sz="700" b="1" i="0">
                          <a:solidFill>
                            <a:srgbClr val="000000"/>
                          </a:solidFill>
                          <a:latin typeface="Times New Roman"/>
                        </a:rPr>
                        <a:t>    </a:t>
                      </a:r>
                      <a:r>
                        <a:rPr sz="1100" b="1" i="0">
                          <a:solidFill>
                            <a:srgbClr val="000000"/>
                          </a:solidFill>
                          <a:latin typeface="Calibri"/>
                        </a:rPr>
                        <a:t>Middle East and Africa Industrial Air Compressor Market Outlook, 2021–2036</a:t>
                      </a:r>
                      <a:endParaRPr sz="1100"/>
                    </a:p>
                  </a:txBody>
                  <a:tcPr marL="171450" marR="9525" marT="9525" marB="0" anchor="ctr"/>
                </a:tc>
              </a:tr>
              <a:tr h="175260">
                <a:tc>
                  <a:txBody>
                    <a:bodyPr wrap="square"/>
                    <a:lstStyle/>
                    <a:p>
                      <a:pPr algn="l"/>
                      <a:r>
                        <a:rPr sz="1100" b="0" i="0">
                          <a:solidFill>
                            <a:srgbClr val="0070C0"/>
                          </a:solidFill>
                          <a:latin typeface="Calibri"/>
                        </a:rPr>
                        <a:t>21.1.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21.2.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21.3.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21.4.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21.4.1.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21.4.1.1.</a:t>
                      </a:r>
                      <a:r>
                        <a:rPr sz="700" b="0" i="1">
                          <a:solidFill>
                            <a:srgbClr val="000000"/>
                          </a:solidFill>
                          <a:latin typeface="Times New Roman"/>
                        </a:rPr>
                        <a:t> </a:t>
                      </a:r>
                      <a:r>
                        <a:rPr sz="1100" b="0" i="1">
                          <a:solidFill>
                            <a:srgbClr val="000000"/>
                          </a:solidFill>
                          <a:latin typeface="Calibri"/>
                        </a:rPr>
                        <a:t>GCC Countries</a:t>
                      </a:r>
                      <a:endParaRPr sz="1100"/>
                    </a:p>
                  </a:txBody>
                  <a:tcPr marL="1028700" marR="9525" marT="9525" marB="0" anchor="ctr"/>
                </a:tc>
              </a:tr>
              <a:tr h="175260">
                <a:tc>
                  <a:txBody>
                    <a:bodyPr wrap="square"/>
                    <a:lstStyle/>
                    <a:p>
                      <a:pPr algn="l"/>
                      <a:r>
                        <a:rPr sz="1100" b="0" i="1">
                          <a:solidFill>
                            <a:srgbClr val="000000"/>
                          </a:solidFill>
                          <a:latin typeface="Calibri"/>
                        </a:rPr>
                        <a:t>21.4.1.2.</a:t>
                      </a:r>
                      <a:r>
                        <a:rPr sz="700" b="0" i="1">
                          <a:solidFill>
                            <a:srgbClr val="000000"/>
                          </a:solidFill>
                          <a:latin typeface="Times New Roman"/>
                        </a:rPr>
                        <a:t> </a:t>
                      </a:r>
                      <a:r>
                        <a:rPr sz="1100" b="0" i="1">
                          <a:solidFill>
                            <a:srgbClr val="000000"/>
                          </a:solidFill>
                          <a:latin typeface="Calibri"/>
                        </a:rPr>
                        <a:t>Turkiye</a:t>
                      </a:r>
                      <a:endParaRPr sz="1100"/>
                    </a:p>
                  </a:txBody>
                  <a:tcPr marL="1028700" marR="9525" marT="9525" marB="0" anchor="ctr"/>
                </a:tc>
              </a:tr>
              <a:tr h="175260">
                <a:tc>
                  <a:txBody>
                    <a:bodyPr wrap="square"/>
                    <a:lstStyle/>
                    <a:p>
                      <a:pPr algn="l"/>
                      <a:r>
                        <a:rPr sz="1100" b="0" i="1">
                          <a:solidFill>
                            <a:srgbClr val="000000"/>
                          </a:solidFill>
                          <a:latin typeface="Calibri"/>
                        </a:rPr>
                        <a:t>21.4.1.3.</a:t>
                      </a:r>
                      <a:r>
                        <a:rPr sz="700" b="0" i="1">
                          <a:solidFill>
                            <a:srgbClr val="000000"/>
                          </a:solidFill>
                          <a:latin typeface="Times New Roman"/>
                        </a:rPr>
                        <a:t> </a:t>
                      </a:r>
                      <a:r>
                        <a:rPr sz="1100" b="0" i="1">
                          <a:solidFill>
                            <a:srgbClr val="000000"/>
                          </a:solidFill>
                          <a:latin typeface="Calibri"/>
                        </a:rPr>
                        <a:t>Northern Africa</a:t>
                      </a:r>
                      <a:endParaRPr sz="1100"/>
                    </a:p>
                  </a:txBody>
                  <a:tcPr marL="1028700" marR="9525" marT="9525" marB="0" anchor="ctr"/>
                </a:tc>
              </a:tr>
              <a:tr h="175260">
                <a:tc>
                  <a:txBody>
                    <a:bodyPr wrap="square"/>
                    <a:lstStyle/>
                    <a:p>
                      <a:pPr algn="l"/>
                      <a:r>
                        <a:rPr sz="1100" b="0" i="1">
                          <a:solidFill>
                            <a:srgbClr val="000000"/>
                          </a:solidFill>
                          <a:latin typeface="Calibri"/>
                        </a:rPr>
                        <a:t>21.4.1.4.</a:t>
                      </a:r>
                      <a:r>
                        <a:rPr sz="700" b="0" i="1">
                          <a:solidFill>
                            <a:srgbClr val="000000"/>
                          </a:solidFill>
                          <a:latin typeface="Times New Roman"/>
                        </a:rPr>
                        <a:t> </a:t>
                      </a:r>
                      <a:r>
                        <a:rPr sz="1100" b="0" i="1">
                          <a:solidFill>
                            <a:srgbClr val="000000"/>
                          </a:solidFill>
                          <a:latin typeface="Calibri"/>
                        </a:rPr>
                        <a:t>South Africa</a:t>
                      </a:r>
                      <a:endParaRPr sz="1100"/>
                    </a:p>
                  </a:txBody>
                  <a:tcPr marL="1028700" marR="9525" marT="9525" marB="0" anchor="ctr"/>
                </a:tc>
              </a:tr>
              <a:tr h="175260">
                <a:tc>
                  <a:txBody>
                    <a:bodyPr wrap="square"/>
                    <a:lstStyle/>
                    <a:p>
                      <a:pPr algn="l"/>
                      <a:r>
                        <a:rPr sz="1100" b="0" i="1">
                          <a:solidFill>
                            <a:srgbClr val="000000"/>
                          </a:solidFill>
                          <a:latin typeface="Calibri"/>
                        </a:rPr>
                        <a:t>21.4.1.5.</a:t>
                      </a:r>
                      <a:r>
                        <a:rPr sz="700" b="0" i="1">
                          <a:solidFill>
                            <a:srgbClr val="000000"/>
                          </a:solidFill>
                          <a:latin typeface="Times New Roman"/>
                        </a:rPr>
                        <a:t> </a:t>
                      </a:r>
                      <a:r>
                        <a:rPr sz="1100" b="0" i="1">
                          <a:solidFill>
                            <a:srgbClr val="000000"/>
                          </a:solidFill>
                          <a:latin typeface="Calibri"/>
                        </a:rPr>
                        <a:t>Rest of Middle East and Africa</a:t>
                      </a:r>
                      <a:endParaRPr sz="1100"/>
                    </a:p>
                  </a:txBody>
                  <a:tcPr marL="1028700" marR="9525" marT="9525" marB="0" anchor="ctr"/>
                </a:tc>
              </a:tr>
              <a:tr h="175260">
                <a:tc>
                  <a:txBody>
                    <a:bodyPr wrap="square"/>
                    <a:lstStyle/>
                    <a:p>
                      <a:pPr algn="l"/>
                      <a:r>
                        <a:rPr sz="1100" b="0" i="0">
                          <a:solidFill>
                            <a:srgbClr val="000000"/>
                          </a:solidFill>
                          <a:latin typeface="Calibri"/>
                        </a:rPr>
                        <a:t>21.4.2.</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21.4.3.</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21.4.4.</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21.4.5.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21.4.6.</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21.5.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21.5.1.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21.5.2.</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21.5.3.</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21.5.4.</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21.5.5.</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21.5.6.</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21.6.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21.7.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21.8.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22.</a:t>
                      </a:r>
                      <a:r>
                        <a:rPr sz="700" b="1" i="0">
                          <a:solidFill>
                            <a:srgbClr val="000000"/>
                          </a:solidFill>
                          <a:latin typeface="Times New Roman"/>
                        </a:rPr>
                        <a:t>    </a:t>
                      </a:r>
                      <a:r>
                        <a:rPr sz="1100" b="1" i="0">
                          <a:solidFill>
                            <a:srgbClr val="000000"/>
                          </a:solidFill>
                          <a:latin typeface="Calibri"/>
                        </a:rPr>
                        <a:t>Country Wise Industrial Air Compressor Market Analysis</a:t>
                      </a:r>
                      <a:endParaRPr sz="1100"/>
                    </a:p>
                  </a:txBody>
                  <a:tcPr marL="171450" marR="9525" marT="9525" marB="0" anchor="ctr"/>
                </a:tc>
              </a:tr>
              <a:tr h="175260">
                <a:tc>
                  <a:txBody>
                    <a:bodyPr wrap="square"/>
                    <a:lstStyle/>
                    <a:p>
                      <a:pPr algn="l"/>
                      <a:r>
                        <a:rPr sz="1100" b="0" i="0">
                          <a:solidFill>
                            <a:srgbClr val="0070C0"/>
                          </a:solidFill>
                          <a:latin typeface="Calibri"/>
                        </a:rPr>
                        <a:t>22.1.</a:t>
                      </a:r>
                      <a:r>
                        <a:rPr sz="700" b="0" i="0">
                          <a:solidFill>
                            <a:srgbClr val="0070C0"/>
                          </a:solidFill>
                          <a:latin typeface="Times New Roman"/>
                        </a:rPr>
                        <a:t>  </a:t>
                      </a:r>
                      <a:r>
                        <a:rPr sz="1100" b="0" i="0">
                          <a:solidFill>
                            <a:srgbClr val="0070C0"/>
                          </a:solidFill>
                          <a:latin typeface="Calibri"/>
                        </a:rPr>
                        <a:t>U.S.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22.1.1.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22.1.2.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22.1.3.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22.1.4.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22.1.5.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22.2.</a:t>
                      </a:r>
                      <a:r>
                        <a:rPr sz="700" b="0" i="0">
                          <a:solidFill>
                            <a:srgbClr val="0070C0"/>
                          </a:solidFill>
                          <a:latin typeface="Times New Roman"/>
                        </a:rPr>
                        <a:t>  </a:t>
                      </a:r>
                      <a:r>
                        <a:rPr sz="1100" b="0" i="0">
                          <a:solidFill>
                            <a:srgbClr val="0070C0"/>
                          </a:solidFill>
                          <a:latin typeface="Calibri"/>
                        </a:rPr>
                        <a:t>Canada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22.2.1.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22.2.2.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22.2.3.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22.2.4.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22.2.5.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22.3.</a:t>
                      </a:r>
                      <a:r>
                        <a:rPr sz="700" b="0" i="0">
                          <a:solidFill>
                            <a:srgbClr val="0070C0"/>
                          </a:solidFill>
                          <a:latin typeface="Times New Roman"/>
                        </a:rPr>
                        <a:t>  </a:t>
                      </a:r>
                      <a:r>
                        <a:rPr sz="1100" b="0" i="0">
                          <a:solidFill>
                            <a:srgbClr val="0070C0"/>
                          </a:solidFill>
                          <a:latin typeface="Calibri"/>
                        </a:rPr>
                        <a:t>Mexico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22.3.1.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22.3.2.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22.3.3.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22.3.4.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(7/10)</a:t>
            </a:r>
          </a:p>
        </p:txBody>
      </p:sp>
      <p:graphicFrame>
        <p:nvGraphicFramePr>
          <p:cNvPr id="6"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22.3.5.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22.4.</a:t>
                      </a:r>
                      <a:r>
                        <a:rPr sz="700" b="0" i="0">
                          <a:solidFill>
                            <a:srgbClr val="0070C0"/>
                          </a:solidFill>
                          <a:latin typeface="Times New Roman"/>
                        </a:rPr>
                        <a:t>  </a:t>
                      </a:r>
                      <a:r>
                        <a:rPr sz="1100" b="0" i="0">
                          <a:solidFill>
                            <a:srgbClr val="0070C0"/>
                          </a:solidFill>
                          <a:latin typeface="Calibri"/>
                        </a:rPr>
                        <a:t>Brazil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22.4.1.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22.4.2.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22.4.3.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22.4.4.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22.4.5.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22.5.</a:t>
                      </a:r>
                      <a:r>
                        <a:rPr sz="700" b="0" i="0">
                          <a:solidFill>
                            <a:srgbClr val="0070C0"/>
                          </a:solidFill>
                          <a:latin typeface="Times New Roman"/>
                        </a:rPr>
                        <a:t>  </a:t>
                      </a:r>
                      <a:r>
                        <a:rPr sz="1100" b="0" i="0">
                          <a:solidFill>
                            <a:srgbClr val="0070C0"/>
                          </a:solidFill>
                          <a:latin typeface="Calibri"/>
                        </a:rPr>
                        <a:t>Argentina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22.5.1.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22.5.2.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22.5.3.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22.5.4.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22.5.5.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22.6.</a:t>
                      </a:r>
                      <a:r>
                        <a:rPr sz="700" b="0" i="0">
                          <a:solidFill>
                            <a:srgbClr val="0070C0"/>
                          </a:solidFill>
                          <a:latin typeface="Times New Roman"/>
                        </a:rPr>
                        <a:t>  </a:t>
                      </a:r>
                      <a:r>
                        <a:rPr sz="1100" b="0" i="0">
                          <a:solidFill>
                            <a:srgbClr val="0070C0"/>
                          </a:solidFill>
                          <a:latin typeface="Calibri"/>
                        </a:rPr>
                        <a:t>Germany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22.6.1.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22.6.2.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22.6.3.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22.6.4.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22.6.5.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22.7.</a:t>
                      </a:r>
                      <a:r>
                        <a:rPr sz="700" b="0" i="0">
                          <a:solidFill>
                            <a:srgbClr val="0070C0"/>
                          </a:solidFill>
                          <a:latin typeface="Times New Roman"/>
                        </a:rPr>
                        <a:t>  </a:t>
                      </a:r>
                      <a:r>
                        <a:rPr sz="1100" b="0" i="0">
                          <a:solidFill>
                            <a:srgbClr val="0070C0"/>
                          </a:solidFill>
                          <a:latin typeface="Calibri"/>
                        </a:rPr>
                        <a:t>Italy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22.7.1.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22.7.2.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22.7.3.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22.7.4.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22.7.5.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22.8.</a:t>
                      </a:r>
                      <a:r>
                        <a:rPr sz="700" b="0" i="0">
                          <a:solidFill>
                            <a:srgbClr val="0070C0"/>
                          </a:solidFill>
                          <a:latin typeface="Times New Roman"/>
                        </a:rPr>
                        <a:t>  </a:t>
                      </a:r>
                      <a:r>
                        <a:rPr sz="1100" b="0" i="0">
                          <a:solidFill>
                            <a:srgbClr val="0070C0"/>
                          </a:solidFill>
                          <a:latin typeface="Calibri"/>
                        </a:rPr>
                        <a:t>France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22.8.1.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22.8.2.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22.8.3.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22.8.4.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22.8.5.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22.9.</a:t>
                      </a:r>
                      <a:r>
                        <a:rPr sz="700" b="0" i="0">
                          <a:solidFill>
                            <a:srgbClr val="0070C0"/>
                          </a:solidFill>
                          <a:latin typeface="Times New Roman"/>
                        </a:rPr>
                        <a:t>  </a:t>
                      </a:r>
                      <a:r>
                        <a:rPr sz="1100" b="0" i="0">
                          <a:solidFill>
                            <a:srgbClr val="0070C0"/>
                          </a:solidFill>
                          <a:latin typeface="Calibri"/>
                        </a:rPr>
                        <a:t>U.K.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22.9.1.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22.9.2.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22.9.3.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22.9.4.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22.9.5.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22.10.</a:t>
                      </a:r>
                      <a:r>
                        <a:rPr sz="700" b="0" i="0">
                          <a:solidFill>
                            <a:srgbClr val="0070C0"/>
                          </a:solidFill>
                          <a:latin typeface="Times New Roman"/>
                        </a:rPr>
                        <a:t> </a:t>
                      </a:r>
                      <a:r>
                        <a:rPr sz="1100" b="0" i="0">
                          <a:solidFill>
                            <a:srgbClr val="0070C0"/>
                          </a:solidFill>
                          <a:latin typeface="Calibri"/>
                        </a:rPr>
                        <a:t>Spain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22.10.1.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22.10.2.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22.10.3.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22.10.4.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22.10.5.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22.11.</a:t>
                      </a:r>
                      <a:r>
                        <a:rPr sz="700" b="0" i="0">
                          <a:solidFill>
                            <a:srgbClr val="0070C0"/>
                          </a:solidFill>
                          <a:latin typeface="Times New Roman"/>
                        </a:rPr>
                        <a:t> </a:t>
                      </a:r>
                      <a:r>
                        <a:rPr sz="1100" b="0" i="0">
                          <a:solidFill>
                            <a:srgbClr val="0070C0"/>
                          </a:solidFill>
                          <a:latin typeface="Calibri"/>
                        </a:rPr>
                        <a:t>BENELUX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22.11.1.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22.11.2.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22.11.3.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22.11.4.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22.11.5.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22.12.</a:t>
                      </a:r>
                      <a:r>
                        <a:rPr sz="700" b="0" i="0">
                          <a:solidFill>
                            <a:srgbClr val="0070C0"/>
                          </a:solidFill>
                          <a:latin typeface="Times New Roman"/>
                        </a:rPr>
                        <a:t> </a:t>
                      </a:r>
                      <a:r>
                        <a:rPr sz="1100" b="0" i="0">
                          <a:solidFill>
                            <a:srgbClr val="0070C0"/>
                          </a:solidFill>
                          <a:latin typeface="Calibri"/>
                        </a:rPr>
                        <a:t>Nordics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22.12.1.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22.12.2.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22.12.3.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22.12.4.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22.12.5.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22.13.</a:t>
                      </a:r>
                      <a:r>
                        <a:rPr sz="700" b="0" i="0">
                          <a:solidFill>
                            <a:srgbClr val="0070C0"/>
                          </a:solidFill>
                          <a:latin typeface="Times New Roman"/>
                        </a:rPr>
                        <a:t> </a:t>
                      </a:r>
                      <a:r>
                        <a:rPr sz="1100" b="0" i="0">
                          <a:solidFill>
                            <a:srgbClr val="0070C0"/>
                          </a:solidFill>
                          <a:latin typeface="Calibri"/>
                        </a:rPr>
                        <a:t>Russia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22.13.1.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22.13.2.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22.13.3.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22.13.4.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(8/10)</a:t>
            </a:r>
          </a:p>
        </p:txBody>
      </p:sp>
      <p:graphicFrame>
        <p:nvGraphicFramePr>
          <p:cNvPr id="6"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22.13.5.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22.14.</a:t>
                      </a:r>
                      <a:r>
                        <a:rPr sz="700" b="0" i="0">
                          <a:solidFill>
                            <a:srgbClr val="0070C0"/>
                          </a:solidFill>
                          <a:latin typeface="Times New Roman"/>
                        </a:rPr>
                        <a:t> </a:t>
                      </a:r>
                      <a:r>
                        <a:rPr sz="1100" b="0" i="0">
                          <a:solidFill>
                            <a:srgbClr val="0070C0"/>
                          </a:solidFill>
                          <a:latin typeface="Calibri"/>
                        </a:rPr>
                        <a:t>Hungary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22.14.1.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22.14.2.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22.14.3.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22.14.4.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22.14.5.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22.15.</a:t>
                      </a:r>
                      <a:r>
                        <a:rPr sz="700" b="0" i="0">
                          <a:solidFill>
                            <a:srgbClr val="0070C0"/>
                          </a:solidFill>
                          <a:latin typeface="Times New Roman"/>
                        </a:rPr>
                        <a:t> </a:t>
                      </a:r>
                      <a:r>
                        <a:rPr sz="1100" b="0" i="0">
                          <a:solidFill>
                            <a:srgbClr val="0070C0"/>
                          </a:solidFill>
                          <a:latin typeface="Calibri"/>
                        </a:rPr>
                        <a:t>Poland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22.15.1.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22.15.2.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22.15.3.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22.15.4.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22.15.5.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22.16.</a:t>
                      </a:r>
                      <a:r>
                        <a:rPr sz="700" b="0" i="0">
                          <a:solidFill>
                            <a:srgbClr val="0070C0"/>
                          </a:solidFill>
                          <a:latin typeface="Times New Roman"/>
                        </a:rPr>
                        <a:t> </a:t>
                      </a:r>
                      <a:r>
                        <a:rPr sz="1100" b="0" i="0">
                          <a:solidFill>
                            <a:srgbClr val="0070C0"/>
                          </a:solidFill>
                          <a:latin typeface="Calibri"/>
                        </a:rPr>
                        <a:t>Balkan &amp; Baltics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22.16.1.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22.16.2.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22.16.3.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22.16.4.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22.16.5.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22.17.</a:t>
                      </a:r>
                      <a:r>
                        <a:rPr sz="700" b="0" i="0">
                          <a:solidFill>
                            <a:srgbClr val="0070C0"/>
                          </a:solidFill>
                          <a:latin typeface="Times New Roman"/>
                        </a:rPr>
                        <a:t> </a:t>
                      </a:r>
                      <a:r>
                        <a:rPr sz="1100" b="0" i="0">
                          <a:solidFill>
                            <a:srgbClr val="0070C0"/>
                          </a:solidFill>
                          <a:latin typeface="Calibri"/>
                        </a:rPr>
                        <a:t>China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22.17.1.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22.17.2.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22.17.3.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22.17.4.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22.17.5.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22.18.</a:t>
                      </a:r>
                      <a:r>
                        <a:rPr sz="700" b="0" i="0">
                          <a:solidFill>
                            <a:srgbClr val="0070C0"/>
                          </a:solidFill>
                          <a:latin typeface="Times New Roman"/>
                        </a:rPr>
                        <a:t> </a:t>
                      </a:r>
                      <a:r>
                        <a:rPr sz="1100" b="0" i="0">
                          <a:solidFill>
                            <a:srgbClr val="0070C0"/>
                          </a:solidFill>
                          <a:latin typeface="Calibri"/>
                        </a:rPr>
                        <a:t>Japan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22.18.1.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22.18.2.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22.18.3.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22.18.4.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22.18.5.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22.19.</a:t>
                      </a:r>
                      <a:r>
                        <a:rPr sz="700" b="0" i="0">
                          <a:solidFill>
                            <a:srgbClr val="0070C0"/>
                          </a:solidFill>
                          <a:latin typeface="Times New Roman"/>
                        </a:rPr>
                        <a:t> </a:t>
                      </a:r>
                      <a:r>
                        <a:rPr sz="1100" b="0" i="0">
                          <a:solidFill>
                            <a:srgbClr val="0070C0"/>
                          </a:solidFill>
                          <a:latin typeface="Calibri"/>
                        </a:rPr>
                        <a:t>S. Korea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22.19.1.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22.19.2.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22.19.3.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22.19.4.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22.19.5.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22.20.</a:t>
                      </a:r>
                      <a:r>
                        <a:rPr sz="700" b="0" i="0">
                          <a:solidFill>
                            <a:srgbClr val="0070C0"/>
                          </a:solidFill>
                          <a:latin typeface="Times New Roman"/>
                        </a:rPr>
                        <a:t> </a:t>
                      </a:r>
                      <a:r>
                        <a:rPr sz="1100" b="0" i="0">
                          <a:solidFill>
                            <a:srgbClr val="0070C0"/>
                          </a:solidFill>
                          <a:latin typeface="Calibri"/>
                        </a:rPr>
                        <a:t>India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22.20.1.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22.20.2.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22.20.3.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22.20.4.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22.20.5.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22.21.</a:t>
                      </a:r>
                      <a:r>
                        <a:rPr sz="700" b="0" i="0">
                          <a:solidFill>
                            <a:srgbClr val="0070C0"/>
                          </a:solidFill>
                          <a:latin typeface="Times New Roman"/>
                        </a:rPr>
                        <a:t> </a:t>
                      </a:r>
                      <a:r>
                        <a:rPr sz="1100" b="0" i="0">
                          <a:solidFill>
                            <a:srgbClr val="0070C0"/>
                          </a:solidFill>
                          <a:latin typeface="Calibri"/>
                        </a:rPr>
                        <a:t>ASEAN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22.21.1.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22.21.2.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22.21.3.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22.21.4.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22.21.5.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22.22.</a:t>
                      </a:r>
                      <a:r>
                        <a:rPr sz="700" b="0" i="0">
                          <a:solidFill>
                            <a:srgbClr val="0070C0"/>
                          </a:solidFill>
                          <a:latin typeface="Times New Roman"/>
                        </a:rPr>
                        <a:t> </a:t>
                      </a:r>
                      <a:r>
                        <a:rPr sz="1100" b="0" i="0">
                          <a:solidFill>
                            <a:srgbClr val="0070C0"/>
                          </a:solidFill>
                          <a:latin typeface="Calibri"/>
                        </a:rPr>
                        <a:t>Australia and New Zealand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22.22.1.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22.22.2.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22.22.3.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22.22.4.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22.22.5.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22.23.</a:t>
                      </a:r>
                      <a:r>
                        <a:rPr sz="700" b="0" i="0">
                          <a:solidFill>
                            <a:srgbClr val="0070C0"/>
                          </a:solidFill>
                          <a:latin typeface="Times New Roman"/>
                        </a:rPr>
                        <a:t> </a:t>
                      </a:r>
                      <a:r>
                        <a:rPr sz="1100" b="0" i="0">
                          <a:solidFill>
                            <a:srgbClr val="0070C0"/>
                          </a:solidFill>
                          <a:latin typeface="Calibri"/>
                        </a:rPr>
                        <a:t>Turkiye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22.23.1.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22.23.2.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22.23.3.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22.23.4.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(9/10)</a:t>
            </a:r>
          </a:p>
        </p:txBody>
      </p:sp>
      <p:graphicFrame>
        <p:nvGraphicFramePr>
          <p:cNvPr id="6"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22.23.5.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22.24.</a:t>
                      </a:r>
                      <a:r>
                        <a:rPr sz="700" b="0" i="0">
                          <a:solidFill>
                            <a:srgbClr val="0070C0"/>
                          </a:solidFill>
                          <a:latin typeface="Times New Roman"/>
                        </a:rPr>
                        <a:t> </a:t>
                      </a:r>
                      <a:r>
                        <a:rPr sz="1100" b="0" i="0">
                          <a:solidFill>
                            <a:srgbClr val="0070C0"/>
                          </a:solidFill>
                          <a:latin typeface="Calibri"/>
                        </a:rPr>
                        <a:t>GCC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22.24.1.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22.24.2.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22.24.3.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22.24.4.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22.24.5.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22.25.</a:t>
                      </a:r>
                      <a:r>
                        <a:rPr sz="700" b="0" i="0">
                          <a:solidFill>
                            <a:srgbClr val="0070C0"/>
                          </a:solidFill>
                          <a:latin typeface="Times New Roman"/>
                        </a:rPr>
                        <a:t> </a:t>
                      </a:r>
                      <a:r>
                        <a:rPr sz="1100" b="0" i="0">
                          <a:solidFill>
                            <a:srgbClr val="0070C0"/>
                          </a:solidFill>
                          <a:latin typeface="Calibri"/>
                        </a:rPr>
                        <a:t>Northern Africa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22.25.1.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22.25.2.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22.25.3.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22.25.4.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22.25.5.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0" i="0">
                          <a:solidFill>
                            <a:srgbClr val="0070C0"/>
                          </a:solidFill>
                          <a:latin typeface="Calibri"/>
                        </a:rPr>
                        <a:t>22.26.</a:t>
                      </a:r>
                      <a:r>
                        <a:rPr sz="700" b="0" i="0">
                          <a:solidFill>
                            <a:srgbClr val="0070C0"/>
                          </a:solidFill>
                          <a:latin typeface="Times New Roman"/>
                        </a:rPr>
                        <a:t> </a:t>
                      </a:r>
                      <a:r>
                        <a:rPr sz="1100" b="0" i="0">
                          <a:solidFill>
                            <a:srgbClr val="0070C0"/>
                          </a:solidFill>
                          <a:latin typeface="Calibri"/>
                        </a:rPr>
                        <a:t>South Africa Industrial Air Compressor Market Analysis</a:t>
                      </a:r>
                      <a:endParaRPr sz="1100"/>
                    </a:p>
                  </a:txBody>
                  <a:tcPr marL="428625" marR="9525" marT="9525" marB="0" anchor="ctr"/>
                </a:tc>
              </a:tr>
              <a:tr h="175260">
                <a:tc>
                  <a:txBody>
                    <a:bodyPr wrap="square"/>
                    <a:lstStyle/>
                    <a:p>
                      <a:pPr algn="l"/>
                      <a:r>
                        <a:rPr sz="1100" b="0" i="0">
                          <a:solidFill>
                            <a:srgbClr val="000000"/>
                          </a:solidFill>
                          <a:latin typeface="Calibri"/>
                        </a:rPr>
                        <a:t>22.26.1.</a:t>
                      </a:r>
                      <a:r>
                        <a:rPr sz="700" b="0" i="0">
                          <a:solidFill>
                            <a:srgbClr val="000000"/>
                          </a:solidFill>
                          <a:latin typeface="Times New Roman"/>
                        </a:rPr>
                        <a:t> </a:t>
                      </a:r>
                      <a:r>
                        <a:rPr sz="1100" b="0" i="0">
                          <a:solidFill>
                            <a:srgbClr val="000000"/>
                          </a:solidFill>
                          <a:latin typeface="Calibri"/>
                        </a:rPr>
                        <a:t>By Technology</a:t>
                      </a:r>
                      <a:endParaRPr sz="1100"/>
                    </a:p>
                  </a:txBody>
                  <a:tcPr marL="771525" marR="9525" marT="9525" marB="0" anchor="ctr"/>
                </a:tc>
              </a:tr>
              <a:tr h="175260">
                <a:tc>
                  <a:txBody>
                    <a:bodyPr wrap="square"/>
                    <a:lstStyle/>
                    <a:p>
                      <a:pPr algn="l"/>
                      <a:r>
                        <a:rPr sz="1100" b="0" i="0">
                          <a:solidFill>
                            <a:srgbClr val="000000"/>
                          </a:solidFill>
                          <a:latin typeface="Calibri"/>
                        </a:rPr>
                        <a:t>22.26.2.</a:t>
                      </a:r>
                      <a:r>
                        <a:rPr sz="700" b="0" i="0">
                          <a:solidFill>
                            <a:srgbClr val="000000"/>
                          </a:solidFill>
                          <a:latin typeface="Times New Roman"/>
                        </a:rPr>
                        <a:t> </a:t>
                      </a:r>
                      <a:r>
                        <a:rPr sz="1100" b="0" i="0">
                          <a:solidFill>
                            <a:srgbClr val="000000"/>
                          </a:solidFill>
                          <a:latin typeface="Calibri"/>
                        </a:rPr>
                        <a:t>By Capacity</a:t>
                      </a:r>
                      <a:endParaRPr sz="1100"/>
                    </a:p>
                  </a:txBody>
                  <a:tcPr marL="771525" marR="9525" marT="9525" marB="0" anchor="ctr"/>
                </a:tc>
              </a:tr>
              <a:tr h="175260">
                <a:tc>
                  <a:txBody>
                    <a:bodyPr wrap="square"/>
                    <a:lstStyle/>
                    <a:p>
                      <a:pPr algn="l"/>
                      <a:r>
                        <a:rPr sz="1100" b="0" i="0">
                          <a:solidFill>
                            <a:srgbClr val="000000"/>
                          </a:solidFill>
                          <a:latin typeface="Calibri"/>
                        </a:rPr>
                        <a:t>22.26.3.</a:t>
                      </a:r>
                      <a:r>
                        <a:rPr sz="700" b="0" i="0">
                          <a:solidFill>
                            <a:srgbClr val="000000"/>
                          </a:solidFill>
                          <a:latin typeface="Times New Roman"/>
                        </a:rPr>
                        <a:t> </a:t>
                      </a:r>
                      <a:r>
                        <a:rPr sz="1100" b="0" i="0">
                          <a:solidFill>
                            <a:srgbClr val="000000"/>
                          </a:solidFill>
                          <a:latin typeface="Calibri"/>
                        </a:rPr>
                        <a:t>By Compression Stage</a:t>
                      </a:r>
                      <a:endParaRPr sz="1100"/>
                    </a:p>
                  </a:txBody>
                  <a:tcPr marL="771525" marR="9525" marT="9525" marB="0" anchor="ctr"/>
                </a:tc>
              </a:tr>
              <a:tr h="175260">
                <a:tc>
                  <a:txBody>
                    <a:bodyPr wrap="square"/>
                    <a:lstStyle/>
                    <a:p>
                      <a:pPr algn="l"/>
                      <a:r>
                        <a:rPr sz="1100" b="0" i="0">
                          <a:solidFill>
                            <a:srgbClr val="000000"/>
                          </a:solidFill>
                          <a:latin typeface="Calibri"/>
                        </a:rPr>
                        <a:t>22.26.4.</a:t>
                      </a:r>
                      <a:r>
                        <a:rPr sz="700" b="0" i="0">
                          <a:solidFill>
                            <a:srgbClr val="000000"/>
                          </a:solidFill>
                          <a:latin typeface="Times New Roman"/>
                        </a:rPr>
                        <a:t> </a:t>
                      </a:r>
                      <a:r>
                        <a:rPr sz="1100" b="0" i="0">
                          <a:solidFill>
                            <a:srgbClr val="000000"/>
                          </a:solidFill>
                          <a:latin typeface="Calibri"/>
                        </a:rPr>
                        <a:t>By End Use</a:t>
                      </a:r>
                      <a:endParaRPr sz="1100"/>
                    </a:p>
                  </a:txBody>
                  <a:tcPr marL="771525" marR="9525" marT="9525" marB="0" anchor="ctr"/>
                </a:tc>
              </a:tr>
              <a:tr h="175260">
                <a:tc>
                  <a:txBody>
                    <a:bodyPr wrap="square"/>
                    <a:lstStyle/>
                    <a:p>
                      <a:pPr algn="l"/>
                      <a:r>
                        <a:rPr sz="1100" b="0" i="0">
                          <a:solidFill>
                            <a:srgbClr val="000000"/>
                          </a:solidFill>
                          <a:latin typeface="Calibri"/>
                        </a:rPr>
                        <a:t>22.26.5.</a:t>
                      </a:r>
                      <a:r>
                        <a:rPr sz="700" b="0" i="0">
                          <a:solidFill>
                            <a:srgbClr val="000000"/>
                          </a:solidFill>
                          <a:latin typeface="Times New Roman"/>
                        </a:rPr>
                        <a:t> </a:t>
                      </a:r>
                      <a:r>
                        <a:rPr sz="1100" b="0" i="0">
                          <a:solidFill>
                            <a:srgbClr val="000000"/>
                          </a:solidFill>
                          <a:latin typeface="Calibri"/>
                        </a:rPr>
                        <a:t>By Driver Type</a:t>
                      </a:r>
                      <a:endParaRPr sz="1100"/>
                    </a:p>
                  </a:txBody>
                  <a:tcPr marL="771525" marR="9525" marT="9525" marB="0" anchor="ctr"/>
                </a:tc>
              </a:tr>
              <a:tr h="175260">
                <a:tc>
                  <a:txBody>
                    <a:bodyPr wrap="square"/>
                    <a:lstStyle/>
                    <a:p>
                      <a:pPr algn="l"/>
                      <a:r>
                        <a:rPr sz="1100" b="1" i="0">
                          <a:solidFill>
                            <a:srgbClr val="000000"/>
                          </a:solidFill>
                          <a:latin typeface="Calibri"/>
                        </a:rPr>
                        <a:t>23.</a:t>
                      </a:r>
                      <a:r>
                        <a:rPr sz="700" b="1" i="0">
                          <a:solidFill>
                            <a:srgbClr val="000000"/>
                          </a:solidFill>
                          <a:latin typeface="Times New Roman"/>
                        </a:rPr>
                        <a:t>    </a:t>
                      </a:r>
                      <a:r>
                        <a:rPr sz="1100" b="1" i="0">
                          <a:solidFill>
                            <a:srgbClr val="000000"/>
                          </a:solidFill>
                          <a:latin typeface="Calibri"/>
                        </a:rPr>
                        <a:t>Market Structure Analysis</a:t>
                      </a:r>
                      <a:endParaRPr sz="1100"/>
                    </a:p>
                  </a:txBody>
                  <a:tcPr marL="171450" marR="9525" marT="9525" marB="0" anchor="ctr"/>
                </a:tc>
              </a:tr>
              <a:tr h="175260">
                <a:tc>
                  <a:txBody>
                    <a:bodyPr wrap="square"/>
                    <a:lstStyle/>
                    <a:p>
                      <a:pPr algn="l"/>
                      <a:r>
                        <a:rPr sz="1100" b="0" i="0">
                          <a:solidFill>
                            <a:srgbClr val="0070C0"/>
                          </a:solidFill>
                          <a:latin typeface="Calibri"/>
                        </a:rPr>
                        <a:t>23.1.</a:t>
                      </a:r>
                      <a:r>
                        <a:rPr sz="700" b="0" i="0">
                          <a:solidFill>
                            <a:srgbClr val="0070C0"/>
                          </a:solidFill>
                          <a:latin typeface="Times New Roman"/>
                        </a:rPr>
                        <a:t>  </a:t>
                      </a:r>
                      <a:r>
                        <a:rPr sz="1100" b="0" i="0">
                          <a:solidFill>
                            <a:srgbClr val="0070C0"/>
                          </a:solidFill>
                          <a:latin typeface="Calibri"/>
                        </a:rPr>
                        <a:t>Market Analysis by Tier of Companies</a:t>
                      </a:r>
                      <a:endParaRPr sz="1100"/>
                    </a:p>
                  </a:txBody>
                  <a:tcPr marL="428625" marR="9525" marT="9525" marB="0" anchor="ctr"/>
                </a:tc>
              </a:tr>
              <a:tr h="175260">
                <a:tc>
                  <a:txBody>
                    <a:bodyPr wrap="square"/>
                    <a:lstStyle/>
                    <a:p>
                      <a:pPr algn="l"/>
                      <a:r>
                        <a:rPr sz="1100" b="0" i="0">
                          <a:solidFill>
                            <a:srgbClr val="0070C0"/>
                          </a:solidFill>
                          <a:latin typeface="Calibri"/>
                        </a:rPr>
                        <a:t>23.2.</a:t>
                      </a:r>
                      <a:r>
                        <a:rPr sz="700" b="0" i="0">
                          <a:solidFill>
                            <a:srgbClr val="0070C0"/>
                          </a:solidFill>
                          <a:latin typeface="Times New Roman"/>
                        </a:rPr>
                        <a:t>  </a:t>
                      </a:r>
                      <a:r>
                        <a:rPr sz="1100" b="0" i="0">
                          <a:solidFill>
                            <a:srgbClr val="0070C0"/>
                          </a:solidFill>
                          <a:latin typeface="Calibri"/>
                        </a:rPr>
                        <a:t>Market Share Analysis of Top Players</a:t>
                      </a:r>
                      <a:endParaRPr sz="1100"/>
                    </a:p>
                  </a:txBody>
                  <a:tcPr marL="428625" marR="9525" marT="9525" marB="0" anchor="ctr"/>
                </a:tc>
              </a:tr>
              <a:tr h="175260">
                <a:tc>
                  <a:txBody>
                    <a:bodyPr wrap="square"/>
                    <a:lstStyle/>
                    <a:p>
                      <a:pPr algn="l"/>
                      <a:r>
                        <a:rPr sz="1100" b="0" i="0">
                          <a:solidFill>
                            <a:srgbClr val="0070C0"/>
                          </a:solidFill>
                          <a:latin typeface="Calibri"/>
                        </a:rPr>
                        <a:t>23.3.</a:t>
                      </a:r>
                      <a:r>
                        <a:rPr sz="700" b="0" i="0">
                          <a:solidFill>
                            <a:srgbClr val="0070C0"/>
                          </a:solidFill>
                          <a:latin typeface="Times New Roman"/>
                        </a:rPr>
                        <a:t>  </a:t>
                      </a:r>
                      <a:r>
                        <a:rPr sz="1100" b="0" i="0">
                          <a:solidFill>
                            <a:srgbClr val="0070C0"/>
                          </a:solidFill>
                          <a:latin typeface="Calibri"/>
                        </a:rPr>
                        <a:t>Market Presence Analysis</a:t>
                      </a:r>
                      <a:endParaRPr sz="1100"/>
                    </a:p>
                  </a:txBody>
                  <a:tcPr marL="428625" marR="9525" marT="9525" marB="0" anchor="ctr"/>
                </a:tc>
              </a:tr>
              <a:tr h="175260">
                <a:tc>
                  <a:txBody>
                    <a:bodyPr wrap="square"/>
                    <a:lstStyle/>
                    <a:p>
                      <a:pPr algn="l"/>
                      <a:r>
                        <a:rPr sz="1100" b="1" i="0">
                          <a:solidFill>
                            <a:srgbClr val="000000"/>
                          </a:solidFill>
                          <a:latin typeface="Calibri"/>
                        </a:rPr>
                        <a:t>24.</a:t>
                      </a:r>
                      <a:r>
                        <a:rPr sz="700" b="1" i="0">
                          <a:solidFill>
                            <a:srgbClr val="000000"/>
                          </a:solidFill>
                          <a:latin typeface="Times New Roman"/>
                        </a:rPr>
                        <a:t>    </a:t>
                      </a:r>
                      <a:r>
                        <a:rPr sz="1100" b="1" i="0">
                          <a:solidFill>
                            <a:srgbClr val="000000"/>
                          </a:solidFill>
                          <a:latin typeface="Calibri"/>
                        </a:rPr>
                        <a:t>Competition Analysis</a:t>
                      </a:r>
                      <a:endParaRPr sz="1100"/>
                    </a:p>
                  </a:txBody>
                  <a:tcPr marL="171450" marR="9525" marT="9525" marB="0" anchor="ctr"/>
                </a:tc>
              </a:tr>
              <a:tr h="175260">
                <a:tc>
                  <a:txBody>
                    <a:bodyPr wrap="square"/>
                    <a:lstStyle/>
                    <a:p>
                      <a:pPr algn="l"/>
                      <a:r>
                        <a:rPr sz="1100" b="0" i="0">
                          <a:solidFill>
                            <a:srgbClr val="0070C0"/>
                          </a:solidFill>
                          <a:latin typeface="Calibri"/>
                        </a:rPr>
                        <a:t>24.1.</a:t>
                      </a:r>
                      <a:r>
                        <a:rPr sz="700" b="0" i="0">
                          <a:solidFill>
                            <a:srgbClr val="0070C0"/>
                          </a:solidFill>
                          <a:latin typeface="Times New Roman"/>
                        </a:rPr>
                        <a:t>  </a:t>
                      </a:r>
                      <a:r>
                        <a:rPr sz="1100" b="0" i="0">
                          <a:solidFill>
                            <a:srgbClr val="0070C0"/>
                          </a:solidFill>
                          <a:latin typeface="Calibri"/>
                        </a:rPr>
                        <a:t>Competitive Ecosystem</a:t>
                      </a:r>
                      <a:endParaRPr sz="1100"/>
                    </a:p>
                  </a:txBody>
                  <a:tcPr marL="428625" marR="9525" marT="9525" marB="0" anchor="ctr"/>
                </a:tc>
              </a:tr>
              <a:tr h="175260">
                <a:tc>
                  <a:txBody>
                    <a:bodyPr wrap="square"/>
                    <a:lstStyle/>
                    <a:p>
                      <a:pPr algn="l"/>
                      <a:r>
                        <a:rPr sz="1100" b="0" i="0">
                          <a:solidFill>
                            <a:srgbClr val="000000"/>
                          </a:solidFill>
                          <a:latin typeface="Calibri"/>
                        </a:rPr>
                        <a:t>24.1.1.</a:t>
                      </a:r>
                      <a:r>
                        <a:rPr sz="700" b="0" i="0">
                          <a:solidFill>
                            <a:srgbClr val="000000"/>
                          </a:solidFill>
                          <a:latin typeface="Times New Roman"/>
                        </a:rPr>
                        <a:t> </a:t>
                      </a:r>
                      <a:r>
                        <a:rPr sz="1100" b="0" i="0">
                          <a:solidFill>
                            <a:srgbClr val="000000"/>
                          </a:solidFill>
                          <a:latin typeface="Calibri"/>
                        </a:rPr>
                        <a:t>Global Integrated Industrial Air Compressor Manufacturers</a:t>
                      </a:r>
                      <a:endParaRPr sz="1100"/>
                    </a:p>
                  </a:txBody>
                  <a:tcPr marL="771525"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Atlas Copco AB</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Ingersoll Rand Inc.</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Hitachi, Ltd.</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KAESER KOMPRESSOREN SE</a:t>
                      </a:r>
                      <a:endParaRPr sz="1100"/>
                    </a:p>
                  </a:txBody>
                  <a:tcPr marL="171450"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Gardner Denver</a:t>
                      </a:r>
                      <a:endParaRPr sz="1100"/>
                    </a:p>
                  </a:txBody>
                  <a:tcPr marL="171450" marR="9525" marT="9525" marB="0" anchor="ctr"/>
                </a:tc>
              </a:tr>
              <a:tr h="175260">
                <a:tc>
                  <a:txBody>
                    <a:bodyPr wrap="square"/>
                    <a:lstStyle/>
                    <a:p>
                      <a:pPr algn="l"/>
                      <a:r>
                        <a:rPr sz="1100" b="0" i="0">
                          <a:solidFill>
                            <a:srgbClr val="000000"/>
                          </a:solidFill>
                          <a:latin typeface="Calibri"/>
                        </a:rPr>
                        <a:t>24.1.2.</a:t>
                      </a:r>
                      <a:r>
                        <a:rPr sz="700" b="0" i="0">
                          <a:solidFill>
                            <a:srgbClr val="000000"/>
                          </a:solidFill>
                          <a:latin typeface="Times New Roman"/>
                        </a:rPr>
                        <a:t> </a:t>
                      </a:r>
                      <a:r>
                        <a:rPr sz="1100" b="0" i="0">
                          <a:solidFill>
                            <a:srgbClr val="000000"/>
                          </a:solidFill>
                          <a:latin typeface="Calibri"/>
                        </a:rPr>
                        <a:t>Rotary Screw Compressor Specialists</a:t>
                      </a:r>
                      <a:endParaRPr sz="1100"/>
                    </a:p>
                  </a:txBody>
                  <a:tcPr marL="771525"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Atlas Copco</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Ingersoll Rand</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KAESER KOMPRESSOREN</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ELGi Equipments</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Kaishan Group</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BOGE KOMPRESSOREN</a:t>
                      </a:r>
                      <a:endParaRPr sz="1100"/>
                    </a:p>
                  </a:txBody>
                  <a:tcPr marL="171450" marR="9525" marT="9525" marB="0" anchor="ctr"/>
                </a:tc>
              </a:tr>
              <a:tr h="175260">
                <a:tc>
                  <a:txBody>
                    <a:bodyPr wrap="square"/>
                    <a:lstStyle/>
                    <a:p>
                      <a:pPr algn="l"/>
                      <a:r>
                        <a:rPr sz="1100" b="0" i="0">
                          <a:solidFill>
                            <a:srgbClr val="000000"/>
                          </a:solidFill>
                          <a:latin typeface="Calibri"/>
                        </a:rPr>
                        <a:t>24.1.3.</a:t>
                      </a:r>
                      <a:r>
                        <a:rPr sz="700" b="0" i="0">
                          <a:solidFill>
                            <a:srgbClr val="000000"/>
                          </a:solidFill>
                          <a:latin typeface="Times New Roman"/>
                        </a:rPr>
                        <a:t> </a:t>
                      </a:r>
                      <a:r>
                        <a:rPr sz="1100" b="0" i="0">
                          <a:solidFill>
                            <a:srgbClr val="000000"/>
                          </a:solidFill>
                          <a:latin typeface="Calibri"/>
                        </a:rPr>
                        <a:t>Reciprocating &amp; Piston Compressor Manufacturers</a:t>
                      </a:r>
                      <a:endParaRPr sz="1100"/>
                    </a:p>
                  </a:txBody>
                  <a:tcPr marL="771525"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Ingersoll Rand</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ELGi Equipments</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ANEST IWATA Corporation</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Quincy Compressor</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CompAir</a:t>
                      </a:r>
                      <a:endParaRPr sz="1100"/>
                    </a:p>
                  </a:txBody>
                  <a:tcPr marL="171450" marR="9525" marT="9525" marB="0" anchor="ctr"/>
                </a:tc>
              </a:tr>
              <a:tr h="175260">
                <a:tc>
                  <a:txBody>
                    <a:bodyPr wrap="square"/>
                    <a:lstStyle/>
                    <a:p>
                      <a:pPr algn="l"/>
                      <a:r>
                        <a:rPr sz="1100" b="0" i="0">
                          <a:solidFill>
                            <a:srgbClr val="000000"/>
                          </a:solidFill>
                          <a:latin typeface="Calibri"/>
                        </a:rPr>
                        <a:t>24.1.4.</a:t>
                      </a:r>
                      <a:r>
                        <a:rPr sz="700" b="0" i="0">
                          <a:solidFill>
                            <a:srgbClr val="000000"/>
                          </a:solidFill>
                          <a:latin typeface="Times New Roman"/>
                        </a:rPr>
                        <a:t> </a:t>
                      </a:r>
                      <a:r>
                        <a:rPr sz="1100" b="0" i="0">
                          <a:solidFill>
                            <a:srgbClr val="000000"/>
                          </a:solidFill>
                          <a:latin typeface="Calibri"/>
                        </a:rPr>
                        <a:t>Centrifugal &amp; High-Capacity Compressor Providers</a:t>
                      </a:r>
                      <a:endParaRPr sz="1100"/>
                    </a:p>
                  </a:txBody>
                  <a:tcPr marL="771525"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Atlas Copco</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Ingersoll Rand</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Hitachi</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Gardner Denver</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Kobelco Compressors Corporation</a:t>
                      </a:r>
                      <a:endParaRPr sz="1100"/>
                    </a:p>
                  </a:txBody>
                  <a:tcPr marL="171450" marR="9525" marT="9525" marB="0" anchor="ctr"/>
                </a:tc>
              </a:tr>
              <a:tr h="175260">
                <a:tc>
                  <a:txBody>
                    <a:bodyPr wrap="square"/>
                    <a:lstStyle/>
                    <a:p>
                      <a:pPr algn="l"/>
                      <a:r>
                        <a:rPr sz="1100" b="0" i="0">
                          <a:solidFill>
                            <a:srgbClr val="000000"/>
                          </a:solidFill>
                          <a:latin typeface="Calibri"/>
                        </a:rPr>
                        <a:t>24.1.5.</a:t>
                      </a:r>
                      <a:r>
                        <a:rPr sz="700" b="0" i="0">
                          <a:solidFill>
                            <a:srgbClr val="000000"/>
                          </a:solidFill>
                          <a:latin typeface="Times New Roman"/>
                        </a:rPr>
                        <a:t> </a:t>
                      </a:r>
                      <a:r>
                        <a:rPr sz="1100" b="0" i="0">
                          <a:solidFill>
                            <a:srgbClr val="000000"/>
                          </a:solidFill>
                          <a:latin typeface="Calibri"/>
                        </a:rPr>
                        <a:t>Portable &amp; Construction-Application Compressor Manufacturers</a:t>
                      </a:r>
                      <a:endParaRPr sz="1100"/>
                    </a:p>
                  </a:txBody>
                  <a:tcPr marL="771525"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Doosan Bobcat Inc.</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Atlas Copco</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Sullair</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Kaishan Group</a:t>
                      </a:r>
                      <a:endParaRPr sz="1100"/>
                    </a:p>
                  </a:txBody>
                  <a:tcPr marL="171450" marR="9525" marT="9525" marB="0" anchor="ctr"/>
                </a:tc>
              </a:tr>
              <a:tr h="175260">
                <a:tc>
                  <a:txBody>
                    <a:bodyPr wrap="square"/>
                    <a:lstStyle/>
                    <a:p>
                      <a:pPr algn="l"/>
                      <a:r>
                        <a:rPr sz="1100" b="0" i="0">
                          <a:solidFill>
                            <a:srgbClr val="000000"/>
                          </a:solidFill>
                          <a:latin typeface="Calibri"/>
                        </a:rPr>
                        <a:t>24.1.6.</a:t>
                      </a:r>
                      <a:r>
                        <a:rPr sz="700" b="0" i="0">
                          <a:solidFill>
                            <a:srgbClr val="000000"/>
                          </a:solidFill>
                          <a:latin typeface="Times New Roman"/>
                        </a:rPr>
                        <a:t> </a:t>
                      </a:r>
                      <a:r>
                        <a:rPr sz="1100" b="0" i="0">
                          <a:solidFill>
                            <a:srgbClr val="000000"/>
                          </a:solidFill>
                          <a:latin typeface="Calibri"/>
                        </a:rPr>
                        <a:t>Regional &amp; Cost-Competitive Compressor Manufacturers</a:t>
                      </a:r>
                      <a:endParaRPr sz="1100"/>
                    </a:p>
                  </a:txBody>
                  <a:tcPr marL="771525"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Fu Sheng Industrial</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ELGi Equipments</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Kaishan Group</a:t>
                      </a:r>
                      <a:endParaRPr sz="1100"/>
                    </a:p>
                  </a:txBody>
                  <a:tcPr marL="171450" marR="9525" marT="9525" marB="0" anchor="ctr"/>
                </a:tc>
              </a:tr>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Quincy Compressor</a:t>
                      </a:r>
                      <a:endParaRPr sz="1100"/>
                    </a:p>
                  </a:txBody>
                  <a:tcPr marL="171450"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(10/10)</a:t>
            </a:r>
          </a:p>
        </p:txBody>
      </p:sp>
      <p:graphicFrame>
        <p:nvGraphicFramePr>
          <p:cNvPr id="6"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24.2.</a:t>
                      </a:r>
                      <a:r>
                        <a:rPr sz="700" b="0" i="0">
                          <a:solidFill>
                            <a:srgbClr val="0070C0"/>
                          </a:solidFill>
                          <a:latin typeface="Times New Roman"/>
                        </a:rPr>
                        <a:t>  </a:t>
                      </a:r>
                      <a:r>
                        <a:rPr sz="1100" b="0" i="0">
                          <a:solidFill>
                            <a:srgbClr val="0070C0"/>
                          </a:solidFill>
                          <a:latin typeface="Calibri"/>
                        </a:rPr>
                        <a:t>Category-wise Market Value Contribution</a:t>
                      </a:r>
                      <a:endParaRPr sz="1100"/>
                    </a:p>
                  </a:txBody>
                  <a:tcPr marL="428625" marR="9525" marT="9525" marB="0" anchor="ctr"/>
                </a:tc>
              </a:tr>
              <a:tr h="175260">
                <a:tc>
                  <a:txBody>
                    <a:bodyPr wrap="square"/>
                    <a:lstStyle/>
                    <a:p>
                      <a:pPr algn="l"/>
                      <a:r>
                        <a:rPr sz="1100" b="0" i="0">
                          <a:solidFill>
                            <a:srgbClr val="000000"/>
                          </a:solidFill>
                          <a:latin typeface="Calibri"/>
                        </a:rPr>
                        <a:t>24.2.1.</a:t>
                      </a:r>
                      <a:r>
                        <a:rPr sz="700" b="0" i="0">
                          <a:solidFill>
                            <a:srgbClr val="000000"/>
                          </a:solidFill>
                          <a:latin typeface="Times New Roman"/>
                        </a:rPr>
                        <a:t> </a:t>
                      </a:r>
                      <a:r>
                        <a:rPr sz="1100" b="0" i="0">
                          <a:solidFill>
                            <a:srgbClr val="000000"/>
                          </a:solidFill>
                          <a:latin typeface="Calibri"/>
                        </a:rPr>
                        <a:t>Market Value Contribution by Producer Type [%]</a:t>
                      </a:r>
                      <a:endParaRPr sz="1100"/>
                    </a:p>
                  </a:txBody>
                  <a:tcPr marL="771525" marR="9525" marT="9525" marB="0" anchor="ctr"/>
                </a:tc>
              </a:tr>
              <a:tr h="175260">
                <a:tc>
                  <a:txBody>
                    <a:bodyPr wrap="square"/>
                    <a:lstStyle/>
                    <a:p>
                      <a:pPr algn="l"/>
                      <a:r>
                        <a:rPr sz="1100" b="0" i="0">
                          <a:solidFill>
                            <a:srgbClr val="000000"/>
                          </a:solidFill>
                          <a:latin typeface="Calibri"/>
                        </a:rPr>
                        <a:t>24.2.2.</a:t>
                      </a:r>
                      <a:r>
                        <a:rPr sz="700" b="0" i="0">
                          <a:solidFill>
                            <a:srgbClr val="000000"/>
                          </a:solidFill>
                          <a:latin typeface="Times New Roman"/>
                        </a:rPr>
                        <a:t> </a:t>
                      </a:r>
                      <a:r>
                        <a:rPr sz="1100" b="0" i="0">
                          <a:solidFill>
                            <a:srgbClr val="000000"/>
                          </a:solidFill>
                          <a:latin typeface="Calibri"/>
                        </a:rPr>
                        <a:t>Market Value Contribution [USD Mn / USD Bn]</a:t>
                      </a:r>
                      <a:endParaRPr sz="1100"/>
                    </a:p>
                  </a:txBody>
                  <a:tcPr marL="771525" marR="9525" marT="9525" marB="0" anchor="ctr"/>
                </a:tc>
              </a:tr>
              <a:tr h="175260">
                <a:tc>
                  <a:txBody>
                    <a:bodyPr wrap="square"/>
                    <a:lstStyle/>
                    <a:p>
                      <a:pPr algn="l"/>
                      <a:r>
                        <a:rPr sz="1100" b="0" i="0">
                          <a:solidFill>
                            <a:srgbClr val="000000"/>
                          </a:solidFill>
                          <a:latin typeface="Calibri"/>
                        </a:rPr>
                        <a:t>24.2.3.</a:t>
                      </a:r>
                      <a:r>
                        <a:rPr sz="700" b="0" i="0">
                          <a:solidFill>
                            <a:srgbClr val="000000"/>
                          </a:solidFill>
                          <a:latin typeface="Times New Roman"/>
                        </a:rPr>
                        <a:t> </a:t>
                      </a:r>
                      <a:r>
                        <a:rPr sz="1100" b="0" i="0">
                          <a:solidFill>
                            <a:srgbClr val="000000"/>
                          </a:solidFill>
                          <a:latin typeface="Calibri"/>
                        </a:rPr>
                        <a:t>Industrial Air Compressor Shipment Volume [Units]</a:t>
                      </a:r>
                      <a:endParaRPr sz="1100"/>
                    </a:p>
                  </a:txBody>
                  <a:tcPr marL="771525" marR="9525" marT="9525" marB="0" anchor="ctr"/>
                </a:tc>
              </a:tr>
              <a:tr h="175260">
                <a:tc>
                  <a:txBody>
                    <a:bodyPr wrap="square"/>
                    <a:lstStyle/>
                    <a:p>
                      <a:pPr algn="l"/>
                      <a:r>
                        <a:rPr sz="1100" b="0" i="0">
                          <a:solidFill>
                            <a:srgbClr val="000000"/>
                          </a:solidFill>
                          <a:latin typeface="Calibri"/>
                        </a:rPr>
                        <a:t>24.2.4.</a:t>
                      </a:r>
                      <a:r>
                        <a:rPr sz="700" b="0" i="0">
                          <a:solidFill>
                            <a:srgbClr val="000000"/>
                          </a:solidFill>
                          <a:latin typeface="Times New Roman"/>
                        </a:rPr>
                        <a:t> </a:t>
                      </a:r>
                      <a:r>
                        <a:rPr sz="1100" b="0" i="0">
                          <a:solidFill>
                            <a:srgbClr val="000000"/>
                          </a:solidFill>
                          <a:latin typeface="Calibri"/>
                        </a:rPr>
                        <a:t>Market Volume Contribution [%]</a:t>
                      </a:r>
                      <a:endParaRPr sz="1100"/>
                    </a:p>
                  </a:txBody>
                  <a:tcPr marL="771525" marR="9525" marT="9525" marB="0" anchor="ctr"/>
                </a:tc>
              </a:tr>
              <a:tr h="175260">
                <a:tc>
                  <a:txBody>
                    <a:bodyPr wrap="square"/>
                    <a:lstStyle/>
                    <a:p>
                      <a:pPr algn="l"/>
                      <a:r>
                        <a:rPr sz="1100" b="0" i="0">
                          <a:solidFill>
                            <a:srgbClr val="000000"/>
                          </a:solidFill>
                          <a:latin typeface="Calibri"/>
                        </a:rPr>
                        <a:t>24.2.5.</a:t>
                      </a:r>
                      <a:r>
                        <a:rPr sz="700" b="0" i="0">
                          <a:solidFill>
                            <a:srgbClr val="000000"/>
                          </a:solidFill>
                          <a:latin typeface="Times New Roman"/>
                        </a:rPr>
                        <a:t> </a:t>
                      </a:r>
                      <a:r>
                        <a:rPr sz="1100" b="0" i="0">
                          <a:solidFill>
                            <a:srgbClr val="000000"/>
                          </a:solidFill>
                          <a:latin typeface="Calibri"/>
                        </a:rPr>
                        <a:t>Installed / Supplied Compressor Capacity [HP / kW]</a:t>
                      </a:r>
                      <a:endParaRPr sz="1100"/>
                    </a:p>
                  </a:txBody>
                  <a:tcPr marL="771525" marR="9525" marT="9525" marB="0" anchor="ctr"/>
                </a:tc>
              </a:tr>
              <a:tr h="175260">
                <a:tc>
                  <a:txBody>
                    <a:bodyPr wrap="square"/>
                    <a:lstStyle/>
                    <a:p>
                      <a:pPr algn="l"/>
                      <a:r>
                        <a:rPr sz="1100" b="0" i="0">
                          <a:solidFill>
                            <a:srgbClr val="000000"/>
                          </a:solidFill>
                          <a:latin typeface="Calibri"/>
                        </a:rPr>
                        <a:t>24.2.6.</a:t>
                      </a:r>
                      <a:r>
                        <a:rPr sz="700" b="0" i="0">
                          <a:solidFill>
                            <a:srgbClr val="000000"/>
                          </a:solidFill>
                          <a:latin typeface="Times New Roman"/>
                        </a:rPr>
                        <a:t> </a:t>
                      </a:r>
                      <a:r>
                        <a:rPr sz="1100" b="0" i="0">
                          <a:solidFill>
                            <a:srgbClr val="000000"/>
                          </a:solidFill>
                          <a:latin typeface="Calibri"/>
                        </a:rPr>
                        <a:t>Average Selling Price [USD/Unit]</a:t>
                      </a:r>
                      <a:endParaRPr sz="1100"/>
                    </a:p>
                  </a:txBody>
                  <a:tcPr marL="771525" marR="9525" marT="9525" marB="0" anchor="ctr"/>
                </a:tc>
              </a:tr>
              <a:tr h="175260">
                <a:tc>
                  <a:txBody>
                    <a:bodyPr wrap="square"/>
                    <a:lstStyle/>
                    <a:p>
                      <a:pPr algn="l"/>
                      <a:r>
                        <a:rPr sz="1100" b="0" i="0">
                          <a:solidFill>
                            <a:srgbClr val="000000"/>
                          </a:solidFill>
                          <a:latin typeface="Calibri"/>
                        </a:rPr>
                        <a:t>24.2.7.</a:t>
                      </a:r>
                      <a:r>
                        <a:rPr sz="700" b="0" i="0">
                          <a:solidFill>
                            <a:srgbClr val="000000"/>
                          </a:solidFill>
                          <a:latin typeface="Times New Roman"/>
                        </a:rPr>
                        <a:t> </a:t>
                      </a:r>
                      <a:r>
                        <a:rPr sz="1100" b="0" i="0">
                          <a:solidFill>
                            <a:srgbClr val="000000"/>
                          </a:solidFill>
                          <a:latin typeface="Calibri"/>
                        </a:rPr>
                        <a:t>Revenue Contribution by Compressor Technology [%]</a:t>
                      </a:r>
                      <a:endParaRPr sz="1100"/>
                    </a:p>
                  </a:txBody>
                  <a:tcPr marL="771525" marR="9525" marT="9525" marB="0" anchor="ctr"/>
                </a:tc>
              </a:tr>
              <a:tr h="175260">
                <a:tc>
                  <a:txBody>
                    <a:bodyPr wrap="square"/>
                    <a:lstStyle/>
                    <a:p>
                      <a:pPr algn="l"/>
                      <a:r>
                        <a:rPr sz="1100" b="0" i="0">
                          <a:solidFill>
                            <a:srgbClr val="0070C0"/>
                          </a:solidFill>
                          <a:latin typeface="Calibri"/>
                        </a:rPr>
                        <a:t>24.3.</a:t>
                      </a:r>
                      <a:r>
                        <a:rPr sz="700" b="0" i="0">
                          <a:solidFill>
                            <a:srgbClr val="0070C0"/>
                          </a:solidFill>
                          <a:latin typeface="Times New Roman"/>
                        </a:rPr>
                        <a:t>  </a:t>
                      </a:r>
                      <a:r>
                        <a:rPr sz="1100" b="0" i="0">
                          <a:solidFill>
                            <a:srgbClr val="0070C0"/>
                          </a:solidFill>
                          <a:latin typeface="Calibri"/>
                        </a:rPr>
                        <a:t>Company-level Market Share &amp; Revenue Analysis</a:t>
                      </a:r>
                      <a:endParaRPr sz="1100"/>
                    </a:p>
                  </a:txBody>
                  <a:tcPr marL="428625" marR="9525" marT="9525" marB="0" anchor="ctr"/>
                </a:tc>
              </a:tr>
              <a:tr h="175260">
                <a:tc>
                  <a:txBody>
                    <a:bodyPr wrap="square"/>
                    <a:lstStyle/>
                    <a:p>
                      <a:pPr algn="l"/>
                      <a:r>
                        <a:rPr sz="1100" b="0" i="0">
                          <a:solidFill>
                            <a:srgbClr val="000000"/>
                          </a:solidFill>
                          <a:latin typeface="Calibri"/>
                        </a:rPr>
                        <a:t>24.3.1.</a:t>
                      </a:r>
                      <a:r>
                        <a:rPr sz="700" b="0" i="0">
                          <a:solidFill>
                            <a:srgbClr val="000000"/>
                          </a:solidFill>
                          <a:latin typeface="Times New Roman"/>
                        </a:rPr>
                        <a:t> </a:t>
                      </a:r>
                      <a:r>
                        <a:rPr sz="1100" b="0" i="0">
                          <a:solidFill>
                            <a:srgbClr val="000000"/>
                          </a:solidFill>
                          <a:latin typeface="Calibri"/>
                        </a:rPr>
                        <a:t>Company Market Share [%]</a:t>
                      </a:r>
                      <a:endParaRPr sz="1100"/>
                    </a:p>
                  </a:txBody>
                  <a:tcPr marL="771525" marR="9525" marT="9525" marB="0" anchor="ctr"/>
                </a:tc>
              </a:tr>
              <a:tr h="175260">
                <a:tc>
                  <a:txBody>
                    <a:bodyPr wrap="square"/>
                    <a:lstStyle/>
                    <a:p>
                      <a:pPr algn="l"/>
                      <a:r>
                        <a:rPr sz="1100" b="0" i="0">
                          <a:solidFill>
                            <a:srgbClr val="000000"/>
                          </a:solidFill>
                          <a:latin typeface="Calibri"/>
                        </a:rPr>
                        <a:t>24.3.2.</a:t>
                      </a:r>
                      <a:r>
                        <a:rPr sz="700" b="0" i="0">
                          <a:solidFill>
                            <a:srgbClr val="000000"/>
                          </a:solidFill>
                          <a:latin typeface="Times New Roman"/>
                        </a:rPr>
                        <a:t> </a:t>
                      </a:r>
                      <a:r>
                        <a:rPr sz="1100" b="0" i="0">
                          <a:solidFill>
                            <a:srgbClr val="000000"/>
                          </a:solidFill>
                          <a:latin typeface="Calibri"/>
                        </a:rPr>
                        <a:t>Company Revenue Contribution [USD Mn / USD Bn]</a:t>
                      </a:r>
                      <a:endParaRPr sz="1100"/>
                    </a:p>
                  </a:txBody>
                  <a:tcPr marL="771525" marR="9525" marT="9525" marB="0" anchor="ctr"/>
                </a:tc>
              </a:tr>
              <a:tr h="175260">
                <a:tc>
                  <a:txBody>
                    <a:bodyPr wrap="square"/>
                    <a:lstStyle/>
                    <a:p>
                      <a:pPr algn="l"/>
                      <a:r>
                        <a:rPr sz="1100" b="0" i="0">
                          <a:solidFill>
                            <a:srgbClr val="000000"/>
                          </a:solidFill>
                          <a:latin typeface="Calibri"/>
                        </a:rPr>
                        <a:t>24.3.3.</a:t>
                      </a:r>
                      <a:r>
                        <a:rPr sz="700" b="0" i="0">
                          <a:solidFill>
                            <a:srgbClr val="000000"/>
                          </a:solidFill>
                          <a:latin typeface="Times New Roman"/>
                        </a:rPr>
                        <a:t> </a:t>
                      </a:r>
                      <a:r>
                        <a:rPr sz="1100" b="0" i="0">
                          <a:solidFill>
                            <a:srgbClr val="000000"/>
                          </a:solidFill>
                          <a:latin typeface="Calibri"/>
                        </a:rPr>
                        <a:t>Industrial Air Compressor Sales Volume [Units]</a:t>
                      </a:r>
                      <a:endParaRPr sz="1100"/>
                    </a:p>
                  </a:txBody>
                  <a:tcPr marL="771525" marR="9525" marT="9525" marB="0" anchor="ctr"/>
                </a:tc>
              </a:tr>
              <a:tr h="175260">
                <a:tc>
                  <a:txBody>
                    <a:bodyPr wrap="square"/>
                    <a:lstStyle/>
                    <a:p>
                      <a:pPr algn="l"/>
                      <a:r>
                        <a:rPr sz="1100" b="0" i="0">
                          <a:solidFill>
                            <a:srgbClr val="000000"/>
                          </a:solidFill>
                          <a:latin typeface="Calibri"/>
                        </a:rPr>
                        <a:t>24.3.4.</a:t>
                      </a:r>
                      <a:r>
                        <a:rPr sz="700" b="0" i="0">
                          <a:solidFill>
                            <a:srgbClr val="000000"/>
                          </a:solidFill>
                          <a:latin typeface="Times New Roman"/>
                        </a:rPr>
                        <a:t> </a:t>
                      </a:r>
                      <a:r>
                        <a:rPr sz="1100" b="0" i="0">
                          <a:solidFill>
                            <a:srgbClr val="000000"/>
                          </a:solidFill>
                          <a:latin typeface="Calibri"/>
                        </a:rPr>
                        <a:t>Installed / Supplied Capacity [HP / kW]</a:t>
                      </a:r>
                      <a:endParaRPr sz="1100"/>
                    </a:p>
                  </a:txBody>
                  <a:tcPr marL="771525" marR="9525" marT="9525" marB="0" anchor="ctr"/>
                </a:tc>
              </a:tr>
              <a:tr h="175260">
                <a:tc>
                  <a:txBody>
                    <a:bodyPr wrap="square"/>
                    <a:lstStyle/>
                    <a:p>
                      <a:pPr algn="l"/>
                      <a:r>
                        <a:rPr sz="1100" b="0" i="0">
                          <a:solidFill>
                            <a:srgbClr val="000000"/>
                          </a:solidFill>
                          <a:latin typeface="Calibri"/>
                        </a:rPr>
                        <a:t>24.3.5.</a:t>
                      </a:r>
                      <a:r>
                        <a:rPr sz="700" b="0" i="0">
                          <a:solidFill>
                            <a:srgbClr val="000000"/>
                          </a:solidFill>
                          <a:latin typeface="Times New Roman"/>
                        </a:rPr>
                        <a:t> </a:t>
                      </a:r>
                      <a:r>
                        <a:rPr sz="1100" b="0" i="0">
                          <a:solidFill>
                            <a:srgbClr val="000000"/>
                          </a:solidFill>
                          <a:latin typeface="Calibri"/>
                        </a:rPr>
                        <a:t>Value Share vs Volume Share [%]</a:t>
                      </a:r>
                      <a:endParaRPr sz="1100"/>
                    </a:p>
                  </a:txBody>
                  <a:tcPr marL="771525" marR="9525" marT="9525" marB="0" anchor="ctr"/>
                </a:tc>
              </a:tr>
              <a:tr h="175260">
                <a:tc>
                  <a:txBody>
                    <a:bodyPr wrap="square"/>
                    <a:lstStyle/>
                    <a:p>
                      <a:pPr algn="l"/>
                      <a:r>
                        <a:rPr sz="1100" b="0" i="0">
                          <a:solidFill>
                            <a:srgbClr val="000000"/>
                          </a:solidFill>
                          <a:latin typeface="Calibri"/>
                        </a:rPr>
                        <a:t>24.3.6.</a:t>
                      </a:r>
                      <a:r>
                        <a:rPr sz="700" b="0" i="0">
                          <a:solidFill>
                            <a:srgbClr val="000000"/>
                          </a:solidFill>
                          <a:latin typeface="Times New Roman"/>
                        </a:rPr>
                        <a:t> </a:t>
                      </a:r>
                      <a:r>
                        <a:rPr sz="1100" b="0" i="0">
                          <a:solidFill>
                            <a:srgbClr val="000000"/>
                          </a:solidFill>
                          <a:latin typeface="Calibri"/>
                        </a:rPr>
                        <a:t>Geographic Revenue Mix [%]</a:t>
                      </a:r>
                      <a:endParaRPr sz="1100"/>
                    </a:p>
                  </a:txBody>
                  <a:tcPr marL="771525" marR="9525" marT="9525" marB="0" anchor="ctr"/>
                </a:tc>
              </a:tr>
              <a:tr h="175260">
                <a:tc>
                  <a:txBody>
                    <a:bodyPr wrap="square"/>
                    <a:lstStyle/>
                    <a:p>
                      <a:pPr algn="l"/>
                      <a:r>
                        <a:rPr sz="1100" b="0" i="0">
                          <a:solidFill>
                            <a:srgbClr val="000000"/>
                          </a:solidFill>
                          <a:latin typeface="Calibri"/>
                        </a:rPr>
                        <a:t>24.3.7.</a:t>
                      </a:r>
                      <a:r>
                        <a:rPr sz="700" b="0" i="0">
                          <a:solidFill>
                            <a:srgbClr val="000000"/>
                          </a:solidFill>
                          <a:latin typeface="Times New Roman"/>
                        </a:rPr>
                        <a:t> </a:t>
                      </a:r>
                      <a:r>
                        <a:rPr sz="1100" b="0" i="0">
                          <a:solidFill>
                            <a:srgbClr val="000000"/>
                          </a:solidFill>
                          <a:latin typeface="Calibri"/>
                        </a:rPr>
                        <a:t>Compressor Technology Revenue Mix [%]</a:t>
                      </a:r>
                      <a:endParaRPr sz="1100"/>
                    </a:p>
                  </a:txBody>
                  <a:tcPr marL="771525" marR="9525" marT="9525" marB="0" anchor="ctr"/>
                </a:tc>
              </a:tr>
              <a:tr h="175260">
                <a:tc>
                  <a:txBody>
                    <a:bodyPr wrap="square"/>
                    <a:lstStyle/>
                    <a:p>
                      <a:pPr algn="l"/>
                      <a:r>
                        <a:rPr sz="1100" b="0" i="0">
                          <a:solidFill>
                            <a:srgbClr val="000000"/>
                          </a:solidFill>
                          <a:latin typeface="Calibri"/>
                        </a:rPr>
                        <a:t>24.3.8.</a:t>
                      </a:r>
                      <a:r>
                        <a:rPr sz="700" b="0" i="0">
                          <a:solidFill>
                            <a:srgbClr val="000000"/>
                          </a:solidFill>
                          <a:latin typeface="Times New Roman"/>
                        </a:rPr>
                        <a:t> </a:t>
                      </a:r>
                      <a:r>
                        <a:rPr sz="1100" b="0" i="0">
                          <a:solidFill>
                            <a:srgbClr val="000000"/>
                          </a:solidFill>
                          <a:latin typeface="Calibri"/>
                        </a:rPr>
                        <a:t>Oil-Injected vs Oil-Free Compressor Revenue Mix [%]</a:t>
                      </a:r>
                      <a:endParaRPr sz="1100"/>
                    </a:p>
                  </a:txBody>
                  <a:tcPr marL="771525" marR="9525" marT="9525" marB="0" anchor="ctr"/>
                </a:tc>
              </a:tr>
              <a:tr h="175260">
                <a:tc>
                  <a:txBody>
                    <a:bodyPr wrap="square"/>
                    <a:lstStyle/>
                    <a:p>
                      <a:pPr algn="l"/>
                      <a:r>
                        <a:rPr sz="1100" b="0" i="0">
                          <a:solidFill>
                            <a:srgbClr val="000000"/>
                          </a:solidFill>
                          <a:latin typeface="Calibri"/>
                        </a:rPr>
                        <a:t>24.3.9.</a:t>
                      </a:r>
                      <a:r>
                        <a:rPr sz="700" b="0" i="0">
                          <a:solidFill>
                            <a:srgbClr val="000000"/>
                          </a:solidFill>
                          <a:latin typeface="Times New Roman"/>
                        </a:rPr>
                        <a:t> </a:t>
                      </a:r>
                      <a:r>
                        <a:rPr sz="1100" b="0" i="0">
                          <a:solidFill>
                            <a:srgbClr val="000000"/>
                          </a:solidFill>
                          <a:latin typeface="Calibri"/>
                        </a:rPr>
                        <a:t>Stationary vs Portable Compressor Revenue Mix [%]</a:t>
                      </a:r>
                      <a:endParaRPr sz="1100"/>
                    </a:p>
                  </a:txBody>
                  <a:tcPr marL="771525" marR="9525" marT="9525" marB="0" anchor="ctr"/>
                </a:tc>
              </a:tr>
              <a:tr h="175260">
                <a:tc>
                  <a:txBody>
                    <a:bodyPr wrap="square"/>
                    <a:lstStyle/>
                    <a:p>
                      <a:pPr algn="l"/>
                      <a:r>
                        <a:rPr sz="1100" b="0" i="0">
                          <a:solidFill>
                            <a:srgbClr val="000000"/>
                          </a:solidFill>
                          <a:latin typeface="Calibri"/>
                        </a:rPr>
                        <a:t>24.3.10.</a:t>
                      </a:r>
                      <a:r>
                        <a:rPr sz="700" b="0" i="0">
                          <a:solidFill>
                            <a:srgbClr val="000000"/>
                          </a:solidFill>
                          <a:latin typeface="Times New Roman"/>
                        </a:rPr>
                        <a:t> </a:t>
                      </a:r>
                      <a:r>
                        <a:rPr sz="1100" b="0" i="0">
                          <a:solidFill>
                            <a:srgbClr val="000000"/>
                          </a:solidFill>
                          <a:latin typeface="Calibri"/>
                        </a:rPr>
                        <a:t>Standard vs Customized Compressor Revenue Mix [%]</a:t>
                      </a:r>
                      <a:endParaRPr sz="1100"/>
                    </a:p>
                  </a:txBody>
                  <a:tcPr marL="771525" marR="9525" marT="9525" marB="0" anchor="ctr"/>
                </a:tc>
              </a:tr>
              <a:tr h="175260">
                <a:tc>
                  <a:txBody>
                    <a:bodyPr wrap="square"/>
                    <a:lstStyle/>
                    <a:p>
                      <a:pPr algn="l"/>
                      <a:r>
                        <a:rPr sz="1100" b="0" i="0">
                          <a:solidFill>
                            <a:srgbClr val="000000"/>
                          </a:solidFill>
                          <a:latin typeface="Calibri"/>
                        </a:rPr>
                        <a:t>24.3.11.</a:t>
                      </a:r>
                      <a:r>
                        <a:rPr sz="700" b="0" i="0">
                          <a:solidFill>
                            <a:srgbClr val="000000"/>
                          </a:solidFill>
                          <a:latin typeface="Times New Roman"/>
                        </a:rPr>
                        <a:t> </a:t>
                      </a:r>
                      <a:r>
                        <a:rPr sz="1100" b="0" i="0">
                          <a:solidFill>
                            <a:srgbClr val="000000"/>
                          </a:solidFill>
                          <a:latin typeface="Calibri"/>
                        </a:rPr>
                        <a:t>New Equipment vs Aftermarket / Service Revenue Mix [%]</a:t>
                      </a:r>
                      <a:endParaRPr sz="1100"/>
                    </a:p>
                  </a:txBody>
                  <a:tcPr marL="771525" marR="9525" marT="9525" marB="0" anchor="ctr"/>
                </a:tc>
              </a:tr>
              <a:tr h="175260">
                <a:tc>
                  <a:txBody>
                    <a:bodyPr wrap="square"/>
                    <a:lstStyle/>
                    <a:p>
                      <a:pPr algn="l"/>
                      <a:r>
                        <a:rPr sz="1100" b="0" i="0">
                          <a:solidFill>
                            <a:srgbClr val="0070C0"/>
                          </a:solidFill>
                          <a:latin typeface="Calibri"/>
                        </a:rPr>
                        <a:t>24.4.</a:t>
                      </a:r>
                      <a:r>
                        <a:rPr sz="700" b="0" i="0">
                          <a:solidFill>
                            <a:srgbClr val="0070C0"/>
                          </a:solidFill>
                          <a:latin typeface="Times New Roman"/>
                        </a:rPr>
                        <a:t>  </a:t>
                      </a:r>
                      <a:r>
                        <a:rPr sz="1100" b="0" i="0">
                          <a:solidFill>
                            <a:srgbClr val="0070C0"/>
                          </a:solidFill>
                          <a:latin typeface="Calibri"/>
                        </a:rPr>
                        <a:t>Cross-Category Competitive Benchmarking</a:t>
                      </a:r>
                      <a:endParaRPr sz="1100"/>
                    </a:p>
                  </a:txBody>
                  <a:tcPr marL="428625" marR="9525" marT="9525" marB="0" anchor="ctr"/>
                </a:tc>
              </a:tr>
              <a:tr h="175260">
                <a:tc>
                  <a:txBody>
                    <a:bodyPr wrap="square"/>
                    <a:lstStyle/>
                    <a:p>
                      <a:pPr algn="l"/>
                      <a:r>
                        <a:rPr sz="1100" b="0" i="0">
                          <a:solidFill>
                            <a:srgbClr val="000000"/>
                          </a:solidFill>
                          <a:latin typeface="Calibri"/>
                        </a:rPr>
                        <a:t>24.4.1.</a:t>
                      </a:r>
                      <a:r>
                        <a:rPr sz="700" b="0" i="0">
                          <a:solidFill>
                            <a:srgbClr val="000000"/>
                          </a:solidFill>
                          <a:latin typeface="Times New Roman"/>
                        </a:rPr>
                        <a:t> </a:t>
                      </a:r>
                      <a:r>
                        <a:rPr sz="1100" b="0" i="0">
                          <a:solidFill>
                            <a:srgbClr val="000000"/>
                          </a:solidFill>
                          <a:latin typeface="Calibri"/>
                        </a:rPr>
                        <a:t>Manufacturing Scale vs Industrial Compressor Market Share</a:t>
                      </a:r>
                      <a:endParaRPr sz="1100"/>
                    </a:p>
                  </a:txBody>
                  <a:tcPr marL="771525" marR="9525" marT="9525" marB="0" anchor="ctr"/>
                </a:tc>
              </a:tr>
              <a:tr h="175260">
                <a:tc>
                  <a:txBody>
                    <a:bodyPr wrap="square"/>
                    <a:lstStyle/>
                    <a:p>
                      <a:pPr algn="l"/>
                      <a:r>
                        <a:rPr sz="1100" b="0" i="0">
                          <a:solidFill>
                            <a:srgbClr val="000000"/>
                          </a:solidFill>
                          <a:latin typeface="Calibri"/>
                        </a:rPr>
                        <a:t>24.4.2.</a:t>
                      </a:r>
                      <a:r>
                        <a:rPr sz="700" b="0" i="0">
                          <a:solidFill>
                            <a:srgbClr val="000000"/>
                          </a:solidFill>
                          <a:latin typeface="Times New Roman"/>
                        </a:rPr>
                        <a:t> </a:t>
                      </a:r>
                      <a:r>
                        <a:rPr sz="1100" b="0" i="0">
                          <a:solidFill>
                            <a:srgbClr val="000000"/>
                          </a:solidFill>
                          <a:latin typeface="Calibri"/>
                        </a:rPr>
                        <a:t>Rotary Screw Technology &amp; Portfolio Breadth</a:t>
                      </a:r>
                      <a:endParaRPr sz="1100"/>
                    </a:p>
                  </a:txBody>
                  <a:tcPr marL="771525" marR="9525" marT="9525" marB="0" anchor="ctr"/>
                </a:tc>
              </a:tr>
              <a:tr h="175260">
                <a:tc>
                  <a:txBody>
                    <a:bodyPr wrap="square"/>
                    <a:lstStyle/>
                    <a:p>
                      <a:pPr algn="l"/>
                      <a:r>
                        <a:rPr sz="1100" b="0" i="0">
                          <a:solidFill>
                            <a:srgbClr val="000000"/>
                          </a:solidFill>
                          <a:latin typeface="Calibri"/>
                        </a:rPr>
                        <a:t>24.4.3.</a:t>
                      </a:r>
                      <a:r>
                        <a:rPr sz="700" b="0" i="0">
                          <a:solidFill>
                            <a:srgbClr val="000000"/>
                          </a:solidFill>
                          <a:latin typeface="Times New Roman"/>
                        </a:rPr>
                        <a:t> </a:t>
                      </a:r>
                      <a:r>
                        <a:rPr sz="1100" b="0" i="0">
                          <a:solidFill>
                            <a:srgbClr val="000000"/>
                          </a:solidFill>
                          <a:latin typeface="Calibri"/>
                        </a:rPr>
                        <a:t>High-Capacity Centrifugal Compressor Capability</a:t>
                      </a:r>
                      <a:endParaRPr sz="1100"/>
                    </a:p>
                  </a:txBody>
                  <a:tcPr marL="771525" marR="9525" marT="9525" marB="0" anchor="ctr"/>
                </a:tc>
              </a:tr>
              <a:tr h="175260">
                <a:tc>
                  <a:txBody>
                    <a:bodyPr wrap="square"/>
                    <a:lstStyle/>
                    <a:p>
                      <a:pPr algn="l"/>
                      <a:r>
                        <a:rPr sz="1100" b="0" i="0">
                          <a:solidFill>
                            <a:srgbClr val="000000"/>
                          </a:solidFill>
                          <a:latin typeface="Calibri"/>
                        </a:rPr>
                        <a:t>24.4.4.</a:t>
                      </a:r>
                      <a:r>
                        <a:rPr sz="700" b="0" i="0">
                          <a:solidFill>
                            <a:srgbClr val="000000"/>
                          </a:solidFill>
                          <a:latin typeface="Times New Roman"/>
                        </a:rPr>
                        <a:t> </a:t>
                      </a:r>
                      <a:r>
                        <a:rPr sz="1100" b="0" i="0">
                          <a:solidFill>
                            <a:srgbClr val="000000"/>
                          </a:solidFill>
                          <a:latin typeface="Calibri"/>
                        </a:rPr>
                        <a:t>Oil-Free &amp; High-Purity Compressed Air Capability</a:t>
                      </a:r>
                      <a:endParaRPr sz="1100"/>
                    </a:p>
                  </a:txBody>
                  <a:tcPr marL="771525" marR="9525" marT="9525" marB="0" anchor="ctr"/>
                </a:tc>
              </a:tr>
              <a:tr h="175260">
                <a:tc>
                  <a:txBody>
                    <a:bodyPr wrap="square"/>
                    <a:lstStyle/>
                    <a:p>
                      <a:pPr algn="l"/>
                      <a:r>
                        <a:rPr sz="1100" b="0" i="0">
                          <a:solidFill>
                            <a:srgbClr val="000000"/>
                          </a:solidFill>
                          <a:latin typeface="Calibri"/>
                        </a:rPr>
                        <a:t>24.4.5.</a:t>
                      </a:r>
                      <a:r>
                        <a:rPr sz="700" b="0" i="0">
                          <a:solidFill>
                            <a:srgbClr val="000000"/>
                          </a:solidFill>
                          <a:latin typeface="Times New Roman"/>
                        </a:rPr>
                        <a:t> </a:t>
                      </a:r>
                      <a:r>
                        <a:rPr sz="1100" b="0" i="0">
                          <a:solidFill>
                            <a:srgbClr val="000000"/>
                          </a:solidFill>
                          <a:latin typeface="Calibri"/>
                        </a:rPr>
                        <a:t>Portable Compressor Capability</a:t>
                      </a:r>
                      <a:endParaRPr sz="1100"/>
                    </a:p>
                  </a:txBody>
                  <a:tcPr marL="771525" marR="9525" marT="9525" marB="0" anchor="ctr"/>
                </a:tc>
              </a:tr>
              <a:tr h="175260">
                <a:tc>
                  <a:txBody>
                    <a:bodyPr wrap="square"/>
                    <a:lstStyle/>
                    <a:p>
                      <a:pPr algn="l"/>
                      <a:r>
                        <a:rPr sz="1100" b="0" i="0">
                          <a:solidFill>
                            <a:srgbClr val="000000"/>
                          </a:solidFill>
                          <a:latin typeface="Calibri"/>
                        </a:rPr>
                        <a:t>24.4.6.</a:t>
                      </a:r>
                      <a:r>
                        <a:rPr sz="700" b="0" i="0">
                          <a:solidFill>
                            <a:srgbClr val="000000"/>
                          </a:solidFill>
                          <a:latin typeface="Times New Roman"/>
                        </a:rPr>
                        <a:t> </a:t>
                      </a:r>
                      <a:r>
                        <a:rPr sz="1100" b="0" i="0">
                          <a:solidFill>
                            <a:srgbClr val="000000"/>
                          </a:solidFill>
                          <a:latin typeface="Calibri"/>
                        </a:rPr>
                        <a:t>Energy Efficiency &amp; Variable-Speed Technology</a:t>
                      </a:r>
                      <a:endParaRPr sz="1100"/>
                    </a:p>
                  </a:txBody>
                  <a:tcPr marL="771525" marR="9525" marT="9525" marB="0" anchor="ctr"/>
                </a:tc>
              </a:tr>
              <a:tr h="175260">
                <a:tc>
                  <a:txBody>
                    <a:bodyPr wrap="square"/>
                    <a:lstStyle/>
                    <a:p>
                      <a:pPr algn="l"/>
                      <a:r>
                        <a:rPr sz="1100" b="0" i="0">
                          <a:solidFill>
                            <a:srgbClr val="000000"/>
                          </a:solidFill>
                          <a:latin typeface="Calibri"/>
                        </a:rPr>
                        <a:t>24.4.7.</a:t>
                      </a:r>
                      <a:r>
                        <a:rPr sz="700" b="0" i="0">
                          <a:solidFill>
                            <a:srgbClr val="000000"/>
                          </a:solidFill>
                          <a:latin typeface="Times New Roman"/>
                        </a:rPr>
                        <a:t> </a:t>
                      </a:r>
                      <a:r>
                        <a:rPr sz="1100" b="0" i="0">
                          <a:solidFill>
                            <a:srgbClr val="000000"/>
                          </a:solidFill>
                          <a:latin typeface="Calibri"/>
                        </a:rPr>
                        <a:t>Manufacturing Footprint &amp; Geographic Reach</a:t>
                      </a:r>
                      <a:endParaRPr sz="1100"/>
                    </a:p>
                  </a:txBody>
                  <a:tcPr marL="771525" marR="9525" marT="9525" marB="0" anchor="ctr"/>
                </a:tc>
              </a:tr>
              <a:tr h="175260">
                <a:tc>
                  <a:txBody>
                    <a:bodyPr wrap="square"/>
                    <a:lstStyle/>
                    <a:p>
                      <a:pPr algn="l"/>
                      <a:r>
                        <a:rPr sz="1100" b="0" i="0">
                          <a:solidFill>
                            <a:srgbClr val="000000"/>
                          </a:solidFill>
                          <a:latin typeface="Calibri"/>
                        </a:rPr>
                        <a:t>24.4.8.</a:t>
                      </a:r>
                      <a:r>
                        <a:rPr sz="700" b="0" i="0">
                          <a:solidFill>
                            <a:srgbClr val="000000"/>
                          </a:solidFill>
                          <a:latin typeface="Times New Roman"/>
                        </a:rPr>
                        <a:t> </a:t>
                      </a:r>
                      <a:r>
                        <a:rPr sz="1100" b="0" i="0">
                          <a:solidFill>
                            <a:srgbClr val="000000"/>
                          </a:solidFill>
                          <a:latin typeface="Calibri"/>
                        </a:rPr>
                        <a:t>Application Coverage</a:t>
                      </a:r>
                      <a:endParaRPr sz="1100"/>
                    </a:p>
                  </a:txBody>
                  <a:tcPr marL="771525" marR="9525" marT="9525" marB="0" anchor="ctr"/>
                </a:tc>
              </a:tr>
              <a:tr h="175260">
                <a:tc>
                  <a:txBody>
                    <a:bodyPr wrap="square"/>
                    <a:lstStyle/>
                    <a:p>
                      <a:pPr algn="l"/>
                      <a:r>
                        <a:rPr sz="1100" b="0" i="0">
                          <a:solidFill>
                            <a:srgbClr val="000000"/>
                          </a:solidFill>
                          <a:latin typeface="Calibri"/>
                        </a:rPr>
                        <a:t>24.4.9.</a:t>
                      </a:r>
                      <a:r>
                        <a:rPr sz="700" b="0" i="0">
                          <a:solidFill>
                            <a:srgbClr val="000000"/>
                          </a:solidFill>
                          <a:latin typeface="Times New Roman"/>
                        </a:rPr>
                        <a:t> </a:t>
                      </a:r>
                      <a:r>
                        <a:rPr sz="1100" b="0" i="0">
                          <a:solidFill>
                            <a:srgbClr val="000000"/>
                          </a:solidFill>
                          <a:latin typeface="Calibri"/>
                        </a:rPr>
                        <a:t>Customization &amp; System Integration</a:t>
                      </a:r>
                      <a:endParaRPr sz="1100"/>
                    </a:p>
                  </a:txBody>
                  <a:tcPr marL="771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368046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24.4.10.</a:t>
                      </a:r>
                      <a:r>
                        <a:rPr sz="700" b="0" i="0">
                          <a:solidFill>
                            <a:srgbClr val="000000"/>
                          </a:solidFill>
                          <a:latin typeface="Times New Roman"/>
                        </a:rPr>
                        <a:t> </a:t>
                      </a:r>
                      <a:r>
                        <a:rPr sz="1100" b="0" i="0">
                          <a:solidFill>
                            <a:srgbClr val="000000"/>
                          </a:solidFill>
                          <a:latin typeface="Calibri"/>
                        </a:rPr>
                        <a:t>Aftermarket, Service &amp; Lifecycle Cost Capability</a:t>
                      </a:r>
                      <a:endParaRPr sz="1100"/>
                    </a:p>
                  </a:txBody>
                  <a:tcPr marL="771525" marR="9525" marT="9525" marB="0" anchor="ctr"/>
                </a:tc>
              </a:tr>
              <a:tr h="175260">
                <a:tc>
                  <a:txBody>
                    <a:bodyPr wrap="square"/>
                    <a:lstStyle/>
                    <a:p>
                      <a:pPr algn="l"/>
                      <a:r>
                        <a:rPr sz="1100" b="0" i="0">
                          <a:solidFill>
                            <a:srgbClr val="000000"/>
                          </a:solidFill>
                          <a:latin typeface="Calibri"/>
                        </a:rPr>
                        <a:t>24.4.11.</a:t>
                      </a:r>
                      <a:r>
                        <a:rPr sz="700" b="0" i="0">
                          <a:solidFill>
                            <a:srgbClr val="000000"/>
                          </a:solidFill>
                          <a:latin typeface="Times New Roman"/>
                        </a:rPr>
                        <a:t> </a:t>
                      </a:r>
                      <a:r>
                        <a:rPr sz="1100" b="0" i="0">
                          <a:solidFill>
                            <a:srgbClr val="000000"/>
                          </a:solidFill>
                          <a:latin typeface="Calibri"/>
                        </a:rPr>
                        <a:t>Pricing &amp; Value Positioning</a:t>
                      </a:r>
                      <a:endParaRPr sz="1100"/>
                    </a:p>
                  </a:txBody>
                  <a:tcPr marL="771525" marR="9525" marT="9525" marB="0" anchor="ctr"/>
                </a:tc>
              </a:tr>
              <a:tr h="175260">
                <a:tc>
                  <a:txBody>
                    <a:bodyPr wrap="square"/>
                    <a:lstStyle/>
                    <a:p>
                      <a:pPr algn="l"/>
                      <a:r>
                        <a:rPr sz="1100" b="0" i="0">
                          <a:solidFill>
                            <a:srgbClr val="0070C0"/>
                          </a:solidFill>
                          <a:latin typeface="Calibri"/>
                        </a:rPr>
                        <a:t>24.5.</a:t>
                      </a:r>
                      <a:r>
                        <a:rPr sz="700" b="0" i="0">
                          <a:solidFill>
                            <a:srgbClr val="0070C0"/>
                          </a:solidFill>
                          <a:latin typeface="Times New Roman"/>
                        </a:rPr>
                        <a:t>  </a:t>
                      </a:r>
                      <a:r>
                        <a:rPr sz="1100" b="0" i="0">
                          <a:solidFill>
                            <a:srgbClr val="0070C0"/>
                          </a:solidFill>
                          <a:latin typeface="Calibri"/>
                        </a:rPr>
                        <a:t>Competitive Positioning &amp; Strategic Differentiation</a:t>
                      </a:r>
                      <a:endParaRPr sz="1100"/>
                    </a:p>
                  </a:txBody>
                  <a:tcPr marL="428625" marR="9525" marT="9525" marB="0" anchor="ctr"/>
                </a:tc>
              </a:tr>
              <a:tr h="175260">
                <a:tc>
                  <a:txBody>
                    <a:bodyPr wrap="square"/>
                    <a:lstStyle/>
                    <a:p>
                      <a:pPr algn="l"/>
                      <a:r>
                        <a:rPr sz="1100" b="0" i="0">
                          <a:solidFill>
                            <a:srgbClr val="000000"/>
                          </a:solidFill>
                          <a:latin typeface="Calibri"/>
                        </a:rPr>
                        <a:t>24.5.1.</a:t>
                      </a:r>
                      <a:r>
                        <a:rPr sz="700" b="0" i="0">
                          <a:solidFill>
                            <a:srgbClr val="000000"/>
                          </a:solidFill>
                          <a:latin typeface="Times New Roman"/>
                        </a:rPr>
                        <a:t> </a:t>
                      </a:r>
                      <a:r>
                        <a:rPr sz="1100" b="0" i="0">
                          <a:solidFill>
                            <a:srgbClr val="000000"/>
                          </a:solidFill>
                          <a:latin typeface="Calibri"/>
                        </a:rPr>
                        <a:t>Manufacturing Scale vs Compressor Specialization</a:t>
                      </a:r>
                      <a:endParaRPr sz="1100"/>
                    </a:p>
                  </a:txBody>
                  <a:tcPr marL="771525" marR="9525" marT="9525" marB="0" anchor="ctr"/>
                </a:tc>
              </a:tr>
              <a:tr h="175260">
                <a:tc>
                  <a:txBody>
                    <a:bodyPr wrap="square"/>
                    <a:lstStyle/>
                    <a:p>
                      <a:pPr algn="l"/>
                      <a:r>
                        <a:rPr sz="1100" b="0" i="0">
                          <a:solidFill>
                            <a:srgbClr val="000000"/>
                          </a:solidFill>
                          <a:latin typeface="Calibri"/>
                        </a:rPr>
                        <a:t>24.5.2.</a:t>
                      </a:r>
                      <a:r>
                        <a:rPr sz="700" b="0" i="0">
                          <a:solidFill>
                            <a:srgbClr val="000000"/>
                          </a:solidFill>
                          <a:latin typeface="Times New Roman"/>
                        </a:rPr>
                        <a:t> </a:t>
                      </a:r>
                      <a:r>
                        <a:rPr sz="1100" b="0" i="0">
                          <a:solidFill>
                            <a:srgbClr val="000000"/>
                          </a:solidFill>
                          <a:latin typeface="Calibri"/>
                        </a:rPr>
                        <a:t>Technology Capability vs Geographic Reach</a:t>
                      </a:r>
                      <a:endParaRPr sz="1100"/>
                    </a:p>
                  </a:txBody>
                  <a:tcPr marL="771525" marR="9525" marT="9525" marB="0" anchor="ctr"/>
                </a:tc>
              </a:tr>
              <a:tr h="175260">
                <a:tc>
                  <a:txBody>
                    <a:bodyPr wrap="square"/>
                    <a:lstStyle/>
                    <a:p>
                      <a:pPr algn="l"/>
                      <a:r>
                        <a:rPr sz="1100" b="0" i="0">
                          <a:solidFill>
                            <a:srgbClr val="000000"/>
                          </a:solidFill>
                          <a:latin typeface="Calibri"/>
                        </a:rPr>
                        <a:t>24.5.3.</a:t>
                      </a:r>
                      <a:r>
                        <a:rPr sz="700" b="0" i="0">
                          <a:solidFill>
                            <a:srgbClr val="000000"/>
                          </a:solidFill>
                          <a:latin typeface="Times New Roman"/>
                        </a:rPr>
                        <a:t> </a:t>
                      </a:r>
                      <a:r>
                        <a:rPr sz="1100" b="0" i="0">
                          <a:solidFill>
                            <a:srgbClr val="000000"/>
                          </a:solidFill>
                          <a:latin typeface="Calibri"/>
                        </a:rPr>
                        <a:t>Product Portfolio Breadth vs Technology Depth</a:t>
                      </a:r>
                      <a:endParaRPr sz="1100"/>
                    </a:p>
                  </a:txBody>
                  <a:tcPr marL="771525" marR="9525" marT="9525" marB="0" anchor="ctr"/>
                </a:tc>
              </a:tr>
              <a:tr h="175260">
                <a:tc>
                  <a:txBody>
                    <a:bodyPr wrap="square"/>
                    <a:lstStyle/>
                    <a:p>
                      <a:pPr algn="l"/>
                      <a:r>
                        <a:rPr sz="1100" b="0" i="0">
                          <a:solidFill>
                            <a:srgbClr val="000000"/>
                          </a:solidFill>
                          <a:latin typeface="Calibri"/>
                        </a:rPr>
                        <a:t>24.5.4.</a:t>
                      </a:r>
                      <a:r>
                        <a:rPr sz="700" b="0" i="0">
                          <a:solidFill>
                            <a:srgbClr val="000000"/>
                          </a:solidFill>
                          <a:latin typeface="Times New Roman"/>
                        </a:rPr>
                        <a:t> </a:t>
                      </a:r>
                      <a:r>
                        <a:rPr sz="1100" b="0" i="0">
                          <a:solidFill>
                            <a:srgbClr val="000000"/>
                          </a:solidFill>
                          <a:latin typeface="Calibri"/>
                        </a:rPr>
                        <a:t>Market Share vs Average Selling Price</a:t>
                      </a:r>
                      <a:endParaRPr sz="1100"/>
                    </a:p>
                  </a:txBody>
                  <a:tcPr marL="771525" marR="9525" marT="9525" marB="0" anchor="ctr"/>
                </a:tc>
              </a:tr>
              <a:tr h="175260">
                <a:tc>
                  <a:txBody>
                    <a:bodyPr wrap="square"/>
                    <a:lstStyle/>
                    <a:p>
                      <a:pPr algn="l"/>
                      <a:r>
                        <a:rPr sz="1100" b="0" i="0">
                          <a:solidFill>
                            <a:srgbClr val="000000"/>
                          </a:solidFill>
                          <a:latin typeface="Calibri"/>
                        </a:rPr>
                        <a:t>24.5.5.</a:t>
                      </a:r>
                      <a:r>
                        <a:rPr sz="700" b="0" i="0">
                          <a:solidFill>
                            <a:srgbClr val="000000"/>
                          </a:solidFill>
                          <a:latin typeface="Times New Roman"/>
                        </a:rPr>
                        <a:t> </a:t>
                      </a:r>
                      <a:r>
                        <a:rPr sz="1100" b="0" i="0">
                          <a:solidFill>
                            <a:srgbClr val="000000"/>
                          </a:solidFill>
                          <a:latin typeface="Calibri"/>
                        </a:rPr>
                        <a:t>Energy Efficiency vs Purchase Cost Competitiveness</a:t>
                      </a:r>
                      <a:endParaRPr sz="1100"/>
                    </a:p>
                  </a:txBody>
                  <a:tcPr marL="771525" marR="9525" marT="9525" marB="0" anchor="ctr"/>
                </a:tc>
              </a:tr>
              <a:tr h="175260">
                <a:tc>
                  <a:txBody>
                    <a:bodyPr wrap="square"/>
                    <a:lstStyle/>
                    <a:p>
                      <a:pPr algn="l"/>
                      <a:r>
                        <a:rPr sz="1100" b="0" i="0">
                          <a:solidFill>
                            <a:srgbClr val="000000"/>
                          </a:solidFill>
                          <a:latin typeface="Calibri"/>
                        </a:rPr>
                        <a:t>24.5.6.</a:t>
                      </a:r>
                      <a:r>
                        <a:rPr sz="700" b="0" i="0">
                          <a:solidFill>
                            <a:srgbClr val="000000"/>
                          </a:solidFill>
                          <a:latin typeface="Times New Roman"/>
                        </a:rPr>
                        <a:t> </a:t>
                      </a:r>
                      <a:r>
                        <a:rPr sz="1100" b="0" i="0">
                          <a:solidFill>
                            <a:srgbClr val="000000"/>
                          </a:solidFill>
                          <a:latin typeface="Calibri"/>
                        </a:rPr>
                        <a:t>Manufacturing Scale vs Customization Capability</a:t>
                      </a:r>
                      <a:endParaRPr sz="1100"/>
                    </a:p>
                  </a:txBody>
                  <a:tcPr marL="771525" marR="9525" marT="9525" marB="0" anchor="ctr"/>
                </a:tc>
              </a:tr>
              <a:tr h="175260">
                <a:tc>
                  <a:txBody>
                    <a:bodyPr wrap="square"/>
                    <a:lstStyle/>
                    <a:p>
                      <a:pPr algn="l"/>
                      <a:r>
                        <a:rPr sz="1100" b="0" i="0">
                          <a:solidFill>
                            <a:srgbClr val="000000"/>
                          </a:solidFill>
                          <a:latin typeface="Calibri"/>
                        </a:rPr>
                        <a:t>24.5.7.</a:t>
                      </a:r>
                      <a:r>
                        <a:rPr sz="700" b="0" i="0">
                          <a:solidFill>
                            <a:srgbClr val="000000"/>
                          </a:solidFill>
                          <a:latin typeface="Times New Roman"/>
                        </a:rPr>
                        <a:t> </a:t>
                      </a:r>
                      <a:r>
                        <a:rPr sz="1100" b="0" i="0">
                          <a:solidFill>
                            <a:srgbClr val="000000"/>
                          </a:solidFill>
                          <a:latin typeface="Calibri"/>
                        </a:rPr>
                        <a:t>Stationary Industrial Strength vs Portable Compressor Strength</a:t>
                      </a:r>
                      <a:endParaRPr sz="1100"/>
                    </a:p>
                  </a:txBody>
                  <a:tcPr marL="771525" marR="9525" marT="9525" marB="0" anchor="ctr"/>
                </a:tc>
              </a:tr>
              <a:tr h="175260">
                <a:tc>
                  <a:txBody>
                    <a:bodyPr wrap="square"/>
                    <a:lstStyle/>
                    <a:p>
                      <a:pPr algn="l"/>
                      <a:r>
                        <a:rPr sz="1100" b="0" i="0">
                          <a:solidFill>
                            <a:srgbClr val="0070C0"/>
                          </a:solidFill>
                          <a:latin typeface="Calibri"/>
                        </a:rPr>
                        <a:t>24.6.</a:t>
                      </a:r>
                      <a:r>
                        <a:rPr sz="700" b="0" i="0">
                          <a:solidFill>
                            <a:srgbClr val="0070C0"/>
                          </a:solidFill>
                          <a:latin typeface="Times New Roman"/>
                        </a:rPr>
                        <a:t>  </a:t>
                      </a:r>
                      <a:r>
                        <a:rPr sz="1100" b="0" i="0">
                          <a:solidFill>
                            <a:srgbClr val="0070C0"/>
                          </a:solidFill>
                          <a:latin typeface="Calibri"/>
                        </a:rPr>
                        <a:t>Competitive White Space &amp; Market Entry Opportunities</a:t>
                      </a:r>
                      <a:endParaRPr sz="1100"/>
                    </a:p>
                  </a:txBody>
                  <a:tcPr marL="428625" marR="9525" marT="9525" marB="0" anchor="ctr"/>
                </a:tc>
              </a:tr>
              <a:tr h="175260">
                <a:tc>
                  <a:txBody>
                    <a:bodyPr wrap="square"/>
                    <a:lstStyle/>
                    <a:p>
                      <a:pPr algn="l"/>
                      <a:r>
                        <a:rPr sz="1100" b="0" i="0">
                          <a:solidFill>
                            <a:srgbClr val="000000"/>
                          </a:solidFill>
                          <a:latin typeface="Calibri"/>
                        </a:rPr>
                        <a:t>24.6.1.</a:t>
                      </a:r>
                      <a:r>
                        <a:rPr sz="700" b="0" i="0">
                          <a:solidFill>
                            <a:srgbClr val="000000"/>
                          </a:solidFill>
                          <a:latin typeface="Times New Roman"/>
                        </a:rPr>
                        <a:t> </a:t>
                      </a:r>
                      <a:r>
                        <a:rPr sz="1100" b="0" i="0">
                          <a:solidFill>
                            <a:srgbClr val="000000"/>
                          </a:solidFill>
                          <a:latin typeface="Calibri"/>
                        </a:rPr>
                        <a:t>Underserved Compressor Categories</a:t>
                      </a:r>
                      <a:endParaRPr sz="1100"/>
                    </a:p>
                  </a:txBody>
                  <a:tcPr marL="771525" marR="9525" marT="9525" marB="0" anchor="ctr"/>
                </a:tc>
              </a:tr>
              <a:tr h="175260">
                <a:tc>
                  <a:txBody>
                    <a:bodyPr wrap="square"/>
                    <a:lstStyle/>
                    <a:p>
                      <a:pPr algn="l"/>
                      <a:r>
                        <a:rPr sz="1100" b="0" i="0">
                          <a:solidFill>
                            <a:srgbClr val="000000"/>
                          </a:solidFill>
                          <a:latin typeface="Calibri"/>
                        </a:rPr>
                        <a:t>24.6.2.</a:t>
                      </a:r>
                      <a:r>
                        <a:rPr sz="700" b="0" i="0">
                          <a:solidFill>
                            <a:srgbClr val="000000"/>
                          </a:solidFill>
                          <a:latin typeface="Times New Roman"/>
                        </a:rPr>
                        <a:t> </a:t>
                      </a:r>
                      <a:r>
                        <a:rPr sz="1100" b="0" i="0">
                          <a:solidFill>
                            <a:srgbClr val="000000"/>
                          </a:solidFill>
                          <a:latin typeface="Calibri"/>
                        </a:rPr>
                        <a:t>High-Value Product Niches</a:t>
                      </a:r>
                      <a:endParaRPr sz="1100"/>
                    </a:p>
                  </a:txBody>
                  <a:tcPr marL="771525" marR="9525" marT="9525" marB="0" anchor="ctr"/>
                </a:tc>
              </a:tr>
              <a:tr h="175260">
                <a:tc>
                  <a:txBody>
                    <a:bodyPr wrap="square"/>
                    <a:lstStyle/>
                    <a:p>
                      <a:pPr algn="l"/>
                      <a:r>
                        <a:rPr sz="1100" b="0" i="0">
                          <a:solidFill>
                            <a:srgbClr val="000000"/>
                          </a:solidFill>
                          <a:latin typeface="Calibri"/>
                        </a:rPr>
                        <a:t>24.6.3.</a:t>
                      </a:r>
                      <a:r>
                        <a:rPr sz="700" b="0" i="0">
                          <a:solidFill>
                            <a:srgbClr val="000000"/>
                          </a:solidFill>
                          <a:latin typeface="Times New Roman"/>
                        </a:rPr>
                        <a:t> </a:t>
                      </a:r>
                      <a:r>
                        <a:rPr sz="1100" b="0" i="0">
                          <a:solidFill>
                            <a:srgbClr val="000000"/>
                          </a:solidFill>
                          <a:latin typeface="Calibri"/>
                        </a:rPr>
                        <a:t>Technology Opportunities</a:t>
                      </a:r>
                      <a:endParaRPr sz="1100"/>
                    </a:p>
                  </a:txBody>
                  <a:tcPr marL="771525" marR="9525" marT="9525" marB="0" anchor="ctr"/>
                </a:tc>
              </a:tr>
              <a:tr h="175260">
                <a:tc>
                  <a:txBody>
                    <a:bodyPr wrap="square"/>
                    <a:lstStyle/>
                    <a:p>
                      <a:pPr algn="l"/>
                      <a:r>
                        <a:rPr sz="1100" b="0" i="0">
                          <a:solidFill>
                            <a:srgbClr val="000000"/>
                          </a:solidFill>
                          <a:latin typeface="Calibri"/>
                        </a:rPr>
                        <a:t>24.6.4.</a:t>
                      </a:r>
                      <a:r>
                        <a:rPr sz="700" b="0" i="0">
                          <a:solidFill>
                            <a:srgbClr val="000000"/>
                          </a:solidFill>
                          <a:latin typeface="Times New Roman"/>
                        </a:rPr>
                        <a:t> </a:t>
                      </a:r>
                      <a:r>
                        <a:rPr sz="1100" b="0" i="0">
                          <a:solidFill>
                            <a:srgbClr val="000000"/>
                          </a:solidFill>
                          <a:latin typeface="Calibri"/>
                        </a:rPr>
                        <a:t>Application Opportunities</a:t>
                      </a:r>
                      <a:endParaRPr sz="1100"/>
                    </a:p>
                  </a:txBody>
                  <a:tcPr marL="771525" marR="9525" marT="9525" marB="0" anchor="ctr"/>
                </a:tc>
              </a:tr>
              <a:tr h="175260">
                <a:tc>
                  <a:txBody>
                    <a:bodyPr wrap="square"/>
                    <a:lstStyle/>
                    <a:p>
                      <a:pPr algn="l"/>
                      <a:r>
                        <a:rPr sz="1100" b="0" i="0">
                          <a:solidFill>
                            <a:srgbClr val="000000"/>
                          </a:solidFill>
                          <a:latin typeface="Calibri"/>
                        </a:rPr>
                        <a:t>24.6.5.</a:t>
                      </a:r>
                      <a:r>
                        <a:rPr sz="700" b="0" i="0">
                          <a:solidFill>
                            <a:srgbClr val="000000"/>
                          </a:solidFill>
                          <a:latin typeface="Times New Roman"/>
                        </a:rPr>
                        <a:t> </a:t>
                      </a:r>
                      <a:r>
                        <a:rPr sz="1100" b="0" i="0">
                          <a:solidFill>
                            <a:srgbClr val="000000"/>
                          </a:solidFill>
                          <a:latin typeface="Calibri"/>
                        </a:rPr>
                        <a:t>Energy-Efficiency Opportunities</a:t>
                      </a:r>
                      <a:endParaRPr sz="1100"/>
                    </a:p>
                  </a:txBody>
                  <a:tcPr marL="771525" marR="9525" marT="9525" marB="0" anchor="ctr"/>
                </a:tc>
              </a:tr>
              <a:tr h="175260">
                <a:tc>
                  <a:txBody>
                    <a:bodyPr wrap="square"/>
                    <a:lstStyle/>
                    <a:p>
                      <a:pPr algn="l"/>
                      <a:r>
                        <a:rPr sz="1100" b="0" i="0">
                          <a:solidFill>
                            <a:srgbClr val="000000"/>
                          </a:solidFill>
                          <a:latin typeface="Calibri"/>
                        </a:rPr>
                        <a:t>24.6.6.</a:t>
                      </a:r>
                      <a:r>
                        <a:rPr sz="700" b="0" i="0">
                          <a:solidFill>
                            <a:srgbClr val="000000"/>
                          </a:solidFill>
                          <a:latin typeface="Times New Roman"/>
                        </a:rPr>
                        <a:t> </a:t>
                      </a:r>
                      <a:r>
                        <a:rPr sz="1100" b="0" i="0">
                          <a:solidFill>
                            <a:srgbClr val="000000"/>
                          </a:solidFill>
                          <a:latin typeface="Calibri"/>
                        </a:rPr>
                        <a:t>Aftermarket Opportunities</a:t>
                      </a:r>
                      <a:endParaRPr sz="1100"/>
                    </a:p>
                  </a:txBody>
                  <a:tcPr marL="771525" marR="9525" marT="9525" marB="0" anchor="ctr"/>
                </a:tc>
              </a:tr>
              <a:tr h="175260">
                <a:tc>
                  <a:txBody>
                    <a:bodyPr wrap="square"/>
                    <a:lstStyle/>
                    <a:p>
                      <a:pPr algn="l"/>
                      <a:r>
                        <a:rPr sz="1100" b="0" i="0">
                          <a:solidFill>
                            <a:srgbClr val="000000"/>
                          </a:solidFill>
                          <a:latin typeface="Calibri"/>
                        </a:rPr>
                        <a:t>24.6.7.</a:t>
                      </a:r>
                      <a:r>
                        <a:rPr sz="700" b="0" i="0">
                          <a:solidFill>
                            <a:srgbClr val="000000"/>
                          </a:solidFill>
                          <a:latin typeface="Times New Roman"/>
                        </a:rPr>
                        <a:t> </a:t>
                      </a:r>
                      <a:r>
                        <a:rPr sz="1100" b="0" i="0">
                          <a:solidFill>
                            <a:srgbClr val="000000"/>
                          </a:solidFill>
                          <a:latin typeface="Calibri"/>
                        </a:rPr>
                        <a:t>Geographic Opportunities</a:t>
                      </a:r>
                      <a:endParaRPr sz="1100"/>
                    </a:p>
                  </a:txBody>
                  <a:tcPr marL="771525" marR="9525" marT="9525" marB="0" anchor="ctr"/>
                </a:tc>
              </a:tr>
              <a:tr h="175260">
                <a:tc>
                  <a:txBody>
                    <a:bodyPr wrap="square"/>
                    <a:lstStyle/>
                    <a:p>
                      <a:pPr algn="l"/>
                      <a:r>
                        <a:rPr sz="1100" b="0" i="0">
                          <a:solidFill>
                            <a:srgbClr val="000000"/>
                          </a:solidFill>
                          <a:latin typeface="Calibri"/>
                        </a:rPr>
                        <a:t>24.6.8.</a:t>
                      </a:r>
                      <a:r>
                        <a:rPr sz="700" b="0" i="0">
                          <a:solidFill>
                            <a:srgbClr val="000000"/>
                          </a:solidFill>
                          <a:latin typeface="Times New Roman"/>
                        </a:rPr>
                        <a:t> </a:t>
                      </a:r>
                      <a:r>
                        <a:rPr sz="1100" b="0" i="0">
                          <a:solidFill>
                            <a:srgbClr val="000000"/>
                          </a:solidFill>
                          <a:latin typeface="Calibri"/>
                        </a:rPr>
                        <a:t>Potential Partnership / Entry Opportunities</a:t>
                      </a:r>
                      <a:endParaRPr sz="1100"/>
                    </a:p>
                  </a:txBody>
                  <a:tcPr marL="771525" marR="9525" marT="9525" marB="0" anchor="ctr"/>
                </a:tc>
              </a:tr>
              <a:tr h="175260">
                <a:tc>
                  <a:txBody>
                    <a:bodyPr wrap="square"/>
                    <a:lstStyle/>
                    <a:p>
                      <a:pPr algn="l"/>
                      <a:r>
                        <a:rPr sz="1100" b="1" i="0">
                          <a:solidFill>
                            <a:srgbClr val="000000"/>
                          </a:solidFill>
                          <a:latin typeface="Calibri"/>
                        </a:rPr>
                        <a:t>25.</a:t>
                      </a:r>
                      <a:r>
                        <a:rPr sz="700" b="1" i="0">
                          <a:solidFill>
                            <a:srgbClr val="000000"/>
                          </a:solidFill>
                          <a:latin typeface="Times New Roman"/>
                        </a:rPr>
                        <a:t>    </a:t>
                      </a:r>
                      <a:r>
                        <a:rPr sz="1100" b="1" i="0">
                          <a:solidFill>
                            <a:srgbClr val="000000"/>
                          </a:solidFill>
                          <a:latin typeface="Calibri"/>
                        </a:rPr>
                        <a:t>Assumptions and Acronyms Used</a:t>
                      </a:r>
                      <a:endParaRPr sz="1100"/>
                    </a:p>
                  </a:txBody>
                  <a:tcPr marL="171450" marR="9525" marT="9525" marB="0" anchor="ctr"/>
                </a:tc>
              </a:tr>
              <a:tr h="175260">
                <a:tc>
                  <a:txBody>
                    <a:bodyPr wrap="square"/>
                    <a:lstStyle/>
                    <a:p>
                      <a:pPr algn="l"/>
                      <a:r>
                        <a:rPr sz="1100" b="1" i="0">
                          <a:solidFill>
                            <a:srgbClr val="000000"/>
                          </a:solidFill>
                          <a:latin typeface="Calibri"/>
                        </a:rPr>
                        <a:t>26.</a:t>
                      </a:r>
                      <a:r>
                        <a:rPr sz="700" b="1" i="0">
                          <a:solidFill>
                            <a:srgbClr val="000000"/>
                          </a:solidFill>
                          <a:latin typeface="Times New Roman"/>
                        </a:rPr>
                        <a:t>    </a:t>
                      </a:r>
                      <a:r>
                        <a:rPr sz="1100" b="1" i="0">
                          <a:solidFill>
                            <a:srgbClr val="000000"/>
                          </a:solidFill>
                          <a:latin typeface="Calibri"/>
                        </a:rPr>
                        <a:t>Research Methodology</a:t>
                      </a:r>
                      <a:endParaRPr sz="1100"/>
                    </a:p>
                  </a:txBody>
                  <a:tcPr marL="171450"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4</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3292475"/>
            <a:ext cx="8572500" cy="514350"/>
          </a:xfrm>
          <a:prstGeom prst="rect">
            <a:avLst/>
          </a:prstGeom>
          <a:noFill/>
        </p:spPr>
        <p:txBody>
          <a:bodyPr wrap="square" lIns="0" rIns="0" tIns="0">
            <a:spAutoFit/>
          </a:bodyPr>
          <a:lstStyle/>
          <a:p>
            <a:r>
              <a:rPr sz="3000" b="1">
                <a:solidFill>
                  <a:srgbClr val="0E2A5C"/>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figure in the full study, by analysis block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table in the full study, by analysis block</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(1/7)</a:t>
            </a:r>
          </a:p>
        </p:txBody>
      </p:sp>
      <p:graphicFrame>
        <p:nvGraphicFramePr>
          <p:cNvPr id="6" name="FMI Contents Table"/>
          <p:cNvGraphicFramePr>
            <a:graphicFrameLocks noGrp="1"/>
          </p:cNvGraphicFramePr>
          <p:nvPr/>
        </p:nvGraphicFramePr>
        <p:xfrm>
          <a:off x="142875"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Figure 1: Global Industrial Air Compressor Market Value, 2021–2025</a:t>
                      </a:r>
                      <a:endParaRPr sz="1050"/>
                    </a:p>
                  </a:txBody>
                  <a:tcPr marL="9525" marR="9525" marT="9525" marB="0" anchor="ctr"/>
                </a:tc>
              </a:tr>
              <a:tr h="170045">
                <a:tc>
                  <a:txBody>
                    <a:bodyPr wrap="square"/>
                    <a:lstStyle/>
                    <a:p>
                      <a:pPr algn="l"/>
                      <a:r>
                        <a:rPr sz="1050" b="0" i="0">
                          <a:solidFill>
                            <a:srgbClr val="000000"/>
                          </a:solidFill>
                          <a:latin typeface="Calibri"/>
                        </a:rPr>
                        <a:t>Figure 2: Global Industrial Air Compressor Market Value, 2026–2036</a:t>
                      </a:r>
                      <a:endParaRPr sz="1050"/>
                    </a:p>
                  </a:txBody>
                  <a:tcPr marL="9525" marR="9525" marT="9525" marB="0" anchor="ctr"/>
                </a:tc>
              </a:tr>
              <a:tr h="170045">
                <a:tc>
                  <a:txBody>
                    <a:bodyPr wrap="square"/>
                    <a:lstStyle/>
                    <a:p>
                      <a:pPr algn="l"/>
                      <a:r>
                        <a:rPr sz="1050" b="0" i="0">
                          <a:solidFill>
                            <a:srgbClr val="000000"/>
                          </a:solidFill>
                          <a:latin typeface="Calibri"/>
                        </a:rPr>
                        <a:t>Figure 3: Global Industrial Air Compressor Market Incremental $ Opportunity, 2026–2036</a:t>
                      </a:r>
                      <a:endParaRPr sz="1050"/>
                    </a:p>
                  </a:txBody>
                  <a:tcPr marL="9525" marR="9525" marT="9525" marB="0" anchor="ctr"/>
                </a:tc>
              </a:tr>
              <a:tr h="170045">
                <a:tc>
                  <a:txBody>
                    <a:bodyPr wrap="square"/>
                    <a:lstStyle/>
                    <a:p>
                      <a:pPr algn="l"/>
                      <a:r>
                        <a:rPr sz="1050" b="0" i="0">
                          <a:solidFill>
                            <a:srgbClr val="000000"/>
                          </a:solidFill>
                          <a:latin typeface="Calibri"/>
                        </a:rPr>
                        <a:t>Figure 4: Global Industrial Air Compressor Market Value, 2026–2036 By Technology</a:t>
                      </a:r>
                      <a:endParaRPr sz="1050"/>
                    </a:p>
                  </a:txBody>
                  <a:tcPr marL="9525" marR="9525" marT="9525" marB="0" anchor="ctr"/>
                </a:tc>
              </a:tr>
              <a:tr h="170045">
                <a:tc>
                  <a:txBody>
                    <a:bodyPr wrap="square"/>
                    <a:lstStyle/>
                    <a:p>
                      <a:pPr algn="l"/>
                      <a:r>
                        <a:rPr sz="1050" b="0" i="0">
                          <a:solidFill>
                            <a:srgbClr val="000000"/>
                          </a:solidFill>
                          <a:latin typeface="Calibri"/>
                        </a:rPr>
                        <a:t>Figure 5: Global Industrial Air Compressor Market Value, 2026–2036 Y-o-Y Comparison By Technology</a:t>
                      </a:r>
                      <a:endParaRPr sz="1050"/>
                    </a:p>
                  </a:txBody>
                  <a:tcPr marL="9525" marR="9525" marT="9525" marB="0" anchor="ctr"/>
                </a:tc>
              </a:tr>
              <a:tr h="170045">
                <a:tc>
                  <a:txBody>
                    <a:bodyPr wrap="square"/>
                    <a:lstStyle/>
                    <a:p>
                      <a:pPr algn="l"/>
                      <a:r>
                        <a:rPr sz="1050" b="0" i="0">
                          <a:solidFill>
                            <a:srgbClr val="000000"/>
                          </a:solidFill>
                          <a:latin typeface="Calibri"/>
                        </a:rPr>
                        <a:t>Figure 6: Global Industrial Air Compressor Market Value, 2026–2036 BPS Analysis By Technology</a:t>
                      </a:r>
                      <a:endParaRPr sz="1050"/>
                    </a:p>
                  </a:txBody>
                  <a:tcPr marL="9525" marR="9525" marT="9525" marB="0" anchor="ctr"/>
                </a:tc>
              </a:tr>
              <a:tr h="170045">
                <a:tc>
                  <a:txBody>
                    <a:bodyPr wrap="square"/>
                    <a:lstStyle/>
                    <a:p>
                      <a:pPr algn="l"/>
                      <a:r>
                        <a:rPr sz="1050" b="0" i="0">
                          <a:solidFill>
                            <a:srgbClr val="000000"/>
                          </a:solidFill>
                          <a:latin typeface="Calibri"/>
                        </a:rPr>
                        <a:t>Figure 7: Global Industrial Air Compressor Market Attractiveness Analysis By Technology</a:t>
                      </a:r>
                      <a:endParaRPr sz="1050"/>
                    </a:p>
                  </a:txBody>
                  <a:tcPr marL="9525" marR="9525" marT="9525" marB="0" anchor="ctr"/>
                </a:tc>
              </a:tr>
              <a:tr h="170045">
                <a:tc>
                  <a:txBody>
                    <a:bodyPr wrap="square"/>
                    <a:lstStyle/>
                    <a:p>
                      <a:pPr algn="l"/>
                      <a:r>
                        <a:rPr sz="1050" b="0" i="0">
                          <a:solidFill>
                            <a:srgbClr val="000000"/>
                          </a:solidFill>
                          <a:latin typeface="Calibri"/>
                        </a:rPr>
                        <a:t>Figure 8: Global Industrial Air Compressor Market Value, 2026–2036 By Capacity</a:t>
                      </a:r>
                      <a:endParaRPr sz="1050"/>
                    </a:p>
                  </a:txBody>
                  <a:tcPr marL="9525" marR="9525" marT="9525" marB="0" anchor="ctr"/>
                </a:tc>
              </a:tr>
              <a:tr h="170045">
                <a:tc>
                  <a:txBody>
                    <a:bodyPr wrap="square"/>
                    <a:lstStyle/>
                    <a:p>
                      <a:pPr algn="l"/>
                      <a:r>
                        <a:rPr sz="1050" b="0" i="0">
                          <a:solidFill>
                            <a:srgbClr val="000000"/>
                          </a:solidFill>
                          <a:latin typeface="Calibri"/>
                        </a:rPr>
                        <a:t>Figure 9: Global Industrial Air Compressor Market Value, 2026–2036 Y-o-Y Comparison By Capacity</a:t>
                      </a:r>
                      <a:endParaRPr sz="1050"/>
                    </a:p>
                  </a:txBody>
                  <a:tcPr marL="9525" marR="9525" marT="9525" marB="0" anchor="ctr"/>
                </a:tc>
              </a:tr>
              <a:tr h="170045">
                <a:tc>
                  <a:txBody>
                    <a:bodyPr wrap="square"/>
                    <a:lstStyle/>
                    <a:p>
                      <a:pPr algn="l"/>
                      <a:r>
                        <a:rPr sz="1050" b="0" i="0">
                          <a:solidFill>
                            <a:srgbClr val="000000"/>
                          </a:solidFill>
                          <a:latin typeface="Calibri"/>
                        </a:rPr>
                        <a:t>Figure 10: Global Industrial Air Compressor Market Value, 2026–2036 BPS Analysis By Capacity</a:t>
                      </a:r>
                      <a:endParaRPr sz="1050"/>
                    </a:p>
                  </a:txBody>
                  <a:tcPr marL="9525" marR="9525" marT="9525" marB="0" anchor="ctr"/>
                </a:tc>
              </a:tr>
              <a:tr h="170045">
                <a:tc>
                  <a:txBody>
                    <a:bodyPr wrap="square"/>
                    <a:lstStyle/>
                    <a:p>
                      <a:pPr algn="l"/>
                      <a:r>
                        <a:rPr sz="1050" b="0" i="0">
                          <a:solidFill>
                            <a:srgbClr val="000000"/>
                          </a:solidFill>
                          <a:latin typeface="Calibri"/>
                        </a:rPr>
                        <a:t>Figure 11: Global Industrial Air Compressor Market Attractiveness Analysis By Capacity</a:t>
                      </a:r>
                      <a:endParaRPr sz="1050"/>
                    </a:p>
                  </a:txBody>
                  <a:tcPr marL="9525" marR="9525" marT="9525" marB="0" anchor="ctr"/>
                </a:tc>
              </a:tr>
              <a:tr h="170045">
                <a:tc>
                  <a:txBody>
                    <a:bodyPr wrap="square"/>
                    <a:lstStyle/>
                    <a:p>
                      <a:pPr algn="l"/>
                      <a:r>
                        <a:rPr sz="1050" b="0" i="0">
                          <a:solidFill>
                            <a:srgbClr val="000000"/>
                          </a:solidFill>
                          <a:latin typeface="Calibri"/>
                        </a:rPr>
                        <a:t>Figure 12: Global Industrial Air Compressor Market Value, 2026–2036 By Compression Stage</a:t>
                      </a:r>
                      <a:endParaRPr sz="1050"/>
                    </a:p>
                  </a:txBody>
                  <a:tcPr marL="9525" marR="9525" marT="9525" marB="0" anchor="ctr"/>
                </a:tc>
              </a:tr>
              <a:tr h="333289">
                <a:tc>
                  <a:txBody>
                    <a:bodyPr wrap="square"/>
                    <a:lstStyle/>
                    <a:p>
                      <a:pPr algn="l"/>
                      <a:r>
                        <a:rPr sz="1050" b="0" i="0">
                          <a:solidFill>
                            <a:srgbClr val="000000"/>
                          </a:solidFill>
                          <a:latin typeface="Calibri"/>
                        </a:rPr>
                        <a:t>Figure 13: Global Industrial Air Compressor Market Value, 2026–2036 Y-o-Y Comparison By Compression Stage</a:t>
                      </a:r>
                      <a:endParaRPr sz="1050"/>
                    </a:p>
                  </a:txBody>
                  <a:tcPr marL="9525" marR="9525" marT="9525" marB="0" anchor="ctr"/>
                </a:tc>
              </a:tr>
              <a:tr h="333289">
                <a:tc>
                  <a:txBody>
                    <a:bodyPr wrap="square"/>
                    <a:lstStyle/>
                    <a:p>
                      <a:pPr algn="l"/>
                      <a:r>
                        <a:rPr sz="1050" b="0" i="0">
                          <a:solidFill>
                            <a:srgbClr val="000000"/>
                          </a:solidFill>
                          <a:latin typeface="Calibri"/>
                        </a:rPr>
                        <a:t>Figure 14: Global Industrial Air Compressor Market Value, 2026–2036 BPS Analysis By Compression Stage</a:t>
                      </a:r>
                      <a:endParaRPr sz="1050"/>
                    </a:p>
                  </a:txBody>
                  <a:tcPr marL="9525" marR="9525" marT="9525" marB="0" anchor="ctr"/>
                </a:tc>
              </a:tr>
              <a:tr h="170045">
                <a:tc>
                  <a:txBody>
                    <a:bodyPr wrap="square"/>
                    <a:lstStyle/>
                    <a:p>
                      <a:pPr algn="l"/>
                      <a:r>
                        <a:rPr sz="1050" b="0" i="0">
                          <a:solidFill>
                            <a:srgbClr val="000000"/>
                          </a:solidFill>
                          <a:latin typeface="Calibri"/>
                        </a:rPr>
                        <a:t>Figure 15: Global Industrial Air Compressor Market Attractiveness Analysis By Compression Stage</a:t>
                      </a:r>
                      <a:endParaRPr sz="1050"/>
                    </a:p>
                  </a:txBody>
                  <a:tcPr marL="9525" marR="9525" marT="9525" marB="0" anchor="ctr"/>
                </a:tc>
              </a:tr>
              <a:tr h="170045">
                <a:tc>
                  <a:txBody>
                    <a:bodyPr wrap="square"/>
                    <a:lstStyle/>
                    <a:p>
                      <a:pPr algn="l"/>
                      <a:r>
                        <a:rPr sz="1050" b="0" i="0">
                          <a:solidFill>
                            <a:srgbClr val="000000"/>
                          </a:solidFill>
                          <a:latin typeface="Calibri"/>
                        </a:rPr>
                        <a:t>Figure 16: Global Industrial Air Compressor Market Value, 2026–2036 By End Use</a:t>
                      </a:r>
                      <a:endParaRPr sz="1050"/>
                    </a:p>
                  </a:txBody>
                  <a:tcPr marL="9525" marR="9525" marT="9525" marB="0" anchor="ctr"/>
                </a:tc>
              </a:tr>
              <a:tr h="170045">
                <a:tc>
                  <a:txBody>
                    <a:bodyPr wrap="square"/>
                    <a:lstStyle/>
                    <a:p>
                      <a:pPr algn="l"/>
                      <a:r>
                        <a:rPr sz="1050" b="0" i="0">
                          <a:solidFill>
                            <a:srgbClr val="000000"/>
                          </a:solidFill>
                          <a:latin typeface="Calibri"/>
                        </a:rPr>
                        <a:t>Figure 17: Global Industrial Air Compressor Market Value, 2026–2036 Y-o-Y Comparison By End Use</a:t>
                      </a:r>
                      <a:endParaRPr sz="1050"/>
                    </a:p>
                  </a:txBody>
                  <a:tcPr marL="9525" marR="9525" marT="9525" marB="0" anchor="ctr"/>
                </a:tc>
              </a:tr>
              <a:tr h="170045">
                <a:tc>
                  <a:txBody>
                    <a:bodyPr wrap="square"/>
                    <a:lstStyle/>
                    <a:p>
                      <a:pPr algn="l"/>
                      <a:r>
                        <a:rPr sz="1050" b="0" i="0">
                          <a:solidFill>
                            <a:srgbClr val="000000"/>
                          </a:solidFill>
                          <a:latin typeface="Calibri"/>
                        </a:rPr>
                        <a:t>Figure 18: Global Industrial Air Compressor Market Value, 2026–2036 BPS Analysis By End Use</a:t>
                      </a:r>
                      <a:endParaRPr sz="1050"/>
                    </a:p>
                  </a:txBody>
                  <a:tcPr marL="9525" marR="9525" marT="9525" marB="0" anchor="ctr"/>
                </a:tc>
              </a:tr>
              <a:tr h="170045">
                <a:tc>
                  <a:txBody>
                    <a:bodyPr wrap="square"/>
                    <a:lstStyle/>
                    <a:p>
                      <a:pPr algn="l"/>
                      <a:r>
                        <a:rPr sz="1050" b="0" i="0">
                          <a:solidFill>
                            <a:srgbClr val="000000"/>
                          </a:solidFill>
                          <a:latin typeface="Calibri"/>
                        </a:rPr>
                        <a:t>Figure 19: Global Industrial Air Compressor Market Attractiveness Analysis By End Use</a:t>
                      </a:r>
                      <a:endParaRPr sz="1050"/>
                    </a:p>
                  </a:txBody>
                  <a:tcPr marL="9525" marR="9525" marT="9525" marB="0" anchor="ctr"/>
                </a:tc>
              </a:tr>
              <a:tr h="170045">
                <a:tc>
                  <a:txBody>
                    <a:bodyPr wrap="square"/>
                    <a:lstStyle/>
                    <a:p>
                      <a:pPr algn="l"/>
                      <a:r>
                        <a:rPr sz="1050" b="0" i="0">
                          <a:solidFill>
                            <a:srgbClr val="000000"/>
                          </a:solidFill>
                          <a:latin typeface="Calibri"/>
                        </a:rPr>
                        <a:t>Figure 20: Global Industrial Air Compressor Market Value, 2026–2036 By Driver Type</a:t>
                      </a:r>
                      <a:endParaRPr sz="1050"/>
                    </a:p>
                  </a:txBody>
                  <a:tcPr marL="9525" marR="9525" marT="9525" marB="0" anchor="ctr"/>
                </a:tc>
              </a:tr>
              <a:tr h="170045">
                <a:tc>
                  <a:txBody>
                    <a:bodyPr wrap="square"/>
                    <a:lstStyle/>
                    <a:p>
                      <a:pPr algn="l"/>
                      <a:r>
                        <a:rPr sz="1050" b="0" i="0">
                          <a:solidFill>
                            <a:srgbClr val="000000"/>
                          </a:solidFill>
                          <a:latin typeface="Calibri"/>
                        </a:rPr>
                        <a:t>Figure 21: Global Industrial Air Compressor Market Value, 2026–2036 Y-o-Y Comparison By Driver Type</a:t>
                      </a:r>
                      <a:endParaRPr sz="1050"/>
                    </a:p>
                  </a:txBody>
                  <a:tcPr marL="9525" marR="9525" marT="9525" marB="0" anchor="ctr"/>
                </a:tc>
              </a:tr>
              <a:tr h="170045">
                <a:tc>
                  <a:txBody>
                    <a:bodyPr wrap="square"/>
                    <a:lstStyle/>
                    <a:p>
                      <a:pPr algn="l"/>
                      <a:r>
                        <a:rPr sz="1050" b="0" i="0">
                          <a:solidFill>
                            <a:srgbClr val="000000"/>
                          </a:solidFill>
                          <a:latin typeface="Calibri"/>
                        </a:rPr>
                        <a:t>Figure 22: Global Industrial Air Compressor Market Value, 2026–2036 BPS Analysis By Driver Type</a:t>
                      </a:r>
                      <a:endParaRPr sz="1050"/>
                    </a:p>
                  </a:txBody>
                  <a:tcPr marL="9525" marR="9525" marT="9525" marB="0" anchor="ctr"/>
                </a:tc>
              </a:tr>
              <a:tr h="170045">
                <a:tc>
                  <a:txBody>
                    <a:bodyPr wrap="square"/>
                    <a:lstStyle/>
                    <a:p>
                      <a:pPr algn="l"/>
                      <a:r>
                        <a:rPr sz="1050" b="0" i="0">
                          <a:solidFill>
                            <a:srgbClr val="000000"/>
                          </a:solidFill>
                          <a:latin typeface="Calibri"/>
                        </a:rPr>
                        <a:t>Figure 23: Global Industrial Air Compressor Market Attractiveness Analysis By Driver Type</a:t>
                      </a:r>
                      <a:endParaRPr sz="1050"/>
                    </a:p>
                  </a:txBody>
                  <a:tcPr marL="9525" marR="9525" marT="9525" marB="0" anchor="ctr"/>
                </a:tc>
              </a:tr>
              <a:tr h="170045">
                <a:tc>
                  <a:txBody>
                    <a:bodyPr wrap="square"/>
                    <a:lstStyle/>
                    <a:p>
                      <a:pPr algn="l"/>
                      <a:r>
                        <a:rPr sz="1050" b="0" i="0">
                          <a:solidFill>
                            <a:srgbClr val="000000"/>
                          </a:solidFill>
                          <a:latin typeface="Calibri"/>
                        </a:rPr>
                        <a:t>Figure 24: Global Industrial Air Compressor Market Value, 2026–2036 By Region</a:t>
                      </a:r>
                      <a:endParaRPr sz="1050"/>
                    </a:p>
                  </a:txBody>
                  <a:tcPr marL="9525" marR="9525" marT="9525" marB="0" anchor="ctr"/>
                </a:tc>
              </a:tr>
              <a:tr h="170045">
                <a:tc>
                  <a:txBody>
                    <a:bodyPr wrap="square"/>
                    <a:lstStyle/>
                    <a:p>
                      <a:pPr algn="l"/>
                      <a:r>
                        <a:rPr sz="1050" b="0" i="0">
                          <a:solidFill>
                            <a:srgbClr val="000000"/>
                          </a:solidFill>
                          <a:latin typeface="Calibri"/>
                        </a:rPr>
                        <a:t>Figure 25: Global Industrial Air Compressor Market Value, 2026–2036 Y-o-Y Comparison By Region</a:t>
                      </a:r>
                      <a:endParaRPr sz="1050"/>
                    </a:p>
                  </a:txBody>
                  <a:tcPr marL="9525" marR="9525" marT="9525" marB="0" anchor="ctr"/>
                </a:tc>
              </a:tr>
              <a:tr h="170045">
                <a:tc>
                  <a:txBody>
                    <a:bodyPr wrap="square"/>
                    <a:lstStyle/>
                    <a:p>
                      <a:pPr algn="l"/>
                      <a:r>
                        <a:rPr sz="1050" b="0" i="0">
                          <a:solidFill>
                            <a:srgbClr val="000000"/>
                          </a:solidFill>
                          <a:latin typeface="Calibri"/>
                        </a:rPr>
                        <a:t>Figure 26: Global Industrial Air Compressor Market Value, 2026–2036 BPS Analysis By Region</a:t>
                      </a:r>
                      <a:endParaRPr sz="1050"/>
                    </a:p>
                  </a:txBody>
                  <a:tcPr marL="9525" marR="9525" marT="9525" marB="0" anchor="ctr"/>
                </a:tc>
              </a:tr>
              <a:tr h="170045">
                <a:tc>
                  <a:txBody>
                    <a:bodyPr wrap="square"/>
                    <a:lstStyle/>
                    <a:p>
                      <a:pPr algn="l"/>
                      <a:r>
                        <a:rPr sz="1050" b="0" i="0">
                          <a:solidFill>
                            <a:srgbClr val="000000"/>
                          </a:solidFill>
                          <a:latin typeface="Calibri"/>
                        </a:rPr>
                        <a:t>Figure 27: Global Industrial Air Compressor Market Attractiveness Analysis By Region</a:t>
                      </a:r>
                      <a:endParaRPr sz="1050"/>
                    </a:p>
                  </a:txBody>
                  <a:tcPr marL="9525" marR="9525" marT="9525" marB="0" anchor="ctr"/>
                </a:tc>
              </a:tr>
              <a:tr h="170045">
                <a:tc>
                  <a:txBody>
                    <a:bodyPr wrap="square"/>
                    <a:lstStyle/>
                    <a:p>
                      <a:pPr algn="l"/>
                      <a:r>
                        <a:rPr sz="1050" b="0" i="0">
                          <a:solidFill>
                            <a:srgbClr val="000000"/>
                          </a:solidFill>
                          <a:latin typeface="Calibri"/>
                        </a:rPr>
                        <a:t>Figure 28: North America Industrial Air Compressor Market Value, 2021–2036</a:t>
                      </a:r>
                      <a:endParaRPr sz="1050"/>
                    </a:p>
                  </a:txBody>
                  <a:tcPr marL="9525" marR="9525" marT="9525" marB="0" anchor="ctr"/>
                </a:tc>
              </a:tr>
              <a:tr h="170045">
                <a:tc>
                  <a:txBody>
                    <a:bodyPr wrap="square"/>
                    <a:lstStyle/>
                    <a:p>
                      <a:pPr algn="l"/>
                      <a:r>
                        <a:rPr sz="1050" b="0" i="0">
                          <a:solidFill>
                            <a:srgbClr val="000000"/>
                          </a:solidFill>
                          <a:latin typeface="Calibri"/>
                        </a:rPr>
                        <a:t>Figure 29: North America Industrial Air Compressor Market Incremental $ Opportunity, 2026–2036</a:t>
                      </a:r>
                      <a:endParaRPr sz="1050"/>
                    </a:p>
                  </a:txBody>
                  <a:tcPr marL="9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806"/>
        </p:xfrm>
        <a:graphic>
          <a:graphicData uri="http://schemas.openxmlformats.org/drawingml/2006/table">
            <a:tbl>
              <a:tblPr>
                <a:tableStyleId>{3B4B98B0-60AC-42C2-AFA5-B58CD77FA1E5}</a:tableStyleId>
              </a:tblPr>
              <a:tblGrid>
                <a:gridCol w="5876925"/>
              </a:tblGrid>
              <a:tr h="177389">
                <a:tc>
                  <a:txBody>
                    <a:bodyPr wrap="square"/>
                    <a:lstStyle/>
                    <a:p>
                      <a:pPr algn="l"/>
                      <a:r>
                        <a:rPr sz="1050" b="0" i="0">
                          <a:solidFill>
                            <a:srgbClr val="000000"/>
                          </a:solidFill>
                          <a:latin typeface="Calibri"/>
                        </a:rPr>
                        <a:t>Figure 30: North America Industrial Air Compressor Market Value, 2026–2036 By Technology</a:t>
                      </a:r>
                      <a:endParaRPr sz="1050"/>
                    </a:p>
                  </a:txBody>
                  <a:tcPr marL="9525" marR="9525" marT="9525" marB="0" anchor="ctr"/>
                </a:tc>
              </a:tr>
              <a:tr h="347682">
                <a:tc>
                  <a:txBody>
                    <a:bodyPr wrap="square"/>
                    <a:lstStyle/>
                    <a:p>
                      <a:pPr algn="l"/>
                      <a:r>
                        <a:rPr sz="1050" b="0" i="0">
                          <a:solidFill>
                            <a:srgbClr val="000000"/>
                          </a:solidFill>
                          <a:latin typeface="Calibri"/>
                        </a:rPr>
                        <a:t>Figure 31: North America Industrial Air Compressor Market Value, 2026–2036 Y-o-Y Comparison By Technology</a:t>
                      </a:r>
                      <a:endParaRPr sz="1050"/>
                    </a:p>
                  </a:txBody>
                  <a:tcPr marL="9525" marR="9525" marT="9525" marB="0" anchor="ctr"/>
                </a:tc>
              </a:tr>
              <a:tr h="347682">
                <a:tc>
                  <a:txBody>
                    <a:bodyPr wrap="square"/>
                    <a:lstStyle/>
                    <a:p>
                      <a:pPr algn="l"/>
                      <a:r>
                        <a:rPr sz="1050" b="0" i="0">
                          <a:solidFill>
                            <a:srgbClr val="000000"/>
                          </a:solidFill>
                          <a:latin typeface="Calibri"/>
                        </a:rPr>
                        <a:t>Figure 32: North America Industrial Air Compressor Market Value, 2026–2036 BPS Analysis By Technology</a:t>
                      </a:r>
                      <a:endParaRPr sz="1050"/>
                    </a:p>
                  </a:txBody>
                  <a:tcPr marL="9525" marR="9525" marT="9525" marB="0" anchor="ctr"/>
                </a:tc>
              </a:tr>
              <a:tr h="177389">
                <a:tc>
                  <a:txBody>
                    <a:bodyPr wrap="square"/>
                    <a:lstStyle/>
                    <a:p>
                      <a:pPr algn="l"/>
                      <a:r>
                        <a:rPr sz="1050" b="0" i="0">
                          <a:solidFill>
                            <a:srgbClr val="000000"/>
                          </a:solidFill>
                          <a:latin typeface="Calibri"/>
                        </a:rPr>
                        <a:t>Figure 33: North America Industrial Air Compressor Market Attractiveness Analysis By Technology</a:t>
                      </a:r>
                      <a:endParaRPr sz="1050"/>
                    </a:p>
                  </a:txBody>
                  <a:tcPr marL="9525" marR="9525" marT="9525" marB="0" anchor="ctr"/>
                </a:tc>
              </a:tr>
              <a:tr h="177389">
                <a:tc>
                  <a:txBody>
                    <a:bodyPr wrap="square"/>
                    <a:lstStyle/>
                    <a:p>
                      <a:pPr algn="l"/>
                      <a:r>
                        <a:rPr sz="1050" b="0" i="0">
                          <a:solidFill>
                            <a:srgbClr val="000000"/>
                          </a:solidFill>
                          <a:latin typeface="Calibri"/>
                        </a:rPr>
                        <a:t>Figure 34: North America Industrial Air Compressor Market Value, 2026–2036 By Capacity</a:t>
                      </a:r>
                      <a:endParaRPr sz="1050"/>
                    </a:p>
                  </a:txBody>
                  <a:tcPr marL="9525" marR="9525" marT="9525" marB="0" anchor="ctr"/>
                </a:tc>
              </a:tr>
              <a:tr h="347682">
                <a:tc>
                  <a:txBody>
                    <a:bodyPr wrap="square"/>
                    <a:lstStyle/>
                    <a:p>
                      <a:pPr algn="l"/>
                      <a:r>
                        <a:rPr sz="1050" b="0" i="0">
                          <a:solidFill>
                            <a:srgbClr val="000000"/>
                          </a:solidFill>
                          <a:latin typeface="Calibri"/>
                        </a:rPr>
                        <a:t>Figure 35: North America Industrial Air Compressor Market Value, 2026–2036 Y-o-Y Comparison By Capacity</a:t>
                      </a:r>
                      <a:endParaRPr sz="1050"/>
                    </a:p>
                  </a:txBody>
                  <a:tcPr marL="9525" marR="9525" marT="9525" marB="0" anchor="ctr"/>
                </a:tc>
              </a:tr>
              <a:tr h="177389">
                <a:tc>
                  <a:txBody>
                    <a:bodyPr wrap="square"/>
                    <a:lstStyle/>
                    <a:p>
                      <a:pPr algn="l"/>
                      <a:r>
                        <a:rPr sz="1050" b="0" i="0">
                          <a:solidFill>
                            <a:srgbClr val="000000"/>
                          </a:solidFill>
                          <a:latin typeface="Calibri"/>
                        </a:rPr>
                        <a:t>Figure 36: North America Industrial Air Compressor Market Value, 2026–2036 BPS Analysis By Capacity</a:t>
                      </a:r>
                      <a:endParaRPr sz="1050"/>
                    </a:p>
                  </a:txBody>
                  <a:tcPr marL="9525" marR="9525" marT="9525" marB="0" anchor="ctr"/>
                </a:tc>
              </a:tr>
              <a:tr h="177389">
                <a:tc>
                  <a:txBody>
                    <a:bodyPr wrap="square"/>
                    <a:lstStyle/>
                    <a:p>
                      <a:pPr algn="l"/>
                      <a:r>
                        <a:rPr sz="1050" b="0" i="0">
                          <a:solidFill>
                            <a:srgbClr val="000000"/>
                          </a:solidFill>
                          <a:latin typeface="Calibri"/>
                        </a:rPr>
                        <a:t>Figure 37: North America Industrial Air Compressor Market Attractiveness Analysis By Capacity</a:t>
                      </a:r>
                      <a:endParaRPr sz="1050"/>
                    </a:p>
                  </a:txBody>
                  <a:tcPr marL="9525" marR="9525" marT="9525" marB="0" anchor="ctr"/>
                </a:tc>
              </a:tr>
              <a:tr h="177389">
                <a:tc>
                  <a:txBody>
                    <a:bodyPr wrap="square"/>
                    <a:lstStyle/>
                    <a:p>
                      <a:pPr algn="l"/>
                      <a:r>
                        <a:rPr sz="1050" b="0" i="0">
                          <a:solidFill>
                            <a:srgbClr val="000000"/>
                          </a:solidFill>
                          <a:latin typeface="Calibri"/>
                        </a:rPr>
                        <a:t>Figure 38: North America Industrial Air Compressor Market Value, 2026–2036 By Driver Type</a:t>
                      </a:r>
                      <a:endParaRPr sz="1050"/>
                    </a:p>
                  </a:txBody>
                  <a:tcPr marL="9525" marR="9525" marT="9525" marB="0" anchor="ctr"/>
                </a:tc>
              </a:tr>
              <a:tr h="347682">
                <a:tc>
                  <a:txBody>
                    <a:bodyPr wrap="square"/>
                    <a:lstStyle/>
                    <a:p>
                      <a:pPr algn="l"/>
                      <a:r>
                        <a:rPr sz="1050" b="0" i="0">
                          <a:solidFill>
                            <a:srgbClr val="000000"/>
                          </a:solidFill>
                          <a:latin typeface="Calibri"/>
                        </a:rPr>
                        <a:t>Figure 39: North America Industrial Air Compressor Market Value, 2026–2036 Y-o-Y Comparison By Driver Type</a:t>
                      </a:r>
                      <a:endParaRPr sz="1050"/>
                    </a:p>
                  </a:txBody>
                  <a:tcPr marL="9525" marR="9525" marT="9525" marB="0" anchor="ctr"/>
                </a:tc>
              </a:tr>
              <a:tr h="347682">
                <a:tc>
                  <a:txBody>
                    <a:bodyPr wrap="square"/>
                    <a:lstStyle/>
                    <a:p>
                      <a:pPr algn="l"/>
                      <a:r>
                        <a:rPr sz="1050" b="0" i="0">
                          <a:solidFill>
                            <a:srgbClr val="000000"/>
                          </a:solidFill>
                          <a:latin typeface="Calibri"/>
                        </a:rPr>
                        <a:t>Figure 40: North America Industrial Air Compressor Market Value, 2026–2036 BPS Analysis By Driver Type</a:t>
                      </a:r>
                      <a:endParaRPr sz="1050"/>
                    </a:p>
                  </a:txBody>
                  <a:tcPr marL="9525" marR="9525" marT="9525" marB="0" anchor="ctr"/>
                </a:tc>
              </a:tr>
              <a:tr h="177389">
                <a:tc>
                  <a:txBody>
                    <a:bodyPr wrap="square"/>
                    <a:lstStyle/>
                    <a:p>
                      <a:pPr algn="l"/>
                      <a:r>
                        <a:rPr sz="1050" b="0" i="0">
                          <a:solidFill>
                            <a:srgbClr val="000000"/>
                          </a:solidFill>
                          <a:latin typeface="Calibri"/>
                        </a:rPr>
                        <a:t>Figure 41: North America Industrial Air Compressor Market Attractiveness Analysis By Driver Type</a:t>
                      </a:r>
                      <a:endParaRPr sz="1050"/>
                    </a:p>
                  </a:txBody>
                  <a:tcPr marL="9525" marR="9525" marT="9525" marB="0" anchor="ctr"/>
                </a:tc>
              </a:tr>
              <a:tr h="177389">
                <a:tc>
                  <a:txBody>
                    <a:bodyPr wrap="square"/>
                    <a:lstStyle/>
                    <a:p>
                      <a:pPr algn="l"/>
                      <a:r>
                        <a:rPr sz="1050" b="0" i="0">
                          <a:solidFill>
                            <a:srgbClr val="000000"/>
                          </a:solidFill>
                          <a:latin typeface="Calibri"/>
                        </a:rPr>
                        <a:t>Figure 42: North America Industrial Air Compressor Market Value, 2026–2036 By End Use</a:t>
                      </a:r>
                      <a:endParaRPr sz="1050"/>
                    </a:p>
                  </a:txBody>
                  <a:tcPr marL="9525" marR="9525" marT="9525" marB="0" anchor="ctr"/>
                </a:tc>
              </a:tr>
              <a:tr h="347682">
                <a:tc>
                  <a:txBody>
                    <a:bodyPr wrap="square"/>
                    <a:lstStyle/>
                    <a:p>
                      <a:pPr algn="l"/>
                      <a:r>
                        <a:rPr sz="1050" b="0" i="0">
                          <a:solidFill>
                            <a:srgbClr val="000000"/>
                          </a:solidFill>
                          <a:latin typeface="Calibri"/>
                        </a:rPr>
                        <a:t>Figure 43: North America Industrial Air Compressor Market Value, 2026–2036 Y-o-Y Comparison By End Use</a:t>
                      </a:r>
                      <a:endParaRPr sz="1050"/>
                    </a:p>
                  </a:txBody>
                  <a:tcPr marL="9525" marR="9525" marT="9525" marB="0" anchor="ctr"/>
                </a:tc>
              </a:tr>
              <a:tr h="177389">
                <a:tc>
                  <a:txBody>
                    <a:bodyPr wrap="square"/>
                    <a:lstStyle/>
                    <a:p>
                      <a:pPr algn="l"/>
                      <a:r>
                        <a:rPr sz="1050" b="0" i="0">
                          <a:solidFill>
                            <a:srgbClr val="000000"/>
                          </a:solidFill>
                          <a:latin typeface="Calibri"/>
                        </a:rPr>
                        <a:t>Figure 44: North America Industrial Air Compressor Market Value, 2026–2036 BPS Analysis By End Use</a:t>
                      </a:r>
                      <a:endParaRPr sz="1050"/>
                    </a:p>
                  </a:txBody>
                  <a:tcPr marL="9525" marR="9525" marT="9525" marB="0" anchor="ctr"/>
                </a:tc>
              </a:tr>
              <a:tr h="177389">
                <a:tc>
                  <a:txBody>
                    <a:bodyPr wrap="square"/>
                    <a:lstStyle/>
                    <a:p>
                      <a:pPr algn="l"/>
                      <a:r>
                        <a:rPr sz="1050" b="0" i="0">
                          <a:solidFill>
                            <a:srgbClr val="000000"/>
                          </a:solidFill>
                          <a:latin typeface="Calibri"/>
                        </a:rPr>
                        <a:t>Figure 45: North America Industrial Air Compressor Market Attractiveness Analysis By End Use</a:t>
                      </a:r>
                      <a:endParaRPr sz="1050"/>
                    </a:p>
                  </a:txBody>
                  <a:tcPr marL="9525" marR="9525" marT="9525" marB="0" anchor="ctr"/>
                </a:tc>
              </a:tr>
              <a:tr h="177389">
                <a:tc>
                  <a:txBody>
                    <a:bodyPr wrap="square"/>
                    <a:lstStyle/>
                    <a:p>
                      <a:pPr algn="l"/>
                      <a:r>
                        <a:rPr sz="1050" b="0" i="0">
                          <a:solidFill>
                            <a:srgbClr val="000000"/>
                          </a:solidFill>
                          <a:latin typeface="Calibri"/>
                        </a:rPr>
                        <a:t>Figure 46: North America Industrial Air Compressor Market Value, 2026–2036 By Compression Stage</a:t>
                      </a:r>
                      <a:endParaRPr sz="1050"/>
                    </a:p>
                  </a:txBody>
                  <a:tcPr marL="9525" marR="9525" marT="9525" marB="0" anchor="ctr"/>
                </a:tc>
              </a:tr>
              <a:tr h="347682">
                <a:tc>
                  <a:txBody>
                    <a:bodyPr wrap="square"/>
                    <a:lstStyle/>
                    <a:p>
                      <a:pPr algn="l"/>
                      <a:r>
                        <a:rPr sz="1050" b="0" i="0">
                          <a:solidFill>
                            <a:srgbClr val="000000"/>
                          </a:solidFill>
                          <a:latin typeface="Calibri"/>
                        </a:rPr>
                        <a:t>Figure 47: North America Industrial Air Compressor Market Value, 2026–2036 Y-o-Y Comparison By Compression Stage</a:t>
                      </a:r>
                      <a:endParaRPr sz="1050"/>
                    </a:p>
                  </a:txBody>
                  <a:tcPr marL="9525" marR="9525" marT="9525" marB="0" anchor="ctr"/>
                </a:tc>
              </a:tr>
              <a:tr h="347682">
                <a:tc>
                  <a:txBody>
                    <a:bodyPr wrap="square"/>
                    <a:lstStyle/>
                    <a:p>
                      <a:pPr algn="l"/>
                      <a:r>
                        <a:rPr sz="1050" b="0" i="0">
                          <a:solidFill>
                            <a:srgbClr val="000000"/>
                          </a:solidFill>
                          <a:latin typeface="Calibri"/>
                        </a:rPr>
                        <a:t>Figure 48: North America Industrial Air Compressor Market Value, 2026–2036 BPS Analysis By Compression Stage</a:t>
                      </a:r>
                      <a:endParaRPr sz="1050"/>
                    </a:p>
                  </a:txBody>
                  <a:tcPr marL="9525" marR="9525" marT="9525" marB="0" anchor="ctr"/>
                </a:tc>
              </a:tr>
              <a:tr h="347682">
                <a:tc>
                  <a:txBody>
                    <a:bodyPr wrap="square"/>
                    <a:lstStyle/>
                    <a:p>
                      <a:pPr algn="l"/>
                      <a:r>
                        <a:rPr sz="1050" b="0" i="0">
                          <a:solidFill>
                            <a:srgbClr val="000000"/>
                          </a:solidFill>
                          <a:latin typeface="Calibri"/>
                        </a:rPr>
                        <a:t>Figure 49: North America Industrial Air Compressor Market Attractiveness Analysis By Compression Stage</a:t>
                      </a:r>
                      <a:endParaRPr sz="1050"/>
                    </a:p>
                  </a:txBody>
                  <a:tcPr marL="9525" marR="9525" marT="9525" marB="0" anchor="ctr"/>
                </a:tc>
              </a:tr>
              <a:tr h="177389">
                <a:tc>
                  <a:txBody>
                    <a:bodyPr wrap="square"/>
                    <a:lstStyle/>
                    <a:p>
                      <a:pPr algn="l"/>
                      <a:r>
                        <a:rPr sz="1050" b="0" i="0">
                          <a:solidFill>
                            <a:srgbClr val="000000"/>
                          </a:solidFill>
                          <a:latin typeface="Calibri"/>
                        </a:rPr>
                        <a:t>Figure 50: North America Industrial Air Compressor Market Value, 2026–2036 By Country</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(2/7)</a:t>
            </a:r>
          </a:p>
        </p:txBody>
      </p:sp>
      <p:graphicFrame>
        <p:nvGraphicFramePr>
          <p:cNvPr id="6" name="FMI Contents Table"/>
          <p:cNvGraphicFramePr>
            <a:graphicFrameLocks noGrp="1"/>
          </p:cNvGraphicFramePr>
          <p:nvPr/>
        </p:nvGraphicFramePr>
        <p:xfrm>
          <a:off x="142875" y="981075"/>
          <a:ext cx="5876925" cy="5257790"/>
        </p:xfrm>
        <a:graphic>
          <a:graphicData uri="http://schemas.openxmlformats.org/drawingml/2006/table">
            <a:tbl>
              <a:tblPr>
                <a:tableStyleId>{3B4B98B0-60AC-42C2-AFA5-B58CD77FA1E5}</a:tableStyleId>
              </a:tblPr>
              <a:tblGrid>
                <a:gridCol w="5876925"/>
              </a:tblGrid>
              <a:tr h="334153">
                <a:tc>
                  <a:txBody>
                    <a:bodyPr wrap="square"/>
                    <a:lstStyle/>
                    <a:p>
                      <a:pPr algn="l"/>
                      <a:r>
                        <a:rPr sz="1050" b="0" i="0">
                          <a:solidFill>
                            <a:srgbClr val="000000"/>
                          </a:solidFill>
                          <a:latin typeface="Calibri"/>
                        </a:rPr>
                        <a:t>Figure 51: North America Industrial Air Compressor Market Value, 2026–2036 Y-o-Y Comparison By Country</a:t>
                      </a:r>
                      <a:endParaRPr sz="1050"/>
                    </a:p>
                  </a:txBody>
                  <a:tcPr marL="9525" marR="9525" marT="9525" marB="0" anchor="ctr"/>
                </a:tc>
              </a:tr>
              <a:tr h="170486">
                <a:tc>
                  <a:txBody>
                    <a:bodyPr wrap="square"/>
                    <a:lstStyle/>
                    <a:p>
                      <a:pPr algn="l"/>
                      <a:r>
                        <a:rPr sz="1050" b="0" i="0">
                          <a:solidFill>
                            <a:srgbClr val="000000"/>
                          </a:solidFill>
                          <a:latin typeface="Calibri"/>
                        </a:rPr>
                        <a:t>Figure 52: North America Industrial Air Compressor Market Value, 2026–2036 BPS Analysis By Country</a:t>
                      </a:r>
                      <a:endParaRPr sz="1050"/>
                    </a:p>
                  </a:txBody>
                  <a:tcPr marL="9525" marR="9525" marT="9525" marB="0" anchor="ctr"/>
                </a:tc>
              </a:tr>
              <a:tr h="170486">
                <a:tc>
                  <a:txBody>
                    <a:bodyPr wrap="square"/>
                    <a:lstStyle/>
                    <a:p>
                      <a:pPr algn="l"/>
                      <a:r>
                        <a:rPr sz="1050" b="0" i="0">
                          <a:solidFill>
                            <a:srgbClr val="000000"/>
                          </a:solidFill>
                          <a:latin typeface="Calibri"/>
                        </a:rPr>
                        <a:t>Figure 53: North America Industrial Air Compressor Market Attractiveness Analysis By Country</a:t>
                      </a:r>
                      <a:endParaRPr sz="1050"/>
                    </a:p>
                  </a:txBody>
                  <a:tcPr marL="9525" marR="9525" marT="9525" marB="0" anchor="ctr"/>
                </a:tc>
              </a:tr>
              <a:tr h="170486">
                <a:tc>
                  <a:txBody>
                    <a:bodyPr wrap="square"/>
                    <a:lstStyle/>
                    <a:p>
                      <a:pPr algn="l"/>
                      <a:r>
                        <a:rPr sz="1050" b="0" i="0">
                          <a:solidFill>
                            <a:srgbClr val="000000"/>
                          </a:solidFill>
                          <a:latin typeface="Calibri"/>
                        </a:rPr>
                        <a:t>Figure 54: U.S. Industrial Air Compressor Market Value, 2026–2036, By Technology</a:t>
                      </a:r>
                      <a:endParaRPr sz="1050"/>
                    </a:p>
                  </a:txBody>
                  <a:tcPr marL="9525" marR="9525" marT="9525" marB="0" anchor="ctr"/>
                </a:tc>
              </a:tr>
              <a:tr h="170486">
                <a:tc>
                  <a:txBody>
                    <a:bodyPr wrap="square"/>
                    <a:lstStyle/>
                    <a:p>
                      <a:pPr algn="l"/>
                      <a:r>
                        <a:rPr sz="1050" b="0" i="0">
                          <a:solidFill>
                            <a:srgbClr val="000000"/>
                          </a:solidFill>
                          <a:latin typeface="Calibri"/>
                        </a:rPr>
                        <a:t>Figure 55: U.S. Industrial Air Compressor Market Value, 2026–2036, By Capacity</a:t>
                      </a:r>
                      <a:endParaRPr sz="1050"/>
                    </a:p>
                  </a:txBody>
                  <a:tcPr marL="9525" marR="9525" marT="9525" marB="0" anchor="ctr"/>
                </a:tc>
              </a:tr>
              <a:tr h="170486">
                <a:tc>
                  <a:txBody>
                    <a:bodyPr wrap="square"/>
                    <a:lstStyle/>
                    <a:p>
                      <a:pPr algn="l"/>
                      <a:r>
                        <a:rPr sz="1050" b="0" i="0">
                          <a:solidFill>
                            <a:srgbClr val="000000"/>
                          </a:solidFill>
                          <a:latin typeface="Calibri"/>
                        </a:rPr>
                        <a:t>Figure 56: U.S. Industrial Air Compressor Market Value, 2026–2036, By Driver Type</a:t>
                      </a:r>
                      <a:endParaRPr sz="1050"/>
                    </a:p>
                  </a:txBody>
                  <a:tcPr marL="9525" marR="9525" marT="9525" marB="0" anchor="ctr"/>
                </a:tc>
              </a:tr>
              <a:tr h="170486">
                <a:tc>
                  <a:txBody>
                    <a:bodyPr wrap="square"/>
                    <a:lstStyle/>
                    <a:p>
                      <a:pPr algn="l"/>
                      <a:r>
                        <a:rPr sz="1050" b="0" i="0">
                          <a:solidFill>
                            <a:srgbClr val="000000"/>
                          </a:solidFill>
                          <a:latin typeface="Calibri"/>
                        </a:rPr>
                        <a:t>Figure 57: U.S. Industrial Air Compressor Market Value, 2026–2036, By Compression Stage</a:t>
                      </a:r>
                      <a:endParaRPr sz="1050"/>
                    </a:p>
                  </a:txBody>
                  <a:tcPr marL="9525" marR="9525" marT="9525" marB="0" anchor="ctr"/>
                </a:tc>
              </a:tr>
              <a:tr h="170486">
                <a:tc>
                  <a:txBody>
                    <a:bodyPr wrap="square"/>
                    <a:lstStyle/>
                    <a:p>
                      <a:pPr algn="l"/>
                      <a:r>
                        <a:rPr sz="1050" b="0" i="0">
                          <a:solidFill>
                            <a:srgbClr val="000000"/>
                          </a:solidFill>
                          <a:latin typeface="Calibri"/>
                        </a:rPr>
                        <a:t>Figure 58: U.S. Industrial Air Compressor Market Value, 2026–2036, By End Use</a:t>
                      </a:r>
                      <a:endParaRPr sz="1050"/>
                    </a:p>
                  </a:txBody>
                  <a:tcPr marL="9525" marR="9525" marT="9525" marB="0" anchor="ctr"/>
                </a:tc>
              </a:tr>
              <a:tr h="170486">
                <a:tc>
                  <a:txBody>
                    <a:bodyPr wrap="square"/>
                    <a:lstStyle/>
                    <a:p>
                      <a:pPr algn="l"/>
                      <a:r>
                        <a:rPr sz="1050" b="0" i="0">
                          <a:solidFill>
                            <a:srgbClr val="000000"/>
                          </a:solidFill>
                          <a:latin typeface="Calibri"/>
                        </a:rPr>
                        <a:t>Figure 59: Canada Industrial Air Compressor Market Value, 2026–2036, By Technology</a:t>
                      </a:r>
                      <a:endParaRPr sz="1050"/>
                    </a:p>
                  </a:txBody>
                  <a:tcPr marL="9525" marR="9525" marT="9525" marB="0" anchor="ctr"/>
                </a:tc>
              </a:tr>
              <a:tr h="170486">
                <a:tc>
                  <a:txBody>
                    <a:bodyPr wrap="square"/>
                    <a:lstStyle/>
                    <a:p>
                      <a:pPr algn="l"/>
                      <a:r>
                        <a:rPr sz="1050" b="0" i="0">
                          <a:solidFill>
                            <a:srgbClr val="000000"/>
                          </a:solidFill>
                          <a:latin typeface="Calibri"/>
                        </a:rPr>
                        <a:t>Figure 60: Canada Industrial Air Compressor Market Value, 2026–2036, By Capacity</a:t>
                      </a:r>
                      <a:endParaRPr sz="1050"/>
                    </a:p>
                  </a:txBody>
                  <a:tcPr marL="9525" marR="9525" marT="9525" marB="0" anchor="ctr"/>
                </a:tc>
              </a:tr>
              <a:tr h="170486">
                <a:tc>
                  <a:txBody>
                    <a:bodyPr wrap="square"/>
                    <a:lstStyle/>
                    <a:p>
                      <a:pPr algn="l"/>
                      <a:r>
                        <a:rPr sz="1050" b="0" i="0">
                          <a:solidFill>
                            <a:srgbClr val="000000"/>
                          </a:solidFill>
                          <a:latin typeface="Calibri"/>
                        </a:rPr>
                        <a:t>Figure 61: Canada Industrial Air Compressor Market Value, 2026–2036, By Driver Type</a:t>
                      </a:r>
                      <a:endParaRPr sz="1050"/>
                    </a:p>
                  </a:txBody>
                  <a:tcPr marL="9525" marR="9525" marT="9525" marB="0" anchor="ctr"/>
                </a:tc>
              </a:tr>
              <a:tr h="170486">
                <a:tc>
                  <a:txBody>
                    <a:bodyPr wrap="square"/>
                    <a:lstStyle/>
                    <a:p>
                      <a:pPr algn="l"/>
                      <a:r>
                        <a:rPr sz="1050" b="0" i="0">
                          <a:solidFill>
                            <a:srgbClr val="000000"/>
                          </a:solidFill>
                          <a:latin typeface="Calibri"/>
                        </a:rPr>
                        <a:t>Figure 62: Canada Industrial Air Compressor Market Value, 2026–2036, By Compression Stage</a:t>
                      </a:r>
                      <a:endParaRPr sz="1050"/>
                    </a:p>
                  </a:txBody>
                  <a:tcPr marL="9525" marR="9525" marT="9525" marB="0" anchor="ctr"/>
                </a:tc>
              </a:tr>
              <a:tr h="170486">
                <a:tc>
                  <a:txBody>
                    <a:bodyPr wrap="square"/>
                    <a:lstStyle/>
                    <a:p>
                      <a:pPr algn="l"/>
                      <a:r>
                        <a:rPr sz="1050" b="0" i="0">
                          <a:solidFill>
                            <a:srgbClr val="000000"/>
                          </a:solidFill>
                          <a:latin typeface="Calibri"/>
                        </a:rPr>
                        <a:t>Figure 63: Canada Industrial Air Compressor Market Value, 2026–2036, By End Use</a:t>
                      </a:r>
                      <a:endParaRPr sz="1050"/>
                    </a:p>
                  </a:txBody>
                  <a:tcPr marL="9525" marR="9525" marT="9525" marB="0" anchor="ctr"/>
                </a:tc>
              </a:tr>
              <a:tr h="170486">
                <a:tc>
                  <a:txBody>
                    <a:bodyPr wrap="square"/>
                    <a:lstStyle/>
                    <a:p>
                      <a:pPr algn="l"/>
                      <a:r>
                        <a:rPr sz="1050" b="0" i="0">
                          <a:solidFill>
                            <a:srgbClr val="000000"/>
                          </a:solidFill>
                          <a:latin typeface="Calibri"/>
                        </a:rPr>
                        <a:t>Figure 64: Mexico Industrial Air Compressor Market Value, 2026–2036, By Technology</a:t>
                      </a:r>
                      <a:endParaRPr sz="1050"/>
                    </a:p>
                  </a:txBody>
                  <a:tcPr marL="9525" marR="9525" marT="9525" marB="0" anchor="ctr"/>
                </a:tc>
              </a:tr>
              <a:tr h="170486">
                <a:tc>
                  <a:txBody>
                    <a:bodyPr wrap="square"/>
                    <a:lstStyle/>
                    <a:p>
                      <a:pPr algn="l"/>
                      <a:r>
                        <a:rPr sz="1050" b="0" i="0">
                          <a:solidFill>
                            <a:srgbClr val="000000"/>
                          </a:solidFill>
                          <a:latin typeface="Calibri"/>
                        </a:rPr>
                        <a:t>Figure 65: Mexico Industrial Air Compressor Market Value, 2026–2036, By Capacity</a:t>
                      </a:r>
                      <a:endParaRPr sz="1050"/>
                    </a:p>
                  </a:txBody>
                  <a:tcPr marL="9525" marR="9525" marT="9525" marB="0" anchor="ctr"/>
                </a:tc>
              </a:tr>
              <a:tr h="170486">
                <a:tc>
                  <a:txBody>
                    <a:bodyPr wrap="square"/>
                    <a:lstStyle/>
                    <a:p>
                      <a:pPr algn="l"/>
                      <a:r>
                        <a:rPr sz="1050" b="0" i="0">
                          <a:solidFill>
                            <a:srgbClr val="000000"/>
                          </a:solidFill>
                          <a:latin typeface="Calibri"/>
                        </a:rPr>
                        <a:t>Figure 66: Mexico Industrial Air Compressor Market Value, 2026–2036, By Driver Type</a:t>
                      </a:r>
                      <a:endParaRPr sz="1050"/>
                    </a:p>
                  </a:txBody>
                  <a:tcPr marL="9525" marR="9525" marT="9525" marB="0" anchor="ctr"/>
                </a:tc>
              </a:tr>
              <a:tr h="170486">
                <a:tc>
                  <a:txBody>
                    <a:bodyPr wrap="square"/>
                    <a:lstStyle/>
                    <a:p>
                      <a:pPr algn="l"/>
                      <a:r>
                        <a:rPr sz="1050" b="0" i="0">
                          <a:solidFill>
                            <a:srgbClr val="000000"/>
                          </a:solidFill>
                          <a:latin typeface="Calibri"/>
                        </a:rPr>
                        <a:t>Figure 67: Mexico Industrial Air Compressor Market Value, 2026–2036, By Compression Stage</a:t>
                      </a:r>
                      <a:endParaRPr sz="1050"/>
                    </a:p>
                  </a:txBody>
                  <a:tcPr marL="9525" marR="9525" marT="9525" marB="0" anchor="ctr"/>
                </a:tc>
              </a:tr>
              <a:tr h="170486">
                <a:tc>
                  <a:txBody>
                    <a:bodyPr wrap="square"/>
                    <a:lstStyle/>
                    <a:p>
                      <a:pPr algn="l"/>
                      <a:r>
                        <a:rPr sz="1050" b="0" i="0">
                          <a:solidFill>
                            <a:srgbClr val="000000"/>
                          </a:solidFill>
                          <a:latin typeface="Calibri"/>
                        </a:rPr>
                        <a:t>Figure 68: Mexico Industrial Air Compressor Market Value, 2026–2036, By End Use</a:t>
                      </a:r>
                      <a:endParaRPr sz="1050"/>
                    </a:p>
                  </a:txBody>
                  <a:tcPr marL="9525" marR="9525" marT="9525" marB="0" anchor="ctr"/>
                </a:tc>
              </a:tr>
              <a:tr h="170486">
                <a:tc>
                  <a:txBody>
                    <a:bodyPr wrap="square"/>
                    <a:lstStyle/>
                    <a:p>
                      <a:pPr algn="l"/>
                      <a:r>
                        <a:rPr sz="1050" b="0" i="0">
                          <a:solidFill>
                            <a:srgbClr val="000000"/>
                          </a:solidFill>
                          <a:latin typeface="Calibri"/>
                        </a:rPr>
                        <a:t>Figure 69: Latin America Industrial Air Compressor Market Value, 2021–2036</a:t>
                      </a:r>
                      <a:endParaRPr sz="1050"/>
                    </a:p>
                  </a:txBody>
                  <a:tcPr marL="9525" marR="9525" marT="9525" marB="0" anchor="ctr"/>
                </a:tc>
              </a:tr>
              <a:tr h="170486">
                <a:tc>
                  <a:txBody>
                    <a:bodyPr wrap="square"/>
                    <a:lstStyle/>
                    <a:p>
                      <a:pPr algn="l"/>
                      <a:r>
                        <a:rPr sz="1050" b="0" i="0">
                          <a:solidFill>
                            <a:srgbClr val="000000"/>
                          </a:solidFill>
                          <a:latin typeface="Calibri"/>
                        </a:rPr>
                        <a:t>Figure 70: Latin America Industrial Air Compressor Market Incremental $ Opportunity, 2026–2036</a:t>
                      </a:r>
                      <a:endParaRPr sz="1050"/>
                    </a:p>
                  </a:txBody>
                  <a:tcPr marL="9525" marR="9525" marT="9525" marB="0" anchor="ctr"/>
                </a:tc>
              </a:tr>
              <a:tr h="170486">
                <a:tc>
                  <a:txBody>
                    <a:bodyPr wrap="square"/>
                    <a:lstStyle/>
                    <a:p>
                      <a:pPr algn="l"/>
                      <a:r>
                        <a:rPr sz="1050" b="0" i="0">
                          <a:solidFill>
                            <a:srgbClr val="000000"/>
                          </a:solidFill>
                          <a:latin typeface="Calibri"/>
                        </a:rPr>
                        <a:t>Figure 71: Latin America Industrial Air Compressor Market Value, 2026–2036 By Technology</a:t>
                      </a:r>
                      <a:endParaRPr sz="1050"/>
                    </a:p>
                  </a:txBody>
                  <a:tcPr marL="9525" marR="9525" marT="9525" marB="0" anchor="ctr"/>
                </a:tc>
              </a:tr>
              <a:tr h="334153">
                <a:tc>
                  <a:txBody>
                    <a:bodyPr wrap="square"/>
                    <a:lstStyle/>
                    <a:p>
                      <a:pPr algn="l"/>
                      <a:r>
                        <a:rPr sz="1050" b="0" i="0">
                          <a:solidFill>
                            <a:srgbClr val="000000"/>
                          </a:solidFill>
                          <a:latin typeface="Calibri"/>
                        </a:rPr>
                        <a:t>Figure 72: Latin America Industrial Air Compressor Market Value, 2026–2036 Y-o-Y Comparison By Technology</a:t>
                      </a:r>
                      <a:endParaRPr sz="1050"/>
                    </a:p>
                  </a:txBody>
                  <a:tcPr marL="9525" marR="9525" marT="9525" marB="0" anchor="ctr"/>
                </a:tc>
              </a:tr>
              <a:tr h="334153">
                <a:tc>
                  <a:txBody>
                    <a:bodyPr wrap="square"/>
                    <a:lstStyle/>
                    <a:p>
                      <a:pPr algn="l"/>
                      <a:r>
                        <a:rPr sz="1050" b="0" i="0">
                          <a:solidFill>
                            <a:srgbClr val="000000"/>
                          </a:solidFill>
                          <a:latin typeface="Calibri"/>
                        </a:rPr>
                        <a:t>Figure 73: Latin America Industrial Air Compressor Market Value, 2026–2036 BPS Analysis By Technology</a:t>
                      </a:r>
                      <a:endParaRPr sz="1050"/>
                    </a:p>
                  </a:txBody>
                  <a:tcPr marL="9525" marR="9525" marT="9525" marB="0" anchor="ctr"/>
                </a:tc>
              </a:tr>
              <a:tr h="170486">
                <a:tc>
                  <a:txBody>
                    <a:bodyPr wrap="square"/>
                    <a:lstStyle/>
                    <a:p>
                      <a:pPr algn="l"/>
                      <a:r>
                        <a:rPr sz="1050" b="0" i="0">
                          <a:solidFill>
                            <a:srgbClr val="000000"/>
                          </a:solidFill>
                          <a:latin typeface="Calibri"/>
                        </a:rPr>
                        <a:t>Figure 74: Latin America Industrial Air Compressor Market Attractiveness Analysis By Technology</a:t>
                      </a:r>
                      <a:endParaRPr sz="1050"/>
                    </a:p>
                  </a:txBody>
                  <a:tcPr marL="9525" marR="9525" marT="9525" marB="0" anchor="ctr"/>
                </a:tc>
              </a:tr>
              <a:tr h="170486">
                <a:tc>
                  <a:txBody>
                    <a:bodyPr wrap="square"/>
                    <a:lstStyle/>
                    <a:p>
                      <a:pPr algn="l"/>
                      <a:r>
                        <a:rPr sz="1050" b="0" i="0">
                          <a:solidFill>
                            <a:srgbClr val="000000"/>
                          </a:solidFill>
                          <a:latin typeface="Calibri"/>
                        </a:rPr>
                        <a:t>Figure 75: Latin America Industrial Air Compressor Market Value, 2026–2036 By Capacity</a:t>
                      </a:r>
                      <a:endParaRPr sz="1050"/>
                    </a:p>
                  </a:txBody>
                  <a:tcPr marL="9525" marR="9525" marT="9525" marB="0" anchor="ctr"/>
                </a:tc>
              </a:tr>
              <a:tr h="334153">
                <a:tc>
                  <a:txBody>
                    <a:bodyPr wrap="square"/>
                    <a:lstStyle/>
                    <a:p>
                      <a:pPr algn="l"/>
                      <a:r>
                        <a:rPr sz="1050" b="0" i="0">
                          <a:solidFill>
                            <a:srgbClr val="000000"/>
                          </a:solidFill>
                          <a:latin typeface="Calibri"/>
                        </a:rPr>
                        <a:t>Figure 76: Latin America Industrial Air Compressor Market Value, 2026–2036 Y-o-Y Comparison By Capacity</a:t>
                      </a:r>
                      <a:endParaRPr sz="1050"/>
                    </a:p>
                  </a:txBody>
                  <a:tcPr marL="9525" marR="9525" marT="9525" marB="0" anchor="ctr"/>
                </a:tc>
              </a:tr>
              <a:tr h="170486">
                <a:tc>
                  <a:txBody>
                    <a:bodyPr wrap="square"/>
                    <a:lstStyle/>
                    <a:p>
                      <a:pPr algn="l"/>
                      <a:r>
                        <a:rPr sz="1050" b="0" i="0">
                          <a:solidFill>
                            <a:srgbClr val="000000"/>
                          </a:solidFill>
                          <a:latin typeface="Calibri"/>
                        </a:rPr>
                        <a:t>Figure 77: Latin America Industrial Air Compressor Market Value, 2026–2036 BPS Analysis By Capacity</a:t>
                      </a:r>
                      <a:endParaRPr sz="1050"/>
                    </a:p>
                  </a:txBody>
                  <a:tcPr marL="9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797"/>
        </p:xfrm>
        <a:graphic>
          <a:graphicData uri="http://schemas.openxmlformats.org/drawingml/2006/table">
            <a:tbl>
              <a:tblPr>
                <a:tableStyleId>{3B4B98B0-60AC-42C2-AFA5-B58CD77FA1E5}</a:tableStyleId>
              </a:tblPr>
              <a:tblGrid>
                <a:gridCol w="5876925"/>
              </a:tblGrid>
              <a:tr h="171152">
                <a:tc>
                  <a:txBody>
                    <a:bodyPr wrap="square"/>
                    <a:lstStyle/>
                    <a:p>
                      <a:pPr algn="l"/>
                      <a:r>
                        <a:rPr sz="1050" b="0" i="0">
                          <a:solidFill>
                            <a:srgbClr val="000000"/>
                          </a:solidFill>
                          <a:latin typeface="Calibri"/>
                        </a:rPr>
                        <a:t>Figure 78: Latin America Industrial Air Compressor Market Attractiveness Analysis By Capacity</a:t>
                      </a:r>
                      <a:endParaRPr sz="1050"/>
                    </a:p>
                  </a:txBody>
                  <a:tcPr marL="9525" marR="9525" marT="9525" marB="0" anchor="ctr"/>
                </a:tc>
              </a:tr>
              <a:tr h="171152">
                <a:tc>
                  <a:txBody>
                    <a:bodyPr wrap="square"/>
                    <a:lstStyle/>
                    <a:p>
                      <a:pPr algn="l"/>
                      <a:r>
                        <a:rPr sz="1050" b="0" i="0">
                          <a:solidFill>
                            <a:srgbClr val="000000"/>
                          </a:solidFill>
                          <a:latin typeface="Calibri"/>
                        </a:rPr>
                        <a:t>Figure 79: Latin America Industrial Air Compressor Market Value, 2026–2036 By Driver Type</a:t>
                      </a:r>
                      <a:endParaRPr sz="1050"/>
                    </a:p>
                  </a:txBody>
                  <a:tcPr marL="9525" marR="9525" marT="9525" marB="0" anchor="ctr"/>
                </a:tc>
              </a:tr>
              <a:tr h="335459">
                <a:tc>
                  <a:txBody>
                    <a:bodyPr wrap="square"/>
                    <a:lstStyle/>
                    <a:p>
                      <a:pPr algn="l"/>
                      <a:r>
                        <a:rPr sz="1050" b="0" i="0">
                          <a:solidFill>
                            <a:srgbClr val="000000"/>
                          </a:solidFill>
                          <a:latin typeface="Calibri"/>
                        </a:rPr>
                        <a:t>Figure 80: Latin America Industrial Air Compressor Market Value, 2026–2036 Y-o-Y Comparison By Driver Type</a:t>
                      </a:r>
                      <a:endParaRPr sz="1050"/>
                    </a:p>
                  </a:txBody>
                  <a:tcPr marL="9525" marR="9525" marT="9525" marB="0" anchor="ctr"/>
                </a:tc>
              </a:tr>
              <a:tr h="335459">
                <a:tc>
                  <a:txBody>
                    <a:bodyPr wrap="square"/>
                    <a:lstStyle/>
                    <a:p>
                      <a:pPr algn="l"/>
                      <a:r>
                        <a:rPr sz="1050" b="0" i="0">
                          <a:solidFill>
                            <a:srgbClr val="000000"/>
                          </a:solidFill>
                          <a:latin typeface="Calibri"/>
                        </a:rPr>
                        <a:t>Figure 81: Latin America Industrial Air Compressor Market Value, 2026–2036 BPS Analysis By Driver Type</a:t>
                      </a:r>
                      <a:endParaRPr sz="1050"/>
                    </a:p>
                  </a:txBody>
                  <a:tcPr marL="9525" marR="9525" marT="9525" marB="0" anchor="ctr"/>
                </a:tc>
              </a:tr>
              <a:tr h="171152">
                <a:tc>
                  <a:txBody>
                    <a:bodyPr wrap="square"/>
                    <a:lstStyle/>
                    <a:p>
                      <a:pPr algn="l"/>
                      <a:r>
                        <a:rPr sz="1050" b="0" i="0">
                          <a:solidFill>
                            <a:srgbClr val="000000"/>
                          </a:solidFill>
                          <a:latin typeface="Calibri"/>
                        </a:rPr>
                        <a:t>Figure 82: Latin America Industrial Air Compressor Market Attractiveness Analysis By Driver Type</a:t>
                      </a:r>
                      <a:endParaRPr sz="1050"/>
                    </a:p>
                  </a:txBody>
                  <a:tcPr marL="9525" marR="9525" marT="9525" marB="0" anchor="ctr"/>
                </a:tc>
              </a:tr>
              <a:tr h="171152">
                <a:tc>
                  <a:txBody>
                    <a:bodyPr wrap="square"/>
                    <a:lstStyle/>
                    <a:p>
                      <a:pPr algn="l"/>
                      <a:r>
                        <a:rPr sz="1050" b="0" i="0">
                          <a:solidFill>
                            <a:srgbClr val="000000"/>
                          </a:solidFill>
                          <a:latin typeface="Calibri"/>
                        </a:rPr>
                        <a:t>Figure 83: Latin America Industrial Air Compressor Market Value, 2026–2036 By End Use</a:t>
                      </a:r>
                      <a:endParaRPr sz="1050"/>
                    </a:p>
                  </a:txBody>
                  <a:tcPr marL="9525" marR="9525" marT="9525" marB="0" anchor="ctr"/>
                </a:tc>
              </a:tr>
              <a:tr h="335459">
                <a:tc>
                  <a:txBody>
                    <a:bodyPr wrap="square"/>
                    <a:lstStyle/>
                    <a:p>
                      <a:pPr algn="l"/>
                      <a:r>
                        <a:rPr sz="1050" b="0" i="0">
                          <a:solidFill>
                            <a:srgbClr val="000000"/>
                          </a:solidFill>
                          <a:latin typeface="Calibri"/>
                        </a:rPr>
                        <a:t>Figure 84: Latin America Industrial Air Compressor Market Value, 2026–2036 Y-o-Y Comparison By End Use</a:t>
                      </a:r>
                      <a:endParaRPr sz="1050"/>
                    </a:p>
                  </a:txBody>
                  <a:tcPr marL="9525" marR="9525" marT="9525" marB="0" anchor="ctr"/>
                </a:tc>
              </a:tr>
              <a:tr h="171152">
                <a:tc>
                  <a:txBody>
                    <a:bodyPr wrap="square"/>
                    <a:lstStyle/>
                    <a:p>
                      <a:pPr algn="l"/>
                      <a:r>
                        <a:rPr sz="1050" b="0" i="0">
                          <a:solidFill>
                            <a:srgbClr val="000000"/>
                          </a:solidFill>
                          <a:latin typeface="Calibri"/>
                        </a:rPr>
                        <a:t>Figure 85: Latin America Industrial Air Compressor Market Value, 2026–2036 BPS Analysis By End Use</a:t>
                      </a:r>
                      <a:endParaRPr sz="1050"/>
                    </a:p>
                  </a:txBody>
                  <a:tcPr marL="9525" marR="9525" marT="9525" marB="0" anchor="ctr"/>
                </a:tc>
              </a:tr>
              <a:tr h="171152">
                <a:tc>
                  <a:txBody>
                    <a:bodyPr wrap="square"/>
                    <a:lstStyle/>
                    <a:p>
                      <a:pPr algn="l"/>
                      <a:r>
                        <a:rPr sz="1050" b="0" i="0">
                          <a:solidFill>
                            <a:srgbClr val="000000"/>
                          </a:solidFill>
                          <a:latin typeface="Calibri"/>
                        </a:rPr>
                        <a:t>Figure 86: Latin America Industrial Air Compressor Market Attractiveness Analysis By End Use</a:t>
                      </a:r>
                      <a:endParaRPr sz="1050"/>
                    </a:p>
                  </a:txBody>
                  <a:tcPr marL="9525" marR="9525" marT="9525" marB="0" anchor="ctr"/>
                </a:tc>
              </a:tr>
              <a:tr h="171152">
                <a:tc>
                  <a:txBody>
                    <a:bodyPr wrap="square"/>
                    <a:lstStyle/>
                    <a:p>
                      <a:pPr algn="l"/>
                      <a:r>
                        <a:rPr sz="1050" b="0" i="0">
                          <a:solidFill>
                            <a:srgbClr val="000000"/>
                          </a:solidFill>
                          <a:latin typeface="Calibri"/>
                        </a:rPr>
                        <a:t>Figure 87: Latin America Industrial Air Compressor Market Value, 2026–2036 By Compression Stage</a:t>
                      </a:r>
                      <a:endParaRPr sz="1050"/>
                    </a:p>
                  </a:txBody>
                  <a:tcPr marL="9525" marR="9525" marT="9525" marB="0" anchor="ctr"/>
                </a:tc>
              </a:tr>
              <a:tr h="335459">
                <a:tc>
                  <a:txBody>
                    <a:bodyPr wrap="square"/>
                    <a:lstStyle/>
                    <a:p>
                      <a:pPr algn="l"/>
                      <a:r>
                        <a:rPr sz="1050" b="0" i="0">
                          <a:solidFill>
                            <a:srgbClr val="000000"/>
                          </a:solidFill>
                          <a:latin typeface="Calibri"/>
                        </a:rPr>
                        <a:t>Figure 88: Latin America Industrial Air Compressor Market Value, 2026–2036 Y-o-Y Comparison By Compression Stage</a:t>
                      </a:r>
                      <a:endParaRPr sz="1050"/>
                    </a:p>
                  </a:txBody>
                  <a:tcPr marL="9525" marR="9525" marT="9525" marB="0" anchor="ctr"/>
                </a:tc>
              </a:tr>
              <a:tr h="335459">
                <a:tc>
                  <a:txBody>
                    <a:bodyPr wrap="square"/>
                    <a:lstStyle/>
                    <a:p>
                      <a:pPr algn="l"/>
                      <a:r>
                        <a:rPr sz="1050" b="0" i="0">
                          <a:solidFill>
                            <a:srgbClr val="000000"/>
                          </a:solidFill>
                          <a:latin typeface="Calibri"/>
                        </a:rPr>
                        <a:t>Figure 89: Latin America Industrial Air Compressor Market Value, 2026–2036 BPS Analysis By Compression Stage</a:t>
                      </a:r>
                      <a:endParaRPr sz="1050"/>
                    </a:p>
                  </a:txBody>
                  <a:tcPr marL="9525" marR="9525" marT="9525" marB="0" anchor="ctr"/>
                </a:tc>
              </a:tr>
              <a:tr h="335459">
                <a:tc>
                  <a:txBody>
                    <a:bodyPr wrap="square"/>
                    <a:lstStyle/>
                    <a:p>
                      <a:pPr algn="l"/>
                      <a:r>
                        <a:rPr sz="1050" b="0" i="0">
                          <a:solidFill>
                            <a:srgbClr val="000000"/>
                          </a:solidFill>
                          <a:latin typeface="Calibri"/>
                        </a:rPr>
                        <a:t>Figure 90: Latin America Industrial Air Compressor Market Attractiveness Analysis By Compression Stage</a:t>
                      </a:r>
                      <a:endParaRPr sz="1050"/>
                    </a:p>
                  </a:txBody>
                  <a:tcPr marL="9525" marR="9525" marT="9525" marB="0" anchor="ctr"/>
                </a:tc>
              </a:tr>
              <a:tr h="171152">
                <a:tc>
                  <a:txBody>
                    <a:bodyPr wrap="square"/>
                    <a:lstStyle/>
                    <a:p>
                      <a:pPr algn="l"/>
                      <a:r>
                        <a:rPr sz="1050" b="0" i="0">
                          <a:solidFill>
                            <a:srgbClr val="000000"/>
                          </a:solidFill>
                          <a:latin typeface="Calibri"/>
                        </a:rPr>
                        <a:t>Figure 91: Latin America Industrial Air Compressor Market Value, 2026–2036 By Country</a:t>
                      </a:r>
                      <a:endParaRPr sz="1050"/>
                    </a:p>
                  </a:txBody>
                  <a:tcPr marL="9525" marR="9525" marT="9525" marB="0" anchor="ctr"/>
                </a:tc>
              </a:tr>
              <a:tr h="335459">
                <a:tc>
                  <a:txBody>
                    <a:bodyPr wrap="square"/>
                    <a:lstStyle/>
                    <a:p>
                      <a:pPr algn="l"/>
                      <a:r>
                        <a:rPr sz="1050" b="0" i="0">
                          <a:solidFill>
                            <a:srgbClr val="000000"/>
                          </a:solidFill>
                          <a:latin typeface="Calibri"/>
                        </a:rPr>
                        <a:t>Figure 92: Latin America Industrial Air Compressor Market Value, 2026–2036 Y-o-Y Comparison By Country</a:t>
                      </a:r>
                      <a:endParaRPr sz="1050"/>
                    </a:p>
                  </a:txBody>
                  <a:tcPr marL="9525" marR="9525" marT="9525" marB="0" anchor="ctr"/>
                </a:tc>
              </a:tr>
              <a:tr h="171152">
                <a:tc>
                  <a:txBody>
                    <a:bodyPr wrap="square"/>
                    <a:lstStyle/>
                    <a:p>
                      <a:pPr algn="l"/>
                      <a:r>
                        <a:rPr sz="1050" b="0" i="0">
                          <a:solidFill>
                            <a:srgbClr val="000000"/>
                          </a:solidFill>
                          <a:latin typeface="Calibri"/>
                        </a:rPr>
                        <a:t>Figure 93: Latin America Industrial Air Compressor Market Value, 2026–2036 BPS Analysis By Country</a:t>
                      </a:r>
                      <a:endParaRPr sz="1050"/>
                    </a:p>
                  </a:txBody>
                  <a:tcPr marL="9525" marR="9525" marT="9525" marB="0" anchor="ctr"/>
                </a:tc>
              </a:tr>
              <a:tr h="171152">
                <a:tc>
                  <a:txBody>
                    <a:bodyPr wrap="square"/>
                    <a:lstStyle/>
                    <a:p>
                      <a:pPr algn="l"/>
                      <a:r>
                        <a:rPr sz="1050" b="0" i="0">
                          <a:solidFill>
                            <a:srgbClr val="000000"/>
                          </a:solidFill>
                          <a:latin typeface="Calibri"/>
                        </a:rPr>
                        <a:t>Figure 94: Latin America Industrial Air Compressor Market Attractiveness Analysis By Country</a:t>
                      </a:r>
                      <a:endParaRPr sz="1050"/>
                    </a:p>
                  </a:txBody>
                  <a:tcPr marL="9525" marR="9525" marT="9525" marB="0" anchor="ctr"/>
                </a:tc>
              </a:tr>
              <a:tr h="171152">
                <a:tc>
                  <a:txBody>
                    <a:bodyPr wrap="square"/>
                    <a:lstStyle/>
                    <a:p>
                      <a:pPr algn="l"/>
                      <a:r>
                        <a:rPr sz="1050" b="0" i="0">
                          <a:solidFill>
                            <a:srgbClr val="000000"/>
                          </a:solidFill>
                          <a:latin typeface="Calibri"/>
                        </a:rPr>
                        <a:t>Figure 95: Brazil Industrial Air Compressor Market Value, 2026–2036, By Technology</a:t>
                      </a:r>
                      <a:endParaRPr sz="1050"/>
                    </a:p>
                  </a:txBody>
                  <a:tcPr marL="9525" marR="9525" marT="9525" marB="0" anchor="ctr"/>
                </a:tc>
              </a:tr>
              <a:tr h="171152">
                <a:tc>
                  <a:txBody>
                    <a:bodyPr wrap="square"/>
                    <a:lstStyle/>
                    <a:p>
                      <a:pPr algn="l"/>
                      <a:r>
                        <a:rPr sz="1050" b="0" i="0">
                          <a:solidFill>
                            <a:srgbClr val="000000"/>
                          </a:solidFill>
                          <a:latin typeface="Calibri"/>
                        </a:rPr>
                        <a:t>Figure 96: Brazil Industrial Air Compressor Market Value, 2026–2036, By Capacity</a:t>
                      </a:r>
                      <a:endParaRPr sz="1050"/>
                    </a:p>
                  </a:txBody>
                  <a:tcPr marL="9525" marR="9525" marT="9525" marB="0" anchor="ctr"/>
                </a:tc>
              </a:tr>
              <a:tr h="171152">
                <a:tc>
                  <a:txBody>
                    <a:bodyPr wrap="square"/>
                    <a:lstStyle/>
                    <a:p>
                      <a:pPr algn="l"/>
                      <a:r>
                        <a:rPr sz="1050" b="0" i="0">
                          <a:solidFill>
                            <a:srgbClr val="000000"/>
                          </a:solidFill>
                          <a:latin typeface="Calibri"/>
                        </a:rPr>
                        <a:t>Figure 97: Brazil Industrial Air Compressor Market Value, 2026–2036, By Driver Type</a:t>
                      </a:r>
                      <a:endParaRPr sz="1050"/>
                    </a:p>
                  </a:txBody>
                  <a:tcPr marL="9525" marR="9525" marT="9525" marB="0" anchor="ctr"/>
                </a:tc>
              </a:tr>
              <a:tr h="171152">
                <a:tc>
                  <a:txBody>
                    <a:bodyPr wrap="square"/>
                    <a:lstStyle/>
                    <a:p>
                      <a:pPr algn="l"/>
                      <a:r>
                        <a:rPr sz="1050" b="0" i="0">
                          <a:solidFill>
                            <a:srgbClr val="000000"/>
                          </a:solidFill>
                          <a:latin typeface="Calibri"/>
                        </a:rPr>
                        <a:t>Figure 98: Brazil Industrial Air Compressor Market Value, 2026–2036, By Compression Stage</a:t>
                      </a:r>
                      <a:endParaRPr sz="1050"/>
                    </a:p>
                  </a:txBody>
                  <a:tcPr marL="9525" marR="9525" marT="9525" marB="0" anchor="ctr"/>
                </a:tc>
              </a:tr>
              <a:tr h="171152">
                <a:tc>
                  <a:txBody>
                    <a:bodyPr wrap="square"/>
                    <a:lstStyle/>
                    <a:p>
                      <a:pPr algn="l"/>
                      <a:r>
                        <a:rPr sz="1050" b="0" i="0">
                          <a:solidFill>
                            <a:srgbClr val="000000"/>
                          </a:solidFill>
                          <a:latin typeface="Calibri"/>
                        </a:rPr>
                        <a:t>Figure 99: Brazil Industrial Air Compressor Market Value, 2026–2036, By End Use</a:t>
                      </a:r>
                      <a:endParaRPr sz="1050"/>
                    </a:p>
                  </a:txBody>
                  <a:tcPr marL="9525" marR="9525" marT="9525" marB="0" anchor="ctr"/>
                </a:tc>
              </a:tr>
              <a:tr h="171152">
                <a:tc>
                  <a:txBody>
                    <a:bodyPr wrap="square"/>
                    <a:lstStyle/>
                    <a:p>
                      <a:pPr algn="l"/>
                      <a:r>
                        <a:rPr sz="1050" b="0" i="0">
                          <a:solidFill>
                            <a:srgbClr val="000000"/>
                          </a:solidFill>
                          <a:latin typeface="Calibri"/>
                        </a:rPr>
                        <a:t>Figure 100: Argentina Industrial Air Compressor Market Value, 2026–2036, By Technology</a:t>
                      </a:r>
                      <a:endParaRPr sz="1050"/>
                    </a:p>
                  </a:txBody>
                  <a:tcPr marL="9525" marR="9525" marT="9525" marB="0" anchor="ctr"/>
                </a:tc>
              </a:tr>
              <a:tr h="171152">
                <a:tc>
                  <a:txBody>
                    <a:bodyPr wrap="square"/>
                    <a:lstStyle/>
                    <a:p>
                      <a:pPr algn="l"/>
                      <a:r>
                        <a:rPr sz="1050" b="0" i="0">
                          <a:solidFill>
                            <a:srgbClr val="000000"/>
                          </a:solidFill>
                          <a:latin typeface="Calibri"/>
                        </a:rPr>
                        <a:t>Figure 101: Argentina Industrial Air Compressor Market Value, 2026–2036, By Capacity</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(3/7)</a:t>
            </a:r>
          </a:p>
        </p:txBody>
      </p:sp>
      <p:graphicFrame>
        <p:nvGraphicFramePr>
          <p:cNvPr id="6" name="FMI Contents Table"/>
          <p:cNvGraphicFramePr>
            <a:graphicFrameLocks noGrp="1"/>
          </p:cNvGraphicFramePr>
          <p:nvPr/>
        </p:nvGraphicFramePr>
        <p:xfrm>
          <a:off x="142875" y="981075"/>
          <a:ext cx="5876925" cy="5257804"/>
        </p:xfrm>
        <a:graphic>
          <a:graphicData uri="http://schemas.openxmlformats.org/drawingml/2006/table">
            <a:tbl>
              <a:tblPr>
                <a:tableStyleId>{3B4B98B0-60AC-42C2-AFA5-B58CD77FA1E5}</a:tableStyleId>
              </a:tblPr>
              <a:tblGrid>
                <a:gridCol w="5876925"/>
              </a:tblGrid>
              <a:tr h="177150">
                <a:tc>
                  <a:txBody>
                    <a:bodyPr wrap="square"/>
                    <a:lstStyle/>
                    <a:p>
                      <a:pPr algn="l"/>
                      <a:r>
                        <a:rPr sz="1050" b="0" i="0">
                          <a:solidFill>
                            <a:srgbClr val="000000"/>
                          </a:solidFill>
                          <a:latin typeface="Calibri"/>
                        </a:rPr>
                        <a:t>Figure 102: Argentina Industrial Air Compressor Market Value, 2026–2036, By Driver Type</a:t>
                      </a:r>
                      <a:endParaRPr sz="1050"/>
                    </a:p>
                  </a:txBody>
                  <a:tcPr marL="9525" marR="9525" marT="9525" marB="0" anchor="ctr"/>
                </a:tc>
              </a:tr>
              <a:tr h="177150">
                <a:tc>
                  <a:txBody>
                    <a:bodyPr wrap="square"/>
                    <a:lstStyle/>
                    <a:p>
                      <a:pPr algn="l"/>
                      <a:r>
                        <a:rPr sz="1050" b="0" i="0">
                          <a:solidFill>
                            <a:srgbClr val="000000"/>
                          </a:solidFill>
                          <a:latin typeface="Calibri"/>
                        </a:rPr>
                        <a:t>Figure 103: Argentina Industrial Air Compressor Market Value, 2026–2036, By Compression Stage</a:t>
                      </a:r>
                      <a:endParaRPr sz="1050"/>
                    </a:p>
                  </a:txBody>
                  <a:tcPr marL="9525" marR="9525" marT="9525" marB="0" anchor="ctr"/>
                </a:tc>
              </a:tr>
              <a:tr h="177150">
                <a:tc>
                  <a:txBody>
                    <a:bodyPr wrap="square"/>
                    <a:lstStyle/>
                    <a:p>
                      <a:pPr algn="l"/>
                      <a:r>
                        <a:rPr sz="1050" b="0" i="0">
                          <a:solidFill>
                            <a:srgbClr val="000000"/>
                          </a:solidFill>
                          <a:latin typeface="Calibri"/>
                        </a:rPr>
                        <a:t>Figure 104: Argentina Industrial Air Compressor Market Value, 2026–2036, By End Use</a:t>
                      </a:r>
                      <a:endParaRPr sz="1050"/>
                    </a:p>
                  </a:txBody>
                  <a:tcPr marL="9525" marR="9525" marT="9525" marB="0" anchor="ctr"/>
                </a:tc>
              </a:tr>
              <a:tr h="177150">
                <a:tc>
                  <a:txBody>
                    <a:bodyPr wrap="square"/>
                    <a:lstStyle/>
                    <a:p>
                      <a:pPr algn="l"/>
                      <a:r>
                        <a:rPr sz="1050" b="0" i="0">
                          <a:solidFill>
                            <a:srgbClr val="000000"/>
                          </a:solidFill>
                          <a:latin typeface="Calibri"/>
                        </a:rPr>
                        <a:t>Figure 105: Eastern Europe Industrial Air Compressor Market Value, 2021–2036</a:t>
                      </a:r>
                      <a:endParaRPr sz="1050"/>
                    </a:p>
                  </a:txBody>
                  <a:tcPr marL="9525" marR="9525" marT="9525" marB="0" anchor="ctr"/>
                </a:tc>
              </a:tr>
              <a:tr h="177150">
                <a:tc>
                  <a:txBody>
                    <a:bodyPr wrap="square"/>
                    <a:lstStyle/>
                    <a:p>
                      <a:pPr algn="l"/>
                      <a:r>
                        <a:rPr sz="1050" b="0" i="0">
                          <a:solidFill>
                            <a:srgbClr val="000000"/>
                          </a:solidFill>
                          <a:latin typeface="Calibri"/>
                        </a:rPr>
                        <a:t>Figure 106: Eastern Europe Industrial Air Compressor Market Incremental $ Opportunity, 2026–2036</a:t>
                      </a:r>
                      <a:endParaRPr sz="1050"/>
                    </a:p>
                  </a:txBody>
                  <a:tcPr marL="9525" marR="9525" marT="9525" marB="0" anchor="ctr"/>
                </a:tc>
              </a:tr>
              <a:tr h="177150">
                <a:tc>
                  <a:txBody>
                    <a:bodyPr wrap="square"/>
                    <a:lstStyle/>
                    <a:p>
                      <a:pPr algn="l"/>
                      <a:r>
                        <a:rPr sz="1050" b="0" i="0">
                          <a:solidFill>
                            <a:srgbClr val="000000"/>
                          </a:solidFill>
                          <a:latin typeface="Calibri"/>
                        </a:rPr>
                        <a:t>Figure 107: Eastern Europe Industrial Air Compressor Market Value, 2026–2036 By Technology</a:t>
                      </a:r>
                      <a:endParaRPr sz="1050"/>
                    </a:p>
                  </a:txBody>
                  <a:tcPr marL="9525" marR="9525" marT="9525" marB="0" anchor="ctr"/>
                </a:tc>
              </a:tr>
              <a:tr h="347213">
                <a:tc>
                  <a:txBody>
                    <a:bodyPr wrap="square"/>
                    <a:lstStyle/>
                    <a:p>
                      <a:pPr algn="l"/>
                      <a:r>
                        <a:rPr sz="1050" b="0" i="0">
                          <a:solidFill>
                            <a:srgbClr val="000000"/>
                          </a:solidFill>
                          <a:latin typeface="Calibri"/>
                        </a:rPr>
                        <a:t>Figure 108: Eastern Europe Industrial Air Compressor Market Value, 2026–2036 Y-o-Y Comparison By Technology</a:t>
                      </a:r>
                      <a:endParaRPr sz="1050"/>
                    </a:p>
                  </a:txBody>
                  <a:tcPr marL="9525" marR="9525" marT="9525" marB="0" anchor="ctr"/>
                </a:tc>
              </a:tr>
              <a:tr h="347213">
                <a:tc>
                  <a:txBody>
                    <a:bodyPr wrap="square"/>
                    <a:lstStyle/>
                    <a:p>
                      <a:pPr algn="l"/>
                      <a:r>
                        <a:rPr sz="1050" b="0" i="0">
                          <a:solidFill>
                            <a:srgbClr val="000000"/>
                          </a:solidFill>
                          <a:latin typeface="Calibri"/>
                        </a:rPr>
                        <a:t>Figure 109: Eastern Europe Industrial Air Compressor Market Value, 2026–2036 BPS Analysis By Technology</a:t>
                      </a:r>
                      <a:endParaRPr sz="1050"/>
                    </a:p>
                  </a:txBody>
                  <a:tcPr marL="9525" marR="9525" marT="9525" marB="0" anchor="ctr"/>
                </a:tc>
              </a:tr>
              <a:tr h="177150">
                <a:tc>
                  <a:txBody>
                    <a:bodyPr wrap="square"/>
                    <a:lstStyle/>
                    <a:p>
                      <a:pPr algn="l"/>
                      <a:r>
                        <a:rPr sz="1050" b="0" i="0">
                          <a:solidFill>
                            <a:srgbClr val="000000"/>
                          </a:solidFill>
                          <a:latin typeface="Calibri"/>
                        </a:rPr>
                        <a:t>Figure 110: Eastern Europe Industrial Air Compressor Market Attractiveness Analysis By Technology</a:t>
                      </a:r>
                      <a:endParaRPr sz="1050"/>
                    </a:p>
                  </a:txBody>
                  <a:tcPr marL="9525" marR="9525" marT="9525" marB="0" anchor="ctr"/>
                </a:tc>
              </a:tr>
              <a:tr h="177150">
                <a:tc>
                  <a:txBody>
                    <a:bodyPr wrap="square"/>
                    <a:lstStyle/>
                    <a:p>
                      <a:pPr algn="l"/>
                      <a:r>
                        <a:rPr sz="1050" b="0" i="0">
                          <a:solidFill>
                            <a:srgbClr val="000000"/>
                          </a:solidFill>
                          <a:latin typeface="Calibri"/>
                        </a:rPr>
                        <a:t>Figure 111: Eastern Europe Industrial Air Compressor Market Value, 2026–2036 By Capacity</a:t>
                      </a:r>
                      <a:endParaRPr sz="1050"/>
                    </a:p>
                  </a:txBody>
                  <a:tcPr marL="9525" marR="9525" marT="9525" marB="0" anchor="ctr"/>
                </a:tc>
              </a:tr>
              <a:tr h="347213">
                <a:tc>
                  <a:txBody>
                    <a:bodyPr wrap="square"/>
                    <a:lstStyle/>
                    <a:p>
                      <a:pPr algn="l"/>
                      <a:r>
                        <a:rPr sz="1050" b="0" i="0">
                          <a:solidFill>
                            <a:srgbClr val="000000"/>
                          </a:solidFill>
                          <a:latin typeface="Calibri"/>
                        </a:rPr>
                        <a:t>Figure 112: Eastern Europe Industrial Air Compressor Market Value, 2026–2036 Y-o-Y Comparison By Capacity</a:t>
                      </a:r>
                      <a:endParaRPr sz="1050"/>
                    </a:p>
                  </a:txBody>
                  <a:tcPr marL="9525" marR="9525" marT="9525" marB="0" anchor="ctr"/>
                </a:tc>
              </a:tr>
              <a:tr h="347213">
                <a:tc>
                  <a:txBody>
                    <a:bodyPr wrap="square"/>
                    <a:lstStyle/>
                    <a:p>
                      <a:pPr algn="l"/>
                      <a:r>
                        <a:rPr sz="1050" b="0" i="0">
                          <a:solidFill>
                            <a:srgbClr val="000000"/>
                          </a:solidFill>
                          <a:latin typeface="Calibri"/>
                        </a:rPr>
                        <a:t>Figure 113: Eastern Europe Industrial Air Compressor Market Value, 2026–2036 BPS Analysis By Capacity</a:t>
                      </a:r>
                      <a:endParaRPr sz="1050"/>
                    </a:p>
                  </a:txBody>
                  <a:tcPr marL="9525" marR="9525" marT="9525" marB="0" anchor="ctr"/>
                </a:tc>
              </a:tr>
              <a:tr h="177150">
                <a:tc>
                  <a:txBody>
                    <a:bodyPr wrap="square"/>
                    <a:lstStyle/>
                    <a:p>
                      <a:pPr algn="l"/>
                      <a:r>
                        <a:rPr sz="1050" b="0" i="0">
                          <a:solidFill>
                            <a:srgbClr val="000000"/>
                          </a:solidFill>
                          <a:latin typeface="Calibri"/>
                        </a:rPr>
                        <a:t>Figure 114: Eastern Europe Industrial Air Compressor Market Attractiveness Analysis By Capacity</a:t>
                      </a:r>
                      <a:endParaRPr sz="1050"/>
                    </a:p>
                  </a:txBody>
                  <a:tcPr marL="9525" marR="9525" marT="9525" marB="0" anchor="ctr"/>
                </a:tc>
              </a:tr>
              <a:tr h="177150">
                <a:tc>
                  <a:txBody>
                    <a:bodyPr wrap="square"/>
                    <a:lstStyle/>
                    <a:p>
                      <a:pPr algn="l"/>
                      <a:r>
                        <a:rPr sz="1050" b="0" i="0">
                          <a:solidFill>
                            <a:srgbClr val="000000"/>
                          </a:solidFill>
                          <a:latin typeface="Calibri"/>
                        </a:rPr>
                        <a:t>Figure 115: Eastern Europe Industrial Air Compressor Market Value, 2026–2036 By Driver Type</a:t>
                      </a:r>
                      <a:endParaRPr sz="1050"/>
                    </a:p>
                  </a:txBody>
                  <a:tcPr marL="9525" marR="9525" marT="9525" marB="0" anchor="ctr"/>
                </a:tc>
              </a:tr>
              <a:tr h="347213">
                <a:tc>
                  <a:txBody>
                    <a:bodyPr wrap="square"/>
                    <a:lstStyle/>
                    <a:p>
                      <a:pPr algn="l"/>
                      <a:r>
                        <a:rPr sz="1050" b="0" i="0">
                          <a:solidFill>
                            <a:srgbClr val="000000"/>
                          </a:solidFill>
                          <a:latin typeface="Calibri"/>
                        </a:rPr>
                        <a:t>Figure 116: Eastern Europe Industrial Air Compressor Market Value, 2026–2036 Y-o-Y Comparison By Driver Type</a:t>
                      </a:r>
                      <a:endParaRPr sz="1050"/>
                    </a:p>
                  </a:txBody>
                  <a:tcPr marL="9525" marR="9525" marT="9525" marB="0" anchor="ctr"/>
                </a:tc>
              </a:tr>
              <a:tr h="347213">
                <a:tc>
                  <a:txBody>
                    <a:bodyPr wrap="square"/>
                    <a:lstStyle/>
                    <a:p>
                      <a:pPr algn="l"/>
                      <a:r>
                        <a:rPr sz="1050" b="0" i="0">
                          <a:solidFill>
                            <a:srgbClr val="000000"/>
                          </a:solidFill>
                          <a:latin typeface="Calibri"/>
                        </a:rPr>
                        <a:t>Figure 117: Eastern Europe Industrial Air Compressor Market Value, 2026–2036 BPS Analysis By Driver Type</a:t>
                      </a:r>
                      <a:endParaRPr sz="1050"/>
                    </a:p>
                  </a:txBody>
                  <a:tcPr marL="9525" marR="9525" marT="9525" marB="0" anchor="ctr"/>
                </a:tc>
              </a:tr>
              <a:tr h="177150">
                <a:tc>
                  <a:txBody>
                    <a:bodyPr wrap="square"/>
                    <a:lstStyle/>
                    <a:p>
                      <a:pPr algn="l"/>
                      <a:r>
                        <a:rPr sz="1050" b="0" i="0">
                          <a:solidFill>
                            <a:srgbClr val="000000"/>
                          </a:solidFill>
                          <a:latin typeface="Calibri"/>
                        </a:rPr>
                        <a:t>Figure 118: Eastern Europe Industrial Air Compressor Market Attractiveness Analysis By Driver Type</a:t>
                      </a:r>
                      <a:endParaRPr sz="1050"/>
                    </a:p>
                  </a:txBody>
                  <a:tcPr marL="9525" marR="9525" marT="9525" marB="0" anchor="ctr"/>
                </a:tc>
              </a:tr>
              <a:tr h="177150">
                <a:tc>
                  <a:txBody>
                    <a:bodyPr wrap="square"/>
                    <a:lstStyle/>
                    <a:p>
                      <a:pPr algn="l"/>
                      <a:r>
                        <a:rPr sz="1050" b="0" i="0">
                          <a:solidFill>
                            <a:srgbClr val="000000"/>
                          </a:solidFill>
                          <a:latin typeface="Calibri"/>
                        </a:rPr>
                        <a:t>Figure 119: Eastern Europe Industrial Air Compressor Market Value, 2026–2036 By End Use</a:t>
                      </a:r>
                      <a:endParaRPr sz="1050"/>
                    </a:p>
                  </a:txBody>
                  <a:tcPr marL="9525" marR="9525" marT="9525" marB="0" anchor="ctr"/>
                </a:tc>
              </a:tr>
              <a:tr h="347213">
                <a:tc>
                  <a:txBody>
                    <a:bodyPr wrap="square"/>
                    <a:lstStyle/>
                    <a:p>
                      <a:pPr algn="l"/>
                      <a:r>
                        <a:rPr sz="1050" b="0" i="0">
                          <a:solidFill>
                            <a:srgbClr val="000000"/>
                          </a:solidFill>
                          <a:latin typeface="Calibri"/>
                        </a:rPr>
                        <a:t>Figure 120: Eastern Europe Industrial Air Compressor Market Value, 2026–2036 Y-o-Y Comparison By End Use</a:t>
                      </a:r>
                      <a:endParaRPr sz="1050"/>
                    </a:p>
                  </a:txBody>
                  <a:tcPr marL="9525" marR="9525" marT="9525" marB="0" anchor="ctr"/>
                </a:tc>
              </a:tr>
              <a:tr h="347213">
                <a:tc>
                  <a:txBody>
                    <a:bodyPr wrap="square"/>
                    <a:lstStyle/>
                    <a:p>
                      <a:pPr algn="l"/>
                      <a:r>
                        <a:rPr sz="1050" b="0" i="0">
                          <a:solidFill>
                            <a:srgbClr val="000000"/>
                          </a:solidFill>
                          <a:latin typeface="Calibri"/>
                        </a:rPr>
                        <a:t>Figure 121: Eastern Europe Industrial Air Compressor Market Value, 2026–2036 BPS Analysis By End Use</a:t>
                      </a:r>
                      <a:endParaRPr sz="1050"/>
                    </a:p>
                  </a:txBody>
                  <a:tcPr marL="9525" marR="9525" marT="9525" marB="0" anchor="ctr"/>
                </a:tc>
              </a:tr>
              <a:tr h="177150">
                <a:tc>
                  <a:txBody>
                    <a:bodyPr wrap="square"/>
                    <a:lstStyle/>
                    <a:p>
                      <a:pPr algn="l"/>
                      <a:r>
                        <a:rPr sz="1050" b="0" i="0">
                          <a:solidFill>
                            <a:srgbClr val="000000"/>
                          </a:solidFill>
                          <a:latin typeface="Calibri"/>
                        </a:rPr>
                        <a:t>Figure 122: Eastern Europe Industrial Air Compressor Market Attractiveness Analysis By End Use</a:t>
                      </a:r>
                      <a:endParaRPr sz="1050"/>
                    </a:p>
                  </a:txBody>
                  <a:tcPr marL="9525" marR="9525" marT="9525" marB="0" anchor="ctr"/>
                </a:tc>
              </a:tr>
              <a:tr h="177150">
                <a:tc>
                  <a:txBody>
                    <a:bodyPr wrap="square"/>
                    <a:lstStyle/>
                    <a:p>
                      <a:pPr algn="l"/>
                      <a:r>
                        <a:rPr sz="1050" b="0" i="0">
                          <a:solidFill>
                            <a:srgbClr val="000000"/>
                          </a:solidFill>
                          <a:latin typeface="Calibri"/>
                        </a:rPr>
                        <a:t>Figure 123: Eastern Europe Industrial Air Compressor Market Value, 2026–2036 By Compression Stage</a:t>
                      </a:r>
                      <a:endParaRPr sz="1050"/>
                    </a:p>
                  </a:txBody>
                  <a:tcPr marL="9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803"/>
        </p:xfrm>
        <a:graphic>
          <a:graphicData uri="http://schemas.openxmlformats.org/drawingml/2006/table">
            <a:tbl>
              <a:tblPr>
                <a:tableStyleId>{3B4B98B0-60AC-42C2-AFA5-B58CD77FA1E5}</a:tableStyleId>
              </a:tblPr>
              <a:tblGrid>
                <a:gridCol w="5876925"/>
              </a:tblGrid>
              <a:tr h="334587">
                <a:tc>
                  <a:txBody>
                    <a:bodyPr wrap="square"/>
                    <a:lstStyle/>
                    <a:p>
                      <a:pPr algn="l"/>
                      <a:r>
                        <a:rPr sz="1050" b="0" i="0">
                          <a:solidFill>
                            <a:srgbClr val="000000"/>
                          </a:solidFill>
                          <a:latin typeface="Calibri"/>
                        </a:rPr>
                        <a:t>Figure 124: Eastern Europe Industrial Air Compressor Market Value, 2026–2036 Y-o-Y Comparison By Compression Stage</a:t>
                      </a:r>
                      <a:endParaRPr sz="1050"/>
                    </a:p>
                  </a:txBody>
                  <a:tcPr marL="9525" marR="9525" marT="9525" marB="0" anchor="ctr"/>
                </a:tc>
              </a:tr>
              <a:tr h="334587">
                <a:tc>
                  <a:txBody>
                    <a:bodyPr wrap="square"/>
                    <a:lstStyle/>
                    <a:p>
                      <a:pPr algn="l"/>
                      <a:r>
                        <a:rPr sz="1050" b="0" i="0">
                          <a:solidFill>
                            <a:srgbClr val="000000"/>
                          </a:solidFill>
                          <a:latin typeface="Calibri"/>
                        </a:rPr>
                        <a:t>Figure 125: Eastern Europe Industrial Air Compressor Market Value, 2026–2036 BPS Analysis By Compression Stage</a:t>
                      </a:r>
                      <a:endParaRPr sz="1050"/>
                    </a:p>
                  </a:txBody>
                  <a:tcPr marL="9525" marR="9525" marT="9525" marB="0" anchor="ctr"/>
                </a:tc>
              </a:tr>
              <a:tr h="334587">
                <a:tc>
                  <a:txBody>
                    <a:bodyPr wrap="square"/>
                    <a:lstStyle/>
                    <a:p>
                      <a:pPr algn="l"/>
                      <a:r>
                        <a:rPr sz="1050" b="0" i="0">
                          <a:solidFill>
                            <a:srgbClr val="000000"/>
                          </a:solidFill>
                          <a:latin typeface="Calibri"/>
                        </a:rPr>
                        <a:t>Figure 126: Eastern Europe Industrial Air Compressor Market Attractiveness Analysis By Compression Stage</a:t>
                      </a:r>
                      <a:endParaRPr sz="1050"/>
                    </a:p>
                  </a:txBody>
                  <a:tcPr marL="9525" marR="9525" marT="9525" marB="0" anchor="ctr"/>
                </a:tc>
              </a:tr>
              <a:tr h="170708">
                <a:tc>
                  <a:txBody>
                    <a:bodyPr wrap="square"/>
                    <a:lstStyle/>
                    <a:p>
                      <a:pPr algn="l"/>
                      <a:r>
                        <a:rPr sz="1050" b="0" i="0">
                          <a:solidFill>
                            <a:srgbClr val="000000"/>
                          </a:solidFill>
                          <a:latin typeface="Calibri"/>
                        </a:rPr>
                        <a:t>Figure 127: Eastern Europe Industrial Air Compressor Market Value, 2026–2036 By Region</a:t>
                      </a:r>
                      <a:endParaRPr sz="1050"/>
                    </a:p>
                  </a:txBody>
                  <a:tcPr marL="9525" marR="9525" marT="9525" marB="0" anchor="ctr"/>
                </a:tc>
              </a:tr>
              <a:tr h="334587">
                <a:tc>
                  <a:txBody>
                    <a:bodyPr wrap="square"/>
                    <a:lstStyle/>
                    <a:p>
                      <a:pPr algn="l"/>
                      <a:r>
                        <a:rPr sz="1050" b="0" i="0">
                          <a:solidFill>
                            <a:srgbClr val="000000"/>
                          </a:solidFill>
                          <a:latin typeface="Calibri"/>
                        </a:rPr>
                        <a:t>Figure 128: Eastern Europe Industrial Air Compressor Market Value, 2026–2036 Y-o-Y Comparison By Region</a:t>
                      </a:r>
                      <a:endParaRPr sz="1050"/>
                    </a:p>
                  </a:txBody>
                  <a:tcPr marL="9525" marR="9525" marT="9525" marB="0" anchor="ctr"/>
                </a:tc>
              </a:tr>
              <a:tr h="170708">
                <a:tc>
                  <a:txBody>
                    <a:bodyPr wrap="square"/>
                    <a:lstStyle/>
                    <a:p>
                      <a:pPr algn="l"/>
                      <a:r>
                        <a:rPr sz="1050" b="0" i="0">
                          <a:solidFill>
                            <a:srgbClr val="000000"/>
                          </a:solidFill>
                          <a:latin typeface="Calibri"/>
                        </a:rPr>
                        <a:t>Figure 129: Eastern Europe Industrial Air Compressor Market Value, 2026–2036 BPS Analysis By Region</a:t>
                      </a:r>
                      <a:endParaRPr sz="1050"/>
                    </a:p>
                  </a:txBody>
                  <a:tcPr marL="9525" marR="9525" marT="9525" marB="0" anchor="ctr"/>
                </a:tc>
              </a:tr>
              <a:tr h="170708">
                <a:tc>
                  <a:txBody>
                    <a:bodyPr wrap="square"/>
                    <a:lstStyle/>
                    <a:p>
                      <a:pPr algn="l"/>
                      <a:r>
                        <a:rPr sz="1050" b="0" i="0">
                          <a:solidFill>
                            <a:srgbClr val="000000"/>
                          </a:solidFill>
                          <a:latin typeface="Calibri"/>
                        </a:rPr>
                        <a:t>Figure 130: Eastern Europe Industrial Air Compressor Market Attractiveness Analysis By Region</a:t>
                      </a:r>
                      <a:endParaRPr sz="1050"/>
                    </a:p>
                  </a:txBody>
                  <a:tcPr marL="9525" marR="9525" marT="9525" marB="0" anchor="ctr"/>
                </a:tc>
              </a:tr>
              <a:tr h="170708">
                <a:tc>
                  <a:txBody>
                    <a:bodyPr wrap="square"/>
                    <a:lstStyle/>
                    <a:p>
                      <a:pPr algn="l"/>
                      <a:r>
                        <a:rPr sz="1050" b="0" i="0">
                          <a:solidFill>
                            <a:srgbClr val="000000"/>
                          </a:solidFill>
                          <a:latin typeface="Calibri"/>
                        </a:rPr>
                        <a:t>Figure 131: Russia Industrial Air Compressor Market Value, 2026–2036, By Technology</a:t>
                      </a:r>
                      <a:endParaRPr sz="1050"/>
                    </a:p>
                  </a:txBody>
                  <a:tcPr marL="9525" marR="9525" marT="9525" marB="0" anchor="ctr"/>
                </a:tc>
              </a:tr>
              <a:tr h="170708">
                <a:tc>
                  <a:txBody>
                    <a:bodyPr wrap="square"/>
                    <a:lstStyle/>
                    <a:p>
                      <a:pPr algn="l"/>
                      <a:r>
                        <a:rPr sz="1050" b="0" i="0">
                          <a:solidFill>
                            <a:srgbClr val="000000"/>
                          </a:solidFill>
                          <a:latin typeface="Calibri"/>
                        </a:rPr>
                        <a:t>Figure 132: Russia Industrial Air Compressor Market Value, 2026–2036, By Capacity</a:t>
                      </a:r>
                      <a:endParaRPr sz="1050"/>
                    </a:p>
                  </a:txBody>
                  <a:tcPr marL="9525" marR="9525" marT="9525" marB="0" anchor="ctr"/>
                </a:tc>
              </a:tr>
              <a:tr h="170708">
                <a:tc>
                  <a:txBody>
                    <a:bodyPr wrap="square"/>
                    <a:lstStyle/>
                    <a:p>
                      <a:pPr algn="l"/>
                      <a:r>
                        <a:rPr sz="1050" b="0" i="0">
                          <a:solidFill>
                            <a:srgbClr val="000000"/>
                          </a:solidFill>
                          <a:latin typeface="Calibri"/>
                        </a:rPr>
                        <a:t>Figure 133: Russia Industrial Air Compressor Market Value, 2026–2036, By Driver Type</a:t>
                      </a:r>
                      <a:endParaRPr sz="1050"/>
                    </a:p>
                  </a:txBody>
                  <a:tcPr marL="9525" marR="9525" marT="9525" marB="0" anchor="ctr"/>
                </a:tc>
              </a:tr>
              <a:tr h="170708">
                <a:tc>
                  <a:txBody>
                    <a:bodyPr wrap="square"/>
                    <a:lstStyle/>
                    <a:p>
                      <a:pPr algn="l"/>
                      <a:r>
                        <a:rPr sz="1050" b="0" i="0">
                          <a:solidFill>
                            <a:srgbClr val="000000"/>
                          </a:solidFill>
                          <a:latin typeface="Calibri"/>
                        </a:rPr>
                        <a:t>Figure 134: Russia Industrial Air Compressor Market Value, 2026–2036, By Compression Stage</a:t>
                      </a:r>
                      <a:endParaRPr sz="1050"/>
                    </a:p>
                  </a:txBody>
                  <a:tcPr marL="9525" marR="9525" marT="9525" marB="0" anchor="ctr"/>
                </a:tc>
              </a:tr>
              <a:tr h="170708">
                <a:tc>
                  <a:txBody>
                    <a:bodyPr wrap="square"/>
                    <a:lstStyle/>
                    <a:p>
                      <a:pPr algn="l"/>
                      <a:r>
                        <a:rPr sz="1050" b="0" i="0">
                          <a:solidFill>
                            <a:srgbClr val="000000"/>
                          </a:solidFill>
                          <a:latin typeface="Calibri"/>
                        </a:rPr>
                        <a:t>Figure 135: Russia Industrial Air Compressor Market Value, 2026–2036, By End Use</a:t>
                      </a:r>
                      <a:endParaRPr sz="1050"/>
                    </a:p>
                  </a:txBody>
                  <a:tcPr marL="9525" marR="9525" marT="9525" marB="0" anchor="ctr"/>
                </a:tc>
              </a:tr>
              <a:tr h="170708">
                <a:tc>
                  <a:txBody>
                    <a:bodyPr wrap="square"/>
                    <a:lstStyle/>
                    <a:p>
                      <a:pPr algn="l"/>
                      <a:r>
                        <a:rPr sz="1050" b="0" i="0">
                          <a:solidFill>
                            <a:srgbClr val="000000"/>
                          </a:solidFill>
                          <a:latin typeface="Calibri"/>
                        </a:rPr>
                        <a:t>Figure 136: Hungary Industrial Air Compressor Market Value, 2026–2036, By Technology</a:t>
                      </a:r>
                      <a:endParaRPr sz="1050"/>
                    </a:p>
                  </a:txBody>
                  <a:tcPr marL="9525" marR="9525" marT="9525" marB="0" anchor="ctr"/>
                </a:tc>
              </a:tr>
              <a:tr h="170708">
                <a:tc>
                  <a:txBody>
                    <a:bodyPr wrap="square"/>
                    <a:lstStyle/>
                    <a:p>
                      <a:pPr algn="l"/>
                      <a:r>
                        <a:rPr sz="1050" b="0" i="0">
                          <a:solidFill>
                            <a:srgbClr val="000000"/>
                          </a:solidFill>
                          <a:latin typeface="Calibri"/>
                        </a:rPr>
                        <a:t>Figure 137: Hungary Industrial Air Compressor Market Value, 2026–2036, By Capacity</a:t>
                      </a:r>
                      <a:endParaRPr sz="1050"/>
                    </a:p>
                  </a:txBody>
                  <a:tcPr marL="9525" marR="9525" marT="9525" marB="0" anchor="ctr"/>
                </a:tc>
              </a:tr>
              <a:tr h="170708">
                <a:tc>
                  <a:txBody>
                    <a:bodyPr wrap="square"/>
                    <a:lstStyle/>
                    <a:p>
                      <a:pPr algn="l"/>
                      <a:r>
                        <a:rPr sz="1050" b="0" i="0">
                          <a:solidFill>
                            <a:srgbClr val="000000"/>
                          </a:solidFill>
                          <a:latin typeface="Calibri"/>
                        </a:rPr>
                        <a:t>Figure 138: Hungary Industrial Air Compressor Market Value, 2026–2036, By Driver Type</a:t>
                      </a:r>
                      <a:endParaRPr sz="1050"/>
                    </a:p>
                  </a:txBody>
                  <a:tcPr marL="9525" marR="9525" marT="9525" marB="0" anchor="ctr"/>
                </a:tc>
              </a:tr>
              <a:tr h="170708">
                <a:tc>
                  <a:txBody>
                    <a:bodyPr wrap="square"/>
                    <a:lstStyle/>
                    <a:p>
                      <a:pPr algn="l"/>
                      <a:r>
                        <a:rPr sz="1050" b="0" i="0">
                          <a:solidFill>
                            <a:srgbClr val="000000"/>
                          </a:solidFill>
                          <a:latin typeface="Calibri"/>
                        </a:rPr>
                        <a:t>Figure 139: Hungary Industrial Air Compressor Market Value, 2026–2036, By Compression Stage</a:t>
                      </a:r>
                      <a:endParaRPr sz="1050"/>
                    </a:p>
                  </a:txBody>
                  <a:tcPr marL="9525" marR="9525" marT="9525" marB="0" anchor="ctr"/>
                </a:tc>
              </a:tr>
              <a:tr h="170708">
                <a:tc>
                  <a:txBody>
                    <a:bodyPr wrap="square"/>
                    <a:lstStyle/>
                    <a:p>
                      <a:pPr algn="l"/>
                      <a:r>
                        <a:rPr sz="1050" b="0" i="0">
                          <a:solidFill>
                            <a:srgbClr val="000000"/>
                          </a:solidFill>
                          <a:latin typeface="Calibri"/>
                        </a:rPr>
                        <a:t>Figure 140: Hungary Industrial Air Compressor Market Value, 2026–2036, By End Use</a:t>
                      </a:r>
                      <a:endParaRPr sz="1050"/>
                    </a:p>
                  </a:txBody>
                  <a:tcPr marL="9525" marR="9525" marT="9525" marB="0" anchor="ctr"/>
                </a:tc>
              </a:tr>
              <a:tr h="170708">
                <a:tc>
                  <a:txBody>
                    <a:bodyPr wrap="square"/>
                    <a:lstStyle/>
                    <a:p>
                      <a:pPr algn="l"/>
                      <a:r>
                        <a:rPr sz="1050" b="0" i="0">
                          <a:solidFill>
                            <a:srgbClr val="000000"/>
                          </a:solidFill>
                          <a:latin typeface="Calibri"/>
                        </a:rPr>
                        <a:t>Figure 141: Poland Industrial Air Compressor Market Value, 2026–2036, By Technology</a:t>
                      </a:r>
                      <a:endParaRPr sz="1050"/>
                    </a:p>
                  </a:txBody>
                  <a:tcPr marL="9525" marR="9525" marT="9525" marB="0" anchor="ctr"/>
                </a:tc>
              </a:tr>
              <a:tr h="170708">
                <a:tc>
                  <a:txBody>
                    <a:bodyPr wrap="square"/>
                    <a:lstStyle/>
                    <a:p>
                      <a:pPr algn="l"/>
                      <a:r>
                        <a:rPr sz="1050" b="0" i="0">
                          <a:solidFill>
                            <a:srgbClr val="000000"/>
                          </a:solidFill>
                          <a:latin typeface="Calibri"/>
                        </a:rPr>
                        <a:t>Figure 142: Poland Industrial Air Compressor Market Value, 2026–2036, By Capacity</a:t>
                      </a:r>
                      <a:endParaRPr sz="1050"/>
                    </a:p>
                  </a:txBody>
                  <a:tcPr marL="9525" marR="9525" marT="9525" marB="0" anchor="ctr"/>
                </a:tc>
              </a:tr>
              <a:tr h="170708">
                <a:tc>
                  <a:txBody>
                    <a:bodyPr wrap="square"/>
                    <a:lstStyle/>
                    <a:p>
                      <a:pPr algn="l"/>
                      <a:r>
                        <a:rPr sz="1050" b="0" i="0">
                          <a:solidFill>
                            <a:srgbClr val="000000"/>
                          </a:solidFill>
                          <a:latin typeface="Calibri"/>
                        </a:rPr>
                        <a:t>Figure 143: Poland Industrial Air Compressor Market Value, 2026–2036, By Driver Type</a:t>
                      </a:r>
                      <a:endParaRPr sz="1050"/>
                    </a:p>
                  </a:txBody>
                  <a:tcPr marL="9525" marR="9525" marT="9525" marB="0" anchor="ctr"/>
                </a:tc>
              </a:tr>
              <a:tr h="170708">
                <a:tc>
                  <a:txBody>
                    <a:bodyPr wrap="square"/>
                    <a:lstStyle/>
                    <a:p>
                      <a:pPr algn="l"/>
                      <a:r>
                        <a:rPr sz="1050" b="0" i="0">
                          <a:solidFill>
                            <a:srgbClr val="000000"/>
                          </a:solidFill>
                          <a:latin typeface="Calibri"/>
                        </a:rPr>
                        <a:t>Figure 144: Poland Industrial Air Compressor Market Value, 2026–2036, By Compression Stage</a:t>
                      </a:r>
                      <a:endParaRPr sz="1050"/>
                    </a:p>
                  </a:txBody>
                  <a:tcPr marL="9525" marR="9525" marT="9525" marB="0" anchor="ctr"/>
                </a:tc>
              </a:tr>
              <a:tr h="170708">
                <a:tc>
                  <a:txBody>
                    <a:bodyPr wrap="square"/>
                    <a:lstStyle/>
                    <a:p>
                      <a:pPr algn="l"/>
                      <a:r>
                        <a:rPr sz="1050" b="0" i="0">
                          <a:solidFill>
                            <a:srgbClr val="000000"/>
                          </a:solidFill>
                          <a:latin typeface="Calibri"/>
                        </a:rPr>
                        <a:t>Figure 145: Poland Industrial Air Compressor Market Value, 2026–2036, By End Use</a:t>
                      </a:r>
                      <a:endParaRPr sz="1050"/>
                    </a:p>
                  </a:txBody>
                  <a:tcPr marL="9525" marR="9525" marT="9525" marB="0" anchor="ctr"/>
                </a:tc>
              </a:tr>
              <a:tr h="170708">
                <a:tc>
                  <a:txBody>
                    <a:bodyPr wrap="square"/>
                    <a:lstStyle/>
                    <a:p>
                      <a:pPr algn="l"/>
                      <a:r>
                        <a:rPr sz="1050" b="0" i="0">
                          <a:solidFill>
                            <a:srgbClr val="000000"/>
                          </a:solidFill>
                          <a:latin typeface="Calibri"/>
                        </a:rPr>
                        <a:t>Figure 146: Balkan and Baltics Industrial Air Compressor Market Value, 2026–2036, By Technology</a:t>
                      </a:r>
                      <a:endParaRPr sz="1050"/>
                    </a:p>
                  </a:txBody>
                  <a:tcPr marL="9525" marR="9525" marT="9525" marB="0" anchor="ctr"/>
                </a:tc>
              </a:tr>
              <a:tr h="170708">
                <a:tc>
                  <a:txBody>
                    <a:bodyPr wrap="square"/>
                    <a:lstStyle/>
                    <a:p>
                      <a:pPr algn="l"/>
                      <a:r>
                        <a:rPr sz="1050" b="0" i="0">
                          <a:solidFill>
                            <a:srgbClr val="000000"/>
                          </a:solidFill>
                          <a:latin typeface="Calibri"/>
                        </a:rPr>
                        <a:t>Figure 147: Balkan and Baltics Industrial Air Compressor Market Value, 2026–2036, By Capacity</a:t>
                      </a:r>
                      <a:endParaRPr sz="1050"/>
                    </a:p>
                  </a:txBody>
                  <a:tcPr marL="9525" marR="9525" marT="9525" marB="0" anchor="ctr"/>
                </a:tc>
              </a:tr>
              <a:tr h="170708">
                <a:tc>
                  <a:txBody>
                    <a:bodyPr wrap="square"/>
                    <a:lstStyle/>
                    <a:p>
                      <a:pPr algn="l"/>
                      <a:r>
                        <a:rPr sz="1050" b="0" i="0">
                          <a:solidFill>
                            <a:srgbClr val="000000"/>
                          </a:solidFill>
                          <a:latin typeface="Calibri"/>
                        </a:rPr>
                        <a:t>Figure 148: Balkan and Baltics Industrial Air Compressor Market Value, 2026–2036, By Driver Type</a:t>
                      </a:r>
                      <a:endParaRPr sz="1050"/>
                    </a:p>
                  </a:txBody>
                  <a:tcPr marL="9525" marR="9525" marT="9525" marB="0" anchor="ctr"/>
                </a:tc>
              </a:tr>
              <a:tr h="334587">
                <a:tc>
                  <a:txBody>
                    <a:bodyPr wrap="square"/>
                    <a:lstStyle/>
                    <a:p>
                      <a:pPr algn="l"/>
                      <a:r>
                        <a:rPr sz="1050" b="0" i="0">
                          <a:solidFill>
                            <a:srgbClr val="000000"/>
                          </a:solidFill>
                          <a:latin typeface="Calibri"/>
                        </a:rPr>
                        <a:t>Figure 149: Balkan and Baltics Industrial Air Compressor Market Value, 2026–2036, By Compression Stage</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(4/7)</a:t>
            </a:r>
          </a:p>
        </p:txBody>
      </p:sp>
      <p:graphicFrame>
        <p:nvGraphicFramePr>
          <p:cNvPr id="6" name="FMI Contents Table"/>
          <p:cNvGraphicFramePr>
            <a:graphicFrameLocks noGrp="1"/>
          </p:cNvGraphicFramePr>
          <p:nvPr/>
        </p:nvGraphicFramePr>
        <p:xfrm>
          <a:off x="142875" y="981075"/>
          <a:ext cx="5876925" cy="5257806"/>
        </p:xfrm>
        <a:graphic>
          <a:graphicData uri="http://schemas.openxmlformats.org/drawingml/2006/table">
            <a:tbl>
              <a:tblPr>
                <a:tableStyleId>{3B4B98B0-60AC-42C2-AFA5-B58CD77FA1E5}</a:tableStyleId>
              </a:tblPr>
              <a:tblGrid>
                <a:gridCol w="5876925"/>
              </a:tblGrid>
              <a:tr h="177389">
                <a:tc>
                  <a:txBody>
                    <a:bodyPr wrap="square"/>
                    <a:lstStyle/>
                    <a:p>
                      <a:pPr algn="l"/>
                      <a:r>
                        <a:rPr sz="1050" b="0" i="0">
                          <a:solidFill>
                            <a:srgbClr val="000000"/>
                          </a:solidFill>
                          <a:latin typeface="Calibri"/>
                        </a:rPr>
                        <a:t>Figure 150: Balkan and Baltics Industrial Air Compressor Market Value, 2026–2036, By End Use</a:t>
                      </a:r>
                      <a:endParaRPr sz="1050"/>
                    </a:p>
                  </a:txBody>
                  <a:tcPr marL="9525" marR="9525" marT="9525" marB="0" anchor="ctr"/>
                </a:tc>
              </a:tr>
              <a:tr h="177389">
                <a:tc>
                  <a:txBody>
                    <a:bodyPr wrap="square"/>
                    <a:lstStyle/>
                    <a:p>
                      <a:pPr algn="l"/>
                      <a:r>
                        <a:rPr sz="1050" b="0" i="0">
                          <a:solidFill>
                            <a:srgbClr val="000000"/>
                          </a:solidFill>
                          <a:latin typeface="Calibri"/>
                        </a:rPr>
                        <a:t>Figure 151: Western Europe Industrial Air Compressor Market Value, 2021–2036</a:t>
                      </a:r>
                      <a:endParaRPr sz="1050"/>
                    </a:p>
                  </a:txBody>
                  <a:tcPr marL="9525" marR="9525" marT="9525" marB="0" anchor="ctr"/>
                </a:tc>
              </a:tr>
              <a:tr h="177389">
                <a:tc>
                  <a:txBody>
                    <a:bodyPr wrap="square"/>
                    <a:lstStyle/>
                    <a:p>
                      <a:pPr algn="l"/>
                      <a:r>
                        <a:rPr sz="1050" b="0" i="0">
                          <a:solidFill>
                            <a:srgbClr val="000000"/>
                          </a:solidFill>
                          <a:latin typeface="Calibri"/>
                        </a:rPr>
                        <a:t>Figure 152: Western Europe Industrial Air Compressor Market Incremental $ Opportunity, 2026–2036</a:t>
                      </a:r>
                      <a:endParaRPr sz="1050"/>
                    </a:p>
                  </a:txBody>
                  <a:tcPr marL="9525" marR="9525" marT="9525" marB="0" anchor="ctr"/>
                </a:tc>
              </a:tr>
              <a:tr h="177389">
                <a:tc>
                  <a:txBody>
                    <a:bodyPr wrap="square"/>
                    <a:lstStyle/>
                    <a:p>
                      <a:pPr algn="l"/>
                      <a:r>
                        <a:rPr sz="1050" b="0" i="0">
                          <a:solidFill>
                            <a:srgbClr val="000000"/>
                          </a:solidFill>
                          <a:latin typeface="Calibri"/>
                        </a:rPr>
                        <a:t>Figure 153: Western Europe Industrial Air Compressor Market Value, 2026–2036 By Technology</a:t>
                      </a:r>
                      <a:endParaRPr sz="1050"/>
                    </a:p>
                  </a:txBody>
                  <a:tcPr marL="9525" marR="9525" marT="9525" marB="0" anchor="ctr"/>
                </a:tc>
              </a:tr>
              <a:tr h="347682">
                <a:tc>
                  <a:txBody>
                    <a:bodyPr wrap="square"/>
                    <a:lstStyle/>
                    <a:p>
                      <a:pPr algn="l"/>
                      <a:r>
                        <a:rPr sz="1050" b="0" i="0">
                          <a:solidFill>
                            <a:srgbClr val="000000"/>
                          </a:solidFill>
                          <a:latin typeface="Calibri"/>
                        </a:rPr>
                        <a:t>Figure 154: Western Europe Industrial Air Compressor Market Value, 2026–2036 Y-o-Y Comparison By Technology</a:t>
                      </a:r>
                      <a:endParaRPr sz="1050"/>
                    </a:p>
                  </a:txBody>
                  <a:tcPr marL="9525" marR="9525" marT="9525" marB="0" anchor="ctr"/>
                </a:tc>
              </a:tr>
              <a:tr h="347682">
                <a:tc>
                  <a:txBody>
                    <a:bodyPr wrap="square"/>
                    <a:lstStyle/>
                    <a:p>
                      <a:pPr algn="l"/>
                      <a:r>
                        <a:rPr sz="1050" b="0" i="0">
                          <a:solidFill>
                            <a:srgbClr val="000000"/>
                          </a:solidFill>
                          <a:latin typeface="Calibri"/>
                        </a:rPr>
                        <a:t>Figure 155: Western Europe Industrial Air Compressor Market Value, 2026–2036 BPS Analysis By Technology</a:t>
                      </a:r>
                      <a:endParaRPr sz="1050"/>
                    </a:p>
                  </a:txBody>
                  <a:tcPr marL="9525" marR="9525" marT="9525" marB="0" anchor="ctr"/>
                </a:tc>
              </a:tr>
              <a:tr h="177389">
                <a:tc>
                  <a:txBody>
                    <a:bodyPr wrap="square"/>
                    <a:lstStyle/>
                    <a:p>
                      <a:pPr algn="l"/>
                      <a:r>
                        <a:rPr sz="1050" b="0" i="0">
                          <a:solidFill>
                            <a:srgbClr val="000000"/>
                          </a:solidFill>
                          <a:latin typeface="Calibri"/>
                        </a:rPr>
                        <a:t>Figure 156: Western Europe Industrial Air Compressor Market Attractiveness Analysis By Technology</a:t>
                      </a:r>
                      <a:endParaRPr sz="1050"/>
                    </a:p>
                  </a:txBody>
                  <a:tcPr marL="9525" marR="9525" marT="9525" marB="0" anchor="ctr"/>
                </a:tc>
              </a:tr>
              <a:tr h="177389">
                <a:tc>
                  <a:txBody>
                    <a:bodyPr wrap="square"/>
                    <a:lstStyle/>
                    <a:p>
                      <a:pPr algn="l"/>
                      <a:r>
                        <a:rPr sz="1050" b="0" i="0">
                          <a:solidFill>
                            <a:srgbClr val="000000"/>
                          </a:solidFill>
                          <a:latin typeface="Calibri"/>
                        </a:rPr>
                        <a:t>Figure 157: Western Europe Industrial Air Compressor Market Value, 2026–2036 By Capacity</a:t>
                      </a:r>
                      <a:endParaRPr sz="1050"/>
                    </a:p>
                  </a:txBody>
                  <a:tcPr marL="9525" marR="9525" marT="9525" marB="0" anchor="ctr"/>
                </a:tc>
              </a:tr>
              <a:tr h="347682">
                <a:tc>
                  <a:txBody>
                    <a:bodyPr wrap="square"/>
                    <a:lstStyle/>
                    <a:p>
                      <a:pPr algn="l"/>
                      <a:r>
                        <a:rPr sz="1050" b="0" i="0">
                          <a:solidFill>
                            <a:srgbClr val="000000"/>
                          </a:solidFill>
                          <a:latin typeface="Calibri"/>
                        </a:rPr>
                        <a:t>Figure 158: Western Europe Industrial Air Compressor Market Value, 2026–2036 Y-o-Y Comparison By Capacity</a:t>
                      </a:r>
                      <a:endParaRPr sz="1050"/>
                    </a:p>
                  </a:txBody>
                  <a:tcPr marL="9525" marR="9525" marT="9525" marB="0" anchor="ctr"/>
                </a:tc>
              </a:tr>
              <a:tr h="347682">
                <a:tc>
                  <a:txBody>
                    <a:bodyPr wrap="square"/>
                    <a:lstStyle/>
                    <a:p>
                      <a:pPr algn="l"/>
                      <a:r>
                        <a:rPr sz="1050" b="0" i="0">
                          <a:solidFill>
                            <a:srgbClr val="000000"/>
                          </a:solidFill>
                          <a:latin typeface="Calibri"/>
                        </a:rPr>
                        <a:t>Figure 159: Western Europe Industrial Air Compressor Market Value, 2026–2036 BPS Analysis By Capacity</a:t>
                      </a:r>
                      <a:endParaRPr sz="1050"/>
                    </a:p>
                  </a:txBody>
                  <a:tcPr marL="9525" marR="9525" marT="9525" marB="0" anchor="ctr"/>
                </a:tc>
              </a:tr>
              <a:tr h="177389">
                <a:tc>
                  <a:txBody>
                    <a:bodyPr wrap="square"/>
                    <a:lstStyle/>
                    <a:p>
                      <a:pPr algn="l"/>
                      <a:r>
                        <a:rPr sz="1050" b="0" i="0">
                          <a:solidFill>
                            <a:srgbClr val="000000"/>
                          </a:solidFill>
                          <a:latin typeface="Calibri"/>
                        </a:rPr>
                        <a:t>Figure 160: Western Europe Industrial Air Compressor Market Attractiveness Analysis By Capacity</a:t>
                      </a:r>
                      <a:endParaRPr sz="1050"/>
                    </a:p>
                  </a:txBody>
                  <a:tcPr marL="9525" marR="9525" marT="9525" marB="0" anchor="ctr"/>
                </a:tc>
              </a:tr>
              <a:tr h="177389">
                <a:tc>
                  <a:txBody>
                    <a:bodyPr wrap="square"/>
                    <a:lstStyle/>
                    <a:p>
                      <a:pPr algn="l"/>
                      <a:r>
                        <a:rPr sz="1050" b="0" i="0">
                          <a:solidFill>
                            <a:srgbClr val="000000"/>
                          </a:solidFill>
                          <a:latin typeface="Calibri"/>
                        </a:rPr>
                        <a:t>Figure 161: Western Europe Industrial Air Compressor Market Value, 2026–2036 By Driver Type</a:t>
                      </a:r>
                      <a:endParaRPr sz="1050"/>
                    </a:p>
                  </a:txBody>
                  <a:tcPr marL="9525" marR="9525" marT="9525" marB="0" anchor="ctr"/>
                </a:tc>
              </a:tr>
              <a:tr h="347682">
                <a:tc>
                  <a:txBody>
                    <a:bodyPr wrap="square"/>
                    <a:lstStyle/>
                    <a:p>
                      <a:pPr algn="l"/>
                      <a:r>
                        <a:rPr sz="1050" b="0" i="0">
                          <a:solidFill>
                            <a:srgbClr val="000000"/>
                          </a:solidFill>
                          <a:latin typeface="Calibri"/>
                        </a:rPr>
                        <a:t>Figure 162: Western Europe Industrial Air Compressor Market Value, 2026–2036 Y-o-Y Comparison By Driver Type</a:t>
                      </a:r>
                      <a:endParaRPr sz="1050"/>
                    </a:p>
                  </a:txBody>
                  <a:tcPr marL="9525" marR="9525" marT="9525" marB="0" anchor="ctr"/>
                </a:tc>
              </a:tr>
              <a:tr h="347682">
                <a:tc>
                  <a:txBody>
                    <a:bodyPr wrap="square"/>
                    <a:lstStyle/>
                    <a:p>
                      <a:pPr algn="l"/>
                      <a:r>
                        <a:rPr sz="1050" b="0" i="0">
                          <a:solidFill>
                            <a:srgbClr val="000000"/>
                          </a:solidFill>
                          <a:latin typeface="Calibri"/>
                        </a:rPr>
                        <a:t>Figure 163: Western Europe Industrial Air Compressor Market Value, 2026–2036 BPS Analysis By Driver Type</a:t>
                      </a:r>
                      <a:endParaRPr sz="1050"/>
                    </a:p>
                  </a:txBody>
                  <a:tcPr marL="9525" marR="9525" marT="9525" marB="0" anchor="ctr"/>
                </a:tc>
              </a:tr>
              <a:tr h="177389">
                <a:tc>
                  <a:txBody>
                    <a:bodyPr wrap="square"/>
                    <a:lstStyle/>
                    <a:p>
                      <a:pPr algn="l"/>
                      <a:r>
                        <a:rPr sz="1050" b="0" i="0">
                          <a:solidFill>
                            <a:srgbClr val="000000"/>
                          </a:solidFill>
                          <a:latin typeface="Calibri"/>
                        </a:rPr>
                        <a:t>Figure 164: Western Europe Industrial Air Compressor Market Attractiveness Analysis By Driver Type</a:t>
                      </a:r>
                      <a:endParaRPr sz="1050"/>
                    </a:p>
                  </a:txBody>
                  <a:tcPr marL="9525" marR="9525" marT="9525" marB="0" anchor="ctr"/>
                </a:tc>
              </a:tr>
              <a:tr h="177389">
                <a:tc>
                  <a:txBody>
                    <a:bodyPr wrap="square"/>
                    <a:lstStyle/>
                    <a:p>
                      <a:pPr algn="l"/>
                      <a:r>
                        <a:rPr sz="1050" b="0" i="0">
                          <a:solidFill>
                            <a:srgbClr val="000000"/>
                          </a:solidFill>
                          <a:latin typeface="Calibri"/>
                        </a:rPr>
                        <a:t>Figure 165: Western Europe Industrial Air Compressor Market Value, 2026–2036 By End Use</a:t>
                      </a:r>
                      <a:endParaRPr sz="1050"/>
                    </a:p>
                  </a:txBody>
                  <a:tcPr marL="9525" marR="9525" marT="9525" marB="0" anchor="ctr"/>
                </a:tc>
              </a:tr>
              <a:tr h="347682">
                <a:tc>
                  <a:txBody>
                    <a:bodyPr wrap="square"/>
                    <a:lstStyle/>
                    <a:p>
                      <a:pPr algn="l"/>
                      <a:r>
                        <a:rPr sz="1050" b="0" i="0">
                          <a:solidFill>
                            <a:srgbClr val="000000"/>
                          </a:solidFill>
                          <a:latin typeface="Calibri"/>
                        </a:rPr>
                        <a:t>Figure 166: Western Europe Industrial Air Compressor Market Value, 2026–2036 Y-o-Y Comparison By End Use</a:t>
                      </a:r>
                      <a:endParaRPr sz="1050"/>
                    </a:p>
                  </a:txBody>
                  <a:tcPr marL="9525" marR="9525" marT="9525" marB="0" anchor="ctr"/>
                </a:tc>
              </a:tr>
              <a:tr h="347682">
                <a:tc>
                  <a:txBody>
                    <a:bodyPr wrap="square"/>
                    <a:lstStyle/>
                    <a:p>
                      <a:pPr algn="l"/>
                      <a:r>
                        <a:rPr sz="1050" b="0" i="0">
                          <a:solidFill>
                            <a:srgbClr val="000000"/>
                          </a:solidFill>
                          <a:latin typeface="Calibri"/>
                        </a:rPr>
                        <a:t>Figure 167: Western Europe Industrial Air Compressor Market Value, 2026–2036 BPS Analysis By End Use</a:t>
                      </a:r>
                      <a:endParaRPr sz="1050"/>
                    </a:p>
                  </a:txBody>
                  <a:tcPr marL="9525" marR="9525" marT="9525" marB="0" anchor="ctr"/>
                </a:tc>
              </a:tr>
              <a:tr h="177389">
                <a:tc>
                  <a:txBody>
                    <a:bodyPr wrap="square"/>
                    <a:lstStyle/>
                    <a:p>
                      <a:pPr algn="l"/>
                      <a:r>
                        <a:rPr sz="1050" b="0" i="0">
                          <a:solidFill>
                            <a:srgbClr val="000000"/>
                          </a:solidFill>
                          <a:latin typeface="Calibri"/>
                        </a:rPr>
                        <a:t>Figure 168: Western Europe Industrial Air Compressor Market Attractiveness Analysis By End Use</a:t>
                      </a:r>
                      <a:endParaRPr sz="1050"/>
                    </a:p>
                  </a:txBody>
                  <a:tcPr marL="9525" marR="9525" marT="9525" marB="0" anchor="ctr"/>
                </a:tc>
              </a:tr>
              <a:tr h="177389">
                <a:tc>
                  <a:txBody>
                    <a:bodyPr wrap="square"/>
                    <a:lstStyle/>
                    <a:p>
                      <a:pPr algn="l"/>
                      <a:r>
                        <a:rPr sz="1050" b="0" i="0">
                          <a:solidFill>
                            <a:srgbClr val="000000"/>
                          </a:solidFill>
                          <a:latin typeface="Calibri"/>
                        </a:rPr>
                        <a:t>Figure 169: Western Europe Industrial Air Compressor Market Value, 2026–2036 By Compression Stage</a:t>
                      </a:r>
                      <a:endParaRPr sz="1050"/>
                    </a:p>
                  </a:txBody>
                  <a:tcPr marL="9525" marR="9525" marT="9525" marB="0" anchor="ctr"/>
                </a:tc>
              </a:tr>
              <a:tr h="347682">
                <a:tc>
                  <a:txBody>
                    <a:bodyPr wrap="square"/>
                    <a:lstStyle/>
                    <a:p>
                      <a:pPr algn="l"/>
                      <a:r>
                        <a:rPr sz="1050" b="0" i="0">
                          <a:solidFill>
                            <a:srgbClr val="000000"/>
                          </a:solidFill>
                          <a:latin typeface="Calibri"/>
                        </a:rPr>
                        <a:t>Figure 170: Western Europe Industrial Air Compressor Market Value, 2026–2036 Y-o-Y Comparison By Compression Stage</a:t>
                      </a:r>
                      <a:endParaRPr sz="1050"/>
                    </a:p>
                  </a:txBody>
                  <a:tcPr marL="9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790"/>
        </p:xfrm>
        <a:graphic>
          <a:graphicData uri="http://schemas.openxmlformats.org/drawingml/2006/table">
            <a:tbl>
              <a:tblPr>
                <a:tableStyleId>{3B4B98B0-60AC-42C2-AFA5-B58CD77FA1E5}</a:tableStyleId>
              </a:tblPr>
              <a:tblGrid>
                <a:gridCol w="5876925"/>
              </a:tblGrid>
              <a:tr h="334153">
                <a:tc>
                  <a:txBody>
                    <a:bodyPr wrap="square"/>
                    <a:lstStyle/>
                    <a:p>
                      <a:pPr algn="l"/>
                      <a:r>
                        <a:rPr sz="1050" b="0" i="0">
                          <a:solidFill>
                            <a:srgbClr val="000000"/>
                          </a:solidFill>
                          <a:latin typeface="Calibri"/>
                        </a:rPr>
                        <a:t>Figure 171: Western Europe Industrial Air Compressor Market Value, 2026–2036 BPS Analysis By Compression Stage</a:t>
                      </a:r>
                      <a:endParaRPr sz="1050"/>
                    </a:p>
                  </a:txBody>
                  <a:tcPr marL="9525" marR="9525" marT="9525" marB="0" anchor="ctr"/>
                </a:tc>
              </a:tr>
              <a:tr h="334153">
                <a:tc>
                  <a:txBody>
                    <a:bodyPr wrap="square"/>
                    <a:lstStyle/>
                    <a:p>
                      <a:pPr algn="l"/>
                      <a:r>
                        <a:rPr sz="1050" b="0" i="0">
                          <a:solidFill>
                            <a:srgbClr val="000000"/>
                          </a:solidFill>
                          <a:latin typeface="Calibri"/>
                        </a:rPr>
                        <a:t>Figure 172: Western Europe Industrial Air Compressor Market Attractiveness Analysis By Compression Stage</a:t>
                      </a:r>
                      <a:endParaRPr sz="1050"/>
                    </a:p>
                  </a:txBody>
                  <a:tcPr marL="9525" marR="9525" marT="9525" marB="0" anchor="ctr"/>
                </a:tc>
              </a:tr>
              <a:tr h="170486">
                <a:tc>
                  <a:txBody>
                    <a:bodyPr wrap="square"/>
                    <a:lstStyle/>
                    <a:p>
                      <a:pPr algn="l"/>
                      <a:r>
                        <a:rPr sz="1050" b="0" i="0">
                          <a:solidFill>
                            <a:srgbClr val="000000"/>
                          </a:solidFill>
                          <a:latin typeface="Calibri"/>
                        </a:rPr>
                        <a:t>Figure 173: Western Europe Industrial Air Compressor Market Value, 2026–2036 By Country</a:t>
                      </a:r>
                      <a:endParaRPr sz="1050"/>
                    </a:p>
                  </a:txBody>
                  <a:tcPr marL="9525" marR="9525" marT="9525" marB="0" anchor="ctr"/>
                </a:tc>
              </a:tr>
              <a:tr h="334153">
                <a:tc>
                  <a:txBody>
                    <a:bodyPr wrap="square"/>
                    <a:lstStyle/>
                    <a:p>
                      <a:pPr algn="l"/>
                      <a:r>
                        <a:rPr sz="1050" b="0" i="0">
                          <a:solidFill>
                            <a:srgbClr val="000000"/>
                          </a:solidFill>
                          <a:latin typeface="Calibri"/>
                        </a:rPr>
                        <a:t>Figure 174: Western Europe Industrial Air Compressor Market Value, 2026–2036 Y-o-Y Comparison By Country</a:t>
                      </a:r>
                      <a:endParaRPr sz="1050"/>
                    </a:p>
                  </a:txBody>
                  <a:tcPr marL="9525" marR="9525" marT="9525" marB="0" anchor="ctr"/>
                </a:tc>
              </a:tr>
              <a:tr h="334153">
                <a:tc>
                  <a:txBody>
                    <a:bodyPr wrap="square"/>
                    <a:lstStyle/>
                    <a:p>
                      <a:pPr algn="l"/>
                      <a:r>
                        <a:rPr sz="1050" b="0" i="0">
                          <a:solidFill>
                            <a:srgbClr val="000000"/>
                          </a:solidFill>
                          <a:latin typeface="Calibri"/>
                        </a:rPr>
                        <a:t>Figure 175: Western Europe Industrial Air Compressor Market Value, 2026–2036 BPS Analysis By Country</a:t>
                      </a:r>
                      <a:endParaRPr sz="1050"/>
                    </a:p>
                  </a:txBody>
                  <a:tcPr marL="9525" marR="9525" marT="9525" marB="0" anchor="ctr"/>
                </a:tc>
              </a:tr>
              <a:tr h="170486">
                <a:tc>
                  <a:txBody>
                    <a:bodyPr wrap="square"/>
                    <a:lstStyle/>
                    <a:p>
                      <a:pPr algn="l"/>
                      <a:r>
                        <a:rPr sz="1050" b="0" i="0">
                          <a:solidFill>
                            <a:srgbClr val="000000"/>
                          </a:solidFill>
                          <a:latin typeface="Calibri"/>
                        </a:rPr>
                        <a:t>Figure 176: Western Europe Industrial Air Compressor Market Attractiveness Analysis By Country</a:t>
                      </a:r>
                      <a:endParaRPr sz="1050"/>
                    </a:p>
                  </a:txBody>
                  <a:tcPr marL="9525" marR="9525" marT="9525" marB="0" anchor="ctr"/>
                </a:tc>
              </a:tr>
              <a:tr h="170486">
                <a:tc>
                  <a:txBody>
                    <a:bodyPr wrap="square"/>
                    <a:lstStyle/>
                    <a:p>
                      <a:pPr algn="l"/>
                      <a:r>
                        <a:rPr sz="1050" b="0" i="0">
                          <a:solidFill>
                            <a:srgbClr val="000000"/>
                          </a:solidFill>
                          <a:latin typeface="Calibri"/>
                        </a:rPr>
                        <a:t>Figure 177: Germany Industrial Air Compressor Market Value, 2026–2036, By Technology</a:t>
                      </a:r>
                      <a:endParaRPr sz="1050"/>
                    </a:p>
                  </a:txBody>
                  <a:tcPr marL="9525" marR="9525" marT="9525" marB="0" anchor="ctr"/>
                </a:tc>
              </a:tr>
              <a:tr h="170486">
                <a:tc>
                  <a:txBody>
                    <a:bodyPr wrap="square"/>
                    <a:lstStyle/>
                    <a:p>
                      <a:pPr algn="l"/>
                      <a:r>
                        <a:rPr sz="1050" b="0" i="0">
                          <a:solidFill>
                            <a:srgbClr val="000000"/>
                          </a:solidFill>
                          <a:latin typeface="Calibri"/>
                        </a:rPr>
                        <a:t>Figure 178: Germany Industrial Air Compressor Market Value, 2026–2036, By Capacity</a:t>
                      </a:r>
                      <a:endParaRPr sz="1050"/>
                    </a:p>
                  </a:txBody>
                  <a:tcPr marL="9525" marR="9525" marT="9525" marB="0" anchor="ctr"/>
                </a:tc>
              </a:tr>
              <a:tr h="170486">
                <a:tc>
                  <a:txBody>
                    <a:bodyPr wrap="square"/>
                    <a:lstStyle/>
                    <a:p>
                      <a:pPr algn="l"/>
                      <a:r>
                        <a:rPr sz="1050" b="0" i="0">
                          <a:solidFill>
                            <a:srgbClr val="000000"/>
                          </a:solidFill>
                          <a:latin typeface="Calibri"/>
                        </a:rPr>
                        <a:t>Figure 179: Germany Industrial Air Compressor Market Value, 2026–2036, By Driver Type</a:t>
                      </a:r>
                      <a:endParaRPr sz="1050"/>
                    </a:p>
                  </a:txBody>
                  <a:tcPr marL="9525" marR="9525" marT="9525" marB="0" anchor="ctr"/>
                </a:tc>
              </a:tr>
              <a:tr h="170486">
                <a:tc>
                  <a:txBody>
                    <a:bodyPr wrap="square"/>
                    <a:lstStyle/>
                    <a:p>
                      <a:pPr algn="l"/>
                      <a:r>
                        <a:rPr sz="1050" b="0" i="0">
                          <a:solidFill>
                            <a:srgbClr val="000000"/>
                          </a:solidFill>
                          <a:latin typeface="Calibri"/>
                        </a:rPr>
                        <a:t>Figure 180: Germany Industrial Air Compressor Market Value, 2026–2036, By Compression Stage</a:t>
                      </a:r>
                      <a:endParaRPr sz="1050"/>
                    </a:p>
                  </a:txBody>
                  <a:tcPr marL="9525" marR="9525" marT="9525" marB="0" anchor="ctr"/>
                </a:tc>
              </a:tr>
              <a:tr h="170486">
                <a:tc>
                  <a:txBody>
                    <a:bodyPr wrap="square"/>
                    <a:lstStyle/>
                    <a:p>
                      <a:pPr algn="l"/>
                      <a:r>
                        <a:rPr sz="1050" b="0" i="0">
                          <a:solidFill>
                            <a:srgbClr val="000000"/>
                          </a:solidFill>
                          <a:latin typeface="Calibri"/>
                        </a:rPr>
                        <a:t>Figure 181: Germany Industrial Air Compressor Market Value, 2026–2036, By End Use</a:t>
                      </a:r>
                      <a:endParaRPr sz="1050"/>
                    </a:p>
                  </a:txBody>
                  <a:tcPr marL="9525" marR="9525" marT="9525" marB="0" anchor="ctr"/>
                </a:tc>
              </a:tr>
              <a:tr h="170486">
                <a:tc>
                  <a:txBody>
                    <a:bodyPr wrap="square"/>
                    <a:lstStyle/>
                    <a:p>
                      <a:pPr algn="l"/>
                      <a:r>
                        <a:rPr sz="1050" b="0" i="0">
                          <a:solidFill>
                            <a:srgbClr val="000000"/>
                          </a:solidFill>
                          <a:latin typeface="Calibri"/>
                        </a:rPr>
                        <a:t>Figure 182: Italy Industrial Air Compressor Market Value, 2026–2036, By Technology</a:t>
                      </a:r>
                      <a:endParaRPr sz="1050"/>
                    </a:p>
                  </a:txBody>
                  <a:tcPr marL="9525" marR="9525" marT="9525" marB="0" anchor="ctr"/>
                </a:tc>
              </a:tr>
              <a:tr h="170486">
                <a:tc>
                  <a:txBody>
                    <a:bodyPr wrap="square"/>
                    <a:lstStyle/>
                    <a:p>
                      <a:pPr algn="l"/>
                      <a:r>
                        <a:rPr sz="1050" b="0" i="0">
                          <a:solidFill>
                            <a:srgbClr val="000000"/>
                          </a:solidFill>
                          <a:latin typeface="Calibri"/>
                        </a:rPr>
                        <a:t>Figure 183: Italy Industrial Air Compressor Market Value, 2026–2036, By Capacity</a:t>
                      </a:r>
                      <a:endParaRPr sz="1050"/>
                    </a:p>
                  </a:txBody>
                  <a:tcPr marL="9525" marR="9525" marT="9525" marB="0" anchor="ctr"/>
                </a:tc>
              </a:tr>
              <a:tr h="170486">
                <a:tc>
                  <a:txBody>
                    <a:bodyPr wrap="square"/>
                    <a:lstStyle/>
                    <a:p>
                      <a:pPr algn="l"/>
                      <a:r>
                        <a:rPr sz="1050" b="0" i="0">
                          <a:solidFill>
                            <a:srgbClr val="000000"/>
                          </a:solidFill>
                          <a:latin typeface="Calibri"/>
                        </a:rPr>
                        <a:t>Figure 184: Italy Industrial Air Compressor Market Value, 2026–2036, By Driver Type</a:t>
                      </a:r>
                      <a:endParaRPr sz="1050"/>
                    </a:p>
                  </a:txBody>
                  <a:tcPr marL="9525" marR="9525" marT="9525" marB="0" anchor="ctr"/>
                </a:tc>
              </a:tr>
              <a:tr h="170486">
                <a:tc>
                  <a:txBody>
                    <a:bodyPr wrap="square"/>
                    <a:lstStyle/>
                    <a:p>
                      <a:pPr algn="l"/>
                      <a:r>
                        <a:rPr sz="1050" b="0" i="0">
                          <a:solidFill>
                            <a:srgbClr val="000000"/>
                          </a:solidFill>
                          <a:latin typeface="Calibri"/>
                        </a:rPr>
                        <a:t>Figure 185: Italy Industrial Air Compressor Market Value, 2026–2036, By Compression Stage</a:t>
                      </a:r>
                      <a:endParaRPr sz="1050"/>
                    </a:p>
                  </a:txBody>
                  <a:tcPr marL="9525" marR="9525" marT="9525" marB="0" anchor="ctr"/>
                </a:tc>
              </a:tr>
              <a:tr h="170486">
                <a:tc>
                  <a:txBody>
                    <a:bodyPr wrap="square"/>
                    <a:lstStyle/>
                    <a:p>
                      <a:pPr algn="l"/>
                      <a:r>
                        <a:rPr sz="1050" b="0" i="0">
                          <a:solidFill>
                            <a:srgbClr val="000000"/>
                          </a:solidFill>
                          <a:latin typeface="Calibri"/>
                        </a:rPr>
                        <a:t>Figure 186: Italy Industrial Air Compressor Market Value, 2026–2036, By End Use</a:t>
                      </a:r>
                      <a:endParaRPr sz="1050"/>
                    </a:p>
                  </a:txBody>
                  <a:tcPr marL="9525" marR="9525" marT="9525" marB="0" anchor="ctr"/>
                </a:tc>
              </a:tr>
              <a:tr h="170486">
                <a:tc>
                  <a:txBody>
                    <a:bodyPr wrap="square"/>
                    <a:lstStyle/>
                    <a:p>
                      <a:pPr algn="l"/>
                      <a:r>
                        <a:rPr sz="1050" b="0" i="0">
                          <a:solidFill>
                            <a:srgbClr val="000000"/>
                          </a:solidFill>
                          <a:latin typeface="Calibri"/>
                        </a:rPr>
                        <a:t>Figure 187: France Industrial Air Compressor Market Value, 2026–2036, By Technology</a:t>
                      </a:r>
                      <a:endParaRPr sz="1050"/>
                    </a:p>
                  </a:txBody>
                  <a:tcPr marL="9525" marR="9525" marT="9525" marB="0" anchor="ctr"/>
                </a:tc>
              </a:tr>
              <a:tr h="170486">
                <a:tc>
                  <a:txBody>
                    <a:bodyPr wrap="square"/>
                    <a:lstStyle/>
                    <a:p>
                      <a:pPr algn="l"/>
                      <a:r>
                        <a:rPr sz="1050" b="0" i="0">
                          <a:solidFill>
                            <a:srgbClr val="000000"/>
                          </a:solidFill>
                          <a:latin typeface="Calibri"/>
                        </a:rPr>
                        <a:t>Figure 188: France Industrial Air Compressor Market Value, 2026–2036, By Capacity</a:t>
                      </a:r>
                      <a:endParaRPr sz="1050"/>
                    </a:p>
                  </a:txBody>
                  <a:tcPr marL="9525" marR="9525" marT="9525" marB="0" anchor="ctr"/>
                </a:tc>
              </a:tr>
              <a:tr h="170486">
                <a:tc>
                  <a:txBody>
                    <a:bodyPr wrap="square"/>
                    <a:lstStyle/>
                    <a:p>
                      <a:pPr algn="l"/>
                      <a:r>
                        <a:rPr sz="1050" b="0" i="0">
                          <a:solidFill>
                            <a:srgbClr val="000000"/>
                          </a:solidFill>
                          <a:latin typeface="Calibri"/>
                        </a:rPr>
                        <a:t>Figure 189: France Industrial Air Compressor Market Value, 2026–2036, By Driver Type</a:t>
                      </a:r>
                      <a:endParaRPr sz="1050"/>
                    </a:p>
                  </a:txBody>
                  <a:tcPr marL="9525" marR="9525" marT="9525" marB="0" anchor="ctr"/>
                </a:tc>
              </a:tr>
              <a:tr h="170486">
                <a:tc>
                  <a:txBody>
                    <a:bodyPr wrap="square"/>
                    <a:lstStyle/>
                    <a:p>
                      <a:pPr algn="l"/>
                      <a:r>
                        <a:rPr sz="1050" b="0" i="0">
                          <a:solidFill>
                            <a:srgbClr val="000000"/>
                          </a:solidFill>
                          <a:latin typeface="Calibri"/>
                        </a:rPr>
                        <a:t>Figure 190: France Industrial Air Compressor Market Value, 2026–2036, By Compression Stage</a:t>
                      </a:r>
                      <a:endParaRPr sz="1050"/>
                    </a:p>
                  </a:txBody>
                  <a:tcPr marL="9525" marR="9525" marT="9525" marB="0" anchor="ctr"/>
                </a:tc>
              </a:tr>
              <a:tr h="170486">
                <a:tc>
                  <a:txBody>
                    <a:bodyPr wrap="square"/>
                    <a:lstStyle/>
                    <a:p>
                      <a:pPr algn="l"/>
                      <a:r>
                        <a:rPr sz="1050" b="0" i="0">
                          <a:solidFill>
                            <a:srgbClr val="000000"/>
                          </a:solidFill>
                          <a:latin typeface="Calibri"/>
                        </a:rPr>
                        <a:t>Figure 191: France Industrial Air Compressor Market Value, 2026–2036, By End Use</a:t>
                      </a:r>
                      <a:endParaRPr sz="1050"/>
                    </a:p>
                  </a:txBody>
                  <a:tcPr marL="9525" marR="9525" marT="9525" marB="0" anchor="ctr"/>
                </a:tc>
              </a:tr>
              <a:tr h="170486">
                <a:tc>
                  <a:txBody>
                    <a:bodyPr wrap="square"/>
                    <a:lstStyle/>
                    <a:p>
                      <a:pPr algn="l"/>
                      <a:r>
                        <a:rPr sz="1050" b="0" i="0">
                          <a:solidFill>
                            <a:srgbClr val="000000"/>
                          </a:solidFill>
                          <a:latin typeface="Calibri"/>
                        </a:rPr>
                        <a:t>Figure 192: U.K. Industrial Air Compressor Market Value, 2026–2036, By Technology</a:t>
                      </a:r>
                      <a:endParaRPr sz="1050"/>
                    </a:p>
                  </a:txBody>
                  <a:tcPr marL="9525" marR="9525" marT="9525" marB="0" anchor="ctr"/>
                </a:tc>
              </a:tr>
              <a:tr h="170486">
                <a:tc>
                  <a:txBody>
                    <a:bodyPr wrap="square"/>
                    <a:lstStyle/>
                    <a:p>
                      <a:pPr algn="l"/>
                      <a:r>
                        <a:rPr sz="1050" b="0" i="0">
                          <a:solidFill>
                            <a:srgbClr val="000000"/>
                          </a:solidFill>
                          <a:latin typeface="Calibri"/>
                        </a:rPr>
                        <a:t>Figure 193: U.K. Industrial Air Compressor Market Value, 2026–2036, By Capacity</a:t>
                      </a:r>
                      <a:endParaRPr sz="1050"/>
                    </a:p>
                  </a:txBody>
                  <a:tcPr marL="9525" marR="9525" marT="9525" marB="0" anchor="ctr"/>
                </a:tc>
              </a:tr>
              <a:tr h="170486">
                <a:tc>
                  <a:txBody>
                    <a:bodyPr wrap="square"/>
                    <a:lstStyle/>
                    <a:p>
                      <a:pPr algn="l"/>
                      <a:r>
                        <a:rPr sz="1050" b="0" i="0">
                          <a:solidFill>
                            <a:srgbClr val="000000"/>
                          </a:solidFill>
                          <a:latin typeface="Calibri"/>
                        </a:rPr>
                        <a:t>Figure 194: U.K. Industrial Air Compressor Market Value, 2026–2036, By Driver Type</a:t>
                      </a:r>
                      <a:endParaRPr sz="1050"/>
                    </a:p>
                  </a:txBody>
                  <a:tcPr marL="9525" marR="9525" marT="9525" marB="0" anchor="ctr"/>
                </a:tc>
              </a:tr>
              <a:tr h="170486">
                <a:tc>
                  <a:txBody>
                    <a:bodyPr wrap="square"/>
                    <a:lstStyle/>
                    <a:p>
                      <a:pPr algn="l"/>
                      <a:r>
                        <a:rPr sz="1050" b="0" i="0">
                          <a:solidFill>
                            <a:srgbClr val="000000"/>
                          </a:solidFill>
                          <a:latin typeface="Calibri"/>
                        </a:rPr>
                        <a:t>Figure 195: U.K. Industrial Air Compressor Market Value, 2026–2036, By Compression Stage</a:t>
                      </a:r>
                      <a:endParaRPr sz="1050"/>
                    </a:p>
                  </a:txBody>
                  <a:tcPr marL="9525" marR="9525" marT="9525" marB="0" anchor="ctr"/>
                </a:tc>
              </a:tr>
              <a:tr h="170486">
                <a:tc>
                  <a:txBody>
                    <a:bodyPr wrap="square"/>
                    <a:lstStyle/>
                    <a:p>
                      <a:pPr algn="l"/>
                      <a:r>
                        <a:rPr sz="1050" b="0" i="0">
                          <a:solidFill>
                            <a:srgbClr val="000000"/>
                          </a:solidFill>
                          <a:latin typeface="Calibri"/>
                        </a:rPr>
                        <a:t>Figure 196: U.K. Industrial Air Compressor Market Value, 2026–2036, By End Use</a:t>
                      </a:r>
                      <a:endParaRPr sz="1050"/>
                    </a:p>
                  </a:txBody>
                  <a:tcPr marL="9525" marR="9525" marT="9525" marB="0" anchor="ctr"/>
                </a:tc>
              </a:tr>
              <a:tr h="170486">
                <a:tc>
                  <a:txBody>
                    <a:bodyPr wrap="square"/>
                    <a:lstStyle/>
                    <a:p>
                      <a:pPr algn="l"/>
                      <a:r>
                        <a:rPr sz="1050" b="0" i="0">
                          <a:solidFill>
                            <a:srgbClr val="000000"/>
                          </a:solidFill>
                          <a:latin typeface="Calibri"/>
                        </a:rPr>
                        <a:t>Figure 197: Spain Industrial Air Compressor Market Value, 2026–2036, By Technology</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(5/7)</a:t>
            </a:r>
          </a:p>
        </p:txBody>
      </p:sp>
      <p:graphicFrame>
        <p:nvGraphicFramePr>
          <p:cNvPr id="6" name="FMI Contents Table"/>
          <p:cNvGraphicFramePr>
            <a:graphicFrameLocks noGrp="1"/>
          </p:cNvGraphicFramePr>
          <p:nvPr/>
        </p:nvGraphicFramePr>
        <p:xfrm>
          <a:off x="142875" y="981075"/>
          <a:ext cx="5876925" cy="5257810"/>
        </p:xfrm>
        <a:graphic>
          <a:graphicData uri="http://schemas.openxmlformats.org/drawingml/2006/table">
            <a:tbl>
              <a:tblPr>
                <a:tableStyleId>{3B4B98B0-60AC-42C2-AFA5-B58CD77FA1E5}</a:tableStyleId>
              </a:tblPr>
              <a:tblGrid>
                <a:gridCol w="5876925"/>
              </a:tblGrid>
              <a:tr h="170266">
                <a:tc>
                  <a:txBody>
                    <a:bodyPr wrap="square"/>
                    <a:lstStyle/>
                    <a:p>
                      <a:pPr algn="l"/>
                      <a:r>
                        <a:rPr sz="1050" b="0" i="0">
                          <a:solidFill>
                            <a:srgbClr val="000000"/>
                          </a:solidFill>
                          <a:latin typeface="Calibri"/>
                        </a:rPr>
                        <a:t>Figure 198: Spain Industrial Air Compressor Market Value, 2026–2036, By Capacity</a:t>
                      </a:r>
                      <a:endParaRPr sz="1050"/>
                    </a:p>
                  </a:txBody>
                  <a:tcPr marL="9525" marR="9525" marT="9525" marB="0" anchor="ctr"/>
                </a:tc>
              </a:tr>
              <a:tr h="170266">
                <a:tc>
                  <a:txBody>
                    <a:bodyPr wrap="square"/>
                    <a:lstStyle/>
                    <a:p>
                      <a:pPr algn="l"/>
                      <a:r>
                        <a:rPr sz="1050" b="0" i="0">
                          <a:solidFill>
                            <a:srgbClr val="000000"/>
                          </a:solidFill>
                          <a:latin typeface="Calibri"/>
                        </a:rPr>
                        <a:t>Figure 199: Spain Industrial Air Compressor Market Value, 2026–2036, By Driver Type</a:t>
                      </a:r>
                      <a:endParaRPr sz="1050"/>
                    </a:p>
                  </a:txBody>
                  <a:tcPr marL="9525" marR="9525" marT="9525" marB="0" anchor="ctr"/>
                </a:tc>
              </a:tr>
              <a:tr h="170266">
                <a:tc>
                  <a:txBody>
                    <a:bodyPr wrap="square"/>
                    <a:lstStyle/>
                    <a:p>
                      <a:pPr algn="l"/>
                      <a:r>
                        <a:rPr sz="1050" b="0" i="0">
                          <a:solidFill>
                            <a:srgbClr val="000000"/>
                          </a:solidFill>
                          <a:latin typeface="Calibri"/>
                        </a:rPr>
                        <a:t>Figure 200: Spain Industrial Air Compressor Market Value, 2026–2036, By Compression Stage</a:t>
                      </a:r>
                      <a:endParaRPr sz="1050"/>
                    </a:p>
                  </a:txBody>
                  <a:tcPr marL="9525" marR="9525" marT="9525" marB="0" anchor="ctr"/>
                </a:tc>
              </a:tr>
              <a:tr h="170266">
                <a:tc>
                  <a:txBody>
                    <a:bodyPr wrap="square"/>
                    <a:lstStyle/>
                    <a:p>
                      <a:pPr algn="l"/>
                      <a:r>
                        <a:rPr sz="1050" b="0" i="0">
                          <a:solidFill>
                            <a:srgbClr val="000000"/>
                          </a:solidFill>
                          <a:latin typeface="Calibri"/>
                        </a:rPr>
                        <a:t>Figure 201: Spain Industrial Air Compressor Market Value, 2026–2036, By End Use</a:t>
                      </a:r>
                      <a:endParaRPr sz="1050"/>
                    </a:p>
                  </a:txBody>
                  <a:tcPr marL="9525" marR="9525" marT="9525" marB="0" anchor="ctr"/>
                </a:tc>
              </a:tr>
              <a:tr h="170266">
                <a:tc>
                  <a:txBody>
                    <a:bodyPr wrap="square"/>
                    <a:lstStyle/>
                    <a:p>
                      <a:pPr algn="l"/>
                      <a:r>
                        <a:rPr sz="1050" b="0" i="0">
                          <a:solidFill>
                            <a:srgbClr val="000000"/>
                          </a:solidFill>
                          <a:latin typeface="Calibri"/>
                        </a:rPr>
                        <a:t>Figure 202: BENELUX Industrial Air Compressor Market Value, 2026–2036, By Technology</a:t>
                      </a:r>
                      <a:endParaRPr sz="1050"/>
                    </a:p>
                  </a:txBody>
                  <a:tcPr marL="9525" marR="9525" marT="9525" marB="0" anchor="ctr"/>
                </a:tc>
              </a:tr>
              <a:tr h="170266">
                <a:tc>
                  <a:txBody>
                    <a:bodyPr wrap="square"/>
                    <a:lstStyle/>
                    <a:p>
                      <a:pPr algn="l"/>
                      <a:r>
                        <a:rPr sz="1050" b="0" i="0">
                          <a:solidFill>
                            <a:srgbClr val="000000"/>
                          </a:solidFill>
                          <a:latin typeface="Calibri"/>
                        </a:rPr>
                        <a:t>Figure 203: BENELUX Industrial Air Compressor Market Value, 2026–2036, By Capacity</a:t>
                      </a:r>
                      <a:endParaRPr sz="1050"/>
                    </a:p>
                  </a:txBody>
                  <a:tcPr marL="9525" marR="9525" marT="9525" marB="0" anchor="ctr"/>
                </a:tc>
              </a:tr>
              <a:tr h="170266">
                <a:tc>
                  <a:txBody>
                    <a:bodyPr wrap="square"/>
                    <a:lstStyle/>
                    <a:p>
                      <a:pPr algn="l"/>
                      <a:r>
                        <a:rPr sz="1050" b="0" i="0">
                          <a:solidFill>
                            <a:srgbClr val="000000"/>
                          </a:solidFill>
                          <a:latin typeface="Calibri"/>
                        </a:rPr>
                        <a:t>Figure 204: BENELUX Industrial Air Compressor Market Value, 2026–2036, By Driver Type</a:t>
                      </a:r>
                      <a:endParaRPr sz="1050"/>
                    </a:p>
                  </a:txBody>
                  <a:tcPr marL="9525" marR="9525" marT="9525" marB="0" anchor="ctr"/>
                </a:tc>
              </a:tr>
              <a:tr h="170266">
                <a:tc>
                  <a:txBody>
                    <a:bodyPr wrap="square"/>
                    <a:lstStyle/>
                    <a:p>
                      <a:pPr algn="l"/>
                      <a:r>
                        <a:rPr sz="1050" b="0" i="0">
                          <a:solidFill>
                            <a:srgbClr val="000000"/>
                          </a:solidFill>
                          <a:latin typeface="Calibri"/>
                        </a:rPr>
                        <a:t>Figure 205: BENELUX Industrial Air Compressor Market Value, 2026–2036, By Compression Stage</a:t>
                      </a:r>
                      <a:endParaRPr sz="1050"/>
                    </a:p>
                  </a:txBody>
                  <a:tcPr marL="9525" marR="9525" marT="9525" marB="0" anchor="ctr"/>
                </a:tc>
              </a:tr>
              <a:tr h="170266">
                <a:tc>
                  <a:txBody>
                    <a:bodyPr wrap="square"/>
                    <a:lstStyle/>
                    <a:p>
                      <a:pPr algn="l"/>
                      <a:r>
                        <a:rPr sz="1050" b="0" i="0">
                          <a:solidFill>
                            <a:srgbClr val="000000"/>
                          </a:solidFill>
                          <a:latin typeface="Calibri"/>
                        </a:rPr>
                        <a:t>Figure 206: BENELUX Industrial Air Compressor Market Value, 2026–2036, By End Use</a:t>
                      </a:r>
                      <a:endParaRPr sz="1050"/>
                    </a:p>
                  </a:txBody>
                  <a:tcPr marL="9525" marR="9525" marT="9525" marB="0" anchor="ctr"/>
                </a:tc>
              </a:tr>
              <a:tr h="170266">
                <a:tc>
                  <a:txBody>
                    <a:bodyPr wrap="square"/>
                    <a:lstStyle/>
                    <a:p>
                      <a:pPr algn="l"/>
                      <a:r>
                        <a:rPr sz="1050" b="0" i="0">
                          <a:solidFill>
                            <a:srgbClr val="000000"/>
                          </a:solidFill>
                          <a:latin typeface="Calibri"/>
                        </a:rPr>
                        <a:t>Figure 207: Nordics Industrial Air Compressor Market Value, 2026–2036, By Technology</a:t>
                      </a:r>
                      <a:endParaRPr sz="1050"/>
                    </a:p>
                  </a:txBody>
                  <a:tcPr marL="9525" marR="9525" marT="9525" marB="0" anchor="ctr"/>
                </a:tc>
              </a:tr>
              <a:tr h="170266">
                <a:tc>
                  <a:txBody>
                    <a:bodyPr wrap="square"/>
                    <a:lstStyle/>
                    <a:p>
                      <a:pPr algn="l"/>
                      <a:r>
                        <a:rPr sz="1050" b="0" i="0">
                          <a:solidFill>
                            <a:srgbClr val="000000"/>
                          </a:solidFill>
                          <a:latin typeface="Calibri"/>
                        </a:rPr>
                        <a:t>Figure 208: Nordics Industrial Air Compressor Market Value, 2026–2036, By Capacity</a:t>
                      </a:r>
                      <a:endParaRPr sz="1050"/>
                    </a:p>
                  </a:txBody>
                  <a:tcPr marL="9525" marR="9525" marT="9525" marB="0" anchor="ctr"/>
                </a:tc>
              </a:tr>
              <a:tr h="170266">
                <a:tc>
                  <a:txBody>
                    <a:bodyPr wrap="square"/>
                    <a:lstStyle/>
                    <a:p>
                      <a:pPr algn="l"/>
                      <a:r>
                        <a:rPr sz="1050" b="0" i="0">
                          <a:solidFill>
                            <a:srgbClr val="000000"/>
                          </a:solidFill>
                          <a:latin typeface="Calibri"/>
                        </a:rPr>
                        <a:t>Figure 209: Nordics Industrial Air Compressor Market Value, 2026–2036, By Driver Type</a:t>
                      </a:r>
                      <a:endParaRPr sz="1050"/>
                    </a:p>
                  </a:txBody>
                  <a:tcPr marL="9525" marR="9525" marT="9525" marB="0" anchor="ctr"/>
                </a:tc>
              </a:tr>
              <a:tr h="170266">
                <a:tc>
                  <a:txBody>
                    <a:bodyPr wrap="square"/>
                    <a:lstStyle/>
                    <a:p>
                      <a:pPr algn="l"/>
                      <a:r>
                        <a:rPr sz="1050" b="0" i="0">
                          <a:solidFill>
                            <a:srgbClr val="000000"/>
                          </a:solidFill>
                          <a:latin typeface="Calibri"/>
                        </a:rPr>
                        <a:t>Figure 210: Nordics Industrial Air Compressor Market Value, 2026–2036, By Compression Stage</a:t>
                      </a:r>
                      <a:endParaRPr sz="1050"/>
                    </a:p>
                  </a:txBody>
                  <a:tcPr marL="9525" marR="9525" marT="9525" marB="0" anchor="ctr"/>
                </a:tc>
              </a:tr>
              <a:tr h="170266">
                <a:tc>
                  <a:txBody>
                    <a:bodyPr wrap="square"/>
                    <a:lstStyle/>
                    <a:p>
                      <a:pPr algn="l"/>
                      <a:r>
                        <a:rPr sz="1050" b="0" i="0">
                          <a:solidFill>
                            <a:srgbClr val="000000"/>
                          </a:solidFill>
                          <a:latin typeface="Calibri"/>
                        </a:rPr>
                        <a:t>Figure 211: Nordics Industrial Air Compressor Market Value, 2026–2036, By End Use</a:t>
                      </a:r>
                      <a:endParaRPr sz="1050"/>
                    </a:p>
                  </a:txBody>
                  <a:tcPr marL="9525" marR="9525" marT="9525" marB="0" anchor="ctr"/>
                </a:tc>
              </a:tr>
              <a:tr h="170266">
                <a:tc>
                  <a:txBody>
                    <a:bodyPr wrap="square"/>
                    <a:lstStyle/>
                    <a:p>
                      <a:pPr algn="l"/>
                      <a:r>
                        <a:rPr sz="1050" b="0" i="0">
                          <a:solidFill>
                            <a:srgbClr val="000000"/>
                          </a:solidFill>
                          <a:latin typeface="Calibri"/>
                        </a:rPr>
                        <a:t>Figure 212: East Asia Industrial Air Compressor Market Value, 2021–2036</a:t>
                      </a:r>
                      <a:endParaRPr sz="1050"/>
                    </a:p>
                  </a:txBody>
                  <a:tcPr marL="9525" marR="9525" marT="9525" marB="0" anchor="ctr"/>
                </a:tc>
              </a:tr>
              <a:tr h="170266">
                <a:tc>
                  <a:txBody>
                    <a:bodyPr wrap="square"/>
                    <a:lstStyle/>
                    <a:p>
                      <a:pPr algn="l"/>
                      <a:r>
                        <a:rPr sz="1050" b="0" i="0">
                          <a:solidFill>
                            <a:srgbClr val="000000"/>
                          </a:solidFill>
                          <a:latin typeface="Calibri"/>
                        </a:rPr>
                        <a:t>Figure 213: East Asia Industrial Air Compressor Market Incremental $ Opportunity, 2026–2036</a:t>
                      </a:r>
                      <a:endParaRPr sz="1050"/>
                    </a:p>
                  </a:txBody>
                  <a:tcPr marL="9525" marR="9525" marT="9525" marB="0" anchor="ctr"/>
                </a:tc>
              </a:tr>
              <a:tr h="170266">
                <a:tc>
                  <a:txBody>
                    <a:bodyPr wrap="square"/>
                    <a:lstStyle/>
                    <a:p>
                      <a:pPr algn="l"/>
                      <a:r>
                        <a:rPr sz="1050" b="0" i="0">
                          <a:solidFill>
                            <a:srgbClr val="000000"/>
                          </a:solidFill>
                          <a:latin typeface="Calibri"/>
                        </a:rPr>
                        <a:t>Figure 214: East Asia Industrial Air Compressor Market Value, 2026–2036 By Technology</a:t>
                      </a:r>
                      <a:endParaRPr sz="1050"/>
                    </a:p>
                  </a:txBody>
                  <a:tcPr marL="9525" marR="9525" marT="9525" marB="0" anchor="ctr"/>
                </a:tc>
              </a:tr>
              <a:tr h="333720">
                <a:tc>
                  <a:txBody>
                    <a:bodyPr wrap="square"/>
                    <a:lstStyle/>
                    <a:p>
                      <a:pPr algn="l"/>
                      <a:r>
                        <a:rPr sz="1050" b="0" i="0">
                          <a:solidFill>
                            <a:srgbClr val="000000"/>
                          </a:solidFill>
                          <a:latin typeface="Calibri"/>
                        </a:rPr>
                        <a:t>Figure 215: East Asia Industrial Air Compressor Market Value, 2026–2036 Y-o-Y Comparison By Technology</a:t>
                      </a:r>
                      <a:endParaRPr sz="1050"/>
                    </a:p>
                  </a:txBody>
                  <a:tcPr marL="9525" marR="9525" marT="9525" marB="0" anchor="ctr"/>
                </a:tc>
              </a:tr>
              <a:tr h="170266">
                <a:tc>
                  <a:txBody>
                    <a:bodyPr wrap="square"/>
                    <a:lstStyle/>
                    <a:p>
                      <a:pPr algn="l"/>
                      <a:r>
                        <a:rPr sz="1050" b="0" i="0">
                          <a:solidFill>
                            <a:srgbClr val="000000"/>
                          </a:solidFill>
                          <a:latin typeface="Calibri"/>
                        </a:rPr>
                        <a:t>Figure 216: East Asia Industrial Air Compressor Market Value, 2026–2036 BPS Analysis By Technology</a:t>
                      </a:r>
                      <a:endParaRPr sz="1050"/>
                    </a:p>
                  </a:txBody>
                  <a:tcPr marL="9525" marR="9525" marT="9525" marB="0" anchor="ctr"/>
                </a:tc>
              </a:tr>
              <a:tr h="170266">
                <a:tc>
                  <a:txBody>
                    <a:bodyPr wrap="square"/>
                    <a:lstStyle/>
                    <a:p>
                      <a:pPr algn="l"/>
                      <a:r>
                        <a:rPr sz="1050" b="0" i="0">
                          <a:solidFill>
                            <a:srgbClr val="000000"/>
                          </a:solidFill>
                          <a:latin typeface="Calibri"/>
                        </a:rPr>
                        <a:t>Figure 217: East Asia Industrial Air Compressor Market Attractiveness Analysis By Technology</a:t>
                      </a:r>
                      <a:endParaRPr sz="1050"/>
                    </a:p>
                  </a:txBody>
                  <a:tcPr marL="9525" marR="9525" marT="9525" marB="0" anchor="ctr"/>
                </a:tc>
              </a:tr>
              <a:tr h="170266">
                <a:tc>
                  <a:txBody>
                    <a:bodyPr wrap="square"/>
                    <a:lstStyle/>
                    <a:p>
                      <a:pPr algn="l"/>
                      <a:r>
                        <a:rPr sz="1050" b="0" i="0">
                          <a:solidFill>
                            <a:srgbClr val="000000"/>
                          </a:solidFill>
                          <a:latin typeface="Calibri"/>
                        </a:rPr>
                        <a:t>Figure 218: East Asia Industrial Air Compressor Market Value, 2026–2036 By Capacity</a:t>
                      </a:r>
                      <a:endParaRPr sz="1050"/>
                    </a:p>
                  </a:txBody>
                  <a:tcPr marL="9525" marR="9525" marT="9525" marB="0" anchor="ctr"/>
                </a:tc>
              </a:tr>
              <a:tr h="333720">
                <a:tc>
                  <a:txBody>
                    <a:bodyPr wrap="square"/>
                    <a:lstStyle/>
                    <a:p>
                      <a:pPr algn="l"/>
                      <a:r>
                        <a:rPr sz="1050" b="0" i="0">
                          <a:solidFill>
                            <a:srgbClr val="000000"/>
                          </a:solidFill>
                          <a:latin typeface="Calibri"/>
                        </a:rPr>
                        <a:t>Figure 219: East Asia Industrial Air Compressor Market Value, 2026–2036 Y-o-Y Comparison By Capacity</a:t>
                      </a:r>
                      <a:endParaRPr sz="1050"/>
                    </a:p>
                  </a:txBody>
                  <a:tcPr marL="9525" marR="9525" marT="9525" marB="0" anchor="ctr"/>
                </a:tc>
              </a:tr>
              <a:tr h="170266">
                <a:tc>
                  <a:txBody>
                    <a:bodyPr wrap="square"/>
                    <a:lstStyle/>
                    <a:p>
                      <a:pPr algn="l"/>
                      <a:r>
                        <a:rPr sz="1050" b="0" i="0">
                          <a:solidFill>
                            <a:srgbClr val="000000"/>
                          </a:solidFill>
                          <a:latin typeface="Calibri"/>
                        </a:rPr>
                        <a:t>Figure 220: East Asia Industrial Air Compressor Market Value, 2026–2036 BPS Analysis By Capacity</a:t>
                      </a:r>
                      <a:endParaRPr sz="1050"/>
                    </a:p>
                  </a:txBody>
                  <a:tcPr marL="9525" marR="9525" marT="9525" marB="0" anchor="ctr"/>
                </a:tc>
              </a:tr>
              <a:tr h="170266">
                <a:tc>
                  <a:txBody>
                    <a:bodyPr wrap="square"/>
                    <a:lstStyle/>
                    <a:p>
                      <a:pPr algn="l"/>
                      <a:r>
                        <a:rPr sz="1050" b="0" i="0">
                          <a:solidFill>
                            <a:srgbClr val="000000"/>
                          </a:solidFill>
                          <a:latin typeface="Calibri"/>
                        </a:rPr>
                        <a:t>Figure 221: East Asia Industrial Air Compressor Market Attractiveness Analysis By Capacity</a:t>
                      </a:r>
                      <a:endParaRPr sz="1050"/>
                    </a:p>
                  </a:txBody>
                  <a:tcPr marL="9525" marR="9525" marT="9525" marB="0" anchor="ctr"/>
                </a:tc>
              </a:tr>
              <a:tr h="170266">
                <a:tc>
                  <a:txBody>
                    <a:bodyPr wrap="square"/>
                    <a:lstStyle/>
                    <a:p>
                      <a:pPr algn="l"/>
                      <a:r>
                        <a:rPr sz="1050" b="0" i="0">
                          <a:solidFill>
                            <a:srgbClr val="000000"/>
                          </a:solidFill>
                          <a:latin typeface="Calibri"/>
                        </a:rPr>
                        <a:t>Figure 222: East Asia Industrial Air Compressor Market Value, 2026–2036 By Driver Type</a:t>
                      </a:r>
                      <a:endParaRPr sz="1050"/>
                    </a:p>
                  </a:txBody>
                  <a:tcPr marL="9525" marR="9525" marT="9525" marB="0" anchor="ctr"/>
                </a:tc>
              </a:tr>
              <a:tr h="333720">
                <a:tc>
                  <a:txBody>
                    <a:bodyPr wrap="square"/>
                    <a:lstStyle/>
                    <a:p>
                      <a:pPr algn="l"/>
                      <a:r>
                        <a:rPr sz="1050" b="0" i="0">
                          <a:solidFill>
                            <a:srgbClr val="000000"/>
                          </a:solidFill>
                          <a:latin typeface="Calibri"/>
                        </a:rPr>
                        <a:t>Figure 223: East Asia Industrial Air Compressor Market Value, 2026–2036 Y-o-Y Comparison By Driver Type</a:t>
                      </a:r>
                      <a:endParaRPr sz="1050"/>
                    </a:p>
                  </a:txBody>
                  <a:tcPr marL="9525" marR="9525" marT="9525" marB="0" anchor="ctr"/>
                </a:tc>
              </a:tr>
              <a:tr h="170266">
                <a:tc>
                  <a:txBody>
                    <a:bodyPr wrap="square"/>
                    <a:lstStyle/>
                    <a:p>
                      <a:pPr algn="l"/>
                      <a:r>
                        <a:rPr sz="1050" b="0" i="0">
                          <a:solidFill>
                            <a:srgbClr val="000000"/>
                          </a:solidFill>
                          <a:latin typeface="Calibri"/>
                        </a:rPr>
                        <a:t>Figure 224: East Asia Industrial Air Compressor Market Value, 2026–2036 BPS Analysis By Driver Type</a:t>
                      </a:r>
                      <a:endParaRPr sz="1050"/>
                    </a:p>
                  </a:txBody>
                  <a:tcPr marL="9525" marR="9525" marT="9525" marB="0" anchor="ctr"/>
                </a:tc>
              </a:tr>
              <a:tr h="170266">
                <a:tc>
                  <a:txBody>
                    <a:bodyPr wrap="square"/>
                    <a:lstStyle/>
                    <a:p>
                      <a:pPr algn="l"/>
                      <a:r>
                        <a:rPr sz="1050" b="0" i="0">
                          <a:solidFill>
                            <a:srgbClr val="000000"/>
                          </a:solidFill>
                          <a:latin typeface="Calibri"/>
                        </a:rPr>
                        <a:t>Figure 225: East Asia Industrial Air Compressor Market Attractiveness Analysis By Driver Type</a:t>
                      </a:r>
                      <a:endParaRPr sz="1050"/>
                    </a:p>
                  </a:txBody>
                  <a:tcPr marL="9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810"/>
        </p:xfrm>
        <a:graphic>
          <a:graphicData uri="http://schemas.openxmlformats.org/drawingml/2006/table">
            <a:tbl>
              <a:tblPr>
                <a:tableStyleId>{3B4B98B0-60AC-42C2-AFA5-B58CD77FA1E5}</a:tableStyleId>
              </a:tblPr>
              <a:tblGrid>
                <a:gridCol w="5876925"/>
              </a:tblGrid>
              <a:tr h="175729">
                <a:tc>
                  <a:txBody>
                    <a:bodyPr wrap="square"/>
                    <a:lstStyle/>
                    <a:p>
                      <a:pPr algn="l"/>
                      <a:r>
                        <a:rPr sz="1050" b="0" i="0">
                          <a:solidFill>
                            <a:srgbClr val="000000"/>
                          </a:solidFill>
                          <a:latin typeface="Calibri"/>
                        </a:rPr>
                        <a:t>Figure 226: East Asia Industrial Air Compressor Market Value, 2026–2036 By End Use</a:t>
                      </a:r>
                      <a:endParaRPr sz="1050"/>
                    </a:p>
                  </a:txBody>
                  <a:tcPr marL="9525" marR="9525" marT="9525" marB="0" anchor="ctr"/>
                </a:tc>
              </a:tr>
              <a:tr h="175729">
                <a:tc>
                  <a:txBody>
                    <a:bodyPr wrap="square"/>
                    <a:lstStyle/>
                    <a:p>
                      <a:pPr algn="l"/>
                      <a:r>
                        <a:rPr sz="1050" b="0" i="0">
                          <a:solidFill>
                            <a:srgbClr val="000000"/>
                          </a:solidFill>
                          <a:latin typeface="Calibri"/>
                        </a:rPr>
                        <a:t>Figure 227: East Asia Industrial Air Compressor Market Value, 2026–2036 Y-o-Y Comparison By End Use</a:t>
                      </a:r>
                      <a:endParaRPr sz="1050"/>
                    </a:p>
                  </a:txBody>
                  <a:tcPr marL="9525" marR="9525" marT="9525" marB="0" anchor="ctr"/>
                </a:tc>
              </a:tr>
              <a:tr h="175729">
                <a:tc>
                  <a:txBody>
                    <a:bodyPr wrap="square"/>
                    <a:lstStyle/>
                    <a:p>
                      <a:pPr algn="l"/>
                      <a:r>
                        <a:rPr sz="1050" b="0" i="0">
                          <a:solidFill>
                            <a:srgbClr val="000000"/>
                          </a:solidFill>
                          <a:latin typeface="Calibri"/>
                        </a:rPr>
                        <a:t>Figure 228: East Asia Industrial Air Compressor Market Value, 2026–2036 BPS Analysis By End Use</a:t>
                      </a:r>
                      <a:endParaRPr sz="1050"/>
                    </a:p>
                  </a:txBody>
                  <a:tcPr marL="9525" marR="9525" marT="9525" marB="0" anchor="ctr"/>
                </a:tc>
              </a:tr>
              <a:tr h="175729">
                <a:tc>
                  <a:txBody>
                    <a:bodyPr wrap="square"/>
                    <a:lstStyle/>
                    <a:p>
                      <a:pPr algn="l"/>
                      <a:r>
                        <a:rPr sz="1050" b="0" i="0">
                          <a:solidFill>
                            <a:srgbClr val="000000"/>
                          </a:solidFill>
                          <a:latin typeface="Calibri"/>
                        </a:rPr>
                        <a:t>Figure 229: East Asia Industrial Air Compressor Market Attractiveness Analysis By End Use</a:t>
                      </a:r>
                      <a:endParaRPr sz="1050"/>
                    </a:p>
                  </a:txBody>
                  <a:tcPr marL="9525" marR="9525" marT="9525" marB="0" anchor="ctr"/>
                </a:tc>
              </a:tr>
              <a:tr h="175729">
                <a:tc>
                  <a:txBody>
                    <a:bodyPr wrap="square"/>
                    <a:lstStyle/>
                    <a:p>
                      <a:pPr algn="l"/>
                      <a:r>
                        <a:rPr sz="1050" b="0" i="0">
                          <a:solidFill>
                            <a:srgbClr val="000000"/>
                          </a:solidFill>
                          <a:latin typeface="Calibri"/>
                        </a:rPr>
                        <a:t>Figure 230: East Asia Industrial Air Compressor Market Value, 2026–2036 By Compression Stage</a:t>
                      </a:r>
                      <a:endParaRPr sz="1050"/>
                    </a:p>
                  </a:txBody>
                  <a:tcPr marL="9525" marR="9525" marT="9525" marB="0" anchor="ctr"/>
                </a:tc>
              </a:tr>
              <a:tr h="344428">
                <a:tc>
                  <a:txBody>
                    <a:bodyPr wrap="square"/>
                    <a:lstStyle/>
                    <a:p>
                      <a:pPr algn="l"/>
                      <a:r>
                        <a:rPr sz="1050" b="0" i="0">
                          <a:solidFill>
                            <a:srgbClr val="000000"/>
                          </a:solidFill>
                          <a:latin typeface="Calibri"/>
                        </a:rPr>
                        <a:t>Figure 231: East Asia Industrial Air Compressor Market Value, 2026–2036 Y-o-Y Comparison By Compression Stage</a:t>
                      </a:r>
                      <a:endParaRPr sz="1050"/>
                    </a:p>
                  </a:txBody>
                  <a:tcPr marL="9525" marR="9525" marT="9525" marB="0" anchor="ctr"/>
                </a:tc>
              </a:tr>
              <a:tr h="344428">
                <a:tc>
                  <a:txBody>
                    <a:bodyPr wrap="square"/>
                    <a:lstStyle/>
                    <a:p>
                      <a:pPr algn="l"/>
                      <a:r>
                        <a:rPr sz="1050" b="0" i="0">
                          <a:solidFill>
                            <a:srgbClr val="000000"/>
                          </a:solidFill>
                          <a:latin typeface="Calibri"/>
                        </a:rPr>
                        <a:t>Figure 232: East Asia Industrial Air Compressor Market Value, 2026–2036 BPS Analysis By Compression Stage</a:t>
                      </a:r>
                      <a:endParaRPr sz="1050"/>
                    </a:p>
                  </a:txBody>
                  <a:tcPr marL="9525" marR="9525" marT="9525" marB="0" anchor="ctr"/>
                </a:tc>
              </a:tr>
              <a:tr h="175729">
                <a:tc>
                  <a:txBody>
                    <a:bodyPr wrap="square"/>
                    <a:lstStyle/>
                    <a:p>
                      <a:pPr algn="l"/>
                      <a:r>
                        <a:rPr sz="1050" b="0" i="0">
                          <a:solidFill>
                            <a:srgbClr val="000000"/>
                          </a:solidFill>
                          <a:latin typeface="Calibri"/>
                        </a:rPr>
                        <a:t>Figure 233: East Asia Industrial Air Compressor Market Attractiveness Analysis By Compression Stage</a:t>
                      </a:r>
                      <a:endParaRPr sz="1050"/>
                    </a:p>
                  </a:txBody>
                  <a:tcPr marL="9525" marR="9525" marT="9525" marB="0" anchor="ctr"/>
                </a:tc>
              </a:tr>
              <a:tr h="175729">
                <a:tc>
                  <a:txBody>
                    <a:bodyPr wrap="square"/>
                    <a:lstStyle/>
                    <a:p>
                      <a:pPr algn="l"/>
                      <a:r>
                        <a:rPr sz="1050" b="0" i="0">
                          <a:solidFill>
                            <a:srgbClr val="000000"/>
                          </a:solidFill>
                          <a:latin typeface="Calibri"/>
                        </a:rPr>
                        <a:t>Figure 234: East Asia Industrial Air Compressor Market Value, 2026–2036 By Country</a:t>
                      </a:r>
                      <a:endParaRPr sz="1050"/>
                    </a:p>
                  </a:txBody>
                  <a:tcPr marL="9525" marR="9525" marT="9525" marB="0" anchor="ctr"/>
                </a:tc>
              </a:tr>
              <a:tr h="175729">
                <a:tc>
                  <a:txBody>
                    <a:bodyPr wrap="square"/>
                    <a:lstStyle/>
                    <a:p>
                      <a:pPr algn="l"/>
                      <a:r>
                        <a:rPr sz="1050" b="0" i="0">
                          <a:solidFill>
                            <a:srgbClr val="000000"/>
                          </a:solidFill>
                          <a:latin typeface="Calibri"/>
                        </a:rPr>
                        <a:t>Figure 235: East Asia Industrial Air Compressor Market Value, 2026–2036 Y-o-Y Comparison By Country</a:t>
                      </a:r>
                      <a:endParaRPr sz="1050"/>
                    </a:p>
                  </a:txBody>
                  <a:tcPr marL="9525" marR="9525" marT="9525" marB="0" anchor="ctr"/>
                </a:tc>
              </a:tr>
              <a:tr h="175729">
                <a:tc>
                  <a:txBody>
                    <a:bodyPr wrap="square"/>
                    <a:lstStyle/>
                    <a:p>
                      <a:pPr algn="l"/>
                      <a:r>
                        <a:rPr sz="1050" b="0" i="0">
                          <a:solidFill>
                            <a:srgbClr val="000000"/>
                          </a:solidFill>
                          <a:latin typeface="Calibri"/>
                        </a:rPr>
                        <a:t>Figure 236: East Asia Industrial Air Compressor Market Value, 2026–2036 BPS Analysis By Country</a:t>
                      </a:r>
                      <a:endParaRPr sz="1050"/>
                    </a:p>
                  </a:txBody>
                  <a:tcPr marL="9525" marR="9525" marT="9525" marB="0" anchor="ctr"/>
                </a:tc>
              </a:tr>
              <a:tr h="175729">
                <a:tc>
                  <a:txBody>
                    <a:bodyPr wrap="square"/>
                    <a:lstStyle/>
                    <a:p>
                      <a:pPr algn="l"/>
                      <a:r>
                        <a:rPr sz="1050" b="0" i="0">
                          <a:solidFill>
                            <a:srgbClr val="000000"/>
                          </a:solidFill>
                          <a:latin typeface="Calibri"/>
                        </a:rPr>
                        <a:t>Figure 237: East Asia Industrial Air Compressor Market Attractiveness Analysis By Country</a:t>
                      </a:r>
                      <a:endParaRPr sz="1050"/>
                    </a:p>
                  </a:txBody>
                  <a:tcPr marL="9525" marR="9525" marT="9525" marB="0" anchor="ctr"/>
                </a:tc>
              </a:tr>
              <a:tr h="175729">
                <a:tc>
                  <a:txBody>
                    <a:bodyPr wrap="square"/>
                    <a:lstStyle/>
                    <a:p>
                      <a:pPr algn="l"/>
                      <a:r>
                        <a:rPr sz="1050" b="0" i="0">
                          <a:solidFill>
                            <a:srgbClr val="000000"/>
                          </a:solidFill>
                          <a:latin typeface="Calibri"/>
                        </a:rPr>
                        <a:t>Figure 238: China Industrial Air Compressor Market Value, 2026–2036, By Technology</a:t>
                      </a:r>
                      <a:endParaRPr sz="1050"/>
                    </a:p>
                  </a:txBody>
                  <a:tcPr marL="9525" marR="9525" marT="9525" marB="0" anchor="ctr"/>
                </a:tc>
              </a:tr>
              <a:tr h="175729">
                <a:tc>
                  <a:txBody>
                    <a:bodyPr wrap="square"/>
                    <a:lstStyle/>
                    <a:p>
                      <a:pPr algn="l"/>
                      <a:r>
                        <a:rPr sz="1050" b="0" i="0">
                          <a:solidFill>
                            <a:srgbClr val="000000"/>
                          </a:solidFill>
                          <a:latin typeface="Calibri"/>
                        </a:rPr>
                        <a:t>Figure 239: China Industrial Air Compressor Market Value, 2026–2036, By Capacity</a:t>
                      </a:r>
                      <a:endParaRPr sz="1050"/>
                    </a:p>
                  </a:txBody>
                  <a:tcPr marL="9525" marR="9525" marT="9525" marB="0" anchor="ctr"/>
                </a:tc>
              </a:tr>
              <a:tr h="175729">
                <a:tc>
                  <a:txBody>
                    <a:bodyPr wrap="square"/>
                    <a:lstStyle/>
                    <a:p>
                      <a:pPr algn="l"/>
                      <a:r>
                        <a:rPr sz="1050" b="0" i="0">
                          <a:solidFill>
                            <a:srgbClr val="000000"/>
                          </a:solidFill>
                          <a:latin typeface="Calibri"/>
                        </a:rPr>
                        <a:t>Figure 240: China Industrial Air Compressor Market Value, 2026–2036, By Driver Type</a:t>
                      </a:r>
                      <a:endParaRPr sz="1050"/>
                    </a:p>
                  </a:txBody>
                  <a:tcPr marL="9525" marR="9525" marT="9525" marB="0" anchor="ctr"/>
                </a:tc>
              </a:tr>
              <a:tr h="175729">
                <a:tc>
                  <a:txBody>
                    <a:bodyPr wrap="square"/>
                    <a:lstStyle/>
                    <a:p>
                      <a:pPr algn="l"/>
                      <a:r>
                        <a:rPr sz="1050" b="0" i="0">
                          <a:solidFill>
                            <a:srgbClr val="000000"/>
                          </a:solidFill>
                          <a:latin typeface="Calibri"/>
                        </a:rPr>
                        <a:t>Figure 241: China Industrial Air Compressor Market Value, 2026–2036, By Compression Stage</a:t>
                      </a:r>
                      <a:endParaRPr sz="1050"/>
                    </a:p>
                  </a:txBody>
                  <a:tcPr marL="9525" marR="9525" marT="9525" marB="0" anchor="ctr"/>
                </a:tc>
              </a:tr>
              <a:tr h="175729">
                <a:tc>
                  <a:txBody>
                    <a:bodyPr wrap="square"/>
                    <a:lstStyle/>
                    <a:p>
                      <a:pPr algn="l"/>
                      <a:r>
                        <a:rPr sz="1050" b="0" i="0">
                          <a:solidFill>
                            <a:srgbClr val="000000"/>
                          </a:solidFill>
                          <a:latin typeface="Calibri"/>
                        </a:rPr>
                        <a:t>Figure 242: China Industrial Air Compressor Market Value, 2026–2036, By End Use</a:t>
                      </a:r>
                      <a:endParaRPr sz="1050"/>
                    </a:p>
                  </a:txBody>
                  <a:tcPr marL="9525" marR="9525" marT="9525" marB="0" anchor="ctr"/>
                </a:tc>
              </a:tr>
              <a:tr h="175729">
                <a:tc>
                  <a:txBody>
                    <a:bodyPr wrap="square"/>
                    <a:lstStyle/>
                    <a:p>
                      <a:pPr algn="l"/>
                      <a:r>
                        <a:rPr sz="1050" b="0" i="0">
                          <a:solidFill>
                            <a:srgbClr val="000000"/>
                          </a:solidFill>
                          <a:latin typeface="Calibri"/>
                        </a:rPr>
                        <a:t>Figure 243: Japan Industrial Air Compressor Market Value, 2026–2036, By Technology</a:t>
                      </a:r>
                      <a:endParaRPr sz="1050"/>
                    </a:p>
                  </a:txBody>
                  <a:tcPr marL="9525" marR="9525" marT="9525" marB="0" anchor="ctr"/>
                </a:tc>
              </a:tr>
              <a:tr h="175729">
                <a:tc>
                  <a:txBody>
                    <a:bodyPr wrap="square"/>
                    <a:lstStyle/>
                    <a:p>
                      <a:pPr algn="l"/>
                      <a:r>
                        <a:rPr sz="1050" b="0" i="0">
                          <a:solidFill>
                            <a:srgbClr val="000000"/>
                          </a:solidFill>
                          <a:latin typeface="Calibri"/>
                        </a:rPr>
                        <a:t>Figure 244: Japan Industrial Air Compressor Market Value, 2026–2036, By Capacity</a:t>
                      </a:r>
                      <a:endParaRPr sz="1050"/>
                    </a:p>
                  </a:txBody>
                  <a:tcPr marL="9525" marR="9525" marT="9525" marB="0" anchor="ctr"/>
                </a:tc>
              </a:tr>
              <a:tr h="175729">
                <a:tc>
                  <a:txBody>
                    <a:bodyPr wrap="square"/>
                    <a:lstStyle/>
                    <a:p>
                      <a:pPr algn="l"/>
                      <a:r>
                        <a:rPr sz="1050" b="0" i="0">
                          <a:solidFill>
                            <a:srgbClr val="000000"/>
                          </a:solidFill>
                          <a:latin typeface="Calibri"/>
                        </a:rPr>
                        <a:t>Figure 245: Japan Industrial Air Compressor Market Value, 2026–2036, By Driver Type</a:t>
                      </a:r>
                      <a:endParaRPr sz="1050"/>
                    </a:p>
                  </a:txBody>
                  <a:tcPr marL="9525" marR="9525" marT="9525" marB="0" anchor="ctr"/>
                </a:tc>
              </a:tr>
              <a:tr h="175729">
                <a:tc>
                  <a:txBody>
                    <a:bodyPr wrap="square"/>
                    <a:lstStyle/>
                    <a:p>
                      <a:pPr algn="l"/>
                      <a:r>
                        <a:rPr sz="1050" b="0" i="0">
                          <a:solidFill>
                            <a:srgbClr val="000000"/>
                          </a:solidFill>
                          <a:latin typeface="Calibri"/>
                        </a:rPr>
                        <a:t>Figure 246: Japan Industrial Air Compressor Market Value, 2026–2036, By Compression Stage</a:t>
                      </a:r>
                      <a:endParaRPr sz="1050"/>
                    </a:p>
                  </a:txBody>
                  <a:tcPr marL="9525" marR="9525" marT="9525" marB="0" anchor="ctr"/>
                </a:tc>
              </a:tr>
              <a:tr h="175729">
                <a:tc>
                  <a:txBody>
                    <a:bodyPr wrap="square"/>
                    <a:lstStyle/>
                    <a:p>
                      <a:pPr algn="l"/>
                      <a:r>
                        <a:rPr sz="1050" b="0" i="0">
                          <a:solidFill>
                            <a:srgbClr val="000000"/>
                          </a:solidFill>
                          <a:latin typeface="Calibri"/>
                        </a:rPr>
                        <a:t>Figure 247: Japan Industrial Air Compressor Market Value, 2026–2036, By End Use</a:t>
                      </a:r>
                      <a:endParaRPr sz="1050"/>
                    </a:p>
                  </a:txBody>
                  <a:tcPr marL="9525" marR="9525" marT="9525" marB="0" anchor="ctr"/>
                </a:tc>
              </a:tr>
              <a:tr h="175729">
                <a:tc>
                  <a:txBody>
                    <a:bodyPr wrap="square"/>
                    <a:lstStyle/>
                    <a:p>
                      <a:pPr algn="l"/>
                      <a:r>
                        <a:rPr sz="1050" b="0" i="0">
                          <a:solidFill>
                            <a:srgbClr val="000000"/>
                          </a:solidFill>
                          <a:latin typeface="Calibri"/>
                        </a:rPr>
                        <a:t>Figure 248: South Korea Industrial Air Compressor Market Value, 2026–2036, By Technology</a:t>
                      </a:r>
                      <a:endParaRPr sz="1050"/>
                    </a:p>
                  </a:txBody>
                  <a:tcPr marL="9525" marR="9525" marT="9525" marB="0" anchor="ctr"/>
                </a:tc>
              </a:tr>
              <a:tr h="175729">
                <a:tc>
                  <a:txBody>
                    <a:bodyPr wrap="square"/>
                    <a:lstStyle/>
                    <a:p>
                      <a:pPr algn="l"/>
                      <a:r>
                        <a:rPr sz="1050" b="0" i="0">
                          <a:solidFill>
                            <a:srgbClr val="000000"/>
                          </a:solidFill>
                          <a:latin typeface="Calibri"/>
                        </a:rPr>
                        <a:t>Figure 249: South Korea Industrial Air Compressor Market Value, 2026–2036, By Capacity</a:t>
                      </a:r>
                      <a:endParaRPr sz="1050"/>
                    </a:p>
                  </a:txBody>
                  <a:tcPr marL="9525" marR="9525" marT="9525" marB="0" anchor="ctr"/>
                </a:tc>
              </a:tr>
              <a:tr h="175729">
                <a:tc>
                  <a:txBody>
                    <a:bodyPr wrap="square"/>
                    <a:lstStyle/>
                    <a:p>
                      <a:pPr algn="l"/>
                      <a:r>
                        <a:rPr sz="1050" b="0" i="0">
                          <a:solidFill>
                            <a:srgbClr val="000000"/>
                          </a:solidFill>
                          <a:latin typeface="Calibri"/>
                        </a:rPr>
                        <a:t>Figure 250: South Korea Industrial Air Compressor Market Value, 2026–2036, By Driver Type</a:t>
                      </a:r>
                      <a:endParaRPr sz="1050"/>
                    </a:p>
                  </a:txBody>
                  <a:tcPr marL="9525" marR="9525" marT="9525" marB="0" anchor="ctr"/>
                </a:tc>
              </a:tr>
              <a:tr h="175729">
                <a:tc>
                  <a:txBody>
                    <a:bodyPr wrap="square"/>
                    <a:lstStyle/>
                    <a:p>
                      <a:pPr algn="l"/>
                      <a:r>
                        <a:rPr sz="1050" b="0" i="0">
                          <a:solidFill>
                            <a:srgbClr val="000000"/>
                          </a:solidFill>
                          <a:latin typeface="Calibri"/>
                        </a:rPr>
                        <a:t>Figure 251: South Korea Industrial Air Compressor Market Value, 2026–2036, By Compression Stage</a:t>
                      </a:r>
                      <a:endParaRPr sz="1050"/>
                    </a:p>
                  </a:txBody>
                  <a:tcPr marL="9525" marR="9525" marT="9525" marB="0" anchor="ctr"/>
                </a:tc>
              </a:tr>
              <a:tr h="175729">
                <a:tc>
                  <a:txBody>
                    <a:bodyPr wrap="square"/>
                    <a:lstStyle/>
                    <a:p>
                      <a:pPr algn="l"/>
                      <a:r>
                        <a:rPr sz="1050" b="0" i="0">
                          <a:solidFill>
                            <a:srgbClr val="000000"/>
                          </a:solidFill>
                          <a:latin typeface="Calibri"/>
                        </a:rPr>
                        <a:t>Figure 252: South Korea Industrial Air Compressor Market Value, 2026–2036, By End Use</a:t>
                      </a:r>
                      <a:endParaRPr sz="1050"/>
                    </a:p>
                  </a:txBody>
                  <a:tcPr marL="9525" marR="9525" marT="9525" marB="0" anchor="ctr"/>
                </a:tc>
              </a:tr>
              <a:tr h="175729">
                <a:tc>
                  <a:txBody>
                    <a:bodyPr wrap="square"/>
                    <a:lstStyle/>
                    <a:p>
                      <a:pPr algn="l"/>
                      <a:r>
                        <a:rPr sz="1050" b="0" i="0">
                          <a:solidFill>
                            <a:srgbClr val="000000"/>
                          </a:solidFill>
                          <a:latin typeface="Calibri"/>
                        </a:rPr>
                        <a:t>Figure 253: South Asia &amp; Pacific Industrial Air Compressor Market Value, 2021–2036</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(6/7)</a:t>
            </a:r>
          </a:p>
        </p:txBody>
      </p:sp>
      <p:graphicFrame>
        <p:nvGraphicFramePr>
          <p:cNvPr id="6"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327360">
                <a:tc>
                  <a:txBody>
                    <a:bodyPr wrap="square"/>
                    <a:lstStyle/>
                    <a:p>
                      <a:pPr algn="l"/>
                      <a:r>
                        <a:rPr sz="1050" b="0" i="0">
                          <a:solidFill>
                            <a:srgbClr val="000000"/>
                          </a:solidFill>
                          <a:latin typeface="Calibri"/>
                        </a:rPr>
                        <a:t>Figure 254: South Asia &amp; Pacific Industrial Air Compressor Market Incremental $ Opportunity, 2026–2036</a:t>
                      </a:r>
                      <a:endParaRPr sz="1050"/>
                    </a:p>
                  </a:txBody>
                  <a:tcPr marL="9525" marR="9525" marT="9525" marB="0" anchor="ctr"/>
                </a:tc>
              </a:tr>
              <a:tr h="167020">
                <a:tc>
                  <a:txBody>
                    <a:bodyPr wrap="square"/>
                    <a:lstStyle/>
                    <a:p>
                      <a:pPr algn="l"/>
                      <a:r>
                        <a:rPr sz="1050" b="0" i="0">
                          <a:solidFill>
                            <a:srgbClr val="000000"/>
                          </a:solidFill>
                          <a:latin typeface="Calibri"/>
                        </a:rPr>
                        <a:t>Figure 255: South Asia &amp; Pacific Industrial Air Compressor Market Value, 2026–2036 By Technology</a:t>
                      </a:r>
                      <a:endParaRPr sz="1050"/>
                    </a:p>
                  </a:txBody>
                  <a:tcPr marL="9525" marR="9525" marT="9525" marB="0" anchor="ctr"/>
                </a:tc>
              </a:tr>
              <a:tr h="327360">
                <a:tc>
                  <a:txBody>
                    <a:bodyPr wrap="square"/>
                    <a:lstStyle/>
                    <a:p>
                      <a:pPr algn="l"/>
                      <a:r>
                        <a:rPr sz="1050" b="0" i="0">
                          <a:solidFill>
                            <a:srgbClr val="000000"/>
                          </a:solidFill>
                          <a:latin typeface="Calibri"/>
                        </a:rPr>
                        <a:t>Figure 256: South Asia &amp; Pacific Industrial Air Compressor Market Value, 2026–2036 Y-o-Y Comparison By Technology</a:t>
                      </a:r>
                      <a:endParaRPr sz="1050"/>
                    </a:p>
                  </a:txBody>
                  <a:tcPr marL="9525" marR="9525" marT="9525" marB="0" anchor="ctr"/>
                </a:tc>
              </a:tr>
              <a:tr h="327360">
                <a:tc>
                  <a:txBody>
                    <a:bodyPr wrap="square"/>
                    <a:lstStyle/>
                    <a:p>
                      <a:pPr algn="l"/>
                      <a:r>
                        <a:rPr sz="1050" b="0" i="0">
                          <a:solidFill>
                            <a:srgbClr val="000000"/>
                          </a:solidFill>
                          <a:latin typeface="Calibri"/>
                        </a:rPr>
                        <a:t>Figure 257: South Asia &amp; Pacific Industrial Air Compressor Market Value, 2026–2036 BPS Analysis By Technology</a:t>
                      </a:r>
                      <a:endParaRPr sz="1050"/>
                    </a:p>
                  </a:txBody>
                  <a:tcPr marL="9525" marR="9525" marT="9525" marB="0" anchor="ctr"/>
                </a:tc>
              </a:tr>
              <a:tr h="327360">
                <a:tc>
                  <a:txBody>
                    <a:bodyPr wrap="square"/>
                    <a:lstStyle/>
                    <a:p>
                      <a:pPr algn="l"/>
                      <a:r>
                        <a:rPr sz="1050" b="0" i="0">
                          <a:solidFill>
                            <a:srgbClr val="000000"/>
                          </a:solidFill>
                          <a:latin typeface="Calibri"/>
                        </a:rPr>
                        <a:t>Figure 258: South Asia &amp; Pacific Industrial Air Compressor Market Attractiveness Analysis By Technology</a:t>
                      </a:r>
                      <a:endParaRPr sz="1050"/>
                    </a:p>
                  </a:txBody>
                  <a:tcPr marL="9525" marR="9525" marT="9525" marB="0" anchor="ctr"/>
                </a:tc>
              </a:tr>
              <a:tr h="167020">
                <a:tc>
                  <a:txBody>
                    <a:bodyPr wrap="square"/>
                    <a:lstStyle/>
                    <a:p>
                      <a:pPr algn="l"/>
                      <a:r>
                        <a:rPr sz="1050" b="0" i="0">
                          <a:solidFill>
                            <a:srgbClr val="000000"/>
                          </a:solidFill>
                          <a:latin typeface="Calibri"/>
                        </a:rPr>
                        <a:t>Figure 259: South Asia &amp; Pacific Industrial Air Compressor Market Value, 2026–2036 By Capacity</a:t>
                      </a:r>
                      <a:endParaRPr sz="1050"/>
                    </a:p>
                  </a:txBody>
                  <a:tcPr marL="9525" marR="9525" marT="9525" marB="0" anchor="ctr"/>
                </a:tc>
              </a:tr>
              <a:tr h="327360">
                <a:tc>
                  <a:txBody>
                    <a:bodyPr wrap="square"/>
                    <a:lstStyle/>
                    <a:p>
                      <a:pPr algn="l"/>
                      <a:r>
                        <a:rPr sz="1050" b="0" i="0">
                          <a:solidFill>
                            <a:srgbClr val="000000"/>
                          </a:solidFill>
                          <a:latin typeface="Calibri"/>
                        </a:rPr>
                        <a:t>Figure 260: South Asia &amp; Pacific Industrial Air Compressor Market Value, 2026–2036 Y-o-Y Comparison By Capacity</a:t>
                      </a:r>
                      <a:endParaRPr sz="1050"/>
                    </a:p>
                  </a:txBody>
                  <a:tcPr marL="9525" marR="9525" marT="9525" marB="0" anchor="ctr"/>
                </a:tc>
              </a:tr>
              <a:tr h="327360">
                <a:tc>
                  <a:txBody>
                    <a:bodyPr wrap="square"/>
                    <a:lstStyle/>
                    <a:p>
                      <a:pPr algn="l"/>
                      <a:r>
                        <a:rPr sz="1050" b="0" i="0">
                          <a:solidFill>
                            <a:srgbClr val="000000"/>
                          </a:solidFill>
                          <a:latin typeface="Calibri"/>
                        </a:rPr>
                        <a:t>Figure 261: South Asia &amp; Pacific Industrial Air Compressor Market Value, 2026–2036 BPS Analysis By Capacity</a:t>
                      </a:r>
                      <a:endParaRPr sz="1050"/>
                    </a:p>
                  </a:txBody>
                  <a:tcPr marL="9525" marR="9525" marT="9525" marB="0" anchor="ctr"/>
                </a:tc>
              </a:tr>
              <a:tr h="167020">
                <a:tc>
                  <a:txBody>
                    <a:bodyPr wrap="square"/>
                    <a:lstStyle/>
                    <a:p>
                      <a:pPr algn="l"/>
                      <a:r>
                        <a:rPr sz="1050" b="0" i="0">
                          <a:solidFill>
                            <a:srgbClr val="000000"/>
                          </a:solidFill>
                          <a:latin typeface="Calibri"/>
                        </a:rPr>
                        <a:t>Figure 262: South Asia &amp; Pacific Industrial Air Compressor Market Attractiveness Analysis By Capacity</a:t>
                      </a:r>
                      <a:endParaRPr sz="1050"/>
                    </a:p>
                  </a:txBody>
                  <a:tcPr marL="9525" marR="9525" marT="9525" marB="0" anchor="ctr"/>
                </a:tc>
              </a:tr>
              <a:tr h="167020">
                <a:tc>
                  <a:txBody>
                    <a:bodyPr wrap="square"/>
                    <a:lstStyle/>
                    <a:p>
                      <a:pPr algn="l"/>
                      <a:r>
                        <a:rPr sz="1050" b="0" i="0">
                          <a:solidFill>
                            <a:srgbClr val="000000"/>
                          </a:solidFill>
                          <a:latin typeface="Calibri"/>
                        </a:rPr>
                        <a:t>Figure 263: South Asia &amp; Pacific Industrial Air Compressor Market Value, 2026–2036 By Driver Type</a:t>
                      </a:r>
                      <a:endParaRPr sz="1050"/>
                    </a:p>
                  </a:txBody>
                  <a:tcPr marL="9525" marR="9525" marT="9525" marB="0" anchor="ctr"/>
                </a:tc>
              </a:tr>
              <a:tr h="327360">
                <a:tc>
                  <a:txBody>
                    <a:bodyPr wrap="square"/>
                    <a:lstStyle/>
                    <a:p>
                      <a:pPr algn="l"/>
                      <a:r>
                        <a:rPr sz="1050" b="0" i="0">
                          <a:solidFill>
                            <a:srgbClr val="000000"/>
                          </a:solidFill>
                          <a:latin typeface="Calibri"/>
                        </a:rPr>
                        <a:t>Figure 264: South Asia &amp; Pacific Industrial Air Compressor Market Value, 2026–2036 Y-o-Y Comparison By Driver Type</a:t>
                      </a:r>
                      <a:endParaRPr sz="1050"/>
                    </a:p>
                  </a:txBody>
                  <a:tcPr marL="9525" marR="9525" marT="9525" marB="0" anchor="ctr"/>
                </a:tc>
              </a:tr>
              <a:tr h="327360">
                <a:tc>
                  <a:txBody>
                    <a:bodyPr wrap="square"/>
                    <a:lstStyle/>
                    <a:p>
                      <a:pPr algn="l"/>
                      <a:r>
                        <a:rPr sz="1050" b="0" i="0">
                          <a:solidFill>
                            <a:srgbClr val="000000"/>
                          </a:solidFill>
                          <a:latin typeface="Calibri"/>
                        </a:rPr>
                        <a:t>Figure 265: South Asia &amp; Pacific Industrial Air Compressor Market Value, 2026–2036 BPS Analysis By Driver Type</a:t>
                      </a:r>
                      <a:endParaRPr sz="1050"/>
                    </a:p>
                  </a:txBody>
                  <a:tcPr marL="9525" marR="9525" marT="9525" marB="0" anchor="ctr"/>
                </a:tc>
              </a:tr>
              <a:tr h="327360">
                <a:tc>
                  <a:txBody>
                    <a:bodyPr wrap="square"/>
                    <a:lstStyle/>
                    <a:p>
                      <a:pPr algn="l"/>
                      <a:r>
                        <a:rPr sz="1050" b="0" i="0">
                          <a:solidFill>
                            <a:srgbClr val="000000"/>
                          </a:solidFill>
                          <a:latin typeface="Calibri"/>
                        </a:rPr>
                        <a:t>Figure 266: South Asia &amp; Pacific Industrial Air Compressor Market Attractiveness Analysis By Driver Type</a:t>
                      </a:r>
                      <a:endParaRPr sz="1050"/>
                    </a:p>
                  </a:txBody>
                  <a:tcPr marL="9525" marR="9525" marT="9525" marB="0" anchor="ctr"/>
                </a:tc>
              </a:tr>
              <a:tr h="167020">
                <a:tc>
                  <a:txBody>
                    <a:bodyPr wrap="square"/>
                    <a:lstStyle/>
                    <a:p>
                      <a:pPr algn="l"/>
                      <a:r>
                        <a:rPr sz="1050" b="0" i="0">
                          <a:solidFill>
                            <a:srgbClr val="000000"/>
                          </a:solidFill>
                          <a:latin typeface="Calibri"/>
                        </a:rPr>
                        <a:t>Figure 267: South Asia &amp; Pacific Industrial Air Compressor Market Value, 2026–2036 By End Use</a:t>
                      </a:r>
                      <a:endParaRPr sz="1050"/>
                    </a:p>
                  </a:txBody>
                  <a:tcPr marL="9525" marR="9525" marT="9525" marB="0" anchor="ctr"/>
                </a:tc>
              </a:tr>
              <a:tr h="327360">
                <a:tc>
                  <a:txBody>
                    <a:bodyPr wrap="square"/>
                    <a:lstStyle/>
                    <a:p>
                      <a:pPr algn="l"/>
                      <a:r>
                        <a:rPr sz="1050" b="0" i="0">
                          <a:solidFill>
                            <a:srgbClr val="000000"/>
                          </a:solidFill>
                          <a:latin typeface="Calibri"/>
                        </a:rPr>
                        <a:t>Figure 268: South Asia &amp; Pacific Industrial Air Compressor Market Value, 2026–2036 Y-o-Y Comparison By End Use</a:t>
                      </a:r>
                      <a:endParaRPr sz="1050"/>
                    </a:p>
                  </a:txBody>
                  <a:tcPr marL="9525" marR="9525" marT="9525" marB="0" anchor="ctr"/>
                </a:tc>
              </a:tr>
              <a:tr h="327360">
                <a:tc>
                  <a:txBody>
                    <a:bodyPr wrap="square"/>
                    <a:lstStyle/>
                    <a:p>
                      <a:pPr algn="l"/>
                      <a:r>
                        <a:rPr sz="1050" b="0" i="0">
                          <a:solidFill>
                            <a:srgbClr val="000000"/>
                          </a:solidFill>
                          <a:latin typeface="Calibri"/>
                        </a:rPr>
                        <a:t>Figure 269: South Asia &amp; Pacific Industrial Air Compressor Market Value, 2026–2036 BPS Analysis By End Use</a:t>
                      </a:r>
                      <a:endParaRPr sz="1050"/>
                    </a:p>
                  </a:txBody>
                  <a:tcPr marL="9525" marR="9525" marT="9525" marB="0" anchor="ctr"/>
                </a:tc>
              </a:tr>
              <a:tr h="167020">
                <a:tc>
                  <a:txBody>
                    <a:bodyPr wrap="square"/>
                    <a:lstStyle/>
                    <a:p>
                      <a:pPr algn="l"/>
                      <a:r>
                        <a:rPr sz="1050" b="0" i="0">
                          <a:solidFill>
                            <a:srgbClr val="000000"/>
                          </a:solidFill>
                          <a:latin typeface="Calibri"/>
                        </a:rPr>
                        <a:t>Figure 270: South Asia &amp; Pacific Industrial Air Compressor Market Attractiveness Analysis By End Use</a:t>
                      </a:r>
                      <a:endParaRPr sz="1050"/>
                    </a:p>
                  </a:txBody>
                  <a:tcPr marL="9525" marR="9525" marT="9525" marB="0" anchor="ctr"/>
                </a:tc>
              </a:tr>
              <a:tr h="327360">
                <a:tc>
                  <a:txBody>
                    <a:bodyPr wrap="square"/>
                    <a:lstStyle/>
                    <a:p>
                      <a:pPr algn="l"/>
                      <a:r>
                        <a:rPr sz="1050" b="0" i="0">
                          <a:solidFill>
                            <a:srgbClr val="000000"/>
                          </a:solidFill>
                          <a:latin typeface="Calibri"/>
                        </a:rPr>
                        <a:t>Figure 271: South Asia &amp; Pacific Industrial Air Compressor Market Value, 2026–2036 By Compression Stage</a:t>
                      </a:r>
                      <a:endParaRPr sz="1050"/>
                    </a:p>
                  </a:txBody>
                  <a:tcPr marL="9525" marR="9525" marT="9525" marB="0" anchor="ctr"/>
                </a:tc>
              </a:tr>
              <a:tr h="327360">
                <a:tc>
                  <a:txBody>
                    <a:bodyPr wrap="square"/>
                    <a:lstStyle/>
                    <a:p>
                      <a:pPr algn="l"/>
                      <a:r>
                        <a:rPr sz="1050" b="0" i="0">
                          <a:solidFill>
                            <a:srgbClr val="000000"/>
                          </a:solidFill>
                          <a:latin typeface="Calibri"/>
                        </a:rPr>
                        <a:t>Figure 272: South Asia &amp; Pacific Industrial Air Compressor Market Value, 2026–2036 Y-o-Y Comparison By Compression Stage</a:t>
                      </a:r>
                      <a:endParaRPr sz="1050"/>
                    </a:p>
                  </a:txBody>
                  <a:tcPr marL="9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793"/>
        </p:xfrm>
        <a:graphic>
          <a:graphicData uri="http://schemas.openxmlformats.org/drawingml/2006/table">
            <a:tbl>
              <a:tblPr>
                <a:tableStyleId>{3B4B98B0-60AC-42C2-AFA5-B58CD77FA1E5}</a:tableStyleId>
              </a:tblPr>
              <a:tblGrid>
                <a:gridCol w="5876925"/>
              </a:tblGrid>
              <a:tr h="336334">
                <a:tc>
                  <a:txBody>
                    <a:bodyPr wrap="square"/>
                    <a:lstStyle/>
                    <a:p>
                      <a:pPr algn="l"/>
                      <a:r>
                        <a:rPr sz="1050" b="0" i="0">
                          <a:solidFill>
                            <a:srgbClr val="000000"/>
                          </a:solidFill>
                          <a:latin typeface="Calibri"/>
                        </a:rPr>
                        <a:t>Figure 273: South Asia &amp; Pacific Industrial Air Compressor Market Value, 2026–2036 BPS Analysis By Compression Stage</a:t>
                      </a:r>
                      <a:endParaRPr sz="1050"/>
                    </a:p>
                  </a:txBody>
                  <a:tcPr marL="9525" marR="9525" marT="9525" marB="0" anchor="ctr"/>
                </a:tc>
              </a:tr>
              <a:tr h="336334">
                <a:tc>
                  <a:txBody>
                    <a:bodyPr wrap="square"/>
                    <a:lstStyle/>
                    <a:p>
                      <a:pPr algn="l"/>
                      <a:r>
                        <a:rPr sz="1050" b="0" i="0">
                          <a:solidFill>
                            <a:srgbClr val="000000"/>
                          </a:solidFill>
                          <a:latin typeface="Calibri"/>
                        </a:rPr>
                        <a:t>Figure 274: South Asia &amp; Pacific Industrial Air Compressor Market Attractiveness Analysis By Compression Stage</a:t>
                      </a:r>
                      <a:endParaRPr sz="1050"/>
                    </a:p>
                  </a:txBody>
                  <a:tcPr marL="9525" marR="9525" marT="9525" marB="0" anchor="ctr"/>
                </a:tc>
              </a:tr>
              <a:tr h="171599">
                <a:tc>
                  <a:txBody>
                    <a:bodyPr wrap="square"/>
                    <a:lstStyle/>
                    <a:p>
                      <a:pPr algn="l"/>
                      <a:r>
                        <a:rPr sz="1050" b="0" i="0">
                          <a:solidFill>
                            <a:srgbClr val="000000"/>
                          </a:solidFill>
                          <a:latin typeface="Calibri"/>
                        </a:rPr>
                        <a:t>Figure 275: South Asia &amp; Pacific Industrial Air Compressor Market Value, 2026–2036 By Country</a:t>
                      </a:r>
                      <a:endParaRPr sz="1050"/>
                    </a:p>
                  </a:txBody>
                  <a:tcPr marL="9525" marR="9525" marT="9525" marB="0" anchor="ctr"/>
                </a:tc>
              </a:tr>
              <a:tr h="336334">
                <a:tc>
                  <a:txBody>
                    <a:bodyPr wrap="square"/>
                    <a:lstStyle/>
                    <a:p>
                      <a:pPr algn="l"/>
                      <a:r>
                        <a:rPr sz="1050" b="0" i="0">
                          <a:solidFill>
                            <a:srgbClr val="000000"/>
                          </a:solidFill>
                          <a:latin typeface="Calibri"/>
                        </a:rPr>
                        <a:t>Figure 276: South Asia &amp; Pacific Industrial Air Compressor Market Value, 2026–2036 Y-o-Y Comparison By Country</a:t>
                      </a:r>
                      <a:endParaRPr sz="1050"/>
                    </a:p>
                  </a:txBody>
                  <a:tcPr marL="9525" marR="9525" marT="9525" marB="0" anchor="ctr"/>
                </a:tc>
              </a:tr>
              <a:tr h="336334">
                <a:tc>
                  <a:txBody>
                    <a:bodyPr wrap="square"/>
                    <a:lstStyle/>
                    <a:p>
                      <a:pPr algn="l"/>
                      <a:r>
                        <a:rPr sz="1050" b="0" i="0">
                          <a:solidFill>
                            <a:srgbClr val="000000"/>
                          </a:solidFill>
                          <a:latin typeface="Calibri"/>
                        </a:rPr>
                        <a:t>Figure 277: South Asia &amp; Pacific Industrial Air Compressor Market Value, 2026–2036 BPS Analysis By Country</a:t>
                      </a:r>
                      <a:endParaRPr sz="1050"/>
                    </a:p>
                  </a:txBody>
                  <a:tcPr marL="9525" marR="9525" marT="9525" marB="0" anchor="ctr"/>
                </a:tc>
              </a:tr>
              <a:tr h="171599">
                <a:tc>
                  <a:txBody>
                    <a:bodyPr wrap="square"/>
                    <a:lstStyle/>
                    <a:p>
                      <a:pPr algn="l"/>
                      <a:r>
                        <a:rPr sz="1050" b="0" i="0">
                          <a:solidFill>
                            <a:srgbClr val="000000"/>
                          </a:solidFill>
                          <a:latin typeface="Calibri"/>
                        </a:rPr>
                        <a:t>Figure 278: South Asia &amp; Pacific Industrial Air Compressor Market Attractiveness Analysis By Country</a:t>
                      </a:r>
                      <a:endParaRPr sz="1050"/>
                    </a:p>
                  </a:txBody>
                  <a:tcPr marL="9525" marR="9525" marT="9525" marB="0" anchor="ctr"/>
                </a:tc>
              </a:tr>
              <a:tr h="171599">
                <a:tc>
                  <a:txBody>
                    <a:bodyPr wrap="square"/>
                    <a:lstStyle/>
                    <a:p>
                      <a:pPr algn="l"/>
                      <a:r>
                        <a:rPr sz="1050" b="0" i="0">
                          <a:solidFill>
                            <a:srgbClr val="000000"/>
                          </a:solidFill>
                          <a:latin typeface="Calibri"/>
                        </a:rPr>
                        <a:t>Figure 279: India Industrial Air Compressor Market Value, 2026–2036, By Technology</a:t>
                      </a:r>
                      <a:endParaRPr sz="1050"/>
                    </a:p>
                  </a:txBody>
                  <a:tcPr marL="9525" marR="9525" marT="9525" marB="0" anchor="ctr"/>
                </a:tc>
              </a:tr>
              <a:tr h="171599">
                <a:tc>
                  <a:txBody>
                    <a:bodyPr wrap="square"/>
                    <a:lstStyle/>
                    <a:p>
                      <a:pPr algn="l"/>
                      <a:r>
                        <a:rPr sz="1050" b="0" i="0">
                          <a:solidFill>
                            <a:srgbClr val="000000"/>
                          </a:solidFill>
                          <a:latin typeface="Calibri"/>
                        </a:rPr>
                        <a:t>Figure 280: India Industrial Air Compressor Market Value, 2026–2036, By Capacity</a:t>
                      </a:r>
                      <a:endParaRPr sz="1050"/>
                    </a:p>
                  </a:txBody>
                  <a:tcPr marL="9525" marR="9525" marT="9525" marB="0" anchor="ctr"/>
                </a:tc>
              </a:tr>
              <a:tr h="171599">
                <a:tc>
                  <a:txBody>
                    <a:bodyPr wrap="square"/>
                    <a:lstStyle/>
                    <a:p>
                      <a:pPr algn="l"/>
                      <a:r>
                        <a:rPr sz="1050" b="0" i="0">
                          <a:solidFill>
                            <a:srgbClr val="000000"/>
                          </a:solidFill>
                          <a:latin typeface="Calibri"/>
                        </a:rPr>
                        <a:t>Figure 281: India Industrial Air Compressor Market Value, 2026–2036, By Driver Type</a:t>
                      </a:r>
                      <a:endParaRPr sz="1050"/>
                    </a:p>
                  </a:txBody>
                  <a:tcPr marL="9525" marR="9525" marT="9525" marB="0" anchor="ctr"/>
                </a:tc>
              </a:tr>
              <a:tr h="171599">
                <a:tc>
                  <a:txBody>
                    <a:bodyPr wrap="square"/>
                    <a:lstStyle/>
                    <a:p>
                      <a:pPr algn="l"/>
                      <a:r>
                        <a:rPr sz="1050" b="0" i="0">
                          <a:solidFill>
                            <a:srgbClr val="000000"/>
                          </a:solidFill>
                          <a:latin typeface="Calibri"/>
                        </a:rPr>
                        <a:t>Figure 282: India Industrial Air Compressor Market Value, 2026–2036, By Compression Stage</a:t>
                      </a:r>
                      <a:endParaRPr sz="1050"/>
                    </a:p>
                  </a:txBody>
                  <a:tcPr marL="9525" marR="9525" marT="9525" marB="0" anchor="ctr"/>
                </a:tc>
              </a:tr>
              <a:tr h="171599">
                <a:tc>
                  <a:txBody>
                    <a:bodyPr wrap="square"/>
                    <a:lstStyle/>
                    <a:p>
                      <a:pPr algn="l"/>
                      <a:r>
                        <a:rPr sz="1050" b="0" i="0">
                          <a:solidFill>
                            <a:srgbClr val="000000"/>
                          </a:solidFill>
                          <a:latin typeface="Calibri"/>
                        </a:rPr>
                        <a:t>Figure 283: India Industrial Air Compressor Market Value, 2026–2036, By End Use</a:t>
                      </a:r>
                      <a:endParaRPr sz="1050"/>
                    </a:p>
                  </a:txBody>
                  <a:tcPr marL="9525" marR="9525" marT="9525" marB="0" anchor="ctr"/>
                </a:tc>
              </a:tr>
              <a:tr h="171599">
                <a:tc>
                  <a:txBody>
                    <a:bodyPr wrap="square"/>
                    <a:lstStyle/>
                    <a:p>
                      <a:pPr algn="l"/>
                      <a:r>
                        <a:rPr sz="1050" b="0" i="0">
                          <a:solidFill>
                            <a:srgbClr val="000000"/>
                          </a:solidFill>
                          <a:latin typeface="Calibri"/>
                        </a:rPr>
                        <a:t>Figure 284: ASEAN Industrial Air Compressor Market Value, 2026–2036, By Technology</a:t>
                      </a:r>
                      <a:endParaRPr sz="1050"/>
                    </a:p>
                  </a:txBody>
                  <a:tcPr marL="9525" marR="9525" marT="9525" marB="0" anchor="ctr"/>
                </a:tc>
              </a:tr>
              <a:tr h="171599">
                <a:tc>
                  <a:txBody>
                    <a:bodyPr wrap="square"/>
                    <a:lstStyle/>
                    <a:p>
                      <a:pPr algn="l"/>
                      <a:r>
                        <a:rPr sz="1050" b="0" i="0">
                          <a:solidFill>
                            <a:srgbClr val="000000"/>
                          </a:solidFill>
                          <a:latin typeface="Calibri"/>
                        </a:rPr>
                        <a:t>Figure 285: ASEAN Industrial Air Compressor Market Value, 2026–2036, By Capacity</a:t>
                      </a:r>
                      <a:endParaRPr sz="1050"/>
                    </a:p>
                  </a:txBody>
                  <a:tcPr marL="9525" marR="9525" marT="9525" marB="0" anchor="ctr"/>
                </a:tc>
              </a:tr>
              <a:tr h="171599">
                <a:tc>
                  <a:txBody>
                    <a:bodyPr wrap="square"/>
                    <a:lstStyle/>
                    <a:p>
                      <a:pPr algn="l"/>
                      <a:r>
                        <a:rPr sz="1050" b="0" i="0">
                          <a:solidFill>
                            <a:srgbClr val="000000"/>
                          </a:solidFill>
                          <a:latin typeface="Calibri"/>
                        </a:rPr>
                        <a:t>Figure 286: ASEAN Industrial Air Compressor Market Value, 2026–2036, By Driver Type</a:t>
                      </a:r>
                      <a:endParaRPr sz="1050"/>
                    </a:p>
                  </a:txBody>
                  <a:tcPr marL="9525" marR="9525" marT="9525" marB="0" anchor="ctr"/>
                </a:tc>
              </a:tr>
              <a:tr h="171599">
                <a:tc>
                  <a:txBody>
                    <a:bodyPr wrap="square"/>
                    <a:lstStyle/>
                    <a:p>
                      <a:pPr algn="l"/>
                      <a:r>
                        <a:rPr sz="1050" b="0" i="0">
                          <a:solidFill>
                            <a:srgbClr val="000000"/>
                          </a:solidFill>
                          <a:latin typeface="Calibri"/>
                        </a:rPr>
                        <a:t>Figure 287: ASEAN Industrial Air Compressor Market Value, 2026–2036, By Compression Stage</a:t>
                      </a:r>
                      <a:endParaRPr sz="1050"/>
                    </a:p>
                  </a:txBody>
                  <a:tcPr marL="9525" marR="9525" marT="9525" marB="0" anchor="ctr"/>
                </a:tc>
              </a:tr>
              <a:tr h="171599">
                <a:tc>
                  <a:txBody>
                    <a:bodyPr wrap="square"/>
                    <a:lstStyle/>
                    <a:p>
                      <a:pPr algn="l"/>
                      <a:r>
                        <a:rPr sz="1050" b="0" i="0">
                          <a:solidFill>
                            <a:srgbClr val="000000"/>
                          </a:solidFill>
                          <a:latin typeface="Calibri"/>
                        </a:rPr>
                        <a:t>Figure 288: ASEAN Industrial Air Compressor Market Value, 2026–2036, By End Use</a:t>
                      </a:r>
                      <a:endParaRPr sz="1050"/>
                    </a:p>
                  </a:txBody>
                  <a:tcPr marL="9525" marR="9525" marT="9525" marB="0" anchor="ctr"/>
                </a:tc>
              </a:tr>
              <a:tr h="336334">
                <a:tc>
                  <a:txBody>
                    <a:bodyPr wrap="square"/>
                    <a:lstStyle/>
                    <a:p>
                      <a:pPr algn="l"/>
                      <a:r>
                        <a:rPr sz="1050" b="0" i="0">
                          <a:solidFill>
                            <a:srgbClr val="000000"/>
                          </a:solidFill>
                          <a:latin typeface="Calibri"/>
                        </a:rPr>
                        <a:t>Figure 289: Australia and New Zealand Industrial Air Compressor Market Value, 2026–2036, By Technology</a:t>
                      </a:r>
                      <a:endParaRPr sz="1050"/>
                    </a:p>
                  </a:txBody>
                  <a:tcPr marL="9525" marR="9525" marT="9525" marB="0" anchor="ctr"/>
                </a:tc>
              </a:tr>
              <a:tr h="336334">
                <a:tc>
                  <a:txBody>
                    <a:bodyPr wrap="square"/>
                    <a:lstStyle/>
                    <a:p>
                      <a:pPr algn="l"/>
                      <a:r>
                        <a:rPr sz="1050" b="0" i="0">
                          <a:solidFill>
                            <a:srgbClr val="000000"/>
                          </a:solidFill>
                          <a:latin typeface="Calibri"/>
                        </a:rPr>
                        <a:t>Figure 290: Australia and New Zealand Industrial Air Compressor Market Value, 2026–2036, By Capacity</a:t>
                      </a:r>
                      <a:endParaRPr sz="1050"/>
                    </a:p>
                  </a:txBody>
                  <a:tcPr marL="9525" marR="9525" marT="9525" marB="0" anchor="ctr"/>
                </a:tc>
              </a:tr>
              <a:tr h="336334">
                <a:tc>
                  <a:txBody>
                    <a:bodyPr wrap="square"/>
                    <a:lstStyle/>
                    <a:p>
                      <a:pPr algn="l"/>
                      <a:r>
                        <a:rPr sz="1050" b="0" i="0">
                          <a:solidFill>
                            <a:srgbClr val="000000"/>
                          </a:solidFill>
                          <a:latin typeface="Calibri"/>
                        </a:rPr>
                        <a:t>Figure 291: Australia and New Zealand Industrial Air Compressor Market Value, 2026–2036, By Driver Type</a:t>
                      </a:r>
                      <a:endParaRPr sz="1050"/>
                    </a:p>
                  </a:txBody>
                  <a:tcPr marL="9525" marR="9525" marT="9525" marB="0" anchor="ctr"/>
                </a:tc>
              </a:tr>
              <a:tr h="336334">
                <a:tc>
                  <a:txBody>
                    <a:bodyPr wrap="square"/>
                    <a:lstStyle/>
                    <a:p>
                      <a:pPr algn="l"/>
                      <a:r>
                        <a:rPr sz="1050" b="0" i="0">
                          <a:solidFill>
                            <a:srgbClr val="000000"/>
                          </a:solidFill>
                          <a:latin typeface="Calibri"/>
                        </a:rPr>
                        <a:t>Figure 292: Australia and New Zealand Industrial Air Compressor Market Value, 2026–2036, By Compression Stage</a:t>
                      </a:r>
                      <a:endParaRPr sz="1050"/>
                    </a:p>
                  </a:txBody>
                  <a:tcPr marL="9525" marR="9525" marT="9525" marB="0" anchor="ctr"/>
                </a:tc>
              </a:tr>
              <a:tr h="336334">
                <a:tc>
                  <a:txBody>
                    <a:bodyPr wrap="square"/>
                    <a:lstStyle/>
                    <a:p>
                      <a:pPr algn="l"/>
                      <a:r>
                        <a:rPr sz="1050" b="0" i="0">
                          <a:solidFill>
                            <a:srgbClr val="000000"/>
                          </a:solidFill>
                          <a:latin typeface="Calibri"/>
                        </a:rPr>
                        <a:t>Figure 293: Australia and New Zealand Industrial Air Compressor Market Value, 2026–2036, By End Use</a:t>
                      </a:r>
                      <a:endParaRPr sz="1050"/>
                    </a:p>
                  </a:txBody>
                  <a:tcPr marL="9525" marR="9525" marT="9525" marB="0" anchor="ctr"/>
                </a:tc>
              </a:tr>
              <a:tr h="171599">
                <a:tc>
                  <a:txBody>
                    <a:bodyPr wrap="square"/>
                    <a:lstStyle/>
                    <a:p>
                      <a:pPr algn="l"/>
                      <a:r>
                        <a:rPr sz="1050" b="0" i="0">
                          <a:solidFill>
                            <a:srgbClr val="000000"/>
                          </a:solidFill>
                          <a:latin typeface="Calibri"/>
                        </a:rPr>
                        <a:t>Figure 294: Middle East &amp; Africa Industrial Air Compressor Market Value, 2021–2036</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(7/7)</a:t>
            </a:r>
          </a:p>
        </p:txBody>
      </p:sp>
      <p:graphicFrame>
        <p:nvGraphicFramePr>
          <p:cNvPr id="6"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327360">
                <a:tc>
                  <a:txBody>
                    <a:bodyPr wrap="square"/>
                    <a:lstStyle/>
                    <a:p>
                      <a:pPr algn="l"/>
                      <a:r>
                        <a:rPr sz="1050" b="0" i="0">
                          <a:solidFill>
                            <a:srgbClr val="000000"/>
                          </a:solidFill>
                          <a:latin typeface="Calibri"/>
                        </a:rPr>
                        <a:t>Figure 295: Middle East &amp; Africa Industrial Air Compressor Market Incremental $ Opportunity, 2026–2036</a:t>
                      </a:r>
                      <a:endParaRPr sz="1050"/>
                    </a:p>
                  </a:txBody>
                  <a:tcPr marL="9525" marR="9525" marT="9525" marB="0" anchor="ctr"/>
                </a:tc>
              </a:tr>
              <a:tr h="167020">
                <a:tc>
                  <a:txBody>
                    <a:bodyPr wrap="square"/>
                    <a:lstStyle/>
                    <a:p>
                      <a:pPr algn="l"/>
                      <a:r>
                        <a:rPr sz="1050" b="0" i="0">
                          <a:solidFill>
                            <a:srgbClr val="000000"/>
                          </a:solidFill>
                          <a:latin typeface="Calibri"/>
                        </a:rPr>
                        <a:t>Figure 296: Middle East &amp; Africa Industrial Air Compressor Market Value, 2026–2036 By Technology</a:t>
                      </a:r>
                      <a:endParaRPr sz="1050"/>
                    </a:p>
                  </a:txBody>
                  <a:tcPr marL="9525" marR="9525" marT="9525" marB="0" anchor="ctr"/>
                </a:tc>
              </a:tr>
              <a:tr h="327360">
                <a:tc>
                  <a:txBody>
                    <a:bodyPr wrap="square"/>
                    <a:lstStyle/>
                    <a:p>
                      <a:pPr algn="l"/>
                      <a:r>
                        <a:rPr sz="1050" b="0" i="0">
                          <a:solidFill>
                            <a:srgbClr val="000000"/>
                          </a:solidFill>
                          <a:latin typeface="Calibri"/>
                        </a:rPr>
                        <a:t>Figure 297: Middle East &amp; Africa Industrial Air Compressor Market Value, 2026–2036 Y-o-Y Comparison By Technology</a:t>
                      </a:r>
                      <a:endParaRPr sz="1050"/>
                    </a:p>
                  </a:txBody>
                  <a:tcPr marL="9525" marR="9525" marT="9525" marB="0" anchor="ctr"/>
                </a:tc>
              </a:tr>
              <a:tr h="327360">
                <a:tc>
                  <a:txBody>
                    <a:bodyPr wrap="square"/>
                    <a:lstStyle/>
                    <a:p>
                      <a:pPr algn="l"/>
                      <a:r>
                        <a:rPr sz="1050" b="0" i="0">
                          <a:solidFill>
                            <a:srgbClr val="000000"/>
                          </a:solidFill>
                          <a:latin typeface="Calibri"/>
                        </a:rPr>
                        <a:t>Figure 298: Middle East &amp; Africa Industrial Air Compressor Market Value, 2026–2036 BPS Analysis By Technology</a:t>
                      </a:r>
                      <a:endParaRPr sz="1050"/>
                    </a:p>
                  </a:txBody>
                  <a:tcPr marL="9525" marR="9525" marT="9525" marB="0" anchor="ctr"/>
                </a:tc>
              </a:tr>
              <a:tr h="327360">
                <a:tc>
                  <a:txBody>
                    <a:bodyPr wrap="square"/>
                    <a:lstStyle/>
                    <a:p>
                      <a:pPr algn="l"/>
                      <a:r>
                        <a:rPr sz="1050" b="0" i="0">
                          <a:solidFill>
                            <a:srgbClr val="000000"/>
                          </a:solidFill>
                          <a:latin typeface="Calibri"/>
                        </a:rPr>
                        <a:t>Figure 299: Middle East &amp; Africa Industrial Air Compressor Market Attractiveness Analysis By Technology</a:t>
                      </a:r>
                      <a:endParaRPr sz="1050"/>
                    </a:p>
                  </a:txBody>
                  <a:tcPr marL="9525" marR="9525" marT="9525" marB="0" anchor="ctr"/>
                </a:tc>
              </a:tr>
              <a:tr h="167020">
                <a:tc>
                  <a:txBody>
                    <a:bodyPr wrap="square"/>
                    <a:lstStyle/>
                    <a:p>
                      <a:pPr algn="l"/>
                      <a:r>
                        <a:rPr sz="1050" b="0" i="0">
                          <a:solidFill>
                            <a:srgbClr val="000000"/>
                          </a:solidFill>
                          <a:latin typeface="Calibri"/>
                        </a:rPr>
                        <a:t>Figure 300: Middle East &amp; Africa Industrial Air Compressor Market Value, 2026–2036 By Capacity</a:t>
                      </a:r>
                      <a:endParaRPr sz="1050"/>
                    </a:p>
                  </a:txBody>
                  <a:tcPr marL="9525" marR="9525" marT="9525" marB="0" anchor="ctr"/>
                </a:tc>
              </a:tr>
              <a:tr h="327360">
                <a:tc>
                  <a:txBody>
                    <a:bodyPr wrap="square"/>
                    <a:lstStyle/>
                    <a:p>
                      <a:pPr algn="l"/>
                      <a:r>
                        <a:rPr sz="1050" b="0" i="0">
                          <a:solidFill>
                            <a:srgbClr val="000000"/>
                          </a:solidFill>
                          <a:latin typeface="Calibri"/>
                        </a:rPr>
                        <a:t>Figure 301: Middle East &amp; Africa Industrial Air Compressor Market Value, 2026–2036 Y-o-Y Comparison By Capacity</a:t>
                      </a:r>
                      <a:endParaRPr sz="1050"/>
                    </a:p>
                  </a:txBody>
                  <a:tcPr marL="9525" marR="9525" marT="9525" marB="0" anchor="ctr"/>
                </a:tc>
              </a:tr>
              <a:tr h="327360">
                <a:tc>
                  <a:txBody>
                    <a:bodyPr wrap="square"/>
                    <a:lstStyle/>
                    <a:p>
                      <a:pPr algn="l"/>
                      <a:r>
                        <a:rPr sz="1050" b="0" i="0">
                          <a:solidFill>
                            <a:srgbClr val="000000"/>
                          </a:solidFill>
                          <a:latin typeface="Calibri"/>
                        </a:rPr>
                        <a:t>Figure 302: Middle East &amp; Africa Industrial Air Compressor Market Value, 2026–2036 BPS Analysis By Capacity</a:t>
                      </a:r>
                      <a:endParaRPr sz="1050"/>
                    </a:p>
                  </a:txBody>
                  <a:tcPr marL="9525" marR="9525" marT="9525" marB="0" anchor="ctr"/>
                </a:tc>
              </a:tr>
              <a:tr h="167020">
                <a:tc>
                  <a:txBody>
                    <a:bodyPr wrap="square"/>
                    <a:lstStyle/>
                    <a:p>
                      <a:pPr algn="l"/>
                      <a:r>
                        <a:rPr sz="1050" b="0" i="0">
                          <a:solidFill>
                            <a:srgbClr val="000000"/>
                          </a:solidFill>
                          <a:latin typeface="Calibri"/>
                        </a:rPr>
                        <a:t>Figure 303: Middle East &amp; Africa Industrial Air Compressor Market Attractiveness Analysis By Capacity</a:t>
                      </a:r>
                      <a:endParaRPr sz="1050"/>
                    </a:p>
                  </a:txBody>
                  <a:tcPr marL="9525" marR="9525" marT="9525" marB="0" anchor="ctr"/>
                </a:tc>
              </a:tr>
              <a:tr h="167020">
                <a:tc>
                  <a:txBody>
                    <a:bodyPr wrap="square"/>
                    <a:lstStyle/>
                    <a:p>
                      <a:pPr algn="l"/>
                      <a:r>
                        <a:rPr sz="1050" b="0" i="0">
                          <a:solidFill>
                            <a:srgbClr val="000000"/>
                          </a:solidFill>
                          <a:latin typeface="Calibri"/>
                        </a:rPr>
                        <a:t>Figure 304: Middle East &amp; Africa Industrial Air Compressor Market Value, 2026–2036 By Driver Type</a:t>
                      </a:r>
                      <a:endParaRPr sz="1050"/>
                    </a:p>
                  </a:txBody>
                  <a:tcPr marL="9525" marR="9525" marT="9525" marB="0" anchor="ctr"/>
                </a:tc>
              </a:tr>
              <a:tr h="327360">
                <a:tc>
                  <a:txBody>
                    <a:bodyPr wrap="square"/>
                    <a:lstStyle/>
                    <a:p>
                      <a:pPr algn="l"/>
                      <a:r>
                        <a:rPr sz="1050" b="0" i="0">
                          <a:solidFill>
                            <a:srgbClr val="000000"/>
                          </a:solidFill>
                          <a:latin typeface="Calibri"/>
                        </a:rPr>
                        <a:t>Figure 305: Middle East &amp; Africa Industrial Air Compressor Market Value, 2026–2036 Y-o-Y Comparison By Driver Type</a:t>
                      </a:r>
                      <a:endParaRPr sz="1050"/>
                    </a:p>
                  </a:txBody>
                  <a:tcPr marL="9525" marR="9525" marT="9525" marB="0" anchor="ctr"/>
                </a:tc>
              </a:tr>
              <a:tr h="327360">
                <a:tc>
                  <a:txBody>
                    <a:bodyPr wrap="square"/>
                    <a:lstStyle/>
                    <a:p>
                      <a:pPr algn="l"/>
                      <a:r>
                        <a:rPr sz="1050" b="0" i="0">
                          <a:solidFill>
                            <a:srgbClr val="000000"/>
                          </a:solidFill>
                          <a:latin typeface="Calibri"/>
                        </a:rPr>
                        <a:t>Figure 306: Middle East &amp; Africa Industrial Air Compressor Market Value, 2026–2036 BPS Analysis By Driver Type</a:t>
                      </a:r>
                      <a:endParaRPr sz="1050"/>
                    </a:p>
                  </a:txBody>
                  <a:tcPr marL="9525" marR="9525" marT="9525" marB="0" anchor="ctr"/>
                </a:tc>
              </a:tr>
              <a:tr h="327360">
                <a:tc>
                  <a:txBody>
                    <a:bodyPr wrap="square"/>
                    <a:lstStyle/>
                    <a:p>
                      <a:pPr algn="l"/>
                      <a:r>
                        <a:rPr sz="1050" b="0" i="0">
                          <a:solidFill>
                            <a:srgbClr val="000000"/>
                          </a:solidFill>
                          <a:latin typeface="Calibri"/>
                        </a:rPr>
                        <a:t>Figure 307: Middle East &amp; Africa Industrial Air Compressor Market Attractiveness Analysis By Driver Type</a:t>
                      </a:r>
                      <a:endParaRPr sz="1050"/>
                    </a:p>
                  </a:txBody>
                  <a:tcPr marL="9525" marR="9525" marT="9525" marB="0" anchor="ctr"/>
                </a:tc>
              </a:tr>
              <a:tr h="167020">
                <a:tc>
                  <a:txBody>
                    <a:bodyPr wrap="square"/>
                    <a:lstStyle/>
                    <a:p>
                      <a:pPr algn="l"/>
                      <a:r>
                        <a:rPr sz="1050" b="0" i="0">
                          <a:solidFill>
                            <a:srgbClr val="000000"/>
                          </a:solidFill>
                          <a:latin typeface="Calibri"/>
                        </a:rPr>
                        <a:t>Figure 308: Middle East &amp; Africa Industrial Air Compressor Market Value, 2026–2036 By End Use</a:t>
                      </a:r>
                      <a:endParaRPr sz="1050"/>
                    </a:p>
                  </a:txBody>
                  <a:tcPr marL="9525" marR="9525" marT="9525" marB="0" anchor="ctr"/>
                </a:tc>
              </a:tr>
              <a:tr h="327360">
                <a:tc>
                  <a:txBody>
                    <a:bodyPr wrap="square"/>
                    <a:lstStyle/>
                    <a:p>
                      <a:pPr algn="l"/>
                      <a:r>
                        <a:rPr sz="1050" b="0" i="0">
                          <a:solidFill>
                            <a:srgbClr val="000000"/>
                          </a:solidFill>
                          <a:latin typeface="Calibri"/>
                        </a:rPr>
                        <a:t>Figure 309: Middle East &amp; Africa Industrial Air Compressor Market Value, 2026–2036 Y-o-Y Comparison By End Use</a:t>
                      </a:r>
                      <a:endParaRPr sz="1050"/>
                    </a:p>
                  </a:txBody>
                  <a:tcPr marL="9525" marR="9525" marT="9525" marB="0" anchor="ctr"/>
                </a:tc>
              </a:tr>
              <a:tr h="327360">
                <a:tc>
                  <a:txBody>
                    <a:bodyPr wrap="square"/>
                    <a:lstStyle/>
                    <a:p>
                      <a:pPr algn="l"/>
                      <a:r>
                        <a:rPr sz="1050" b="0" i="0">
                          <a:solidFill>
                            <a:srgbClr val="000000"/>
                          </a:solidFill>
                          <a:latin typeface="Calibri"/>
                        </a:rPr>
                        <a:t>Figure 310: Middle East &amp; Africa Industrial Air Compressor Market Value, 2026–2036 BPS Analysis By End Use</a:t>
                      </a:r>
                      <a:endParaRPr sz="1050"/>
                    </a:p>
                  </a:txBody>
                  <a:tcPr marL="9525" marR="9525" marT="9525" marB="0" anchor="ctr"/>
                </a:tc>
              </a:tr>
              <a:tr h="167020">
                <a:tc>
                  <a:txBody>
                    <a:bodyPr wrap="square"/>
                    <a:lstStyle/>
                    <a:p>
                      <a:pPr algn="l"/>
                      <a:r>
                        <a:rPr sz="1050" b="0" i="0">
                          <a:solidFill>
                            <a:srgbClr val="000000"/>
                          </a:solidFill>
                          <a:latin typeface="Calibri"/>
                        </a:rPr>
                        <a:t>Figure 311: Middle East &amp; Africa Industrial Air Compressor Market Attractiveness Analysis By End Use</a:t>
                      </a:r>
                      <a:endParaRPr sz="1050"/>
                    </a:p>
                  </a:txBody>
                  <a:tcPr marL="9525" marR="9525" marT="9525" marB="0" anchor="ctr"/>
                </a:tc>
              </a:tr>
              <a:tr h="327360">
                <a:tc>
                  <a:txBody>
                    <a:bodyPr wrap="square"/>
                    <a:lstStyle/>
                    <a:p>
                      <a:pPr algn="l"/>
                      <a:r>
                        <a:rPr sz="1050" b="0" i="0">
                          <a:solidFill>
                            <a:srgbClr val="000000"/>
                          </a:solidFill>
                          <a:latin typeface="Calibri"/>
                        </a:rPr>
                        <a:t>Figure 312: Middle East &amp; Africa Industrial Air Compressor Market Value, 2026–2036 By Compression Stage</a:t>
                      </a:r>
                      <a:endParaRPr sz="1050"/>
                    </a:p>
                  </a:txBody>
                  <a:tcPr marL="9525" marR="9525" marT="9525" marB="0" anchor="ctr"/>
                </a:tc>
              </a:tr>
              <a:tr h="327360">
                <a:tc>
                  <a:txBody>
                    <a:bodyPr wrap="square"/>
                    <a:lstStyle/>
                    <a:p>
                      <a:pPr algn="l"/>
                      <a:r>
                        <a:rPr sz="1050" b="0" i="0">
                          <a:solidFill>
                            <a:srgbClr val="000000"/>
                          </a:solidFill>
                          <a:latin typeface="Calibri"/>
                        </a:rPr>
                        <a:t>Figure 313: Middle East &amp; Africa Industrial Air Compressor Market Value, 2026–2036 Y-o-Y Comparison By Compression Stage</a:t>
                      </a:r>
                      <a:endParaRPr sz="1050"/>
                    </a:p>
                  </a:txBody>
                  <a:tcPr marL="9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4973968"/>
        </p:xfrm>
        <a:graphic>
          <a:graphicData uri="http://schemas.openxmlformats.org/drawingml/2006/table">
            <a:tbl>
              <a:tblPr>
                <a:tableStyleId>{3B4B98B0-60AC-42C2-AFA5-B58CD77FA1E5}</a:tableStyleId>
              </a:tblPr>
              <a:tblGrid>
                <a:gridCol w="5876925"/>
              </a:tblGrid>
              <a:tr h="326708">
                <a:tc>
                  <a:txBody>
                    <a:bodyPr wrap="square"/>
                    <a:lstStyle/>
                    <a:p>
                      <a:pPr algn="l"/>
                      <a:r>
                        <a:rPr sz="1050" b="0" i="0">
                          <a:solidFill>
                            <a:srgbClr val="000000"/>
                          </a:solidFill>
                          <a:latin typeface="Calibri"/>
                        </a:rPr>
                        <a:t>Figure 314: Middle East &amp; Africa Industrial Air Compressor Market Value, 2026–2036 BPS Analysis By Compression Stage</a:t>
                      </a:r>
                      <a:endParaRPr sz="1050"/>
                    </a:p>
                  </a:txBody>
                  <a:tcPr marL="9525" marR="9525" marT="9525" marB="0" anchor="ctr"/>
                </a:tc>
              </a:tr>
              <a:tr h="326708">
                <a:tc>
                  <a:txBody>
                    <a:bodyPr wrap="square"/>
                    <a:lstStyle/>
                    <a:p>
                      <a:pPr algn="l"/>
                      <a:r>
                        <a:rPr sz="1050" b="0" i="0">
                          <a:solidFill>
                            <a:srgbClr val="000000"/>
                          </a:solidFill>
                          <a:latin typeface="Calibri"/>
                        </a:rPr>
                        <a:t>Figure 315: Middle East &amp; Africa Industrial Air Compressor Market Attractiveness Analysis By Compression Stage</a:t>
                      </a:r>
                      <a:endParaRPr sz="1050"/>
                    </a:p>
                  </a:txBody>
                  <a:tcPr marL="9525" marR="9525" marT="9525" marB="0" anchor="ctr"/>
                </a:tc>
              </a:tr>
              <a:tr h="166688">
                <a:tc>
                  <a:txBody>
                    <a:bodyPr wrap="square"/>
                    <a:lstStyle/>
                    <a:p>
                      <a:pPr algn="l"/>
                      <a:r>
                        <a:rPr sz="1050" b="0" i="0">
                          <a:solidFill>
                            <a:srgbClr val="000000"/>
                          </a:solidFill>
                          <a:latin typeface="Calibri"/>
                        </a:rPr>
                        <a:t>Figure 316: Middle East &amp; Africa Industrial Air Compressor Market Value, 2026–2036 By Region</a:t>
                      </a:r>
                      <a:endParaRPr sz="1050"/>
                    </a:p>
                  </a:txBody>
                  <a:tcPr marL="9525" marR="9525" marT="9525" marB="0" anchor="ctr"/>
                </a:tc>
              </a:tr>
              <a:tr h="326708">
                <a:tc>
                  <a:txBody>
                    <a:bodyPr wrap="square"/>
                    <a:lstStyle/>
                    <a:p>
                      <a:pPr algn="l"/>
                      <a:r>
                        <a:rPr sz="1050" b="0" i="0">
                          <a:solidFill>
                            <a:srgbClr val="000000"/>
                          </a:solidFill>
                          <a:latin typeface="Calibri"/>
                        </a:rPr>
                        <a:t>Figure 317: Middle East &amp; Africa Industrial Air Compressor Market Value, 2026–2036 Y-o-Y Comparison By Region</a:t>
                      </a:r>
                      <a:endParaRPr sz="1050"/>
                    </a:p>
                  </a:txBody>
                  <a:tcPr marL="9525" marR="9525" marT="9525" marB="0" anchor="ctr"/>
                </a:tc>
              </a:tr>
              <a:tr h="326708">
                <a:tc>
                  <a:txBody>
                    <a:bodyPr wrap="square"/>
                    <a:lstStyle/>
                    <a:p>
                      <a:pPr algn="l"/>
                      <a:r>
                        <a:rPr sz="1050" b="0" i="0">
                          <a:solidFill>
                            <a:srgbClr val="000000"/>
                          </a:solidFill>
                          <a:latin typeface="Calibri"/>
                        </a:rPr>
                        <a:t>Figure 318: Middle East &amp; Africa Industrial Air Compressor Market Value, 2026–2036 BPS Analysis By Region</a:t>
                      </a:r>
                      <a:endParaRPr sz="1050"/>
                    </a:p>
                  </a:txBody>
                  <a:tcPr marL="9525" marR="9525" marT="9525" marB="0" anchor="ctr"/>
                </a:tc>
              </a:tr>
              <a:tr h="166688">
                <a:tc>
                  <a:txBody>
                    <a:bodyPr wrap="square"/>
                    <a:lstStyle/>
                    <a:p>
                      <a:pPr algn="l"/>
                      <a:r>
                        <a:rPr sz="1050" b="0" i="0">
                          <a:solidFill>
                            <a:srgbClr val="000000"/>
                          </a:solidFill>
                          <a:latin typeface="Calibri"/>
                        </a:rPr>
                        <a:t>Figure 319: Middle East &amp; Africa Industrial Air Compressor Market Attractiveness Analysis By Region</a:t>
                      </a:r>
                      <a:endParaRPr sz="1050"/>
                    </a:p>
                  </a:txBody>
                  <a:tcPr marL="9525" marR="9525" marT="9525" marB="0" anchor="ctr"/>
                </a:tc>
              </a:tr>
              <a:tr h="166688">
                <a:tc>
                  <a:txBody>
                    <a:bodyPr wrap="square"/>
                    <a:lstStyle/>
                    <a:p>
                      <a:pPr algn="l"/>
                      <a:r>
                        <a:rPr sz="1050" b="0" i="0">
                          <a:solidFill>
                            <a:srgbClr val="000000"/>
                          </a:solidFill>
                          <a:latin typeface="Calibri"/>
                        </a:rPr>
                        <a:t>Figure 320: GCC Countries Industrial Air Compressor Market Value, 2026–2036, By Technology</a:t>
                      </a:r>
                      <a:endParaRPr sz="1050"/>
                    </a:p>
                  </a:txBody>
                  <a:tcPr marL="9525" marR="9525" marT="9525" marB="0" anchor="ctr"/>
                </a:tc>
              </a:tr>
              <a:tr h="166688">
                <a:tc>
                  <a:txBody>
                    <a:bodyPr wrap="square"/>
                    <a:lstStyle/>
                    <a:p>
                      <a:pPr algn="l"/>
                      <a:r>
                        <a:rPr sz="1050" b="0" i="0">
                          <a:solidFill>
                            <a:srgbClr val="000000"/>
                          </a:solidFill>
                          <a:latin typeface="Calibri"/>
                        </a:rPr>
                        <a:t>Figure 321: GCC Countries Industrial Air Compressor Market Value, 2026–2036, By Capacity</a:t>
                      </a:r>
                      <a:endParaRPr sz="1050"/>
                    </a:p>
                  </a:txBody>
                  <a:tcPr marL="9525" marR="9525" marT="9525" marB="0" anchor="ctr"/>
                </a:tc>
              </a:tr>
              <a:tr h="166688">
                <a:tc>
                  <a:txBody>
                    <a:bodyPr wrap="square"/>
                    <a:lstStyle/>
                    <a:p>
                      <a:pPr algn="l"/>
                      <a:r>
                        <a:rPr sz="1050" b="0" i="0">
                          <a:solidFill>
                            <a:srgbClr val="000000"/>
                          </a:solidFill>
                          <a:latin typeface="Calibri"/>
                        </a:rPr>
                        <a:t>Figure 322: GCC Countries Industrial Air Compressor Market Value, 2026–2036, By Driver Type</a:t>
                      </a:r>
                      <a:endParaRPr sz="1050"/>
                    </a:p>
                  </a:txBody>
                  <a:tcPr marL="9525" marR="9525" marT="9525" marB="0" anchor="ctr"/>
                </a:tc>
              </a:tr>
              <a:tr h="166688">
                <a:tc>
                  <a:txBody>
                    <a:bodyPr wrap="square"/>
                    <a:lstStyle/>
                    <a:p>
                      <a:pPr algn="l"/>
                      <a:r>
                        <a:rPr sz="1050" b="0" i="0">
                          <a:solidFill>
                            <a:srgbClr val="000000"/>
                          </a:solidFill>
                          <a:latin typeface="Calibri"/>
                        </a:rPr>
                        <a:t>Figure 323: GCC Countries Industrial Air Compressor Market Value, 2026–2036, By Compression Stage</a:t>
                      </a:r>
                      <a:endParaRPr sz="1050"/>
                    </a:p>
                  </a:txBody>
                  <a:tcPr marL="9525" marR="9525" marT="9525" marB="0" anchor="ctr"/>
                </a:tc>
              </a:tr>
              <a:tr h="166688">
                <a:tc>
                  <a:txBody>
                    <a:bodyPr wrap="square"/>
                    <a:lstStyle/>
                    <a:p>
                      <a:pPr algn="l"/>
                      <a:r>
                        <a:rPr sz="1050" b="0" i="0">
                          <a:solidFill>
                            <a:srgbClr val="000000"/>
                          </a:solidFill>
                          <a:latin typeface="Calibri"/>
                        </a:rPr>
                        <a:t>Figure 324: GCC Countries Industrial Air Compressor Market Value, 2026–2036, By End Use</a:t>
                      </a:r>
                      <a:endParaRPr sz="1050"/>
                    </a:p>
                  </a:txBody>
                  <a:tcPr marL="9525" marR="9525" marT="9525" marB="0" anchor="ctr"/>
                </a:tc>
              </a:tr>
              <a:tr h="166688">
                <a:tc>
                  <a:txBody>
                    <a:bodyPr wrap="square"/>
                    <a:lstStyle/>
                    <a:p>
                      <a:pPr algn="l"/>
                      <a:r>
                        <a:rPr sz="1050" b="0" i="0">
                          <a:solidFill>
                            <a:srgbClr val="000000"/>
                          </a:solidFill>
                          <a:latin typeface="Calibri"/>
                        </a:rPr>
                        <a:t>Figure 325: Turkiye Industrial Air Compressor Market Value, 2026–2036, By Technology</a:t>
                      </a:r>
                      <a:endParaRPr sz="1050"/>
                    </a:p>
                  </a:txBody>
                  <a:tcPr marL="9525" marR="9525" marT="9525" marB="0" anchor="ctr"/>
                </a:tc>
              </a:tr>
              <a:tr h="166688">
                <a:tc>
                  <a:txBody>
                    <a:bodyPr wrap="square"/>
                    <a:lstStyle/>
                    <a:p>
                      <a:pPr algn="l"/>
                      <a:r>
                        <a:rPr sz="1050" b="0" i="0">
                          <a:solidFill>
                            <a:srgbClr val="000000"/>
                          </a:solidFill>
                          <a:latin typeface="Calibri"/>
                        </a:rPr>
                        <a:t>Figure 326: Turkiye Industrial Air Compressor Market Value, 2026–2036, By Capacity</a:t>
                      </a:r>
                      <a:endParaRPr sz="1050"/>
                    </a:p>
                  </a:txBody>
                  <a:tcPr marL="9525" marR="9525" marT="9525" marB="0" anchor="ctr"/>
                </a:tc>
              </a:tr>
              <a:tr h="166688">
                <a:tc>
                  <a:txBody>
                    <a:bodyPr wrap="square"/>
                    <a:lstStyle/>
                    <a:p>
                      <a:pPr algn="l"/>
                      <a:r>
                        <a:rPr sz="1050" b="0" i="0">
                          <a:solidFill>
                            <a:srgbClr val="000000"/>
                          </a:solidFill>
                          <a:latin typeface="Calibri"/>
                        </a:rPr>
                        <a:t>Figure 327: Turkiye Industrial Air Compressor Market Value, 2026–2036, By Driver Type</a:t>
                      </a:r>
                      <a:endParaRPr sz="1050"/>
                    </a:p>
                  </a:txBody>
                  <a:tcPr marL="9525" marR="9525" marT="9525" marB="0" anchor="ctr"/>
                </a:tc>
              </a:tr>
              <a:tr h="166688">
                <a:tc>
                  <a:txBody>
                    <a:bodyPr wrap="square"/>
                    <a:lstStyle/>
                    <a:p>
                      <a:pPr algn="l"/>
                      <a:r>
                        <a:rPr sz="1050" b="0" i="0">
                          <a:solidFill>
                            <a:srgbClr val="000000"/>
                          </a:solidFill>
                          <a:latin typeface="Calibri"/>
                        </a:rPr>
                        <a:t>Figure 328: Turkiye Industrial Air Compressor Market Value, 2026–2036, By Compression Stage</a:t>
                      </a:r>
                      <a:endParaRPr sz="1050"/>
                    </a:p>
                  </a:txBody>
                  <a:tcPr marL="9525" marR="9525" marT="9525" marB="0" anchor="ctr"/>
                </a:tc>
              </a:tr>
              <a:tr h="166688">
                <a:tc>
                  <a:txBody>
                    <a:bodyPr wrap="square"/>
                    <a:lstStyle/>
                    <a:p>
                      <a:pPr algn="l"/>
                      <a:r>
                        <a:rPr sz="1050" b="0" i="0">
                          <a:solidFill>
                            <a:srgbClr val="000000"/>
                          </a:solidFill>
                          <a:latin typeface="Calibri"/>
                        </a:rPr>
                        <a:t>Figure 329: Turkiye Industrial Air Compressor Market Value, 2026–2036, By End Use</a:t>
                      </a:r>
                      <a:endParaRPr sz="1050"/>
                    </a:p>
                  </a:txBody>
                  <a:tcPr marL="9525" marR="9525" marT="9525" marB="0" anchor="ctr"/>
                </a:tc>
              </a:tr>
              <a:tr h="166688">
                <a:tc>
                  <a:txBody>
                    <a:bodyPr wrap="square"/>
                    <a:lstStyle/>
                    <a:p>
                      <a:pPr algn="l"/>
                      <a:r>
                        <a:rPr sz="1050" b="0" i="0">
                          <a:solidFill>
                            <a:srgbClr val="000000"/>
                          </a:solidFill>
                          <a:latin typeface="Calibri"/>
                        </a:rPr>
                        <a:t>Figure 330: Northern Africa Industrial Air Compressor Market Value, 2026–2036, By Technology</a:t>
                      </a:r>
                      <a:endParaRPr sz="1050"/>
                    </a:p>
                  </a:txBody>
                  <a:tcPr marL="9525" marR="9525" marT="9525" marB="0" anchor="ctr"/>
                </a:tc>
              </a:tr>
              <a:tr h="166688">
                <a:tc>
                  <a:txBody>
                    <a:bodyPr wrap="square"/>
                    <a:lstStyle/>
                    <a:p>
                      <a:pPr algn="l"/>
                      <a:r>
                        <a:rPr sz="1050" b="0" i="0">
                          <a:solidFill>
                            <a:srgbClr val="000000"/>
                          </a:solidFill>
                          <a:latin typeface="Calibri"/>
                        </a:rPr>
                        <a:t>Figure 331: Northern Africa Industrial Air Compressor Market Value, 2026–2036, By Capacity</a:t>
                      </a:r>
                      <a:endParaRPr sz="1050"/>
                    </a:p>
                  </a:txBody>
                  <a:tcPr marL="9525" marR="9525" marT="9525" marB="0" anchor="ctr"/>
                </a:tc>
              </a:tr>
              <a:tr h="166688">
                <a:tc>
                  <a:txBody>
                    <a:bodyPr wrap="square"/>
                    <a:lstStyle/>
                    <a:p>
                      <a:pPr algn="l"/>
                      <a:r>
                        <a:rPr sz="1050" b="0" i="0">
                          <a:solidFill>
                            <a:srgbClr val="000000"/>
                          </a:solidFill>
                          <a:latin typeface="Calibri"/>
                        </a:rPr>
                        <a:t>Figure 332: Northern Africa Industrial Air Compressor Market Value, 2026–2036, By Driver Type</a:t>
                      </a:r>
                      <a:endParaRPr sz="1050"/>
                    </a:p>
                  </a:txBody>
                  <a:tcPr marL="9525" marR="9525" marT="9525" marB="0" anchor="ctr"/>
                </a:tc>
              </a:tr>
              <a:tr h="166688">
                <a:tc>
                  <a:txBody>
                    <a:bodyPr wrap="square"/>
                    <a:lstStyle/>
                    <a:p>
                      <a:pPr algn="l"/>
                      <a:r>
                        <a:rPr sz="1050" b="0" i="0">
                          <a:solidFill>
                            <a:srgbClr val="000000"/>
                          </a:solidFill>
                          <a:latin typeface="Calibri"/>
                        </a:rPr>
                        <a:t>Figure 333: Northern Africa Industrial Air Compressor Market Value, 2026–2036, By Compression Stage</a:t>
                      </a:r>
                      <a:endParaRPr sz="1050"/>
                    </a:p>
                  </a:txBody>
                  <a:tcPr marL="9525" marR="9525" marT="9525" marB="0" anchor="ctr"/>
                </a:tc>
              </a:tr>
              <a:tr h="166688">
                <a:tc>
                  <a:txBody>
                    <a:bodyPr wrap="square"/>
                    <a:lstStyle/>
                    <a:p>
                      <a:pPr algn="l"/>
                      <a:r>
                        <a:rPr sz="1050" b="0" i="0">
                          <a:solidFill>
                            <a:srgbClr val="000000"/>
                          </a:solidFill>
                          <a:latin typeface="Calibri"/>
                        </a:rPr>
                        <a:t>Figure 334: Northern Africa Industrial Air Compressor Market Value, 2026–2036, By End Use</a:t>
                      </a:r>
                      <a:endParaRPr sz="1050"/>
                    </a:p>
                  </a:txBody>
                  <a:tcPr marL="9525" marR="9525" marT="9525" marB="0" anchor="ctr"/>
                </a:tc>
              </a:tr>
              <a:tr h="166688">
                <a:tc>
                  <a:txBody>
                    <a:bodyPr wrap="square"/>
                    <a:lstStyle/>
                    <a:p>
                      <a:pPr algn="l"/>
                      <a:r>
                        <a:rPr sz="1050" b="0" i="0">
                          <a:solidFill>
                            <a:srgbClr val="000000"/>
                          </a:solidFill>
                          <a:latin typeface="Calibri"/>
                        </a:rPr>
                        <a:t>Figure 335: South Africa Industrial Air Compressor Market Value, 2026–2036, By Technology</a:t>
                      </a:r>
                      <a:endParaRPr sz="1050"/>
                    </a:p>
                  </a:txBody>
                  <a:tcPr marL="9525" marR="9525" marT="9525" marB="0" anchor="ctr"/>
                </a:tc>
              </a:tr>
              <a:tr h="166688">
                <a:tc>
                  <a:txBody>
                    <a:bodyPr wrap="square"/>
                    <a:lstStyle/>
                    <a:p>
                      <a:pPr algn="l"/>
                      <a:r>
                        <a:rPr sz="1050" b="0" i="0">
                          <a:solidFill>
                            <a:srgbClr val="000000"/>
                          </a:solidFill>
                          <a:latin typeface="Calibri"/>
                        </a:rPr>
                        <a:t>Figure 336: South Africa Industrial Air Compressor Market Value, 2026–2036, By Capacity</a:t>
                      </a:r>
                      <a:endParaRPr sz="1050"/>
                    </a:p>
                  </a:txBody>
                  <a:tcPr marL="9525" marR="9525" marT="9525" marB="0" anchor="ctr"/>
                </a:tc>
              </a:tr>
              <a:tr h="166688">
                <a:tc>
                  <a:txBody>
                    <a:bodyPr wrap="square"/>
                    <a:lstStyle/>
                    <a:p>
                      <a:pPr algn="l"/>
                      <a:r>
                        <a:rPr sz="1050" b="0" i="0">
                          <a:solidFill>
                            <a:srgbClr val="000000"/>
                          </a:solidFill>
                          <a:latin typeface="Calibri"/>
                        </a:rPr>
                        <a:t>Figure 337: South Africa Industrial Air Compressor Market Value, 2026–2036, By Driver Type</a:t>
                      </a:r>
                      <a:endParaRPr sz="1050"/>
                    </a:p>
                  </a:txBody>
                  <a:tcPr marL="9525" marR="9525" marT="9525" marB="0" anchor="ctr"/>
                </a:tc>
              </a:tr>
              <a:tr h="166688">
                <a:tc>
                  <a:txBody>
                    <a:bodyPr wrap="square"/>
                    <a:lstStyle/>
                    <a:p>
                      <a:pPr algn="l"/>
                      <a:r>
                        <a:rPr sz="1050" b="0" i="0">
                          <a:solidFill>
                            <a:srgbClr val="000000"/>
                          </a:solidFill>
                          <a:latin typeface="Calibri"/>
                        </a:rPr>
                        <a:t>Figure 338: South Africa Industrial Air Compressor Market Value, 2026–2036, By Compression Stage</a:t>
                      </a:r>
                      <a:endParaRPr sz="1050"/>
                    </a:p>
                  </a:txBody>
                  <a:tcPr marL="9525" marR="9525" marT="9525" marB="0" anchor="ctr"/>
                </a:tc>
              </a:tr>
              <a:tr h="166688">
                <a:tc>
                  <a:txBody>
                    <a:bodyPr wrap="square"/>
                    <a:lstStyle/>
                    <a:p>
                      <a:pPr algn="l"/>
                      <a:r>
                        <a:rPr sz="1050" b="0" i="0">
                          <a:solidFill>
                            <a:srgbClr val="000000"/>
                          </a:solidFill>
                          <a:latin typeface="Calibri"/>
                        </a:rPr>
                        <a:t>Figure 339: South Africa Industrial Air Compressor Market Value, 2026–2036, By End Use</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(1/6)</a:t>
            </a:r>
          </a:p>
        </p:txBody>
      </p:sp>
      <p:graphicFrame>
        <p:nvGraphicFramePr>
          <p:cNvPr id="6"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 Global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2: Global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3: Global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4: Global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5: Global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6: Global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7: Global Industrial Air Compressor Market Value, 2021-2036 By End Use</a:t>
                      </a:r>
                      <a:endParaRPr sz="1050"/>
                    </a:p>
                  </a:txBody>
                  <a:tcPr marL="9525" marR="9525" marT="9525" marB="0" anchor="ctr"/>
                </a:tc>
              </a:tr>
              <a:tr h="169606">
                <a:tc>
                  <a:txBody>
                    <a:bodyPr wrap="square"/>
                    <a:lstStyle/>
                    <a:p>
                      <a:pPr algn="l"/>
                      <a:r>
                        <a:rPr sz="1050" b="0" i="0">
                          <a:solidFill>
                            <a:srgbClr val="000000"/>
                          </a:solidFill>
                          <a:latin typeface="Calibri"/>
                        </a:rPr>
                        <a:t>Table 8: Global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9: Global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10: Global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11: Global Industrial Air Compressor Market Value, 2021-2036 By Region</a:t>
                      </a:r>
                      <a:endParaRPr sz="1050"/>
                    </a:p>
                  </a:txBody>
                  <a:tcPr marL="9525" marR="9525" marT="9525" marB="0" anchor="ctr"/>
                </a:tc>
              </a:tr>
              <a:tr h="169606">
                <a:tc>
                  <a:txBody>
                    <a:bodyPr wrap="square"/>
                    <a:lstStyle/>
                    <a:p>
                      <a:pPr algn="l"/>
                      <a:r>
                        <a:rPr sz="1050" b="0" i="0">
                          <a:solidFill>
                            <a:srgbClr val="000000"/>
                          </a:solidFill>
                          <a:latin typeface="Calibri"/>
                        </a:rPr>
                        <a:t>Table 12: Global Industrial Air Compressor Market Volume,2021-2036 By Region</a:t>
                      </a:r>
                      <a:endParaRPr sz="1050"/>
                    </a:p>
                  </a:txBody>
                  <a:tcPr marL="9525" marR="9525" marT="9525" marB="0" anchor="ctr"/>
                </a:tc>
              </a:tr>
              <a:tr h="169606">
                <a:tc>
                  <a:txBody>
                    <a:bodyPr wrap="square"/>
                    <a:lstStyle/>
                    <a:p>
                      <a:pPr algn="l"/>
                      <a:r>
                        <a:rPr sz="1050" b="0" i="0">
                          <a:solidFill>
                            <a:srgbClr val="000000"/>
                          </a:solidFill>
                          <a:latin typeface="Calibri"/>
                        </a:rPr>
                        <a:t>Table 13: North America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14: North America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15: North America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16: North America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17: North America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18: North America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19: North America Industrial Air Compressor Market Value, 2021-2036 By End Use</a:t>
                      </a:r>
                      <a:endParaRPr sz="1050"/>
                    </a:p>
                  </a:txBody>
                  <a:tcPr marL="9525" marR="9525" marT="9525" marB="0" anchor="ctr"/>
                </a:tc>
              </a:tr>
              <a:tr h="169606">
                <a:tc>
                  <a:txBody>
                    <a:bodyPr wrap="square"/>
                    <a:lstStyle/>
                    <a:p>
                      <a:pPr algn="l"/>
                      <a:r>
                        <a:rPr sz="1050" b="0" i="0">
                          <a:solidFill>
                            <a:srgbClr val="000000"/>
                          </a:solidFill>
                          <a:latin typeface="Calibri"/>
                        </a:rPr>
                        <a:t>Table 20: North America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21: North America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22: North America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23: North America Industrial Air Compressor Market Value, 2021-2036 By Country</a:t>
                      </a:r>
                      <a:endParaRPr sz="1050"/>
                    </a:p>
                  </a:txBody>
                  <a:tcPr marL="9525" marR="9525" marT="9525" marB="0" anchor="ctr"/>
                </a:tc>
              </a:tr>
              <a:tr h="169606">
                <a:tc>
                  <a:txBody>
                    <a:bodyPr wrap="square"/>
                    <a:lstStyle/>
                    <a:p>
                      <a:pPr algn="l"/>
                      <a:r>
                        <a:rPr sz="1050" b="0" i="0">
                          <a:solidFill>
                            <a:srgbClr val="000000"/>
                          </a:solidFill>
                          <a:latin typeface="Calibri"/>
                        </a:rPr>
                        <a:t>Table 24: North America Industrial Air Compressor Market Volume,2021-2036 By Country</a:t>
                      </a:r>
                      <a:endParaRPr sz="1050"/>
                    </a:p>
                  </a:txBody>
                  <a:tcPr marL="9525" marR="9525" marT="9525" marB="0" anchor="ctr"/>
                </a:tc>
              </a:tr>
              <a:tr h="169606">
                <a:tc>
                  <a:txBody>
                    <a:bodyPr wrap="square"/>
                    <a:lstStyle/>
                    <a:p>
                      <a:pPr algn="l"/>
                      <a:r>
                        <a:rPr sz="1050" b="0" i="0">
                          <a:solidFill>
                            <a:srgbClr val="000000"/>
                          </a:solidFill>
                          <a:latin typeface="Calibri"/>
                        </a:rPr>
                        <a:t>Table 25: U.S.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26: U.S.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27: U.S.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28: U.S.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29: U.S.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30: U.S.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31: U.S. Industrial Air Compressor Market Value, 2021-2036 By End Use</a:t>
                      </a:r>
                      <a:endParaRPr sz="1050"/>
                    </a:p>
                  </a:txBody>
                  <a:tcPr marL="9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32: U.S.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33: U.S.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34: U.S.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35: Canada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36: Canada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37: Canada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38: Canada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39: Canada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40: Canada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41: Canada Industrial Air Compressor Market Value, 2021-2036 By End Use</a:t>
                      </a:r>
                      <a:endParaRPr sz="1050"/>
                    </a:p>
                  </a:txBody>
                  <a:tcPr marL="9525" marR="9525" marT="9525" marB="0" anchor="ctr"/>
                </a:tc>
              </a:tr>
              <a:tr h="169606">
                <a:tc>
                  <a:txBody>
                    <a:bodyPr wrap="square"/>
                    <a:lstStyle/>
                    <a:p>
                      <a:pPr algn="l"/>
                      <a:r>
                        <a:rPr sz="1050" b="0" i="0">
                          <a:solidFill>
                            <a:srgbClr val="000000"/>
                          </a:solidFill>
                          <a:latin typeface="Calibri"/>
                        </a:rPr>
                        <a:t>Table 42: Canada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43: Canada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44: Canada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45: Mexico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46: Mexico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47: Mexico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48: Mexico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49: Mexico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50: Mexico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51: Mexico Industrial Air Compressor Market Value, 2021-2036 By End Use</a:t>
                      </a:r>
                      <a:endParaRPr sz="1050"/>
                    </a:p>
                  </a:txBody>
                  <a:tcPr marL="9525" marR="9525" marT="9525" marB="0" anchor="ctr"/>
                </a:tc>
              </a:tr>
              <a:tr h="169606">
                <a:tc>
                  <a:txBody>
                    <a:bodyPr wrap="square"/>
                    <a:lstStyle/>
                    <a:p>
                      <a:pPr algn="l"/>
                      <a:r>
                        <a:rPr sz="1050" b="0" i="0">
                          <a:solidFill>
                            <a:srgbClr val="000000"/>
                          </a:solidFill>
                          <a:latin typeface="Calibri"/>
                        </a:rPr>
                        <a:t>Table 52: Mexico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53: Mexico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54: Mexico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55: Latin America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56: Latin America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57: Latin America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58: Latin America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59: Latin America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60: Latin America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61: Latin America Industrial Air Compressor Market Value, 2021-2036 By End Use</a:t>
                      </a:r>
                      <a:endParaRPr sz="1050"/>
                    </a:p>
                  </a:txBody>
                  <a:tcPr marL="9525" marR="9525" marT="9525" marB="0" anchor="ctr"/>
                </a:tc>
              </a:tr>
              <a:tr h="169606">
                <a:tc>
                  <a:txBody>
                    <a:bodyPr wrap="square"/>
                    <a:lstStyle/>
                    <a:p>
                      <a:pPr algn="l"/>
                      <a:r>
                        <a:rPr sz="1050" b="0" i="0">
                          <a:solidFill>
                            <a:srgbClr val="000000"/>
                          </a:solidFill>
                          <a:latin typeface="Calibri"/>
                        </a:rPr>
                        <a:t>Table 62: Latin America Industrial Air Compressor Market Volume, 2021-2036 By End Use</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(2/6)</a:t>
            </a:r>
          </a:p>
        </p:txBody>
      </p:sp>
      <p:graphicFrame>
        <p:nvGraphicFramePr>
          <p:cNvPr id="6"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63: Latin America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64: Latin America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65: Latin America Industrial Air Compressor Market Value, 2021-2036 By Country</a:t>
                      </a:r>
                      <a:endParaRPr sz="1050"/>
                    </a:p>
                  </a:txBody>
                  <a:tcPr marL="9525" marR="9525" marT="9525" marB="0" anchor="ctr"/>
                </a:tc>
              </a:tr>
              <a:tr h="169606">
                <a:tc>
                  <a:txBody>
                    <a:bodyPr wrap="square"/>
                    <a:lstStyle/>
                    <a:p>
                      <a:pPr algn="l"/>
                      <a:r>
                        <a:rPr sz="1050" b="0" i="0">
                          <a:solidFill>
                            <a:srgbClr val="000000"/>
                          </a:solidFill>
                          <a:latin typeface="Calibri"/>
                        </a:rPr>
                        <a:t>Table 66: Latin America Industrial Air Compressor Market Volume,2021-2036 By Country</a:t>
                      </a:r>
                      <a:endParaRPr sz="1050"/>
                    </a:p>
                  </a:txBody>
                  <a:tcPr marL="9525" marR="9525" marT="9525" marB="0" anchor="ctr"/>
                </a:tc>
              </a:tr>
              <a:tr h="169606">
                <a:tc>
                  <a:txBody>
                    <a:bodyPr wrap="square"/>
                    <a:lstStyle/>
                    <a:p>
                      <a:pPr algn="l"/>
                      <a:r>
                        <a:rPr sz="1050" b="0" i="0">
                          <a:solidFill>
                            <a:srgbClr val="000000"/>
                          </a:solidFill>
                          <a:latin typeface="Calibri"/>
                        </a:rPr>
                        <a:t>Table 67: Brazil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68: Brazil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69: Brazil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70: Brazil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71: Brazil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72: Brazil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73: Brazil Industrial Air Compressor Market Value, 2021-2036 By End Use</a:t>
                      </a:r>
                      <a:endParaRPr sz="1050"/>
                    </a:p>
                  </a:txBody>
                  <a:tcPr marL="9525" marR="9525" marT="9525" marB="0" anchor="ctr"/>
                </a:tc>
              </a:tr>
              <a:tr h="169606">
                <a:tc>
                  <a:txBody>
                    <a:bodyPr wrap="square"/>
                    <a:lstStyle/>
                    <a:p>
                      <a:pPr algn="l"/>
                      <a:r>
                        <a:rPr sz="1050" b="0" i="0">
                          <a:solidFill>
                            <a:srgbClr val="000000"/>
                          </a:solidFill>
                          <a:latin typeface="Calibri"/>
                        </a:rPr>
                        <a:t>Table 74: Brazil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75: Brazil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76: Brazil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77: Argentina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78: Argentina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79: Argentina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80: Argentina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81: Argentina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82: Argentina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83: Argentina Industrial Air Compressor Market Value, 2021-2036 By End Use</a:t>
                      </a:r>
                      <a:endParaRPr sz="1050"/>
                    </a:p>
                  </a:txBody>
                  <a:tcPr marL="9525" marR="9525" marT="9525" marB="0" anchor="ctr"/>
                </a:tc>
              </a:tr>
              <a:tr h="169606">
                <a:tc>
                  <a:txBody>
                    <a:bodyPr wrap="square"/>
                    <a:lstStyle/>
                    <a:p>
                      <a:pPr algn="l"/>
                      <a:r>
                        <a:rPr sz="1050" b="0" i="0">
                          <a:solidFill>
                            <a:srgbClr val="000000"/>
                          </a:solidFill>
                          <a:latin typeface="Calibri"/>
                        </a:rPr>
                        <a:t>Table 84: Argentina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85: Argentina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86: Argentina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87: Eastern Europe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88: Eastern Europe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89: Eastern Europe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90: Eastern Europe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91: Eastern Europe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92: Eastern Europe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93: Eastern Europe Industrial Air Compressor Market Value, 2021-2036 By End Use</a:t>
                      </a:r>
                      <a:endParaRPr sz="1050"/>
                    </a:p>
                  </a:txBody>
                  <a:tcPr marL="9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94: Eastern Europe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95: Eastern Europe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96: Eastern Europe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97: Eastern Europe Industrial Air Compressor Market Value, 2021-2036 By Country</a:t>
                      </a:r>
                      <a:endParaRPr sz="1050"/>
                    </a:p>
                  </a:txBody>
                  <a:tcPr marL="9525" marR="9525" marT="9525" marB="0" anchor="ctr"/>
                </a:tc>
              </a:tr>
              <a:tr h="169606">
                <a:tc>
                  <a:txBody>
                    <a:bodyPr wrap="square"/>
                    <a:lstStyle/>
                    <a:p>
                      <a:pPr algn="l"/>
                      <a:r>
                        <a:rPr sz="1050" b="0" i="0">
                          <a:solidFill>
                            <a:srgbClr val="000000"/>
                          </a:solidFill>
                          <a:latin typeface="Calibri"/>
                        </a:rPr>
                        <a:t>Table 98: Eastern Europe Industrial Air Compressor Market Volume,2021-2036 By Country</a:t>
                      </a:r>
                      <a:endParaRPr sz="1050"/>
                    </a:p>
                  </a:txBody>
                  <a:tcPr marL="9525" marR="9525" marT="9525" marB="0" anchor="ctr"/>
                </a:tc>
              </a:tr>
              <a:tr h="169606">
                <a:tc>
                  <a:txBody>
                    <a:bodyPr wrap="square"/>
                    <a:lstStyle/>
                    <a:p>
                      <a:pPr algn="l"/>
                      <a:r>
                        <a:rPr sz="1050" b="0" i="0">
                          <a:solidFill>
                            <a:srgbClr val="000000"/>
                          </a:solidFill>
                          <a:latin typeface="Calibri"/>
                        </a:rPr>
                        <a:t>Table 99: Hungary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100: Hungary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101: Hungary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102: Hungary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103: Hungary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104: Hungary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105: Hungary Industrial Air Compressor Market Value, 2021-2036 By End Use</a:t>
                      </a:r>
                      <a:endParaRPr sz="1050"/>
                    </a:p>
                  </a:txBody>
                  <a:tcPr marL="9525" marR="9525" marT="9525" marB="0" anchor="ctr"/>
                </a:tc>
              </a:tr>
              <a:tr h="169606">
                <a:tc>
                  <a:txBody>
                    <a:bodyPr wrap="square"/>
                    <a:lstStyle/>
                    <a:p>
                      <a:pPr algn="l"/>
                      <a:r>
                        <a:rPr sz="1050" b="0" i="0">
                          <a:solidFill>
                            <a:srgbClr val="000000"/>
                          </a:solidFill>
                          <a:latin typeface="Calibri"/>
                        </a:rPr>
                        <a:t>Table 106: Hungary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107: Hungary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108: Hungary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109: Poland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110: Poland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111: Poland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112: Poland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113: Poland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114: Poland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115: Poland Industrial Air Compressor Market Value, 2021-2036 By End Use</a:t>
                      </a:r>
                      <a:endParaRPr sz="1050"/>
                    </a:p>
                  </a:txBody>
                  <a:tcPr marL="9525" marR="9525" marT="9525" marB="0" anchor="ctr"/>
                </a:tc>
              </a:tr>
              <a:tr h="169606">
                <a:tc>
                  <a:txBody>
                    <a:bodyPr wrap="square"/>
                    <a:lstStyle/>
                    <a:p>
                      <a:pPr algn="l"/>
                      <a:r>
                        <a:rPr sz="1050" b="0" i="0">
                          <a:solidFill>
                            <a:srgbClr val="000000"/>
                          </a:solidFill>
                          <a:latin typeface="Calibri"/>
                        </a:rPr>
                        <a:t>Table 116: Poland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117: Poland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118: Poland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119: Russia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120: Russia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121: Russia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122: Russia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123: Russia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124: Russia Industrial Air Compressor Market Volume, 2021-2036 By Compression Stage</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(3/6)</a:t>
            </a:r>
          </a:p>
        </p:txBody>
      </p:sp>
      <p:graphicFrame>
        <p:nvGraphicFramePr>
          <p:cNvPr id="6" name="FMI Contents Table"/>
          <p:cNvGraphicFramePr>
            <a:graphicFrameLocks noGrp="1"/>
          </p:cNvGraphicFramePr>
          <p:nvPr/>
        </p:nvGraphicFramePr>
        <p:xfrm>
          <a:off x="142875" y="981075"/>
          <a:ext cx="5876925" cy="5257810"/>
        </p:xfrm>
        <a:graphic>
          <a:graphicData uri="http://schemas.openxmlformats.org/drawingml/2006/table">
            <a:tbl>
              <a:tblPr>
                <a:tableStyleId>{3B4B98B0-60AC-42C2-AFA5-B58CD77FA1E5}</a:tableStyleId>
              </a:tblPr>
              <a:tblGrid>
                <a:gridCol w="5876925"/>
              </a:tblGrid>
              <a:tr h="170266">
                <a:tc>
                  <a:txBody>
                    <a:bodyPr wrap="square"/>
                    <a:lstStyle/>
                    <a:p>
                      <a:pPr algn="l"/>
                      <a:r>
                        <a:rPr sz="1050" b="0" i="0">
                          <a:solidFill>
                            <a:srgbClr val="000000"/>
                          </a:solidFill>
                          <a:latin typeface="Calibri"/>
                        </a:rPr>
                        <a:t>Table 125: Russia Industrial Air Compressor Market Value, 2021-2036 By End Use</a:t>
                      </a:r>
                      <a:endParaRPr sz="1050"/>
                    </a:p>
                  </a:txBody>
                  <a:tcPr marL="9525" marR="9525" marT="9525" marB="0" anchor="ctr"/>
                </a:tc>
              </a:tr>
              <a:tr h="170266">
                <a:tc>
                  <a:txBody>
                    <a:bodyPr wrap="square"/>
                    <a:lstStyle/>
                    <a:p>
                      <a:pPr algn="l"/>
                      <a:r>
                        <a:rPr sz="1050" b="0" i="0">
                          <a:solidFill>
                            <a:srgbClr val="000000"/>
                          </a:solidFill>
                          <a:latin typeface="Calibri"/>
                        </a:rPr>
                        <a:t>Table 126: Russia Industrial Air Compressor Market Volume, 2021-2036 By End Use</a:t>
                      </a:r>
                      <a:endParaRPr sz="1050"/>
                    </a:p>
                  </a:txBody>
                  <a:tcPr marL="9525" marR="9525" marT="9525" marB="0" anchor="ctr"/>
                </a:tc>
              </a:tr>
              <a:tr h="170266">
                <a:tc>
                  <a:txBody>
                    <a:bodyPr wrap="square"/>
                    <a:lstStyle/>
                    <a:p>
                      <a:pPr algn="l"/>
                      <a:r>
                        <a:rPr sz="1050" b="0" i="0">
                          <a:solidFill>
                            <a:srgbClr val="000000"/>
                          </a:solidFill>
                          <a:latin typeface="Calibri"/>
                        </a:rPr>
                        <a:t>Table 127: Russia Industrial Air Compressor Market Value, 2021-2036 By Driver Type</a:t>
                      </a:r>
                      <a:endParaRPr sz="1050"/>
                    </a:p>
                  </a:txBody>
                  <a:tcPr marL="9525" marR="9525" marT="9525" marB="0" anchor="ctr"/>
                </a:tc>
              </a:tr>
              <a:tr h="170266">
                <a:tc>
                  <a:txBody>
                    <a:bodyPr wrap="square"/>
                    <a:lstStyle/>
                    <a:p>
                      <a:pPr algn="l"/>
                      <a:r>
                        <a:rPr sz="1050" b="0" i="0">
                          <a:solidFill>
                            <a:srgbClr val="000000"/>
                          </a:solidFill>
                          <a:latin typeface="Calibri"/>
                        </a:rPr>
                        <a:t>Table 128: Russia Industrial Air Compressor Market Volume, 2021-2036 By Driver Type</a:t>
                      </a:r>
                      <a:endParaRPr sz="1050"/>
                    </a:p>
                  </a:txBody>
                  <a:tcPr marL="9525" marR="9525" marT="9525" marB="0" anchor="ctr"/>
                </a:tc>
              </a:tr>
              <a:tr h="170266">
                <a:tc>
                  <a:txBody>
                    <a:bodyPr wrap="square"/>
                    <a:lstStyle/>
                    <a:p>
                      <a:pPr algn="l"/>
                      <a:r>
                        <a:rPr sz="1050" b="0" i="0">
                          <a:solidFill>
                            <a:srgbClr val="000000"/>
                          </a:solidFill>
                          <a:latin typeface="Calibri"/>
                        </a:rPr>
                        <a:t>Table 129: Balkan and Baltics Industrial Air Compressor Market Value, 2021-2036 By Technology</a:t>
                      </a:r>
                      <a:endParaRPr sz="1050"/>
                    </a:p>
                  </a:txBody>
                  <a:tcPr marL="9525" marR="9525" marT="9525" marB="0" anchor="ctr"/>
                </a:tc>
              </a:tr>
              <a:tr h="170266">
                <a:tc>
                  <a:txBody>
                    <a:bodyPr wrap="square"/>
                    <a:lstStyle/>
                    <a:p>
                      <a:pPr algn="l"/>
                      <a:r>
                        <a:rPr sz="1050" b="0" i="0">
                          <a:solidFill>
                            <a:srgbClr val="000000"/>
                          </a:solidFill>
                          <a:latin typeface="Calibri"/>
                        </a:rPr>
                        <a:t>Table 130: Balkan and Baltics Industrial Air Compressor Market Volume, 2021-2036 By Technology</a:t>
                      </a:r>
                      <a:endParaRPr sz="1050"/>
                    </a:p>
                  </a:txBody>
                  <a:tcPr marL="9525" marR="9525" marT="9525" marB="0" anchor="ctr"/>
                </a:tc>
              </a:tr>
              <a:tr h="170266">
                <a:tc>
                  <a:txBody>
                    <a:bodyPr wrap="square"/>
                    <a:lstStyle/>
                    <a:p>
                      <a:pPr algn="l"/>
                      <a:r>
                        <a:rPr sz="1050" b="0" i="0">
                          <a:solidFill>
                            <a:srgbClr val="000000"/>
                          </a:solidFill>
                          <a:latin typeface="Calibri"/>
                        </a:rPr>
                        <a:t>Table 131: Balkan and Baltics Industrial Air Compressor Market Value, 2021-2036 By Capacity</a:t>
                      </a:r>
                      <a:endParaRPr sz="1050"/>
                    </a:p>
                  </a:txBody>
                  <a:tcPr marL="9525" marR="9525" marT="9525" marB="0" anchor="ctr"/>
                </a:tc>
              </a:tr>
              <a:tr h="170266">
                <a:tc>
                  <a:txBody>
                    <a:bodyPr wrap="square"/>
                    <a:lstStyle/>
                    <a:p>
                      <a:pPr algn="l"/>
                      <a:r>
                        <a:rPr sz="1050" b="0" i="0">
                          <a:solidFill>
                            <a:srgbClr val="000000"/>
                          </a:solidFill>
                          <a:latin typeface="Calibri"/>
                        </a:rPr>
                        <a:t>Table 132: Balkan and Baltics Industrial Air Compressor Market Volume, 2021-2036 By Capacity</a:t>
                      </a:r>
                      <a:endParaRPr sz="1050"/>
                    </a:p>
                  </a:txBody>
                  <a:tcPr marL="9525" marR="9525" marT="9525" marB="0" anchor="ctr"/>
                </a:tc>
              </a:tr>
              <a:tr h="333720">
                <a:tc>
                  <a:txBody>
                    <a:bodyPr wrap="square"/>
                    <a:lstStyle/>
                    <a:p>
                      <a:pPr algn="l"/>
                      <a:r>
                        <a:rPr sz="1050" b="0" i="0">
                          <a:solidFill>
                            <a:srgbClr val="000000"/>
                          </a:solidFill>
                          <a:latin typeface="Calibri"/>
                        </a:rPr>
                        <a:t>Table 133: Balkan and Baltics Industrial Air Compressor Market Value, 2021-2036 By Compression Stage</a:t>
                      </a:r>
                      <a:endParaRPr sz="1050"/>
                    </a:p>
                  </a:txBody>
                  <a:tcPr marL="9525" marR="9525" marT="9525" marB="0" anchor="ctr"/>
                </a:tc>
              </a:tr>
              <a:tr h="333720">
                <a:tc>
                  <a:txBody>
                    <a:bodyPr wrap="square"/>
                    <a:lstStyle/>
                    <a:p>
                      <a:pPr algn="l"/>
                      <a:r>
                        <a:rPr sz="1050" b="0" i="0">
                          <a:solidFill>
                            <a:srgbClr val="000000"/>
                          </a:solidFill>
                          <a:latin typeface="Calibri"/>
                        </a:rPr>
                        <a:t>Table 134: Balkan and Baltics Industrial Air Compressor Market Volume, 2021-2036 By Compression Stage</a:t>
                      </a:r>
                      <a:endParaRPr sz="1050"/>
                    </a:p>
                  </a:txBody>
                  <a:tcPr marL="9525" marR="9525" marT="9525" marB="0" anchor="ctr"/>
                </a:tc>
              </a:tr>
              <a:tr h="170266">
                <a:tc>
                  <a:txBody>
                    <a:bodyPr wrap="square"/>
                    <a:lstStyle/>
                    <a:p>
                      <a:pPr algn="l"/>
                      <a:r>
                        <a:rPr sz="1050" b="0" i="0">
                          <a:solidFill>
                            <a:srgbClr val="000000"/>
                          </a:solidFill>
                          <a:latin typeface="Calibri"/>
                        </a:rPr>
                        <a:t>Table 135: Balkan and Baltics Industrial Air Compressor Market Value, 2021-2036 By End Use</a:t>
                      </a:r>
                      <a:endParaRPr sz="1050"/>
                    </a:p>
                  </a:txBody>
                  <a:tcPr marL="9525" marR="9525" marT="9525" marB="0" anchor="ctr"/>
                </a:tc>
              </a:tr>
              <a:tr h="170266">
                <a:tc>
                  <a:txBody>
                    <a:bodyPr wrap="square"/>
                    <a:lstStyle/>
                    <a:p>
                      <a:pPr algn="l"/>
                      <a:r>
                        <a:rPr sz="1050" b="0" i="0">
                          <a:solidFill>
                            <a:srgbClr val="000000"/>
                          </a:solidFill>
                          <a:latin typeface="Calibri"/>
                        </a:rPr>
                        <a:t>Table 136: Balkan and Baltics Industrial Air Compressor Market Volume, 2021-2036 By End Use</a:t>
                      </a:r>
                      <a:endParaRPr sz="1050"/>
                    </a:p>
                  </a:txBody>
                  <a:tcPr marL="9525" marR="9525" marT="9525" marB="0" anchor="ctr"/>
                </a:tc>
              </a:tr>
              <a:tr h="170266">
                <a:tc>
                  <a:txBody>
                    <a:bodyPr wrap="square"/>
                    <a:lstStyle/>
                    <a:p>
                      <a:pPr algn="l"/>
                      <a:r>
                        <a:rPr sz="1050" b="0" i="0">
                          <a:solidFill>
                            <a:srgbClr val="000000"/>
                          </a:solidFill>
                          <a:latin typeface="Calibri"/>
                        </a:rPr>
                        <a:t>Table 137: Balkan and Baltics Industrial Air Compressor Market Value, 2021-2036 By Driver Type</a:t>
                      </a:r>
                      <a:endParaRPr sz="1050"/>
                    </a:p>
                  </a:txBody>
                  <a:tcPr marL="9525" marR="9525" marT="9525" marB="0" anchor="ctr"/>
                </a:tc>
              </a:tr>
              <a:tr h="170266">
                <a:tc>
                  <a:txBody>
                    <a:bodyPr wrap="square"/>
                    <a:lstStyle/>
                    <a:p>
                      <a:pPr algn="l"/>
                      <a:r>
                        <a:rPr sz="1050" b="0" i="0">
                          <a:solidFill>
                            <a:srgbClr val="000000"/>
                          </a:solidFill>
                          <a:latin typeface="Calibri"/>
                        </a:rPr>
                        <a:t>Table 138: Balkan and Baltics Industrial Air Compressor Market Volume, 2021-2036 By Driver Type</a:t>
                      </a:r>
                      <a:endParaRPr sz="1050"/>
                    </a:p>
                  </a:txBody>
                  <a:tcPr marL="9525" marR="9525" marT="9525" marB="0" anchor="ctr"/>
                </a:tc>
              </a:tr>
              <a:tr h="170266">
                <a:tc>
                  <a:txBody>
                    <a:bodyPr wrap="square"/>
                    <a:lstStyle/>
                    <a:p>
                      <a:pPr algn="l"/>
                      <a:r>
                        <a:rPr sz="1050" b="0" i="0">
                          <a:solidFill>
                            <a:srgbClr val="000000"/>
                          </a:solidFill>
                          <a:latin typeface="Calibri"/>
                        </a:rPr>
                        <a:t>Table 139: Western Europe Industrial Air Compressor Market Value, 2021-2036 By Technology</a:t>
                      </a:r>
                      <a:endParaRPr sz="1050"/>
                    </a:p>
                  </a:txBody>
                  <a:tcPr marL="9525" marR="9525" marT="9525" marB="0" anchor="ctr"/>
                </a:tc>
              </a:tr>
              <a:tr h="170266">
                <a:tc>
                  <a:txBody>
                    <a:bodyPr wrap="square"/>
                    <a:lstStyle/>
                    <a:p>
                      <a:pPr algn="l"/>
                      <a:r>
                        <a:rPr sz="1050" b="0" i="0">
                          <a:solidFill>
                            <a:srgbClr val="000000"/>
                          </a:solidFill>
                          <a:latin typeface="Calibri"/>
                        </a:rPr>
                        <a:t>Table 140: Western Europe Industrial Air Compressor Market Volume, 2021-2036 By Technology</a:t>
                      </a:r>
                      <a:endParaRPr sz="1050"/>
                    </a:p>
                  </a:txBody>
                  <a:tcPr marL="9525" marR="9525" marT="9525" marB="0" anchor="ctr"/>
                </a:tc>
              </a:tr>
              <a:tr h="170266">
                <a:tc>
                  <a:txBody>
                    <a:bodyPr wrap="square"/>
                    <a:lstStyle/>
                    <a:p>
                      <a:pPr algn="l"/>
                      <a:r>
                        <a:rPr sz="1050" b="0" i="0">
                          <a:solidFill>
                            <a:srgbClr val="000000"/>
                          </a:solidFill>
                          <a:latin typeface="Calibri"/>
                        </a:rPr>
                        <a:t>Table 141: Western Europe Industrial Air Compressor Market Value, 2021-2036 By Capacity</a:t>
                      </a:r>
                      <a:endParaRPr sz="1050"/>
                    </a:p>
                  </a:txBody>
                  <a:tcPr marL="9525" marR="9525" marT="9525" marB="0" anchor="ctr"/>
                </a:tc>
              </a:tr>
              <a:tr h="170266">
                <a:tc>
                  <a:txBody>
                    <a:bodyPr wrap="square"/>
                    <a:lstStyle/>
                    <a:p>
                      <a:pPr algn="l"/>
                      <a:r>
                        <a:rPr sz="1050" b="0" i="0">
                          <a:solidFill>
                            <a:srgbClr val="000000"/>
                          </a:solidFill>
                          <a:latin typeface="Calibri"/>
                        </a:rPr>
                        <a:t>Table 142: Western Europe Industrial Air Compressor Market Volume, 2021-2036 By Capacity</a:t>
                      </a:r>
                      <a:endParaRPr sz="1050"/>
                    </a:p>
                  </a:txBody>
                  <a:tcPr marL="9525" marR="9525" marT="9525" marB="0" anchor="ctr"/>
                </a:tc>
              </a:tr>
              <a:tr h="170266">
                <a:tc>
                  <a:txBody>
                    <a:bodyPr wrap="square"/>
                    <a:lstStyle/>
                    <a:p>
                      <a:pPr algn="l"/>
                      <a:r>
                        <a:rPr sz="1050" b="0" i="0">
                          <a:solidFill>
                            <a:srgbClr val="000000"/>
                          </a:solidFill>
                          <a:latin typeface="Calibri"/>
                        </a:rPr>
                        <a:t>Table 143: Western Europe Industrial Air Compressor Market Value, 2021-2036 By Compression Stage</a:t>
                      </a:r>
                      <a:endParaRPr sz="1050"/>
                    </a:p>
                  </a:txBody>
                  <a:tcPr marL="9525" marR="9525" marT="9525" marB="0" anchor="ctr"/>
                </a:tc>
              </a:tr>
              <a:tr h="333720">
                <a:tc>
                  <a:txBody>
                    <a:bodyPr wrap="square"/>
                    <a:lstStyle/>
                    <a:p>
                      <a:pPr algn="l"/>
                      <a:r>
                        <a:rPr sz="1050" b="0" i="0">
                          <a:solidFill>
                            <a:srgbClr val="000000"/>
                          </a:solidFill>
                          <a:latin typeface="Calibri"/>
                        </a:rPr>
                        <a:t>Table 144: Western Europe Industrial Air Compressor Market Volume, 2021-2036 By Compression Stage</a:t>
                      </a:r>
                      <a:endParaRPr sz="1050"/>
                    </a:p>
                  </a:txBody>
                  <a:tcPr marL="9525" marR="9525" marT="9525" marB="0" anchor="ctr"/>
                </a:tc>
              </a:tr>
              <a:tr h="170266">
                <a:tc>
                  <a:txBody>
                    <a:bodyPr wrap="square"/>
                    <a:lstStyle/>
                    <a:p>
                      <a:pPr algn="l"/>
                      <a:r>
                        <a:rPr sz="1050" b="0" i="0">
                          <a:solidFill>
                            <a:srgbClr val="000000"/>
                          </a:solidFill>
                          <a:latin typeface="Calibri"/>
                        </a:rPr>
                        <a:t>Table 145: Western Europe Industrial Air Compressor Market Value, 2021-2036 By End Use</a:t>
                      </a:r>
                      <a:endParaRPr sz="1050"/>
                    </a:p>
                  </a:txBody>
                  <a:tcPr marL="9525" marR="9525" marT="9525" marB="0" anchor="ctr"/>
                </a:tc>
              </a:tr>
              <a:tr h="170266">
                <a:tc>
                  <a:txBody>
                    <a:bodyPr wrap="square"/>
                    <a:lstStyle/>
                    <a:p>
                      <a:pPr algn="l"/>
                      <a:r>
                        <a:rPr sz="1050" b="0" i="0">
                          <a:solidFill>
                            <a:srgbClr val="000000"/>
                          </a:solidFill>
                          <a:latin typeface="Calibri"/>
                        </a:rPr>
                        <a:t>Table 146: Western Europe Industrial Air Compressor Market Volume, 2021-2036 By End Use</a:t>
                      </a:r>
                      <a:endParaRPr sz="1050"/>
                    </a:p>
                  </a:txBody>
                  <a:tcPr marL="9525" marR="9525" marT="9525" marB="0" anchor="ctr"/>
                </a:tc>
              </a:tr>
              <a:tr h="170266">
                <a:tc>
                  <a:txBody>
                    <a:bodyPr wrap="square"/>
                    <a:lstStyle/>
                    <a:p>
                      <a:pPr algn="l"/>
                      <a:r>
                        <a:rPr sz="1050" b="0" i="0">
                          <a:solidFill>
                            <a:srgbClr val="000000"/>
                          </a:solidFill>
                          <a:latin typeface="Calibri"/>
                        </a:rPr>
                        <a:t>Table 147: Western Europe Industrial Air Compressor Market Value, 2021-2036 By Driver Type</a:t>
                      </a:r>
                      <a:endParaRPr sz="1050"/>
                    </a:p>
                  </a:txBody>
                  <a:tcPr marL="9525" marR="9525" marT="9525" marB="0" anchor="ctr"/>
                </a:tc>
              </a:tr>
              <a:tr h="170266">
                <a:tc>
                  <a:txBody>
                    <a:bodyPr wrap="square"/>
                    <a:lstStyle/>
                    <a:p>
                      <a:pPr algn="l"/>
                      <a:r>
                        <a:rPr sz="1050" b="0" i="0">
                          <a:solidFill>
                            <a:srgbClr val="000000"/>
                          </a:solidFill>
                          <a:latin typeface="Calibri"/>
                        </a:rPr>
                        <a:t>Table 148: Western Europe Industrial Air Compressor Market Volume, 2021-2036 By Driver Type</a:t>
                      </a:r>
                      <a:endParaRPr sz="1050"/>
                    </a:p>
                  </a:txBody>
                  <a:tcPr marL="9525" marR="9525" marT="9525" marB="0" anchor="ctr"/>
                </a:tc>
              </a:tr>
              <a:tr h="170266">
                <a:tc>
                  <a:txBody>
                    <a:bodyPr wrap="square"/>
                    <a:lstStyle/>
                    <a:p>
                      <a:pPr algn="l"/>
                      <a:r>
                        <a:rPr sz="1050" b="0" i="0">
                          <a:solidFill>
                            <a:srgbClr val="000000"/>
                          </a:solidFill>
                          <a:latin typeface="Calibri"/>
                        </a:rPr>
                        <a:t>Table 149: Western Europe Industrial Air Compressor Market Value, 2021-2036 By Country</a:t>
                      </a:r>
                      <a:endParaRPr sz="1050"/>
                    </a:p>
                  </a:txBody>
                  <a:tcPr marL="9525" marR="9525" marT="9525" marB="0" anchor="ctr"/>
                </a:tc>
              </a:tr>
              <a:tr h="170266">
                <a:tc>
                  <a:txBody>
                    <a:bodyPr wrap="square"/>
                    <a:lstStyle/>
                    <a:p>
                      <a:pPr algn="l"/>
                      <a:r>
                        <a:rPr sz="1050" b="0" i="0">
                          <a:solidFill>
                            <a:srgbClr val="000000"/>
                          </a:solidFill>
                          <a:latin typeface="Calibri"/>
                        </a:rPr>
                        <a:t>Table 150: Western Europe Industrial Air Compressor Market Volume,2021-2036 By Country</a:t>
                      </a:r>
                      <a:endParaRPr sz="1050"/>
                    </a:p>
                  </a:txBody>
                  <a:tcPr marL="9525" marR="9525" marT="9525" marB="0" anchor="ctr"/>
                </a:tc>
              </a:tr>
              <a:tr h="170266">
                <a:tc>
                  <a:txBody>
                    <a:bodyPr wrap="square"/>
                    <a:lstStyle/>
                    <a:p>
                      <a:pPr algn="l"/>
                      <a:r>
                        <a:rPr sz="1050" b="0" i="0">
                          <a:solidFill>
                            <a:srgbClr val="000000"/>
                          </a:solidFill>
                          <a:latin typeface="Calibri"/>
                        </a:rPr>
                        <a:t>Table 151: Germany Industrial Air Compressor Market Value, 2021-2036 By Technology</a:t>
                      </a:r>
                      <a:endParaRPr sz="1050"/>
                    </a:p>
                  </a:txBody>
                  <a:tcPr marL="9525" marR="9525" marT="9525" marB="0" anchor="ctr"/>
                </a:tc>
              </a:tr>
              <a:tr h="170266">
                <a:tc>
                  <a:txBody>
                    <a:bodyPr wrap="square"/>
                    <a:lstStyle/>
                    <a:p>
                      <a:pPr algn="l"/>
                      <a:r>
                        <a:rPr sz="1050" b="0" i="0">
                          <a:solidFill>
                            <a:srgbClr val="000000"/>
                          </a:solidFill>
                          <a:latin typeface="Calibri"/>
                        </a:rPr>
                        <a:t>Table 152: Germany Industrial Air Compressor Market Volume, 2021-2036 By Technology</a:t>
                      </a:r>
                      <a:endParaRPr sz="1050"/>
                    </a:p>
                  </a:txBody>
                  <a:tcPr marL="9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153: Germany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154: Germany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155: Germany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156: Germany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157: Germany Industrial Air Compressor Market Value, 2021-2036 By End Use</a:t>
                      </a:r>
                      <a:endParaRPr sz="1050"/>
                    </a:p>
                  </a:txBody>
                  <a:tcPr marL="9525" marR="9525" marT="9525" marB="0" anchor="ctr"/>
                </a:tc>
              </a:tr>
              <a:tr h="169606">
                <a:tc>
                  <a:txBody>
                    <a:bodyPr wrap="square"/>
                    <a:lstStyle/>
                    <a:p>
                      <a:pPr algn="l"/>
                      <a:r>
                        <a:rPr sz="1050" b="0" i="0">
                          <a:solidFill>
                            <a:srgbClr val="000000"/>
                          </a:solidFill>
                          <a:latin typeface="Calibri"/>
                        </a:rPr>
                        <a:t>Table 158: Germany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159: Germany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160: Germany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161: Italy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162: Italy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163: Italy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164: Italy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165: Italy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166: Italy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167: Italy Industrial Air Compressor Market Value, 2021-2036 By End Use</a:t>
                      </a:r>
                      <a:endParaRPr sz="1050"/>
                    </a:p>
                  </a:txBody>
                  <a:tcPr marL="9525" marR="9525" marT="9525" marB="0" anchor="ctr"/>
                </a:tc>
              </a:tr>
              <a:tr h="169606">
                <a:tc>
                  <a:txBody>
                    <a:bodyPr wrap="square"/>
                    <a:lstStyle/>
                    <a:p>
                      <a:pPr algn="l"/>
                      <a:r>
                        <a:rPr sz="1050" b="0" i="0">
                          <a:solidFill>
                            <a:srgbClr val="000000"/>
                          </a:solidFill>
                          <a:latin typeface="Calibri"/>
                        </a:rPr>
                        <a:t>Table 168: Italy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169: Italy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170: Italy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171: France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172: France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173: France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174: France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175: France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176: France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177: France Industrial Air Compressor Market Value, 2021-2036 By End Use</a:t>
                      </a:r>
                      <a:endParaRPr sz="1050"/>
                    </a:p>
                  </a:txBody>
                  <a:tcPr marL="9525" marR="9525" marT="9525" marB="0" anchor="ctr"/>
                </a:tc>
              </a:tr>
              <a:tr h="169606">
                <a:tc>
                  <a:txBody>
                    <a:bodyPr wrap="square"/>
                    <a:lstStyle/>
                    <a:p>
                      <a:pPr algn="l"/>
                      <a:r>
                        <a:rPr sz="1050" b="0" i="0">
                          <a:solidFill>
                            <a:srgbClr val="000000"/>
                          </a:solidFill>
                          <a:latin typeface="Calibri"/>
                        </a:rPr>
                        <a:t>Table 178: France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179: France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180: France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181: U.K.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182: U.K.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183: U.K. Industrial Air Compressor Market Value, 2021-2036 By Capacity</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(4/6)</a:t>
            </a:r>
          </a:p>
        </p:txBody>
      </p:sp>
      <p:graphicFrame>
        <p:nvGraphicFramePr>
          <p:cNvPr id="6"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184: U.K.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185: U.K.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186: U.K.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187: U.K. Industrial Air Compressor Market Value, 2021-2036 By End Use</a:t>
                      </a:r>
                      <a:endParaRPr sz="1050"/>
                    </a:p>
                  </a:txBody>
                  <a:tcPr marL="9525" marR="9525" marT="9525" marB="0" anchor="ctr"/>
                </a:tc>
              </a:tr>
              <a:tr h="169606">
                <a:tc>
                  <a:txBody>
                    <a:bodyPr wrap="square"/>
                    <a:lstStyle/>
                    <a:p>
                      <a:pPr algn="l"/>
                      <a:r>
                        <a:rPr sz="1050" b="0" i="0">
                          <a:solidFill>
                            <a:srgbClr val="000000"/>
                          </a:solidFill>
                          <a:latin typeface="Calibri"/>
                        </a:rPr>
                        <a:t>Table 188: U.K.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189: U.K.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190: U.K.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191: Spain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192: Spain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193: Spain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194: Spain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195: Spain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196: Spain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197: Spain Industrial Air Compressor Market Value, 2021-2036 By End Use</a:t>
                      </a:r>
                      <a:endParaRPr sz="1050"/>
                    </a:p>
                  </a:txBody>
                  <a:tcPr marL="9525" marR="9525" marT="9525" marB="0" anchor="ctr"/>
                </a:tc>
              </a:tr>
              <a:tr h="169606">
                <a:tc>
                  <a:txBody>
                    <a:bodyPr wrap="square"/>
                    <a:lstStyle/>
                    <a:p>
                      <a:pPr algn="l"/>
                      <a:r>
                        <a:rPr sz="1050" b="0" i="0">
                          <a:solidFill>
                            <a:srgbClr val="000000"/>
                          </a:solidFill>
                          <a:latin typeface="Calibri"/>
                        </a:rPr>
                        <a:t>Table 198: Spain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199: Spain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200: Spain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201: BENELUX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202: BENELUX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203: BENELUX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204: BENELUX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205: BENELUX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206: BENELUX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207: BENELUX Industrial Air Compressor Market Value, 2021-2036 By End Use</a:t>
                      </a:r>
                      <a:endParaRPr sz="1050"/>
                    </a:p>
                  </a:txBody>
                  <a:tcPr marL="9525" marR="9525" marT="9525" marB="0" anchor="ctr"/>
                </a:tc>
              </a:tr>
              <a:tr h="169606">
                <a:tc>
                  <a:txBody>
                    <a:bodyPr wrap="square"/>
                    <a:lstStyle/>
                    <a:p>
                      <a:pPr algn="l"/>
                      <a:r>
                        <a:rPr sz="1050" b="0" i="0">
                          <a:solidFill>
                            <a:srgbClr val="000000"/>
                          </a:solidFill>
                          <a:latin typeface="Calibri"/>
                        </a:rPr>
                        <a:t>Table 208: BENELUX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209: BENELUX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210: BENELUX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211: Nordics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212: Nordics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213: Nordics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214: Nordics Industrial Air Compressor Market Volume, 2021-2036 By Capacity</a:t>
                      </a:r>
                      <a:endParaRPr sz="1050"/>
                    </a:p>
                  </a:txBody>
                  <a:tcPr marL="9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215: Nordics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216: Nordics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217: Nordics Industrial Air Compressor Market Value, 2021-2036 By End Use</a:t>
                      </a:r>
                      <a:endParaRPr sz="1050"/>
                    </a:p>
                  </a:txBody>
                  <a:tcPr marL="9525" marR="9525" marT="9525" marB="0" anchor="ctr"/>
                </a:tc>
              </a:tr>
              <a:tr h="169606">
                <a:tc>
                  <a:txBody>
                    <a:bodyPr wrap="square"/>
                    <a:lstStyle/>
                    <a:p>
                      <a:pPr algn="l"/>
                      <a:r>
                        <a:rPr sz="1050" b="0" i="0">
                          <a:solidFill>
                            <a:srgbClr val="000000"/>
                          </a:solidFill>
                          <a:latin typeface="Calibri"/>
                        </a:rPr>
                        <a:t>Table 218: Nordics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219: Nordics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220: Nordics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221: East Asia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222: East Asia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223: East Asia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224: East Asia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225: East Asia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226: East Asia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227: East Asia Industrial Air Compressor Market Value, 2021-2036 By End Use</a:t>
                      </a:r>
                      <a:endParaRPr sz="1050"/>
                    </a:p>
                  </a:txBody>
                  <a:tcPr marL="9525" marR="9525" marT="9525" marB="0" anchor="ctr"/>
                </a:tc>
              </a:tr>
              <a:tr h="169606">
                <a:tc>
                  <a:txBody>
                    <a:bodyPr wrap="square"/>
                    <a:lstStyle/>
                    <a:p>
                      <a:pPr algn="l"/>
                      <a:r>
                        <a:rPr sz="1050" b="0" i="0">
                          <a:solidFill>
                            <a:srgbClr val="000000"/>
                          </a:solidFill>
                          <a:latin typeface="Calibri"/>
                        </a:rPr>
                        <a:t>Table 228: East Asia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229: East Asia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230: East Asia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231: East Asia Industrial Air Compressor Market Value, 2021-2036 By Country</a:t>
                      </a:r>
                      <a:endParaRPr sz="1050"/>
                    </a:p>
                  </a:txBody>
                  <a:tcPr marL="9525" marR="9525" marT="9525" marB="0" anchor="ctr"/>
                </a:tc>
              </a:tr>
              <a:tr h="169606">
                <a:tc>
                  <a:txBody>
                    <a:bodyPr wrap="square"/>
                    <a:lstStyle/>
                    <a:p>
                      <a:pPr algn="l"/>
                      <a:r>
                        <a:rPr sz="1050" b="0" i="0">
                          <a:solidFill>
                            <a:srgbClr val="000000"/>
                          </a:solidFill>
                          <a:latin typeface="Calibri"/>
                        </a:rPr>
                        <a:t>Table 232: East Asia Industrial Air Compressor Market Volume,2021-2036 By Country</a:t>
                      </a:r>
                      <a:endParaRPr sz="1050"/>
                    </a:p>
                  </a:txBody>
                  <a:tcPr marL="9525" marR="9525" marT="9525" marB="0" anchor="ctr"/>
                </a:tc>
              </a:tr>
              <a:tr h="169606">
                <a:tc>
                  <a:txBody>
                    <a:bodyPr wrap="square"/>
                    <a:lstStyle/>
                    <a:p>
                      <a:pPr algn="l"/>
                      <a:r>
                        <a:rPr sz="1050" b="0" i="0">
                          <a:solidFill>
                            <a:srgbClr val="000000"/>
                          </a:solidFill>
                          <a:latin typeface="Calibri"/>
                        </a:rPr>
                        <a:t>Table 233: China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234: China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235: China Industrial Air Compressor Market Value,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236: China Industrial Air Compressor Market Volume, 2021-2036 By Capacity</a:t>
                      </a:r>
                      <a:endParaRPr sz="1050"/>
                    </a:p>
                  </a:txBody>
                  <a:tcPr marL="9525" marR="9525" marT="9525" marB="0" anchor="ctr"/>
                </a:tc>
              </a:tr>
              <a:tr h="169606">
                <a:tc>
                  <a:txBody>
                    <a:bodyPr wrap="square"/>
                    <a:lstStyle/>
                    <a:p>
                      <a:pPr algn="l"/>
                      <a:r>
                        <a:rPr sz="1050" b="0" i="0">
                          <a:solidFill>
                            <a:srgbClr val="000000"/>
                          </a:solidFill>
                          <a:latin typeface="Calibri"/>
                        </a:rPr>
                        <a:t>Table 237: China Industrial Air Compressor Market Value,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238: China Industrial Air Compressor Market Volume, 2021-2036 By Compression Stage</a:t>
                      </a:r>
                      <a:endParaRPr sz="1050"/>
                    </a:p>
                  </a:txBody>
                  <a:tcPr marL="9525" marR="9525" marT="9525" marB="0" anchor="ctr"/>
                </a:tc>
              </a:tr>
              <a:tr h="169606">
                <a:tc>
                  <a:txBody>
                    <a:bodyPr wrap="square"/>
                    <a:lstStyle/>
                    <a:p>
                      <a:pPr algn="l"/>
                      <a:r>
                        <a:rPr sz="1050" b="0" i="0">
                          <a:solidFill>
                            <a:srgbClr val="000000"/>
                          </a:solidFill>
                          <a:latin typeface="Calibri"/>
                        </a:rPr>
                        <a:t>Table 239: China Industrial Air Compressor Market Value, 2021-2036 By End Use</a:t>
                      </a:r>
                      <a:endParaRPr sz="1050"/>
                    </a:p>
                  </a:txBody>
                  <a:tcPr marL="9525" marR="9525" marT="9525" marB="0" anchor="ctr"/>
                </a:tc>
              </a:tr>
              <a:tr h="169606">
                <a:tc>
                  <a:txBody>
                    <a:bodyPr wrap="square"/>
                    <a:lstStyle/>
                    <a:p>
                      <a:pPr algn="l"/>
                      <a:r>
                        <a:rPr sz="1050" b="0" i="0">
                          <a:solidFill>
                            <a:srgbClr val="000000"/>
                          </a:solidFill>
                          <a:latin typeface="Calibri"/>
                        </a:rPr>
                        <a:t>Table 240: China Industrial Air Compressor Market Volume, 2021-2036 By End Use</a:t>
                      </a:r>
                      <a:endParaRPr sz="1050"/>
                    </a:p>
                  </a:txBody>
                  <a:tcPr marL="9525" marR="9525" marT="9525" marB="0" anchor="ctr"/>
                </a:tc>
              </a:tr>
              <a:tr h="169606">
                <a:tc>
                  <a:txBody>
                    <a:bodyPr wrap="square"/>
                    <a:lstStyle/>
                    <a:p>
                      <a:pPr algn="l"/>
                      <a:r>
                        <a:rPr sz="1050" b="0" i="0">
                          <a:solidFill>
                            <a:srgbClr val="000000"/>
                          </a:solidFill>
                          <a:latin typeface="Calibri"/>
                        </a:rPr>
                        <a:t>Table 241: China Industrial Air Compressor Market Value,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242: China Industrial Air Compressor Market Volume, 2021-2036 By Driver Type</a:t>
                      </a:r>
                      <a:endParaRPr sz="1050"/>
                    </a:p>
                  </a:txBody>
                  <a:tcPr marL="9525" marR="9525" marT="9525" marB="0" anchor="ctr"/>
                </a:tc>
              </a:tr>
              <a:tr h="169606">
                <a:tc>
                  <a:txBody>
                    <a:bodyPr wrap="square"/>
                    <a:lstStyle/>
                    <a:p>
                      <a:pPr algn="l"/>
                      <a:r>
                        <a:rPr sz="1050" b="0" i="0">
                          <a:solidFill>
                            <a:srgbClr val="000000"/>
                          </a:solidFill>
                          <a:latin typeface="Calibri"/>
                        </a:rPr>
                        <a:t>Table 243: Japan Industrial Air Compressor Market Value,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244: Japan Industrial Air Compressor Market Volume, 2021-2036 By Technology</a:t>
                      </a:r>
                      <a:endParaRPr sz="1050"/>
                    </a:p>
                  </a:txBody>
                  <a:tcPr marL="9525" marR="9525" marT="9525" marB="0" anchor="ctr"/>
                </a:tc>
              </a:tr>
              <a:tr h="169606">
                <a:tc>
                  <a:txBody>
                    <a:bodyPr wrap="square"/>
                    <a:lstStyle/>
                    <a:p>
                      <a:pPr algn="l"/>
                      <a:r>
                        <a:rPr sz="1050" b="0" i="0">
                          <a:solidFill>
                            <a:srgbClr val="000000"/>
                          </a:solidFill>
                          <a:latin typeface="Calibri"/>
                        </a:rPr>
                        <a:t>Table 245: Japan Industrial Air Compressor Market Value, 2021-2036 By Capacity</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(5/6)</a:t>
            </a:r>
          </a:p>
        </p:txBody>
      </p:sp>
      <p:graphicFrame>
        <p:nvGraphicFramePr>
          <p:cNvPr id="6" name="FMI Contents Table"/>
          <p:cNvGraphicFramePr>
            <a:graphicFrameLocks noGrp="1"/>
          </p:cNvGraphicFramePr>
          <p:nvPr/>
        </p:nvGraphicFramePr>
        <p:xfrm>
          <a:off x="142875"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Table 246: Japan Industrial Air Compressor Market Volume, 2021-2036 By Capacity</a:t>
                      </a:r>
                      <a:endParaRPr sz="1050"/>
                    </a:p>
                  </a:txBody>
                  <a:tcPr marL="9525" marR="9525" marT="9525" marB="0" anchor="ctr"/>
                </a:tc>
              </a:tr>
              <a:tr h="170045">
                <a:tc>
                  <a:txBody>
                    <a:bodyPr wrap="square"/>
                    <a:lstStyle/>
                    <a:p>
                      <a:pPr algn="l"/>
                      <a:r>
                        <a:rPr sz="1050" b="0" i="0">
                          <a:solidFill>
                            <a:srgbClr val="000000"/>
                          </a:solidFill>
                          <a:latin typeface="Calibri"/>
                        </a:rPr>
                        <a:t>Table 247: Japan Industrial Air Compressor Market Value, 2021-2036 By Compression Stage</a:t>
                      </a:r>
                      <a:endParaRPr sz="1050"/>
                    </a:p>
                  </a:txBody>
                  <a:tcPr marL="9525" marR="9525" marT="9525" marB="0" anchor="ctr"/>
                </a:tc>
              </a:tr>
              <a:tr h="170045">
                <a:tc>
                  <a:txBody>
                    <a:bodyPr wrap="square"/>
                    <a:lstStyle/>
                    <a:p>
                      <a:pPr algn="l"/>
                      <a:r>
                        <a:rPr sz="1050" b="0" i="0">
                          <a:solidFill>
                            <a:srgbClr val="000000"/>
                          </a:solidFill>
                          <a:latin typeface="Calibri"/>
                        </a:rPr>
                        <a:t>Table 248: Japan Industrial Air Compressor Market Volume, 2021-2036 By Compression Stage</a:t>
                      </a:r>
                      <a:endParaRPr sz="1050"/>
                    </a:p>
                  </a:txBody>
                  <a:tcPr marL="9525" marR="9525" marT="9525" marB="0" anchor="ctr"/>
                </a:tc>
              </a:tr>
              <a:tr h="170045">
                <a:tc>
                  <a:txBody>
                    <a:bodyPr wrap="square"/>
                    <a:lstStyle/>
                    <a:p>
                      <a:pPr algn="l"/>
                      <a:r>
                        <a:rPr sz="1050" b="0" i="0">
                          <a:solidFill>
                            <a:srgbClr val="000000"/>
                          </a:solidFill>
                          <a:latin typeface="Calibri"/>
                        </a:rPr>
                        <a:t>Table 249: Japan Industrial Air Compressor Market Value, 2021-2036 By End Use</a:t>
                      </a:r>
                      <a:endParaRPr sz="1050"/>
                    </a:p>
                  </a:txBody>
                  <a:tcPr marL="9525" marR="9525" marT="9525" marB="0" anchor="ctr"/>
                </a:tc>
              </a:tr>
              <a:tr h="170045">
                <a:tc>
                  <a:txBody>
                    <a:bodyPr wrap="square"/>
                    <a:lstStyle/>
                    <a:p>
                      <a:pPr algn="l"/>
                      <a:r>
                        <a:rPr sz="1050" b="0" i="0">
                          <a:solidFill>
                            <a:srgbClr val="000000"/>
                          </a:solidFill>
                          <a:latin typeface="Calibri"/>
                        </a:rPr>
                        <a:t>Table 250: Japan Industrial Air Compressor Market Volume, 2021-2036 By End Use</a:t>
                      </a:r>
                      <a:endParaRPr sz="1050"/>
                    </a:p>
                  </a:txBody>
                  <a:tcPr marL="9525" marR="9525" marT="9525" marB="0" anchor="ctr"/>
                </a:tc>
              </a:tr>
              <a:tr h="170045">
                <a:tc>
                  <a:txBody>
                    <a:bodyPr wrap="square"/>
                    <a:lstStyle/>
                    <a:p>
                      <a:pPr algn="l"/>
                      <a:r>
                        <a:rPr sz="1050" b="0" i="0">
                          <a:solidFill>
                            <a:srgbClr val="000000"/>
                          </a:solidFill>
                          <a:latin typeface="Calibri"/>
                        </a:rPr>
                        <a:t>Table 251: Japan Industrial Air Compressor Market Value, 2021-2036 By Driver Type</a:t>
                      </a:r>
                      <a:endParaRPr sz="1050"/>
                    </a:p>
                  </a:txBody>
                  <a:tcPr marL="9525" marR="9525" marT="9525" marB="0" anchor="ctr"/>
                </a:tc>
              </a:tr>
              <a:tr h="170045">
                <a:tc>
                  <a:txBody>
                    <a:bodyPr wrap="square"/>
                    <a:lstStyle/>
                    <a:p>
                      <a:pPr algn="l"/>
                      <a:r>
                        <a:rPr sz="1050" b="0" i="0">
                          <a:solidFill>
                            <a:srgbClr val="000000"/>
                          </a:solidFill>
                          <a:latin typeface="Calibri"/>
                        </a:rPr>
                        <a:t>Table 252: Japan Industrial Air Compressor Market Volume, 2021-2036 By Driver Type</a:t>
                      </a:r>
                      <a:endParaRPr sz="1050"/>
                    </a:p>
                  </a:txBody>
                  <a:tcPr marL="9525" marR="9525" marT="9525" marB="0" anchor="ctr"/>
                </a:tc>
              </a:tr>
              <a:tr h="170045">
                <a:tc>
                  <a:txBody>
                    <a:bodyPr wrap="square"/>
                    <a:lstStyle/>
                    <a:p>
                      <a:pPr algn="l"/>
                      <a:r>
                        <a:rPr sz="1050" b="0" i="0">
                          <a:solidFill>
                            <a:srgbClr val="000000"/>
                          </a:solidFill>
                          <a:latin typeface="Calibri"/>
                        </a:rPr>
                        <a:t>Table 253: South Korea Industrial Air Compressor Market Value, 2021-2036 By Technology</a:t>
                      </a:r>
                      <a:endParaRPr sz="1050"/>
                    </a:p>
                  </a:txBody>
                  <a:tcPr marL="9525" marR="9525" marT="9525" marB="0" anchor="ctr"/>
                </a:tc>
              </a:tr>
              <a:tr h="170045">
                <a:tc>
                  <a:txBody>
                    <a:bodyPr wrap="square"/>
                    <a:lstStyle/>
                    <a:p>
                      <a:pPr algn="l"/>
                      <a:r>
                        <a:rPr sz="1050" b="0" i="0">
                          <a:solidFill>
                            <a:srgbClr val="000000"/>
                          </a:solidFill>
                          <a:latin typeface="Calibri"/>
                        </a:rPr>
                        <a:t>Table 254: South Korea Industrial Air Compressor Market Volume, 2021-2036 By Technology</a:t>
                      </a:r>
                      <a:endParaRPr sz="1050"/>
                    </a:p>
                  </a:txBody>
                  <a:tcPr marL="9525" marR="9525" marT="9525" marB="0" anchor="ctr"/>
                </a:tc>
              </a:tr>
              <a:tr h="170045">
                <a:tc>
                  <a:txBody>
                    <a:bodyPr wrap="square"/>
                    <a:lstStyle/>
                    <a:p>
                      <a:pPr algn="l"/>
                      <a:r>
                        <a:rPr sz="1050" b="0" i="0">
                          <a:solidFill>
                            <a:srgbClr val="000000"/>
                          </a:solidFill>
                          <a:latin typeface="Calibri"/>
                        </a:rPr>
                        <a:t>Table 255: South Korea Industrial Air Compressor Market Value, 2021-2036 By Capacity</a:t>
                      </a:r>
                      <a:endParaRPr sz="1050"/>
                    </a:p>
                  </a:txBody>
                  <a:tcPr marL="9525" marR="9525" marT="9525" marB="0" anchor="ctr"/>
                </a:tc>
              </a:tr>
              <a:tr h="170045">
                <a:tc>
                  <a:txBody>
                    <a:bodyPr wrap="square"/>
                    <a:lstStyle/>
                    <a:p>
                      <a:pPr algn="l"/>
                      <a:r>
                        <a:rPr sz="1050" b="0" i="0">
                          <a:solidFill>
                            <a:srgbClr val="000000"/>
                          </a:solidFill>
                          <a:latin typeface="Calibri"/>
                        </a:rPr>
                        <a:t>Table 256: South Korea Industrial Air Compressor Market Volume, 2021-2036 By Capacity</a:t>
                      </a:r>
                      <a:endParaRPr sz="1050"/>
                    </a:p>
                  </a:txBody>
                  <a:tcPr marL="9525" marR="9525" marT="9525" marB="0" anchor="ctr"/>
                </a:tc>
              </a:tr>
              <a:tr h="170045">
                <a:tc>
                  <a:txBody>
                    <a:bodyPr wrap="square"/>
                    <a:lstStyle/>
                    <a:p>
                      <a:pPr algn="l"/>
                      <a:r>
                        <a:rPr sz="1050" b="0" i="0">
                          <a:solidFill>
                            <a:srgbClr val="000000"/>
                          </a:solidFill>
                          <a:latin typeface="Calibri"/>
                        </a:rPr>
                        <a:t>Table 257: South Korea Industrial Air Compressor Market Value, 2021-2036 By Compression Stage</a:t>
                      </a:r>
                      <a:endParaRPr sz="1050"/>
                    </a:p>
                  </a:txBody>
                  <a:tcPr marL="9525" marR="9525" marT="9525" marB="0" anchor="ctr"/>
                </a:tc>
              </a:tr>
              <a:tr h="170045">
                <a:tc>
                  <a:txBody>
                    <a:bodyPr wrap="square"/>
                    <a:lstStyle/>
                    <a:p>
                      <a:pPr algn="l"/>
                      <a:r>
                        <a:rPr sz="1050" b="0" i="0">
                          <a:solidFill>
                            <a:srgbClr val="000000"/>
                          </a:solidFill>
                          <a:latin typeface="Calibri"/>
                        </a:rPr>
                        <a:t>Table 258: South Korea Industrial Air Compressor Market Volume, 2021-2036 By Compression Stage</a:t>
                      </a:r>
                      <a:endParaRPr sz="1050"/>
                    </a:p>
                  </a:txBody>
                  <a:tcPr marL="9525" marR="9525" marT="9525" marB="0" anchor="ctr"/>
                </a:tc>
              </a:tr>
              <a:tr h="170045">
                <a:tc>
                  <a:txBody>
                    <a:bodyPr wrap="square"/>
                    <a:lstStyle/>
                    <a:p>
                      <a:pPr algn="l"/>
                      <a:r>
                        <a:rPr sz="1050" b="0" i="0">
                          <a:solidFill>
                            <a:srgbClr val="000000"/>
                          </a:solidFill>
                          <a:latin typeface="Calibri"/>
                        </a:rPr>
                        <a:t>Table 259: South Korea Industrial Air Compressor Market Value, 2021-2036 By End Use</a:t>
                      </a:r>
                      <a:endParaRPr sz="1050"/>
                    </a:p>
                  </a:txBody>
                  <a:tcPr marL="9525" marR="9525" marT="9525" marB="0" anchor="ctr"/>
                </a:tc>
              </a:tr>
              <a:tr h="170045">
                <a:tc>
                  <a:txBody>
                    <a:bodyPr wrap="square"/>
                    <a:lstStyle/>
                    <a:p>
                      <a:pPr algn="l"/>
                      <a:r>
                        <a:rPr sz="1050" b="0" i="0">
                          <a:solidFill>
                            <a:srgbClr val="000000"/>
                          </a:solidFill>
                          <a:latin typeface="Calibri"/>
                        </a:rPr>
                        <a:t>Table 260: South Korea Industrial Air Compressor Market Volume, 2021-2036 By End Use</a:t>
                      </a:r>
                      <a:endParaRPr sz="1050"/>
                    </a:p>
                  </a:txBody>
                  <a:tcPr marL="9525" marR="9525" marT="9525" marB="0" anchor="ctr"/>
                </a:tc>
              </a:tr>
              <a:tr h="170045">
                <a:tc>
                  <a:txBody>
                    <a:bodyPr wrap="square"/>
                    <a:lstStyle/>
                    <a:p>
                      <a:pPr algn="l"/>
                      <a:r>
                        <a:rPr sz="1050" b="0" i="0">
                          <a:solidFill>
                            <a:srgbClr val="000000"/>
                          </a:solidFill>
                          <a:latin typeface="Calibri"/>
                        </a:rPr>
                        <a:t>Table 261: South Korea Industrial Air Compressor Market Value, 2021-2036 By Driver Type</a:t>
                      </a:r>
                      <a:endParaRPr sz="1050"/>
                    </a:p>
                  </a:txBody>
                  <a:tcPr marL="9525" marR="9525" marT="9525" marB="0" anchor="ctr"/>
                </a:tc>
              </a:tr>
              <a:tr h="170045">
                <a:tc>
                  <a:txBody>
                    <a:bodyPr wrap="square"/>
                    <a:lstStyle/>
                    <a:p>
                      <a:pPr algn="l"/>
                      <a:r>
                        <a:rPr sz="1050" b="0" i="0">
                          <a:solidFill>
                            <a:srgbClr val="000000"/>
                          </a:solidFill>
                          <a:latin typeface="Calibri"/>
                        </a:rPr>
                        <a:t>Table 262: South Korea Industrial Air Compressor Market Volume, 2021-2036 By Driver Type</a:t>
                      </a:r>
                      <a:endParaRPr sz="1050"/>
                    </a:p>
                  </a:txBody>
                  <a:tcPr marL="9525" marR="9525" marT="9525" marB="0" anchor="ctr"/>
                </a:tc>
              </a:tr>
              <a:tr h="170045">
                <a:tc>
                  <a:txBody>
                    <a:bodyPr wrap="square"/>
                    <a:lstStyle/>
                    <a:p>
                      <a:pPr algn="l"/>
                      <a:r>
                        <a:rPr sz="1050" b="0" i="0">
                          <a:solidFill>
                            <a:srgbClr val="000000"/>
                          </a:solidFill>
                          <a:latin typeface="Calibri"/>
                        </a:rPr>
                        <a:t>Table 263: South Asia and Pacific Industrial Air Compressor Market Value, 2021-2036 By Technology</a:t>
                      </a:r>
                      <a:endParaRPr sz="1050"/>
                    </a:p>
                  </a:txBody>
                  <a:tcPr marL="9525" marR="9525" marT="9525" marB="0" anchor="ctr"/>
                </a:tc>
              </a:tr>
              <a:tr h="170045">
                <a:tc>
                  <a:txBody>
                    <a:bodyPr wrap="square"/>
                    <a:lstStyle/>
                    <a:p>
                      <a:pPr algn="l"/>
                      <a:r>
                        <a:rPr sz="1050" b="0" i="0">
                          <a:solidFill>
                            <a:srgbClr val="000000"/>
                          </a:solidFill>
                          <a:latin typeface="Calibri"/>
                        </a:rPr>
                        <a:t>Table 264: South Asia and Pacific Industrial Air Compressor Market Volume, 2021-2036 By Technology</a:t>
                      </a:r>
                      <a:endParaRPr sz="1050"/>
                    </a:p>
                  </a:txBody>
                  <a:tcPr marL="9525" marR="9525" marT="9525" marB="0" anchor="ctr"/>
                </a:tc>
              </a:tr>
              <a:tr h="170045">
                <a:tc>
                  <a:txBody>
                    <a:bodyPr wrap="square"/>
                    <a:lstStyle/>
                    <a:p>
                      <a:pPr algn="l"/>
                      <a:r>
                        <a:rPr sz="1050" b="0" i="0">
                          <a:solidFill>
                            <a:srgbClr val="000000"/>
                          </a:solidFill>
                          <a:latin typeface="Calibri"/>
                        </a:rPr>
                        <a:t>Table 265: South Asia and Pacific Industrial Air Compressor Market Value, 2021-2036 By Capacity</a:t>
                      </a:r>
                      <a:endParaRPr sz="1050"/>
                    </a:p>
                  </a:txBody>
                  <a:tcPr marL="9525" marR="9525" marT="9525" marB="0" anchor="ctr"/>
                </a:tc>
              </a:tr>
              <a:tr h="170045">
                <a:tc>
                  <a:txBody>
                    <a:bodyPr wrap="square"/>
                    <a:lstStyle/>
                    <a:p>
                      <a:pPr algn="l"/>
                      <a:r>
                        <a:rPr sz="1050" b="0" i="0">
                          <a:solidFill>
                            <a:srgbClr val="000000"/>
                          </a:solidFill>
                          <a:latin typeface="Calibri"/>
                        </a:rPr>
                        <a:t>Table 266: South Asia and Pacific Industrial Air Compressor Market Volume, 2021-2036 By Capacity</a:t>
                      </a:r>
                      <a:endParaRPr sz="1050"/>
                    </a:p>
                  </a:txBody>
                  <a:tcPr marL="9525" marR="9525" marT="9525" marB="0" anchor="ctr"/>
                </a:tc>
              </a:tr>
              <a:tr h="333289">
                <a:tc>
                  <a:txBody>
                    <a:bodyPr wrap="square"/>
                    <a:lstStyle/>
                    <a:p>
                      <a:pPr algn="l"/>
                      <a:r>
                        <a:rPr sz="1050" b="0" i="0">
                          <a:solidFill>
                            <a:srgbClr val="000000"/>
                          </a:solidFill>
                          <a:latin typeface="Calibri"/>
                        </a:rPr>
                        <a:t>Table 267: South Asia and Pacific Industrial Air Compressor Market Value, 2021-2036 By Compression Stage</a:t>
                      </a:r>
                      <a:endParaRPr sz="1050"/>
                    </a:p>
                  </a:txBody>
                  <a:tcPr marL="9525" marR="9525" marT="9525" marB="0" anchor="ctr"/>
                </a:tc>
              </a:tr>
              <a:tr h="333289">
                <a:tc>
                  <a:txBody>
                    <a:bodyPr wrap="square"/>
                    <a:lstStyle/>
                    <a:p>
                      <a:pPr algn="l"/>
                      <a:r>
                        <a:rPr sz="1050" b="0" i="0">
                          <a:solidFill>
                            <a:srgbClr val="000000"/>
                          </a:solidFill>
                          <a:latin typeface="Calibri"/>
                        </a:rPr>
                        <a:t>Table 268: South Asia and Pacific Industrial Air Compressor Market Volume, 2021-2036 By Compression Stage</a:t>
                      </a:r>
                      <a:endParaRPr sz="1050"/>
                    </a:p>
                  </a:txBody>
                  <a:tcPr marL="9525" marR="9525" marT="9525" marB="0" anchor="ctr"/>
                </a:tc>
              </a:tr>
              <a:tr h="170045">
                <a:tc>
                  <a:txBody>
                    <a:bodyPr wrap="square"/>
                    <a:lstStyle/>
                    <a:p>
                      <a:pPr algn="l"/>
                      <a:r>
                        <a:rPr sz="1050" b="0" i="0">
                          <a:solidFill>
                            <a:srgbClr val="000000"/>
                          </a:solidFill>
                          <a:latin typeface="Calibri"/>
                        </a:rPr>
                        <a:t>Table 269: South Asia and Pacific Industrial Air Compressor Market Value, 2021-2036 By End Use</a:t>
                      </a:r>
                      <a:endParaRPr sz="1050"/>
                    </a:p>
                  </a:txBody>
                  <a:tcPr marL="9525" marR="9525" marT="9525" marB="0" anchor="ctr"/>
                </a:tc>
              </a:tr>
              <a:tr h="170045">
                <a:tc>
                  <a:txBody>
                    <a:bodyPr wrap="square"/>
                    <a:lstStyle/>
                    <a:p>
                      <a:pPr algn="l"/>
                      <a:r>
                        <a:rPr sz="1050" b="0" i="0">
                          <a:solidFill>
                            <a:srgbClr val="000000"/>
                          </a:solidFill>
                          <a:latin typeface="Calibri"/>
                        </a:rPr>
                        <a:t>Table 270: South Asia and Pacific Industrial Air Compressor Market Volume, 2021-2036 By End Use</a:t>
                      </a:r>
                      <a:endParaRPr sz="1050"/>
                    </a:p>
                  </a:txBody>
                  <a:tcPr marL="9525" marR="9525" marT="9525" marB="0" anchor="ctr"/>
                </a:tc>
              </a:tr>
              <a:tr h="170045">
                <a:tc>
                  <a:txBody>
                    <a:bodyPr wrap="square"/>
                    <a:lstStyle/>
                    <a:p>
                      <a:pPr algn="l"/>
                      <a:r>
                        <a:rPr sz="1050" b="0" i="0">
                          <a:solidFill>
                            <a:srgbClr val="000000"/>
                          </a:solidFill>
                          <a:latin typeface="Calibri"/>
                        </a:rPr>
                        <a:t>Table 271: South Asia and Pacific Industrial Air Compressor Market Value, 2021-2036 By Driver Type</a:t>
                      </a:r>
                      <a:endParaRPr sz="1050"/>
                    </a:p>
                  </a:txBody>
                  <a:tcPr marL="9525" marR="9525" marT="9525" marB="0" anchor="ctr"/>
                </a:tc>
              </a:tr>
              <a:tr h="170045">
                <a:tc>
                  <a:txBody>
                    <a:bodyPr wrap="square"/>
                    <a:lstStyle/>
                    <a:p>
                      <a:pPr algn="l"/>
                      <a:r>
                        <a:rPr sz="1050" b="0" i="0">
                          <a:solidFill>
                            <a:srgbClr val="000000"/>
                          </a:solidFill>
                          <a:latin typeface="Calibri"/>
                        </a:rPr>
                        <a:t>Table 272: South Asia and Pacific Industrial Air Compressor Market Volume, 2021-2036 By Driver Type</a:t>
                      </a:r>
                      <a:endParaRPr sz="1050"/>
                    </a:p>
                  </a:txBody>
                  <a:tcPr marL="9525" marR="9525" marT="9525" marB="0" anchor="ctr"/>
                </a:tc>
              </a:tr>
              <a:tr h="170045">
                <a:tc>
                  <a:txBody>
                    <a:bodyPr wrap="square"/>
                    <a:lstStyle/>
                    <a:p>
                      <a:pPr algn="l"/>
                      <a:r>
                        <a:rPr sz="1050" b="0" i="0">
                          <a:solidFill>
                            <a:srgbClr val="000000"/>
                          </a:solidFill>
                          <a:latin typeface="Calibri"/>
                        </a:rPr>
                        <a:t>Table 273: South Asia and Pacific Industrial Air Compressor Market Value, 2021-2036 By Country</a:t>
                      </a:r>
                      <a:endParaRPr sz="1050"/>
                    </a:p>
                  </a:txBody>
                  <a:tcPr marL="9525" marR="9525" marT="9525" marB="0" anchor="ctr"/>
                </a:tc>
              </a:tr>
              <a:tr h="170045">
                <a:tc>
                  <a:txBody>
                    <a:bodyPr wrap="square"/>
                    <a:lstStyle/>
                    <a:p>
                      <a:pPr algn="l"/>
                      <a:r>
                        <a:rPr sz="1050" b="0" i="0">
                          <a:solidFill>
                            <a:srgbClr val="000000"/>
                          </a:solidFill>
                          <a:latin typeface="Calibri"/>
                        </a:rPr>
                        <a:t>Table 274: South Asia and Pacific Industrial Air Compressor Market Volume,2021-2036 By Country</a:t>
                      </a:r>
                      <a:endParaRPr sz="1050"/>
                    </a:p>
                  </a:txBody>
                  <a:tcPr marL="9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257803"/>
        </p:xfrm>
        <a:graphic>
          <a:graphicData uri="http://schemas.openxmlformats.org/drawingml/2006/table">
            <a:tbl>
              <a:tblPr>
                <a:tableStyleId>{3B4B98B0-60AC-42C2-AFA5-B58CD77FA1E5}</a:tableStyleId>
              </a:tblPr>
              <a:tblGrid>
                <a:gridCol w="5876925"/>
              </a:tblGrid>
              <a:tr h="170708">
                <a:tc>
                  <a:txBody>
                    <a:bodyPr wrap="square"/>
                    <a:lstStyle/>
                    <a:p>
                      <a:pPr algn="l"/>
                      <a:r>
                        <a:rPr sz="1050" b="0" i="0">
                          <a:solidFill>
                            <a:srgbClr val="000000"/>
                          </a:solidFill>
                          <a:latin typeface="Calibri"/>
                        </a:rPr>
                        <a:t>Table 275: India Industrial Air Compressor Market Value, 2021-2036 By Technology</a:t>
                      </a:r>
                      <a:endParaRPr sz="1050"/>
                    </a:p>
                  </a:txBody>
                  <a:tcPr marL="9525" marR="9525" marT="9525" marB="0" anchor="ctr"/>
                </a:tc>
              </a:tr>
              <a:tr h="170708">
                <a:tc>
                  <a:txBody>
                    <a:bodyPr wrap="square"/>
                    <a:lstStyle/>
                    <a:p>
                      <a:pPr algn="l"/>
                      <a:r>
                        <a:rPr sz="1050" b="0" i="0">
                          <a:solidFill>
                            <a:srgbClr val="000000"/>
                          </a:solidFill>
                          <a:latin typeface="Calibri"/>
                        </a:rPr>
                        <a:t>Table 276: India Industrial Air Compressor Market Volume, 2021-2036 By Technology</a:t>
                      </a:r>
                      <a:endParaRPr sz="1050"/>
                    </a:p>
                  </a:txBody>
                  <a:tcPr marL="9525" marR="9525" marT="9525" marB="0" anchor="ctr"/>
                </a:tc>
              </a:tr>
              <a:tr h="170708">
                <a:tc>
                  <a:txBody>
                    <a:bodyPr wrap="square"/>
                    <a:lstStyle/>
                    <a:p>
                      <a:pPr algn="l"/>
                      <a:r>
                        <a:rPr sz="1050" b="0" i="0">
                          <a:solidFill>
                            <a:srgbClr val="000000"/>
                          </a:solidFill>
                          <a:latin typeface="Calibri"/>
                        </a:rPr>
                        <a:t>Table 277: India Industrial Air Compressor Market Value, 2021-2036 By Capacity</a:t>
                      </a:r>
                      <a:endParaRPr sz="1050"/>
                    </a:p>
                  </a:txBody>
                  <a:tcPr marL="9525" marR="9525" marT="9525" marB="0" anchor="ctr"/>
                </a:tc>
              </a:tr>
              <a:tr h="170708">
                <a:tc>
                  <a:txBody>
                    <a:bodyPr wrap="square"/>
                    <a:lstStyle/>
                    <a:p>
                      <a:pPr algn="l"/>
                      <a:r>
                        <a:rPr sz="1050" b="0" i="0">
                          <a:solidFill>
                            <a:srgbClr val="000000"/>
                          </a:solidFill>
                          <a:latin typeface="Calibri"/>
                        </a:rPr>
                        <a:t>Table 278: India Industrial Air Compressor Market Volume, 2021-2036 By Capacity</a:t>
                      </a:r>
                      <a:endParaRPr sz="1050"/>
                    </a:p>
                  </a:txBody>
                  <a:tcPr marL="9525" marR="9525" marT="9525" marB="0" anchor="ctr"/>
                </a:tc>
              </a:tr>
              <a:tr h="170708">
                <a:tc>
                  <a:txBody>
                    <a:bodyPr wrap="square"/>
                    <a:lstStyle/>
                    <a:p>
                      <a:pPr algn="l"/>
                      <a:r>
                        <a:rPr sz="1050" b="0" i="0">
                          <a:solidFill>
                            <a:srgbClr val="000000"/>
                          </a:solidFill>
                          <a:latin typeface="Calibri"/>
                        </a:rPr>
                        <a:t>Table 279: India Industrial Air Compressor Market Value, 2021-2036 By Compression Stage</a:t>
                      </a:r>
                      <a:endParaRPr sz="1050"/>
                    </a:p>
                  </a:txBody>
                  <a:tcPr marL="9525" marR="9525" marT="9525" marB="0" anchor="ctr"/>
                </a:tc>
              </a:tr>
              <a:tr h="170708">
                <a:tc>
                  <a:txBody>
                    <a:bodyPr wrap="square"/>
                    <a:lstStyle/>
                    <a:p>
                      <a:pPr algn="l"/>
                      <a:r>
                        <a:rPr sz="1050" b="0" i="0">
                          <a:solidFill>
                            <a:srgbClr val="000000"/>
                          </a:solidFill>
                          <a:latin typeface="Calibri"/>
                        </a:rPr>
                        <a:t>Table 280: India Industrial Air Compressor Market Volume, 2021-2036 By Compression Stage</a:t>
                      </a:r>
                      <a:endParaRPr sz="1050"/>
                    </a:p>
                  </a:txBody>
                  <a:tcPr marL="9525" marR="9525" marT="9525" marB="0" anchor="ctr"/>
                </a:tc>
              </a:tr>
              <a:tr h="170708">
                <a:tc>
                  <a:txBody>
                    <a:bodyPr wrap="square"/>
                    <a:lstStyle/>
                    <a:p>
                      <a:pPr algn="l"/>
                      <a:r>
                        <a:rPr sz="1050" b="0" i="0">
                          <a:solidFill>
                            <a:srgbClr val="000000"/>
                          </a:solidFill>
                          <a:latin typeface="Calibri"/>
                        </a:rPr>
                        <a:t>Table 281: India Industrial Air Compressor Market Value, 2021-2036 By End Use</a:t>
                      </a:r>
                      <a:endParaRPr sz="1050"/>
                    </a:p>
                  </a:txBody>
                  <a:tcPr marL="9525" marR="9525" marT="9525" marB="0" anchor="ctr"/>
                </a:tc>
              </a:tr>
              <a:tr h="170708">
                <a:tc>
                  <a:txBody>
                    <a:bodyPr wrap="square"/>
                    <a:lstStyle/>
                    <a:p>
                      <a:pPr algn="l"/>
                      <a:r>
                        <a:rPr sz="1050" b="0" i="0">
                          <a:solidFill>
                            <a:srgbClr val="000000"/>
                          </a:solidFill>
                          <a:latin typeface="Calibri"/>
                        </a:rPr>
                        <a:t>Table 282: India Industrial Air Compressor Market Volume, 2021-2036 By End Use</a:t>
                      </a:r>
                      <a:endParaRPr sz="1050"/>
                    </a:p>
                  </a:txBody>
                  <a:tcPr marL="9525" marR="9525" marT="9525" marB="0" anchor="ctr"/>
                </a:tc>
              </a:tr>
              <a:tr h="170708">
                <a:tc>
                  <a:txBody>
                    <a:bodyPr wrap="square"/>
                    <a:lstStyle/>
                    <a:p>
                      <a:pPr algn="l"/>
                      <a:r>
                        <a:rPr sz="1050" b="0" i="0">
                          <a:solidFill>
                            <a:srgbClr val="000000"/>
                          </a:solidFill>
                          <a:latin typeface="Calibri"/>
                        </a:rPr>
                        <a:t>Table 283: India Industrial Air Compressor Market Value, 2021-2036 By Driver Type</a:t>
                      </a:r>
                      <a:endParaRPr sz="1050"/>
                    </a:p>
                  </a:txBody>
                  <a:tcPr marL="9525" marR="9525" marT="9525" marB="0" anchor="ctr"/>
                </a:tc>
              </a:tr>
              <a:tr h="170708">
                <a:tc>
                  <a:txBody>
                    <a:bodyPr wrap="square"/>
                    <a:lstStyle/>
                    <a:p>
                      <a:pPr algn="l"/>
                      <a:r>
                        <a:rPr sz="1050" b="0" i="0">
                          <a:solidFill>
                            <a:srgbClr val="000000"/>
                          </a:solidFill>
                          <a:latin typeface="Calibri"/>
                        </a:rPr>
                        <a:t>Table 284: India Industrial Air Compressor Market Volume, 2021-2036 By Driver Type</a:t>
                      </a:r>
                      <a:endParaRPr sz="1050"/>
                    </a:p>
                  </a:txBody>
                  <a:tcPr marL="9525" marR="9525" marT="9525" marB="0" anchor="ctr"/>
                </a:tc>
              </a:tr>
              <a:tr h="170708">
                <a:tc>
                  <a:txBody>
                    <a:bodyPr wrap="square"/>
                    <a:lstStyle/>
                    <a:p>
                      <a:pPr algn="l"/>
                      <a:r>
                        <a:rPr sz="1050" b="0" i="0">
                          <a:solidFill>
                            <a:srgbClr val="000000"/>
                          </a:solidFill>
                          <a:latin typeface="Calibri"/>
                        </a:rPr>
                        <a:t>Table 285: ASEAN Industrial Air Compressor Market Value, 2021-2036 By Technology</a:t>
                      </a:r>
                      <a:endParaRPr sz="1050"/>
                    </a:p>
                  </a:txBody>
                  <a:tcPr marL="9525" marR="9525" marT="9525" marB="0" anchor="ctr"/>
                </a:tc>
              </a:tr>
              <a:tr h="170708">
                <a:tc>
                  <a:txBody>
                    <a:bodyPr wrap="square"/>
                    <a:lstStyle/>
                    <a:p>
                      <a:pPr algn="l"/>
                      <a:r>
                        <a:rPr sz="1050" b="0" i="0">
                          <a:solidFill>
                            <a:srgbClr val="000000"/>
                          </a:solidFill>
                          <a:latin typeface="Calibri"/>
                        </a:rPr>
                        <a:t>Table 286: ASEAN Industrial Air Compressor Market Volume, 2021-2036 By Technology</a:t>
                      </a:r>
                      <a:endParaRPr sz="1050"/>
                    </a:p>
                  </a:txBody>
                  <a:tcPr marL="9525" marR="9525" marT="9525" marB="0" anchor="ctr"/>
                </a:tc>
              </a:tr>
              <a:tr h="170708">
                <a:tc>
                  <a:txBody>
                    <a:bodyPr wrap="square"/>
                    <a:lstStyle/>
                    <a:p>
                      <a:pPr algn="l"/>
                      <a:r>
                        <a:rPr sz="1050" b="0" i="0">
                          <a:solidFill>
                            <a:srgbClr val="000000"/>
                          </a:solidFill>
                          <a:latin typeface="Calibri"/>
                        </a:rPr>
                        <a:t>Table 287: ASEAN Industrial Air Compressor Market Value, 2021-2036 By Capacity</a:t>
                      </a:r>
                      <a:endParaRPr sz="1050"/>
                    </a:p>
                  </a:txBody>
                  <a:tcPr marL="9525" marR="9525" marT="9525" marB="0" anchor="ctr"/>
                </a:tc>
              </a:tr>
              <a:tr h="170708">
                <a:tc>
                  <a:txBody>
                    <a:bodyPr wrap="square"/>
                    <a:lstStyle/>
                    <a:p>
                      <a:pPr algn="l"/>
                      <a:r>
                        <a:rPr sz="1050" b="0" i="0">
                          <a:solidFill>
                            <a:srgbClr val="000000"/>
                          </a:solidFill>
                          <a:latin typeface="Calibri"/>
                        </a:rPr>
                        <a:t>Table 288: ASEAN Industrial Air Compressor Market Volume, 2021-2036 By Capacity</a:t>
                      </a:r>
                      <a:endParaRPr sz="1050"/>
                    </a:p>
                  </a:txBody>
                  <a:tcPr marL="9525" marR="9525" marT="9525" marB="0" anchor="ctr"/>
                </a:tc>
              </a:tr>
              <a:tr h="170708">
                <a:tc>
                  <a:txBody>
                    <a:bodyPr wrap="square"/>
                    <a:lstStyle/>
                    <a:p>
                      <a:pPr algn="l"/>
                      <a:r>
                        <a:rPr sz="1050" b="0" i="0">
                          <a:solidFill>
                            <a:srgbClr val="000000"/>
                          </a:solidFill>
                          <a:latin typeface="Calibri"/>
                        </a:rPr>
                        <a:t>Table 289: ASEAN Industrial Air Compressor Market Value, 2021-2036 By Compression Stage</a:t>
                      </a:r>
                      <a:endParaRPr sz="1050"/>
                    </a:p>
                  </a:txBody>
                  <a:tcPr marL="9525" marR="9525" marT="9525" marB="0" anchor="ctr"/>
                </a:tc>
              </a:tr>
              <a:tr h="170708">
                <a:tc>
                  <a:txBody>
                    <a:bodyPr wrap="square"/>
                    <a:lstStyle/>
                    <a:p>
                      <a:pPr algn="l"/>
                      <a:r>
                        <a:rPr sz="1050" b="0" i="0">
                          <a:solidFill>
                            <a:srgbClr val="000000"/>
                          </a:solidFill>
                          <a:latin typeface="Calibri"/>
                        </a:rPr>
                        <a:t>Table 290: ASEAN Industrial Air Compressor Market Volume, 2021-2036 By Compression Stage</a:t>
                      </a:r>
                      <a:endParaRPr sz="1050"/>
                    </a:p>
                  </a:txBody>
                  <a:tcPr marL="9525" marR="9525" marT="9525" marB="0" anchor="ctr"/>
                </a:tc>
              </a:tr>
              <a:tr h="170708">
                <a:tc>
                  <a:txBody>
                    <a:bodyPr wrap="square"/>
                    <a:lstStyle/>
                    <a:p>
                      <a:pPr algn="l"/>
                      <a:r>
                        <a:rPr sz="1050" b="0" i="0">
                          <a:solidFill>
                            <a:srgbClr val="000000"/>
                          </a:solidFill>
                          <a:latin typeface="Calibri"/>
                        </a:rPr>
                        <a:t>Table 291: ASEAN Industrial Air Compressor Market Value, 2021-2036 By End Use</a:t>
                      </a:r>
                      <a:endParaRPr sz="1050"/>
                    </a:p>
                  </a:txBody>
                  <a:tcPr marL="9525" marR="9525" marT="9525" marB="0" anchor="ctr"/>
                </a:tc>
              </a:tr>
              <a:tr h="170708">
                <a:tc>
                  <a:txBody>
                    <a:bodyPr wrap="square"/>
                    <a:lstStyle/>
                    <a:p>
                      <a:pPr algn="l"/>
                      <a:r>
                        <a:rPr sz="1050" b="0" i="0">
                          <a:solidFill>
                            <a:srgbClr val="000000"/>
                          </a:solidFill>
                          <a:latin typeface="Calibri"/>
                        </a:rPr>
                        <a:t>Table 292: ASEAN Industrial Air Compressor Market Volume, 2021-2036 By End Use</a:t>
                      </a:r>
                      <a:endParaRPr sz="1050"/>
                    </a:p>
                  </a:txBody>
                  <a:tcPr marL="9525" marR="9525" marT="9525" marB="0" anchor="ctr"/>
                </a:tc>
              </a:tr>
              <a:tr h="170708">
                <a:tc>
                  <a:txBody>
                    <a:bodyPr wrap="square"/>
                    <a:lstStyle/>
                    <a:p>
                      <a:pPr algn="l"/>
                      <a:r>
                        <a:rPr sz="1050" b="0" i="0">
                          <a:solidFill>
                            <a:srgbClr val="000000"/>
                          </a:solidFill>
                          <a:latin typeface="Calibri"/>
                        </a:rPr>
                        <a:t>Table 293: ASEAN Industrial Air Compressor Market Value, 2021-2036 By Driver Type</a:t>
                      </a:r>
                      <a:endParaRPr sz="1050"/>
                    </a:p>
                  </a:txBody>
                  <a:tcPr marL="9525" marR="9525" marT="9525" marB="0" anchor="ctr"/>
                </a:tc>
              </a:tr>
              <a:tr h="170708">
                <a:tc>
                  <a:txBody>
                    <a:bodyPr wrap="square"/>
                    <a:lstStyle/>
                    <a:p>
                      <a:pPr algn="l"/>
                      <a:r>
                        <a:rPr sz="1050" b="0" i="0">
                          <a:solidFill>
                            <a:srgbClr val="000000"/>
                          </a:solidFill>
                          <a:latin typeface="Calibri"/>
                        </a:rPr>
                        <a:t>Table 294: ASEAN Industrial Air Compressor Market Volume, 2021-2036 By Driver Type</a:t>
                      </a:r>
                      <a:endParaRPr sz="1050"/>
                    </a:p>
                  </a:txBody>
                  <a:tcPr marL="9525" marR="9525" marT="9525" marB="0" anchor="ctr"/>
                </a:tc>
              </a:tr>
              <a:tr h="334587">
                <a:tc>
                  <a:txBody>
                    <a:bodyPr wrap="square"/>
                    <a:lstStyle/>
                    <a:p>
                      <a:pPr algn="l"/>
                      <a:r>
                        <a:rPr sz="1050" b="0" i="0">
                          <a:solidFill>
                            <a:srgbClr val="000000"/>
                          </a:solidFill>
                          <a:latin typeface="Calibri"/>
                        </a:rPr>
                        <a:t>Table 295: Australia and New Zealand Industrial Air Compressor Market Value, 2021-2036 By Technology</a:t>
                      </a:r>
                      <a:endParaRPr sz="1050"/>
                    </a:p>
                  </a:txBody>
                  <a:tcPr marL="9525" marR="9525" marT="9525" marB="0" anchor="ctr"/>
                </a:tc>
              </a:tr>
              <a:tr h="334587">
                <a:tc>
                  <a:txBody>
                    <a:bodyPr wrap="square"/>
                    <a:lstStyle/>
                    <a:p>
                      <a:pPr algn="l"/>
                      <a:r>
                        <a:rPr sz="1050" b="0" i="0">
                          <a:solidFill>
                            <a:srgbClr val="000000"/>
                          </a:solidFill>
                          <a:latin typeface="Calibri"/>
                        </a:rPr>
                        <a:t>Table 296: Australia and New Zealand Industrial Air Compressor Market Volume, 2021-2036 By Technology</a:t>
                      </a:r>
                      <a:endParaRPr sz="1050"/>
                    </a:p>
                  </a:txBody>
                  <a:tcPr marL="9525" marR="9525" marT="9525" marB="0" anchor="ctr"/>
                </a:tc>
              </a:tr>
              <a:tr h="170708">
                <a:tc>
                  <a:txBody>
                    <a:bodyPr wrap="square"/>
                    <a:lstStyle/>
                    <a:p>
                      <a:pPr algn="l"/>
                      <a:r>
                        <a:rPr sz="1050" b="0" i="0">
                          <a:solidFill>
                            <a:srgbClr val="000000"/>
                          </a:solidFill>
                          <a:latin typeface="Calibri"/>
                        </a:rPr>
                        <a:t>Table 297: Australia and New Zealand Industrial Air Compressor Market Value, 2021-2036 By Capacity</a:t>
                      </a:r>
                      <a:endParaRPr sz="1050"/>
                    </a:p>
                  </a:txBody>
                  <a:tcPr marL="9525" marR="9525" marT="9525" marB="0" anchor="ctr"/>
                </a:tc>
              </a:tr>
              <a:tr h="334587">
                <a:tc>
                  <a:txBody>
                    <a:bodyPr wrap="square"/>
                    <a:lstStyle/>
                    <a:p>
                      <a:pPr algn="l"/>
                      <a:r>
                        <a:rPr sz="1050" b="0" i="0">
                          <a:solidFill>
                            <a:srgbClr val="000000"/>
                          </a:solidFill>
                          <a:latin typeface="Calibri"/>
                        </a:rPr>
                        <a:t>Table 298: Australia and New Zealand Industrial Air Compressor Market Volume, 2021-2036 By Capacity</a:t>
                      </a:r>
                      <a:endParaRPr sz="1050"/>
                    </a:p>
                  </a:txBody>
                  <a:tcPr marL="9525" marR="9525" marT="9525" marB="0" anchor="ctr"/>
                </a:tc>
              </a:tr>
              <a:tr h="334587">
                <a:tc>
                  <a:txBody>
                    <a:bodyPr wrap="square"/>
                    <a:lstStyle/>
                    <a:p>
                      <a:pPr algn="l"/>
                      <a:r>
                        <a:rPr sz="1050" b="0" i="0">
                          <a:solidFill>
                            <a:srgbClr val="000000"/>
                          </a:solidFill>
                          <a:latin typeface="Calibri"/>
                        </a:rPr>
                        <a:t>Table 299: Australia and New Zealand Industrial Air Compressor Market Value, 2021-2036 By Compression Stage</a:t>
                      </a:r>
                      <a:endParaRPr sz="1050"/>
                    </a:p>
                  </a:txBody>
                  <a:tcPr marL="9525" marR="9525" marT="9525" marB="0" anchor="ctr"/>
                </a:tc>
              </a:tr>
              <a:tr h="334587">
                <a:tc>
                  <a:txBody>
                    <a:bodyPr wrap="square"/>
                    <a:lstStyle/>
                    <a:p>
                      <a:pPr algn="l"/>
                      <a:r>
                        <a:rPr sz="1050" b="0" i="0">
                          <a:solidFill>
                            <a:srgbClr val="000000"/>
                          </a:solidFill>
                          <a:latin typeface="Calibri"/>
                        </a:rPr>
                        <a:t>Table 300: Australia and New Zealand Industrial Air Compressor Market Volume, 2021-2036 By Compression Stage</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(6/6)</a:t>
            </a:r>
          </a:p>
        </p:txBody>
      </p:sp>
      <p:graphicFrame>
        <p:nvGraphicFramePr>
          <p:cNvPr id="6" name="FMI Contents Table"/>
          <p:cNvGraphicFramePr>
            <a:graphicFrameLocks noGrp="1"/>
          </p:cNvGraphicFramePr>
          <p:nvPr/>
        </p:nvGraphicFramePr>
        <p:xfrm>
          <a:off x="142875" y="981075"/>
          <a:ext cx="5876925" cy="5257803"/>
        </p:xfrm>
        <a:graphic>
          <a:graphicData uri="http://schemas.openxmlformats.org/drawingml/2006/table">
            <a:tbl>
              <a:tblPr>
                <a:tableStyleId>{3B4B98B0-60AC-42C2-AFA5-B58CD77FA1E5}</a:tableStyleId>
              </a:tblPr>
              <a:tblGrid>
                <a:gridCol w="5876925"/>
              </a:tblGrid>
              <a:tr h="170708">
                <a:tc>
                  <a:txBody>
                    <a:bodyPr wrap="square"/>
                    <a:lstStyle/>
                    <a:p>
                      <a:pPr algn="l"/>
                      <a:r>
                        <a:rPr sz="1050" b="0" i="0">
                          <a:solidFill>
                            <a:srgbClr val="000000"/>
                          </a:solidFill>
                          <a:latin typeface="Calibri"/>
                        </a:rPr>
                        <a:t>Table 301: Australia and New Zealand Industrial Air Compressor Market Value, 2021-2036 By End Use</a:t>
                      </a:r>
                      <a:endParaRPr sz="1050"/>
                    </a:p>
                  </a:txBody>
                  <a:tcPr marL="9525" marR="9525" marT="9525" marB="0" anchor="ctr"/>
                </a:tc>
              </a:tr>
              <a:tr h="334587">
                <a:tc>
                  <a:txBody>
                    <a:bodyPr wrap="square"/>
                    <a:lstStyle/>
                    <a:p>
                      <a:pPr algn="l"/>
                      <a:r>
                        <a:rPr sz="1050" b="0" i="0">
                          <a:solidFill>
                            <a:srgbClr val="000000"/>
                          </a:solidFill>
                          <a:latin typeface="Calibri"/>
                        </a:rPr>
                        <a:t>Table 302: Australia and New Zealand Industrial Air Compressor Market Volume, 2021-2036 By End Use</a:t>
                      </a:r>
                      <a:endParaRPr sz="1050"/>
                    </a:p>
                  </a:txBody>
                  <a:tcPr marL="9525" marR="9525" marT="9525" marB="0" anchor="ctr"/>
                </a:tc>
              </a:tr>
              <a:tr h="334587">
                <a:tc>
                  <a:txBody>
                    <a:bodyPr wrap="square"/>
                    <a:lstStyle/>
                    <a:p>
                      <a:pPr algn="l"/>
                      <a:r>
                        <a:rPr sz="1050" b="0" i="0">
                          <a:solidFill>
                            <a:srgbClr val="000000"/>
                          </a:solidFill>
                          <a:latin typeface="Calibri"/>
                        </a:rPr>
                        <a:t>Table 303: Australia and New Zealand Industrial Air Compressor Market Value, 2021-2036 By Driver Type</a:t>
                      </a:r>
                      <a:endParaRPr sz="1050"/>
                    </a:p>
                  </a:txBody>
                  <a:tcPr marL="9525" marR="9525" marT="9525" marB="0" anchor="ctr"/>
                </a:tc>
              </a:tr>
              <a:tr h="334587">
                <a:tc>
                  <a:txBody>
                    <a:bodyPr wrap="square"/>
                    <a:lstStyle/>
                    <a:p>
                      <a:pPr algn="l"/>
                      <a:r>
                        <a:rPr sz="1050" b="0" i="0">
                          <a:solidFill>
                            <a:srgbClr val="000000"/>
                          </a:solidFill>
                          <a:latin typeface="Calibri"/>
                        </a:rPr>
                        <a:t>Table 304: Australia and New Zealand Industrial Air Compressor Market Volume, 2021-2036 By Driver Type</a:t>
                      </a:r>
                      <a:endParaRPr sz="1050"/>
                    </a:p>
                  </a:txBody>
                  <a:tcPr marL="9525" marR="9525" marT="9525" marB="0" anchor="ctr"/>
                </a:tc>
              </a:tr>
              <a:tr h="170708">
                <a:tc>
                  <a:txBody>
                    <a:bodyPr wrap="square"/>
                    <a:lstStyle/>
                    <a:p>
                      <a:pPr algn="l"/>
                      <a:r>
                        <a:rPr sz="1050" b="0" i="0">
                          <a:solidFill>
                            <a:srgbClr val="000000"/>
                          </a:solidFill>
                          <a:latin typeface="Calibri"/>
                        </a:rPr>
                        <a:t>Table 305: Middle East and Africa Industrial Air Compressor Market Value, 2021-2036 By Technology</a:t>
                      </a:r>
                      <a:endParaRPr sz="1050"/>
                    </a:p>
                  </a:txBody>
                  <a:tcPr marL="9525" marR="9525" marT="9525" marB="0" anchor="ctr"/>
                </a:tc>
              </a:tr>
              <a:tr h="170708">
                <a:tc>
                  <a:txBody>
                    <a:bodyPr wrap="square"/>
                    <a:lstStyle/>
                    <a:p>
                      <a:pPr algn="l"/>
                      <a:r>
                        <a:rPr sz="1050" b="0" i="0">
                          <a:solidFill>
                            <a:srgbClr val="000000"/>
                          </a:solidFill>
                          <a:latin typeface="Calibri"/>
                        </a:rPr>
                        <a:t>Table 306: Middle East and Africa Industrial Air Compressor Market Volume, 2021-2036 By Technology</a:t>
                      </a:r>
                      <a:endParaRPr sz="1050"/>
                    </a:p>
                  </a:txBody>
                  <a:tcPr marL="9525" marR="9525" marT="9525" marB="0" anchor="ctr"/>
                </a:tc>
              </a:tr>
              <a:tr h="170708">
                <a:tc>
                  <a:txBody>
                    <a:bodyPr wrap="square"/>
                    <a:lstStyle/>
                    <a:p>
                      <a:pPr algn="l"/>
                      <a:r>
                        <a:rPr sz="1050" b="0" i="0">
                          <a:solidFill>
                            <a:srgbClr val="000000"/>
                          </a:solidFill>
                          <a:latin typeface="Calibri"/>
                        </a:rPr>
                        <a:t>Table 307: Middle East and Africa Industrial Air Compressor Market Value, 2021-2036 By Capacity</a:t>
                      </a:r>
                      <a:endParaRPr sz="1050"/>
                    </a:p>
                  </a:txBody>
                  <a:tcPr marL="9525" marR="9525" marT="9525" marB="0" anchor="ctr"/>
                </a:tc>
              </a:tr>
              <a:tr h="170708">
                <a:tc>
                  <a:txBody>
                    <a:bodyPr wrap="square"/>
                    <a:lstStyle/>
                    <a:p>
                      <a:pPr algn="l"/>
                      <a:r>
                        <a:rPr sz="1050" b="0" i="0">
                          <a:solidFill>
                            <a:srgbClr val="000000"/>
                          </a:solidFill>
                          <a:latin typeface="Calibri"/>
                        </a:rPr>
                        <a:t>Table 308: Middle East and Africa Industrial Air Compressor Market Volume, 2021-2036 By Capacity</a:t>
                      </a:r>
                      <a:endParaRPr sz="1050"/>
                    </a:p>
                  </a:txBody>
                  <a:tcPr marL="9525" marR="9525" marT="9525" marB="0" anchor="ctr"/>
                </a:tc>
              </a:tr>
              <a:tr h="334587">
                <a:tc>
                  <a:txBody>
                    <a:bodyPr wrap="square"/>
                    <a:lstStyle/>
                    <a:p>
                      <a:pPr algn="l"/>
                      <a:r>
                        <a:rPr sz="1050" b="0" i="0">
                          <a:solidFill>
                            <a:srgbClr val="000000"/>
                          </a:solidFill>
                          <a:latin typeface="Calibri"/>
                        </a:rPr>
                        <a:t>Table 309: Middle East and Africa Industrial Air Compressor Market Value, 2021-2036 By Compression Stage</a:t>
                      </a:r>
                      <a:endParaRPr sz="1050"/>
                    </a:p>
                  </a:txBody>
                  <a:tcPr marL="9525" marR="9525" marT="9525" marB="0" anchor="ctr"/>
                </a:tc>
              </a:tr>
              <a:tr h="334587">
                <a:tc>
                  <a:txBody>
                    <a:bodyPr wrap="square"/>
                    <a:lstStyle/>
                    <a:p>
                      <a:pPr algn="l"/>
                      <a:r>
                        <a:rPr sz="1050" b="0" i="0">
                          <a:solidFill>
                            <a:srgbClr val="000000"/>
                          </a:solidFill>
                          <a:latin typeface="Calibri"/>
                        </a:rPr>
                        <a:t>Table 310: Middle East and Africa Industrial Air Compressor Market Volume, 2021-2036 By Compression Stage</a:t>
                      </a:r>
                      <a:endParaRPr sz="1050"/>
                    </a:p>
                  </a:txBody>
                  <a:tcPr marL="9525" marR="9525" marT="9525" marB="0" anchor="ctr"/>
                </a:tc>
              </a:tr>
              <a:tr h="170708">
                <a:tc>
                  <a:txBody>
                    <a:bodyPr wrap="square"/>
                    <a:lstStyle/>
                    <a:p>
                      <a:pPr algn="l"/>
                      <a:r>
                        <a:rPr sz="1050" b="0" i="0">
                          <a:solidFill>
                            <a:srgbClr val="000000"/>
                          </a:solidFill>
                          <a:latin typeface="Calibri"/>
                        </a:rPr>
                        <a:t>Table 311: Middle East and Africa Industrial Air Compressor Market Value, 2021-2036 By End Use</a:t>
                      </a:r>
                      <a:endParaRPr sz="1050"/>
                    </a:p>
                  </a:txBody>
                  <a:tcPr marL="9525" marR="9525" marT="9525" marB="0" anchor="ctr"/>
                </a:tc>
              </a:tr>
              <a:tr h="170708">
                <a:tc>
                  <a:txBody>
                    <a:bodyPr wrap="square"/>
                    <a:lstStyle/>
                    <a:p>
                      <a:pPr algn="l"/>
                      <a:r>
                        <a:rPr sz="1050" b="0" i="0">
                          <a:solidFill>
                            <a:srgbClr val="000000"/>
                          </a:solidFill>
                          <a:latin typeface="Calibri"/>
                        </a:rPr>
                        <a:t>Table 312: Middle East and Africa Industrial Air Compressor Market Volume, 2021-2036 By End Use</a:t>
                      </a:r>
                      <a:endParaRPr sz="1050"/>
                    </a:p>
                  </a:txBody>
                  <a:tcPr marL="9525" marR="9525" marT="9525" marB="0" anchor="ctr"/>
                </a:tc>
              </a:tr>
              <a:tr h="170708">
                <a:tc>
                  <a:txBody>
                    <a:bodyPr wrap="square"/>
                    <a:lstStyle/>
                    <a:p>
                      <a:pPr algn="l"/>
                      <a:r>
                        <a:rPr sz="1050" b="0" i="0">
                          <a:solidFill>
                            <a:srgbClr val="000000"/>
                          </a:solidFill>
                          <a:latin typeface="Calibri"/>
                        </a:rPr>
                        <a:t>Table 313: Middle East and Africa Industrial Air Compressor Market Value, 2021-2036 By Driver Type</a:t>
                      </a:r>
                      <a:endParaRPr sz="1050"/>
                    </a:p>
                  </a:txBody>
                  <a:tcPr marL="9525" marR="9525" marT="9525" marB="0" anchor="ctr"/>
                </a:tc>
              </a:tr>
              <a:tr h="170708">
                <a:tc>
                  <a:txBody>
                    <a:bodyPr wrap="square"/>
                    <a:lstStyle/>
                    <a:p>
                      <a:pPr algn="l"/>
                      <a:r>
                        <a:rPr sz="1050" b="0" i="0">
                          <a:solidFill>
                            <a:srgbClr val="000000"/>
                          </a:solidFill>
                          <a:latin typeface="Calibri"/>
                        </a:rPr>
                        <a:t>Table 314: Middle East and Africa Industrial Air Compressor Market Volume, 2021-2036 By Driver Type</a:t>
                      </a:r>
                      <a:endParaRPr sz="1050"/>
                    </a:p>
                  </a:txBody>
                  <a:tcPr marL="9525" marR="9525" marT="9525" marB="0" anchor="ctr"/>
                </a:tc>
              </a:tr>
              <a:tr h="170708">
                <a:tc>
                  <a:txBody>
                    <a:bodyPr wrap="square"/>
                    <a:lstStyle/>
                    <a:p>
                      <a:pPr algn="l"/>
                      <a:r>
                        <a:rPr sz="1050" b="0" i="0">
                          <a:solidFill>
                            <a:srgbClr val="000000"/>
                          </a:solidFill>
                          <a:latin typeface="Calibri"/>
                        </a:rPr>
                        <a:t>Table 315: Middle East and Africa Industrial Air Compressor Market Value, 2021-2036 By Country</a:t>
                      </a:r>
                      <a:endParaRPr sz="1050"/>
                    </a:p>
                  </a:txBody>
                  <a:tcPr marL="9525" marR="9525" marT="9525" marB="0" anchor="ctr"/>
                </a:tc>
              </a:tr>
              <a:tr h="170708">
                <a:tc>
                  <a:txBody>
                    <a:bodyPr wrap="square"/>
                    <a:lstStyle/>
                    <a:p>
                      <a:pPr algn="l"/>
                      <a:r>
                        <a:rPr sz="1050" b="0" i="0">
                          <a:solidFill>
                            <a:srgbClr val="000000"/>
                          </a:solidFill>
                          <a:latin typeface="Calibri"/>
                        </a:rPr>
                        <a:t>Table 316: Middle East and Africa Industrial Air Compressor Market Volume,2021-2036 By Country</a:t>
                      </a:r>
                      <a:endParaRPr sz="1050"/>
                    </a:p>
                  </a:txBody>
                  <a:tcPr marL="9525" marR="9525" marT="9525" marB="0" anchor="ctr"/>
                </a:tc>
              </a:tr>
              <a:tr h="170708">
                <a:tc>
                  <a:txBody>
                    <a:bodyPr wrap="square"/>
                    <a:lstStyle/>
                    <a:p>
                      <a:pPr algn="l"/>
                      <a:r>
                        <a:rPr sz="1050" b="0" i="0">
                          <a:solidFill>
                            <a:srgbClr val="000000"/>
                          </a:solidFill>
                          <a:latin typeface="Calibri"/>
                        </a:rPr>
                        <a:t>Table 317: GCC Countries Industrial Air Compressor Market Value, 2021-2036 By Technology</a:t>
                      </a:r>
                      <a:endParaRPr sz="1050"/>
                    </a:p>
                  </a:txBody>
                  <a:tcPr marL="9525" marR="9525" marT="9525" marB="0" anchor="ctr"/>
                </a:tc>
              </a:tr>
              <a:tr h="170708">
                <a:tc>
                  <a:txBody>
                    <a:bodyPr wrap="square"/>
                    <a:lstStyle/>
                    <a:p>
                      <a:pPr algn="l"/>
                      <a:r>
                        <a:rPr sz="1050" b="0" i="0">
                          <a:solidFill>
                            <a:srgbClr val="000000"/>
                          </a:solidFill>
                          <a:latin typeface="Calibri"/>
                        </a:rPr>
                        <a:t>Table 318: GCC Countries Industrial Air Compressor Market Volume, 2021-2036 By Technology</a:t>
                      </a:r>
                      <a:endParaRPr sz="1050"/>
                    </a:p>
                  </a:txBody>
                  <a:tcPr marL="9525" marR="9525" marT="9525" marB="0" anchor="ctr"/>
                </a:tc>
              </a:tr>
              <a:tr h="170708">
                <a:tc>
                  <a:txBody>
                    <a:bodyPr wrap="square"/>
                    <a:lstStyle/>
                    <a:p>
                      <a:pPr algn="l"/>
                      <a:r>
                        <a:rPr sz="1050" b="0" i="0">
                          <a:solidFill>
                            <a:srgbClr val="000000"/>
                          </a:solidFill>
                          <a:latin typeface="Calibri"/>
                        </a:rPr>
                        <a:t>Table 319: GCC Countries Industrial Air Compressor Market Value, 2021-2036 By Capacity</a:t>
                      </a:r>
                      <a:endParaRPr sz="1050"/>
                    </a:p>
                  </a:txBody>
                  <a:tcPr marL="9525" marR="9525" marT="9525" marB="0" anchor="ctr"/>
                </a:tc>
              </a:tr>
              <a:tr h="170708">
                <a:tc>
                  <a:txBody>
                    <a:bodyPr wrap="square"/>
                    <a:lstStyle/>
                    <a:p>
                      <a:pPr algn="l"/>
                      <a:r>
                        <a:rPr sz="1050" b="0" i="0">
                          <a:solidFill>
                            <a:srgbClr val="000000"/>
                          </a:solidFill>
                          <a:latin typeface="Calibri"/>
                        </a:rPr>
                        <a:t>Table 320: GCC Countries Industrial Air Compressor Market Volume, 2021-2036 By Capacity</a:t>
                      </a:r>
                      <a:endParaRPr sz="1050"/>
                    </a:p>
                  </a:txBody>
                  <a:tcPr marL="9525" marR="9525" marT="9525" marB="0" anchor="ctr"/>
                </a:tc>
              </a:tr>
              <a:tr h="170708">
                <a:tc>
                  <a:txBody>
                    <a:bodyPr wrap="square"/>
                    <a:lstStyle/>
                    <a:p>
                      <a:pPr algn="l"/>
                      <a:r>
                        <a:rPr sz="1050" b="0" i="0">
                          <a:solidFill>
                            <a:srgbClr val="000000"/>
                          </a:solidFill>
                          <a:latin typeface="Calibri"/>
                        </a:rPr>
                        <a:t>Table 321: GCC Countries Industrial Air Compressor Market Value, 2021-2036 By Compression Stage</a:t>
                      </a:r>
                      <a:endParaRPr sz="1050"/>
                    </a:p>
                  </a:txBody>
                  <a:tcPr marL="9525" marR="9525" marT="9525" marB="0" anchor="ctr"/>
                </a:tc>
              </a:tr>
              <a:tr h="170708">
                <a:tc>
                  <a:txBody>
                    <a:bodyPr wrap="square"/>
                    <a:lstStyle/>
                    <a:p>
                      <a:pPr algn="l"/>
                      <a:r>
                        <a:rPr sz="1050" b="0" i="0">
                          <a:solidFill>
                            <a:srgbClr val="000000"/>
                          </a:solidFill>
                          <a:latin typeface="Calibri"/>
                        </a:rPr>
                        <a:t>Table 322: GCC Countries Industrial Air Compressor Market Volume, 2021-2036 By Compression Stage</a:t>
                      </a:r>
                      <a:endParaRPr sz="1050"/>
                    </a:p>
                  </a:txBody>
                  <a:tcPr marL="9525" marR="9525" marT="9525" marB="0" anchor="ctr"/>
                </a:tc>
              </a:tr>
              <a:tr h="170708">
                <a:tc>
                  <a:txBody>
                    <a:bodyPr wrap="square"/>
                    <a:lstStyle/>
                    <a:p>
                      <a:pPr algn="l"/>
                      <a:r>
                        <a:rPr sz="1050" b="0" i="0">
                          <a:solidFill>
                            <a:srgbClr val="000000"/>
                          </a:solidFill>
                          <a:latin typeface="Calibri"/>
                        </a:rPr>
                        <a:t>Table 323: GCC Countries Industrial Air Compressor Market Value, 2021-2036 By End Use</a:t>
                      </a:r>
                      <a:endParaRPr sz="1050"/>
                    </a:p>
                  </a:txBody>
                  <a:tcPr marL="9525" marR="9525" marT="9525" marB="0" anchor="ctr"/>
                </a:tc>
              </a:tr>
              <a:tr h="170708">
                <a:tc>
                  <a:txBody>
                    <a:bodyPr wrap="square"/>
                    <a:lstStyle/>
                    <a:p>
                      <a:pPr algn="l"/>
                      <a:r>
                        <a:rPr sz="1050" b="0" i="0">
                          <a:solidFill>
                            <a:srgbClr val="000000"/>
                          </a:solidFill>
                          <a:latin typeface="Calibri"/>
                        </a:rPr>
                        <a:t>Table 324: GCC Countries Industrial Air Compressor Market Volume, 2021-2036 By End Use</a:t>
                      </a:r>
                      <a:endParaRPr sz="1050"/>
                    </a:p>
                  </a:txBody>
                  <a:tcPr marL="9525" marR="9525" marT="9525" marB="0" anchor="ctr"/>
                </a:tc>
              </a:tr>
              <a:tr h="170708">
                <a:tc>
                  <a:txBody>
                    <a:bodyPr wrap="square"/>
                    <a:lstStyle/>
                    <a:p>
                      <a:pPr algn="l"/>
                      <a:r>
                        <a:rPr sz="1050" b="0" i="0">
                          <a:solidFill>
                            <a:srgbClr val="000000"/>
                          </a:solidFill>
                          <a:latin typeface="Calibri"/>
                        </a:rPr>
                        <a:t>Table 325: GCC Countries Industrial Air Compressor Market Value, 2021-2036 By Driver Type</a:t>
                      </a:r>
                      <a:endParaRPr sz="1050"/>
                    </a:p>
                  </a:txBody>
                  <a:tcPr marL="9525" marR="9525" marT="9525" marB="0" anchor="ctr"/>
                </a:tc>
              </a:tr>
              <a:tr h="170708">
                <a:tc>
                  <a:txBody>
                    <a:bodyPr wrap="square"/>
                    <a:lstStyle/>
                    <a:p>
                      <a:pPr algn="l"/>
                      <a:r>
                        <a:rPr sz="1050" b="0" i="0">
                          <a:solidFill>
                            <a:srgbClr val="000000"/>
                          </a:solidFill>
                          <a:latin typeface="Calibri"/>
                        </a:rPr>
                        <a:t>Table 326: GCC Countries Industrial Air Compressor Market Volume, 2021-2036 By Driver Type</a:t>
                      </a:r>
                      <a:endParaRPr sz="1050"/>
                    </a:p>
                  </a:txBody>
                  <a:tcPr marL="9525" marR="9525" marT="9525" marB="0" anchor="ctr"/>
                </a:tc>
              </a:tr>
            </a:tbl>
          </a:graphicData>
        </a:graphic>
      </p:graphicFrame>
      <p:graphicFrame>
        <p:nvGraphicFramePr>
          <p:cNvPr id="7" name="FMI Contents Table"/>
          <p:cNvGraphicFramePr>
            <a:graphicFrameLocks noGrp="1"/>
          </p:cNvGraphicFramePr>
          <p:nvPr/>
        </p:nvGraphicFramePr>
        <p:xfrm>
          <a:off x="6172200" y="981075"/>
          <a:ext cx="5876925" cy="5160660"/>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Table 327: Turkiye Industrial Air Compressor Market Value, 2021-2036 By Technology</a:t>
                      </a:r>
                      <a:endParaRPr sz="1050"/>
                    </a:p>
                  </a:txBody>
                  <a:tcPr marL="9525" marR="9525" marT="9525" marB="0" anchor="ctr"/>
                </a:tc>
              </a:tr>
              <a:tr h="166688">
                <a:tc>
                  <a:txBody>
                    <a:bodyPr wrap="square"/>
                    <a:lstStyle/>
                    <a:p>
                      <a:pPr algn="l"/>
                      <a:r>
                        <a:rPr sz="1050" b="0" i="0">
                          <a:solidFill>
                            <a:srgbClr val="000000"/>
                          </a:solidFill>
                          <a:latin typeface="Calibri"/>
                        </a:rPr>
                        <a:t>Table 328: Turkiye Industrial Air Compressor Market Volume, 2021-2036 By Technology</a:t>
                      </a:r>
                      <a:endParaRPr sz="1050"/>
                    </a:p>
                  </a:txBody>
                  <a:tcPr marL="9525" marR="9525" marT="9525" marB="0" anchor="ctr"/>
                </a:tc>
              </a:tr>
              <a:tr h="166688">
                <a:tc>
                  <a:txBody>
                    <a:bodyPr wrap="square"/>
                    <a:lstStyle/>
                    <a:p>
                      <a:pPr algn="l"/>
                      <a:r>
                        <a:rPr sz="1050" b="0" i="0">
                          <a:solidFill>
                            <a:srgbClr val="000000"/>
                          </a:solidFill>
                          <a:latin typeface="Calibri"/>
                        </a:rPr>
                        <a:t>Table 329: Turkiye Industrial Air Compressor Market Value, 2021-2036 By Capacity</a:t>
                      </a:r>
                      <a:endParaRPr sz="1050"/>
                    </a:p>
                  </a:txBody>
                  <a:tcPr marL="9525" marR="9525" marT="9525" marB="0" anchor="ctr"/>
                </a:tc>
              </a:tr>
              <a:tr h="166688">
                <a:tc>
                  <a:txBody>
                    <a:bodyPr wrap="square"/>
                    <a:lstStyle/>
                    <a:p>
                      <a:pPr algn="l"/>
                      <a:r>
                        <a:rPr sz="1050" b="0" i="0">
                          <a:solidFill>
                            <a:srgbClr val="000000"/>
                          </a:solidFill>
                          <a:latin typeface="Calibri"/>
                        </a:rPr>
                        <a:t>Table 330: Turkiye Industrial Air Compressor Market Volume, 2021-2036 By Capacity</a:t>
                      </a:r>
                      <a:endParaRPr sz="1050"/>
                    </a:p>
                  </a:txBody>
                  <a:tcPr marL="9525" marR="9525" marT="9525" marB="0" anchor="ctr"/>
                </a:tc>
              </a:tr>
              <a:tr h="166688">
                <a:tc>
                  <a:txBody>
                    <a:bodyPr wrap="square"/>
                    <a:lstStyle/>
                    <a:p>
                      <a:pPr algn="l"/>
                      <a:r>
                        <a:rPr sz="1050" b="0" i="0">
                          <a:solidFill>
                            <a:srgbClr val="000000"/>
                          </a:solidFill>
                          <a:latin typeface="Calibri"/>
                        </a:rPr>
                        <a:t>Table 331: Turkiye Industrial Air Compressor Market Value, 2021-2036 By Compression Stage</a:t>
                      </a:r>
                      <a:endParaRPr sz="1050"/>
                    </a:p>
                  </a:txBody>
                  <a:tcPr marL="9525" marR="9525" marT="9525" marB="0" anchor="ctr"/>
                </a:tc>
              </a:tr>
              <a:tr h="166688">
                <a:tc>
                  <a:txBody>
                    <a:bodyPr wrap="square"/>
                    <a:lstStyle/>
                    <a:p>
                      <a:pPr algn="l"/>
                      <a:r>
                        <a:rPr sz="1050" b="0" i="0">
                          <a:solidFill>
                            <a:srgbClr val="000000"/>
                          </a:solidFill>
                          <a:latin typeface="Calibri"/>
                        </a:rPr>
                        <a:t>Table 332: Turkiye Industrial Air Compressor Market Volume, 2021-2036 By Compression Stage</a:t>
                      </a:r>
                      <a:endParaRPr sz="1050"/>
                    </a:p>
                  </a:txBody>
                  <a:tcPr marL="9525" marR="9525" marT="9525" marB="0" anchor="ctr"/>
                </a:tc>
              </a:tr>
              <a:tr h="166688">
                <a:tc>
                  <a:txBody>
                    <a:bodyPr wrap="square"/>
                    <a:lstStyle/>
                    <a:p>
                      <a:pPr algn="l"/>
                      <a:r>
                        <a:rPr sz="1050" b="0" i="0">
                          <a:solidFill>
                            <a:srgbClr val="000000"/>
                          </a:solidFill>
                          <a:latin typeface="Calibri"/>
                        </a:rPr>
                        <a:t>Table 333: Turkiye Industrial Air Compressor Market Value, 2021-2036 By End Use</a:t>
                      </a:r>
                      <a:endParaRPr sz="1050"/>
                    </a:p>
                  </a:txBody>
                  <a:tcPr marL="9525" marR="9525" marT="9525" marB="0" anchor="ctr"/>
                </a:tc>
              </a:tr>
              <a:tr h="166688">
                <a:tc>
                  <a:txBody>
                    <a:bodyPr wrap="square"/>
                    <a:lstStyle/>
                    <a:p>
                      <a:pPr algn="l"/>
                      <a:r>
                        <a:rPr sz="1050" b="0" i="0">
                          <a:solidFill>
                            <a:srgbClr val="000000"/>
                          </a:solidFill>
                          <a:latin typeface="Calibri"/>
                        </a:rPr>
                        <a:t>Table 334: Turkiye Industrial Air Compressor Market Volume, 2021-2036 By End Use</a:t>
                      </a:r>
                      <a:endParaRPr sz="1050"/>
                    </a:p>
                  </a:txBody>
                  <a:tcPr marL="9525" marR="9525" marT="9525" marB="0" anchor="ctr"/>
                </a:tc>
              </a:tr>
              <a:tr h="166688">
                <a:tc>
                  <a:txBody>
                    <a:bodyPr wrap="square"/>
                    <a:lstStyle/>
                    <a:p>
                      <a:pPr algn="l"/>
                      <a:r>
                        <a:rPr sz="1050" b="0" i="0">
                          <a:solidFill>
                            <a:srgbClr val="000000"/>
                          </a:solidFill>
                          <a:latin typeface="Calibri"/>
                        </a:rPr>
                        <a:t>Table 335: Turkiye Industrial Air Compressor Market Value, 2021-2036 By Driver Type</a:t>
                      </a:r>
                      <a:endParaRPr sz="1050"/>
                    </a:p>
                  </a:txBody>
                  <a:tcPr marL="9525" marR="9525" marT="9525" marB="0" anchor="ctr"/>
                </a:tc>
              </a:tr>
              <a:tr h="166688">
                <a:tc>
                  <a:txBody>
                    <a:bodyPr wrap="square"/>
                    <a:lstStyle/>
                    <a:p>
                      <a:pPr algn="l"/>
                      <a:r>
                        <a:rPr sz="1050" b="0" i="0">
                          <a:solidFill>
                            <a:srgbClr val="000000"/>
                          </a:solidFill>
                          <a:latin typeface="Calibri"/>
                        </a:rPr>
                        <a:t>Table 336: Turkiye Industrial Air Compressor Market Volume, 2021-2036 By Driver Type</a:t>
                      </a:r>
                      <a:endParaRPr sz="1050"/>
                    </a:p>
                  </a:txBody>
                  <a:tcPr marL="9525" marR="9525" marT="9525" marB="0" anchor="ctr"/>
                </a:tc>
              </a:tr>
              <a:tr h="166688">
                <a:tc>
                  <a:txBody>
                    <a:bodyPr wrap="square"/>
                    <a:lstStyle/>
                    <a:p>
                      <a:pPr algn="l"/>
                      <a:r>
                        <a:rPr sz="1050" b="0" i="0">
                          <a:solidFill>
                            <a:srgbClr val="000000"/>
                          </a:solidFill>
                          <a:latin typeface="Calibri"/>
                        </a:rPr>
                        <a:t>Table 337: Northern Africa Industrial Air Compressor Market Value, 2021-2036 By Technology</a:t>
                      </a:r>
                      <a:endParaRPr sz="1050"/>
                    </a:p>
                  </a:txBody>
                  <a:tcPr marL="9525" marR="9525" marT="9525" marB="0" anchor="ctr"/>
                </a:tc>
              </a:tr>
              <a:tr h="166688">
                <a:tc>
                  <a:txBody>
                    <a:bodyPr wrap="square"/>
                    <a:lstStyle/>
                    <a:p>
                      <a:pPr algn="l"/>
                      <a:r>
                        <a:rPr sz="1050" b="0" i="0">
                          <a:solidFill>
                            <a:srgbClr val="000000"/>
                          </a:solidFill>
                          <a:latin typeface="Calibri"/>
                        </a:rPr>
                        <a:t>Table 338: Northern Africa Industrial Air Compressor Market Volume, 2021-2036 By Technology</a:t>
                      </a:r>
                      <a:endParaRPr sz="1050"/>
                    </a:p>
                  </a:txBody>
                  <a:tcPr marL="9525" marR="9525" marT="9525" marB="0" anchor="ctr"/>
                </a:tc>
              </a:tr>
              <a:tr h="166688">
                <a:tc>
                  <a:txBody>
                    <a:bodyPr wrap="square"/>
                    <a:lstStyle/>
                    <a:p>
                      <a:pPr algn="l"/>
                      <a:r>
                        <a:rPr sz="1050" b="0" i="0">
                          <a:solidFill>
                            <a:srgbClr val="000000"/>
                          </a:solidFill>
                          <a:latin typeface="Calibri"/>
                        </a:rPr>
                        <a:t>Table 339: Northern Africa Industrial Air Compressor Market Value, 2021-2036 By Capacity</a:t>
                      </a:r>
                      <a:endParaRPr sz="1050"/>
                    </a:p>
                  </a:txBody>
                  <a:tcPr marL="9525" marR="9525" marT="9525" marB="0" anchor="ctr"/>
                </a:tc>
              </a:tr>
              <a:tr h="166688">
                <a:tc>
                  <a:txBody>
                    <a:bodyPr wrap="square"/>
                    <a:lstStyle/>
                    <a:p>
                      <a:pPr algn="l"/>
                      <a:r>
                        <a:rPr sz="1050" b="0" i="0">
                          <a:solidFill>
                            <a:srgbClr val="000000"/>
                          </a:solidFill>
                          <a:latin typeface="Calibri"/>
                        </a:rPr>
                        <a:t>Table 340: Northern Africa Industrial Air Compressor Market Volume, 2021-2036 By Capacity</a:t>
                      </a:r>
                      <a:endParaRPr sz="1050"/>
                    </a:p>
                  </a:txBody>
                  <a:tcPr marL="9525" marR="9525" marT="9525" marB="0" anchor="ctr"/>
                </a:tc>
              </a:tr>
              <a:tr h="166688">
                <a:tc>
                  <a:txBody>
                    <a:bodyPr wrap="square"/>
                    <a:lstStyle/>
                    <a:p>
                      <a:pPr algn="l"/>
                      <a:r>
                        <a:rPr sz="1050" b="0" i="0">
                          <a:solidFill>
                            <a:srgbClr val="000000"/>
                          </a:solidFill>
                          <a:latin typeface="Calibri"/>
                        </a:rPr>
                        <a:t>Table 341: Northern Africa Industrial Air Compressor Market Value, 2021-2036 By Compression Stage</a:t>
                      </a:r>
                      <a:endParaRPr sz="1050"/>
                    </a:p>
                  </a:txBody>
                  <a:tcPr marL="9525" marR="9525" marT="9525" marB="0" anchor="ctr"/>
                </a:tc>
              </a:tr>
              <a:tr h="326708">
                <a:tc>
                  <a:txBody>
                    <a:bodyPr wrap="square"/>
                    <a:lstStyle/>
                    <a:p>
                      <a:pPr algn="l"/>
                      <a:r>
                        <a:rPr sz="1050" b="0" i="0">
                          <a:solidFill>
                            <a:srgbClr val="000000"/>
                          </a:solidFill>
                          <a:latin typeface="Calibri"/>
                        </a:rPr>
                        <a:t>Table 342: Northern Africa Industrial Air Compressor Market Volume, 2021-2036 By Compression Stage</a:t>
                      </a:r>
                      <a:endParaRPr sz="1050"/>
                    </a:p>
                  </a:txBody>
                  <a:tcPr marL="9525" marR="9525" marT="9525" marB="0" anchor="ctr"/>
                </a:tc>
              </a:tr>
              <a:tr h="166688">
                <a:tc>
                  <a:txBody>
                    <a:bodyPr wrap="square"/>
                    <a:lstStyle/>
                    <a:p>
                      <a:pPr algn="l"/>
                      <a:r>
                        <a:rPr sz="1050" b="0" i="0">
                          <a:solidFill>
                            <a:srgbClr val="000000"/>
                          </a:solidFill>
                          <a:latin typeface="Calibri"/>
                        </a:rPr>
                        <a:t>Table 343: Northern Africa Industrial Air Compressor Market Value, 2021-2036 By End Use</a:t>
                      </a:r>
                      <a:endParaRPr sz="1050"/>
                    </a:p>
                  </a:txBody>
                  <a:tcPr marL="9525" marR="9525" marT="9525" marB="0" anchor="ctr"/>
                </a:tc>
              </a:tr>
              <a:tr h="166688">
                <a:tc>
                  <a:txBody>
                    <a:bodyPr wrap="square"/>
                    <a:lstStyle/>
                    <a:p>
                      <a:pPr algn="l"/>
                      <a:r>
                        <a:rPr sz="1050" b="0" i="0">
                          <a:solidFill>
                            <a:srgbClr val="000000"/>
                          </a:solidFill>
                          <a:latin typeface="Calibri"/>
                        </a:rPr>
                        <a:t>Table 344: Northern Africa Industrial Air Compressor Market Volume, 2021-2036 By End Use</a:t>
                      </a:r>
                      <a:endParaRPr sz="1050"/>
                    </a:p>
                  </a:txBody>
                  <a:tcPr marL="9525" marR="9525" marT="9525" marB="0" anchor="ctr"/>
                </a:tc>
              </a:tr>
              <a:tr h="166688">
                <a:tc>
                  <a:txBody>
                    <a:bodyPr wrap="square"/>
                    <a:lstStyle/>
                    <a:p>
                      <a:pPr algn="l"/>
                      <a:r>
                        <a:rPr sz="1050" b="0" i="0">
                          <a:solidFill>
                            <a:srgbClr val="000000"/>
                          </a:solidFill>
                          <a:latin typeface="Calibri"/>
                        </a:rPr>
                        <a:t>Table 345: Northern Africa Industrial Air Compressor Market Value, 2021-2036 By Driver Type</a:t>
                      </a:r>
                      <a:endParaRPr sz="1050"/>
                    </a:p>
                  </a:txBody>
                  <a:tcPr marL="9525" marR="9525" marT="9525" marB="0" anchor="ctr"/>
                </a:tc>
              </a:tr>
              <a:tr h="166688">
                <a:tc>
                  <a:txBody>
                    <a:bodyPr wrap="square"/>
                    <a:lstStyle/>
                    <a:p>
                      <a:pPr algn="l"/>
                      <a:r>
                        <a:rPr sz="1050" b="0" i="0">
                          <a:solidFill>
                            <a:srgbClr val="000000"/>
                          </a:solidFill>
                          <a:latin typeface="Calibri"/>
                        </a:rPr>
                        <a:t>Table 346: Northern Africa Industrial Air Compressor Market Volume, 2021-2036 By Driver Type</a:t>
                      </a:r>
                      <a:endParaRPr sz="1050"/>
                    </a:p>
                  </a:txBody>
                  <a:tcPr marL="9525" marR="9525" marT="9525" marB="0" anchor="ctr"/>
                </a:tc>
              </a:tr>
              <a:tr h="166688">
                <a:tc>
                  <a:txBody>
                    <a:bodyPr wrap="square"/>
                    <a:lstStyle/>
                    <a:p>
                      <a:pPr algn="l"/>
                      <a:r>
                        <a:rPr sz="1050" b="0" i="0">
                          <a:solidFill>
                            <a:srgbClr val="000000"/>
                          </a:solidFill>
                          <a:latin typeface="Calibri"/>
                        </a:rPr>
                        <a:t>Table 347: South Africa Industrial Air Compressor Market Value, 2021-2036 By Technology</a:t>
                      </a:r>
                      <a:endParaRPr sz="1050"/>
                    </a:p>
                  </a:txBody>
                  <a:tcPr marL="9525" marR="9525" marT="9525" marB="0" anchor="ctr"/>
                </a:tc>
              </a:tr>
              <a:tr h="166688">
                <a:tc>
                  <a:txBody>
                    <a:bodyPr wrap="square"/>
                    <a:lstStyle/>
                    <a:p>
                      <a:pPr algn="l"/>
                      <a:r>
                        <a:rPr sz="1050" b="0" i="0">
                          <a:solidFill>
                            <a:srgbClr val="000000"/>
                          </a:solidFill>
                          <a:latin typeface="Calibri"/>
                        </a:rPr>
                        <a:t>Table 348: South Africa Industrial Air Compressor Market Volume, 2021-2036 By Technology</a:t>
                      </a:r>
                      <a:endParaRPr sz="1050"/>
                    </a:p>
                  </a:txBody>
                  <a:tcPr marL="9525" marR="9525" marT="9525" marB="0" anchor="ctr"/>
                </a:tc>
              </a:tr>
              <a:tr h="166688">
                <a:tc>
                  <a:txBody>
                    <a:bodyPr wrap="square"/>
                    <a:lstStyle/>
                    <a:p>
                      <a:pPr algn="l"/>
                      <a:r>
                        <a:rPr sz="1050" b="0" i="0">
                          <a:solidFill>
                            <a:srgbClr val="000000"/>
                          </a:solidFill>
                          <a:latin typeface="Calibri"/>
                        </a:rPr>
                        <a:t>Table 349: South Africa Industrial Air Compressor Market Value, 2021-2036 By Capacity</a:t>
                      </a:r>
                      <a:endParaRPr sz="1050"/>
                    </a:p>
                  </a:txBody>
                  <a:tcPr marL="9525" marR="9525" marT="9525" marB="0" anchor="ctr"/>
                </a:tc>
              </a:tr>
              <a:tr h="166688">
                <a:tc>
                  <a:txBody>
                    <a:bodyPr wrap="square"/>
                    <a:lstStyle/>
                    <a:p>
                      <a:pPr algn="l"/>
                      <a:r>
                        <a:rPr sz="1050" b="0" i="0">
                          <a:solidFill>
                            <a:srgbClr val="000000"/>
                          </a:solidFill>
                          <a:latin typeface="Calibri"/>
                        </a:rPr>
                        <a:t>Table 350: South Africa Industrial Air Compressor Market Volume, 2021-2036 By Capacity</a:t>
                      </a:r>
                      <a:endParaRPr sz="1050"/>
                    </a:p>
                  </a:txBody>
                  <a:tcPr marL="9525" marR="9525" marT="9525" marB="0" anchor="ctr"/>
                </a:tc>
              </a:tr>
              <a:tr h="166688">
                <a:tc>
                  <a:txBody>
                    <a:bodyPr wrap="square"/>
                    <a:lstStyle/>
                    <a:p>
                      <a:pPr algn="l"/>
                      <a:r>
                        <a:rPr sz="1050" b="0" i="0">
                          <a:solidFill>
                            <a:srgbClr val="000000"/>
                          </a:solidFill>
                          <a:latin typeface="Calibri"/>
                        </a:rPr>
                        <a:t>Table 351: South Africa Industrial Air Compressor Market Value, 2021-2036 By Compression Stage</a:t>
                      </a:r>
                      <a:endParaRPr sz="1050"/>
                    </a:p>
                  </a:txBody>
                  <a:tcPr marL="9525" marR="9525" marT="9525" marB="0" anchor="ctr"/>
                </a:tc>
              </a:tr>
              <a:tr h="166688">
                <a:tc>
                  <a:txBody>
                    <a:bodyPr wrap="square"/>
                    <a:lstStyle/>
                    <a:p>
                      <a:pPr algn="l"/>
                      <a:r>
                        <a:rPr sz="1050" b="0" i="0">
                          <a:solidFill>
                            <a:srgbClr val="000000"/>
                          </a:solidFill>
                          <a:latin typeface="Calibri"/>
                        </a:rPr>
                        <a:t>Table 352: South Africa Industrial Air Compressor Market Volume, 2021-2036 By Compression Stage</a:t>
                      </a:r>
                      <a:endParaRPr sz="1050"/>
                    </a:p>
                  </a:txBody>
                  <a:tcPr marL="9525" marR="9525" marT="9525" marB="0" anchor="ctr"/>
                </a:tc>
              </a:tr>
              <a:tr h="166688">
                <a:tc>
                  <a:txBody>
                    <a:bodyPr wrap="square"/>
                    <a:lstStyle/>
                    <a:p>
                      <a:pPr algn="l"/>
                      <a:r>
                        <a:rPr sz="1050" b="0" i="0">
                          <a:solidFill>
                            <a:srgbClr val="000000"/>
                          </a:solidFill>
                          <a:latin typeface="Calibri"/>
                        </a:rPr>
                        <a:t>Table 353: South Africa Industrial Air Compressor Market Value, 2021-2036 By End Use</a:t>
                      </a:r>
                      <a:endParaRPr sz="1050"/>
                    </a:p>
                  </a:txBody>
                  <a:tcPr marL="9525" marR="9525" marT="9525" marB="0" anchor="ctr"/>
                </a:tc>
              </a:tr>
              <a:tr h="166688">
                <a:tc>
                  <a:txBody>
                    <a:bodyPr wrap="square"/>
                    <a:lstStyle/>
                    <a:p>
                      <a:pPr algn="l"/>
                      <a:r>
                        <a:rPr sz="1050" b="0" i="0">
                          <a:solidFill>
                            <a:srgbClr val="000000"/>
                          </a:solidFill>
                          <a:latin typeface="Calibri"/>
                        </a:rPr>
                        <a:t>Table 354: South Africa Industrial Air Compressor Market Volume, 2021-2036 By End Use</a:t>
                      </a:r>
                      <a:endParaRPr sz="1050"/>
                    </a:p>
                  </a:txBody>
                  <a:tcPr marL="9525" marR="9525" marT="9525" marB="0" anchor="ctr"/>
                </a:tc>
              </a:tr>
              <a:tr h="166688">
                <a:tc>
                  <a:txBody>
                    <a:bodyPr wrap="square"/>
                    <a:lstStyle/>
                    <a:p>
                      <a:pPr algn="l"/>
                      <a:r>
                        <a:rPr sz="1050" b="0" i="0">
                          <a:solidFill>
                            <a:srgbClr val="000000"/>
                          </a:solidFill>
                          <a:latin typeface="Calibri"/>
                        </a:rPr>
                        <a:t>Table 355: South Africa Industrial Air Compressor Market Value, 2021-2036 By Driver Type</a:t>
                      </a:r>
                      <a:endParaRPr sz="1050"/>
                    </a:p>
                  </a:txBody>
                  <a:tcPr marL="9525" marR="9525" marT="9525" marB="0" anchor="ctr"/>
                </a:tc>
              </a:tr>
              <a:tr h="166688">
                <a:tc>
                  <a:txBody>
                    <a:bodyPr wrap="square"/>
                    <a:lstStyle/>
                    <a:p>
                      <a:pPr algn="l"/>
                      <a:r>
                        <a:rPr sz="1050" b="0" i="0">
                          <a:solidFill>
                            <a:srgbClr val="000000"/>
                          </a:solidFill>
                          <a:latin typeface="Calibri"/>
                        </a:rPr>
                        <a:t>Table 356: South Africa Industrial Air Compressor Market Volume, 2021-2036 By End Use</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2311400"/>
            <a:ext cx="7239000" cy="247650"/>
          </a:xfrm>
          <a:prstGeom prst="rect">
            <a:avLst/>
          </a:prstGeom>
          <a:noFill/>
        </p:spPr>
        <p:txBody>
          <a:bodyPr wrap="none" lIns="0" tIns="0">
            <a:spAutoFit/>
          </a:bodyPr>
          <a:lstStyle/>
          <a:p>
            <a:r>
              <a:rPr sz="1400" b="0">
                <a:solidFill>
                  <a:srgbClr val="8FC8F2"/>
                </a:solidFill>
                <a:latin typeface="Calibri"/>
              </a:rPr>
              <a:t>Industrial Air Compressor Market</a:t>
            </a:r>
          </a:p>
        </p:txBody>
      </p:sp>
      <p:sp>
        <p:nvSpPr>
          <p:cNvPr id="6" name="FMI Breaker Title"/>
          <p:cNvSpPr txBox="1"/>
          <p:nvPr/>
        </p:nvSpPr>
        <p:spPr>
          <a:xfrm>
            <a:off x="914400" y="2616200"/>
            <a:ext cx="7239000" cy="514350"/>
          </a:xfrm>
          <a:prstGeom prst="rect">
            <a:avLst/>
          </a:prstGeom>
          <a:noFill/>
        </p:spPr>
        <p:txBody>
          <a:bodyPr wrap="square" lIns="0" rIns="0" tIns="0">
            <a:spAutoFit/>
          </a:bodyPr>
          <a:lstStyle/>
          <a:p>
            <a:r>
              <a:rPr sz="3000" b="1" cap="all" spc="400">
                <a:solidFill>
                  <a:srgbClr val="FFFFFF"/>
                </a:solidFill>
                <a:latin typeface="Calibri"/>
              </a:rPr>
              <a:t>Global Market Outlook</a:t>
            </a:r>
          </a:p>
        </p:txBody>
      </p:sp>
      <p:sp>
        <p:nvSpPr>
          <p:cNvPr id="7" name="TextBox 6"/>
          <p:cNvSpPr txBox="1"/>
          <p:nvPr/>
        </p:nvSpPr>
        <p:spPr>
          <a:xfrm>
            <a:off x="914400" y="3321050"/>
            <a:ext cx="7124700" cy="265430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Region</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Technology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Capacity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Compression Stage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End Use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Driver Type</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5</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Global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Summary, By Volume (Units)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volume growth, incremental opportunity and the geographies driving it, 2021–2036</a:t>
            </a:r>
          </a:p>
        </p:txBody>
      </p:sp>
      <p:sp>
        <p:nvSpPr>
          <p:cNvPr id="7" name="Rounded Rectangle 6"/>
          <p:cNvSpPr/>
          <p:nvPr/>
        </p:nvSpPr>
        <p:spPr>
          <a:xfrm>
            <a:off x="142875"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(UNITS)</a:t>
            </a:r>
          </a:p>
          <a:p>
            <a:pPr algn="ctr">
              <a:lnSpc>
                <a:spcPct val="95000"/>
              </a:lnSpc>
            </a:pPr>
            <a:r>
              <a:rPr sz="1500" b="1">
                <a:solidFill>
                  <a:srgbClr val="2A5F8F"/>
                </a:solidFill>
                <a:latin typeface="Calibri"/>
              </a:rPr>
              <a:t> </a:t>
            </a:r>
          </a:p>
        </p:txBody>
      </p:sp>
      <p:sp>
        <p:nvSpPr>
          <p:cNvPr id="8" name="Rounded Rectangle 7"/>
          <p:cNvSpPr/>
          <p:nvPr/>
        </p:nvSpPr>
        <p:spPr>
          <a:xfrm>
            <a:off x="31432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(UNITS)</a:t>
            </a:r>
          </a:p>
          <a:p>
            <a:pPr algn="ctr">
              <a:lnSpc>
                <a:spcPct val="95000"/>
              </a:lnSpc>
            </a:pPr>
            <a:r>
              <a:rPr sz="1500" b="1">
                <a:solidFill>
                  <a:srgbClr val="2A5F8F"/>
                </a:solidFill>
                <a:latin typeface="Calibri"/>
              </a:rPr>
              <a:t> </a:t>
            </a:r>
          </a:p>
        </p:txBody>
      </p:sp>
      <p:sp>
        <p:nvSpPr>
          <p:cNvPr id="9" name="Rounded Rectangle 8"/>
          <p:cNvSpPr/>
          <p:nvPr/>
        </p:nvSpPr>
        <p:spPr>
          <a:xfrm>
            <a:off x="61531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2A5F8F"/>
                </a:solidFill>
                <a:latin typeface="Calibri"/>
              </a:rPr>
              <a:t> </a:t>
            </a:r>
          </a:p>
        </p:txBody>
      </p:sp>
      <p:sp>
        <p:nvSpPr>
          <p:cNvPr id="10" name="Rounded Rectangle 9"/>
          <p:cNvSpPr/>
          <p:nvPr/>
        </p:nvSpPr>
        <p:spPr>
          <a:xfrm>
            <a:off x="91630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627887"/>
            <a:ext cx="769620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3" name="Chart 12"/>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4037375"/>
            <a:ext cx="769620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(Units)</a:t>
            </a:r>
          </a:p>
        </p:txBody>
      </p:sp>
      <p:graphicFrame>
        <p:nvGraphicFramePr>
          <p:cNvPr id="16" name="Chart 15"/>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7" name="Rounded Rectangle 16"/>
          <p:cNvSpPr/>
          <p:nvPr/>
        </p:nvSpPr>
        <p:spPr>
          <a:xfrm>
            <a:off x="7915275" y="1627887"/>
            <a:ext cx="413385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9" name="Rectangle 18"/>
          <p:cNvSpPr/>
          <p:nvPr/>
        </p:nvSpPr>
        <p:spPr>
          <a:xfrm>
            <a:off x="8048625" y="1951737"/>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1" name="Rounded Rectangle 20"/>
          <p:cNvSpPr/>
          <p:nvPr/>
        </p:nvSpPr>
        <p:spPr>
          <a:xfrm>
            <a:off x="7915275" y="4037375"/>
            <a:ext cx="413385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E2A5C"/>
                </a:solidFill>
                <a:latin typeface="Calibri"/>
              </a:rPr>
              <a:t>Growth Drivers</a:t>
            </a:r>
          </a:p>
        </p:txBody>
      </p:sp>
      <p:sp>
        <p:nvSpPr>
          <p:cNvPr id="23" name="Rectangle 22"/>
          <p:cNvSpPr/>
          <p:nvPr/>
        </p:nvSpPr>
        <p:spPr>
          <a:xfrm>
            <a:off x="8048625" y="436122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5" name="Rectangle 2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644825" cy="186689"/>
          </a:xfrm>
          <a:prstGeom prst="rect">
            <a:avLst/>
          </a:prstGeom>
          <a:noFill/>
        </p:spPr>
        <p:txBody>
          <a:bodyPr wrap="none" lIns="0" rIns="0" tIns="0" bIns="0">
            <a:spAutoFit/>
          </a:bodyPr>
          <a:lstStyle/>
          <a:p>
            <a:r>
              <a:rPr sz="1100" b="0">
                <a:solidFill>
                  <a:srgbClr val="2E2E2E"/>
                </a:solidFill>
                <a:latin typeface="Calibri"/>
              </a:rPr>
              <a:t>Global industrial air compressor market is projected to register</a:t>
            </a:r>
          </a:p>
        </p:txBody>
      </p:sp>
      <p:pic>
        <p:nvPicPr>
          <p:cNvPr id="33" name="Picture 32" descr="lock.png"/>
          <p:cNvPicPr>
            <a:picLocks noChangeAspect="1"/>
          </p:cNvPicPr>
          <p:nvPr/>
        </p:nvPicPr>
        <p:blipFill>
          <a:blip r:embed="rId6"/>
          <a:stretch>
            <a:fillRect/>
          </a:stretch>
        </p:blipFill>
        <p:spPr>
          <a:xfrm>
            <a:off x="8035157" y="2204848"/>
            <a:ext cx="128699" cy="187198"/>
          </a:xfrm>
          <a:prstGeom prst="rect">
            <a:avLst/>
          </a:prstGeom>
        </p:spPr>
      </p:pic>
      <p:sp>
        <p:nvSpPr>
          <p:cNvPr id="34" name="TextBox 33"/>
          <p:cNvSpPr txBox="1"/>
          <p:nvPr/>
        </p:nvSpPr>
        <p:spPr>
          <a:xfrm>
            <a:off x="8202653" y="2214627"/>
            <a:ext cx="3314948"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 2036.</a:t>
            </a:r>
          </a:p>
        </p:txBody>
      </p:sp>
      <p:sp>
        <p:nvSpPr>
          <p:cNvPr id="35" name="TextBox 34"/>
          <p:cNvSpPr txBox="1"/>
          <p:nvPr/>
        </p:nvSpPr>
        <p:spPr>
          <a:xfrm>
            <a:off x="8048625" y="2382267"/>
            <a:ext cx="3280841" cy="186689"/>
          </a:xfrm>
          <a:prstGeom prst="rect">
            <a:avLst/>
          </a:prstGeom>
          <a:noFill/>
        </p:spPr>
        <p:txBody>
          <a:bodyPr wrap="none" lIns="0" rIns="0" tIns="0" bIns="0">
            <a:spAutoFit/>
          </a:bodyPr>
          <a:lstStyle/>
          <a:p>
            <a:r>
              <a:rPr sz="1100" b="0">
                <a:solidFill>
                  <a:srgbClr val="2E2E2E"/>
                </a:solidFill>
                <a:latin typeface="Calibri"/>
              </a:rPr>
              <a:t>Global industrial air compressor market volume stood at</a:t>
            </a:r>
          </a:p>
        </p:txBody>
      </p:sp>
      <p:pic>
        <p:nvPicPr>
          <p:cNvPr id="36" name="Picture 35" descr="lock.png"/>
          <p:cNvPicPr>
            <a:picLocks noChangeAspect="1"/>
          </p:cNvPicPr>
          <p:nvPr/>
        </p:nvPicPr>
        <p:blipFill>
          <a:blip r:embed="rId6"/>
          <a:stretch>
            <a:fillRect/>
          </a:stretch>
        </p:blipFill>
        <p:spPr>
          <a:xfrm>
            <a:off x="11277518" y="2372488"/>
            <a:ext cx="128699" cy="187198"/>
          </a:xfrm>
          <a:prstGeom prst="rect">
            <a:avLst/>
          </a:prstGeom>
        </p:spPr>
      </p:pic>
      <p:sp>
        <p:nvSpPr>
          <p:cNvPr id="37" name="TextBox 36"/>
          <p:cNvSpPr txBox="1"/>
          <p:nvPr/>
        </p:nvSpPr>
        <p:spPr>
          <a:xfrm>
            <a:off x="11445014" y="2382267"/>
            <a:ext cx="373062" cy="186689"/>
          </a:xfrm>
          <a:prstGeom prst="rect">
            <a:avLst/>
          </a:prstGeom>
          <a:noFill/>
        </p:spPr>
        <p:txBody>
          <a:bodyPr wrap="none" lIns="0" rIns="0" tIns="0" bIns="0">
            <a:spAutoFit/>
          </a:bodyPr>
          <a:lstStyle/>
          <a:p>
            <a:r>
              <a:rPr sz="1100" b="0">
                <a:solidFill>
                  <a:srgbClr val="2E2E2E"/>
                </a:solidFill>
                <a:latin typeface="Calibri"/>
              </a:rPr>
              <a:t>Units</a:t>
            </a:r>
          </a:p>
        </p:txBody>
      </p:sp>
      <p:sp>
        <p:nvSpPr>
          <p:cNvPr id="38" name="TextBox 37"/>
          <p:cNvSpPr txBox="1"/>
          <p:nvPr/>
        </p:nvSpPr>
        <p:spPr>
          <a:xfrm>
            <a:off x="8048625" y="2549907"/>
            <a:ext cx="1916583" cy="186689"/>
          </a:xfrm>
          <a:prstGeom prst="rect">
            <a:avLst/>
          </a:prstGeom>
          <a:noFill/>
        </p:spPr>
        <p:txBody>
          <a:bodyPr wrap="none" lIns="0" rIns="0" tIns="0" bIns="0">
            <a:spAutoFit/>
          </a:bodyPr>
          <a:lstStyle/>
          <a:p>
            <a:r>
              <a:rPr sz="1100" b="0">
                <a:solidFill>
                  <a:srgbClr val="2E2E2E"/>
                </a:solidFill>
                <a:latin typeface="Calibri"/>
              </a:rPr>
              <a:t>in 2025 and is expected to reach</a:t>
            </a:r>
          </a:p>
        </p:txBody>
      </p:sp>
      <p:pic>
        <p:nvPicPr>
          <p:cNvPr id="39" name="Picture 38" descr="lock.png"/>
          <p:cNvPicPr>
            <a:picLocks noChangeAspect="1"/>
          </p:cNvPicPr>
          <p:nvPr/>
        </p:nvPicPr>
        <p:blipFill>
          <a:blip r:embed="rId6"/>
          <a:stretch>
            <a:fillRect/>
          </a:stretch>
        </p:blipFill>
        <p:spPr>
          <a:xfrm>
            <a:off x="9913260" y="2540128"/>
            <a:ext cx="128699" cy="187198"/>
          </a:xfrm>
          <a:prstGeom prst="rect">
            <a:avLst/>
          </a:prstGeom>
        </p:spPr>
      </p:pic>
      <p:sp>
        <p:nvSpPr>
          <p:cNvPr id="40" name="TextBox 39"/>
          <p:cNvSpPr txBox="1"/>
          <p:nvPr/>
        </p:nvSpPr>
        <p:spPr>
          <a:xfrm>
            <a:off x="10080756" y="2549907"/>
            <a:ext cx="1734574" cy="186689"/>
          </a:xfrm>
          <a:prstGeom prst="rect">
            <a:avLst/>
          </a:prstGeom>
          <a:noFill/>
        </p:spPr>
        <p:txBody>
          <a:bodyPr wrap="none" lIns="0" rIns="0" tIns="0" bIns="0">
            <a:spAutoFit/>
          </a:bodyPr>
          <a:lstStyle/>
          <a:p>
            <a:r>
              <a:rPr sz="1100" b="0">
                <a:solidFill>
                  <a:srgbClr val="2E2E2E"/>
                </a:solidFill>
                <a:latin typeface="Calibri"/>
              </a:rPr>
              <a:t>Units by 2036 end, at a CAGR</a:t>
            </a:r>
          </a:p>
        </p:txBody>
      </p:sp>
      <p:sp>
        <p:nvSpPr>
          <p:cNvPr id="41" name="TextBox 40"/>
          <p:cNvSpPr txBox="1"/>
          <p:nvPr/>
        </p:nvSpPr>
        <p:spPr>
          <a:xfrm>
            <a:off x="8048625" y="271754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42" name="Picture 41" descr="lock.png"/>
          <p:cNvPicPr>
            <a:picLocks noChangeAspect="1"/>
          </p:cNvPicPr>
          <p:nvPr/>
        </p:nvPicPr>
        <p:blipFill>
          <a:blip r:embed="rId6"/>
          <a:stretch>
            <a:fillRect/>
          </a:stretch>
        </p:blipFill>
        <p:spPr>
          <a:xfrm>
            <a:off x="8189111" y="2707768"/>
            <a:ext cx="128699" cy="187198"/>
          </a:xfrm>
          <a:prstGeom prst="rect">
            <a:avLst/>
          </a:prstGeom>
        </p:spPr>
      </p:pic>
      <p:sp>
        <p:nvSpPr>
          <p:cNvPr id="43" name="TextBox 42"/>
          <p:cNvSpPr txBox="1"/>
          <p:nvPr/>
        </p:nvSpPr>
        <p:spPr>
          <a:xfrm>
            <a:off x="8356607"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4" name="TextBox 43"/>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5" name="TextBox 44"/>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6" name="TextBox 45"/>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7" name="Picture 46" descr="lock.png"/>
          <p:cNvPicPr>
            <a:picLocks noChangeAspect="1"/>
          </p:cNvPicPr>
          <p:nvPr/>
        </p:nvPicPr>
        <p:blipFill>
          <a:blip r:embed="rId6"/>
          <a:stretch>
            <a:fillRect/>
          </a:stretch>
        </p:blipFill>
        <p:spPr>
          <a:xfrm>
            <a:off x="10866614" y="4446251"/>
            <a:ext cx="134549" cy="195707"/>
          </a:xfrm>
          <a:prstGeom prst="rect">
            <a:avLst/>
          </a:prstGeom>
        </p:spPr>
      </p:pic>
      <p:sp>
        <p:nvSpPr>
          <p:cNvPr id="48" name="TextBox 47"/>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49" name="TextBox 48"/>
          <p:cNvSpPr txBox="1"/>
          <p:nvPr/>
        </p:nvSpPr>
        <p:spPr>
          <a:xfrm>
            <a:off x="8048625" y="4684312"/>
            <a:ext cx="3394843" cy="194310"/>
          </a:xfrm>
          <a:prstGeom prst="rect">
            <a:avLst/>
          </a:prstGeom>
          <a:noFill/>
        </p:spPr>
        <p:txBody>
          <a:bodyPr wrap="none" lIns="0" rIns="0" tIns="0" bIns="0">
            <a:spAutoFit/>
          </a:bodyPr>
          <a:lstStyle/>
          <a:p>
            <a:r>
              <a:rPr sz="1150" b="0">
                <a:solidFill>
                  <a:srgbClr val="2E2E2E"/>
                </a:solidFill>
                <a:latin typeface="Calibri"/>
              </a:rPr>
              <a:t>▪ Demand concentrates in 'Scroll Air Compressor' within</a:t>
            </a:r>
          </a:p>
        </p:txBody>
      </p:sp>
      <p:sp>
        <p:nvSpPr>
          <p:cNvPr id="50" name="TextBox 49"/>
          <p:cNvSpPr txBox="1"/>
          <p:nvPr/>
        </p:nvSpPr>
        <p:spPr>
          <a:xfrm>
            <a:off x="8048625" y="4859572"/>
            <a:ext cx="795039" cy="194310"/>
          </a:xfrm>
          <a:prstGeom prst="rect">
            <a:avLst/>
          </a:prstGeom>
          <a:noFill/>
        </p:spPr>
        <p:txBody>
          <a:bodyPr wrap="none" lIns="0" rIns="0" tIns="0" bIns="0">
            <a:spAutoFit/>
          </a:bodyPr>
          <a:lstStyle/>
          <a:p>
            <a:r>
              <a:rPr sz="1150" b="0">
                <a:solidFill>
                  <a:srgbClr val="2E2E2E"/>
                </a:solidFill>
                <a:latin typeface="Calibri"/>
              </a:rPr>
              <a:t>Technology.</a:t>
            </a:r>
          </a:p>
        </p:txBody>
      </p:sp>
      <p:sp>
        <p:nvSpPr>
          <p:cNvPr id="51" name="TextBox 50"/>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2" name="TextBox 51"/>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3" name="lockshield_13"/>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lockshield_16"/>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Pricing &amp; Regional Price Index</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region, highlighting where pricing power sits</a:t>
            </a:r>
          </a:p>
        </p:txBody>
      </p:sp>
      <p:sp>
        <p:nvSpPr>
          <p:cNvPr id="7" name="Rounded Rectangle 6"/>
          <p:cNvSpPr/>
          <p:nvPr/>
        </p:nvSpPr>
        <p:spPr>
          <a:xfrm>
            <a:off x="142875" y="1052895"/>
            <a:ext cx="7696200" cy="2665040"/>
          </a:xfrm>
          <a:prstGeom prst="roundRect">
            <a:avLst>
              <a:gd name="adj" fmla="val 28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Technology  ·  range across 2021–2036 (US$/Units)</a:t>
            </a:r>
          </a:p>
        </p:txBody>
      </p:sp>
      <p:cxnSp>
        <p:nvCxnSpPr>
          <p:cNvPr id="9" name="Connector 8"/>
          <p:cNvCxnSpPr/>
          <p:nvPr/>
        </p:nvCxnSpPr>
        <p:spPr>
          <a:xfrm>
            <a:off x="657225" y="326835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57225" y="281450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7225" y="236065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190679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452945"/>
            <a:ext cx="0" cy="181541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28650" y="326835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8650" y="281450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236065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19067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0" name="FMI Scale tick"/>
          <p:cNvSpPr txBox="1"/>
          <p:nvPr/>
        </p:nvSpPr>
        <p:spPr>
          <a:xfrm>
            <a:off x="219075" y="320168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1" name="FMI Scale tick"/>
          <p:cNvSpPr txBox="1"/>
          <p:nvPr/>
        </p:nvSpPr>
        <p:spPr>
          <a:xfrm>
            <a:off x="219075" y="2293975"/>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2" name="FMI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3" name="Connector 22"/>
          <p:cNvCxnSpPr/>
          <p:nvPr/>
        </p:nvCxnSpPr>
        <p:spPr>
          <a:xfrm flipV="1">
            <a:off x="1241425" y="1662416"/>
            <a:ext cx="0" cy="8663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09980" y="174905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109980" y="166241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022350" y="1679426"/>
            <a:ext cx="438150" cy="43452"/>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1022350" y="1699625"/>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57225" y="1510016"/>
            <a:ext cx="11684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29" name="Connector 28"/>
          <p:cNvCxnSpPr/>
          <p:nvPr/>
        </p:nvCxnSpPr>
        <p:spPr>
          <a:xfrm flipV="1">
            <a:off x="2409825" y="2964251"/>
            <a:ext cx="0" cy="9463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278380" y="305888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278380" y="296425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2190750" y="2985235"/>
            <a:ext cx="438150" cy="47447"/>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2190750" y="3008088"/>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825625" y="2811851"/>
            <a:ext cx="11684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35" name="Connector 34"/>
          <p:cNvCxnSpPr/>
          <p:nvPr/>
        </p:nvCxnSpPr>
        <p:spPr>
          <a:xfrm flipV="1">
            <a:off x="3578225" y="1822183"/>
            <a:ext cx="0" cy="8414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446780" y="190632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446780" y="182218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3359150" y="1839269"/>
            <a:ext cx="438150" cy="42221"/>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3359150" y="1859089"/>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2994025" y="1669783"/>
            <a:ext cx="11684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41" name="Connector 40"/>
          <p:cNvCxnSpPr/>
          <p:nvPr/>
        </p:nvCxnSpPr>
        <p:spPr>
          <a:xfrm flipV="1">
            <a:off x="4746625" y="2895440"/>
            <a:ext cx="0" cy="8122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615180" y="297666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615180" y="289544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4527550" y="2912937"/>
            <a:ext cx="438150" cy="40712"/>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4527550" y="2932373"/>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162425" y="2743040"/>
            <a:ext cx="11684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47" name="Connector 46"/>
          <p:cNvCxnSpPr/>
          <p:nvPr/>
        </p:nvCxnSpPr>
        <p:spPr>
          <a:xfrm flipV="1">
            <a:off x="5915025" y="2862454"/>
            <a:ext cx="0" cy="7228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783580" y="293473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783580" y="286245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5695950" y="2878063"/>
            <a:ext cx="438150" cy="36243"/>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5695950" y="2895380"/>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330825" y="2710054"/>
            <a:ext cx="11684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53" name="Connector 52"/>
          <p:cNvCxnSpPr/>
          <p:nvPr/>
        </p:nvCxnSpPr>
        <p:spPr>
          <a:xfrm flipV="1">
            <a:off x="7083425" y="2074964"/>
            <a:ext cx="0" cy="9162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951980" y="216659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951980" y="207496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6864350" y="2095586"/>
            <a:ext cx="438150" cy="45934"/>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6864350" y="2117808"/>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499225" y="1922564"/>
            <a:ext cx="11684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59" name="TextBox 58"/>
          <p:cNvSpPr txBox="1"/>
          <p:nvPr/>
        </p:nvSpPr>
        <p:spPr>
          <a:xfrm>
            <a:off x="6572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Screw Air Compressor</a:t>
            </a:r>
          </a:p>
        </p:txBody>
      </p:sp>
      <p:sp>
        <p:nvSpPr>
          <p:cNvPr id="60" name="TextBox 59"/>
          <p:cNvSpPr txBox="1"/>
          <p:nvPr/>
        </p:nvSpPr>
        <p:spPr>
          <a:xfrm>
            <a:off x="18256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Reciprocating (Piston…</a:t>
            </a:r>
          </a:p>
        </p:txBody>
      </p:sp>
      <p:sp>
        <p:nvSpPr>
          <p:cNvPr id="61" name="TextBox 60"/>
          <p:cNvSpPr txBox="1"/>
          <p:nvPr/>
        </p:nvSpPr>
        <p:spPr>
          <a:xfrm>
            <a:off x="29940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Centrifugal Air Compr…</a:t>
            </a:r>
          </a:p>
        </p:txBody>
      </p:sp>
      <p:sp>
        <p:nvSpPr>
          <p:cNvPr id="62" name="TextBox 61"/>
          <p:cNvSpPr txBox="1"/>
          <p:nvPr/>
        </p:nvSpPr>
        <p:spPr>
          <a:xfrm>
            <a:off x="41624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Axial Air Compressor</a:t>
            </a:r>
          </a:p>
        </p:txBody>
      </p:sp>
      <p:sp>
        <p:nvSpPr>
          <p:cNvPr id="63" name="TextBox 62"/>
          <p:cNvSpPr txBox="1"/>
          <p:nvPr/>
        </p:nvSpPr>
        <p:spPr>
          <a:xfrm>
            <a:off x="53308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Vane Air Compressor</a:t>
            </a:r>
          </a:p>
        </p:txBody>
      </p:sp>
      <p:sp>
        <p:nvSpPr>
          <p:cNvPr id="64" name="TextBox 63"/>
          <p:cNvSpPr txBox="1"/>
          <p:nvPr/>
        </p:nvSpPr>
        <p:spPr>
          <a:xfrm>
            <a:off x="64992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Scroll Air Compressor</a:t>
            </a:r>
          </a:p>
        </p:txBody>
      </p:sp>
      <p:sp>
        <p:nvSpPr>
          <p:cNvPr id="65" name="Rounded Rectangle 64"/>
          <p:cNvSpPr/>
          <p:nvPr/>
        </p:nvSpPr>
        <p:spPr>
          <a:xfrm>
            <a:off x="142875" y="3772696"/>
            <a:ext cx="7696200" cy="2783689"/>
          </a:xfrm>
          <a:prstGeom prst="roundRect">
            <a:avLst>
              <a:gd name="adj" fmla="val 273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  2026–2036</a:t>
            </a:r>
          </a:p>
        </p:txBody>
      </p:sp>
      <p:cxnSp>
        <p:nvCxnSpPr>
          <p:cNvPr id="67" name="Connector 66"/>
          <p:cNvCxnSpPr/>
          <p:nvPr/>
        </p:nvCxnSpPr>
        <p:spPr>
          <a:xfrm>
            <a:off x="619125" y="431708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19125" y="472842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19125" y="555112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19125" y="596247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19125" y="4317081"/>
            <a:ext cx="0" cy="164539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590550" y="431708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590550" y="472842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590550" y="51397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590550" y="555112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590550" y="596247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78" name="FMI Scale tick"/>
          <p:cNvSpPr txBox="1"/>
          <p:nvPr/>
        </p:nvSpPr>
        <p:spPr>
          <a:xfrm>
            <a:off x="219075" y="4250406"/>
            <a:ext cx="361950" cy="133350"/>
          </a:xfrm>
          <a:prstGeom prst="rect">
            <a:avLst/>
          </a:prstGeom>
          <a:noFill/>
        </p:spPr>
        <p:txBody>
          <a:bodyPr wrap="none" lIns="0" rIns="0" tIns="0" bIns="0" anchor="ctr">
            <a:spAutoFit/>
          </a:bodyPr>
          <a:lstStyle/>
          <a:p>
            <a:pPr algn="r"/>
            <a:r>
              <a:rPr sz="1100" b="0">
                <a:solidFill>
                  <a:srgbClr val="6C7A89"/>
                </a:solidFill>
                <a:latin typeface="Calibri"/>
              </a:rPr>
              <a:t>+56%</a:t>
            </a:r>
          </a:p>
        </p:txBody>
      </p:sp>
      <p:sp>
        <p:nvSpPr>
          <p:cNvPr id="79" name="FMI Scale tick"/>
          <p:cNvSpPr txBox="1"/>
          <p:nvPr/>
        </p:nvSpPr>
        <p:spPr>
          <a:xfrm>
            <a:off x="219075" y="4661753"/>
            <a:ext cx="361950" cy="133350"/>
          </a:xfrm>
          <a:prstGeom prst="rect">
            <a:avLst/>
          </a:prstGeom>
          <a:noFill/>
        </p:spPr>
        <p:txBody>
          <a:bodyPr wrap="none" lIns="0" rIns="0" tIns="0" bIns="0" anchor="ctr">
            <a:spAutoFit/>
          </a:bodyPr>
          <a:lstStyle/>
          <a:p>
            <a:pPr algn="r"/>
            <a:r>
              <a:rPr sz="1100" b="0">
                <a:solidFill>
                  <a:srgbClr val="6C7A89"/>
                </a:solidFill>
                <a:latin typeface="Calibri"/>
              </a:rPr>
              <a:t>+28%</a:t>
            </a:r>
          </a:p>
        </p:txBody>
      </p:sp>
      <p:sp>
        <p:nvSpPr>
          <p:cNvPr id="80" name="FMI Scale tick"/>
          <p:cNvSpPr txBox="1"/>
          <p:nvPr/>
        </p:nvSpPr>
        <p:spPr>
          <a:xfrm>
            <a:off x="107156" y="5073101"/>
            <a:ext cx="473869" cy="133350"/>
          </a:xfrm>
          <a:prstGeom prst="rect">
            <a:avLst/>
          </a:prstGeom>
          <a:noFill/>
        </p:spPr>
        <p:txBody>
          <a:bodyPr wrap="square" lIns="28575" rIns="28575" tIns="9525" bIns="9525" anchor="ctr">
            <a:spAutoFit/>
          </a:bodyPr>
          <a:lstStyle/>
          <a:p>
            <a:pPr algn="r"/>
            <a:r>
              <a:rPr sz="1100" b="1">
                <a:solidFill>
                  <a:srgbClr val="6C7A89"/>
                </a:solidFill>
                <a:latin typeface="Calibri"/>
              </a:rPr>
              <a:t>Global</a:t>
            </a:r>
          </a:p>
        </p:txBody>
      </p:sp>
      <p:sp>
        <p:nvSpPr>
          <p:cNvPr id="81" name="FMI Scale tick"/>
          <p:cNvSpPr txBox="1"/>
          <p:nvPr/>
        </p:nvSpPr>
        <p:spPr>
          <a:xfrm>
            <a:off x="219075" y="5484448"/>
            <a:ext cx="361950" cy="133350"/>
          </a:xfrm>
          <a:prstGeom prst="rect">
            <a:avLst/>
          </a:prstGeom>
          <a:noFill/>
        </p:spPr>
        <p:txBody>
          <a:bodyPr wrap="none" lIns="0" rIns="0" tIns="0" bIns="0" anchor="ctr">
            <a:spAutoFit/>
          </a:bodyPr>
          <a:lstStyle/>
          <a:p>
            <a:pPr algn="r"/>
            <a:r>
              <a:rPr sz="1100" b="0">
                <a:solidFill>
                  <a:srgbClr val="6C7A89"/>
                </a:solidFill>
                <a:latin typeface="Calibri"/>
              </a:rPr>
              <a:t>-28%</a:t>
            </a:r>
          </a:p>
        </p:txBody>
      </p:sp>
      <p:sp>
        <p:nvSpPr>
          <p:cNvPr id="82" name="FMI Scale tick"/>
          <p:cNvSpPr txBox="1"/>
          <p:nvPr/>
        </p:nvSpPr>
        <p:spPr>
          <a:xfrm>
            <a:off x="219075" y="5895796"/>
            <a:ext cx="361950" cy="133350"/>
          </a:xfrm>
          <a:prstGeom prst="rect">
            <a:avLst/>
          </a:prstGeom>
          <a:noFill/>
        </p:spPr>
        <p:txBody>
          <a:bodyPr wrap="none" lIns="0" rIns="0" tIns="0" bIns="0" anchor="ctr">
            <a:spAutoFit/>
          </a:bodyPr>
          <a:lstStyle/>
          <a:p>
            <a:pPr algn="r"/>
            <a:r>
              <a:rPr sz="1100" b="0">
                <a:solidFill>
                  <a:srgbClr val="6C7A89"/>
                </a:solidFill>
                <a:latin typeface="Calibri"/>
              </a:rPr>
              <a:t>-56%</a:t>
            </a:r>
          </a:p>
        </p:txBody>
      </p:sp>
      <p:cxnSp>
        <p:nvCxnSpPr>
          <p:cNvPr id="83" name="Connector 82"/>
          <p:cNvCxnSpPr/>
          <p:nvPr/>
        </p:nvCxnSpPr>
        <p:spPr>
          <a:xfrm>
            <a:off x="619125" y="513977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893989" y="4423458"/>
            <a:ext cx="457200" cy="71631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MI Data Label"/>
          <p:cNvSpPr txBox="1"/>
          <p:nvPr/>
        </p:nvSpPr>
        <p:spPr>
          <a:xfrm>
            <a:off x="619125" y="4280583"/>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6" name="Rectangle 85"/>
          <p:cNvSpPr/>
          <p:nvPr/>
        </p:nvSpPr>
        <p:spPr>
          <a:xfrm>
            <a:off x="1900918" y="5103163"/>
            <a:ext cx="457200" cy="3661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MI Data Label"/>
          <p:cNvSpPr txBox="1"/>
          <p:nvPr/>
        </p:nvSpPr>
        <p:spPr>
          <a:xfrm>
            <a:off x="1626054" y="4960288"/>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8" name="Rectangle 87"/>
          <p:cNvSpPr/>
          <p:nvPr/>
        </p:nvSpPr>
        <p:spPr>
          <a:xfrm>
            <a:off x="2907846" y="5139776"/>
            <a:ext cx="457200" cy="412685"/>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MI Data Label"/>
          <p:cNvSpPr txBox="1"/>
          <p:nvPr/>
        </p:nvSpPr>
        <p:spPr>
          <a:xfrm>
            <a:off x="2632982" y="5561985"/>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0" name="Rectangle 89"/>
          <p:cNvSpPr/>
          <p:nvPr/>
        </p:nvSpPr>
        <p:spPr>
          <a:xfrm>
            <a:off x="3914775" y="5139776"/>
            <a:ext cx="457200" cy="528830"/>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MI Data Label"/>
          <p:cNvSpPr txBox="1"/>
          <p:nvPr/>
        </p:nvSpPr>
        <p:spPr>
          <a:xfrm>
            <a:off x="3639911" y="5678131"/>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2" name="Rectangle 91"/>
          <p:cNvSpPr/>
          <p:nvPr/>
        </p:nvSpPr>
        <p:spPr>
          <a:xfrm>
            <a:off x="4921704" y="4590074"/>
            <a:ext cx="457200" cy="54970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MI Data Label"/>
          <p:cNvSpPr txBox="1"/>
          <p:nvPr/>
        </p:nvSpPr>
        <p:spPr>
          <a:xfrm>
            <a:off x="4646839" y="4447199"/>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4" name="Rectangle 93"/>
          <p:cNvSpPr/>
          <p:nvPr/>
        </p:nvSpPr>
        <p:spPr>
          <a:xfrm>
            <a:off x="5928632" y="4944313"/>
            <a:ext cx="457200" cy="195463"/>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FMI Data Label"/>
          <p:cNvSpPr txBox="1"/>
          <p:nvPr/>
        </p:nvSpPr>
        <p:spPr>
          <a:xfrm>
            <a:off x="5653768" y="4801438"/>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6" name="Rectangle 95"/>
          <p:cNvSpPr/>
          <p:nvPr/>
        </p:nvSpPr>
        <p:spPr>
          <a:xfrm>
            <a:off x="6935561" y="5139776"/>
            <a:ext cx="457200" cy="60032"/>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FMI Data Label"/>
          <p:cNvSpPr txBox="1"/>
          <p:nvPr/>
        </p:nvSpPr>
        <p:spPr>
          <a:xfrm>
            <a:off x="6660696" y="5209333"/>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8" name="TextBox 97"/>
          <p:cNvSpPr txBox="1"/>
          <p:nvPr/>
        </p:nvSpPr>
        <p:spPr>
          <a:xfrm>
            <a:off x="619125"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99" name="TextBox 98"/>
          <p:cNvSpPr txBox="1"/>
          <p:nvPr/>
        </p:nvSpPr>
        <p:spPr>
          <a:xfrm>
            <a:off x="1626054"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100" name="TextBox 99"/>
          <p:cNvSpPr txBox="1"/>
          <p:nvPr/>
        </p:nvSpPr>
        <p:spPr>
          <a:xfrm>
            <a:off x="2632982"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101" name="TextBox 100"/>
          <p:cNvSpPr txBox="1"/>
          <p:nvPr/>
        </p:nvSpPr>
        <p:spPr>
          <a:xfrm>
            <a:off x="3639911"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102" name="TextBox 101"/>
          <p:cNvSpPr txBox="1"/>
          <p:nvPr/>
        </p:nvSpPr>
        <p:spPr>
          <a:xfrm>
            <a:off x="4646839"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Western Europe</a:t>
            </a:r>
          </a:p>
        </p:txBody>
      </p:sp>
      <p:sp>
        <p:nvSpPr>
          <p:cNvPr id="103" name="TextBox 102"/>
          <p:cNvSpPr txBox="1"/>
          <p:nvPr/>
        </p:nvSpPr>
        <p:spPr>
          <a:xfrm>
            <a:off x="5653768"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Eastern Europe</a:t>
            </a:r>
          </a:p>
        </p:txBody>
      </p:sp>
      <p:sp>
        <p:nvSpPr>
          <p:cNvPr id="104" name="TextBox 103"/>
          <p:cNvSpPr txBox="1"/>
          <p:nvPr/>
        </p:nvSpPr>
        <p:spPr>
          <a:xfrm>
            <a:off x="6660696"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105" name="Rounded Rectangle 104"/>
          <p:cNvSpPr/>
          <p:nvPr/>
        </p:nvSpPr>
        <p:spPr>
          <a:xfrm>
            <a:off x="7915275" y="1052895"/>
            <a:ext cx="4133850" cy="5503490"/>
          </a:xfrm>
          <a:prstGeom prst="roundRect">
            <a:avLst>
              <a:gd name="adj" fmla="val 1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107" name="Rectangle 106"/>
          <p:cNvSpPr/>
          <p:nvPr/>
        </p:nvSpPr>
        <p:spPr>
          <a:xfrm>
            <a:off x="8048625" y="137674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09" name="Rectangle 10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11" name="Picture 110" descr="lock.png"/>
          <p:cNvPicPr>
            <a:picLocks noChangeAspect="1"/>
          </p:cNvPicPr>
          <p:nvPr/>
        </p:nvPicPr>
        <p:blipFill>
          <a:blip r:embed="rId4"/>
          <a:stretch>
            <a:fillRect/>
          </a:stretch>
        </p:blipFill>
        <p:spPr>
          <a:xfrm>
            <a:off x="1177075" y="1483092"/>
            <a:ext cx="128699" cy="187198"/>
          </a:xfrm>
          <a:prstGeom prst="rect">
            <a:avLst/>
          </a:prstGeom>
        </p:spPr>
      </p:pic>
      <p:pic>
        <p:nvPicPr>
          <p:cNvPr id="112" name="Picture 111" descr="lock.png"/>
          <p:cNvPicPr>
            <a:picLocks noChangeAspect="1"/>
          </p:cNvPicPr>
          <p:nvPr/>
        </p:nvPicPr>
        <p:blipFill>
          <a:blip r:embed="rId4"/>
          <a:stretch>
            <a:fillRect/>
          </a:stretch>
        </p:blipFill>
        <p:spPr>
          <a:xfrm>
            <a:off x="2345475" y="2784927"/>
            <a:ext cx="128699" cy="187198"/>
          </a:xfrm>
          <a:prstGeom prst="rect">
            <a:avLst/>
          </a:prstGeom>
        </p:spPr>
      </p:pic>
      <p:pic>
        <p:nvPicPr>
          <p:cNvPr id="113" name="Picture 112" descr="lock.png"/>
          <p:cNvPicPr>
            <a:picLocks noChangeAspect="1"/>
          </p:cNvPicPr>
          <p:nvPr/>
        </p:nvPicPr>
        <p:blipFill>
          <a:blip r:embed="rId4"/>
          <a:stretch>
            <a:fillRect/>
          </a:stretch>
        </p:blipFill>
        <p:spPr>
          <a:xfrm>
            <a:off x="3513875" y="1642859"/>
            <a:ext cx="128699" cy="187198"/>
          </a:xfrm>
          <a:prstGeom prst="rect">
            <a:avLst/>
          </a:prstGeom>
        </p:spPr>
      </p:pic>
      <p:pic>
        <p:nvPicPr>
          <p:cNvPr id="114" name="Picture 113" descr="lock.png"/>
          <p:cNvPicPr>
            <a:picLocks noChangeAspect="1"/>
          </p:cNvPicPr>
          <p:nvPr/>
        </p:nvPicPr>
        <p:blipFill>
          <a:blip r:embed="rId4"/>
          <a:stretch>
            <a:fillRect/>
          </a:stretch>
        </p:blipFill>
        <p:spPr>
          <a:xfrm>
            <a:off x="4682275" y="2716116"/>
            <a:ext cx="128699" cy="187198"/>
          </a:xfrm>
          <a:prstGeom prst="rect">
            <a:avLst/>
          </a:prstGeom>
        </p:spPr>
      </p:pic>
      <p:pic>
        <p:nvPicPr>
          <p:cNvPr id="115" name="Picture 114" descr="lock.png"/>
          <p:cNvPicPr>
            <a:picLocks noChangeAspect="1"/>
          </p:cNvPicPr>
          <p:nvPr/>
        </p:nvPicPr>
        <p:blipFill>
          <a:blip r:embed="rId4"/>
          <a:stretch>
            <a:fillRect/>
          </a:stretch>
        </p:blipFill>
        <p:spPr>
          <a:xfrm>
            <a:off x="5850675" y="2683130"/>
            <a:ext cx="128699" cy="187198"/>
          </a:xfrm>
          <a:prstGeom prst="rect">
            <a:avLst/>
          </a:prstGeom>
        </p:spPr>
      </p:pic>
      <p:pic>
        <p:nvPicPr>
          <p:cNvPr id="116" name="Picture 115" descr="lock.png"/>
          <p:cNvPicPr>
            <a:picLocks noChangeAspect="1"/>
          </p:cNvPicPr>
          <p:nvPr/>
        </p:nvPicPr>
        <p:blipFill>
          <a:blip r:embed="rId4"/>
          <a:stretch>
            <a:fillRect/>
          </a:stretch>
        </p:blipFill>
        <p:spPr>
          <a:xfrm>
            <a:off x="7019075" y="1895640"/>
            <a:ext cx="128699" cy="187198"/>
          </a:xfrm>
          <a:prstGeom prst="rect">
            <a:avLst/>
          </a:prstGeom>
        </p:spPr>
      </p:pic>
      <p:pic>
        <p:nvPicPr>
          <p:cNvPr id="117" name="Picture 116" descr="lock.png"/>
          <p:cNvPicPr>
            <a:picLocks noChangeAspect="1"/>
          </p:cNvPicPr>
          <p:nvPr/>
        </p:nvPicPr>
        <p:blipFill>
          <a:blip r:embed="rId4"/>
          <a:stretch>
            <a:fillRect/>
          </a:stretch>
        </p:blipFill>
        <p:spPr>
          <a:xfrm>
            <a:off x="1058240" y="4253659"/>
            <a:ext cx="128699" cy="187198"/>
          </a:xfrm>
          <a:prstGeom prst="rect">
            <a:avLst/>
          </a:prstGeom>
        </p:spPr>
      </p:pic>
      <p:pic>
        <p:nvPicPr>
          <p:cNvPr id="118" name="Picture 117" descr="lock.png"/>
          <p:cNvPicPr>
            <a:picLocks noChangeAspect="1"/>
          </p:cNvPicPr>
          <p:nvPr/>
        </p:nvPicPr>
        <p:blipFill>
          <a:blip r:embed="rId4"/>
          <a:stretch>
            <a:fillRect/>
          </a:stretch>
        </p:blipFill>
        <p:spPr>
          <a:xfrm>
            <a:off x="2065168" y="4933363"/>
            <a:ext cx="128699" cy="187198"/>
          </a:xfrm>
          <a:prstGeom prst="rect">
            <a:avLst/>
          </a:prstGeom>
        </p:spPr>
      </p:pic>
      <p:pic>
        <p:nvPicPr>
          <p:cNvPr id="119" name="Picture 118" descr="lock.png"/>
          <p:cNvPicPr>
            <a:picLocks noChangeAspect="1"/>
          </p:cNvPicPr>
          <p:nvPr/>
        </p:nvPicPr>
        <p:blipFill>
          <a:blip r:embed="rId4"/>
          <a:stretch>
            <a:fillRect/>
          </a:stretch>
        </p:blipFill>
        <p:spPr>
          <a:xfrm>
            <a:off x="3072097" y="5535060"/>
            <a:ext cx="128699" cy="187198"/>
          </a:xfrm>
          <a:prstGeom prst="rect">
            <a:avLst/>
          </a:prstGeom>
        </p:spPr>
      </p:pic>
      <p:pic>
        <p:nvPicPr>
          <p:cNvPr id="120" name="Picture 119" descr="lock.png"/>
          <p:cNvPicPr>
            <a:picLocks noChangeAspect="1"/>
          </p:cNvPicPr>
          <p:nvPr/>
        </p:nvPicPr>
        <p:blipFill>
          <a:blip r:embed="rId4"/>
          <a:stretch>
            <a:fillRect/>
          </a:stretch>
        </p:blipFill>
        <p:spPr>
          <a:xfrm>
            <a:off x="4079026" y="5651206"/>
            <a:ext cx="128699" cy="187198"/>
          </a:xfrm>
          <a:prstGeom prst="rect">
            <a:avLst/>
          </a:prstGeom>
        </p:spPr>
      </p:pic>
      <p:pic>
        <p:nvPicPr>
          <p:cNvPr id="121" name="Picture 120" descr="lock.png"/>
          <p:cNvPicPr>
            <a:picLocks noChangeAspect="1"/>
          </p:cNvPicPr>
          <p:nvPr/>
        </p:nvPicPr>
        <p:blipFill>
          <a:blip r:embed="rId4"/>
          <a:stretch>
            <a:fillRect/>
          </a:stretch>
        </p:blipFill>
        <p:spPr>
          <a:xfrm>
            <a:off x="5085954" y="4420275"/>
            <a:ext cx="128699" cy="187198"/>
          </a:xfrm>
          <a:prstGeom prst="rect">
            <a:avLst/>
          </a:prstGeom>
        </p:spPr>
      </p:pic>
      <p:pic>
        <p:nvPicPr>
          <p:cNvPr id="122" name="Picture 121" descr="lock.png"/>
          <p:cNvPicPr>
            <a:picLocks noChangeAspect="1"/>
          </p:cNvPicPr>
          <p:nvPr/>
        </p:nvPicPr>
        <p:blipFill>
          <a:blip r:embed="rId4"/>
          <a:stretch>
            <a:fillRect/>
          </a:stretch>
        </p:blipFill>
        <p:spPr>
          <a:xfrm>
            <a:off x="6092883" y="4774514"/>
            <a:ext cx="128699" cy="187198"/>
          </a:xfrm>
          <a:prstGeom prst="rect">
            <a:avLst/>
          </a:prstGeom>
        </p:spPr>
      </p:pic>
      <p:pic>
        <p:nvPicPr>
          <p:cNvPr id="123" name="Picture 122" descr="lock.png"/>
          <p:cNvPicPr>
            <a:picLocks noChangeAspect="1"/>
          </p:cNvPicPr>
          <p:nvPr/>
        </p:nvPicPr>
        <p:blipFill>
          <a:blip r:embed="rId4"/>
          <a:stretch>
            <a:fillRect/>
          </a:stretch>
        </p:blipFill>
        <p:spPr>
          <a:xfrm>
            <a:off x="7099811" y="5182408"/>
            <a:ext cx="128699" cy="187198"/>
          </a:xfrm>
          <a:prstGeom prst="rect">
            <a:avLst/>
          </a:prstGeom>
        </p:spPr>
      </p:pic>
      <p:sp>
        <p:nvSpPr>
          <p:cNvPr id="124" name="TextBox 123"/>
          <p:cNvSpPr txBox="1"/>
          <p:nvPr/>
        </p:nvSpPr>
        <p:spPr>
          <a:xfrm>
            <a:off x="8048625" y="1471995"/>
            <a:ext cx="3805609" cy="194310"/>
          </a:xfrm>
          <a:prstGeom prst="rect">
            <a:avLst/>
          </a:prstGeom>
          <a:noFill/>
        </p:spPr>
        <p:txBody>
          <a:bodyPr wrap="none" lIns="0" rIns="0" tIns="0" bIns="0">
            <a:spAutoFit/>
          </a:bodyPr>
          <a:lstStyle/>
          <a:p>
            <a:r>
              <a:rPr sz="1150" b="0">
                <a:solidFill>
                  <a:srgbClr val="2E2E2E"/>
                </a:solidFill>
                <a:latin typeface="Calibri"/>
              </a:rPr>
              <a:t>Rotary screw air compressor segment is expected to command</a:t>
            </a:r>
          </a:p>
        </p:txBody>
      </p:sp>
      <p:sp>
        <p:nvSpPr>
          <p:cNvPr id="125" name="TextBox 124"/>
          <p:cNvSpPr txBox="1"/>
          <p:nvPr/>
        </p:nvSpPr>
        <p:spPr>
          <a:xfrm>
            <a:off x="8048625" y="1647255"/>
            <a:ext cx="1998526" cy="194310"/>
          </a:xfrm>
          <a:prstGeom prst="rect">
            <a:avLst/>
          </a:prstGeom>
          <a:noFill/>
        </p:spPr>
        <p:txBody>
          <a:bodyPr wrap="none" lIns="0" rIns="0" tIns="0" bIns="0">
            <a:spAutoFit/>
          </a:bodyPr>
          <a:lstStyle/>
          <a:p>
            <a:r>
              <a:rPr sz="1150" b="0">
                <a:solidFill>
                  <a:srgbClr val="2E2E2E"/>
                </a:solidFill>
                <a:latin typeface="Calibri"/>
              </a:rPr>
              <a:t>the highest average price of US$</a:t>
            </a:r>
          </a:p>
        </p:txBody>
      </p:sp>
      <p:pic>
        <p:nvPicPr>
          <p:cNvPr id="126" name="Picture 125" descr="lock.png"/>
          <p:cNvPicPr>
            <a:picLocks noChangeAspect="1"/>
          </p:cNvPicPr>
          <p:nvPr/>
        </p:nvPicPr>
        <p:blipFill>
          <a:blip r:embed="rId4"/>
          <a:stretch>
            <a:fillRect/>
          </a:stretch>
        </p:blipFill>
        <p:spPr>
          <a:xfrm>
            <a:off x="9996305" y="1637031"/>
            <a:ext cx="134549" cy="195707"/>
          </a:xfrm>
          <a:prstGeom prst="rect">
            <a:avLst/>
          </a:prstGeom>
        </p:spPr>
      </p:pic>
      <p:sp>
        <p:nvSpPr>
          <p:cNvPr id="127" name="TextBox 126"/>
          <p:cNvSpPr txBox="1"/>
          <p:nvPr/>
        </p:nvSpPr>
        <p:spPr>
          <a:xfrm>
            <a:off x="10171414" y="1647255"/>
            <a:ext cx="1591713" cy="194310"/>
          </a:xfrm>
          <a:prstGeom prst="rect">
            <a:avLst/>
          </a:prstGeom>
          <a:noFill/>
        </p:spPr>
        <p:txBody>
          <a:bodyPr wrap="none" lIns="0" rIns="0" tIns="0" bIns="0">
            <a:spAutoFit/>
          </a:bodyPr>
          <a:lstStyle/>
          <a:p>
            <a:r>
              <a:rPr sz="1150" b="0">
                <a:solidFill>
                  <a:srgbClr val="2E2E2E"/>
                </a:solidFill>
                <a:latin typeface="Calibri"/>
              </a:rPr>
              <a:t>per Unit in 2036. Average</a:t>
            </a:r>
          </a:p>
        </p:txBody>
      </p:sp>
      <p:sp>
        <p:nvSpPr>
          <p:cNvPr id="128" name="TextBox 127"/>
          <p:cNvSpPr txBox="1"/>
          <p:nvPr/>
        </p:nvSpPr>
        <p:spPr>
          <a:xfrm>
            <a:off x="8048625" y="1822515"/>
            <a:ext cx="3621335" cy="194310"/>
          </a:xfrm>
          <a:prstGeom prst="rect">
            <a:avLst/>
          </a:prstGeom>
          <a:noFill/>
        </p:spPr>
        <p:txBody>
          <a:bodyPr wrap="none" lIns="0" rIns="0" tIns="0" bIns="0">
            <a:spAutoFit/>
          </a:bodyPr>
          <a:lstStyle/>
          <a:p>
            <a:r>
              <a:rPr sz="1150" b="0">
                <a:solidFill>
                  <a:srgbClr val="2E2E2E"/>
                </a:solidFill>
                <a:latin typeface="Calibri"/>
              </a:rPr>
              <a:t>selling price of industrial air compressor is estimated at US$</a:t>
            </a:r>
          </a:p>
        </p:txBody>
      </p:sp>
      <p:pic>
        <p:nvPicPr>
          <p:cNvPr id="129" name="Picture 128" descr="lock.png"/>
          <p:cNvPicPr>
            <a:picLocks noChangeAspect="1"/>
          </p:cNvPicPr>
          <p:nvPr/>
        </p:nvPicPr>
        <p:blipFill>
          <a:blip r:embed="rId4"/>
          <a:stretch>
            <a:fillRect/>
          </a:stretch>
        </p:blipFill>
        <p:spPr>
          <a:xfrm>
            <a:off x="11619114" y="1812291"/>
            <a:ext cx="134549" cy="195707"/>
          </a:xfrm>
          <a:prstGeom prst="rect">
            <a:avLst/>
          </a:prstGeom>
        </p:spPr>
      </p:pic>
      <p:sp>
        <p:nvSpPr>
          <p:cNvPr id="130" name="TextBox 129"/>
          <p:cNvSpPr txBox="1"/>
          <p:nvPr/>
        </p:nvSpPr>
        <p:spPr>
          <a:xfrm>
            <a:off x="8048625" y="1997775"/>
            <a:ext cx="3664408" cy="194310"/>
          </a:xfrm>
          <a:prstGeom prst="rect">
            <a:avLst/>
          </a:prstGeom>
          <a:noFill/>
        </p:spPr>
        <p:txBody>
          <a:bodyPr wrap="none" lIns="0" rIns="0" tIns="0" bIns="0">
            <a:spAutoFit/>
          </a:bodyPr>
          <a:lstStyle/>
          <a:p>
            <a:r>
              <a:rPr sz="1150" b="0">
                <a:solidFill>
                  <a:srgbClr val="2E2E2E"/>
                </a:solidFill>
                <a:latin typeface="Calibri"/>
              </a:rPr>
              <a:t>per Unit in 2025 and is projected to remain broadly stable at</a:t>
            </a:r>
          </a:p>
        </p:txBody>
      </p:sp>
      <p:sp>
        <p:nvSpPr>
          <p:cNvPr id="131" name="TextBox 130"/>
          <p:cNvSpPr txBox="1"/>
          <p:nvPr/>
        </p:nvSpPr>
        <p:spPr>
          <a:xfrm>
            <a:off x="8048625" y="2173035"/>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132" name="Picture 131" descr="lock.png"/>
          <p:cNvPicPr>
            <a:picLocks noChangeAspect="1"/>
          </p:cNvPicPr>
          <p:nvPr/>
        </p:nvPicPr>
        <p:blipFill>
          <a:blip r:embed="rId4"/>
          <a:stretch>
            <a:fillRect/>
          </a:stretch>
        </p:blipFill>
        <p:spPr>
          <a:xfrm>
            <a:off x="8309028" y="2162811"/>
            <a:ext cx="134549" cy="195707"/>
          </a:xfrm>
          <a:prstGeom prst="rect">
            <a:avLst/>
          </a:prstGeom>
        </p:spPr>
      </p:pic>
      <p:sp>
        <p:nvSpPr>
          <p:cNvPr id="133" name="TextBox 132"/>
          <p:cNvSpPr txBox="1"/>
          <p:nvPr/>
        </p:nvSpPr>
        <p:spPr>
          <a:xfrm>
            <a:off x="8484137" y="2173035"/>
            <a:ext cx="1105681" cy="194310"/>
          </a:xfrm>
          <a:prstGeom prst="rect">
            <a:avLst/>
          </a:prstGeom>
          <a:noFill/>
        </p:spPr>
        <p:txBody>
          <a:bodyPr wrap="none" lIns="0" rIns="0" tIns="0" bIns="0">
            <a:spAutoFit/>
          </a:bodyPr>
          <a:lstStyle/>
          <a:p>
            <a:r>
              <a:rPr sz="1150" b="0">
                <a:solidFill>
                  <a:srgbClr val="2E2E2E"/>
                </a:solidFill>
                <a:latin typeface="Calibri"/>
              </a:rPr>
              <a:t>per Unit by 2036.</a:t>
            </a:r>
          </a:p>
        </p:txBody>
      </p:sp>
      <p:sp>
        <p:nvSpPr>
          <p:cNvPr id="134" name="TextBox 133"/>
          <p:cNvSpPr txBox="1"/>
          <p:nvPr/>
        </p:nvSpPr>
        <p:spPr>
          <a:xfrm>
            <a:off x="8048625" y="2400873"/>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135" name="TextBox 134"/>
          <p:cNvSpPr txBox="1"/>
          <p:nvPr/>
        </p:nvSpPr>
        <p:spPr>
          <a:xfrm>
            <a:off x="8048625" y="2576133"/>
            <a:ext cx="382158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Against the global</a:t>
            </a:r>
          </a:p>
        </p:txBody>
      </p:sp>
      <p:sp>
        <p:nvSpPr>
          <p:cNvPr id="136" name="TextBox 135"/>
          <p:cNvSpPr txBox="1"/>
          <p:nvPr/>
        </p:nvSpPr>
        <p:spPr>
          <a:xfrm>
            <a:off x="8048625" y="2751393"/>
            <a:ext cx="526901" cy="194310"/>
          </a:xfrm>
          <a:prstGeom prst="rect">
            <a:avLst/>
          </a:prstGeom>
          <a:noFill/>
        </p:spPr>
        <p:txBody>
          <a:bodyPr wrap="none" lIns="0" rIns="0" tIns="0" bIns="0">
            <a:spAutoFit/>
          </a:bodyPr>
          <a:lstStyle/>
          <a:p>
            <a:r>
              <a:rPr sz="1150" b="0">
                <a:solidFill>
                  <a:srgbClr val="2E2E2E"/>
                </a:solidFill>
                <a:latin typeface="Calibri"/>
              </a:rPr>
              <a:t>price of</a:t>
            </a:r>
          </a:p>
        </p:txBody>
      </p:sp>
      <p:pic>
        <p:nvPicPr>
          <p:cNvPr id="137" name="Picture 136" descr="lock.png"/>
          <p:cNvPicPr>
            <a:picLocks noChangeAspect="1"/>
          </p:cNvPicPr>
          <p:nvPr/>
        </p:nvPicPr>
        <p:blipFill>
          <a:blip r:embed="rId4"/>
          <a:stretch>
            <a:fillRect/>
          </a:stretch>
        </p:blipFill>
        <p:spPr>
          <a:xfrm>
            <a:off x="8524680" y="2741169"/>
            <a:ext cx="134549" cy="195707"/>
          </a:xfrm>
          <a:prstGeom prst="rect">
            <a:avLst/>
          </a:prstGeom>
        </p:spPr>
      </p:pic>
      <p:sp>
        <p:nvSpPr>
          <p:cNvPr id="138" name="TextBox 137"/>
          <p:cNvSpPr txBox="1"/>
          <p:nvPr/>
        </p:nvSpPr>
        <p:spPr>
          <a:xfrm>
            <a:off x="8699789" y="2751393"/>
            <a:ext cx="3076500" cy="194310"/>
          </a:xfrm>
          <a:prstGeom prst="rect">
            <a:avLst/>
          </a:prstGeom>
          <a:noFill/>
        </p:spPr>
        <p:txBody>
          <a:bodyPr wrap="none" lIns="0" rIns="0" tIns="0" bIns="0">
            <a:spAutoFit/>
          </a:bodyPr>
          <a:lstStyle/>
          <a:p>
            <a:r>
              <a:rPr sz="1150" b="0">
                <a:solidFill>
                  <a:srgbClr val="2E2E2E"/>
                </a:solidFill>
                <a:latin typeface="Calibri"/>
              </a:rPr>
              <a:t>US$/Units, 4 of 7 regions price above and 3 below.</a:t>
            </a:r>
          </a:p>
        </p:txBody>
      </p:sp>
      <p:sp>
        <p:nvSpPr>
          <p:cNvPr id="139" name="TextBox 138"/>
          <p:cNvSpPr txBox="1"/>
          <p:nvPr/>
        </p:nvSpPr>
        <p:spPr>
          <a:xfrm>
            <a:off x="8048625" y="2979230"/>
            <a:ext cx="2108063" cy="194310"/>
          </a:xfrm>
          <a:prstGeom prst="rect">
            <a:avLst/>
          </a:prstGeom>
          <a:noFill/>
        </p:spPr>
        <p:txBody>
          <a:bodyPr wrap="none" lIns="0" rIns="0" tIns="0" bIns="0">
            <a:spAutoFit/>
          </a:bodyPr>
          <a:lstStyle/>
          <a:p>
            <a:r>
              <a:rPr sz="1150" b="0">
                <a:solidFill>
                  <a:srgbClr val="2E2E2E"/>
                </a:solidFill>
                <a:latin typeface="Calibri"/>
              </a:rPr>
              <a:t>'North America' is the dearest at +</a:t>
            </a:r>
          </a:p>
        </p:txBody>
      </p:sp>
      <p:pic>
        <p:nvPicPr>
          <p:cNvPr id="140" name="Picture 139" descr="lock.png"/>
          <p:cNvPicPr>
            <a:picLocks noChangeAspect="1"/>
          </p:cNvPicPr>
          <p:nvPr/>
        </p:nvPicPr>
        <p:blipFill>
          <a:blip r:embed="rId4"/>
          <a:stretch>
            <a:fillRect/>
          </a:stretch>
        </p:blipFill>
        <p:spPr>
          <a:xfrm>
            <a:off x="10105842" y="2969007"/>
            <a:ext cx="134549" cy="195707"/>
          </a:xfrm>
          <a:prstGeom prst="rect">
            <a:avLst/>
          </a:prstGeom>
        </p:spPr>
      </p:pic>
      <p:sp>
        <p:nvSpPr>
          <p:cNvPr id="141" name="TextBox 140"/>
          <p:cNvSpPr txBox="1"/>
          <p:nvPr/>
        </p:nvSpPr>
        <p:spPr>
          <a:xfrm>
            <a:off x="10280951" y="2979230"/>
            <a:ext cx="1599455" cy="194310"/>
          </a:xfrm>
          <a:prstGeom prst="rect">
            <a:avLst/>
          </a:prstGeom>
          <a:noFill/>
        </p:spPr>
        <p:txBody>
          <a:bodyPr wrap="none" lIns="0" rIns="0" tIns="0" bIns="0">
            <a:spAutoFit/>
          </a:bodyPr>
          <a:lstStyle/>
          <a:p>
            <a:r>
              <a:rPr sz="1150" b="0">
                <a:solidFill>
                  <a:srgbClr val="2E2E2E"/>
                </a:solidFill>
                <a:latin typeface="Calibri"/>
              </a:rPr>
              <a:t>versus Global, 'South Asia</a:t>
            </a:r>
          </a:p>
        </p:txBody>
      </p:sp>
      <p:sp>
        <p:nvSpPr>
          <p:cNvPr id="142" name="TextBox 141"/>
          <p:cNvSpPr txBox="1"/>
          <p:nvPr/>
        </p:nvSpPr>
        <p:spPr>
          <a:xfrm>
            <a:off x="8048625" y="3154490"/>
            <a:ext cx="1653654" cy="194310"/>
          </a:xfrm>
          <a:prstGeom prst="rect">
            <a:avLst/>
          </a:prstGeom>
          <a:noFill/>
        </p:spPr>
        <p:txBody>
          <a:bodyPr wrap="none" lIns="0" rIns="0" tIns="0" bIns="0">
            <a:spAutoFit/>
          </a:bodyPr>
          <a:lstStyle/>
          <a:p>
            <a:r>
              <a:rPr sz="1150" b="0">
                <a:solidFill>
                  <a:srgbClr val="2E2E2E"/>
                </a:solidFill>
                <a:latin typeface="Calibri"/>
              </a:rPr>
              <a:t>&amp; Pacific' the cheapest at -</a:t>
            </a:r>
          </a:p>
        </p:txBody>
      </p:sp>
      <p:pic>
        <p:nvPicPr>
          <p:cNvPr id="143" name="Picture 142" descr="lock.png"/>
          <p:cNvPicPr>
            <a:picLocks noChangeAspect="1"/>
          </p:cNvPicPr>
          <p:nvPr/>
        </p:nvPicPr>
        <p:blipFill>
          <a:blip r:embed="rId4"/>
          <a:stretch>
            <a:fillRect/>
          </a:stretch>
        </p:blipFill>
        <p:spPr>
          <a:xfrm>
            <a:off x="9651433" y="3144267"/>
            <a:ext cx="134549" cy="195707"/>
          </a:xfrm>
          <a:prstGeom prst="rect">
            <a:avLst/>
          </a:prstGeom>
        </p:spPr>
      </p:pic>
      <p:sp>
        <p:nvSpPr>
          <p:cNvPr id="144" name="TextBox 143"/>
          <p:cNvSpPr txBox="1"/>
          <p:nvPr/>
        </p:nvSpPr>
        <p:spPr>
          <a:xfrm>
            <a:off x="9826542" y="3154490"/>
            <a:ext cx="1702147" cy="194310"/>
          </a:xfrm>
          <a:prstGeom prst="rect">
            <a:avLst/>
          </a:prstGeom>
          <a:noFill/>
        </p:spPr>
        <p:txBody>
          <a:bodyPr wrap="none" lIns="0" rIns="0" tIns="0" bIns="0">
            <a:spAutoFit/>
          </a:bodyPr>
          <a:lstStyle/>
          <a:p>
            <a:r>
              <a:rPr sz="1150" b="0">
                <a:solidFill>
                  <a:srgbClr val="2E2E2E"/>
                </a:solidFill>
                <a:latin typeface="Calibri"/>
              </a:rPr>
              <a:t>pointing to premiumisation</a:t>
            </a:r>
          </a:p>
        </p:txBody>
      </p:sp>
      <p:sp>
        <p:nvSpPr>
          <p:cNvPr id="145" name="TextBox 144"/>
          <p:cNvSpPr txBox="1"/>
          <p:nvPr/>
        </p:nvSpPr>
        <p:spPr>
          <a:xfrm>
            <a:off x="8048625" y="3329750"/>
            <a:ext cx="2365647" cy="194310"/>
          </a:xfrm>
          <a:prstGeom prst="rect">
            <a:avLst/>
          </a:prstGeom>
          <a:noFill/>
        </p:spPr>
        <p:txBody>
          <a:bodyPr wrap="none" lIns="0" rIns="0" tIns="0" bIns="0">
            <a:spAutoFit/>
          </a:bodyPr>
          <a:lstStyle/>
          <a:p>
            <a:r>
              <a:rPr sz="1150" b="0">
                <a:solidFill>
                  <a:srgbClr val="2E2E2E"/>
                </a:solidFill>
                <a:latin typeface="Calibri"/>
              </a:rPr>
              <a:t>headroom in the lower-priced regions.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Summary, By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value growth, incremental opportunity and the geographies driving it, 2021–2036</a:t>
            </a:r>
          </a:p>
        </p:txBody>
      </p:sp>
      <p:sp>
        <p:nvSpPr>
          <p:cNvPr id="7" name="Rounded Rectangle 6"/>
          <p:cNvSpPr/>
          <p:nvPr/>
        </p:nvSpPr>
        <p:spPr>
          <a:xfrm>
            <a:off x="142875"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2A5F8F"/>
                </a:solidFill>
                <a:latin typeface="Calibri"/>
              </a:rPr>
              <a:t> </a:t>
            </a:r>
          </a:p>
        </p:txBody>
      </p:sp>
      <p:sp>
        <p:nvSpPr>
          <p:cNvPr id="8" name="Rounded Rectangle 7"/>
          <p:cNvSpPr/>
          <p:nvPr/>
        </p:nvSpPr>
        <p:spPr>
          <a:xfrm>
            <a:off x="31432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2A5F8F"/>
                </a:solidFill>
                <a:latin typeface="Calibri"/>
              </a:rPr>
              <a:t> </a:t>
            </a:r>
          </a:p>
        </p:txBody>
      </p:sp>
      <p:sp>
        <p:nvSpPr>
          <p:cNvPr id="9" name="Rounded Rectangle 8"/>
          <p:cNvSpPr/>
          <p:nvPr/>
        </p:nvSpPr>
        <p:spPr>
          <a:xfrm>
            <a:off x="61531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2A5F8F"/>
                </a:solidFill>
                <a:latin typeface="Calibri"/>
              </a:rPr>
              <a:t> </a:t>
            </a:r>
          </a:p>
        </p:txBody>
      </p:sp>
      <p:sp>
        <p:nvSpPr>
          <p:cNvPr id="10" name="Rounded Rectangle 9"/>
          <p:cNvSpPr/>
          <p:nvPr/>
        </p:nvSpPr>
        <p:spPr>
          <a:xfrm>
            <a:off x="91630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627887"/>
            <a:ext cx="769620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3" name="Chart 12"/>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4037375"/>
            <a:ext cx="769620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6" name="Chart 15"/>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7" name="Rounded Rectangle 16"/>
          <p:cNvSpPr/>
          <p:nvPr/>
        </p:nvSpPr>
        <p:spPr>
          <a:xfrm>
            <a:off x="7915275" y="1627887"/>
            <a:ext cx="413385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9" name="Rectangle 18"/>
          <p:cNvSpPr/>
          <p:nvPr/>
        </p:nvSpPr>
        <p:spPr>
          <a:xfrm>
            <a:off x="8048625" y="1951737"/>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1" name="Rounded Rectangle 20"/>
          <p:cNvSpPr/>
          <p:nvPr/>
        </p:nvSpPr>
        <p:spPr>
          <a:xfrm>
            <a:off x="7915275" y="4037375"/>
            <a:ext cx="413385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E2A5C"/>
                </a:solidFill>
                <a:latin typeface="Calibri"/>
              </a:rPr>
              <a:t>Growth Drivers</a:t>
            </a:r>
          </a:p>
        </p:txBody>
      </p:sp>
      <p:sp>
        <p:nvSpPr>
          <p:cNvPr id="23" name="Rectangle 22"/>
          <p:cNvSpPr/>
          <p:nvPr/>
        </p:nvSpPr>
        <p:spPr>
          <a:xfrm>
            <a:off x="8048625" y="436122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5" name="Rectangle 2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393988" cy="194310"/>
          </a:xfrm>
          <a:prstGeom prst="rect">
            <a:avLst/>
          </a:prstGeom>
          <a:noFill/>
        </p:spPr>
        <p:txBody>
          <a:bodyPr wrap="none" lIns="0" rIns="0" tIns="0" bIns="0">
            <a:spAutoFit/>
          </a:bodyPr>
          <a:lstStyle/>
          <a:p>
            <a:r>
              <a:rPr sz="1150" b="0">
                <a:solidFill>
                  <a:srgbClr val="2E2E2E"/>
                </a:solidFill>
                <a:latin typeface="Calibri"/>
              </a:rPr>
              <a:t>Industrial air compressor market is projected to register</a:t>
            </a:r>
          </a:p>
        </p:txBody>
      </p:sp>
      <p:pic>
        <p:nvPicPr>
          <p:cNvPr id="33" name="Picture 32" descr="lock.png"/>
          <p:cNvPicPr>
            <a:picLocks noChangeAspect="1"/>
          </p:cNvPicPr>
          <p:nvPr/>
        </p:nvPicPr>
        <p:blipFill>
          <a:blip r:embed="rId6"/>
          <a:stretch>
            <a:fillRect/>
          </a:stretch>
        </p:blipFill>
        <p:spPr>
          <a:xfrm>
            <a:off x="11391767" y="2036763"/>
            <a:ext cx="134549" cy="195707"/>
          </a:xfrm>
          <a:prstGeom prst="rect">
            <a:avLst/>
          </a:prstGeom>
        </p:spPr>
      </p:pic>
      <p:sp>
        <p:nvSpPr>
          <p:cNvPr id="34" name="TextBox 33"/>
          <p:cNvSpPr txBox="1"/>
          <p:nvPr/>
        </p:nvSpPr>
        <p:spPr>
          <a:xfrm>
            <a:off x="11566876" y="2046987"/>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5" name="TextBox 34"/>
          <p:cNvSpPr txBox="1"/>
          <p:nvPr/>
        </p:nvSpPr>
        <p:spPr>
          <a:xfrm>
            <a:off x="8048625" y="2222247"/>
            <a:ext cx="3571986" cy="194310"/>
          </a:xfrm>
          <a:prstGeom prst="rect">
            <a:avLst/>
          </a:prstGeom>
          <a:noFill/>
        </p:spPr>
        <p:txBody>
          <a:bodyPr wrap="none" lIns="0" rIns="0" tIns="0" bIns="0">
            <a:spAutoFit/>
          </a:bodyPr>
          <a:lstStyle/>
          <a:p>
            <a:r>
              <a:rPr sz="1150" b="0">
                <a:solidFill>
                  <a:srgbClr val="2E2E2E"/>
                </a:solidFill>
                <a:latin typeface="Calibri"/>
              </a:rPr>
              <a:t>increase in its revenue by the end of forecast period, 2036.</a:t>
            </a:r>
          </a:p>
        </p:txBody>
      </p:sp>
      <p:sp>
        <p:nvSpPr>
          <p:cNvPr id="36" name="TextBox 35"/>
          <p:cNvSpPr txBox="1"/>
          <p:nvPr/>
        </p:nvSpPr>
        <p:spPr>
          <a:xfrm>
            <a:off x="8048625" y="2397507"/>
            <a:ext cx="3848100" cy="194310"/>
          </a:xfrm>
          <a:prstGeom prst="rect">
            <a:avLst/>
          </a:prstGeom>
          <a:noFill/>
        </p:spPr>
        <p:txBody>
          <a:bodyPr wrap="none" lIns="0" rIns="0" tIns="0" bIns="0">
            <a:spAutoFit/>
          </a:bodyPr>
          <a:lstStyle/>
          <a:p>
            <a:r>
              <a:rPr sz="1150" b="0">
                <a:solidFill>
                  <a:srgbClr val="2E2E2E"/>
                </a:solidFill>
                <a:latin typeface="Calibri"/>
              </a:rPr>
              <a:t>Global industrial air compressor market is expected to be valued</a:t>
            </a:r>
          </a:p>
        </p:txBody>
      </p:sp>
      <p:sp>
        <p:nvSpPr>
          <p:cNvPr id="37" name="TextBox 36"/>
          <p:cNvSpPr txBox="1"/>
          <p:nvPr/>
        </p:nvSpPr>
        <p:spPr>
          <a:xfrm>
            <a:off x="8048625" y="2572767"/>
            <a:ext cx="463289" cy="194310"/>
          </a:xfrm>
          <a:prstGeom prst="rect">
            <a:avLst/>
          </a:prstGeom>
          <a:noFill/>
        </p:spPr>
        <p:txBody>
          <a:bodyPr wrap="none" lIns="0" rIns="0" tIns="0" bIns="0">
            <a:spAutoFit/>
          </a:bodyPr>
          <a:lstStyle/>
          <a:p>
            <a:r>
              <a:rPr sz="1150" b="0">
                <a:solidFill>
                  <a:srgbClr val="2E2E2E"/>
                </a:solidFill>
                <a:latin typeface="Calibri"/>
              </a:rPr>
              <a:t>at US$</a:t>
            </a:r>
          </a:p>
        </p:txBody>
      </p:sp>
      <p:pic>
        <p:nvPicPr>
          <p:cNvPr id="38" name="Picture 37" descr="lock.png"/>
          <p:cNvPicPr>
            <a:picLocks noChangeAspect="1"/>
          </p:cNvPicPr>
          <p:nvPr/>
        </p:nvPicPr>
        <p:blipFill>
          <a:blip r:embed="rId6"/>
          <a:stretch>
            <a:fillRect/>
          </a:stretch>
        </p:blipFill>
        <p:spPr>
          <a:xfrm>
            <a:off x="8461068" y="2562543"/>
            <a:ext cx="134549" cy="195707"/>
          </a:xfrm>
          <a:prstGeom prst="rect">
            <a:avLst/>
          </a:prstGeom>
        </p:spPr>
      </p:pic>
      <p:sp>
        <p:nvSpPr>
          <p:cNvPr id="39" name="TextBox 38"/>
          <p:cNvSpPr txBox="1"/>
          <p:nvPr/>
        </p:nvSpPr>
        <p:spPr>
          <a:xfrm>
            <a:off x="8636177" y="2572767"/>
            <a:ext cx="1079723" cy="194310"/>
          </a:xfrm>
          <a:prstGeom prst="rect">
            <a:avLst/>
          </a:prstGeom>
          <a:noFill/>
        </p:spPr>
        <p:txBody>
          <a:bodyPr wrap="none" lIns="0" rIns="0" tIns="0" bIns="0">
            <a:spAutoFit/>
          </a:bodyPr>
          <a:lstStyle/>
          <a:p>
            <a:r>
              <a:rPr sz="1150" b="0">
                <a:solidFill>
                  <a:srgbClr val="2E2E2E"/>
                </a:solidFill>
                <a:latin typeface="Calibri"/>
              </a:rPr>
              <a:t>Mn by 2036 end.</a:t>
            </a:r>
          </a:p>
        </p:txBody>
      </p:sp>
      <p:sp>
        <p:nvSpPr>
          <p:cNvPr id="40" name="TextBox 39"/>
          <p:cNvSpPr txBox="1"/>
          <p:nvPr/>
        </p:nvSpPr>
        <p:spPr>
          <a:xfrm>
            <a:off x="8048625" y="2800604"/>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41" name="Picture 40" descr="lock.png"/>
          <p:cNvPicPr>
            <a:picLocks noChangeAspect="1"/>
          </p:cNvPicPr>
          <p:nvPr/>
        </p:nvPicPr>
        <p:blipFill>
          <a:blip r:embed="rId6"/>
          <a:stretch>
            <a:fillRect/>
          </a:stretch>
        </p:blipFill>
        <p:spPr>
          <a:xfrm>
            <a:off x="8034545" y="2965641"/>
            <a:ext cx="134549" cy="195707"/>
          </a:xfrm>
          <a:prstGeom prst="rect">
            <a:avLst/>
          </a:prstGeom>
        </p:spPr>
      </p:pic>
      <p:sp>
        <p:nvSpPr>
          <p:cNvPr id="42" name="TextBox 41"/>
          <p:cNvSpPr txBox="1"/>
          <p:nvPr/>
        </p:nvSpPr>
        <p:spPr>
          <a:xfrm>
            <a:off x="8209654" y="2975864"/>
            <a:ext cx="1455687" cy="194310"/>
          </a:xfrm>
          <a:prstGeom prst="rect">
            <a:avLst/>
          </a:prstGeom>
          <a:noFill/>
        </p:spPr>
        <p:txBody>
          <a:bodyPr wrap="none" lIns="0" rIns="0" tIns="0" bIns="0">
            <a:spAutoFit/>
          </a:bodyPr>
          <a:lstStyle/>
          <a:p>
            <a:r>
              <a:rPr sz="1150" b="0">
                <a:solidFill>
                  <a:srgbClr val="2E2E2E"/>
                </a:solidFill>
                <a:latin typeface="Calibri"/>
              </a:rPr>
              <a:t>Mn from 2025 to 2036.</a:t>
            </a:r>
          </a:p>
        </p:txBody>
      </p:sp>
      <p:sp>
        <p:nvSpPr>
          <p:cNvPr id="43" name="TextBox 42"/>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4" name="Picture 43" descr="lock.png"/>
          <p:cNvPicPr>
            <a:picLocks noChangeAspect="1"/>
          </p:cNvPicPr>
          <p:nvPr/>
        </p:nvPicPr>
        <p:blipFill>
          <a:blip r:embed="rId6"/>
          <a:stretch>
            <a:fillRect/>
          </a:stretch>
        </p:blipFill>
        <p:spPr>
          <a:xfrm>
            <a:off x="10866614" y="4446251"/>
            <a:ext cx="134549" cy="195707"/>
          </a:xfrm>
          <a:prstGeom prst="rect">
            <a:avLst/>
          </a:prstGeom>
        </p:spPr>
      </p:pic>
      <p:sp>
        <p:nvSpPr>
          <p:cNvPr id="45" name="TextBox 44"/>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46" name="TextBox 45"/>
          <p:cNvSpPr txBox="1"/>
          <p:nvPr/>
        </p:nvSpPr>
        <p:spPr>
          <a:xfrm>
            <a:off x="8048625" y="4684312"/>
            <a:ext cx="3394843" cy="194310"/>
          </a:xfrm>
          <a:prstGeom prst="rect">
            <a:avLst/>
          </a:prstGeom>
          <a:noFill/>
        </p:spPr>
        <p:txBody>
          <a:bodyPr wrap="none" lIns="0" rIns="0" tIns="0" bIns="0">
            <a:spAutoFit/>
          </a:bodyPr>
          <a:lstStyle/>
          <a:p>
            <a:r>
              <a:rPr sz="1150" b="0">
                <a:solidFill>
                  <a:srgbClr val="2E2E2E"/>
                </a:solidFill>
                <a:latin typeface="Calibri"/>
              </a:rPr>
              <a:t>▪ Demand concentrates in 'Scroll Air Compressor' within</a:t>
            </a:r>
          </a:p>
        </p:txBody>
      </p:sp>
      <p:sp>
        <p:nvSpPr>
          <p:cNvPr id="47" name="TextBox 46"/>
          <p:cNvSpPr txBox="1"/>
          <p:nvPr/>
        </p:nvSpPr>
        <p:spPr>
          <a:xfrm>
            <a:off x="8048625" y="4859572"/>
            <a:ext cx="795039" cy="194310"/>
          </a:xfrm>
          <a:prstGeom prst="rect">
            <a:avLst/>
          </a:prstGeom>
          <a:noFill/>
        </p:spPr>
        <p:txBody>
          <a:bodyPr wrap="none" lIns="0" rIns="0" tIns="0" bIns="0">
            <a:spAutoFit/>
          </a:bodyPr>
          <a:lstStyle/>
          <a:p>
            <a:r>
              <a:rPr sz="1150" b="0">
                <a:solidFill>
                  <a:srgbClr val="2E2E2E"/>
                </a:solidFill>
                <a:latin typeface="Calibri"/>
              </a:rPr>
              <a:t>Technology.</a:t>
            </a:r>
          </a:p>
        </p:txBody>
      </p:sp>
      <p:sp>
        <p:nvSpPr>
          <p:cNvPr id="48" name="TextBox 47"/>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49" name="TextBox 48"/>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0" name="lockshield_13"/>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ockshield_16"/>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Volume &amp; Value Analysis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global market and the incremental $ opportunity it creates, 2021–2036</a:t>
            </a:r>
          </a:p>
        </p:txBody>
      </p:sp>
      <p:sp>
        <p:nvSpPr>
          <p:cNvPr id="7" name="Rounded Rectangle 6"/>
          <p:cNvSpPr/>
          <p:nvPr/>
        </p:nvSpPr>
        <p:spPr>
          <a:xfrm>
            <a:off x="142875" y="981075"/>
            <a:ext cx="4695825" cy="2571750"/>
          </a:xfrm>
          <a:prstGeom prst="roundRect">
            <a:avLst>
              <a:gd name="adj" fmla="val 29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2021–2025 (Historical)</a:t>
            </a:r>
          </a:p>
        </p:txBody>
      </p:sp>
      <p:graphicFrame>
        <p:nvGraphicFramePr>
          <p:cNvPr id="9" name="Chart 8"/>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r:id="rId3"/>
          </a:graphicData>
        </a:graphic>
      </p:graphicFrame>
      <p:sp>
        <p:nvSpPr>
          <p:cNvPr id="10" name="Rounded Rectangle 9"/>
          <p:cNvSpPr/>
          <p:nvPr/>
        </p:nvSpPr>
        <p:spPr>
          <a:xfrm>
            <a:off x="4991100" y="981075"/>
            <a:ext cx="7048500" cy="2571750"/>
          </a:xfrm>
          <a:prstGeom prst="roundRect">
            <a:avLst>
              <a:gd name="adj" fmla="val 29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2026–2036 (Forecast)</a:t>
            </a:r>
          </a:p>
        </p:txBody>
      </p:sp>
      <p:graphicFrame>
        <p:nvGraphicFramePr>
          <p:cNvPr id="12" name="Chart 11"/>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686175"/>
            <a:ext cx="2514600" cy="7334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2A5F8F"/>
                </a:solidFill>
                <a:latin typeface="Calibri"/>
              </a:rPr>
              <a:t> </a:t>
            </a:r>
          </a:p>
        </p:txBody>
      </p:sp>
      <p:sp>
        <p:nvSpPr>
          <p:cNvPr id="14" name="Rounded Rectangle 13"/>
          <p:cNvSpPr/>
          <p:nvPr/>
        </p:nvSpPr>
        <p:spPr>
          <a:xfrm>
            <a:off x="2809875" y="3686175"/>
            <a:ext cx="2514600" cy="7334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2A5F8F"/>
                </a:solidFill>
                <a:latin typeface="Calibri"/>
              </a:rPr>
              <a:t> </a:t>
            </a:r>
          </a:p>
        </p:txBody>
      </p:sp>
      <p:sp>
        <p:nvSpPr>
          <p:cNvPr id="15" name="Rounded Rectangle 14"/>
          <p:cNvSpPr/>
          <p:nvPr/>
        </p:nvSpPr>
        <p:spPr>
          <a:xfrm>
            <a:off x="5476875" y="3686175"/>
            <a:ext cx="3200400" cy="7334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2A5F8F"/>
                </a:solidFill>
                <a:latin typeface="Calibri"/>
              </a:rPr>
              <a:t> </a:t>
            </a:r>
          </a:p>
        </p:txBody>
      </p:sp>
      <p:sp>
        <p:nvSpPr>
          <p:cNvPr id="16" name="Rounded Rectangle 15"/>
          <p:cNvSpPr/>
          <p:nvPr/>
        </p:nvSpPr>
        <p:spPr>
          <a:xfrm>
            <a:off x="8829675" y="3686175"/>
            <a:ext cx="3200400" cy="7334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2A5F8F"/>
                </a:solidFill>
                <a:latin typeface="Calibri"/>
              </a:rPr>
              <a:t> </a:t>
            </a:r>
          </a:p>
        </p:txBody>
      </p:sp>
      <p:sp>
        <p:nvSpPr>
          <p:cNvPr id="17" name="Rounded Rectangle 16"/>
          <p:cNvSpPr/>
          <p:nvPr/>
        </p:nvSpPr>
        <p:spPr>
          <a:xfrm>
            <a:off x="142875" y="4552950"/>
            <a:ext cx="11906250" cy="2057400"/>
          </a:xfrm>
          <a:prstGeom prst="roundRect">
            <a:avLst>
              <a:gd name="adj" fmla="val 370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Volume &amp; Value Analysis</a:t>
            </a:r>
          </a:p>
        </p:txBody>
      </p:sp>
      <p:sp>
        <p:nvSpPr>
          <p:cNvPr id="19" name="Rectangle 18"/>
          <p:cNvSpPr/>
          <p:nvPr/>
        </p:nvSpPr>
        <p:spPr>
          <a:xfrm>
            <a:off x="276225" y="48768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2533894" y="2050946"/>
            <a:ext cx="205327" cy="298657"/>
          </a:xfrm>
          <a:prstGeom prst="rect">
            <a:avLst/>
          </a:prstGeom>
        </p:spPr>
      </p:pic>
      <p:pic>
        <p:nvPicPr>
          <p:cNvPr id="24" name="Picture 23" descr="lock.png"/>
          <p:cNvPicPr>
            <a:picLocks noChangeAspect="1"/>
          </p:cNvPicPr>
          <p:nvPr/>
        </p:nvPicPr>
        <p:blipFill>
          <a:blip r:embed="rId6"/>
          <a:stretch>
            <a:fillRect/>
          </a:stretch>
        </p:blipFill>
        <p:spPr>
          <a:xfrm>
            <a:off x="8530846" y="2011501"/>
            <a:ext cx="259564" cy="377547"/>
          </a:xfrm>
          <a:prstGeom prst="rect">
            <a:avLst/>
          </a:prstGeom>
        </p:spPr>
      </p:pic>
      <p:pic>
        <p:nvPicPr>
          <p:cNvPr id="25" name="Picture 24" descr="lock.png"/>
          <p:cNvPicPr>
            <a:picLocks noChangeAspect="1"/>
          </p:cNvPicPr>
          <p:nvPr/>
        </p:nvPicPr>
        <p:blipFill>
          <a:blip r:embed="rId6"/>
          <a:stretch>
            <a:fillRect/>
          </a:stretch>
        </p:blipFill>
        <p:spPr>
          <a:xfrm>
            <a:off x="1321594" y="4022407"/>
            <a:ext cx="157162" cy="228600"/>
          </a:xfrm>
          <a:prstGeom prst="rect">
            <a:avLst/>
          </a:prstGeom>
        </p:spPr>
      </p:pic>
      <p:pic>
        <p:nvPicPr>
          <p:cNvPr id="26" name="Picture 25" descr="lock.png"/>
          <p:cNvPicPr>
            <a:picLocks noChangeAspect="1"/>
          </p:cNvPicPr>
          <p:nvPr/>
        </p:nvPicPr>
        <p:blipFill>
          <a:blip r:embed="rId6"/>
          <a:stretch>
            <a:fillRect/>
          </a:stretch>
        </p:blipFill>
        <p:spPr>
          <a:xfrm>
            <a:off x="3988594" y="4022407"/>
            <a:ext cx="157162" cy="228600"/>
          </a:xfrm>
          <a:prstGeom prst="rect">
            <a:avLst/>
          </a:prstGeom>
        </p:spPr>
      </p:pic>
      <p:pic>
        <p:nvPicPr>
          <p:cNvPr id="27" name="Picture 26" descr="lock.png"/>
          <p:cNvPicPr>
            <a:picLocks noChangeAspect="1"/>
          </p:cNvPicPr>
          <p:nvPr/>
        </p:nvPicPr>
        <p:blipFill>
          <a:blip r:embed="rId6"/>
          <a:stretch>
            <a:fillRect/>
          </a:stretch>
        </p:blipFill>
        <p:spPr>
          <a:xfrm>
            <a:off x="6998494" y="4022407"/>
            <a:ext cx="157162" cy="228600"/>
          </a:xfrm>
          <a:prstGeom prst="rect">
            <a:avLst/>
          </a:prstGeom>
        </p:spPr>
      </p:pic>
      <p:pic>
        <p:nvPicPr>
          <p:cNvPr id="28" name="Picture 27" descr="lock.png"/>
          <p:cNvPicPr>
            <a:picLocks noChangeAspect="1"/>
          </p:cNvPicPr>
          <p:nvPr/>
        </p:nvPicPr>
        <p:blipFill>
          <a:blip r:embed="rId6"/>
          <a:stretch>
            <a:fillRect/>
          </a:stretch>
        </p:blipFill>
        <p:spPr>
          <a:xfrm>
            <a:off x="10351294" y="4022407"/>
            <a:ext cx="157162" cy="228600"/>
          </a:xfrm>
          <a:prstGeom prst="rect">
            <a:avLst/>
          </a:prstGeom>
        </p:spPr>
      </p:pic>
      <p:sp>
        <p:nvSpPr>
          <p:cNvPr id="29" name="TextBox 28"/>
          <p:cNvSpPr txBox="1"/>
          <p:nvPr/>
        </p:nvSpPr>
        <p:spPr>
          <a:xfrm>
            <a:off x="276225" y="4972050"/>
            <a:ext cx="3393988" cy="194310"/>
          </a:xfrm>
          <a:prstGeom prst="rect">
            <a:avLst/>
          </a:prstGeom>
          <a:noFill/>
        </p:spPr>
        <p:txBody>
          <a:bodyPr wrap="none" lIns="0" rIns="0" tIns="0" bIns="0">
            <a:spAutoFit/>
          </a:bodyPr>
          <a:lstStyle/>
          <a:p>
            <a:r>
              <a:rPr sz="1150" b="0">
                <a:solidFill>
                  <a:srgbClr val="2E2E2E"/>
                </a:solidFill>
                <a:latin typeface="Calibri"/>
              </a:rPr>
              <a:t>Industrial air compressor market is projected to register</a:t>
            </a:r>
          </a:p>
        </p:txBody>
      </p:sp>
      <p:pic>
        <p:nvPicPr>
          <p:cNvPr id="30" name="Picture 29" descr="lock.png"/>
          <p:cNvPicPr>
            <a:picLocks noChangeAspect="1"/>
          </p:cNvPicPr>
          <p:nvPr/>
        </p:nvPicPr>
        <p:blipFill>
          <a:blip r:embed="rId6"/>
          <a:stretch>
            <a:fillRect/>
          </a:stretch>
        </p:blipFill>
        <p:spPr>
          <a:xfrm>
            <a:off x="3619367" y="4961826"/>
            <a:ext cx="134549" cy="195707"/>
          </a:xfrm>
          <a:prstGeom prst="rect">
            <a:avLst/>
          </a:prstGeom>
        </p:spPr>
      </p:pic>
      <p:sp>
        <p:nvSpPr>
          <p:cNvPr id="31" name="TextBox 30"/>
          <p:cNvSpPr txBox="1"/>
          <p:nvPr/>
        </p:nvSpPr>
        <p:spPr>
          <a:xfrm>
            <a:off x="3794476" y="4972050"/>
            <a:ext cx="7960047" cy="194310"/>
          </a:xfrm>
          <a:prstGeom prst="rect">
            <a:avLst/>
          </a:prstGeom>
          <a:noFill/>
        </p:spPr>
        <p:txBody>
          <a:bodyPr wrap="none" lIns="0" rIns="0" tIns="0" bIns="0">
            <a:spAutoFit/>
          </a:bodyPr>
          <a:lstStyle/>
          <a:p>
            <a:r>
              <a:rPr sz="1150" b="0">
                <a:solidFill>
                  <a:srgbClr val="2E2E2E"/>
                </a:solidFill>
                <a:latin typeface="Calibri"/>
              </a:rPr>
              <a:t>X increase in its revenue by the end of forecast period, 2036. Global industrial air compressor market is expected to be valued at US$</a:t>
            </a:r>
          </a:p>
        </p:txBody>
      </p:sp>
      <p:pic>
        <p:nvPicPr>
          <p:cNvPr id="32" name="Picture 31" descr="lock.png"/>
          <p:cNvPicPr>
            <a:picLocks noChangeAspect="1"/>
          </p:cNvPicPr>
          <p:nvPr/>
        </p:nvPicPr>
        <p:blipFill>
          <a:blip r:embed="rId6"/>
          <a:stretch>
            <a:fillRect/>
          </a:stretch>
        </p:blipFill>
        <p:spPr>
          <a:xfrm>
            <a:off x="262145" y="5137086"/>
            <a:ext cx="134549" cy="195707"/>
          </a:xfrm>
          <a:prstGeom prst="rect">
            <a:avLst/>
          </a:prstGeom>
        </p:spPr>
      </p:pic>
      <p:sp>
        <p:nvSpPr>
          <p:cNvPr id="33" name="TextBox 32"/>
          <p:cNvSpPr txBox="1"/>
          <p:nvPr/>
        </p:nvSpPr>
        <p:spPr>
          <a:xfrm>
            <a:off x="437254" y="5147310"/>
            <a:ext cx="1079723" cy="194310"/>
          </a:xfrm>
          <a:prstGeom prst="rect">
            <a:avLst/>
          </a:prstGeom>
          <a:noFill/>
        </p:spPr>
        <p:txBody>
          <a:bodyPr wrap="none" lIns="0" rIns="0" tIns="0" bIns="0">
            <a:spAutoFit/>
          </a:bodyPr>
          <a:lstStyle/>
          <a:p>
            <a:r>
              <a:rPr sz="1150" b="0">
                <a:solidFill>
                  <a:srgbClr val="2E2E2E"/>
                </a:solidFill>
                <a:latin typeface="Calibri"/>
              </a:rPr>
              <a:t>Mn by 2036 end.</a:t>
            </a:r>
          </a:p>
        </p:txBody>
      </p:sp>
      <p:sp>
        <p:nvSpPr>
          <p:cNvPr id="34" name="TextBox 33"/>
          <p:cNvSpPr txBox="1"/>
          <p:nvPr/>
        </p:nvSpPr>
        <p:spPr>
          <a:xfrm>
            <a:off x="276225" y="5375147"/>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35" name="Picture 34" descr="lock.png"/>
          <p:cNvPicPr>
            <a:picLocks noChangeAspect="1"/>
          </p:cNvPicPr>
          <p:nvPr/>
        </p:nvPicPr>
        <p:blipFill>
          <a:blip r:embed="rId6"/>
          <a:stretch>
            <a:fillRect/>
          </a:stretch>
        </p:blipFill>
        <p:spPr>
          <a:xfrm>
            <a:off x="4037834" y="5364924"/>
            <a:ext cx="134549" cy="195707"/>
          </a:xfrm>
          <a:prstGeom prst="rect">
            <a:avLst/>
          </a:prstGeom>
        </p:spPr>
      </p:pic>
      <p:sp>
        <p:nvSpPr>
          <p:cNvPr id="36" name="TextBox 35"/>
          <p:cNvSpPr txBox="1"/>
          <p:nvPr/>
        </p:nvSpPr>
        <p:spPr>
          <a:xfrm>
            <a:off x="4212943" y="5375147"/>
            <a:ext cx="5219613" cy="194310"/>
          </a:xfrm>
          <a:prstGeom prst="rect">
            <a:avLst/>
          </a:prstGeom>
          <a:noFill/>
        </p:spPr>
        <p:txBody>
          <a:bodyPr wrap="none" lIns="0" rIns="0" tIns="0" bIns="0">
            <a:spAutoFit/>
          </a:bodyPr>
          <a:lstStyle/>
          <a:p>
            <a:r>
              <a:rPr sz="1150" b="0">
                <a:solidFill>
                  <a:srgbClr val="2E2E2E"/>
                </a:solidFill>
                <a:latin typeface="Calibri"/>
              </a:rPr>
              <a:t>Mn from 2025 to 2036. Global industrial air compressor market is projected to register</a:t>
            </a:r>
          </a:p>
        </p:txBody>
      </p:sp>
      <p:pic>
        <p:nvPicPr>
          <p:cNvPr id="37" name="Picture 36" descr="lock.png"/>
          <p:cNvPicPr>
            <a:picLocks noChangeAspect="1"/>
          </p:cNvPicPr>
          <p:nvPr/>
        </p:nvPicPr>
        <p:blipFill>
          <a:blip r:embed="rId6"/>
          <a:stretch>
            <a:fillRect/>
          </a:stretch>
        </p:blipFill>
        <p:spPr>
          <a:xfrm>
            <a:off x="9381710" y="5364924"/>
            <a:ext cx="134549" cy="195707"/>
          </a:xfrm>
          <a:prstGeom prst="rect">
            <a:avLst/>
          </a:prstGeom>
        </p:spPr>
      </p:pic>
      <p:sp>
        <p:nvSpPr>
          <p:cNvPr id="38" name="TextBox 37"/>
          <p:cNvSpPr txBox="1"/>
          <p:nvPr/>
        </p:nvSpPr>
        <p:spPr>
          <a:xfrm>
            <a:off x="9556820" y="5375147"/>
            <a:ext cx="2121755" cy="194310"/>
          </a:xfrm>
          <a:prstGeom prst="rect">
            <a:avLst/>
          </a:prstGeom>
          <a:noFill/>
        </p:spPr>
        <p:txBody>
          <a:bodyPr wrap="none" lIns="0" rIns="0" tIns="0" bIns="0">
            <a:spAutoFit/>
          </a:bodyPr>
          <a:lstStyle/>
          <a:p>
            <a:r>
              <a:rPr sz="1150" b="0">
                <a:solidFill>
                  <a:srgbClr val="2E2E2E"/>
                </a:solidFill>
                <a:latin typeface="Calibri"/>
              </a:rPr>
              <a:t>X increase in volume by the end of</a:t>
            </a:r>
          </a:p>
        </p:txBody>
      </p:sp>
      <p:sp>
        <p:nvSpPr>
          <p:cNvPr id="39" name="TextBox 38"/>
          <p:cNvSpPr txBox="1"/>
          <p:nvPr/>
        </p:nvSpPr>
        <p:spPr>
          <a:xfrm>
            <a:off x="276225" y="5550407"/>
            <a:ext cx="1383518" cy="194310"/>
          </a:xfrm>
          <a:prstGeom prst="rect">
            <a:avLst/>
          </a:prstGeom>
          <a:noFill/>
        </p:spPr>
        <p:txBody>
          <a:bodyPr wrap="none" lIns="0" rIns="0" tIns="0" bIns="0">
            <a:spAutoFit/>
          </a:bodyPr>
          <a:lstStyle/>
          <a:p>
            <a:r>
              <a:rPr sz="1150" b="0">
                <a:solidFill>
                  <a:srgbClr val="2E2E2E"/>
                </a:solidFill>
                <a:latin typeface="Calibri"/>
              </a:rPr>
              <a:t>forecast period, 2036.</a:t>
            </a:r>
          </a:p>
        </p:txBody>
      </p:sp>
      <p:sp>
        <p:nvSpPr>
          <p:cNvPr id="40" name="TextBox 39"/>
          <p:cNvSpPr txBox="1"/>
          <p:nvPr/>
        </p:nvSpPr>
        <p:spPr>
          <a:xfrm>
            <a:off x="276225" y="5778245"/>
            <a:ext cx="3426507" cy="194310"/>
          </a:xfrm>
          <a:prstGeom prst="rect">
            <a:avLst/>
          </a:prstGeom>
          <a:noFill/>
        </p:spPr>
        <p:txBody>
          <a:bodyPr wrap="none" lIns="0" rIns="0" tIns="0" bIns="0">
            <a:spAutoFit/>
          </a:bodyPr>
          <a:lstStyle/>
          <a:p>
            <a:r>
              <a:rPr sz="1150" b="0">
                <a:solidFill>
                  <a:srgbClr val="2E2E2E"/>
                </a:solidFill>
                <a:latin typeface="Calibri"/>
              </a:rPr>
              <a:t>Global industrial air compressor market volume stood at</a:t>
            </a:r>
          </a:p>
        </p:txBody>
      </p:sp>
      <p:pic>
        <p:nvPicPr>
          <p:cNvPr id="41" name="Picture 40" descr="lock.png"/>
          <p:cNvPicPr>
            <a:picLocks noChangeAspect="1"/>
          </p:cNvPicPr>
          <p:nvPr/>
        </p:nvPicPr>
        <p:blipFill>
          <a:blip r:embed="rId6"/>
          <a:stretch>
            <a:fillRect/>
          </a:stretch>
        </p:blipFill>
        <p:spPr>
          <a:xfrm>
            <a:off x="3651886" y="5768022"/>
            <a:ext cx="134549" cy="195707"/>
          </a:xfrm>
          <a:prstGeom prst="rect">
            <a:avLst/>
          </a:prstGeom>
        </p:spPr>
      </p:pic>
      <p:sp>
        <p:nvSpPr>
          <p:cNvPr id="42" name="TextBox 41"/>
          <p:cNvSpPr txBox="1"/>
          <p:nvPr/>
        </p:nvSpPr>
        <p:spPr>
          <a:xfrm>
            <a:off x="3826995" y="5778245"/>
            <a:ext cx="2343683" cy="194310"/>
          </a:xfrm>
          <a:prstGeom prst="rect">
            <a:avLst/>
          </a:prstGeom>
          <a:noFill/>
        </p:spPr>
        <p:txBody>
          <a:bodyPr wrap="none" lIns="0" rIns="0" tIns="0" bIns="0">
            <a:spAutoFit/>
          </a:bodyPr>
          <a:lstStyle/>
          <a:p>
            <a:r>
              <a:rPr sz="1150" b="0">
                <a:solidFill>
                  <a:srgbClr val="2E2E2E"/>
                </a:solidFill>
                <a:latin typeface="Calibri"/>
              </a:rPr>
              <a:t>Units in 2025 and is expected to reach</a:t>
            </a:r>
          </a:p>
        </p:txBody>
      </p:sp>
      <p:pic>
        <p:nvPicPr>
          <p:cNvPr id="43" name="Picture 42" descr="lock.png"/>
          <p:cNvPicPr>
            <a:picLocks noChangeAspect="1"/>
          </p:cNvPicPr>
          <p:nvPr/>
        </p:nvPicPr>
        <p:blipFill>
          <a:blip r:embed="rId6"/>
          <a:stretch>
            <a:fillRect/>
          </a:stretch>
        </p:blipFill>
        <p:spPr>
          <a:xfrm>
            <a:off x="6119832" y="5768022"/>
            <a:ext cx="134549" cy="195707"/>
          </a:xfrm>
          <a:prstGeom prst="rect">
            <a:avLst/>
          </a:prstGeom>
        </p:spPr>
      </p:pic>
      <p:sp>
        <p:nvSpPr>
          <p:cNvPr id="44" name="TextBox 43"/>
          <p:cNvSpPr txBox="1"/>
          <p:nvPr/>
        </p:nvSpPr>
        <p:spPr>
          <a:xfrm>
            <a:off x="6294941" y="5778245"/>
            <a:ext cx="1964563" cy="194310"/>
          </a:xfrm>
          <a:prstGeom prst="rect">
            <a:avLst/>
          </a:prstGeom>
          <a:noFill/>
        </p:spPr>
        <p:txBody>
          <a:bodyPr wrap="none" lIns="0" rIns="0" tIns="0" bIns="0">
            <a:spAutoFit/>
          </a:bodyPr>
          <a:lstStyle/>
          <a:p>
            <a:r>
              <a:rPr sz="1150" b="0">
                <a:solidFill>
                  <a:srgbClr val="2E2E2E"/>
                </a:solidFill>
                <a:latin typeface="Calibri"/>
              </a:rPr>
              <a:t>Units by 2036 end, at a CAGR of</a:t>
            </a:r>
          </a:p>
        </p:txBody>
      </p:sp>
      <p:pic>
        <p:nvPicPr>
          <p:cNvPr id="45" name="Picture 44" descr="lock.png"/>
          <p:cNvPicPr>
            <a:picLocks noChangeAspect="1"/>
          </p:cNvPicPr>
          <p:nvPr/>
        </p:nvPicPr>
        <p:blipFill>
          <a:blip r:embed="rId6"/>
          <a:stretch>
            <a:fillRect/>
          </a:stretch>
        </p:blipFill>
        <p:spPr>
          <a:xfrm>
            <a:off x="8208658" y="5768022"/>
            <a:ext cx="134549" cy="195707"/>
          </a:xfrm>
          <a:prstGeom prst="rect">
            <a:avLst/>
          </a:prstGeom>
        </p:spPr>
      </p:pic>
      <p:sp>
        <p:nvSpPr>
          <p:cNvPr id="46" name="TextBox 45"/>
          <p:cNvSpPr txBox="1"/>
          <p:nvPr/>
        </p:nvSpPr>
        <p:spPr>
          <a:xfrm>
            <a:off x="8383768" y="5778245"/>
            <a:ext cx="3164073" cy="194310"/>
          </a:xfrm>
          <a:prstGeom prst="rect">
            <a:avLst/>
          </a:prstGeom>
          <a:noFill/>
        </p:spPr>
        <p:txBody>
          <a:bodyPr wrap="none" lIns="0" rIns="0" tIns="0" bIns="0">
            <a:spAutoFit/>
          </a:bodyPr>
          <a:lstStyle/>
          <a:p>
            <a:r>
              <a:rPr sz="1150" b="0">
                <a:solidFill>
                  <a:srgbClr val="2E2E2E"/>
                </a:solidFill>
                <a:latin typeface="Calibri"/>
              </a:rPr>
              <a:t>. Value is projected to grow faster than volume over</a:t>
            </a:r>
          </a:p>
        </p:txBody>
      </p:sp>
      <p:sp>
        <p:nvSpPr>
          <p:cNvPr id="47" name="TextBox 46"/>
          <p:cNvSpPr txBox="1"/>
          <p:nvPr/>
        </p:nvSpPr>
        <p:spPr>
          <a:xfrm>
            <a:off x="276225" y="5953505"/>
            <a:ext cx="3932832" cy="194310"/>
          </a:xfrm>
          <a:prstGeom prst="rect">
            <a:avLst/>
          </a:prstGeom>
          <a:noFill/>
        </p:spPr>
        <p:txBody>
          <a:bodyPr wrap="none" lIns="0" rIns="0" tIns="0" bIns="0">
            <a:spAutoFit/>
          </a:bodyPr>
          <a:lstStyle/>
          <a:p>
            <a:r>
              <a:rPr sz="1150" b="0">
                <a:solidFill>
                  <a:srgbClr val="2E2E2E"/>
                </a:solidFill>
                <a:latin typeface="Calibri"/>
              </a:rPr>
              <a:t>the forecast period, owing to an increase in average selling price.</a:t>
            </a:r>
          </a:p>
        </p:txBody>
      </p:sp>
      <p:sp>
        <p:nvSpPr>
          <p:cNvPr id="48" name="lockshield_9"/>
          <p:cNvSpPr/>
          <p:nvPr/>
        </p:nvSpPr>
        <p:spPr>
          <a:xfrm>
            <a:off x="238125" y="1266825"/>
            <a:ext cx="4505325"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ockshield_12"/>
          <p:cNvSpPr/>
          <p:nvPr/>
        </p:nvSpPr>
        <p:spPr>
          <a:xfrm>
            <a:off x="5086350" y="1266825"/>
            <a:ext cx="6858000"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Summary Country Indices (Value)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7" name="Rounded Rectangle 6"/>
          <p:cNvSpPr/>
          <p:nvPr/>
        </p:nvSpPr>
        <p:spPr>
          <a:xfrm>
            <a:off x="142875" y="1007261"/>
            <a:ext cx="3933825" cy="2445995"/>
          </a:xfrm>
          <a:prstGeom prst="roundRect">
            <a:avLst>
              <a:gd name="adj" fmla="val 311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9" name="Chart 8"/>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489764"/>
            <a:ext cx="3933825" cy="2436869"/>
          </a:xfrm>
          <a:prstGeom prst="roundRect">
            <a:avLst>
              <a:gd name="adj" fmla="val 312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3565964"/>
          <a:ext cx="3927746" cy="2132071"/>
        </p:xfrm>
        <a:graphic>
          <a:graphicData uri="http://schemas.openxmlformats.org/drawingml/2006/table">
            <a:tbl>
              <a:tblPr>
                <a:tableStyleId>{5C22544A-7EE6-4342-B048-85BDC9FD1C3A}</a:tableStyleId>
              </a:tblPr>
              <a:tblGrid>
                <a:gridCol w="710293"/>
                <a:gridCol w="1068161"/>
                <a:gridCol w="1068161"/>
                <a:gridCol w="1081131"/>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377189">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Germany</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77189">
                <a:tc>
                  <a:txBody>
                    <a:bodyPr wrap="none"/>
                    <a:lstStyle/>
                    <a:p>
                      <a:pPr algn="l"/>
                      <a:r>
                        <a:rPr sz="1100" b="1">
                          <a:solidFill>
                            <a:srgbClr val="2E2E2E"/>
                          </a:solidFill>
                          <a:latin typeface="Calibri"/>
                        </a:rPr>
                        <a:t>Chile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France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77189">
                <a:tc>
                  <a:txBody>
                    <a:bodyPr wrap="none"/>
                    <a:lstStyle/>
                    <a:p>
                      <a:pPr algn="l"/>
                      <a:r>
                        <a:rPr sz="1100" b="1">
                          <a:solidFill>
                            <a:srgbClr val="2E2E2E"/>
                          </a:solidFill>
                          <a:latin typeface="Calibri"/>
                        </a:rPr>
                        <a:t>Poland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3" name="Rounded Rectangle 12"/>
          <p:cNvSpPr/>
          <p:nvPr/>
        </p:nvSpPr>
        <p:spPr>
          <a:xfrm>
            <a:off x="4114800" y="1007261"/>
            <a:ext cx="3933825" cy="4928498"/>
          </a:xfrm>
          <a:prstGeom prst="roundRect">
            <a:avLst>
              <a:gd name="adj" fmla="val 193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5" name="Rectangle 14"/>
          <p:cNvSpPr/>
          <p:nvPr/>
        </p:nvSpPr>
        <p:spPr>
          <a:xfrm>
            <a:off x="4210050" y="1293011"/>
            <a:ext cx="2523950" cy="1794080"/>
          </a:xfrm>
          <a:prstGeom prst="rect">
            <a:avLst/>
          </a:prstGeom>
          <a:solidFill>
            <a:srgbClr val="2A5F8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6" name="Rectangle 15"/>
          <p:cNvSpPr/>
          <p:nvPr/>
        </p:nvSpPr>
        <p:spPr>
          <a:xfrm>
            <a:off x="6734000" y="1293011"/>
            <a:ext cx="1219375" cy="1794080"/>
          </a:xfrm>
          <a:prstGeom prst="rect">
            <a:avLst/>
          </a:prstGeom>
          <a:solidFill>
            <a:srgbClr val="0081E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7" name="Rectangle 16"/>
          <p:cNvSpPr/>
          <p:nvPr/>
        </p:nvSpPr>
        <p:spPr>
          <a:xfrm>
            <a:off x="4210050" y="3087091"/>
            <a:ext cx="1452626" cy="1407612"/>
          </a:xfrm>
          <a:prstGeom prst="rect">
            <a:avLst/>
          </a:prstGeom>
          <a:solidFill>
            <a:srgbClr val="0E2A5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18" name="Rectangle 17"/>
          <p:cNvSpPr/>
          <p:nvPr/>
        </p:nvSpPr>
        <p:spPr>
          <a:xfrm>
            <a:off x="4210050" y="4494703"/>
            <a:ext cx="1452626" cy="1383906"/>
          </a:xfrm>
          <a:prstGeom prst="rect">
            <a:avLst/>
          </a:prstGeom>
          <a:solidFill>
            <a:srgbClr val="00ACA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19" name="Rectangle 18"/>
          <p:cNvSpPr/>
          <p:nvPr/>
        </p:nvSpPr>
        <p:spPr>
          <a:xfrm>
            <a:off x="5662676" y="3087091"/>
            <a:ext cx="1148173" cy="1260029"/>
          </a:xfrm>
          <a:prstGeom prst="rect">
            <a:avLst/>
          </a:prstGeom>
          <a:solidFill>
            <a:srgbClr val="F4762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20" name="Rectangle 19"/>
          <p:cNvSpPr/>
          <p:nvPr/>
        </p:nvSpPr>
        <p:spPr>
          <a:xfrm>
            <a:off x="6810849" y="3087091"/>
            <a:ext cx="1142526" cy="1260029"/>
          </a:xfrm>
          <a:prstGeom prst="rect">
            <a:avLst/>
          </a:prstGeom>
          <a:solidFill>
            <a:srgbClr val="79C3E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Mexico</a:t>
            </a:r>
          </a:p>
          <a:p>
            <a:pPr algn="ctr"/>
            <a:r>
              <a:rPr sz="1100" b="0">
                <a:solidFill>
                  <a:srgbClr val="2E2E2E"/>
                </a:solidFill>
                <a:latin typeface="Calibri"/>
              </a:rPr>
              <a:t> </a:t>
            </a:r>
          </a:p>
        </p:txBody>
      </p:sp>
      <p:sp>
        <p:nvSpPr>
          <p:cNvPr id="21" name="Rectangle 20"/>
          <p:cNvSpPr/>
          <p:nvPr/>
        </p:nvSpPr>
        <p:spPr>
          <a:xfrm>
            <a:off x="5662676" y="4347120"/>
            <a:ext cx="1182618" cy="786238"/>
          </a:xfrm>
          <a:prstGeom prst="rect">
            <a:avLst/>
          </a:prstGeom>
          <a:solidFill>
            <a:srgbClr val="58627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Kingdom of Saudi Arabia</a:t>
            </a:r>
          </a:p>
          <a:p>
            <a:pPr algn="ctr"/>
            <a:r>
              <a:rPr sz="1100" b="0">
                <a:solidFill>
                  <a:srgbClr val="FFFFFF"/>
                </a:solidFill>
                <a:latin typeface="Calibri"/>
              </a:rPr>
              <a:t> </a:t>
            </a:r>
          </a:p>
        </p:txBody>
      </p:sp>
      <p:sp>
        <p:nvSpPr>
          <p:cNvPr id="22" name="Rectangle 21"/>
          <p:cNvSpPr/>
          <p:nvPr/>
        </p:nvSpPr>
        <p:spPr>
          <a:xfrm>
            <a:off x="5662676" y="5133358"/>
            <a:ext cx="1182618" cy="745251"/>
          </a:xfrm>
          <a:prstGeom prst="rect">
            <a:avLst/>
          </a:prstGeom>
          <a:solidFill>
            <a:srgbClr val="1F47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Russia</a:t>
            </a:r>
          </a:p>
          <a:p>
            <a:pPr algn="ctr"/>
            <a:r>
              <a:rPr sz="1100" b="0">
                <a:solidFill>
                  <a:srgbClr val="FFFFFF"/>
                </a:solidFill>
                <a:latin typeface="Calibri"/>
              </a:rPr>
              <a:t> </a:t>
            </a:r>
          </a:p>
        </p:txBody>
      </p:sp>
      <p:sp>
        <p:nvSpPr>
          <p:cNvPr id="23" name="Rectangle 22"/>
          <p:cNvSpPr/>
          <p:nvPr/>
        </p:nvSpPr>
        <p:spPr>
          <a:xfrm>
            <a:off x="6845295" y="4347120"/>
            <a:ext cx="1108080" cy="780138"/>
          </a:xfrm>
          <a:prstGeom prst="rect">
            <a:avLst/>
          </a:prstGeom>
          <a:solidFill>
            <a:srgbClr val="BCBEC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Japan</a:t>
            </a:r>
          </a:p>
          <a:p>
            <a:pPr algn="ctr"/>
            <a:r>
              <a:rPr sz="1100" b="0">
                <a:solidFill>
                  <a:srgbClr val="2E2E2E"/>
                </a:solidFill>
                <a:latin typeface="Calibri"/>
              </a:rPr>
              <a:t> </a:t>
            </a:r>
          </a:p>
        </p:txBody>
      </p:sp>
      <p:sp>
        <p:nvSpPr>
          <p:cNvPr id="24" name="Rectangle 23"/>
          <p:cNvSpPr/>
          <p:nvPr/>
        </p:nvSpPr>
        <p:spPr>
          <a:xfrm>
            <a:off x="6845295" y="5127258"/>
            <a:ext cx="1108080" cy="751351"/>
          </a:xfrm>
          <a:prstGeom prst="rect">
            <a:avLst/>
          </a:prstGeom>
          <a:solidFill>
            <a:srgbClr val="3DC6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ASEAN</a:t>
            </a:r>
          </a:p>
          <a:p>
            <a:pPr algn="ctr"/>
            <a:r>
              <a:rPr sz="1100" b="0">
                <a:solidFill>
                  <a:srgbClr val="2E2E2E"/>
                </a:solidFill>
                <a:latin typeface="Calibri"/>
              </a:rPr>
              <a:t> </a:t>
            </a:r>
          </a:p>
        </p:txBody>
      </p:sp>
      <p:sp>
        <p:nvSpPr>
          <p:cNvPr id="25" name="Rounded Rectangle 24"/>
          <p:cNvSpPr/>
          <p:nvPr/>
        </p:nvSpPr>
        <p:spPr>
          <a:xfrm>
            <a:off x="8086725" y="1007261"/>
            <a:ext cx="3933825" cy="2436869"/>
          </a:xfrm>
          <a:prstGeom prst="roundRect">
            <a:avLst>
              <a:gd name="adj" fmla="val 312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27" name="Chart 26"/>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8" name="Rounded Rectangle 27"/>
          <p:cNvSpPr/>
          <p:nvPr/>
        </p:nvSpPr>
        <p:spPr>
          <a:xfrm>
            <a:off x="8086725" y="3471510"/>
            <a:ext cx="3933825" cy="2464249"/>
          </a:xfrm>
          <a:prstGeom prst="roundRect">
            <a:avLst>
              <a:gd name="adj" fmla="val 309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9" name="Table 28"/>
          <p:cNvGraphicFramePr>
            <a:graphicFrameLocks noGrp="1"/>
          </p:cNvGraphicFramePr>
          <p:nvPr/>
        </p:nvGraphicFramePr>
        <p:xfrm>
          <a:off x="8096250" y="3547710"/>
          <a:ext cx="3928892" cy="2159451"/>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Absolute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382665">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India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82665">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China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82665">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30" name="TextBox 29"/>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31" name="Rounded Rectangle 30"/>
          <p:cNvSpPr/>
          <p:nvPr/>
        </p:nvSpPr>
        <p:spPr>
          <a:xfrm>
            <a:off x="142875" y="6027028"/>
            <a:ext cx="10858500" cy="602372"/>
          </a:xfrm>
          <a:prstGeom prst="roundRect">
            <a:avLst>
              <a:gd name="adj" fmla="val 126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2" name="Rectangle 3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4" name="Picture 33" descr="lock.png"/>
          <p:cNvPicPr>
            <a:picLocks noChangeAspect="1"/>
          </p:cNvPicPr>
          <p:nvPr/>
        </p:nvPicPr>
        <p:blipFill>
          <a:blip r:embed="rId6"/>
          <a:stretch>
            <a:fillRect/>
          </a:stretch>
        </p:blipFill>
        <p:spPr>
          <a:xfrm>
            <a:off x="3188017" y="2125483"/>
            <a:ext cx="183356" cy="266700"/>
          </a:xfrm>
          <a:prstGeom prst="rect">
            <a:avLst/>
          </a:prstGeom>
        </p:spPr>
      </p:pic>
      <p:pic>
        <p:nvPicPr>
          <p:cNvPr id="35" name="Picture 34" descr="lock.png"/>
          <p:cNvPicPr>
            <a:picLocks noChangeAspect="1"/>
          </p:cNvPicPr>
          <p:nvPr/>
        </p:nvPicPr>
        <p:blipFill>
          <a:blip r:embed="rId6"/>
          <a:stretch>
            <a:fillRect/>
          </a:stretch>
        </p:blipFill>
        <p:spPr>
          <a:xfrm>
            <a:off x="2266294" y="4499083"/>
            <a:ext cx="351971" cy="511958"/>
          </a:xfrm>
          <a:prstGeom prst="rect">
            <a:avLst/>
          </a:prstGeom>
        </p:spPr>
      </p:pic>
      <p:pic>
        <p:nvPicPr>
          <p:cNvPr id="36" name="Picture 35" descr="lock.png"/>
          <p:cNvPicPr>
            <a:picLocks noChangeAspect="1"/>
          </p:cNvPicPr>
          <p:nvPr/>
        </p:nvPicPr>
        <p:blipFill>
          <a:blip r:embed="rId6"/>
          <a:stretch>
            <a:fillRect/>
          </a:stretch>
        </p:blipFill>
        <p:spPr>
          <a:xfrm>
            <a:off x="5414399" y="2190051"/>
            <a:ext cx="115252" cy="167639"/>
          </a:xfrm>
          <a:prstGeom prst="rect">
            <a:avLst/>
          </a:prstGeom>
        </p:spPr>
      </p:pic>
      <p:pic>
        <p:nvPicPr>
          <p:cNvPr id="37" name="Picture 36" descr="lock.png"/>
          <p:cNvPicPr>
            <a:picLocks noChangeAspect="1"/>
          </p:cNvPicPr>
          <p:nvPr/>
        </p:nvPicPr>
        <p:blipFill>
          <a:blip r:embed="rId6"/>
          <a:stretch>
            <a:fillRect/>
          </a:stretch>
        </p:blipFill>
        <p:spPr>
          <a:xfrm>
            <a:off x="7286061" y="2190051"/>
            <a:ext cx="115252" cy="167639"/>
          </a:xfrm>
          <a:prstGeom prst="rect">
            <a:avLst/>
          </a:prstGeom>
        </p:spPr>
      </p:pic>
      <p:pic>
        <p:nvPicPr>
          <p:cNvPr id="38" name="Picture 37" descr="lock.png"/>
          <p:cNvPicPr>
            <a:picLocks noChangeAspect="1"/>
          </p:cNvPicPr>
          <p:nvPr/>
        </p:nvPicPr>
        <p:blipFill>
          <a:blip r:embed="rId6"/>
          <a:stretch>
            <a:fillRect/>
          </a:stretch>
        </p:blipFill>
        <p:spPr>
          <a:xfrm>
            <a:off x="4878737" y="3790897"/>
            <a:ext cx="115252" cy="167639"/>
          </a:xfrm>
          <a:prstGeom prst="rect">
            <a:avLst/>
          </a:prstGeom>
        </p:spPr>
      </p:pic>
      <p:pic>
        <p:nvPicPr>
          <p:cNvPr id="39" name="Picture 38" descr="lock.png"/>
          <p:cNvPicPr>
            <a:picLocks noChangeAspect="1"/>
          </p:cNvPicPr>
          <p:nvPr/>
        </p:nvPicPr>
        <p:blipFill>
          <a:blip r:embed="rId6"/>
          <a:stretch>
            <a:fillRect/>
          </a:stretch>
        </p:blipFill>
        <p:spPr>
          <a:xfrm>
            <a:off x="4878737" y="5186656"/>
            <a:ext cx="115252" cy="167639"/>
          </a:xfrm>
          <a:prstGeom prst="rect">
            <a:avLst/>
          </a:prstGeom>
        </p:spPr>
      </p:pic>
      <p:pic>
        <p:nvPicPr>
          <p:cNvPr id="40" name="Picture 39" descr="lock.png"/>
          <p:cNvPicPr>
            <a:picLocks noChangeAspect="1"/>
          </p:cNvPicPr>
          <p:nvPr/>
        </p:nvPicPr>
        <p:blipFill>
          <a:blip r:embed="rId6"/>
          <a:stretch>
            <a:fillRect/>
          </a:stretch>
        </p:blipFill>
        <p:spPr>
          <a:xfrm>
            <a:off x="6179136" y="3717105"/>
            <a:ext cx="115252" cy="167639"/>
          </a:xfrm>
          <a:prstGeom prst="rect">
            <a:avLst/>
          </a:prstGeom>
        </p:spPr>
      </p:pic>
      <p:pic>
        <p:nvPicPr>
          <p:cNvPr id="41" name="Picture 40" descr="lock.png"/>
          <p:cNvPicPr>
            <a:picLocks noChangeAspect="1"/>
          </p:cNvPicPr>
          <p:nvPr/>
        </p:nvPicPr>
        <p:blipFill>
          <a:blip r:embed="rId6"/>
          <a:stretch>
            <a:fillRect/>
          </a:stretch>
        </p:blipFill>
        <p:spPr>
          <a:xfrm>
            <a:off x="7324486" y="3717105"/>
            <a:ext cx="115252" cy="167639"/>
          </a:xfrm>
          <a:prstGeom prst="rect">
            <a:avLst/>
          </a:prstGeom>
        </p:spPr>
      </p:pic>
      <p:pic>
        <p:nvPicPr>
          <p:cNvPr id="42" name="Picture 41" descr="lock.png"/>
          <p:cNvPicPr>
            <a:picLocks noChangeAspect="1"/>
          </p:cNvPicPr>
          <p:nvPr/>
        </p:nvPicPr>
        <p:blipFill>
          <a:blip r:embed="rId6"/>
          <a:stretch>
            <a:fillRect/>
          </a:stretch>
        </p:blipFill>
        <p:spPr>
          <a:xfrm>
            <a:off x="6196359" y="4740239"/>
            <a:ext cx="115252" cy="167639"/>
          </a:xfrm>
          <a:prstGeom prst="rect">
            <a:avLst/>
          </a:prstGeom>
        </p:spPr>
      </p:pic>
      <p:pic>
        <p:nvPicPr>
          <p:cNvPr id="43" name="Picture 42" descr="lock.png"/>
          <p:cNvPicPr>
            <a:picLocks noChangeAspect="1"/>
          </p:cNvPicPr>
          <p:nvPr/>
        </p:nvPicPr>
        <p:blipFill>
          <a:blip r:embed="rId6"/>
          <a:stretch>
            <a:fillRect/>
          </a:stretch>
        </p:blipFill>
        <p:spPr>
          <a:xfrm>
            <a:off x="6196359" y="5505983"/>
            <a:ext cx="115252" cy="167639"/>
          </a:xfrm>
          <a:prstGeom prst="rect">
            <a:avLst/>
          </a:prstGeom>
        </p:spPr>
      </p:pic>
      <p:pic>
        <p:nvPicPr>
          <p:cNvPr id="44" name="Picture 43" descr="lock.png"/>
          <p:cNvPicPr>
            <a:picLocks noChangeAspect="1"/>
          </p:cNvPicPr>
          <p:nvPr/>
        </p:nvPicPr>
        <p:blipFill>
          <a:blip r:embed="rId6"/>
          <a:stretch>
            <a:fillRect/>
          </a:stretch>
        </p:blipFill>
        <p:spPr>
          <a:xfrm>
            <a:off x="7341709" y="4737189"/>
            <a:ext cx="115252" cy="167639"/>
          </a:xfrm>
          <a:prstGeom prst="rect">
            <a:avLst/>
          </a:prstGeom>
        </p:spPr>
      </p:pic>
      <p:pic>
        <p:nvPicPr>
          <p:cNvPr id="45" name="Picture 44" descr="lock.png"/>
          <p:cNvPicPr>
            <a:picLocks noChangeAspect="1"/>
          </p:cNvPicPr>
          <p:nvPr/>
        </p:nvPicPr>
        <p:blipFill>
          <a:blip r:embed="rId6"/>
          <a:stretch>
            <a:fillRect/>
          </a:stretch>
        </p:blipFill>
        <p:spPr>
          <a:xfrm>
            <a:off x="7341709" y="5502933"/>
            <a:ext cx="115252" cy="167639"/>
          </a:xfrm>
          <a:prstGeom prst="rect">
            <a:avLst/>
          </a:prstGeom>
        </p:spPr>
      </p:pic>
      <p:pic>
        <p:nvPicPr>
          <p:cNvPr id="46" name="Picture 45" descr="lock.png"/>
          <p:cNvPicPr>
            <a:picLocks noChangeAspect="1"/>
          </p:cNvPicPr>
          <p:nvPr/>
        </p:nvPicPr>
        <p:blipFill>
          <a:blip r:embed="rId6"/>
          <a:stretch>
            <a:fillRect/>
          </a:stretch>
        </p:blipFill>
        <p:spPr>
          <a:xfrm>
            <a:off x="11131867" y="2120920"/>
            <a:ext cx="183356" cy="266700"/>
          </a:xfrm>
          <a:prstGeom prst="rect">
            <a:avLst/>
          </a:prstGeom>
        </p:spPr>
      </p:pic>
      <p:pic>
        <p:nvPicPr>
          <p:cNvPr id="47" name="Picture 46" descr="lock.png"/>
          <p:cNvPicPr>
            <a:picLocks noChangeAspect="1"/>
          </p:cNvPicPr>
          <p:nvPr/>
        </p:nvPicPr>
        <p:blipFill>
          <a:blip r:embed="rId6"/>
          <a:stretch>
            <a:fillRect/>
          </a:stretch>
        </p:blipFill>
        <p:spPr>
          <a:xfrm>
            <a:off x="10175439" y="4490163"/>
            <a:ext cx="357960" cy="520669"/>
          </a:xfrm>
          <a:prstGeom prst="rect">
            <a:avLst/>
          </a:prstGeom>
        </p:spPr>
      </p:pic>
      <p:sp>
        <p:nvSpPr>
          <p:cNvPr id="48" name="TextBox 47"/>
          <p:cNvSpPr txBox="1"/>
          <p:nvPr/>
        </p:nvSpPr>
        <p:spPr>
          <a:xfrm>
            <a:off x="257175" y="6160574"/>
            <a:ext cx="3745507" cy="186689"/>
          </a:xfrm>
          <a:prstGeom prst="rect">
            <a:avLst/>
          </a:prstGeom>
          <a:noFill/>
        </p:spPr>
        <p:txBody>
          <a:bodyPr wrap="none" lIns="0" rIns="0" tIns="0" bIns="0">
            <a:spAutoFit/>
          </a:bodyPr>
          <a:lstStyle/>
          <a:p>
            <a:r>
              <a:rPr sz="1100" b="0">
                <a:solidFill>
                  <a:srgbClr val="2E2E2E"/>
                </a:solidFill>
                <a:latin typeface="Calibri"/>
              </a:rPr>
              <a:t>The U.S. industrial air compressor market is projected to register</a:t>
            </a:r>
          </a:p>
        </p:txBody>
      </p:sp>
      <p:pic>
        <p:nvPicPr>
          <p:cNvPr id="49" name="Picture 48" descr="lock.png"/>
          <p:cNvPicPr>
            <a:picLocks noChangeAspect="1"/>
          </p:cNvPicPr>
          <p:nvPr/>
        </p:nvPicPr>
        <p:blipFill>
          <a:blip r:embed="rId6"/>
          <a:stretch>
            <a:fillRect/>
          </a:stretch>
        </p:blipFill>
        <p:spPr>
          <a:xfrm>
            <a:off x="3950734" y="6150795"/>
            <a:ext cx="128699" cy="187198"/>
          </a:xfrm>
          <a:prstGeom prst="rect">
            <a:avLst/>
          </a:prstGeom>
        </p:spPr>
      </p:pic>
      <p:sp>
        <p:nvSpPr>
          <p:cNvPr id="50" name="TextBox 49"/>
          <p:cNvSpPr txBox="1"/>
          <p:nvPr/>
        </p:nvSpPr>
        <p:spPr>
          <a:xfrm>
            <a:off x="4118230" y="6160574"/>
            <a:ext cx="4198970" cy="186689"/>
          </a:xfrm>
          <a:prstGeom prst="rect">
            <a:avLst/>
          </a:prstGeom>
          <a:noFill/>
        </p:spPr>
        <p:txBody>
          <a:bodyPr wrap="none" lIns="0" rIns="0" tIns="0" bIns="0">
            <a:spAutoFit/>
          </a:bodyPr>
          <a:lstStyle/>
          <a:p>
            <a:r>
              <a:rPr sz="1100" b="0">
                <a:solidFill>
                  <a:srgbClr val="2E2E2E"/>
                </a:solidFill>
                <a:latin typeface="Calibri"/>
              </a:rPr>
              <a:t>X higher value than Canada in 2036. India posts the highest CAGR Index (</a:t>
            </a:r>
          </a:p>
        </p:txBody>
      </p:sp>
      <p:pic>
        <p:nvPicPr>
          <p:cNvPr id="51" name="Picture 50" descr="lock.png"/>
          <p:cNvPicPr>
            <a:picLocks noChangeAspect="1"/>
          </p:cNvPicPr>
          <p:nvPr/>
        </p:nvPicPr>
        <p:blipFill>
          <a:blip r:embed="rId6"/>
          <a:stretch>
            <a:fillRect/>
          </a:stretch>
        </p:blipFill>
        <p:spPr>
          <a:xfrm>
            <a:off x="8265251" y="6150795"/>
            <a:ext cx="128699" cy="187198"/>
          </a:xfrm>
          <a:prstGeom prst="rect">
            <a:avLst/>
          </a:prstGeom>
        </p:spPr>
      </p:pic>
      <p:sp>
        <p:nvSpPr>
          <p:cNvPr id="52" name="TextBox 51"/>
          <p:cNvSpPr txBox="1"/>
          <p:nvPr/>
        </p:nvSpPr>
        <p:spPr>
          <a:xfrm>
            <a:off x="8432747"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53" name="Picture 52" descr="lock.png"/>
          <p:cNvPicPr>
            <a:picLocks noChangeAspect="1"/>
          </p:cNvPicPr>
          <p:nvPr/>
        </p:nvPicPr>
        <p:blipFill>
          <a:blip r:embed="rId6"/>
          <a:stretch>
            <a:fillRect/>
          </a:stretch>
        </p:blipFill>
        <p:spPr>
          <a:xfrm>
            <a:off x="9170778" y="6150795"/>
            <a:ext cx="128699" cy="187198"/>
          </a:xfrm>
          <a:prstGeom prst="rect">
            <a:avLst/>
          </a:prstGeom>
        </p:spPr>
      </p:pic>
      <p:sp>
        <p:nvSpPr>
          <p:cNvPr id="54" name="TextBox 53"/>
          <p:cNvSpPr txBox="1"/>
          <p:nvPr/>
        </p:nvSpPr>
        <p:spPr>
          <a:xfrm>
            <a:off x="9338274" y="6160574"/>
            <a:ext cx="1080020" cy="186689"/>
          </a:xfrm>
          <a:prstGeom prst="rect">
            <a:avLst/>
          </a:prstGeom>
          <a:noFill/>
        </p:spPr>
        <p:txBody>
          <a:bodyPr wrap="none" lIns="0" rIns="0" tIns="0" bIns="0">
            <a:spAutoFit/>
          </a:bodyPr>
          <a:lstStyle/>
          <a:p>
            <a:r>
              <a:rPr sz="1100" b="0">
                <a:solidFill>
                  <a:srgbClr val="2E2E2E"/>
                </a:solidFill>
                <a:latin typeface="Calibri"/>
              </a:rPr>
              <a:t>against the global</a:t>
            </a:r>
          </a:p>
        </p:txBody>
      </p:sp>
      <p:sp>
        <p:nvSpPr>
          <p:cNvPr id="55" name="TextBox 54"/>
          <p:cNvSpPr txBox="1"/>
          <p:nvPr/>
        </p:nvSpPr>
        <p:spPr>
          <a:xfrm>
            <a:off x="257175" y="6328214"/>
            <a:ext cx="3580159" cy="186689"/>
          </a:xfrm>
          <a:prstGeom prst="rect">
            <a:avLst/>
          </a:prstGeom>
          <a:noFill/>
        </p:spPr>
        <p:txBody>
          <a:bodyPr wrap="none" lIns="0" rIns="0" tIns="0" bIns="0">
            <a:spAutoFit/>
          </a:bodyPr>
          <a:lstStyle/>
          <a:p>
            <a:r>
              <a:rPr sz="1100" b="0">
                <a:solidFill>
                  <a:srgbClr val="2E2E2E"/>
                </a:solidFill>
                <a:latin typeface="Calibri"/>
              </a:rPr>
              <a:t>benchmark, while U.S. offers the largest absolute opportunity</a:t>
            </a:r>
          </a:p>
        </p:txBody>
      </p:sp>
      <p:pic>
        <p:nvPicPr>
          <p:cNvPr id="56" name="Picture 55" descr="lock.png"/>
          <p:cNvPicPr>
            <a:picLocks noChangeAspect="1"/>
          </p:cNvPicPr>
          <p:nvPr/>
        </p:nvPicPr>
        <p:blipFill>
          <a:blip r:embed="rId6"/>
          <a:stretch>
            <a:fillRect/>
          </a:stretch>
        </p:blipFill>
        <p:spPr>
          <a:xfrm>
            <a:off x="3785386" y="6318435"/>
            <a:ext cx="128699" cy="187198"/>
          </a:xfrm>
          <a:prstGeom prst="rect">
            <a:avLst/>
          </a:prstGeom>
        </p:spPr>
      </p:pic>
      <p:sp>
        <p:nvSpPr>
          <p:cNvPr id="57" name="TextBox 56"/>
          <p:cNvSpPr txBox="1"/>
          <p:nvPr/>
        </p:nvSpPr>
        <p:spPr>
          <a:xfrm>
            <a:off x="3952882"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58" name="Picture 57" descr="lock.png"/>
          <p:cNvPicPr>
            <a:picLocks noChangeAspect="1"/>
          </p:cNvPicPr>
          <p:nvPr/>
        </p:nvPicPr>
        <p:blipFill>
          <a:blip r:embed="rId6"/>
          <a:stretch>
            <a:fillRect/>
          </a:stretch>
        </p:blipFill>
        <p:spPr>
          <a:xfrm>
            <a:off x="7212880" y="6318435"/>
            <a:ext cx="128699" cy="187198"/>
          </a:xfrm>
          <a:prstGeom prst="rect">
            <a:avLst/>
          </a:prstGeom>
        </p:spPr>
      </p:pic>
      <p:sp>
        <p:nvSpPr>
          <p:cNvPr id="59" name="TextBox 58"/>
          <p:cNvSpPr txBox="1"/>
          <p:nvPr/>
        </p:nvSpPr>
        <p:spPr>
          <a:xfrm>
            <a:off x="7380376" y="6328214"/>
            <a:ext cx="1483568" cy="186689"/>
          </a:xfrm>
          <a:prstGeom prst="rect">
            <a:avLst/>
          </a:prstGeom>
          <a:noFill/>
        </p:spPr>
        <p:txBody>
          <a:bodyPr wrap="none" lIns="0" rIns="0" tIns="0" bIns="0">
            <a:spAutoFit/>
          </a:bodyPr>
          <a:lstStyle/>
          <a:p>
            <a:r>
              <a:rPr sz="1100" b="0">
                <a:solidFill>
                  <a:srgbClr val="2E2E2E"/>
                </a:solidFill>
                <a:latin typeface="Calibri"/>
              </a:rPr>
              <a:t>of the global increment).</a:t>
            </a:r>
          </a:p>
        </p:txBody>
      </p:sp>
      <p:sp>
        <p:nvSpPr>
          <p:cNvPr id="60" name="lockshield_9"/>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ockshield_27"/>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Summary Country Indices (Value)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7" name="Rounded Rectangle 6"/>
          <p:cNvSpPr/>
          <p:nvPr/>
        </p:nvSpPr>
        <p:spPr>
          <a:xfrm>
            <a:off x="142875" y="981075"/>
            <a:ext cx="11906250" cy="1790700"/>
          </a:xfrm>
          <a:prstGeom prst="roundRect">
            <a:avLst>
              <a:gd name="adj" fmla="val 42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152400" y="1057275"/>
          <a:ext cx="11887200" cy="1485896"/>
        </p:xfrm>
        <a:graphic>
          <a:graphicData uri="http://schemas.openxmlformats.org/drawingml/2006/table">
            <a:tbl>
              <a:tblPr>
                <a:tableStyleId>{5C22544A-7EE6-4342-B048-85BDC9FD1C3A}</a:tableStyleId>
              </a:tblPr>
              <a:tblGrid>
                <a:gridCol w="1917762"/>
                <a:gridCol w="3323146"/>
                <a:gridCol w="3323146"/>
                <a:gridCol w="3323146"/>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247954">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Russia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Hungary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ASEAN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Turkiye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9" name="TextBox 8"/>
          <p:cNvSpPr txBox="1"/>
          <p:nvPr/>
        </p:nvSpPr>
        <p:spPr>
          <a:xfrm>
            <a:off x="219075" y="25527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0" name="Rounded Rectangle 9"/>
          <p:cNvSpPr/>
          <p:nvPr/>
        </p:nvSpPr>
        <p:spPr>
          <a:xfrm>
            <a:off x="142875" y="2905125"/>
            <a:ext cx="11906250" cy="1790700"/>
          </a:xfrm>
          <a:prstGeom prst="roundRect">
            <a:avLst>
              <a:gd name="adj" fmla="val 42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2981325"/>
          <a:ext cx="11887199" cy="1485896"/>
        </p:xfrm>
        <a:graphic>
          <a:graphicData uri="http://schemas.openxmlformats.org/drawingml/2006/table">
            <a:tbl>
              <a:tblPr>
                <a:tableStyleId>{5C22544A-7EE6-4342-B048-85BDC9FD1C3A}</a:tableStyleId>
              </a:tblPr>
              <a:tblGrid>
                <a:gridCol w="3952787"/>
                <a:gridCol w="2644804"/>
                <a:gridCol w="2644804"/>
                <a:gridCol w="2644804"/>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Absolute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247954">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Russia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ASEAN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Kingdom of Saudi Arabia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Japan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4476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3" name="Rectangle 1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5" name="Picture 14" descr="lock.png"/>
          <p:cNvPicPr>
            <a:picLocks noChangeAspect="1"/>
          </p:cNvPicPr>
          <p:nvPr/>
        </p:nvPicPr>
        <p:blipFill>
          <a:blip r:embed="rId4"/>
          <a:stretch>
            <a:fillRect/>
          </a:stretch>
        </p:blipFill>
        <p:spPr>
          <a:xfrm>
            <a:off x="6868190" y="1656588"/>
            <a:ext cx="366712" cy="533400"/>
          </a:xfrm>
          <a:prstGeom prst="rect">
            <a:avLst/>
          </a:prstGeom>
        </p:spPr>
      </p:pic>
      <p:pic>
        <p:nvPicPr>
          <p:cNvPr id="16" name="Picture 15" descr="lock.png"/>
          <p:cNvPicPr>
            <a:picLocks noChangeAspect="1"/>
          </p:cNvPicPr>
          <p:nvPr/>
        </p:nvPicPr>
        <p:blipFill>
          <a:blip r:embed="rId4"/>
          <a:stretch>
            <a:fillRect/>
          </a:stretch>
        </p:blipFill>
        <p:spPr>
          <a:xfrm>
            <a:off x="7885702" y="3580638"/>
            <a:ext cx="366712" cy="5334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7" name="Rounded Rectangle 6"/>
          <p:cNvSpPr/>
          <p:nvPr/>
        </p:nvSpPr>
        <p:spPr>
          <a:xfrm>
            <a:off x="142875" y="981075"/>
            <a:ext cx="11906250" cy="1743075"/>
          </a:xfrm>
          <a:prstGeom prst="roundRect">
            <a:avLst>
              <a:gd name="adj" fmla="val 4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E2A5C"/>
                </a:solidFill>
                <a:latin typeface="Calibri"/>
              </a:rPr>
              <a:t>Market Overview</a:t>
            </a:r>
          </a:p>
        </p:txBody>
      </p:sp>
      <p:sp>
        <p:nvSpPr>
          <p:cNvPr id="9" name="Rectangle 8"/>
          <p:cNvSpPr/>
          <p:nvPr/>
        </p:nvSpPr>
        <p:spPr>
          <a:xfrm>
            <a:off x="276225" y="13049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11639550"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1" name="Rounded Rectangle 10"/>
          <p:cNvSpPr/>
          <p:nvPr/>
        </p:nvSpPr>
        <p:spPr>
          <a:xfrm>
            <a:off x="142875" y="2857500"/>
            <a:ext cx="11906250" cy="1628775"/>
          </a:xfrm>
          <a:prstGeom prst="roundRect">
            <a:avLst>
              <a:gd name="adj" fmla="val 46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943225"/>
            <a:ext cx="11639550" cy="209550"/>
          </a:xfrm>
          <a:prstGeom prst="rect">
            <a:avLst/>
          </a:prstGeom>
          <a:noFill/>
        </p:spPr>
        <p:txBody>
          <a:bodyPr wrap="square" lIns="0" rIns="19050" tIns="9525" bIns="9525">
            <a:spAutoFit/>
          </a:bodyPr>
          <a:lstStyle/>
          <a:p>
            <a:pPr algn="l"/>
            <a:r>
              <a:rPr sz="1300" b="1">
                <a:solidFill>
                  <a:srgbClr val="0E2A5C"/>
                </a:solidFill>
                <a:latin typeface="Calibri"/>
              </a:rPr>
              <a:t>Competitive Landscape</a:t>
            </a:r>
          </a:p>
        </p:txBody>
      </p:sp>
      <p:sp>
        <p:nvSpPr>
          <p:cNvPr id="13" name="Rectangle 12"/>
          <p:cNvSpPr/>
          <p:nvPr/>
        </p:nvSpPr>
        <p:spPr>
          <a:xfrm>
            <a:off x="276225" y="31813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267075"/>
            <a:ext cx="11639550" cy="11430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5" name="Rounded Rectangle 14"/>
          <p:cNvSpPr/>
          <p:nvPr/>
        </p:nvSpPr>
        <p:spPr>
          <a:xfrm>
            <a:off x="142875" y="4619625"/>
            <a:ext cx="3943350" cy="1990725"/>
          </a:xfrm>
          <a:prstGeom prst="roundRect">
            <a:avLst>
              <a:gd name="adj" fmla="val 382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705350"/>
            <a:ext cx="3676650" cy="209550"/>
          </a:xfrm>
          <a:prstGeom prst="rect">
            <a:avLst/>
          </a:prstGeom>
          <a:noFill/>
        </p:spPr>
        <p:txBody>
          <a:bodyPr wrap="square" lIns="0" rIns="19050" tIns="9525" bIns="9525">
            <a:spAutoFit/>
          </a:bodyPr>
          <a:lstStyle/>
          <a:p>
            <a:pPr algn="l"/>
            <a:r>
              <a:rPr sz="1300" b="1">
                <a:solidFill>
                  <a:srgbClr val="0E2A5C"/>
                </a:solidFill>
                <a:latin typeface="Calibri"/>
              </a:rPr>
              <a:t>Drivers</a:t>
            </a:r>
          </a:p>
        </p:txBody>
      </p:sp>
      <p:sp>
        <p:nvSpPr>
          <p:cNvPr id="17" name="Rectangle 16"/>
          <p:cNvSpPr/>
          <p:nvPr/>
        </p:nvSpPr>
        <p:spPr>
          <a:xfrm>
            <a:off x="276225" y="4943475"/>
            <a:ext cx="36766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029200"/>
            <a:ext cx="3676650"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4238625" y="4619625"/>
            <a:ext cx="3819525" cy="1990725"/>
          </a:xfrm>
          <a:prstGeom prst="roundRect">
            <a:avLst>
              <a:gd name="adj" fmla="val 382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71975" y="4705350"/>
            <a:ext cx="3552825" cy="209550"/>
          </a:xfrm>
          <a:prstGeom prst="rect">
            <a:avLst/>
          </a:prstGeom>
          <a:noFill/>
        </p:spPr>
        <p:txBody>
          <a:bodyPr wrap="square" lIns="0" rIns="19050" tIns="9525" bIns="9525">
            <a:spAutoFit/>
          </a:bodyPr>
          <a:lstStyle/>
          <a:p>
            <a:pPr algn="l"/>
            <a:r>
              <a:rPr sz="1300" b="1">
                <a:solidFill>
                  <a:srgbClr val="0E2A5C"/>
                </a:solidFill>
                <a:latin typeface="Calibri"/>
              </a:rPr>
              <a:t>Restraints</a:t>
            </a:r>
          </a:p>
        </p:txBody>
      </p:sp>
      <p:sp>
        <p:nvSpPr>
          <p:cNvPr id="21" name="Rectangle 20"/>
          <p:cNvSpPr/>
          <p:nvPr/>
        </p:nvSpPr>
        <p:spPr>
          <a:xfrm>
            <a:off x="4371975" y="4943475"/>
            <a:ext cx="35528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1975"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8210550" y="4619625"/>
            <a:ext cx="3819525" cy="1990725"/>
          </a:xfrm>
          <a:prstGeom prst="roundRect">
            <a:avLst>
              <a:gd name="adj" fmla="val 382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43900" y="4705350"/>
            <a:ext cx="3552825" cy="209550"/>
          </a:xfrm>
          <a:prstGeom prst="rect">
            <a:avLst/>
          </a:prstGeom>
          <a:noFill/>
        </p:spPr>
        <p:txBody>
          <a:bodyPr wrap="square" lIns="0" rIns="19050" tIns="9525" bIns="9525">
            <a:spAutoFit/>
          </a:bodyPr>
          <a:lstStyle/>
          <a:p>
            <a:pPr algn="l"/>
            <a:r>
              <a:rPr sz="1300" b="1">
                <a:solidFill>
                  <a:srgbClr val="0E2A5C"/>
                </a:solidFill>
                <a:latin typeface="Calibri"/>
              </a:rPr>
              <a:t>Trends</a:t>
            </a:r>
          </a:p>
        </p:txBody>
      </p:sp>
      <p:sp>
        <p:nvSpPr>
          <p:cNvPr id="25" name="Rectangle 24"/>
          <p:cNvSpPr/>
          <p:nvPr/>
        </p:nvSpPr>
        <p:spPr>
          <a:xfrm>
            <a:off x="8343900" y="4943475"/>
            <a:ext cx="35528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43900"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Mix shifting toward 'Steam Turbine-Driven' and higher-growth tiers.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South Asia &amp; Pacific outpacing the global average.</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Demand broadening across 6 driver type categories.</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9" name="TextBox 28"/>
          <p:cNvSpPr txBox="1"/>
          <p:nvPr/>
        </p:nvSpPr>
        <p:spPr>
          <a:xfrm>
            <a:off x="276225" y="1400175"/>
            <a:ext cx="3774516" cy="194310"/>
          </a:xfrm>
          <a:prstGeom prst="rect">
            <a:avLst/>
          </a:prstGeom>
          <a:noFill/>
        </p:spPr>
        <p:txBody>
          <a:bodyPr wrap="none" lIns="0" rIns="0" tIns="0" bIns="0">
            <a:spAutoFit/>
          </a:bodyPr>
          <a:lstStyle/>
          <a:p>
            <a:r>
              <a:rPr sz="1150" b="0">
                <a:solidFill>
                  <a:srgbClr val="2E2E2E"/>
                </a:solidFill>
                <a:latin typeface="Calibri"/>
              </a:rPr>
              <a:t>Global industrial air compressor market is expected to witness</a:t>
            </a:r>
          </a:p>
        </p:txBody>
      </p:sp>
      <p:pic>
        <p:nvPicPr>
          <p:cNvPr id="30" name="Picture 29" descr="lock.png"/>
          <p:cNvPicPr>
            <a:picLocks noChangeAspect="1"/>
          </p:cNvPicPr>
          <p:nvPr/>
        </p:nvPicPr>
        <p:blipFill>
          <a:blip r:embed="rId4"/>
          <a:stretch>
            <a:fillRect/>
          </a:stretch>
        </p:blipFill>
        <p:spPr>
          <a:xfrm>
            <a:off x="3999895" y="1389951"/>
            <a:ext cx="134549" cy="195707"/>
          </a:xfrm>
          <a:prstGeom prst="rect">
            <a:avLst/>
          </a:prstGeom>
        </p:spPr>
      </p:pic>
      <p:sp>
        <p:nvSpPr>
          <p:cNvPr id="31" name="TextBox 30"/>
          <p:cNvSpPr txBox="1"/>
          <p:nvPr/>
        </p:nvSpPr>
        <p:spPr>
          <a:xfrm>
            <a:off x="4175005" y="1400175"/>
            <a:ext cx="5663183" cy="194310"/>
          </a:xfrm>
          <a:prstGeom prst="rect">
            <a:avLst/>
          </a:prstGeom>
          <a:noFill/>
        </p:spPr>
        <p:txBody>
          <a:bodyPr wrap="none" lIns="0" rIns="0" tIns="0" bIns="0">
            <a:spAutoFit/>
          </a:bodyPr>
          <a:lstStyle/>
          <a:p>
            <a:r>
              <a:rPr sz="1150" b="0">
                <a:solidFill>
                  <a:srgbClr val="2E2E2E"/>
                </a:solidFill>
                <a:latin typeface="Calibri"/>
              </a:rPr>
              <a:t>X increase in revenue by 2036 end. Global industrial air compressor market accounted for US$</a:t>
            </a:r>
          </a:p>
        </p:txBody>
      </p:sp>
      <p:pic>
        <p:nvPicPr>
          <p:cNvPr id="32" name="Picture 31" descr="lock.png"/>
          <p:cNvPicPr>
            <a:picLocks noChangeAspect="1"/>
          </p:cNvPicPr>
          <p:nvPr/>
        </p:nvPicPr>
        <p:blipFill>
          <a:blip r:embed="rId4"/>
          <a:stretch>
            <a:fillRect/>
          </a:stretch>
        </p:blipFill>
        <p:spPr>
          <a:xfrm>
            <a:off x="9787342" y="1389951"/>
            <a:ext cx="134549" cy="195707"/>
          </a:xfrm>
          <a:prstGeom prst="rect">
            <a:avLst/>
          </a:prstGeom>
        </p:spPr>
      </p:pic>
      <p:sp>
        <p:nvSpPr>
          <p:cNvPr id="33" name="TextBox 32"/>
          <p:cNvSpPr txBox="1"/>
          <p:nvPr/>
        </p:nvSpPr>
        <p:spPr>
          <a:xfrm>
            <a:off x="9962451" y="1400175"/>
            <a:ext cx="1297942" cy="194310"/>
          </a:xfrm>
          <a:prstGeom prst="rect">
            <a:avLst/>
          </a:prstGeom>
          <a:noFill/>
        </p:spPr>
        <p:txBody>
          <a:bodyPr wrap="none" lIns="0" rIns="0" tIns="0" bIns="0">
            <a:spAutoFit/>
          </a:bodyPr>
          <a:lstStyle/>
          <a:p>
            <a:r>
              <a:rPr sz="1150" b="0">
                <a:solidFill>
                  <a:srgbClr val="2E2E2E"/>
                </a:solidFill>
                <a:latin typeface="Calibri"/>
              </a:rPr>
              <a:t>Mn in 2025, which is</a:t>
            </a:r>
          </a:p>
        </p:txBody>
      </p:sp>
      <p:sp>
        <p:nvSpPr>
          <p:cNvPr id="34" name="TextBox 33"/>
          <p:cNvSpPr txBox="1"/>
          <p:nvPr/>
        </p:nvSpPr>
        <p:spPr>
          <a:xfrm>
            <a:off x="276225" y="1575435"/>
            <a:ext cx="1737518" cy="194310"/>
          </a:xfrm>
          <a:prstGeom prst="rect">
            <a:avLst/>
          </a:prstGeom>
          <a:noFill/>
        </p:spPr>
        <p:txBody>
          <a:bodyPr wrap="none" lIns="0" rIns="0" tIns="0" bIns="0">
            <a:spAutoFit/>
          </a:bodyPr>
          <a:lstStyle/>
          <a:p>
            <a:r>
              <a:rPr sz="1150" b="0">
                <a:solidFill>
                  <a:srgbClr val="2E2E2E"/>
                </a:solidFill>
                <a:latin typeface="Calibri"/>
              </a:rPr>
              <a:t>expected to increase to US$</a:t>
            </a:r>
          </a:p>
        </p:txBody>
      </p:sp>
      <p:pic>
        <p:nvPicPr>
          <p:cNvPr id="35" name="Picture 34" descr="lock.png"/>
          <p:cNvPicPr>
            <a:picLocks noChangeAspect="1"/>
          </p:cNvPicPr>
          <p:nvPr/>
        </p:nvPicPr>
        <p:blipFill>
          <a:blip r:embed="rId4"/>
          <a:stretch>
            <a:fillRect/>
          </a:stretch>
        </p:blipFill>
        <p:spPr>
          <a:xfrm>
            <a:off x="1962897" y="1565211"/>
            <a:ext cx="134549" cy="195707"/>
          </a:xfrm>
          <a:prstGeom prst="rect">
            <a:avLst/>
          </a:prstGeom>
        </p:spPr>
      </p:pic>
      <p:sp>
        <p:nvSpPr>
          <p:cNvPr id="36" name="TextBox 35"/>
          <p:cNvSpPr txBox="1"/>
          <p:nvPr/>
        </p:nvSpPr>
        <p:spPr>
          <a:xfrm>
            <a:off x="2138006"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7" name="Picture 36" descr="lock.png"/>
          <p:cNvPicPr>
            <a:picLocks noChangeAspect="1"/>
          </p:cNvPicPr>
          <p:nvPr/>
        </p:nvPicPr>
        <p:blipFill>
          <a:blip r:embed="rId4"/>
          <a:stretch>
            <a:fillRect/>
          </a:stretch>
        </p:blipFill>
        <p:spPr>
          <a:xfrm>
            <a:off x="3614714" y="1565211"/>
            <a:ext cx="134549" cy="195707"/>
          </a:xfrm>
          <a:prstGeom prst="rect">
            <a:avLst/>
          </a:prstGeom>
        </p:spPr>
      </p:pic>
      <p:sp>
        <p:nvSpPr>
          <p:cNvPr id="38" name="TextBox 37"/>
          <p:cNvSpPr txBox="1"/>
          <p:nvPr/>
        </p:nvSpPr>
        <p:spPr>
          <a:xfrm>
            <a:off x="3789824"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9" name="TextBox 38"/>
          <p:cNvSpPr txBox="1"/>
          <p:nvPr/>
        </p:nvSpPr>
        <p:spPr>
          <a:xfrm>
            <a:off x="276225" y="1803273"/>
            <a:ext cx="11359133" cy="194310"/>
          </a:xfrm>
          <a:prstGeom prst="rect">
            <a:avLst/>
          </a:prstGeom>
          <a:noFill/>
        </p:spPr>
        <p:txBody>
          <a:bodyPr wrap="none" lIns="0" rIns="0" tIns="0" bIns="0">
            <a:spAutoFit/>
          </a:bodyPr>
          <a:lstStyle/>
          <a:p>
            <a:r>
              <a:rPr sz="1150" b="0">
                <a:solidFill>
                  <a:srgbClr val="2E2E2E"/>
                </a:solidFill>
                <a:latin typeface="Calibri"/>
              </a:rPr>
              <a:t>The global industrial air compressor market has been analysed on the basis of technology, capacity, compression stage and end use across the globe. North America is expected to remain the</a:t>
            </a:r>
          </a:p>
        </p:txBody>
      </p:sp>
      <p:sp>
        <p:nvSpPr>
          <p:cNvPr id="40" name="TextBox 39"/>
          <p:cNvSpPr txBox="1"/>
          <p:nvPr/>
        </p:nvSpPr>
        <p:spPr>
          <a:xfrm>
            <a:off x="276225" y="1978533"/>
            <a:ext cx="7705868" cy="194310"/>
          </a:xfrm>
          <a:prstGeom prst="rect">
            <a:avLst/>
          </a:prstGeom>
          <a:noFill/>
        </p:spPr>
        <p:txBody>
          <a:bodyPr wrap="none" lIns="0" rIns="0" tIns="0" bIns="0">
            <a:spAutoFit/>
          </a:bodyPr>
          <a:lstStyle/>
          <a:p>
            <a:r>
              <a:rPr sz="1150" b="0">
                <a:solidFill>
                  <a:srgbClr val="2E2E2E"/>
                </a:solidFill>
                <a:latin typeface="Calibri"/>
              </a:rPr>
              <a:t>largest market for industrial air compressor, while demand in South Asia &amp; Pacific is projected to increase at the highest CAGR of</a:t>
            </a:r>
          </a:p>
        </p:txBody>
      </p:sp>
      <p:pic>
        <p:nvPicPr>
          <p:cNvPr id="41" name="Picture 40" descr="lock.png"/>
          <p:cNvPicPr>
            <a:picLocks noChangeAspect="1"/>
          </p:cNvPicPr>
          <p:nvPr/>
        </p:nvPicPr>
        <p:blipFill>
          <a:blip r:embed="rId4"/>
          <a:stretch>
            <a:fillRect/>
          </a:stretch>
        </p:blipFill>
        <p:spPr>
          <a:xfrm>
            <a:off x="7931247" y="1968309"/>
            <a:ext cx="134549" cy="195707"/>
          </a:xfrm>
          <a:prstGeom prst="rect">
            <a:avLst/>
          </a:prstGeom>
        </p:spPr>
      </p:pic>
      <p:sp>
        <p:nvSpPr>
          <p:cNvPr id="42" name="TextBox 41"/>
          <p:cNvSpPr txBox="1"/>
          <p:nvPr/>
        </p:nvSpPr>
        <p:spPr>
          <a:xfrm>
            <a:off x="8106356"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3" name="TextBox 42"/>
          <p:cNvSpPr txBox="1"/>
          <p:nvPr/>
        </p:nvSpPr>
        <p:spPr>
          <a:xfrm>
            <a:off x="276225" y="3276600"/>
            <a:ext cx="5406739" cy="194310"/>
          </a:xfrm>
          <a:prstGeom prst="rect">
            <a:avLst/>
          </a:prstGeom>
          <a:noFill/>
        </p:spPr>
        <p:txBody>
          <a:bodyPr wrap="none" lIns="0" rIns="0" tIns="0" bIns="0">
            <a:spAutoFit/>
          </a:bodyPr>
          <a:lstStyle/>
          <a:p>
            <a:r>
              <a:rPr sz="1150" b="0">
                <a:solidFill>
                  <a:srgbClr val="2E2E2E"/>
                </a:solidFill>
                <a:latin typeface="Calibri"/>
              </a:rPr>
              <a:t>▪ The market is consolidated: the leading driver type category 'Diesel Engine-Driven' holds</a:t>
            </a:r>
          </a:p>
        </p:txBody>
      </p:sp>
      <p:pic>
        <p:nvPicPr>
          <p:cNvPr id="44" name="Picture 43" descr="lock.png"/>
          <p:cNvPicPr>
            <a:picLocks noChangeAspect="1"/>
          </p:cNvPicPr>
          <p:nvPr/>
        </p:nvPicPr>
        <p:blipFill>
          <a:blip r:embed="rId4"/>
          <a:stretch>
            <a:fillRect/>
          </a:stretch>
        </p:blipFill>
        <p:spPr>
          <a:xfrm>
            <a:off x="5632118" y="3266376"/>
            <a:ext cx="134549" cy="195707"/>
          </a:xfrm>
          <a:prstGeom prst="rect">
            <a:avLst/>
          </a:prstGeom>
        </p:spPr>
      </p:pic>
      <p:sp>
        <p:nvSpPr>
          <p:cNvPr id="45" name="TextBox 44"/>
          <p:cNvSpPr txBox="1"/>
          <p:nvPr/>
        </p:nvSpPr>
        <p:spPr>
          <a:xfrm>
            <a:off x="5807227" y="327660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6" name="TextBox 45"/>
          <p:cNvSpPr txBox="1"/>
          <p:nvPr/>
        </p:nvSpPr>
        <p:spPr>
          <a:xfrm>
            <a:off x="276225" y="3504437"/>
            <a:ext cx="4792873" cy="194310"/>
          </a:xfrm>
          <a:prstGeom prst="rect">
            <a:avLst/>
          </a:prstGeom>
          <a:noFill/>
        </p:spPr>
        <p:txBody>
          <a:bodyPr wrap="none" lIns="0" rIns="0" tIns="0" bIns="0">
            <a:spAutoFit/>
          </a:bodyPr>
          <a:lstStyle/>
          <a:p>
            <a:r>
              <a:rPr sz="1150" b="0">
                <a:solidFill>
                  <a:srgbClr val="2E2E2E"/>
                </a:solidFill>
                <a:latin typeface="Calibri"/>
              </a:rPr>
              <a:t>▪ Demand spans 7 regions and 5 segmentation lenses (6 driver type categories).</a:t>
            </a:r>
          </a:p>
        </p:txBody>
      </p:sp>
      <p:sp>
        <p:nvSpPr>
          <p:cNvPr id="47" name="TextBox 46"/>
          <p:cNvSpPr txBox="1"/>
          <p:nvPr/>
        </p:nvSpPr>
        <p:spPr>
          <a:xfrm>
            <a:off x="276225" y="3732275"/>
            <a:ext cx="2950988" cy="194310"/>
          </a:xfrm>
          <a:prstGeom prst="rect">
            <a:avLst/>
          </a:prstGeom>
          <a:noFill/>
        </p:spPr>
        <p:txBody>
          <a:bodyPr wrap="none" lIns="0" rIns="0" tIns="0" bIns="0">
            <a:spAutoFit/>
          </a:bodyPr>
          <a:lstStyle/>
          <a:p>
            <a:r>
              <a:rPr sz="1150" b="0">
                <a:solidFill>
                  <a:srgbClr val="2E2E2E"/>
                </a:solidFill>
                <a:latin typeface="Calibri"/>
              </a:rPr>
              <a:t>▪ North America is the largest regional market at</a:t>
            </a:r>
          </a:p>
        </p:txBody>
      </p:sp>
      <p:pic>
        <p:nvPicPr>
          <p:cNvPr id="48" name="Picture 47" descr="lock.png"/>
          <p:cNvPicPr>
            <a:picLocks noChangeAspect="1"/>
          </p:cNvPicPr>
          <p:nvPr/>
        </p:nvPicPr>
        <p:blipFill>
          <a:blip r:embed="rId4"/>
          <a:stretch>
            <a:fillRect/>
          </a:stretch>
        </p:blipFill>
        <p:spPr>
          <a:xfrm>
            <a:off x="3176367" y="3722052"/>
            <a:ext cx="134549" cy="195707"/>
          </a:xfrm>
          <a:prstGeom prst="rect">
            <a:avLst/>
          </a:prstGeom>
        </p:spPr>
      </p:pic>
      <p:sp>
        <p:nvSpPr>
          <p:cNvPr id="49" name="TextBox 48"/>
          <p:cNvSpPr txBox="1"/>
          <p:nvPr/>
        </p:nvSpPr>
        <p:spPr>
          <a:xfrm>
            <a:off x="3351477" y="373227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0" name="TextBox 49"/>
          <p:cNvSpPr txBox="1"/>
          <p:nvPr/>
        </p:nvSpPr>
        <p:spPr>
          <a:xfrm>
            <a:off x="276225" y="5038725"/>
            <a:ext cx="2973809" cy="194310"/>
          </a:xfrm>
          <a:prstGeom prst="rect">
            <a:avLst/>
          </a:prstGeom>
          <a:noFill/>
        </p:spPr>
        <p:txBody>
          <a:bodyPr wrap="none" lIns="0" rIns="0" tIns="0" bIns="0">
            <a:spAutoFit/>
          </a:bodyPr>
          <a:lstStyle/>
          <a:p>
            <a:r>
              <a:rPr sz="1150" b="0">
                <a:solidFill>
                  <a:srgbClr val="2E2E2E"/>
                </a:solidFill>
                <a:latin typeface="Calibri"/>
              </a:rPr>
              <a:t>▪ Accelerating uptake of 'Steam Turbine-Driven' (</a:t>
            </a:r>
          </a:p>
        </p:txBody>
      </p:sp>
      <p:pic>
        <p:nvPicPr>
          <p:cNvPr id="51" name="Picture 50" descr="lock.png"/>
          <p:cNvPicPr>
            <a:picLocks noChangeAspect="1"/>
          </p:cNvPicPr>
          <p:nvPr/>
        </p:nvPicPr>
        <p:blipFill>
          <a:blip r:embed="rId4"/>
          <a:stretch>
            <a:fillRect/>
          </a:stretch>
        </p:blipFill>
        <p:spPr>
          <a:xfrm>
            <a:off x="3199188" y="5028501"/>
            <a:ext cx="134549" cy="195707"/>
          </a:xfrm>
          <a:prstGeom prst="rect">
            <a:avLst/>
          </a:prstGeom>
        </p:spPr>
      </p:pic>
      <p:sp>
        <p:nvSpPr>
          <p:cNvPr id="52" name="TextBox 51"/>
          <p:cNvSpPr txBox="1"/>
          <p:nvPr/>
        </p:nvSpPr>
        <p:spPr>
          <a:xfrm>
            <a:off x="3374297" y="503872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3" name="TextBox 52"/>
          <p:cNvSpPr txBox="1"/>
          <p:nvPr/>
        </p:nvSpPr>
        <p:spPr>
          <a:xfrm>
            <a:off x="276225" y="5266563"/>
            <a:ext cx="2877045" cy="194310"/>
          </a:xfrm>
          <a:prstGeom prst="rect">
            <a:avLst/>
          </a:prstGeom>
          <a:noFill/>
        </p:spPr>
        <p:txBody>
          <a:bodyPr wrap="none" lIns="0" rIns="0" tIns="0" bIns="0">
            <a:spAutoFit/>
          </a:bodyPr>
          <a:lstStyle/>
          <a:p>
            <a:r>
              <a:rPr sz="1150" b="0">
                <a:solidFill>
                  <a:srgbClr val="2E2E2E"/>
                </a:solidFill>
                <a:latin typeface="Calibri"/>
              </a:rPr>
              <a:t>▪ Fast-growing demand in South Asia &amp; Pacific (</a:t>
            </a:r>
          </a:p>
        </p:txBody>
      </p:sp>
      <p:pic>
        <p:nvPicPr>
          <p:cNvPr id="54" name="Picture 53" descr="lock.png"/>
          <p:cNvPicPr>
            <a:picLocks noChangeAspect="1"/>
          </p:cNvPicPr>
          <p:nvPr/>
        </p:nvPicPr>
        <p:blipFill>
          <a:blip r:embed="rId4"/>
          <a:stretch>
            <a:fillRect/>
          </a:stretch>
        </p:blipFill>
        <p:spPr>
          <a:xfrm>
            <a:off x="3102424" y="5256339"/>
            <a:ext cx="134549" cy="195707"/>
          </a:xfrm>
          <a:prstGeom prst="rect">
            <a:avLst/>
          </a:prstGeom>
        </p:spPr>
      </p:pic>
      <p:sp>
        <p:nvSpPr>
          <p:cNvPr id="55" name="TextBox 54"/>
          <p:cNvSpPr txBox="1"/>
          <p:nvPr/>
        </p:nvSpPr>
        <p:spPr>
          <a:xfrm>
            <a:off x="3277533" y="5266563"/>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6" name="TextBox 55"/>
          <p:cNvSpPr txBox="1"/>
          <p:nvPr/>
        </p:nvSpPr>
        <p:spPr>
          <a:xfrm>
            <a:off x="276225" y="5494400"/>
            <a:ext cx="3394843" cy="194310"/>
          </a:xfrm>
          <a:prstGeom prst="rect">
            <a:avLst/>
          </a:prstGeom>
          <a:noFill/>
        </p:spPr>
        <p:txBody>
          <a:bodyPr wrap="none" lIns="0" rIns="0" tIns="0" bIns="0">
            <a:spAutoFit/>
          </a:bodyPr>
          <a:lstStyle/>
          <a:p>
            <a:r>
              <a:rPr sz="1150" b="0">
                <a:solidFill>
                  <a:srgbClr val="2E2E2E"/>
                </a:solidFill>
                <a:latin typeface="Calibri"/>
              </a:rPr>
              <a:t>▪ Momentum in Industrial Air Separation within end use</a:t>
            </a:r>
          </a:p>
        </p:txBody>
      </p:sp>
      <p:sp>
        <p:nvSpPr>
          <p:cNvPr id="57" name="TextBox 56"/>
          <p:cNvSpPr txBox="1"/>
          <p:nvPr/>
        </p:nvSpPr>
        <p:spPr>
          <a:xfrm>
            <a:off x="276225" y="5669660"/>
            <a:ext cx="12041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8" name="Picture 57" descr="lock.png"/>
          <p:cNvPicPr>
            <a:picLocks noChangeAspect="1"/>
          </p:cNvPicPr>
          <p:nvPr/>
        </p:nvPicPr>
        <p:blipFill>
          <a:blip r:embed="rId4"/>
          <a:stretch>
            <a:fillRect/>
          </a:stretch>
        </p:blipFill>
        <p:spPr>
          <a:xfrm>
            <a:off x="345793" y="5659437"/>
            <a:ext cx="134549" cy="195707"/>
          </a:xfrm>
          <a:prstGeom prst="rect">
            <a:avLst/>
          </a:prstGeom>
        </p:spPr>
      </p:pic>
      <p:sp>
        <p:nvSpPr>
          <p:cNvPr id="59" name="TextBox 58"/>
          <p:cNvSpPr txBox="1"/>
          <p:nvPr/>
        </p:nvSpPr>
        <p:spPr>
          <a:xfrm>
            <a:off x="520902" y="566966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0" name="TextBox 59"/>
          <p:cNvSpPr txBox="1"/>
          <p:nvPr/>
        </p:nvSpPr>
        <p:spPr>
          <a:xfrm>
            <a:off x="4371975" y="5038725"/>
            <a:ext cx="2690266" cy="194310"/>
          </a:xfrm>
          <a:prstGeom prst="rect">
            <a:avLst/>
          </a:prstGeom>
          <a:noFill/>
        </p:spPr>
        <p:txBody>
          <a:bodyPr wrap="none" lIns="0" rIns="0" tIns="0" bIns="0">
            <a:spAutoFit/>
          </a:bodyPr>
          <a:lstStyle/>
          <a:p>
            <a:r>
              <a:rPr sz="1150" b="0">
                <a:solidFill>
                  <a:srgbClr val="2E2E2E"/>
                </a:solidFill>
                <a:latin typeface="Calibri"/>
              </a:rPr>
              <a:t>▪ Slower momentum in 'Other Drive Types' (</a:t>
            </a:r>
          </a:p>
        </p:txBody>
      </p:sp>
      <p:pic>
        <p:nvPicPr>
          <p:cNvPr id="61" name="Picture 60" descr="lock.png"/>
          <p:cNvPicPr>
            <a:picLocks noChangeAspect="1"/>
          </p:cNvPicPr>
          <p:nvPr/>
        </p:nvPicPr>
        <p:blipFill>
          <a:blip r:embed="rId4"/>
          <a:stretch>
            <a:fillRect/>
          </a:stretch>
        </p:blipFill>
        <p:spPr>
          <a:xfrm>
            <a:off x="7011395" y="5028501"/>
            <a:ext cx="134549" cy="195707"/>
          </a:xfrm>
          <a:prstGeom prst="rect">
            <a:avLst/>
          </a:prstGeom>
        </p:spPr>
      </p:pic>
      <p:sp>
        <p:nvSpPr>
          <p:cNvPr id="62" name="TextBox 61"/>
          <p:cNvSpPr txBox="1"/>
          <p:nvPr/>
        </p:nvSpPr>
        <p:spPr>
          <a:xfrm>
            <a:off x="7186505" y="503872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3" name="TextBox 62"/>
          <p:cNvSpPr txBox="1"/>
          <p:nvPr/>
        </p:nvSpPr>
        <p:spPr>
          <a:xfrm>
            <a:off x="4371975" y="5266563"/>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4" name="TextBox 63"/>
          <p:cNvSpPr txBox="1"/>
          <p:nvPr/>
        </p:nvSpPr>
        <p:spPr>
          <a:xfrm>
            <a:off x="4371975" y="544182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5" name="Picture 64" descr="lock.png"/>
          <p:cNvPicPr>
            <a:picLocks noChangeAspect="1"/>
          </p:cNvPicPr>
          <p:nvPr/>
        </p:nvPicPr>
        <p:blipFill>
          <a:blip r:embed="rId4"/>
          <a:stretch>
            <a:fillRect/>
          </a:stretch>
        </p:blipFill>
        <p:spPr>
          <a:xfrm>
            <a:off x="4883401" y="5431599"/>
            <a:ext cx="134549" cy="195707"/>
          </a:xfrm>
          <a:prstGeom prst="rect">
            <a:avLst/>
          </a:prstGeom>
        </p:spPr>
      </p:pic>
      <p:sp>
        <p:nvSpPr>
          <p:cNvPr id="66" name="TextBox 65"/>
          <p:cNvSpPr txBox="1"/>
          <p:nvPr/>
        </p:nvSpPr>
        <p:spPr>
          <a:xfrm>
            <a:off x="5058510" y="544182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7" name="TextBox 66"/>
          <p:cNvSpPr txBox="1"/>
          <p:nvPr/>
        </p:nvSpPr>
        <p:spPr>
          <a:xfrm>
            <a:off x="4371975" y="5669660"/>
            <a:ext cx="3206576" cy="194310"/>
          </a:xfrm>
          <a:prstGeom prst="rect">
            <a:avLst/>
          </a:prstGeom>
          <a:noFill/>
        </p:spPr>
        <p:txBody>
          <a:bodyPr wrap="none" lIns="0" rIns="0" tIns="0" bIns="0">
            <a:spAutoFit/>
          </a:bodyPr>
          <a:lstStyle/>
          <a:p>
            <a:r>
              <a:rPr sz="1150" b="0">
                <a:solidFill>
                  <a:srgbClr val="2E2E2E"/>
                </a:solidFill>
                <a:latin typeface="Calibri"/>
              </a:rPr>
              <a:t>▪ Value concentration in 'Diesel Engine-Driven' raises</a:t>
            </a:r>
          </a:p>
        </p:txBody>
      </p:sp>
      <p:sp>
        <p:nvSpPr>
          <p:cNvPr id="68" name="TextBox 67"/>
          <p:cNvSpPr txBox="1"/>
          <p:nvPr/>
        </p:nvSpPr>
        <p:spPr>
          <a:xfrm>
            <a:off x="4371975" y="5844920"/>
            <a:ext cx="1604305" cy="194310"/>
          </a:xfrm>
          <a:prstGeom prst="rect">
            <a:avLst/>
          </a:prstGeom>
          <a:noFill/>
        </p:spPr>
        <p:txBody>
          <a:bodyPr wrap="none" lIns="0" rIns="0" tIns="0" bIns="0">
            <a:spAutoFit/>
          </a:bodyPr>
          <a:lstStyle/>
          <a:p>
            <a:r>
              <a:rPr sz="1150" b="0">
                <a:solidFill>
                  <a:srgbClr val="2E2E2E"/>
                </a:solidFill>
                <a:latin typeface="Calibri"/>
              </a:rPr>
              <a:t>barriers for new entrants.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7" name="Rounded Rectangle 6"/>
          <p:cNvSpPr/>
          <p:nvPr/>
        </p:nvSpPr>
        <p:spPr>
          <a:xfrm>
            <a:off x="142875" y="981075"/>
            <a:ext cx="58769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Recent Developments &amp; Key Industry Activities</a:t>
            </a:r>
          </a:p>
        </p:txBody>
      </p:sp>
      <p:sp>
        <p:nvSpPr>
          <p:cNvPr id="9" name="Rectangle 8"/>
          <p:cNvSpPr/>
          <p:nvPr/>
        </p:nvSpPr>
        <p:spPr>
          <a:xfrm>
            <a:off x="276225"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Capacity and product development are concentrating in 'Steam Turbine-Driven' and South Asia &amp; Pacific.</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Portfolio expansion tracks the shift toward higher-growth driver type categories.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Commercial focus is intensifying across North America and South Asia &amp; Pacific.</a:t>
            </a:r>
          </a:p>
        </p:txBody>
      </p:sp>
      <p:sp>
        <p:nvSpPr>
          <p:cNvPr id="11" name="Rounded Rectangle 10"/>
          <p:cNvSpPr/>
          <p:nvPr/>
        </p:nvSpPr>
        <p:spPr>
          <a:xfrm>
            <a:off x="6172200" y="981075"/>
            <a:ext cx="58769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3" name="Rectangle 12"/>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p:txBody>
      </p:sp>
      <p:sp>
        <p:nvSpPr>
          <p:cNvPr id="15" name="Rounded Rectangle 14"/>
          <p:cNvSpPr/>
          <p:nvPr/>
        </p:nvSpPr>
        <p:spPr>
          <a:xfrm>
            <a:off x="142875" y="2895600"/>
            <a:ext cx="5876925" cy="1285875"/>
          </a:xfrm>
          <a:prstGeom prst="roundRect">
            <a:avLst>
              <a:gd name="adj" fmla="val 592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E2A5C"/>
                </a:solidFill>
                <a:latin typeface="Calibri"/>
              </a:rPr>
              <a:t>Strategic Acquisitions &amp; New Investments</a:t>
            </a:r>
          </a:p>
        </p:txBody>
      </p:sp>
      <p:sp>
        <p:nvSpPr>
          <p:cNvPr id="17" name="Rectangle 16"/>
          <p:cNvSpPr/>
          <p:nvPr/>
        </p:nvSpPr>
        <p:spPr>
          <a:xfrm>
            <a:off x="276225" y="321945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p:txBody>
      </p:sp>
      <p:sp>
        <p:nvSpPr>
          <p:cNvPr id="19" name="Rounded Rectangle 18"/>
          <p:cNvSpPr/>
          <p:nvPr/>
        </p:nvSpPr>
        <p:spPr>
          <a:xfrm>
            <a:off x="6172200" y="2895600"/>
            <a:ext cx="5876925" cy="1285875"/>
          </a:xfrm>
          <a:prstGeom prst="roundRect">
            <a:avLst>
              <a:gd name="adj" fmla="val 592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E2A5C"/>
                </a:solidFill>
                <a:latin typeface="Calibri"/>
              </a:rPr>
              <a:t>Substantial Investment in R&amp;D</a:t>
            </a:r>
          </a:p>
        </p:txBody>
      </p:sp>
      <p:sp>
        <p:nvSpPr>
          <p:cNvPr id="21" name="Rectangle 20"/>
          <p:cNvSpPr/>
          <p:nvPr/>
        </p:nvSpPr>
        <p:spPr>
          <a:xfrm>
            <a:off x="6305550" y="321945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3305175"/>
            <a:ext cx="5610225" cy="8001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23" name="Rounded Rectangle 22"/>
          <p:cNvSpPr/>
          <p:nvPr/>
        </p:nvSpPr>
        <p:spPr>
          <a:xfrm>
            <a:off x="142875" y="4314825"/>
            <a:ext cx="11906250" cy="2295525"/>
          </a:xfrm>
          <a:prstGeom prst="roundRect">
            <a:avLst>
              <a:gd name="adj" fmla="val 33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driver type share (2036)</a:t>
            </a:r>
          </a:p>
        </p:txBody>
      </p:sp>
      <p:graphicFrame>
        <p:nvGraphicFramePr>
          <p:cNvPr id="25" name="Chart 24"/>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6" name="TextBox 25"/>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5"/>
          <a:stretch>
            <a:fillRect/>
          </a:stretch>
        </p:blipFill>
        <p:spPr>
          <a:xfrm>
            <a:off x="4135025" y="5284520"/>
            <a:ext cx="382860" cy="556888"/>
          </a:xfrm>
          <a:prstGeom prst="rect">
            <a:avLst/>
          </a:prstGeom>
        </p:spPr>
      </p:pic>
      <p:sp>
        <p:nvSpPr>
          <p:cNvPr id="30" name="TextBox 29"/>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1" name="Picture 30" descr="lock.png"/>
          <p:cNvPicPr>
            <a:picLocks noChangeAspect="1"/>
          </p:cNvPicPr>
          <p:nvPr/>
        </p:nvPicPr>
        <p:blipFill>
          <a:blip r:embed="rId5"/>
          <a:stretch>
            <a:fillRect/>
          </a:stretch>
        </p:blipFill>
        <p:spPr>
          <a:xfrm>
            <a:off x="6937714" y="1390396"/>
            <a:ext cx="128699" cy="187198"/>
          </a:xfrm>
          <a:prstGeom prst="rect">
            <a:avLst/>
          </a:prstGeom>
        </p:spPr>
      </p:pic>
      <p:sp>
        <p:nvSpPr>
          <p:cNvPr id="32" name="TextBox 31"/>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3" name="Picture 32" descr="lock.png"/>
          <p:cNvPicPr>
            <a:picLocks noChangeAspect="1"/>
          </p:cNvPicPr>
          <p:nvPr/>
        </p:nvPicPr>
        <p:blipFill>
          <a:blip r:embed="rId5"/>
          <a:stretch>
            <a:fillRect/>
          </a:stretch>
        </p:blipFill>
        <p:spPr>
          <a:xfrm>
            <a:off x="7931645" y="1390396"/>
            <a:ext cx="128699" cy="187198"/>
          </a:xfrm>
          <a:prstGeom prst="rect">
            <a:avLst/>
          </a:prstGeom>
        </p:spPr>
      </p:pic>
      <p:sp>
        <p:nvSpPr>
          <p:cNvPr id="34" name="TextBox 33"/>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5" name="TextBox 34"/>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6" name="Picture 35" descr="lock.png"/>
          <p:cNvPicPr>
            <a:picLocks noChangeAspect="1"/>
          </p:cNvPicPr>
          <p:nvPr/>
        </p:nvPicPr>
        <p:blipFill>
          <a:blip r:embed="rId5"/>
          <a:stretch>
            <a:fillRect/>
          </a:stretch>
        </p:blipFill>
        <p:spPr>
          <a:xfrm>
            <a:off x="7245444" y="1608328"/>
            <a:ext cx="128699" cy="187198"/>
          </a:xfrm>
          <a:prstGeom prst="rect">
            <a:avLst/>
          </a:prstGeom>
        </p:spPr>
      </p:pic>
      <p:sp>
        <p:nvSpPr>
          <p:cNvPr id="37" name="TextBox 36"/>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38" name="TextBox 37"/>
          <p:cNvSpPr txBox="1"/>
          <p:nvPr/>
        </p:nvSpPr>
        <p:spPr>
          <a:xfrm>
            <a:off x="6305550" y="1836039"/>
            <a:ext cx="2218903" cy="186689"/>
          </a:xfrm>
          <a:prstGeom prst="rect">
            <a:avLst/>
          </a:prstGeom>
          <a:noFill/>
        </p:spPr>
        <p:txBody>
          <a:bodyPr wrap="none" lIns="0" rIns="0" tIns="0" bIns="0">
            <a:spAutoFit/>
          </a:bodyPr>
          <a:lstStyle/>
          <a:p>
            <a:r>
              <a:rPr sz="1100" b="0">
                <a:solidFill>
                  <a:srgbClr val="2E2E2E"/>
                </a:solidFill>
                <a:latin typeface="Calibri"/>
              </a:rPr>
              <a:t>▪ Lead category 'Diesel Engine-Driven'</a:t>
            </a:r>
          </a:p>
        </p:txBody>
      </p:sp>
      <p:pic>
        <p:nvPicPr>
          <p:cNvPr id="39" name="Picture 38" descr="lock.png"/>
          <p:cNvPicPr>
            <a:picLocks noChangeAspect="1"/>
          </p:cNvPicPr>
          <p:nvPr/>
        </p:nvPicPr>
        <p:blipFill>
          <a:blip r:embed="rId5"/>
          <a:stretch>
            <a:fillRect/>
          </a:stretch>
        </p:blipFill>
        <p:spPr>
          <a:xfrm>
            <a:off x="8472504" y="1826260"/>
            <a:ext cx="128699" cy="187198"/>
          </a:xfrm>
          <a:prstGeom prst="rect">
            <a:avLst/>
          </a:prstGeom>
        </p:spPr>
      </p:pic>
      <p:sp>
        <p:nvSpPr>
          <p:cNvPr id="40" name="TextBox 39"/>
          <p:cNvSpPr txBox="1"/>
          <p:nvPr/>
        </p:nvSpPr>
        <p:spPr>
          <a:xfrm>
            <a:off x="8640000"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1" name="TextBox 40"/>
          <p:cNvSpPr txBox="1"/>
          <p:nvPr/>
        </p:nvSpPr>
        <p:spPr>
          <a:xfrm>
            <a:off x="6305550" y="2053970"/>
            <a:ext cx="1686297" cy="186689"/>
          </a:xfrm>
          <a:prstGeom prst="rect">
            <a:avLst/>
          </a:prstGeom>
          <a:noFill/>
        </p:spPr>
        <p:txBody>
          <a:bodyPr wrap="none" lIns="0" rIns="0" tIns="0" bIns="0">
            <a:spAutoFit/>
          </a:bodyPr>
          <a:lstStyle/>
          <a:p>
            <a:r>
              <a:rPr sz="1100" b="0">
                <a:solidFill>
                  <a:srgbClr val="2E2E2E"/>
                </a:solidFill>
                <a:latin typeface="Calibri"/>
              </a:rPr>
              <a:t>▪ Lead region North America</a:t>
            </a:r>
          </a:p>
        </p:txBody>
      </p:sp>
      <p:pic>
        <p:nvPicPr>
          <p:cNvPr id="42" name="Picture 41" descr="lock.png"/>
          <p:cNvPicPr>
            <a:picLocks noChangeAspect="1"/>
          </p:cNvPicPr>
          <p:nvPr/>
        </p:nvPicPr>
        <p:blipFill>
          <a:blip r:embed="rId5"/>
          <a:stretch>
            <a:fillRect/>
          </a:stretch>
        </p:blipFill>
        <p:spPr>
          <a:xfrm>
            <a:off x="7939898" y="2044192"/>
            <a:ext cx="128699" cy="187198"/>
          </a:xfrm>
          <a:prstGeom prst="rect">
            <a:avLst/>
          </a:prstGeom>
        </p:spPr>
      </p:pic>
      <p:sp>
        <p:nvSpPr>
          <p:cNvPr id="43" name="TextBox 42"/>
          <p:cNvSpPr txBox="1"/>
          <p:nvPr/>
        </p:nvSpPr>
        <p:spPr>
          <a:xfrm>
            <a:off x="8107394"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4" name="TextBox 43"/>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5" name="Picture 44" descr="lock.png"/>
          <p:cNvPicPr>
            <a:picLocks noChangeAspect="1"/>
          </p:cNvPicPr>
          <p:nvPr/>
        </p:nvPicPr>
        <p:blipFill>
          <a:blip r:embed="rId5"/>
          <a:stretch>
            <a:fillRect/>
          </a:stretch>
        </p:blipFill>
        <p:spPr>
          <a:xfrm>
            <a:off x="7808384" y="2262124"/>
            <a:ext cx="128699" cy="187198"/>
          </a:xfrm>
          <a:prstGeom prst="rect">
            <a:avLst/>
          </a:prstGeom>
        </p:spPr>
      </p:pic>
      <p:sp>
        <p:nvSpPr>
          <p:cNvPr id="46" name="TextBox 45"/>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7" name="TextBox 46"/>
          <p:cNvSpPr txBox="1"/>
          <p:nvPr/>
        </p:nvSpPr>
        <p:spPr>
          <a:xfrm>
            <a:off x="276225" y="3314700"/>
            <a:ext cx="4591893" cy="186689"/>
          </a:xfrm>
          <a:prstGeom prst="rect">
            <a:avLst/>
          </a:prstGeom>
          <a:noFill/>
        </p:spPr>
        <p:txBody>
          <a:bodyPr wrap="none" lIns="0" rIns="0" tIns="0" bIns="0">
            <a:spAutoFit/>
          </a:bodyPr>
          <a:lstStyle/>
          <a:p>
            <a:r>
              <a:rPr sz="1100" b="0">
                <a:solidFill>
                  <a:srgbClr val="2E2E2E"/>
                </a:solidFill>
                <a:latin typeface="Calibri"/>
              </a:rPr>
              <a:t>▪ Investment is flowing toward the fastest-growing tier 'Steam Turbine-Driven' (</a:t>
            </a:r>
          </a:p>
        </p:txBody>
      </p:sp>
      <p:pic>
        <p:nvPicPr>
          <p:cNvPr id="48" name="Picture 47" descr="lock.png"/>
          <p:cNvPicPr>
            <a:picLocks noChangeAspect="1"/>
          </p:cNvPicPr>
          <p:nvPr/>
        </p:nvPicPr>
        <p:blipFill>
          <a:blip r:embed="rId5"/>
          <a:stretch>
            <a:fillRect/>
          </a:stretch>
        </p:blipFill>
        <p:spPr>
          <a:xfrm>
            <a:off x="4816169" y="3304921"/>
            <a:ext cx="128699" cy="187198"/>
          </a:xfrm>
          <a:prstGeom prst="rect">
            <a:avLst/>
          </a:prstGeom>
        </p:spPr>
      </p:pic>
      <p:sp>
        <p:nvSpPr>
          <p:cNvPr id="49" name="TextBox 48"/>
          <p:cNvSpPr txBox="1"/>
          <p:nvPr/>
        </p:nvSpPr>
        <p:spPr>
          <a:xfrm>
            <a:off x="4983665" y="3314700"/>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50" name="TextBox 49"/>
          <p:cNvSpPr txBox="1"/>
          <p:nvPr/>
        </p:nvSpPr>
        <p:spPr>
          <a:xfrm>
            <a:off x="276225" y="3532632"/>
            <a:ext cx="1351781" cy="186689"/>
          </a:xfrm>
          <a:prstGeom prst="rect">
            <a:avLst/>
          </a:prstGeom>
          <a:noFill/>
        </p:spPr>
        <p:txBody>
          <a:bodyPr wrap="none" lIns="0" rIns="0" tIns="0" bIns="0">
            <a:spAutoFit/>
          </a:bodyPr>
          <a:lstStyle/>
          <a:p>
            <a:r>
              <a:rPr sz="1100" b="0">
                <a:solidFill>
                  <a:srgbClr val="2E2E2E"/>
                </a:solidFill>
                <a:latin typeface="Calibri"/>
              </a:rPr>
              <a:t>▪ South Asia &amp; Pacific (</a:t>
            </a:r>
          </a:p>
        </p:txBody>
      </p:sp>
      <p:pic>
        <p:nvPicPr>
          <p:cNvPr id="51" name="Picture 50" descr="lock.png"/>
          <p:cNvPicPr>
            <a:picLocks noChangeAspect="1"/>
          </p:cNvPicPr>
          <p:nvPr/>
        </p:nvPicPr>
        <p:blipFill>
          <a:blip r:embed="rId5"/>
          <a:stretch>
            <a:fillRect/>
          </a:stretch>
        </p:blipFill>
        <p:spPr>
          <a:xfrm>
            <a:off x="1576057" y="3522853"/>
            <a:ext cx="128699" cy="187198"/>
          </a:xfrm>
          <a:prstGeom prst="rect">
            <a:avLst/>
          </a:prstGeom>
        </p:spPr>
      </p:pic>
      <p:sp>
        <p:nvSpPr>
          <p:cNvPr id="52" name="TextBox 51"/>
          <p:cNvSpPr txBox="1"/>
          <p:nvPr/>
        </p:nvSpPr>
        <p:spPr>
          <a:xfrm>
            <a:off x="1743553" y="3532632"/>
            <a:ext cx="2187525" cy="186689"/>
          </a:xfrm>
          <a:prstGeom prst="rect">
            <a:avLst/>
          </a:prstGeom>
          <a:noFill/>
        </p:spPr>
        <p:txBody>
          <a:bodyPr wrap="none" lIns="0" rIns="0" tIns="0" bIns="0">
            <a:spAutoFit/>
          </a:bodyPr>
          <a:lstStyle/>
          <a:p>
            <a:r>
              <a:rPr sz="1100" b="0">
                <a:solidFill>
                  <a:srgbClr val="2E2E2E"/>
                </a:solidFill>
                <a:latin typeface="Calibri"/>
              </a:rPr>
              <a:t>) is a priority region for new capacity.</a:t>
            </a:r>
          </a:p>
        </p:txBody>
      </p:sp>
      <p:sp>
        <p:nvSpPr>
          <p:cNvPr id="53" name="TextBox 52"/>
          <p:cNvSpPr txBox="1"/>
          <p:nvPr/>
        </p:nvSpPr>
        <p:spPr>
          <a:xfrm>
            <a:off x="276225" y="3750564"/>
            <a:ext cx="3099122" cy="186689"/>
          </a:xfrm>
          <a:prstGeom prst="rect">
            <a:avLst/>
          </a:prstGeom>
          <a:noFill/>
        </p:spPr>
        <p:txBody>
          <a:bodyPr wrap="none" lIns="0" rIns="0" tIns="0" bIns="0">
            <a:spAutoFit/>
          </a:bodyPr>
          <a:lstStyle/>
          <a:p>
            <a:r>
              <a:rPr sz="1100" b="0">
                <a:solidFill>
                  <a:srgbClr val="2E2E2E"/>
                </a:solidFill>
                <a:latin typeface="Calibri"/>
              </a:rPr>
              <a:t>▪ Scale players anchor around 'Diesel Engine-Driven' (</a:t>
            </a:r>
          </a:p>
        </p:txBody>
      </p:sp>
      <p:pic>
        <p:nvPicPr>
          <p:cNvPr id="54" name="Picture 53" descr="lock.png"/>
          <p:cNvPicPr>
            <a:picLocks noChangeAspect="1"/>
          </p:cNvPicPr>
          <p:nvPr/>
        </p:nvPicPr>
        <p:blipFill>
          <a:blip r:embed="rId5"/>
          <a:stretch>
            <a:fillRect/>
          </a:stretch>
        </p:blipFill>
        <p:spPr>
          <a:xfrm>
            <a:off x="3323399" y="3740785"/>
            <a:ext cx="128699" cy="187198"/>
          </a:xfrm>
          <a:prstGeom prst="rect">
            <a:avLst/>
          </a:prstGeom>
        </p:spPr>
      </p:pic>
      <p:sp>
        <p:nvSpPr>
          <p:cNvPr id="55" name="TextBox 54"/>
          <p:cNvSpPr txBox="1"/>
          <p:nvPr/>
        </p:nvSpPr>
        <p:spPr>
          <a:xfrm>
            <a:off x="3490894" y="3750564"/>
            <a:ext cx="46692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56" name="TextBox 55"/>
          <p:cNvSpPr txBox="1"/>
          <p:nvPr/>
        </p:nvSpPr>
        <p:spPr>
          <a:xfrm>
            <a:off x="6305550" y="3314700"/>
            <a:ext cx="4988619" cy="186689"/>
          </a:xfrm>
          <a:prstGeom prst="rect">
            <a:avLst/>
          </a:prstGeom>
          <a:noFill/>
        </p:spPr>
        <p:txBody>
          <a:bodyPr wrap="none" lIns="0" rIns="0" tIns="0" bIns="0">
            <a:spAutoFit/>
          </a:bodyPr>
          <a:lstStyle/>
          <a:p>
            <a:r>
              <a:rPr sz="1100" b="0">
                <a:solidFill>
                  <a:srgbClr val="2E2E2E"/>
                </a:solidFill>
                <a:latin typeface="Calibri"/>
              </a:rPr>
              <a:t>▪ R&amp;D aligns with the migration to 'Steam Turbine-Driven' and adjacent premium tiers.</a:t>
            </a:r>
          </a:p>
        </p:txBody>
      </p:sp>
      <p:sp>
        <p:nvSpPr>
          <p:cNvPr id="57" name="TextBox 56"/>
          <p:cNvSpPr txBox="1"/>
          <p:nvPr/>
        </p:nvSpPr>
        <p:spPr>
          <a:xfrm>
            <a:off x="6305550" y="3532632"/>
            <a:ext cx="4293393" cy="186689"/>
          </a:xfrm>
          <a:prstGeom prst="rect">
            <a:avLst/>
          </a:prstGeom>
          <a:noFill/>
        </p:spPr>
        <p:txBody>
          <a:bodyPr wrap="none" lIns="0" rIns="0" tIns="0" bIns="0">
            <a:spAutoFit/>
          </a:bodyPr>
          <a:lstStyle/>
          <a:p>
            <a:r>
              <a:rPr sz="1100" b="0">
                <a:solidFill>
                  <a:srgbClr val="2E2E2E"/>
                </a:solidFill>
                <a:latin typeface="Calibri"/>
              </a:rPr>
              <a:t>▪ Development spend targets driver type categories gaining share to 2036.</a:t>
            </a:r>
          </a:p>
        </p:txBody>
      </p:sp>
      <p:sp>
        <p:nvSpPr>
          <p:cNvPr id="58" name="TextBox 57"/>
          <p:cNvSpPr txBox="1"/>
          <p:nvPr/>
        </p:nvSpPr>
        <p:spPr>
          <a:xfrm>
            <a:off x="6305550" y="3750564"/>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59" name="Picture 58" descr="lock.png"/>
          <p:cNvPicPr>
            <a:picLocks noChangeAspect="1"/>
          </p:cNvPicPr>
          <p:nvPr/>
        </p:nvPicPr>
        <p:blipFill>
          <a:blip r:embed="rId5"/>
          <a:stretch>
            <a:fillRect/>
          </a:stretch>
        </p:blipFill>
        <p:spPr>
          <a:xfrm>
            <a:off x="7847947" y="3740785"/>
            <a:ext cx="128699" cy="187198"/>
          </a:xfrm>
          <a:prstGeom prst="rect">
            <a:avLst/>
          </a:prstGeom>
        </p:spPr>
      </p:pic>
      <p:sp>
        <p:nvSpPr>
          <p:cNvPr id="60" name="TextBox 59"/>
          <p:cNvSpPr txBox="1"/>
          <p:nvPr/>
        </p:nvSpPr>
        <p:spPr>
          <a:xfrm>
            <a:off x="8015443" y="3750564"/>
            <a:ext cx="924478" cy="186689"/>
          </a:xfrm>
          <a:prstGeom prst="rect">
            <a:avLst/>
          </a:prstGeom>
          <a:noFill/>
        </p:spPr>
        <p:txBody>
          <a:bodyPr wrap="none" lIns="0" rIns="0" tIns="0" bIns="0">
            <a:spAutoFit/>
          </a:bodyPr>
          <a:lstStyle/>
          <a:p>
            <a:r>
              <a:rPr sz="1100" b="0">
                <a:solidFill>
                  <a:srgbClr val="2E2E2E"/>
                </a:solidFill>
                <a:latin typeface="Calibri"/>
              </a:rPr>
              <a:t>forecast CAGR.</a:t>
            </a:r>
          </a:p>
        </p:txBody>
      </p:sp>
      <p:sp>
        <p:nvSpPr>
          <p:cNvPr id="61" name="lockshield_25"/>
          <p:cNvSpPr/>
          <p:nvPr/>
        </p:nvSpPr>
        <p:spPr>
          <a:xfrm>
            <a:off x="238125" y="4600575"/>
            <a:ext cx="11715750" cy="19526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TMR's analysis and recommendation</a:t>
            </a:r>
          </a:p>
        </p:txBody>
      </p:sp>
      <p:sp>
        <p:nvSpPr>
          <p:cNvPr id="7" name="Rounded Rectangle 6"/>
          <p:cNvSpPr/>
          <p:nvPr/>
        </p:nvSpPr>
        <p:spPr>
          <a:xfrm>
            <a:off x="142875" y="981075"/>
            <a:ext cx="5876925" cy="1743075"/>
          </a:xfrm>
          <a:prstGeom prst="roundRect">
            <a:avLst>
              <a:gd name="adj" fmla="val 4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Overall Market Approach</a:t>
            </a:r>
          </a:p>
        </p:txBody>
      </p:sp>
      <p:sp>
        <p:nvSpPr>
          <p:cNvPr id="9" name="Rectangle 8"/>
          <p:cNvSpPr/>
          <p:nvPr/>
        </p:nvSpPr>
        <p:spPr>
          <a:xfrm>
            <a:off x="276225"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1" name="Rounded Rectangle 10"/>
          <p:cNvSpPr/>
          <p:nvPr/>
        </p:nvSpPr>
        <p:spPr>
          <a:xfrm>
            <a:off x="6172200" y="981075"/>
            <a:ext cx="5876925" cy="1743075"/>
          </a:xfrm>
          <a:prstGeom prst="roundRect">
            <a:avLst>
              <a:gd name="adj" fmla="val 4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Differentiating Strategy</a:t>
            </a:r>
          </a:p>
        </p:txBody>
      </p:sp>
      <p:sp>
        <p:nvSpPr>
          <p:cNvPr id="13" name="Rectangle 12"/>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Differentiate through the high-growth 'Steam Turbine-Driven' tier and Industrial Air Separation within end use.</a:t>
            </a:r>
          </a:p>
        </p:txBody>
      </p:sp>
      <p:sp>
        <p:nvSpPr>
          <p:cNvPr id="15" name="Rounded Rectangle 14"/>
          <p:cNvSpPr/>
          <p:nvPr/>
        </p:nvSpPr>
        <p:spPr>
          <a:xfrm>
            <a:off x="142875" y="2857500"/>
            <a:ext cx="5876925" cy="1562100"/>
          </a:xfrm>
          <a:prstGeom prst="roundRect">
            <a:avLst>
              <a:gd name="adj" fmla="val 48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E2A5C"/>
                </a:solidFill>
                <a:latin typeface="Calibri"/>
              </a:rPr>
              <a:t>Market Segment</a:t>
            </a:r>
          </a:p>
        </p:txBody>
      </p:sp>
      <p:sp>
        <p:nvSpPr>
          <p:cNvPr id="17" name="Rectangle 16"/>
          <p:cNvSpPr/>
          <p:nvPr/>
        </p:nvSpPr>
        <p:spPr>
          <a:xfrm>
            <a:off x="276225" y="318135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6172200" y="2857500"/>
            <a:ext cx="5876925" cy="1562100"/>
          </a:xfrm>
          <a:prstGeom prst="roundRect">
            <a:avLst>
              <a:gd name="adj" fmla="val 48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E2A5C"/>
                </a:solidFill>
                <a:latin typeface="Calibri"/>
              </a:rPr>
              <a:t>Market Region</a:t>
            </a:r>
          </a:p>
        </p:txBody>
      </p:sp>
      <p:sp>
        <p:nvSpPr>
          <p:cNvPr id="21" name="Rectangle 20"/>
          <p:cNvSpPr/>
          <p:nvPr/>
        </p:nvSpPr>
        <p:spPr>
          <a:xfrm>
            <a:off x="6305550" y="318135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142875" y="4552950"/>
            <a:ext cx="11906250" cy="2057400"/>
          </a:xfrm>
          <a:prstGeom prst="roundRect">
            <a:avLst>
              <a:gd name="adj" fmla="val 370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E2A5C"/>
                </a:solidFill>
                <a:latin typeface="Calibri"/>
              </a:rPr>
              <a:t>TMR Analysis &amp; Recommendation</a:t>
            </a:r>
          </a:p>
        </p:txBody>
      </p:sp>
      <p:sp>
        <p:nvSpPr>
          <p:cNvPr id="25" name="Rectangle 24"/>
          <p:cNvSpPr/>
          <p:nvPr/>
        </p:nvSpPr>
        <p:spPr>
          <a:xfrm>
            <a:off x="276225" y="48768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9" name="TextBox 28"/>
          <p:cNvSpPr txBox="1"/>
          <p:nvPr/>
        </p:nvSpPr>
        <p:spPr>
          <a:xfrm>
            <a:off x="276225" y="1400175"/>
            <a:ext cx="5302051" cy="194310"/>
          </a:xfrm>
          <a:prstGeom prst="rect">
            <a:avLst/>
          </a:prstGeom>
          <a:noFill/>
        </p:spPr>
        <p:txBody>
          <a:bodyPr wrap="none" lIns="0" rIns="0" tIns="0" bIns="0">
            <a:spAutoFit/>
          </a:bodyPr>
          <a:lstStyle/>
          <a:p>
            <a:r>
              <a:rPr sz="1150" b="0">
                <a:solidFill>
                  <a:srgbClr val="2E2E2E"/>
                </a:solidFill>
                <a:latin typeface="Calibri"/>
              </a:rPr>
              <a:t>▪ Balance scale in 'Diesel Engine-Driven' with targeted growth in 'Steam Turbine-Driven',</a:t>
            </a:r>
          </a:p>
        </p:txBody>
      </p:sp>
      <p:sp>
        <p:nvSpPr>
          <p:cNvPr id="30" name="TextBox 29"/>
          <p:cNvSpPr txBox="1"/>
          <p:nvPr/>
        </p:nvSpPr>
        <p:spPr>
          <a:xfrm>
            <a:off x="276225" y="1575435"/>
            <a:ext cx="825276" cy="194310"/>
          </a:xfrm>
          <a:prstGeom prst="rect">
            <a:avLst/>
          </a:prstGeom>
          <a:noFill/>
        </p:spPr>
        <p:txBody>
          <a:bodyPr wrap="none" lIns="0" rIns="0" tIns="0" bIns="0">
            <a:spAutoFit/>
          </a:bodyPr>
          <a:lstStyle/>
          <a:p>
            <a:r>
              <a:rPr sz="1150" b="0">
                <a:solidFill>
                  <a:srgbClr val="2E2E2E"/>
                </a:solidFill>
                <a:latin typeface="Calibri"/>
              </a:rPr>
              <a:t>pursuing the</a:t>
            </a:r>
          </a:p>
        </p:txBody>
      </p:sp>
      <p:pic>
        <p:nvPicPr>
          <p:cNvPr id="31" name="Picture 30" descr="lock.png"/>
          <p:cNvPicPr>
            <a:picLocks noChangeAspect="1"/>
          </p:cNvPicPr>
          <p:nvPr/>
        </p:nvPicPr>
        <p:blipFill>
          <a:blip r:embed="rId4"/>
          <a:stretch>
            <a:fillRect/>
          </a:stretch>
        </p:blipFill>
        <p:spPr>
          <a:xfrm>
            <a:off x="1050655" y="1565211"/>
            <a:ext cx="134549" cy="195707"/>
          </a:xfrm>
          <a:prstGeom prst="rect">
            <a:avLst/>
          </a:prstGeom>
        </p:spPr>
      </p:pic>
      <p:sp>
        <p:nvSpPr>
          <p:cNvPr id="32" name="TextBox 31"/>
          <p:cNvSpPr txBox="1"/>
          <p:nvPr/>
        </p:nvSpPr>
        <p:spPr>
          <a:xfrm>
            <a:off x="1225764"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3" name="TextBox 32"/>
          <p:cNvSpPr txBox="1"/>
          <p:nvPr/>
        </p:nvSpPr>
        <p:spPr>
          <a:xfrm>
            <a:off x="276225" y="3276600"/>
            <a:ext cx="2172530" cy="194310"/>
          </a:xfrm>
          <a:prstGeom prst="rect">
            <a:avLst/>
          </a:prstGeom>
          <a:noFill/>
        </p:spPr>
        <p:txBody>
          <a:bodyPr wrap="none" lIns="0" rIns="0" tIns="0" bIns="0">
            <a:spAutoFit/>
          </a:bodyPr>
          <a:lstStyle/>
          <a:p>
            <a:r>
              <a:rPr sz="1150" b="0">
                <a:solidFill>
                  <a:srgbClr val="2E2E2E"/>
                </a:solidFill>
                <a:latin typeface="Calibri"/>
              </a:rPr>
              <a:t>▪ Prioritise 'Steam Turbine-Driven' (</a:t>
            </a:r>
          </a:p>
        </p:txBody>
      </p:sp>
      <p:pic>
        <p:nvPicPr>
          <p:cNvPr id="34" name="Picture 33" descr="lock.png"/>
          <p:cNvPicPr>
            <a:picLocks noChangeAspect="1"/>
          </p:cNvPicPr>
          <p:nvPr/>
        </p:nvPicPr>
        <p:blipFill>
          <a:blip r:embed="rId4"/>
          <a:stretch>
            <a:fillRect/>
          </a:stretch>
        </p:blipFill>
        <p:spPr>
          <a:xfrm>
            <a:off x="2397909" y="3266376"/>
            <a:ext cx="134549" cy="195707"/>
          </a:xfrm>
          <a:prstGeom prst="rect">
            <a:avLst/>
          </a:prstGeom>
        </p:spPr>
      </p:pic>
      <p:sp>
        <p:nvSpPr>
          <p:cNvPr id="35" name="TextBox 34"/>
          <p:cNvSpPr txBox="1"/>
          <p:nvPr/>
        </p:nvSpPr>
        <p:spPr>
          <a:xfrm>
            <a:off x="2573019" y="3276600"/>
            <a:ext cx="1987971" cy="194310"/>
          </a:xfrm>
          <a:prstGeom prst="rect">
            <a:avLst/>
          </a:prstGeom>
          <a:noFill/>
        </p:spPr>
        <p:txBody>
          <a:bodyPr wrap="none" lIns="0" rIns="0" tIns="0" bIns="0">
            <a:spAutoFit/>
          </a:bodyPr>
          <a:lstStyle/>
          <a:p>
            <a:r>
              <a:rPr sz="1150" b="0">
                <a:solidFill>
                  <a:srgbClr val="2E2E2E"/>
                </a:solidFill>
                <a:latin typeface="Calibri"/>
              </a:rPr>
              <a:t>); 'Diesel Engine-Driven' anchors</a:t>
            </a:r>
          </a:p>
        </p:txBody>
      </p:sp>
      <p:pic>
        <p:nvPicPr>
          <p:cNvPr id="36" name="Picture 35" descr="lock.png"/>
          <p:cNvPicPr>
            <a:picLocks noChangeAspect="1"/>
          </p:cNvPicPr>
          <p:nvPr/>
        </p:nvPicPr>
        <p:blipFill>
          <a:blip r:embed="rId4"/>
          <a:stretch>
            <a:fillRect/>
          </a:stretch>
        </p:blipFill>
        <p:spPr>
          <a:xfrm>
            <a:off x="4510144" y="3266376"/>
            <a:ext cx="134549" cy="195707"/>
          </a:xfrm>
          <a:prstGeom prst="rect">
            <a:avLst/>
          </a:prstGeom>
        </p:spPr>
      </p:pic>
      <p:sp>
        <p:nvSpPr>
          <p:cNvPr id="37" name="TextBox 36"/>
          <p:cNvSpPr txBox="1"/>
          <p:nvPr/>
        </p:nvSpPr>
        <p:spPr>
          <a:xfrm>
            <a:off x="4685254" y="327660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38" name="TextBox 37"/>
          <p:cNvSpPr txBox="1"/>
          <p:nvPr/>
        </p:nvSpPr>
        <p:spPr>
          <a:xfrm>
            <a:off x="6305550" y="3276600"/>
            <a:ext cx="1720688" cy="194310"/>
          </a:xfrm>
          <a:prstGeom prst="rect">
            <a:avLst/>
          </a:prstGeom>
          <a:noFill/>
        </p:spPr>
        <p:txBody>
          <a:bodyPr wrap="none" lIns="0" rIns="0" tIns="0" bIns="0">
            <a:spAutoFit/>
          </a:bodyPr>
          <a:lstStyle/>
          <a:p>
            <a:r>
              <a:rPr sz="1150" b="0">
                <a:solidFill>
                  <a:srgbClr val="2E2E2E"/>
                </a:solidFill>
                <a:latin typeface="Calibri"/>
              </a:rPr>
              <a:t>▪ Lead with North America (</a:t>
            </a:r>
          </a:p>
        </p:txBody>
      </p:sp>
      <p:pic>
        <p:nvPicPr>
          <p:cNvPr id="39" name="Picture 38" descr="lock.png"/>
          <p:cNvPicPr>
            <a:picLocks noChangeAspect="1"/>
          </p:cNvPicPr>
          <p:nvPr/>
        </p:nvPicPr>
        <p:blipFill>
          <a:blip r:embed="rId4"/>
          <a:stretch>
            <a:fillRect/>
          </a:stretch>
        </p:blipFill>
        <p:spPr>
          <a:xfrm>
            <a:off x="7975392" y="3266376"/>
            <a:ext cx="134549" cy="195707"/>
          </a:xfrm>
          <a:prstGeom prst="rect">
            <a:avLst/>
          </a:prstGeom>
        </p:spPr>
      </p:pic>
      <p:sp>
        <p:nvSpPr>
          <p:cNvPr id="40" name="TextBox 39"/>
          <p:cNvSpPr txBox="1"/>
          <p:nvPr/>
        </p:nvSpPr>
        <p:spPr>
          <a:xfrm>
            <a:off x="8150501" y="3276600"/>
            <a:ext cx="2502854" cy="194310"/>
          </a:xfrm>
          <a:prstGeom prst="rect">
            <a:avLst/>
          </a:prstGeom>
          <a:noFill/>
        </p:spPr>
        <p:txBody>
          <a:bodyPr wrap="none" lIns="0" rIns="0" tIns="0" bIns="0">
            <a:spAutoFit/>
          </a:bodyPr>
          <a:lstStyle/>
          <a:p>
            <a:r>
              <a:rPr sz="1150" b="0">
                <a:solidFill>
                  <a:srgbClr val="2E2E2E"/>
                </a:solidFill>
                <a:latin typeface="Calibri"/>
              </a:rPr>
              <a:t>); capture upside in South Asia &amp; Pacific (</a:t>
            </a:r>
          </a:p>
        </p:txBody>
      </p:sp>
      <p:pic>
        <p:nvPicPr>
          <p:cNvPr id="41" name="Picture 40" descr="lock.png"/>
          <p:cNvPicPr>
            <a:picLocks noChangeAspect="1"/>
          </p:cNvPicPr>
          <p:nvPr/>
        </p:nvPicPr>
        <p:blipFill>
          <a:blip r:embed="rId4"/>
          <a:stretch>
            <a:fillRect/>
          </a:stretch>
        </p:blipFill>
        <p:spPr>
          <a:xfrm>
            <a:off x="10602510" y="3266376"/>
            <a:ext cx="134549" cy="195707"/>
          </a:xfrm>
          <a:prstGeom prst="rect">
            <a:avLst/>
          </a:prstGeom>
        </p:spPr>
      </p:pic>
      <p:sp>
        <p:nvSpPr>
          <p:cNvPr id="42" name="TextBox 41"/>
          <p:cNvSpPr txBox="1"/>
          <p:nvPr/>
        </p:nvSpPr>
        <p:spPr>
          <a:xfrm>
            <a:off x="10777620" y="32766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3" name="TextBox 42"/>
          <p:cNvSpPr txBox="1"/>
          <p:nvPr/>
        </p:nvSpPr>
        <p:spPr>
          <a:xfrm>
            <a:off x="276225" y="4972050"/>
            <a:ext cx="1985404" cy="194310"/>
          </a:xfrm>
          <a:prstGeom prst="rect">
            <a:avLst/>
          </a:prstGeom>
          <a:noFill/>
        </p:spPr>
        <p:txBody>
          <a:bodyPr wrap="none" lIns="0" rIns="0" tIns="0" bIns="0">
            <a:spAutoFit/>
          </a:bodyPr>
          <a:lstStyle/>
          <a:p>
            <a:r>
              <a:rPr sz="1150" b="0">
                <a:solidFill>
                  <a:srgbClr val="2E2E2E"/>
                </a:solidFill>
                <a:latin typeface="Calibri"/>
              </a:rPr>
              <a:t>▪ Industrial Air Compressor adds</a:t>
            </a:r>
          </a:p>
        </p:txBody>
      </p:sp>
      <p:pic>
        <p:nvPicPr>
          <p:cNvPr id="44" name="Picture 43" descr="lock.png"/>
          <p:cNvPicPr>
            <a:picLocks noChangeAspect="1"/>
          </p:cNvPicPr>
          <p:nvPr/>
        </p:nvPicPr>
        <p:blipFill>
          <a:blip r:embed="rId4"/>
          <a:stretch>
            <a:fillRect/>
          </a:stretch>
        </p:blipFill>
        <p:spPr>
          <a:xfrm>
            <a:off x="2210783" y="4961826"/>
            <a:ext cx="134549" cy="195707"/>
          </a:xfrm>
          <a:prstGeom prst="rect">
            <a:avLst/>
          </a:prstGeom>
        </p:spPr>
      </p:pic>
      <p:sp>
        <p:nvSpPr>
          <p:cNvPr id="45" name="TextBox 44"/>
          <p:cNvSpPr txBox="1"/>
          <p:nvPr/>
        </p:nvSpPr>
        <p:spPr>
          <a:xfrm>
            <a:off x="2385892" y="4972050"/>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6" name="Picture 45" descr="lock.png"/>
          <p:cNvPicPr>
            <a:picLocks noChangeAspect="1"/>
          </p:cNvPicPr>
          <p:nvPr/>
        </p:nvPicPr>
        <p:blipFill>
          <a:blip r:embed="rId4"/>
          <a:stretch>
            <a:fillRect/>
          </a:stretch>
        </p:blipFill>
        <p:spPr>
          <a:xfrm>
            <a:off x="4150154" y="4961826"/>
            <a:ext cx="134549" cy="195707"/>
          </a:xfrm>
          <a:prstGeom prst="rect">
            <a:avLst/>
          </a:prstGeom>
        </p:spPr>
      </p:pic>
      <p:sp>
        <p:nvSpPr>
          <p:cNvPr id="47" name="TextBox 46"/>
          <p:cNvSpPr txBox="1"/>
          <p:nvPr/>
        </p:nvSpPr>
        <p:spPr>
          <a:xfrm>
            <a:off x="4325263" y="4972050"/>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48" name="TextBox 47"/>
          <p:cNvSpPr txBox="1"/>
          <p:nvPr/>
        </p:nvSpPr>
        <p:spPr>
          <a:xfrm>
            <a:off x="276225" y="5199888"/>
            <a:ext cx="626563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segment/region while seeding the fastest-growing pockets early.</a:t>
            </a:r>
          </a:p>
        </p:txBody>
      </p:sp>
      <p:sp>
        <p:nvSpPr>
          <p:cNvPr id="49" name="TextBox 48"/>
          <p:cNvSpPr txBox="1"/>
          <p:nvPr/>
        </p:nvSpPr>
        <p:spPr>
          <a:xfrm>
            <a:off x="276225" y="5427725"/>
            <a:ext cx="4589202" cy="194310"/>
          </a:xfrm>
          <a:prstGeom prst="rect">
            <a:avLst/>
          </a:prstGeom>
          <a:noFill/>
        </p:spPr>
        <p:txBody>
          <a:bodyPr wrap="none" lIns="0" rIns="0" tIns="0" bIns="0">
            <a:spAutoFit/>
          </a:bodyPr>
          <a:lstStyle/>
          <a:p>
            <a:r>
              <a:rPr sz="1150" b="0">
                <a:solidFill>
                  <a:srgbClr val="2E2E2E"/>
                </a:solidFill>
                <a:latin typeface="Calibri"/>
              </a:rPr>
              <a:t>▪ Defend share in 'Diesel Engine-Driven' as the value anchor of the portfolio.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7" name="Rounded Rectangle 6"/>
          <p:cNvSpPr/>
          <p:nvPr/>
        </p:nvSpPr>
        <p:spPr>
          <a:xfrm>
            <a:off x="142875" y="981075"/>
            <a:ext cx="3943350"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8" name="Rounded Rectangle 7"/>
          <p:cNvSpPr/>
          <p:nvPr/>
        </p:nvSpPr>
        <p:spPr>
          <a:xfrm>
            <a:off x="4238625" y="981075"/>
            <a:ext cx="3819525"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9" name="Rounded Rectangle 8"/>
          <p:cNvSpPr/>
          <p:nvPr/>
        </p:nvSpPr>
        <p:spPr>
          <a:xfrm>
            <a:off x="8210550" y="981075"/>
            <a:ext cx="3819525"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10" name="Rounded Rectangle 9"/>
          <p:cNvSpPr/>
          <p:nvPr/>
        </p:nvSpPr>
        <p:spPr>
          <a:xfrm>
            <a:off x="142875" y="1809750"/>
            <a:ext cx="5876925" cy="3009900"/>
          </a:xfrm>
          <a:prstGeom prst="roundRect">
            <a:avLst>
              <a:gd name="adj" fmla="val 253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Industrial Air Compressor Market Value (US$ Mn) Scenario Forecast, 2025 &amp; 2036</a:t>
            </a:r>
          </a:p>
        </p:txBody>
      </p:sp>
      <p:cxnSp>
        <p:nvCxnSpPr>
          <p:cNvPr id="12" name="Connector 11"/>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06342" y="3474956"/>
            <a:ext cx="635826" cy="830344"/>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3936" y="3068660"/>
            <a:ext cx="635826" cy="1236640"/>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25725" y="2897512"/>
            <a:ext cx="635826" cy="140778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07515" y="2705100"/>
            <a:ext cx="635826" cy="160020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456468" y="2935310"/>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570768" y="2830535"/>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19" name="Connector 18"/>
          <p:cNvCxnSpPr/>
          <p:nvPr/>
        </p:nvCxnSpPr>
        <p:spPr>
          <a:xfrm>
            <a:off x="1456468" y="2678135"/>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570768" y="2573360"/>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1" name="Connector 20"/>
          <p:cNvCxnSpPr/>
          <p:nvPr/>
        </p:nvCxnSpPr>
        <p:spPr>
          <a:xfrm>
            <a:off x="1456468" y="2420960"/>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570768" y="2316185"/>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3" name="TextBox 22"/>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4" name="TextBox 23"/>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5" name="Oval 24"/>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27" name="Oval 26"/>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29" name="Oval 28"/>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1" name="Rounded Rectangle 30"/>
          <p:cNvSpPr/>
          <p:nvPr/>
        </p:nvSpPr>
        <p:spPr>
          <a:xfrm>
            <a:off x="6172200" y="1809750"/>
            <a:ext cx="5876925" cy="3009900"/>
          </a:xfrm>
          <a:prstGeom prst="roundRect">
            <a:avLst>
              <a:gd name="adj" fmla="val 253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Industrial Air Compressor Market Attractiveness Analysis By Region, 2026–2036</a:t>
            </a:r>
          </a:p>
        </p:txBody>
      </p:sp>
      <p:graphicFrame>
        <p:nvGraphicFramePr>
          <p:cNvPr id="33" name="Chart 32"/>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4" name="Rounded Rectangle 33"/>
          <p:cNvSpPr/>
          <p:nvPr/>
        </p:nvSpPr>
        <p:spPr>
          <a:xfrm>
            <a:off x="142875" y="4953000"/>
            <a:ext cx="11906250" cy="1676400"/>
          </a:xfrm>
          <a:prstGeom prst="roundRect">
            <a:avLst>
              <a:gd name="adj" fmla="val 454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E2A5C"/>
                </a:solidFill>
                <a:latin typeface="Calibri"/>
              </a:rPr>
              <a:t>Scenario Assumptions &amp; Outlook</a:t>
            </a:r>
          </a:p>
        </p:txBody>
      </p:sp>
      <p:sp>
        <p:nvSpPr>
          <p:cNvPr id="36" name="Rectangle 35"/>
          <p:cNvSpPr/>
          <p:nvPr/>
        </p:nvSpPr>
        <p:spPr>
          <a:xfrm>
            <a:off x="276225" y="52768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38" name="Rectangle 3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0" name="Picture 39" descr="lock.png"/>
          <p:cNvPicPr>
            <a:picLocks noChangeAspect="1"/>
          </p:cNvPicPr>
          <p:nvPr/>
        </p:nvPicPr>
        <p:blipFill>
          <a:blip r:embed="rId5"/>
          <a:stretch>
            <a:fillRect/>
          </a:stretch>
        </p:blipFill>
        <p:spPr>
          <a:xfrm>
            <a:off x="2035969" y="1214437"/>
            <a:ext cx="157162" cy="228600"/>
          </a:xfrm>
          <a:prstGeom prst="rect">
            <a:avLst/>
          </a:prstGeom>
        </p:spPr>
      </p:pic>
      <p:pic>
        <p:nvPicPr>
          <p:cNvPr id="41" name="Picture 40" descr="lock.png"/>
          <p:cNvPicPr>
            <a:picLocks noChangeAspect="1"/>
          </p:cNvPicPr>
          <p:nvPr/>
        </p:nvPicPr>
        <p:blipFill>
          <a:blip r:embed="rId5"/>
          <a:stretch>
            <a:fillRect/>
          </a:stretch>
        </p:blipFill>
        <p:spPr>
          <a:xfrm>
            <a:off x="6069806" y="1214437"/>
            <a:ext cx="157162" cy="228600"/>
          </a:xfrm>
          <a:prstGeom prst="rect">
            <a:avLst/>
          </a:prstGeom>
        </p:spPr>
      </p:pic>
      <p:pic>
        <p:nvPicPr>
          <p:cNvPr id="42" name="Picture 41" descr="lock.png"/>
          <p:cNvPicPr>
            <a:picLocks noChangeAspect="1"/>
          </p:cNvPicPr>
          <p:nvPr/>
        </p:nvPicPr>
        <p:blipFill>
          <a:blip r:embed="rId5"/>
          <a:stretch>
            <a:fillRect/>
          </a:stretch>
        </p:blipFill>
        <p:spPr>
          <a:xfrm>
            <a:off x="10041731" y="1214437"/>
            <a:ext cx="157162" cy="228600"/>
          </a:xfrm>
          <a:prstGeom prst="rect">
            <a:avLst/>
          </a:prstGeom>
        </p:spPr>
      </p:pic>
      <p:sp>
        <p:nvSpPr>
          <p:cNvPr id="43" name="TextBox 42"/>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4" name="TextBox 43"/>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5" name="Picture 44" descr="lock.png"/>
          <p:cNvPicPr>
            <a:picLocks noChangeAspect="1"/>
          </p:cNvPicPr>
          <p:nvPr/>
        </p:nvPicPr>
        <p:blipFill>
          <a:blip r:embed="rId5"/>
          <a:stretch>
            <a:fillRect/>
          </a:stretch>
        </p:blipFill>
        <p:spPr>
          <a:xfrm>
            <a:off x="2208575" y="1473019"/>
            <a:ext cx="113255" cy="164734"/>
          </a:xfrm>
          <a:prstGeom prst="rect">
            <a:avLst/>
          </a:prstGeom>
        </p:spPr>
      </p:pic>
      <p:sp>
        <p:nvSpPr>
          <p:cNvPr id="46" name="TextBox 45"/>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7" name="TextBox 46"/>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8" name="Picture 47" descr="lock.png"/>
          <p:cNvPicPr>
            <a:picLocks noChangeAspect="1"/>
          </p:cNvPicPr>
          <p:nvPr/>
        </p:nvPicPr>
        <p:blipFill>
          <a:blip r:embed="rId5"/>
          <a:stretch>
            <a:fillRect/>
          </a:stretch>
        </p:blipFill>
        <p:spPr>
          <a:xfrm>
            <a:off x="6242412" y="1473019"/>
            <a:ext cx="113255" cy="164734"/>
          </a:xfrm>
          <a:prstGeom prst="rect">
            <a:avLst/>
          </a:prstGeom>
        </p:spPr>
      </p:pic>
      <p:sp>
        <p:nvSpPr>
          <p:cNvPr id="49" name="TextBox 48"/>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0" name="TextBox 49"/>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1" name="Picture 50" descr="lock.png"/>
          <p:cNvPicPr>
            <a:picLocks noChangeAspect="1"/>
          </p:cNvPicPr>
          <p:nvPr/>
        </p:nvPicPr>
        <p:blipFill>
          <a:blip r:embed="rId5"/>
          <a:stretch>
            <a:fillRect/>
          </a:stretch>
        </p:blipFill>
        <p:spPr>
          <a:xfrm>
            <a:off x="10214337" y="1473019"/>
            <a:ext cx="113255" cy="164734"/>
          </a:xfrm>
          <a:prstGeom prst="rect">
            <a:avLst/>
          </a:prstGeom>
        </p:spPr>
      </p:pic>
      <p:sp>
        <p:nvSpPr>
          <p:cNvPr id="52" name="TextBox 51"/>
          <p:cNvSpPr txBox="1"/>
          <p:nvPr/>
        </p:nvSpPr>
        <p:spPr>
          <a:xfrm>
            <a:off x="2032418" y="2864901"/>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3" name="Picture 52" descr="lock.png"/>
          <p:cNvPicPr>
            <a:picLocks noChangeAspect="1"/>
          </p:cNvPicPr>
          <p:nvPr/>
        </p:nvPicPr>
        <p:blipFill>
          <a:blip r:embed="rId5"/>
          <a:stretch>
            <a:fillRect/>
          </a:stretch>
        </p:blipFill>
        <p:spPr>
          <a:xfrm>
            <a:off x="2358973" y="2856686"/>
            <a:ext cx="108107" cy="157246"/>
          </a:xfrm>
          <a:prstGeom prst="rect">
            <a:avLst/>
          </a:prstGeom>
        </p:spPr>
      </p:pic>
      <p:sp>
        <p:nvSpPr>
          <p:cNvPr id="54" name="TextBox 53"/>
          <p:cNvSpPr txBox="1"/>
          <p:nvPr/>
        </p:nvSpPr>
        <p:spPr>
          <a:xfrm>
            <a:off x="2032418" y="2607726"/>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599511"/>
            <a:ext cx="108107" cy="157246"/>
          </a:xfrm>
          <a:prstGeom prst="rect">
            <a:avLst/>
          </a:prstGeom>
        </p:spPr>
      </p:pic>
      <p:sp>
        <p:nvSpPr>
          <p:cNvPr id="56" name="TextBox 55"/>
          <p:cNvSpPr txBox="1"/>
          <p:nvPr/>
        </p:nvSpPr>
        <p:spPr>
          <a:xfrm>
            <a:off x="2032418" y="2350551"/>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342336"/>
            <a:ext cx="108107" cy="157246"/>
          </a:xfrm>
          <a:prstGeom prst="rect">
            <a:avLst/>
          </a:prstGeom>
        </p:spPr>
      </p:pic>
      <p:sp>
        <p:nvSpPr>
          <p:cNvPr id="58" name="TextBox 57"/>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59" name="Picture 58" descr="lock.png"/>
          <p:cNvPicPr>
            <a:picLocks noChangeAspect="1"/>
          </p:cNvPicPr>
          <p:nvPr/>
        </p:nvPicPr>
        <p:blipFill>
          <a:blip r:embed="rId5"/>
          <a:stretch>
            <a:fillRect/>
          </a:stretch>
        </p:blipFill>
        <p:spPr>
          <a:xfrm>
            <a:off x="1033540" y="5361876"/>
            <a:ext cx="134549" cy="195707"/>
          </a:xfrm>
          <a:prstGeom prst="rect">
            <a:avLst/>
          </a:prstGeom>
        </p:spPr>
      </p:pic>
      <p:sp>
        <p:nvSpPr>
          <p:cNvPr id="60" name="TextBox 59"/>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1" name="Picture 60" descr="lock.png"/>
          <p:cNvPicPr>
            <a:picLocks noChangeAspect="1"/>
          </p:cNvPicPr>
          <p:nvPr/>
        </p:nvPicPr>
        <p:blipFill>
          <a:blip r:embed="rId5"/>
          <a:stretch>
            <a:fillRect/>
          </a:stretch>
        </p:blipFill>
        <p:spPr>
          <a:xfrm>
            <a:off x="2361612" y="5361876"/>
            <a:ext cx="134549" cy="195707"/>
          </a:xfrm>
          <a:prstGeom prst="rect">
            <a:avLst/>
          </a:prstGeom>
        </p:spPr>
      </p:pic>
      <p:sp>
        <p:nvSpPr>
          <p:cNvPr id="62" name="TextBox 61"/>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3" name="TextBox 62"/>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4" name="Picture 63" descr="lock.png"/>
          <p:cNvPicPr>
            <a:picLocks noChangeAspect="1"/>
          </p:cNvPicPr>
          <p:nvPr/>
        </p:nvPicPr>
        <p:blipFill>
          <a:blip r:embed="rId5"/>
          <a:stretch>
            <a:fillRect/>
          </a:stretch>
        </p:blipFill>
        <p:spPr>
          <a:xfrm>
            <a:off x="1673650" y="5589714"/>
            <a:ext cx="134549" cy="195707"/>
          </a:xfrm>
          <a:prstGeom prst="rect">
            <a:avLst/>
          </a:prstGeom>
        </p:spPr>
      </p:pic>
      <p:sp>
        <p:nvSpPr>
          <p:cNvPr id="65" name="TextBox 64"/>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6" name="Picture 65" descr="lock.png"/>
          <p:cNvPicPr>
            <a:picLocks noChangeAspect="1"/>
          </p:cNvPicPr>
          <p:nvPr/>
        </p:nvPicPr>
        <p:blipFill>
          <a:blip r:embed="rId5"/>
          <a:stretch>
            <a:fillRect/>
          </a:stretch>
        </p:blipFill>
        <p:spPr>
          <a:xfrm>
            <a:off x="2495966" y="5589714"/>
            <a:ext cx="134549" cy="195707"/>
          </a:xfrm>
          <a:prstGeom prst="rect">
            <a:avLst/>
          </a:prstGeom>
        </p:spPr>
      </p:pic>
      <p:sp>
        <p:nvSpPr>
          <p:cNvPr id="67" name="TextBox 66"/>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8" name="TextBox 67"/>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69" name="Picture 68" descr="lock.png"/>
          <p:cNvPicPr>
            <a:picLocks noChangeAspect="1"/>
          </p:cNvPicPr>
          <p:nvPr/>
        </p:nvPicPr>
        <p:blipFill>
          <a:blip r:embed="rId5"/>
          <a:stretch>
            <a:fillRect/>
          </a:stretch>
        </p:blipFill>
        <p:spPr>
          <a:xfrm>
            <a:off x="1194994" y="5817552"/>
            <a:ext cx="134549" cy="195707"/>
          </a:xfrm>
          <a:prstGeom prst="rect">
            <a:avLst/>
          </a:prstGeom>
        </p:spPr>
      </p:pic>
      <p:sp>
        <p:nvSpPr>
          <p:cNvPr id="70" name="TextBox 69"/>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1" name="Picture 70" descr="lock.png"/>
          <p:cNvPicPr>
            <a:picLocks noChangeAspect="1"/>
          </p:cNvPicPr>
          <p:nvPr/>
        </p:nvPicPr>
        <p:blipFill>
          <a:blip r:embed="rId5"/>
          <a:stretch>
            <a:fillRect/>
          </a:stretch>
        </p:blipFill>
        <p:spPr>
          <a:xfrm>
            <a:off x="2017310" y="5817552"/>
            <a:ext cx="134549" cy="195707"/>
          </a:xfrm>
          <a:prstGeom prst="rect">
            <a:avLst/>
          </a:prstGeom>
        </p:spPr>
      </p:pic>
      <p:sp>
        <p:nvSpPr>
          <p:cNvPr id="72" name="TextBox 71"/>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3" name="TextBox 72"/>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4" name="Picture 73" descr="lock.png"/>
          <p:cNvPicPr>
            <a:picLocks noChangeAspect="1"/>
          </p:cNvPicPr>
          <p:nvPr/>
        </p:nvPicPr>
        <p:blipFill>
          <a:blip r:embed="rId5"/>
          <a:stretch>
            <a:fillRect/>
          </a:stretch>
        </p:blipFill>
        <p:spPr>
          <a:xfrm>
            <a:off x="3885509" y="6045390"/>
            <a:ext cx="134549" cy="195707"/>
          </a:xfrm>
          <a:prstGeom prst="rect">
            <a:avLst/>
          </a:prstGeom>
        </p:spPr>
      </p:pic>
      <p:sp>
        <p:nvSpPr>
          <p:cNvPr id="75" name="TextBox 74"/>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6" name="lockshield_33"/>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E2A5C"/>
                </a:solidFill>
                <a:latin typeface="Calibri"/>
              </a:rPr>
              <a:t>Global Market Analysis By Region</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Industrial Air Compressor – Regional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Region</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 Regional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7 regions, highlighting where value concentrates,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Region view breaks the Global market down geographically. Each region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330779"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330779"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North America</a:t>
            </a:r>
          </a:p>
        </p:txBody>
      </p:sp>
      <p:sp>
        <p:nvSpPr>
          <p:cNvPr id="19" name="Rectangle 18"/>
          <p:cNvSpPr/>
          <p:nvPr/>
        </p:nvSpPr>
        <p:spPr>
          <a:xfrm>
            <a:off x="1866900"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37036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311979" y="1773916"/>
            <a:ext cx="1330779"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11979" y="1992961"/>
            <a:ext cx="1330779"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50079"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East Asia</a:t>
            </a:r>
          </a:p>
        </p:txBody>
      </p:sp>
      <p:sp>
        <p:nvSpPr>
          <p:cNvPr id="26" name="Rectangle 25"/>
          <p:cNvSpPr/>
          <p:nvPr/>
        </p:nvSpPr>
        <p:spPr>
          <a:xfrm>
            <a:off x="3311979"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311979"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311979"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3815443"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4757057" y="1773916"/>
            <a:ext cx="1330779"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757057" y="1992961"/>
            <a:ext cx="1330779"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95157"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South Asia &amp; Pacific</a:t>
            </a:r>
          </a:p>
        </p:txBody>
      </p:sp>
      <p:sp>
        <p:nvSpPr>
          <p:cNvPr id="33" name="Rectangle 32"/>
          <p:cNvSpPr/>
          <p:nvPr/>
        </p:nvSpPr>
        <p:spPr>
          <a:xfrm>
            <a:off x="4757057"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4757057"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4757057"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5260521"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6202136" y="1773916"/>
            <a:ext cx="1330779"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02136" y="1992961"/>
            <a:ext cx="1330779"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40236"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Latin America</a:t>
            </a:r>
          </a:p>
        </p:txBody>
      </p:sp>
      <p:sp>
        <p:nvSpPr>
          <p:cNvPr id="40" name="Rectangle 39"/>
          <p:cNvSpPr/>
          <p:nvPr/>
        </p:nvSpPr>
        <p:spPr>
          <a:xfrm>
            <a:off x="6202136"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6202136"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6202136"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670560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7647214" y="1773916"/>
            <a:ext cx="1330779"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647214" y="1992961"/>
            <a:ext cx="1330779"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85314"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Middle East &amp; Africa</a:t>
            </a:r>
          </a:p>
        </p:txBody>
      </p:sp>
      <p:sp>
        <p:nvSpPr>
          <p:cNvPr id="47" name="Rectangle 46"/>
          <p:cNvSpPr/>
          <p:nvPr/>
        </p:nvSpPr>
        <p:spPr>
          <a:xfrm>
            <a:off x="7647214"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7647214"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7647214"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815067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9092293" y="1773916"/>
            <a:ext cx="1330779"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092293" y="1992961"/>
            <a:ext cx="1330779"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130393"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Eastern Europe</a:t>
            </a:r>
          </a:p>
        </p:txBody>
      </p:sp>
      <p:sp>
        <p:nvSpPr>
          <p:cNvPr id="54" name="Rectangle 53"/>
          <p:cNvSpPr/>
          <p:nvPr/>
        </p:nvSpPr>
        <p:spPr>
          <a:xfrm>
            <a:off x="9092293"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5" name="Rectangle 54"/>
          <p:cNvSpPr/>
          <p:nvPr/>
        </p:nvSpPr>
        <p:spPr>
          <a:xfrm>
            <a:off x="9092293"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6" name="Rectangle 55"/>
          <p:cNvSpPr/>
          <p:nvPr/>
        </p:nvSpPr>
        <p:spPr>
          <a:xfrm>
            <a:off x="9092293"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7" name="Oval 56"/>
          <p:cNvSpPr/>
          <p:nvPr/>
        </p:nvSpPr>
        <p:spPr>
          <a:xfrm>
            <a:off x="9595757"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58" name="Rounded Rectangle 57"/>
          <p:cNvSpPr/>
          <p:nvPr/>
        </p:nvSpPr>
        <p:spPr>
          <a:xfrm>
            <a:off x="10537371" y="1773916"/>
            <a:ext cx="1330779"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537371" y="1992961"/>
            <a:ext cx="1330779"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575471"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Western Europe</a:t>
            </a:r>
          </a:p>
        </p:txBody>
      </p:sp>
      <p:sp>
        <p:nvSpPr>
          <p:cNvPr id="61" name="Rectangle 60"/>
          <p:cNvSpPr/>
          <p:nvPr/>
        </p:nvSpPr>
        <p:spPr>
          <a:xfrm>
            <a:off x="10537371"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2" name="Rectangle 61"/>
          <p:cNvSpPr/>
          <p:nvPr/>
        </p:nvSpPr>
        <p:spPr>
          <a:xfrm>
            <a:off x="10537371"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3" name="Rectangle 62"/>
          <p:cNvSpPr/>
          <p:nvPr/>
        </p:nvSpPr>
        <p:spPr>
          <a:xfrm>
            <a:off x="10537371"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4" name="Oval 63"/>
          <p:cNvSpPr/>
          <p:nvPr/>
        </p:nvSpPr>
        <p:spPr>
          <a:xfrm>
            <a:off x="11040836"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65" name="Rounded Rectangle 6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7" name="Rectangle 66"/>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9" name="Rounded Rectangle 6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Region Insights</a:t>
            </a:r>
          </a:p>
        </p:txBody>
      </p:sp>
      <p:sp>
        <p:nvSpPr>
          <p:cNvPr id="71" name="Rectangle 70"/>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p:txBody>
      </p:sp>
      <p:sp>
        <p:nvSpPr>
          <p:cNvPr id="73" name="Rounded Rectangle 7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Region Overview</a:t>
            </a:r>
          </a:p>
        </p:txBody>
      </p:sp>
      <p:sp>
        <p:nvSpPr>
          <p:cNvPr id="75" name="Rectangle 74"/>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By Region split shows where market value concentrates and where growth is fastest.</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demand and access dynamics are rebalancing the geographic mix through 2036.</a:t>
            </a:r>
          </a:p>
        </p:txBody>
      </p:sp>
      <p:sp>
        <p:nvSpPr>
          <p:cNvPr id="77" name="Rectangle 7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9" name="TextBox 78"/>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80" name="Rectangle 7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82" name="Picture 81" descr="4_317_605E5C.png"/>
          <p:cNvPicPr>
            <a:picLocks noChangeAspect="1"/>
          </p:cNvPicPr>
          <p:nvPr/>
        </p:nvPicPr>
        <p:blipFill>
          <a:blip r:embed="rId4"/>
          <a:stretch>
            <a:fillRect/>
          </a:stretch>
        </p:blipFill>
        <p:spPr>
          <a:xfrm>
            <a:off x="1934425" y="2286582"/>
            <a:ext cx="1195728" cy="361950"/>
          </a:xfrm>
          <a:prstGeom prst="rect">
            <a:avLst/>
          </a:prstGeom>
        </p:spPr>
      </p:pic>
      <p:pic>
        <p:nvPicPr>
          <p:cNvPr id="83" name="Picture 82" descr="6_529_605E5C.png"/>
          <p:cNvPicPr>
            <a:picLocks noChangeAspect="1"/>
          </p:cNvPicPr>
          <p:nvPr/>
        </p:nvPicPr>
        <p:blipFill>
          <a:blip r:embed="rId5"/>
          <a:stretch>
            <a:fillRect/>
          </a:stretch>
        </p:blipFill>
        <p:spPr>
          <a:xfrm>
            <a:off x="1934425" y="2779432"/>
            <a:ext cx="1195728" cy="361950"/>
          </a:xfrm>
          <a:prstGeom prst="rect">
            <a:avLst/>
          </a:prstGeom>
        </p:spPr>
      </p:pic>
      <p:pic>
        <p:nvPicPr>
          <p:cNvPr id="84" name="Picture 83" descr="4_2__605E5C.png"/>
          <p:cNvPicPr>
            <a:picLocks noChangeAspect="1"/>
          </p:cNvPicPr>
          <p:nvPr/>
        </p:nvPicPr>
        <p:blipFill>
          <a:blip r:embed="rId6"/>
          <a:stretch>
            <a:fillRect/>
          </a:stretch>
        </p:blipFill>
        <p:spPr>
          <a:xfrm>
            <a:off x="2041071" y="3272281"/>
            <a:ext cx="982436" cy="361950"/>
          </a:xfrm>
          <a:prstGeom prst="rect">
            <a:avLst/>
          </a:prstGeom>
        </p:spPr>
      </p:pic>
      <p:pic>
        <p:nvPicPr>
          <p:cNvPr id="85" name="Picture 84" descr="1_700_605E5C.png"/>
          <p:cNvPicPr>
            <a:picLocks noChangeAspect="1"/>
          </p:cNvPicPr>
          <p:nvPr/>
        </p:nvPicPr>
        <p:blipFill>
          <a:blip r:embed="rId7"/>
          <a:stretch>
            <a:fillRect/>
          </a:stretch>
        </p:blipFill>
        <p:spPr>
          <a:xfrm>
            <a:off x="3379504" y="2286582"/>
            <a:ext cx="1195728" cy="361950"/>
          </a:xfrm>
          <a:prstGeom prst="rect">
            <a:avLst/>
          </a:prstGeom>
        </p:spPr>
      </p:pic>
      <p:pic>
        <p:nvPicPr>
          <p:cNvPr id="86" name="Picture 85" descr="2_716_605E5C.png"/>
          <p:cNvPicPr>
            <a:picLocks noChangeAspect="1"/>
          </p:cNvPicPr>
          <p:nvPr/>
        </p:nvPicPr>
        <p:blipFill>
          <a:blip r:embed="rId8"/>
          <a:stretch>
            <a:fillRect/>
          </a:stretch>
        </p:blipFill>
        <p:spPr>
          <a:xfrm>
            <a:off x="3379504" y="2779432"/>
            <a:ext cx="1195728" cy="361950"/>
          </a:xfrm>
          <a:prstGeom prst="rect">
            <a:avLst/>
          </a:prstGeom>
        </p:spPr>
      </p:pic>
      <p:pic>
        <p:nvPicPr>
          <p:cNvPr id="87" name="Picture 86" descr="4_8__605E5C.png"/>
          <p:cNvPicPr>
            <a:picLocks noChangeAspect="1"/>
          </p:cNvPicPr>
          <p:nvPr/>
        </p:nvPicPr>
        <p:blipFill>
          <a:blip r:embed="rId9"/>
          <a:stretch>
            <a:fillRect/>
          </a:stretch>
        </p:blipFill>
        <p:spPr>
          <a:xfrm>
            <a:off x="3486150" y="3272281"/>
            <a:ext cx="982436" cy="361950"/>
          </a:xfrm>
          <a:prstGeom prst="rect">
            <a:avLst/>
          </a:prstGeom>
        </p:spPr>
      </p:pic>
      <p:pic>
        <p:nvPicPr>
          <p:cNvPr id="88" name="Picture 87" descr="1_570_605E5C.png"/>
          <p:cNvPicPr>
            <a:picLocks noChangeAspect="1"/>
          </p:cNvPicPr>
          <p:nvPr/>
        </p:nvPicPr>
        <p:blipFill>
          <a:blip r:embed="rId10"/>
          <a:stretch>
            <a:fillRect/>
          </a:stretch>
        </p:blipFill>
        <p:spPr>
          <a:xfrm>
            <a:off x="4824582" y="2286582"/>
            <a:ext cx="1195728" cy="361950"/>
          </a:xfrm>
          <a:prstGeom prst="rect">
            <a:avLst/>
          </a:prstGeom>
        </p:spPr>
      </p:pic>
      <p:pic>
        <p:nvPicPr>
          <p:cNvPr id="89" name="Picture 88" descr="2_821_605E5C.png"/>
          <p:cNvPicPr>
            <a:picLocks noChangeAspect="1"/>
          </p:cNvPicPr>
          <p:nvPr/>
        </p:nvPicPr>
        <p:blipFill>
          <a:blip r:embed="rId11"/>
          <a:stretch>
            <a:fillRect/>
          </a:stretch>
        </p:blipFill>
        <p:spPr>
          <a:xfrm>
            <a:off x="4824582" y="2779432"/>
            <a:ext cx="1195728" cy="361950"/>
          </a:xfrm>
          <a:prstGeom prst="rect">
            <a:avLst/>
          </a:prstGeom>
        </p:spPr>
      </p:pic>
      <p:pic>
        <p:nvPicPr>
          <p:cNvPr id="90" name="Picture 89" descr="6_0__605E5C.png"/>
          <p:cNvPicPr>
            <a:picLocks noChangeAspect="1"/>
          </p:cNvPicPr>
          <p:nvPr/>
        </p:nvPicPr>
        <p:blipFill>
          <a:blip r:embed="rId12"/>
          <a:stretch>
            <a:fillRect/>
          </a:stretch>
        </p:blipFill>
        <p:spPr>
          <a:xfrm>
            <a:off x="4931228" y="3272281"/>
            <a:ext cx="982436" cy="361950"/>
          </a:xfrm>
          <a:prstGeom prst="rect">
            <a:avLst/>
          </a:prstGeom>
        </p:spPr>
      </p:pic>
      <p:pic>
        <p:nvPicPr>
          <p:cNvPr id="91" name="Picture 90" descr="1_046_605E5C.png"/>
          <p:cNvPicPr>
            <a:picLocks noChangeAspect="1"/>
          </p:cNvPicPr>
          <p:nvPr/>
        </p:nvPicPr>
        <p:blipFill>
          <a:blip r:embed="rId13"/>
          <a:stretch>
            <a:fillRect/>
          </a:stretch>
        </p:blipFill>
        <p:spPr>
          <a:xfrm>
            <a:off x="6269661" y="2286582"/>
            <a:ext cx="1195728" cy="361950"/>
          </a:xfrm>
          <a:prstGeom prst="rect">
            <a:avLst/>
          </a:prstGeom>
        </p:spPr>
      </p:pic>
      <p:pic>
        <p:nvPicPr>
          <p:cNvPr id="92" name="Picture 91" descr="1_854_605E5C.png"/>
          <p:cNvPicPr>
            <a:picLocks noChangeAspect="1"/>
          </p:cNvPicPr>
          <p:nvPr/>
        </p:nvPicPr>
        <p:blipFill>
          <a:blip r:embed="rId14"/>
          <a:stretch>
            <a:fillRect/>
          </a:stretch>
        </p:blipFill>
        <p:spPr>
          <a:xfrm>
            <a:off x="6269661" y="2779432"/>
            <a:ext cx="1195728" cy="361950"/>
          </a:xfrm>
          <a:prstGeom prst="rect">
            <a:avLst/>
          </a:prstGeom>
        </p:spPr>
      </p:pic>
      <p:pic>
        <p:nvPicPr>
          <p:cNvPr id="93" name="Picture 92" descr="5_9__605E5C.png"/>
          <p:cNvPicPr>
            <a:picLocks noChangeAspect="1"/>
          </p:cNvPicPr>
          <p:nvPr/>
        </p:nvPicPr>
        <p:blipFill>
          <a:blip r:embed="rId15"/>
          <a:stretch>
            <a:fillRect/>
          </a:stretch>
        </p:blipFill>
        <p:spPr>
          <a:xfrm>
            <a:off x="6376307" y="3272281"/>
            <a:ext cx="982436" cy="361950"/>
          </a:xfrm>
          <a:prstGeom prst="rect">
            <a:avLst/>
          </a:prstGeom>
        </p:spPr>
      </p:pic>
      <p:pic>
        <p:nvPicPr>
          <p:cNvPr id="94" name="Picture 93" descr="915_6_605E5C.png"/>
          <p:cNvPicPr>
            <a:picLocks noChangeAspect="1"/>
          </p:cNvPicPr>
          <p:nvPr/>
        </p:nvPicPr>
        <p:blipFill>
          <a:blip r:embed="rId16"/>
          <a:stretch>
            <a:fillRect/>
          </a:stretch>
        </p:blipFill>
        <p:spPr>
          <a:xfrm>
            <a:off x="7714739" y="2286582"/>
            <a:ext cx="1195728" cy="361950"/>
          </a:xfrm>
          <a:prstGeom prst="rect">
            <a:avLst/>
          </a:prstGeom>
        </p:spPr>
      </p:pic>
      <p:pic>
        <p:nvPicPr>
          <p:cNvPr id="95" name="Picture 94" descr="1_480_605E5C.png"/>
          <p:cNvPicPr>
            <a:picLocks noChangeAspect="1"/>
          </p:cNvPicPr>
          <p:nvPr/>
        </p:nvPicPr>
        <p:blipFill>
          <a:blip r:embed="rId17"/>
          <a:stretch>
            <a:fillRect/>
          </a:stretch>
        </p:blipFill>
        <p:spPr>
          <a:xfrm>
            <a:off x="7714739" y="2779432"/>
            <a:ext cx="1195728" cy="361950"/>
          </a:xfrm>
          <a:prstGeom prst="rect">
            <a:avLst/>
          </a:prstGeom>
        </p:spPr>
      </p:pic>
      <p:pic>
        <p:nvPicPr>
          <p:cNvPr id="96" name="Picture 95" descr="4_9__605E5C.png"/>
          <p:cNvPicPr>
            <a:picLocks noChangeAspect="1"/>
          </p:cNvPicPr>
          <p:nvPr/>
        </p:nvPicPr>
        <p:blipFill>
          <a:blip r:embed="rId18"/>
          <a:stretch>
            <a:fillRect/>
          </a:stretch>
        </p:blipFill>
        <p:spPr>
          <a:xfrm>
            <a:off x="7821385" y="3272281"/>
            <a:ext cx="982436" cy="361950"/>
          </a:xfrm>
          <a:prstGeom prst="rect">
            <a:avLst/>
          </a:prstGeom>
        </p:spPr>
      </p:pic>
      <p:pic>
        <p:nvPicPr>
          <p:cNvPr id="97" name="Picture 96" descr="803_7_605E5C.png"/>
          <p:cNvPicPr>
            <a:picLocks noChangeAspect="1"/>
          </p:cNvPicPr>
          <p:nvPr/>
        </p:nvPicPr>
        <p:blipFill>
          <a:blip r:embed="rId19"/>
          <a:stretch>
            <a:fillRect/>
          </a:stretch>
        </p:blipFill>
        <p:spPr>
          <a:xfrm>
            <a:off x="9159818" y="2286582"/>
            <a:ext cx="1195728" cy="361950"/>
          </a:xfrm>
          <a:prstGeom prst="rect">
            <a:avLst/>
          </a:prstGeom>
        </p:spPr>
      </p:pic>
      <p:pic>
        <p:nvPicPr>
          <p:cNvPr id="98" name="Picture 97" descr="1_400_605E5C.png"/>
          <p:cNvPicPr>
            <a:picLocks noChangeAspect="1"/>
          </p:cNvPicPr>
          <p:nvPr/>
        </p:nvPicPr>
        <p:blipFill>
          <a:blip r:embed="rId20"/>
          <a:stretch>
            <a:fillRect/>
          </a:stretch>
        </p:blipFill>
        <p:spPr>
          <a:xfrm>
            <a:off x="9159818" y="2779432"/>
            <a:ext cx="1195728" cy="361950"/>
          </a:xfrm>
          <a:prstGeom prst="rect">
            <a:avLst/>
          </a:prstGeom>
        </p:spPr>
      </p:pic>
      <p:pic>
        <p:nvPicPr>
          <p:cNvPr id="99" name="Picture 98" descr="5_7__605E5C.png"/>
          <p:cNvPicPr>
            <a:picLocks noChangeAspect="1"/>
          </p:cNvPicPr>
          <p:nvPr/>
        </p:nvPicPr>
        <p:blipFill>
          <a:blip r:embed="rId21"/>
          <a:stretch>
            <a:fillRect/>
          </a:stretch>
        </p:blipFill>
        <p:spPr>
          <a:xfrm>
            <a:off x="9266464" y="3272281"/>
            <a:ext cx="982436" cy="361950"/>
          </a:xfrm>
          <a:prstGeom prst="rect">
            <a:avLst/>
          </a:prstGeom>
        </p:spPr>
      </p:pic>
      <p:pic>
        <p:nvPicPr>
          <p:cNvPr id="100" name="Picture 99" descr="547_7_605E5C.png"/>
          <p:cNvPicPr>
            <a:picLocks noChangeAspect="1"/>
          </p:cNvPicPr>
          <p:nvPr/>
        </p:nvPicPr>
        <p:blipFill>
          <a:blip r:embed="rId22"/>
          <a:stretch>
            <a:fillRect/>
          </a:stretch>
        </p:blipFill>
        <p:spPr>
          <a:xfrm>
            <a:off x="10604896" y="2286582"/>
            <a:ext cx="1195728" cy="361950"/>
          </a:xfrm>
          <a:prstGeom prst="rect">
            <a:avLst/>
          </a:prstGeom>
        </p:spPr>
      </p:pic>
      <p:pic>
        <p:nvPicPr>
          <p:cNvPr id="101" name="Picture 100" descr="943_6_605E5C.png"/>
          <p:cNvPicPr>
            <a:picLocks noChangeAspect="1"/>
          </p:cNvPicPr>
          <p:nvPr/>
        </p:nvPicPr>
        <p:blipFill>
          <a:blip r:embed="rId23"/>
          <a:stretch>
            <a:fillRect/>
          </a:stretch>
        </p:blipFill>
        <p:spPr>
          <a:xfrm>
            <a:off x="10604896" y="2779432"/>
            <a:ext cx="1195728" cy="361950"/>
          </a:xfrm>
          <a:prstGeom prst="rect">
            <a:avLst/>
          </a:prstGeom>
        </p:spPr>
      </p:pic>
      <p:pic>
        <p:nvPicPr>
          <p:cNvPr id="102" name="Picture 101" descr="5_6__605E5C.png"/>
          <p:cNvPicPr>
            <a:picLocks noChangeAspect="1"/>
          </p:cNvPicPr>
          <p:nvPr/>
        </p:nvPicPr>
        <p:blipFill>
          <a:blip r:embed="rId24"/>
          <a:stretch>
            <a:fillRect/>
          </a:stretch>
        </p:blipFill>
        <p:spPr>
          <a:xfrm>
            <a:off x="10711542" y="3272281"/>
            <a:ext cx="982436" cy="361950"/>
          </a:xfrm>
          <a:prstGeom prst="rect">
            <a:avLst/>
          </a:prstGeom>
        </p:spPr>
      </p:pic>
      <p:pic>
        <p:nvPicPr>
          <p:cNvPr id="103" name="Picture 102" descr="lock.png"/>
          <p:cNvPicPr>
            <a:picLocks noChangeAspect="1"/>
          </p:cNvPicPr>
          <p:nvPr/>
        </p:nvPicPr>
        <p:blipFill>
          <a:blip r:embed="rId25"/>
          <a:stretch>
            <a:fillRect/>
          </a:stretch>
        </p:blipFill>
        <p:spPr>
          <a:xfrm>
            <a:off x="2438944" y="2827057"/>
            <a:ext cx="183356" cy="266700"/>
          </a:xfrm>
          <a:prstGeom prst="rect">
            <a:avLst/>
          </a:prstGeom>
        </p:spPr>
      </p:pic>
      <p:pic>
        <p:nvPicPr>
          <p:cNvPr id="104" name="Picture 103" descr="lock.png"/>
          <p:cNvPicPr>
            <a:picLocks noChangeAspect="1"/>
          </p:cNvPicPr>
          <p:nvPr/>
        </p:nvPicPr>
        <p:blipFill>
          <a:blip r:embed="rId25"/>
          <a:stretch>
            <a:fillRect/>
          </a:stretch>
        </p:blipFill>
        <p:spPr>
          <a:xfrm>
            <a:off x="3884023" y="2827057"/>
            <a:ext cx="183356" cy="266700"/>
          </a:xfrm>
          <a:prstGeom prst="rect">
            <a:avLst/>
          </a:prstGeom>
        </p:spPr>
      </p:pic>
      <p:pic>
        <p:nvPicPr>
          <p:cNvPr id="105" name="Picture 104" descr="lock.png"/>
          <p:cNvPicPr>
            <a:picLocks noChangeAspect="1"/>
          </p:cNvPicPr>
          <p:nvPr/>
        </p:nvPicPr>
        <p:blipFill>
          <a:blip r:embed="rId25"/>
          <a:stretch>
            <a:fillRect/>
          </a:stretch>
        </p:blipFill>
        <p:spPr>
          <a:xfrm>
            <a:off x="5329101" y="2827057"/>
            <a:ext cx="183356" cy="266700"/>
          </a:xfrm>
          <a:prstGeom prst="rect">
            <a:avLst/>
          </a:prstGeom>
        </p:spPr>
      </p:pic>
      <p:pic>
        <p:nvPicPr>
          <p:cNvPr id="106" name="Picture 105" descr="lock.png"/>
          <p:cNvPicPr>
            <a:picLocks noChangeAspect="1"/>
          </p:cNvPicPr>
          <p:nvPr/>
        </p:nvPicPr>
        <p:blipFill>
          <a:blip r:embed="rId25"/>
          <a:stretch>
            <a:fillRect/>
          </a:stretch>
        </p:blipFill>
        <p:spPr>
          <a:xfrm>
            <a:off x="6774180" y="2827057"/>
            <a:ext cx="183356" cy="266700"/>
          </a:xfrm>
          <a:prstGeom prst="rect">
            <a:avLst/>
          </a:prstGeom>
        </p:spPr>
      </p:pic>
      <p:pic>
        <p:nvPicPr>
          <p:cNvPr id="107" name="Picture 106" descr="lock.png"/>
          <p:cNvPicPr>
            <a:picLocks noChangeAspect="1"/>
          </p:cNvPicPr>
          <p:nvPr/>
        </p:nvPicPr>
        <p:blipFill>
          <a:blip r:embed="rId25"/>
          <a:stretch>
            <a:fillRect/>
          </a:stretch>
        </p:blipFill>
        <p:spPr>
          <a:xfrm>
            <a:off x="8219258" y="2827057"/>
            <a:ext cx="183356" cy="266700"/>
          </a:xfrm>
          <a:prstGeom prst="rect">
            <a:avLst/>
          </a:prstGeom>
        </p:spPr>
      </p:pic>
      <p:pic>
        <p:nvPicPr>
          <p:cNvPr id="108" name="Picture 107" descr="lock.png"/>
          <p:cNvPicPr>
            <a:picLocks noChangeAspect="1"/>
          </p:cNvPicPr>
          <p:nvPr/>
        </p:nvPicPr>
        <p:blipFill>
          <a:blip r:embed="rId25"/>
          <a:stretch>
            <a:fillRect/>
          </a:stretch>
        </p:blipFill>
        <p:spPr>
          <a:xfrm>
            <a:off x="9664337" y="2827057"/>
            <a:ext cx="183356" cy="266700"/>
          </a:xfrm>
          <a:prstGeom prst="rect">
            <a:avLst/>
          </a:prstGeom>
        </p:spPr>
      </p:pic>
      <p:pic>
        <p:nvPicPr>
          <p:cNvPr id="109" name="Picture 108" descr="lock.png"/>
          <p:cNvPicPr>
            <a:picLocks noChangeAspect="1"/>
          </p:cNvPicPr>
          <p:nvPr/>
        </p:nvPicPr>
        <p:blipFill>
          <a:blip r:embed="rId25"/>
          <a:stretch>
            <a:fillRect/>
          </a:stretch>
        </p:blipFill>
        <p:spPr>
          <a:xfrm>
            <a:off x="11109415" y="2827057"/>
            <a:ext cx="183356" cy="266700"/>
          </a:xfrm>
          <a:prstGeom prst="rect">
            <a:avLst/>
          </a:prstGeom>
        </p:spPr>
      </p:pic>
      <p:sp>
        <p:nvSpPr>
          <p:cNvPr id="110" name="TextBox 109"/>
          <p:cNvSpPr txBox="1"/>
          <p:nvPr/>
        </p:nvSpPr>
        <p:spPr>
          <a:xfrm>
            <a:off x="485775" y="4229437"/>
            <a:ext cx="2912219" cy="186689"/>
          </a:xfrm>
          <a:prstGeom prst="rect">
            <a:avLst/>
          </a:prstGeom>
          <a:noFill/>
        </p:spPr>
        <p:txBody>
          <a:bodyPr wrap="none" lIns="0" rIns="0" tIns="0" bIns="0">
            <a:spAutoFit/>
          </a:bodyPr>
          <a:lstStyle/>
          <a:p>
            <a:r>
              <a:rPr sz="1100" b="0">
                <a:solidFill>
                  <a:srgbClr val="2E2E2E"/>
                </a:solidFill>
                <a:latin typeface="Calibri"/>
              </a:rPr>
              <a:t>North America industrial air compressor market is</a:t>
            </a:r>
          </a:p>
        </p:txBody>
      </p:sp>
      <p:sp>
        <p:nvSpPr>
          <p:cNvPr id="111" name="TextBox 110"/>
          <p:cNvSpPr txBox="1"/>
          <p:nvPr/>
        </p:nvSpPr>
        <p:spPr>
          <a:xfrm>
            <a:off x="485775" y="4397077"/>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12" name="Picture 111" descr="lock.png"/>
          <p:cNvPicPr>
            <a:picLocks noChangeAspect="1"/>
          </p:cNvPicPr>
          <p:nvPr/>
        </p:nvPicPr>
        <p:blipFill>
          <a:blip r:embed="rId25"/>
          <a:stretch>
            <a:fillRect/>
          </a:stretch>
        </p:blipFill>
        <p:spPr>
          <a:xfrm>
            <a:off x="1678376" y="4387298"/>
            <a:ext cx="128699" cy="187198"/>
          </a:xfrm>
          <a:prstGeom prst="rect">
            <a:avLst/>
          </a:prstGeom>
        </p:spPr>
      </p:pic>
      <p:sp>
        <p:nvSpPr>
          <p:cNvPr id="113" name="TextBox 112"/>
          <p:cNvSpPr txBox="1"/>
          <p:nvPr/>
        </p:nvSpPr>
        <p:spPr>
          <a:xfrm>
            <a:off x="1845872" y="4397077"/>
            <a:ext cx="1535683" cy="186689"/>
          </a:xfrm>
          <a:prstGeom prst="rect">
            <a:avLst/>
          </a:prstGeom>
          <a:noFill/>
        </p:spPr>
        <p:txBody>
          <a:bodyPr wrap="none" lIns="0" rIns="0" tIns="0" bIns="0">
            <a:spAutoFit/>
          </a:bodyPr>
          <a:lstStyle/>
          <a:p>
            <a:r>
              <a:rPr sz="1100" b="0">
                <a:solidFill>
                  <a:srgbClr val="2E2E2E"/>
                </a:solidFill>
                <a:latin typeface="Calibri"/>
              </a:rPr>
              <a:t>X higher value than South</a:t>
            </a:r>
          </a:p>
        </p:txBody>
      </p:sp>
      <p:sp>
        <p:nvSpPr>
          <p:cNvPr id="114" name="TextBox 113"/>
          <p:cNvSpPr txBox="1"/>
          <p:nvPr/>
        </p:nvSpPr>
        <p:spPr>
          <a:xfrm>
            <a:off x="485775" y="4564717"/>
            <a:ext cx="2503487" cy="186689"/>
          </a:xfrm>
          <a:prstGeom prst="rect">
            <a:avLst/>
          </a:prstGeom>
          <a:noFill/>
        </p:spPr>
        <p:txBody>
          <a:bodyPr wrap="none" lIns="0" rIns="0" tIns="0" bIns="0">
            <a:spAutoFit/>
          </a:bodyPr>
          <a:lstStyle/>
          <a:p>
            <a:r>
              <a:rPr sz="1100" b="0">
                <a:solidFill>
                  <a:srgbClr val="2E2E2E"/>
                </a:solidFill>
                <a:latin typeface="Calibri"/>
              </a:rPr>
              <a:t>Asia &amp; Pacific in 2036. Among industrial air</a:t>
            </a:r>
          </a:p>
        </p:txBody>
      </p:sp>
      <p:sp>
        <p:nvSpPr>
          <p:cNvPr id="115" name="TextBox 114"/>
          <p:cNvSpPr txBox="1"/>
          <p:nvPr/>
        </p:nvSpPr>
        <p:spPr>
          <a:xfrm>
            <a:off x="485775" y="4732357"/>
            <a:ext cx="2613173" cy="186689"/>
          </a:xfrm>
          <a:prstGeom prst="rect">
            <a:avLst/>
          </a:prstGeom>
          <a:noFill/>
        </p:spPr>
        <p:txBody>
          <a:bodyPr wrap="none" lIns="0" rIns="0" tIns="0" bIns="0">
            <a:spAutoFit/>
          </a:bodyPr>
          <a:lstStyle/>
          <a:p>
            <a:r>
              <a:rPr sz="1100" b="0">
                <a:solidFill>
                  <a:srgbClr val="2E2E2E"/>
                </a:solidFill>
                <a:latin typeface="Calibri"/>
              </a:rPr>
              <a:t>compressor by region, South Asia &amp; Pacific is</a:t>
            </a:r>
          </a:p>
        </p:txBody>
      </p:sp>
      <p:sp>
        <p:nvSpPr>
          <p:cNvPr id="116" name="TextBox 115"/>
          <p:cNvSpPr txBox="1"/>
          <p:nvPr/>
        </p:nvSpPr>
        <p:spPr>
          <a:xfrm>
            <a:off x="485775" y="489999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117" name="Picture 116" descr="lock.png"/>
          <p:cNvPicPr>
            <a:picLocks noChangeAspect="1"/>
          </p:cNvPicPr>
          <p:nvPr/>
        </p:nvPicPr>
        <p:blipFill>
          <a:blip r:embed="rId25"/>
          <a:stretch>
            <a:fillRect/>
          </a:stretch>
        </p:blipFill>
        <p:spPr>
          <a:xfrm>
            <a:off x="2815059" y="4890217"/>
            <a:ext cx="128699" cy="187198"/>
          </a:xfrm>
          <a:prstGeom prst="rect">
            <a:avLst/>
          </a:prstGeom>
        </p:spPr>
      </p:pic>
      <p:sp>
        <p:nvSpPr>
          <p:cNvPr id="118" name="TextBox 117"/>
          <p:cNvSpPr txBox="1"/>
          <p:nvPr/>
        </p:nvSpPr>
        <p:spPr>
          <a:xfrm>
            <a:off x="2982555" y="489999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119" name="TextBox 118"/>
          <p:cNvSpPr txBox="1"/>
          <p:nvPr/>
        </p:nvSpPr>
        <p:spPr>
          <a:xfrm>
            <a:off x="485775" y="5067637"/>
            <a:ext cx="1197892" cy="186689"/>
          </a:xfrm>
          <a:prstGeom prst="rect">
            <a:avLst/>
          </a:prstGeom>
          <a:noFill/>
        </p:spPr>
        <p:txBody>
          <a:bodyPr wrap="none" lIns="0" rIns="0" tIns="0" bIns="0">
            <a:spAutoFit/>
          </a:bodyPr>
          <a:lstStyle/>
          <a:p>
            <a:r>
              <a:rPr sz="1100" b="0">
                <a:solidFill>
                  <a:srgbClr val="2E2E2E"/>
                </a:solidFill>
                <a:latin typeface="Calibri"/>
              </a:rPr>
              <a:t>the forecast period.</a:t>
            </a:r>
          </a:p>
        </p:txBody>
      </p:sp>
      <p:sp>
        <p:nvSpPr>
          <p:cNvPr id="120" name="TextBox 119"/>
          <p:cNvSpPr txBox="1"/>
          <p:nvPr/>
        </p:nvSpPr>
        <p:spPr>
          <a:xfrm>
            <a:off x="485775" y="5285569"/>
            <a:ext cx="2914650" cy="186689"/>
          </a:xfrm>
          <a:prstGeom prst="rect">
            <a:avLst/>
          </a:prstGeom>
          <a:noFill/>
        </p:spPr>
        <p:txBody>
          <a:bodyPr wrap="none" lIns="0" rIns="0" tIns="0" bIns="0">
            <a:spAutoFit/>
          </a:bodyPr>
          <a:lstStyle/>
          <a:p>
            <a:r>
              <a:rPr sz="1100" b="0">
                <a:solidFill>
                  <a:srgbClr val="2E2E2E"/>
                </a:solidFill>
                <a:latin typeface="Calibri"/>
              </a:rPr>
              <a:t>In terms of value share by region, North America is</a:t>
            </a:r>
          </a:p>
        </p:txBody>
      </p:sp>
      <p:sp>
        <p:nvSpPr>
          <p:cNvPr id="121" name="TextBox 120"/>
          <p:cNvSpPr txBox="1"/>
          <p:nvPr/>
        </p:nvSpPr>
        <p:spPr>
          <a:xfrm>
            <a:off x="485775" y="5453209"/>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122" name="Picture 121" descr="lock.png"/>
          <p:cNvPicPr>
            <a:picLocks noChangeAspect="1"/>
          </p:cNvPicPr>
          <p:nvPr/>
        </p:nvPicPr>
        <p:blipFill>
          <a:blip r:embed="rId25"/>
          <a:stretch>
            <a:fillRect/>
          </a:stretch>
        </p:blipFill>
        <p:spPr>
          <a:xfrm>
            <a:off x="2822716" y="5443430"/>
            <a:ext cx="128699" cy="187198"/>
          </a:xfrm>
          <a:prstGeom prst="rect">
            <a:avLst/>
          </a:prstGeom>
        </p:spPr>
      </p:pic>
      <p:sp>
        <p:nvSpPr>
          <p:cNvPr id="123" name="TextBox 122"/>
          <p:cNvSpPr txBox="1"/>
          <p:nvPr/>
        </p:nvSpPr>
        <p:spPr>
          <a:xfrm>
            <a:off x="2990212" y="5453209"/>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24" name="TextBox 123"/>
          <p:cNvSpPr txBox="1"/>
          <p:nvPr/>
        </p:nvSpPr>
        <p:spPr>
          <a:xfrm>
            <a:off x="485775" y="5620849"/>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25" name="Picture 124" descr="lock.png"/>
          <p:cNvPicPr>
            <a:picLocks noChangeAspect="1"/>
          </p:cNvPicPr>
          <p:nvPr/>
        </p:nvPicPr>
        <p:blipFill>
          <a:blip r:embed="rId25"/>
          <a:stretch>
            <a:fillRect/>
          </a:stretch>
        </p:blipFill>
        <p:spPr>
          <a:xfrm>
            <a:off x="1576057" y="5611070"/>
            <a:ext cx="128699" cy="187198"/>
          </a:xfrm>
          <a:prstGeom prst="rect">
            <a:avLst/>
          </a:prstGeom>
        </p:spPr>
      </p:pic>
      <p:sp>
        <p:nvSpPr>
          <p:cNvPr id="126" name="TextBox 125"/>
          <p:cNvSpPr txBox="1"/>
          <p:nvPr/>
        </p:nvSpPr>
        <p:spPr>
          <a:xfrm>
            <a:off x="1743553" y="562084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27" name="TextBox 126"/>
          <p:cNvSpPr txBox="1"/>
          <p:nvPr/>
        </p:nvSpPr>
        <p:spPr>
          <a:xfrm>
            <a:off x="3838575" y="4229437"/>
            <a:ext cx="1063376" cy="186689"/>
          </a:xfrm>
          <a:prstGeom prst="rect">
            <a:avLst/>
          </a:prstGeom>
          <a:noFill/>
        </p:spPr>
        <p:txBody>
          <a:bodyPr wrap="none" lIns="0" rIns="0" tIns="0" bIns="0">
            <a:spAutoFit/>
          </a:bodyPr>
          <a:lstStyle/>
          <a:p>
            <a:r>
              <a:rPr sz="1100" b="0">
                <a:solidFill>
                  <a:srgbClr val="2E2E2E"/>
                </a:solidFill>
                <a:latin typeface="Calibri"/>
              </a:rPr>
              <a:t>● North America:</a:t>
            </a:r>
          </a:p>
        </p:txBody>
      </p:sp>
      <p:pic>
        <p:nvPicPr>
          <p:cNvPr id="128" name="Picture 127" descr="lock.png"/>
          <p:cNvPicPr>
            <a:picLocks noChangeAspect="1"/>
          </p:cNvPicPr>
          <p:nvPr/>
        </p:nvPicPr>
        <p:blipFill>
          <a:blip r:embed="rId25"/>
          <a:stretch>
            <a:fillRect/>
          </a:stretch>
        </p:blipFill>
        <p:spPr>
          <a:xfrm>
            <a:off x="4850003" y="4219658"/>
            <a:ext cx="128699" cy="187198"/>
          </a:xfrm>
          <a:prstGeom prst="rect">
            <a:avLst/>
          </a:prstGeom>
        </p:spPr>
      </p:pic>
      <p:sp>
        <p:nvSpPr>
          <p:cNvPr id="129" name="TextBox 128"/>
          <p:cNvSpPr txBox="1"/>
          <p:nvPr/>
        </p:nvSpPr>
        <p:spPr>
          <a:xfrm>
            <a:off x="501749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0" name="Picture 129" descr="lock.png"/>
          <p:cNvPicPr>
            <a:picLocks noChangeAspect="1"/>
          </p:cNvPicPr>
          <p:nvPr/>
        </p:nvPicPr>
        <p:blipFill>
          <a:blip r:embed="rId25"/>
          <a:stretch>
            <a:fillRect/>
          </a:stretch>
        </p:blipFill>
        <p:spPr>
          <a:xfrm>
            <a:off x="5876949" y="4219658"/>
            <a:ext cx="128699" cy="187198"/>
          </a:xfrm>
          <a:prstGeom prst="rect">
            <a:avLst/>
          </a:prstGeom>
        </p:spPr>
      </p:pic>
      <p:sp>
        <p:nvSpPr>
          <p:cNvPr id="131" name="TextBox 130"/>
          <p:cNvSpPr txBox="1"/>
          <p:nvPr/>
        </p:nvSpPr>
        <p:spPr>
          <a:xfrm>
            <a:off x="604444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132" name="TextBox 131"/>
          <p:cNvSpPr txBox="1"/>
          <p:nvPr/>
        </p:nvSpPr>
        <p:spPr>
          <a:xfrm>
            <a:off x="3838575" y="4447369"/>
            <a:ext cx="732101" cy="186689"/>
          </a:xfrm>
          <a:prstGeom prst="rect">
            <a:avLst/>
          </a:prstGeom>
          <a:noFill/>
        </p:spPr>
        <p:txBody>
          <a:bodyPr wrap="none" lIns="0" rIns="0" tIns="0" bIns="0">
            <a:spAutoFit/>
          </a:bodyPr>
          <a:lstStyle/>
          <a:p>
            <a:r>
              <a:rPr sz="1100" b="0">
                <a:solidFill>
                  <a:srgbClr val="2E2E2E"/>
                </a:solidFill>
                <a:latin typeface="Calibri"/>
              </a:rPr>
              <a:t>● East Asia:</a:t>
            </a:r>
          </a:p>
        </p:txBody>
      </p:sp>
      <p:pic>
        <p:nvPicPr>
          <p:cNvPr id="133" name="Picture 132" descr="lock.png"/>
          <p:cNvPicPr>
            <a:picLocks noChangeAspect="1"/>
          </p:cNvPicPr>
          <p:nvPr/>
        </p:nvPicPr>
        <p:blipFill>
          <a:blip r:embed="rId25"/>
          <a:stretch>
            <a:fillRect/>
          </a:stretch>
        </p:blipFill>
        <p:spPr>
          <a:xfrm>
            <a:off x="4518727" y="4437590"/>
            <a:ext cx="128699" cy="187198"/>
          </a:xfrm>
          <a:prstGeom prst="rect">
            <a:avLst/>
          </a:prstGeom>
        </p:spPr>
      </p:pic>
      <p:sp>
        <p:nvSpPr>
          <p:cNvPr id="134" name="TextBox 133"/>
          <p:cNvSpPr txBox="1"/>
          <p:nvPr/>
        </p:nvSpPr>
        <p:spPr>
          <a:xfrm>
            <a:off x="468622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5" name="Picture 134" descr="lock.png"/>
          <p:cNvPicPr>
            <a:picLocks noChangeAspect="1"/>
          </p:cNvPicPr>
          <p:nvPr/>
        </p:nvPicPr>
        <p:blipFill>
          <a:blip r:embed="rId25"/>
          <a:stretch>
            <a:fillRect/>
          </a:stretch>
        </p:blipFill>
        <p:spPr>
          <a:xfrm>
            <a:off x="5545673" y="4437590"/>
            <a:ext cx="128699" cy="187198"/>
          </a:xfrm>
          <a:prstGeom prst="rect">
            <a:avLst/>
          </a:prstGeom>
        </p:spPr>
      </p:pic>
      <p:sp>
        <p:nvSpPr>
          <p:cNvPr id="136" name="TextBox 135"/>
          <p:cNvSpPr txBox="1"/>
          <p:nvPr/>
        </p:nvSpPr>
        <p:spPr>
          <a:xfrm>
            <a:off x="5713169"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37" name="TextBox 136"/>
          <p:cNvSpPr txBox="1"/>
          <p:nvPr/>
        </p:nvSpPr>
        <p:spPr>
          <a:xfrm>
            <a:off x="3838575" y="4665301"/>
            <a:ext cx="1350143" cy="186689"/>
          </a:xfrm>
          <a:prstGeom prst="rect">
            <a:avLst/>
          </a:prstGeom>
          <a:noFill/>
        </p:spPr>
        <p:txBody>
          <a:bodyPr wrap="none" lIns="0" rIns="0" tIns="0" bIns="0">
            <a:spAutoFit/>
          </a:bodyPr>
          <a:lstStyle/>
          <a:p>
            <a:r>
              <a:rPr sz="1100" b="0">
                <a:solidFill>
                  <a:srgbClr val="2E2E2E"/>
                </a:solidFill>
                <a:latin typeface="Calibri"/>
              </a:rPr>
              <a:t>● South Asia &amp; Pacific:</a:t>
            </a:r>
          </a:p>
        </p:txBody>
      </p:sp>
      <p:pic>
        <p:nvPicPr>
          <p:cNvPr id="138" name="Picture 137" descr="lock.png"/>
          <p:cNvPicPr>
            <a:picLocks noChangeAspect="1"/>
          </p:cNvPicPr>
          <p:nvPr/>
        </p:nvPicPr>
        <p:blipFill>
          <a:blip r:embed="rId25"/>
          <a:stretch>
            <a:fillRect/>
          </a:stretch>
        </p:blipFill>
        <p:spPr>
          <a:xfrm>
            <a:off x="5136770" y="4655522"/>
            <a:ext cx="128699" cy="187198"/>
          </a:xfrm>
          <a:prstGeom prst="rect">
            <a:avLst/>
          </a:prstGeom>
        </p:spPr>
      </p:pic>
      <p:sp>
        <p:nvSpPr>
          <p:cNvPr id="139" name="TextBox 138"/>
          <p:cNvSpPr txBox="1"/>
          <p:nvPr/>
        </p:nvSpPr>
        <p:spPr>
          <a:xfrm>
            <a:off x="5304266"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0" name="Picture 139" descr="lock.png"/>
          <p:cNvPicPr>
            <a:picLocks noChangeAspect="1"/>
          </p:cNvPicPr>
          <p:nvPr/>
        </p:nvPicPr>
        <p:blipFill>
          <a:blip r:embed="rId25"/>
          <a:stretch>
            <a:fillRect/>
          </a:stretch>
        </p:blipFill>
        <p:spPr>
          <a:xfrm>
            <a:off x="6163716" y="4655522"/>
            <a:ext cx="128699" cy="187198"/>
          </a:xfrm>
          <a:prstGeom prst="rect">
            <a:avLst/>
          </a:prstGeom>
        </p:spPr>
      </p:pic>
      <p:sp>
        <p:nvSpPr>
          <p:cNvPr id="141" name="TextBox 140"/>
          <p:cNvSpPr txBox="1"/>
          <p:nvPr/>
        </p:nvSpPr>
        <p:spPr>
          <a:xfrm>
            <a:off x="6331212"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42" name="TextBox 141"/>
          <p:cNvSpPr txBox="1"/>
          <p:nvPr/>
        </p:nvSpPr>
        <p:spPr>
          <a:xfrm>
            <a:off x="3838575" y="4883233"/>
            <a:ext cx="1008260" cy="186689"/>
          </a:xfrm>
          <a:prstGeom prst="rect">
            <a:avLst/>
          </a:prstGeom>
          <a:noFill/>
        </p:spPr>
        <p:txBody>
          <a:bodyPr wrap="none" lIns="0" rIns="0" tIns="0" bIns="0">
            <a:spAutoFit/>
          </a:bodyPr>
          <a:lstStyle/>
          <a:p>
            <a:r>
              <a:rPr sz="1100" b="0">
                <a:solidFill>
                  <a:srgbClr val="2E2E2E"/>
                </a:solidFill>
                <a:latin typeface="Calibri"/>
              </a:rPr>
              <a:t>● Latin America:</a:t>
            </a:r>
          </a:p>
        </p:txBody>
      </p:sp>
      <p:pic>
        <p:nvPicPr>
          <p:cNvPr id="143" name="Picture 142" descr="lock.png"/>
          <p:cNvPicPr>
            <a:picLocks noChangeAspect="1"/>
          </p:cNvPicPr>
          <p:nvPr/>
        </p:nvPicPr>
        <p:blipFill>
          <a:blip r:embed="rId25"/>
          <a:stretch>
            <a:fillRect/>
          </a:stretch>
        </p:blipFill>
        <p:spPr>
          <a:xfrm>
            <a:off x="4794887" y="4873454"/>
            <a:ext cx="128699" cy="187198"/>
          </a:xfrm>
          <a:prstGeom prst="rect">
            <a:avLst/>
          </a:prstGeom>
        </p:spPr>
      </p:pic>
      <p:sp>
        <p:nvSpPr>
          <p:cNvPr id="144" name="TextBox 143"/>
          <p:cNvSpPr txBox="1"/>
          <p:nvPr/>
        </p:nvSpPr>
        <p:spPr>
          <a:xfrm>
            <a:off x="4962383"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5" name="Picture 144" descr="lock.png"/>
          <p:cNvPicPr>
            <a:picLocks noChangeAspect="1"/>
          </p:cNvPicPr>
          <p:nvPr/>
        </p:nvPicPr>
        <p:blipFill>
          <a:blip r:embed="rId25"/>
          <a:stretch>
            <a:fillRect/>
          </a:stretch>
        </p:blipFill>
        <p:spPr>
          <a:xfrm>
            <a:off x="5821833" y="4873454"/>
            <a:ext cx="128699" cy="187198"/>
          </a:xfrm>
          <a:prstGeom prst="rect">
            <a:avLst/>
          </a:prstGeom>
        </p:spPr>
      </p:pic>
      <p:sp>
        <p:nvSpPr>
          <p:cNvPr id="146" name="TextBox 145"/>
          <p:cNvSpPr txBox="1"/>
          <p:nvPr/>
        </p:nvSpPr>
        <p:spPr>
          <a:xfrm>
            <a:off x="5989329" y="4883233"/>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47" name="TextBox 146"/>
          <p:cNvSpPr txBox="1"/>
          <p:nvPr/>
        </p:nvSpPr>
        <p:spPr>
          <a:xfrm>
            <a:off x="3838575" y="5101165"/>
            <a:ext cx="1386944" cy="186689"/>
          </a:xfrm>
          <a:prstGeom prst="rect">
            <a:avLst/>
          </a:prstGeom>
          <a:noFill/>
        </p:spPr>
        <p:txBody>
          <a:bodyPr wrap="none" lIns="0" rIns="0" tIns="0" bIns="0">
            <a:spAutoFit/>
          </a:bodyPr>
          <a:lstStyle/>
          <a:p>
            <a:r>
              <a:rPr sz="1100" b="0">
                <a:solidFill>
                  <a:srgbClr val="2E2E2E"/>
                </a:solidFill>
                <a:latin typeface="Calibri"/>
              </a:rPr>
              <a:t>● Middle East &amp; Africa:</a:t>
            </a:r>
          </a:p>
        </p:txBody>
      </p:sp>
      <p:pic>
        <p:nvPicPr>
          <p:cNvPr id="148" name="Picture 147" descr="lock.png"/>
          <p:cNvPicPr>
            <a:picLocks noChangeAspect="1"/>
          </p:cNvPicPr>
          <p:nvPr/>
        </p:nvPicPr>
        <p:blipFill>
          <a:blip r:embed="rId25"/>
          <a:stretch>
            <a:fillRect/>
          </a:stretch>
        </p:blipFill>
        <p:spPr>
          <a:xfrm>
            <a:off x="5173571" y="5091385"/>
            <a:ext cx="128699" cy="187198"/>
          </a:xfrm>
          <a:prstGeom prst="rect">
            <a:avLst/>
          </a:prstGeom>
        </p:spPr>
      </p:pic>
      <p:sp>
        <p:nvSpPr>
          <p:cNvPr id="149" name="TextBox 148"/>
          <p:cNvSpPr txBox="1"/>
          <p:nvPr/>
        </p:nvSpPr>
        <p:spPr>
          <a:xfrm>
            <a:off x="5341067"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0" name="Picture 149" descr="lock.png"/>
          <p:cNvPicPr>
            <a:picLocks noChangeAspect="1"/>
          </p:cNvPicPr>
          <p:nvPr/>
        </p:nvPicPr>
        <p:blipFill>
          <a:blip r:embed="rId25"/>
          <a:stretch>
            <a:fillRect/>
          </a:stretch>
        </p:blipFill>
        <p:spPr>
          <a:xfrm>
            <a:off x="6200517" y="5091385"/>
            <a:ext cx="128699" cy="187198"/>
          </a:xfrm>
          <a:prstGeom prst="rect">
            <a:avLst/>
          </a:prstGeom>
        </p:spPr>
      </p:pic>
      <p:sp>
        <p:nvSpPr>
          <p:cNvPr id="151" name="TextBox 150"/>
          <p:cNvSpPr txBox="1"/>
          <p:nvPr/>
        </p:nvSpPr>
        <p:spPr>
          <a:xfrm>
            <a:off x="6368013" y="5101165"/>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52" name="TextBox 151"/>
          <p:cNvSpPr txBox="1"/>
          <p:nvPr/>
        </p:nvSpPr>
        <p:spPr>
          <a:xfrm>
            <a:off x="3838575" y="5319097"/>
            <a:ext cx="1096630" cy="186689"/>
          </a:xfrm>
          <a:prstGeom prst="rect">
            <a:avLst/>
          </a:prstGeom>
          <a:noFill/>
        </p:spPr>
        <p:txBody>
          <a:bodyPr wrap="none" lIns="0" rIns="0" tIns="0" bIns="0">
            <a:spAutoFit/>
          </a:bodyPr>
          <a:lstStyle/>
          <a:p>
            <a:r>
              <a:rPr sz="1100" b="0">
                <a:solidFill>
                  <a:srgbClr val="2E2E2E"/>
                </a:solidFill>
                <a:latin typeface="Calibri"/>
              </a:rPr>
              <a:t>● Eastern Europe:</a:t>
            </a:r>
          </a:p>
        </p:txBody>
      </p:sp>
      <p:pic>
        <p:nvPicPr>
          <p:cNvPr id="153" name="Picture 152" descr="lock.png"/>
          <p:cNvPicPr>
            <a:picLocks noChangeAspect="1"/>
          </p:cNvPicPr>
          <p:nvPr/>
        </p:nvPicPr>
        <p:blipFill>
          <a:blip r:embed="rId25"/>
          <a:stretch>
            <a:fillRect/>
          </a:stretch>
        </p:blipFill>
        <p:spPr>
          <a:xfrm>
            <a:off x="4883257" y="5309317"/>
            <a:ext cx="128699" cy="187198"/>
          </a:xfrm>
          <a:prstGeom prst="rect">
            <a:avLst/>
          </a:prstGeom>
        </p:spPr>
      </p:pic>
      <p:sp>
        <p:nvSpPr>
          <p:cNvPr id="154" name="TextBox 153"/>
          <p:cNvSpPr txBox="1"/>
          <p:nvPr/>
        </p:nvSpPr>
        <p:spPr>
          <a:xfrm>
            <a:off x="5050753"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5" name="Picture 154" descr="lock.png"/>
          <p:cNvPicPr>
            <a:picLocks noChangeAspect="1"/>
          </p:cNvPicPr>
          <p:nvPr/>
        </p:nvPicPr>
        <p:blipFill>
          <a:blip r:embed="rId25"/>
          <a:stretch>
            <a:fillRect/>
          </a:stretch>
        </p:blipFill>
        <p:spPr>
          <a:xfrm>
            <a:off x="5910203" y="5309317"/>
            <a:ext cx="128699" cy="187198"/>
          </a:xfrm>
          <a:prstGeom prst="rect">
            <a:avLst/>
          </a:prstGeom>
        </p:spPr>
      </p:pic>
      <p:sp>
        <p:nvSpPr>
          <p:cNvPr id="156" name="TextBox 155"/>
          <p:cNvSpPr txBox="1"/>
          <p:nvPr/>
        </p:nvSpPr>
        <p:spPr>
          <a:xfrm>
            <a:off x="6077699" y="5319097"/>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57" name="TextBox 156"/>
          <p:cNvSpPr txBox="1"/>
          <p:nvPr/>
        </p:nvSpPr>
        <p:spPr>
          <a:xfrm>
            <a:off x="3838575" y="5537029"/>
            <a:ext cx="1155600" cy="186689"/>
          </a:xfrm>
          <a:prstGeom prst="rect">
            <a:avLst/>
          </a:prstGeom>
          <a:noFill/>
        </p:spPr>
        <p:txBody>
          <a:bodyPr wrap="none" lIns="0" rIns="0" tIns="0" bIns="0">
            <a:spAutoFit/>
          </a:bodyPr>
          <a:lstStyle/>
          <a:p>
            <a:r>
              <a:rPr sz="1100" b="0">
                <a:solidFill>
                  <a:srgbClr val="2E2E2E"/>
                </a:solidFill>
                <a:latin typeface="Calibri"/>
              </a:rPr>
              <a:t>● Western Europe:</a:t>
            </a:r>
          </a:p>
        </p:txBody>
      </p:sp>
      <p:pic>
        <p:nvPicPr>
          <p:cNvPr id="158" name="Picture 157" descr="lock.png"/>
          <p:cNvPicPr>
            <a:picLocks noChangeAspect="1"/>
          </p:cNvPicPr>
          <p:nvPr/>
        </p:nvPicPr>
        <p:blipFill>
          <a:blip r:embed="rId25"/>
          <a:stretch>
            <a:fillRect/>
          </a:stretch>
        </p:blipFill>
        <p:spPr>
          <a:xfrm>
            <a:off x="4942227" y="5527249"/>
            <a:ext cx="128699" cy="187198"/>
          </a:xfrm>
          <a:prstGeom prst="rect">
            <a:avLst/>
          </a:prstGeom>
        </p:spPr>
      </p:pic>
      <p:sp>
        <p:nvSpPr>
          <p:cNvPr id="159" name="TextBox 158"/>
          <p:cNvSpPr txBox="1"/>
          <p:nvPr/>
        </p:nvSpPr>
        <p:spPr>
          <a:xfrm>
            <a:off x="5109723" y="553702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60" name="Picture 159" descr="lock.png"/>
          <p:cNvPicPr>
            <a:picLocks noChangeAspect="1"/>
          </p:cNvPicPr>
          <p:nvPr/>
        </p:nvPicPr>
        <p:blipFill>
          <a:blip r:embed="rId25"/>
          <a:stretch>
            <a:fillRect/>
          </a:stretch>
        </p:blipFill>
        <p:spPr>
          <a:xfrm>
            <a:off x="5969173" y="5527249"/>
            <a:ext cx="128699" cy="187198"/>
          </a:xfrm>
          <a:prstGeom prst="rect">
            <a:avLst/>
          </a:prstGeom>
        </p:spPr>
      </p:pic>
      <p:sp>
        <p:nvSpPr>
          <p:cNvPr id="161" name="TextBox 160"/>
          <p:cNvSpPr txBox="1"/>
          <p:nvPr/>
        </p:nvSpPr>
        <p:spPr>
          <a:xfrm>
            <a:off x="6136669" y="553702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62" name="TextBox 161"/>
          <p:cNvSpPr txBox="1"/>
          <p:nvPr/>
        </p:nvSpPr>
        <p:spPr>
          <a:xfrm>
            <a:off x="8524875" y="5842641"/>
            <a:ext cx="3081608" cy="194310"/>
          </a:xfrm>
          <a:prstGeom prst="rect">
            <a:avLst/>
          </a:prstGeom>
          <a:noFill/>
        </p:spPr>
        <p:txBody>
          <a:bodyPr wrap="none" lIns="0" rIns="0" tIns="0" bIns="0">
            <a:spAutoFit/>
          </a:bodyPr>
          <a:lstStyle/>
          <a:p>
            <a:r>
              <a:rPr sz="1150" b="1">
                <a:solidFill>
                  <a:srgbClr val="0B2E4A"/>
                </a:solidFill>
                <a:latin typeface="Calibri"/>
              </a:rPr>
              <a:t>The Global market is projected to grow at a CAGR</a:t>
            </a:r>
          </a:p>
        </p:txBody>
      </p:sp>
      <p:sp>
        <p:nvSpPr>
          <p:cNvPr id="163" name="TextBox 162"/>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164" name="Picture 163" descr="lock.png"/>
          <p:cNvPicPr>
            <a:picLocks noChangeAspect="1"/>
          </p:cNvPicPr>
          <p:nvPr/>
        </p:nvPicPr>
        <p:blipFill>
          <a:blip r:embed="rId25"/>
          <a:stretch>
            <a:fillRect/>
          </a:stretch>
        </p:blipFill>
        <p:spPr>
          <a:xfrm>
            <a:off x="8674884" y="6007677"/>
            <a:ext cx="134549" cy="195707"/>
          </a:xfrm>
          <a:prstGeom prst="rect">
            <a:avLst/>
          </a:prstGeom>
        </p:spPr>
      </p:pic>
      <p:sp>
        <p:nvSpPr>
          <p:cNvPr id="165" name="TextBox 164"/>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Analysis, By Region Volume (Units)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region in 2026 and 2036, highlighting share gains and losses in basis points</a:t>
            </a:r>
          </a:p>
        </p:txBody>
      </p:sp>
      <p:sp>
        <p:nvSpPr>
          <p:cNvPr id="7" name="Rounded Rectangle 6"/>
          <p:cNvSpPr/>
          <p:nvPr/>
        </p:nvSpPr>
        <p:spPr>
          <a:xfrm>
            <a:off x="142875" y="981075"/>
            <a:ext cx="6810375"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9" name="Chart 8"/>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0" name="TextBox 9"/>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2A5F8F"/>
                </a:solidFill>
                <a:latin typeface="Calibri"/>
              </a:rPr>
              <a:t>BPS Δ  (2026→2036)</a:t>
            </a:r>
          </a:p>
        </p:txBody>
      </p:sp>
      <p:sp>
        <p:nvSpPr>
          <p:cNvPr id="11" name="FMI Lock Anchor"/>
          <p:cNvSpPr txBox="1"/>
          <p:nvPr/>
        </p:nvSpPr>
        <p:spPr>
          <a:xfrm>
            <a:off x="2489835" y="3352800"/>
            <a:ext cx="38100" cy="38100"/>
          </a:xfrm>
          <a:prstGeom prst="rect">
            <a:avLst/>
          </a:prstGeom>
          <a:noFill/>
        </p:spPr>
        <p:txBody>
          <a:bodyPr wrap="none">
            <a:spAutoFit/>
          </a:bodyPr>
          <a:lstStyle/>
          <a:p/>
        </p:txBody>
      </p:sp>
      <p:sp>
        <p:nvSpPr>
          <p:cNvPr id="12" name="FMI Legend Chip"/>
          <p:cNvSpPr/>
          <p:nvPr/>
        </p:nvSpPr>
        <p:spPr>
          <a:xfrm>
            <a:off x="4551045" y="1530164"/>
            <a:ext cx="85725" cy="85725"/>
          </a:xfrm>
          <a:prstGeom prst="rect">
            <a:avLst/>
          </a:prstGeom>
          <a:solidFill>
            <a:srgbClr val="5862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4712970" y="152540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4855845" y="144920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Western Europe</a:t>
            </a:r>
          </a:p>
        </p:txBody>
      </p:sp>
      <p:sp>
        <p:nvSpPr>
          <p:cNvPr id="15" name="BPS Value 1"/>
          <p:cNvSpPr txBox="1"/>
          <p:nvPr/>
        </p:nvSpPr>
        <p:spPr>
          <a:xfrm>
            <a:off x="6305550" y="151111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FMI Legend Chip"/>
          <p:cNvSpPr/>
          <p:nvPr/>
        </p:nvSpPr>
        <p:spPr>
          <a:xfrm>
            <a:off x="4551045" y="1721842"/>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4712970" y="171708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4855845" y="164088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Eastern Europe</a:t>
            </a:r>
          </a:p>
        </p:txBody>
      </p:sp>
      <p:sp>
        <p:nvSpPr>
          <p:cNvPr id="19" name="BPS Value 2"/>
          <p:cNvSpPr txBox="1"/>
          <p:nvPr/>
        </p:nvSpPr>
        <p:spPr>
          <a:xfrm>
            <a:off x="6305550" y="170279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551045" y="2004726"/>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4712970" y="199996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4855845" y="192376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23" name="BPS Value 3"/>
          <p:cNvSpPr txBox="1"/>
          <p:nvPr/>
        </p:nvSpPr>
        <p:spPr>
          <a:xfrm>
            <a:off x="6305550" y="198567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551045" y="2348887"/>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4712970" y="234412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4855845" y="226792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7" name="BPS Value 4"/>
          <p:cNvSpPr txBox="1"/>
          <p:nvPr/>
        </p:nvSpPr>
        <p:spPr>
          <a:xfrm>
            <a:off x="6305550" y="232983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551045" y="2932358"/>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4712970" y="292759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4855845" y="285139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31" name="BPS Value 5"/>
          <p:cNvSpPr txBox="1"/>
          <p:nvPr/>
        </p:nvSpPr>
        <p:spPr>
          <a:xfrm>
            <a:off x="6305550" y="291330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2" name="FMI Legend Chip"/>
          <p:cNvSpPr/>
          <p:nvPr/>
        </p:nvSpPr>
        <p:spPr>
          <a:xfrm>
            <a:off x="4551045" y="3762153"/>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rot="10800000">
            <a:off x="4712970" y="375739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4855845" y="368119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5" name="BPS Value 6"/>
          <p:cNvSpPr txBox="1"/>
          <p:nvPr/>
        </p:nvSpPr>
        <p:spPr>
          <a:xfrm>
            <a:off x="6305550" y="374310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6" name="FMI Legend Chip"/>
          <p:cNvSpPr/>
          <p:nvPr/>
        </p:nvSpPr>
        <p:spPr>
          <a:xfrm>
            <a:off x="4551045" y="4661284"/>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a:off x="4712970" y="465652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7"/>
          <p:cNvSpPr txBox="1"/>
          <p:nvPr/>
        </p:nvSpPr>
        <p:spPr>
          <a:xfrm>
            <a:off x="4855845" y="458032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9" name="BPS Value 7"/>
          <p:cNvSpPr txBox="1"/>
          <p:nvPr/>
        </p:nvSpPr>
        <p:spPr>
          <a:xfrm>
            <a:off x="6305550" y="464223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0" name="Rounded Rectangle 39"/>
          <p:cNvSpPr/>
          <p:nvPr/>
        </p:nvSpPr>
        <p:spPr>
          <a:xfrm>
            <a:off x="7105650" y="981075"/>
            <a:ext cx="4933950"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E2A5C"/>
                </a:solidFill>
                <a:latin typeface="Calibri"/>
              </a:rPr>
              <a:t>Regional Highlights</a:t>
            </a:r>
          </a:p>
        </p:txBody>
      </p:sp>
      <p:sp>
        <p:nvSpPr>
          <p:cNvPr id="42" name="Rectangle 41"/>
          <p:cNvSpPr/>
          <p:nvPr/>
        </p:nvSpPr>
        <p:spPr>
          <a:xfrm>
            <a:off x="7239000" y="1304925"/>
            <a:ext cx="46672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4" name="Rounded Rectangle 43"/>
          <p:cNvSpPr/>
          <p:nvPr/>
        </p:nvSpPr>
        <p:spPr>
          <a:xfrm>
            <a:off x="142875" y="5648325"/>
            <a:ext cx="3943350"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(UNITS)</a:t>
            </a:r>
          </a:p>
          <a:p>
            <a:pPr algn="ctr">
              <a:lnSpc>
                <a:spcPct val="95000"/>
              </a:lnSpc>
            </a:pPr>
            <a:r>
              <a:rPr sz="2000" b="1">
                <a:solidFill>
                  <a:srgbClr val="2A5F8F"/>
                </a:solidFill>
                <a:latin typeface="Calibri"/>
              </a:rPr>
              <a:t/>
            </a:r>
          </a:p>
        </p:txBody>
      </p:sp>
      <p:sp>
        <p:nvSpPr>
          <p:cNvPr id="45" name="Rounded Rectangle 44"/>
          <p:cNvSpPr/>
          <p:nvPr/>
        </p:nvSpPr>
        <p:spPr>
          <a:xfrm>
            <a:off x="4238625"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(UNITS)</a:t>
            </a:r>
          </a:p>
          <a:p>
            <a:pPr algn="ctr">
              <a:lnSpc>
                <a:spcPct val="95000"/>
              </a:lnSpc>
            </a:pPr>
            <a:r>
              <a:rPr sz="2000" b="1">
                <a:solidFill>
                  <a:srgbClr val="2A5F8F"/>
                </a:solidFill>
                <a:latin typeface="Calibri"/>
              </a:rPr>
              <a:t/>
            </a:r>
          </a:p>
        </p:txBody>
      </p:sp>
      <p:sp>
        <p:nvSpPr>
          <p:cNvPr id="46" name="Rounded Rectangle 45"/>
          <p:cNvSpPr/>
          <p:nvPr/>
        </p:nvSpPr>
        <p:spPr>
          <a:xfrm>
            <a:off x="8210550"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2A5F8F"/>
                </a:solidFill>
                <a:latin typeface="Calibri"/>
              </a:rPr>
              <a:t/>
            </a:r>
          </a:p>
        </p:txBody>
      </p:sp>
      <p:sp>
        <p:nvSpPr>
          <p:cNvPr id="47" name="Rectangle 4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9" name="Picture 48" descr="lock.png"/>
          <p:cNvPicPr>
            <a:picLocks noChangeAspect="1"/>
          </p:cNvPicPr>
          <p:nvPr/>
        </p:nvPicPr>
        <p:blipFill>
          <a:blip r:embed="rId5"/>
          <a:stretch>
            <a:fillRect/>
          </a:stretch>
        </p:blipFill>
        <p:spPr>
          <a:xfrm>
            <a:off x="2333863" y="3121818"/>
            <a:ext cx="343793" cy="500062"/>
          </a:xfrm>
          <a:prstGeom prst="rect">
            <a:avLst/>
          </a:prstGeom>
        </p:spPr>
      </p:pic>
      <p:pic>
        <p:nvPicPr>
          <p:cNvPr id="50" name="Picture 49" descr="2_658_537_605E5C.png"/>
          <p:cNvPicPr>
            <a:picLocks noChangeAspect="1"/>
          </p:cNvPicPr>
          <p:nvPr/>
        </p:nvPicPr>
        <p:blipFill>
          <a:blip r:embed="rId6"/>
          <a:stretch>
            <a:fillRect/>
          </a:stretch>
        </p:blipFill>
        <p:spPr>
          <a:xfrm>
            <a:off x="744310" y="5897562"/>
            <a:ext cx="2740473" cy="482599"/>
          </a:xfrm>
          <a:prstGeom prst="rect">
            <a:avLst/>
          </a:prstGeom>
        </p:spPr>
      </p:pic>
      <p:pic>
        <p:nvPicPr>
          <p:cNvPr id="51" name="Picture 50" descr="4_149_656_605E5C.png"/>
          <p:cNvPicPr>
            <a:picLocks noChangeAspect="1"/>
          </p:cNvPicPr>
          <p:nvPr/>
        </p:nvPicPr>
        <p:blipFill>
          <a:blip r:embed="rId7"/>
          <a:stretch>
            <a:fillRect/>
          </a:stretch>
        </p:blipFill>
        <p:spPr>
          <a:xfrm>
            <a:off x="4778148" y="5897562"/>
            <a:ext cx="2740473" cy="482599"/>
          </a:xfrm>
          <a:prstGeom prst="rect">
            <a:avLst/>
          </a:prstGeom>
        </p:spPr>
      </p:pic>
      <p:pic>
        <p:nvPicPr>
          <p:cNvPr id="52" name="Picture 51" descr="4_6__605E5C.png"/>
          <p:cNvPicPr>
            <a:picLocks noChangeAspect="1"/>
          </p:cNvPicPr>
          <p:nvPr/>
        </p:nvPicPr>
        <p:blipFill>
          <a:blip r:embed="rId8"/>
          <a:stretch>
            <a:fillRect/>
          </a:stretch>
        </p:blipFill>
        <p:spPr>
          <a:xfrm>
            <a:off x="9465355" y="5897562"/>
            <a:ext cx="1309912" cy="482599"/>
          </a:xfrm>
          <a:prstGeom prst="rect">
            <a:avLst/>
          </a:prstGeom>
        </p:spPr>
      </p:pic>
      <p:pic>
        <p:nvPicPr>
          <p:cNvPr id="53" name="Picture 52" descr="lock.png"/>
          <p:cNvPicPr>
            <a:picLocks noChangeAspect="1"/>
          </p:cNvPicPr>
          <p:nvPr/>
        </p:nvPicPr>
        <p:blipFill>
          <a:blip r:embed="rId5"/>
          <a:stretch>
            <a:fillRect/>
          </a:stretch>
        </p:blipFill>
        <p:spPr>
          <a:xfrm>
            <a:off x="5914657" y="5893409"/>
            <a:ext cx="337498" cy="490906"/>
          </a:xfrm>
          <a:prstGeom prst="rect">
            <a:avLst/>
          </a:prstGeom>
        </p:spPr>
      </p:pic>
      <p:sp>
        <p:nvSpPr>
          <p:cNvPr id="54" name="TextBox 53"/>
          <p:cNvSpPr txBox="1"/>
          <p:nvPr/>
        </p:nvSpPr>
        <p:spPr>
          <a:xfrm>
            <a:off x="7239000" y="1400175"/>
            <a:ext cx="4595477" cy="194310"/>
          </a:xfrm>
          <a:prstGeom prst="rect">
            <a:avLst/>
          </a:prstGeom>
          <a:noFill/>
        </p:spPr>
        <p:txBody>
          <a:bodyPr wrap="none" lIns="0" rIns="0" tIns="0" bIns="0">
            <a:spAutoFit/>
          </a:bodyPr>
          <a:lstStyle/>
          <a:p>
            <a:r>
              <a:rPr sz="1150" b="0">
                <a:solidFill>
                  <a:srgbClr val="2E2E2E"/>
                </a:solidFill>
                <a:latin typeface="Calibri"/>
              </a:rPr>
              <a:t>South Asia &amp; Pacific industrial air compressor market is projected to register</a:t>
            </a:r>
          </a:p>
        </p:txBody>
      </p:sp>
      <p:pic>
        <p:nvPicPr>
          <p:cNvPr id="55" name="Picture 54" descr="lock.png"/>
          <p:cNvPicPr>
            <a:picLocks noChangeAspect="1"/>
          </p:cNvPicPr>
          <p:nvPr/>
        </p:nvPicPr>
        <p:blipFill>
          <a:blip r:embed="rId5"/>
          <a:stretch>
            <a:fillRect/>
          </a:stretch>
        </p:blipFill>
        <p:spPr>
          <a:xfrm>
            <a:off x="7224920" y="1565211"/>
            <a:ext cx="134549" cy="195707"/>
          </a:xfrm>
          <a:prstGeom prst="rect">
            <a:avLst/>
          </a:prstGeom>
        </p:spPr>
      </p:pic>
      <p:sp>
        <p:nvSpPr>
          <p:cNvPr id="56" name="TextBox 55"/>
          <p:cNvSpPr txBox="1"/>
          <p:nvPr/>
        </p:nvSpPr>
        <p:spPr>
          <a:xfrm>
            <a:off x="7400029" y="1575435"/>
            <a:ext cx="3996729" cy="194310"/>
          </a:xfrm>
          <a:prstGeom prst="rect">
            <a:avLst/>
          </a:prstGeom>
          <a:noFill/>
        </p:spPr>
        <p:txBody>
          <a:bodyPr wrap="none" lIns="0" rIns="0" tIns="0" bIns="0">
            <a:spAutoFit/>
          </a:bodyPr>
          <a:lstStyle/>
          <a:p>
            <a:r>
              <a:rPr sz="1150" b="0">
                <a:solidFill>
                  <a:srgbClr val="2E2E2E"/>
                </a:solidFill>
                <a:latin typeface="Calibri"/>
              </a:rPr>
              <a:t>X higher volume than North America in 2036. Among industrial air</a:t>
            </a:r>
          </a:p>
        </p:txBody>
      </p:sp>
      <p:sp>
        <p:nvSpPr>
          <p:cNvPr id="57" name="TextBox 56"/>
          <p:cNvSpPr txBox="1"/>
          <p:nvPr/>
        </p:nvSpPr>
        <p:spPr>
          <a:xfrm>
            <a:off x="7239000" y="1750695"/>
            <a:ext cx="4648200" cy="194310"/>
          </a:xfrm>
          <a:prstGeom prst="rect">
            <a:avLst/>
          </a:prstGeom>
          <a:noFill/>
        </p:spPr>
        <p:txBody>
          <a:bodyPr wrap="none" lIns="0" rIns="0" tIns="0" bIns="0">
            <a:spAutoFit/>
          </a:bodyPr>
          <a:lstStyle/>
          <a:p>
            <a:r>
              <a:rPr sz="1150" b="0">
                <a:solidFill>
                  <a:srgbClr val="2E2E2E"/>
                </a:solidFill>
                <a:latin typeface="Calibri"/>
              </a:rPr>
              <a:t>compressor by region, South Asia &amp; Pacific is expected to witness the highest</a:t>
            </a:r>
          </a:p>
        </p:txBody>
      </p:sp>
      <p:sp>
        <p:nvSpPr>
          <p:cNvPr id="58" name="TextBox 57"/>
          <p:cNvSpPr txBox="1"/>
          <p:nvPr/>
        </p:nvSpPr>
        <p:spPr>
          <a:xfrm>
            <a:off x="7239000" y="192595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59" name="Picture 58" descr="lock.png"/>
          <p:cNvPicPr>
            <a:picLocks noChangeAspect="1"/>
          </p:cNvPicPr>
          <p:nvPr/>
        </p:nvPicPr>
        <p:blipFill>
          <a:blip r:embed="rId5"/>
          <a:stretch>
            <a:fillRect/>
          </a:stretch>
        </p:blipFill>
        <p:spPr>
          <a:xfrm>
            <a:off x="7752690" y="1915731"/>
            <a:ext cx="134549" cy="195707"/>
          </a:xfrm>
          <a:prstGeom prst="rect">
            <a:avLst/>
          </a:prstGeom>
        </p:spPr>
      </p:pic>
      <p:sp>
        <p:nvSpPr>
          <p:cNvPr id="60" name="TextBox 59"/>
          <p:cNvSpPr txBox="1"/>
          <p:nvPr/>
        </p:nvSpPr>
        <p:spPr>
          <a:xfrm>
            <a:off x="7927800"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61" name="TextBox 60"/>
          <p:cNvSpPr txBox="1"/>
          <p:nvPr/>
        </p:nvSpPr>
        <p:spPr>
          <a:xfrm>
            <a:off x="7239000" y="2153793"/>
            <a:ext cx="4252602"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a:t>
            </a:r>
          </a:p>
        </p:txBody>
      </p:sp>
      <p:sp>
        <p:nvSpPr>
          <p:cNvPr id="62" name="TextBox 61"/>
          <p:cNvSpPr txBox="1"/>
          <p:nvPr/>
        </p:nvSpPr>
        <p:spPr>
          <a:xfrm>
            <a:off x="7239000" y="2329053"/>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63" name="Picture 62" descr="lock.png"/>
          <p:cNvPicPr>
            <a:picLocks noChangeAspect="1"/>
          </p:cNvPicPr>
          <p:nvPr/>
        </p:nvPicPr>
        <p:blipFill>
          <a:blip r:embed="rId5"/>
          <a:stretch>
            <a:fillRect/>
          </a:stretch>
        </p:blipFill>
        <p:spPr>
          <a:xfrm>
            <a:off x="9025226" y="2318829"/>
            <a:ext cx="134549" cy="195707"/>
          </a:xfrm>
          <a:prstGeom prst="rect">
            <a:avLst/>
          </a:prstGeom>
        </p:spPr>
      </p:pic>
      <p:sp>
        <p:nvSpPr>
          <p:cNvPr id="64" name="TextBox 63"/>
          <p:cNvSpPr txBox="1"/>
          <p:nvPr/>
        </p:nvSpPr>
        <p:spPr>
          <a:xfrm>
            <a:off x="9200335"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5" name="Picture 64" descr="lock.png"/>
          <p:cNvPicPr>
            <a:picLocks noChangeAspect="1"/>
          </p:cNvPicPr>
          <p:nvPr/>
        </p:nvPicPr>
        <p:blipFill>
          <a:blip r:embed="rId5"/>
          <a:stretch>
            <a:fillRect/>
          </a:stretch>
        </p:blipFill>
        <p:spPr>
          <a:xfrm>
            <a:off x="10595478" y="2318829"/>
            <a:ext cx="134549" cy="195707"/>
          </a:xfrm>
          <a:prstGeom prst="rect">
            <a:avLst/>
          </a:prstGeom>
        </p:spPr>
      </p:pic>
      <p:sp>
        <p:nvSpPr>
          <p:cNvPr id="66" name="TextBox 65"/>
          <p:cNvSpPr txBox="1"/>
          <p:nvPr/>
        </p:nvSpPr>
        <p:spPr>
          <a:xfrm>
            <a:off x="10770588"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7" name="TextBox 66"/>
          <p:cNvSpPr txBox="1"/>
          <p:nvPr/>
        </p:nvSpPr>
        <p:spPr>
          <a:xfrm>
            <a:off x="7239000" y="2504313"/>
            <a:ext cx="2083531" cy="194310"/>
          </a:xfrm>
          <a:prstGeom prst="rect">
            <a:avLst/>
          </a:prstGeom>
          <a:noFill/>
        </p:spPr>
        <p:txBody>
          <a:bodyPr wrap="none" lIns="0" rIns="0" tIns="0" bIns="0">
            <a:spAutoFit/>
          </a:bodyPr>
          <a:lstStyle/>
          <a:p>
            <a:r>
              <a:rPr sz="1150" b="0">
                <a:solidFill>
                  <a:srgbClr val="2E2E2E"/>
                </a:solidFill>
                <a:latin typeface="Calibri"/>
              </a:rPr>
              <a:t>North America is expected to lose</a:t>
            </a:r>
          </a:p>
        </p:txBody>
      </p:sp>
      <p:pic>
        <p:nvPicPr>
          <p:cNvPr id="68" name="Picture 67" descr="lock.png"/>
          <p:cNvPicPr>
            <a:picLocks noChangeAspect="1"/>
          </p:cNvPicPr>
          <p:nvPr/>
        </p:nvPicPr>
        <p:blipFill>
          <a:blip r:embed="rId5"/>
          <a:stretch>
            <a:fillRect/>
          </a:stretch>
        </p:blipFill>
        <p:spPr>
          <a:xfrm>
            <a:off x="9271685" y="2494089"/>
            <a:ext cx="134549" cy="195707"/>
          </a:xfrm>
          <a:prstGeom prst="rect">
            <a:avLst/>
          </a:prstGeom>
        </p:spPr>
      </p:pic>
      <p:sp>
        <p:nvSpPr>
          <p:cNvPr id="69" name="TextBox 68"/>
          <p:cNvSpPr txBox="1"/>
          <p:nvPr/>
        </p:nvSpPr>
        <p:spPr>
          <a:xfrm>
            <a:off x="9446794" y="2504313"/>
            <a:ext cx="1926356" cy="194310"/>
          </a:xfrm>
          <a:prstGeom prst="rect">
            <a:avLst/>
          </a:prstGeom>
          <a:noFill/>
        </p:spPr>
        <p:txBody>
          <a:bodyPr wrap="none" lIns="0" rIns="0" tIns="0" bIns="0">
            <a:spAutoFit/>
          </a:bodyPr>
          <a:lstStyle/>
          <a:p>
            <a:r>
              <a:rPr sz="1150" b="0">
                <a:solidFill>
                  <a:srgbClr val="2E2E2E"/>
                </a:solidFill>
                <a:latin typeface="Calibri"/>
              </a:rPr>
              <a:t>BPS over the forecast period to</a:t>
            </a:r>
          </a:p>
        </p:txBody>
      </p:sp>
      <p:sp>
        <p:nvSpPr>
          <p:cNvPr id="70" name="TextBox 69"/>
          <p:cNvSpPr txBox="1"/>
          <p:nvPr/>
        </p:nvSpPr>
        <p:spPr>
          <a:xfrm>
            <a:off x="7239000" y="2679573"/>
            <a:ext cx="755104" cy="194310"/>
          </a:xfrm>
          <a:prstGeom prst="rect">
            <a:avLst/>
          </a:prstGeom>
          <a:noFill/>
        </p:spPr>
        <p:txBody>
          <a:bodyPr wrap="none" lIns="0" rIns="0" tIns="0" bIns="0">
            <a:spAutoFit/>
          </a:bodyPr>
          <a:lstStyle/>
          <a:p>
            <a:r>
              <a:rPr sz="1150" b="0">
                <a:solidFill>
                  <a:srgbClr val="2E2E2E"/>
                </a:solidFill>
                <a:latin typeface="Calibri"/>
              </a:rPr>
              <a:t>account for</a:t>
            </a:r>
          </a:p>
        </p:txBody>
      </p:sp>
      <p:pic>
        <p:nvPicPr>
          <p:cNvPr id="71" name="Picture 70" descr="lock.png"/>
          <p:cNvPicPr>
            <a:picLocks noChangeAspect="1"/>
          </p:cNvPicPr>
          <p:nvPr/>
        </p:nvPicPr>
        <p:blipFill>
          <a:blip r:embed="rId5"/>
          <a:stretch>
            <a:fillRect/>
          </a:stretch>
        </p:blipFill>
        <p:spPr>
          <a:xfrm>
            <a:off x="7943258" y="2669349"/>
            <a:ext cx="134549" cy="195707"/>
          </a:xfrm>
          <a:prstGeom prst="rect">
            <a:avLst/>
          </a:prstGeom>
        </p:spPr>
      </p:pic>
      <p:sp>
        <p:nvSpPr>
          <p:cNvPr id="72" name="TextBox 71"/>
          <p:cNvSpPr txBox="1"/>
          <p:nvPr/>
        </p:nvSpPr>
        <p:spPr>
          <a:xfrm>
            <a:off x="8118367"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73" name="lockshield_9"/>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Analysis, By Region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region in 2026 and 2036, highlighting share gains and losses in basis points</a:t>
            </a:r>
          </a:p>
        </p:txBody>
      </p:sp>
      <p:sp>
        <p:nvSpPr>
          <p:cNvPr id="7" name="Rounded Rectangle 6"/>
          <p:cNvSpPr/>
          <p:nvPr/>
        </p:nvSpPr>
        <p:spPr>
          <a:xfrm>
            <a:off x="142875" y="981075"/>
            <a:ext cx="6810375"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9" name="Chart 8"/>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0" name="TextBox 9"/>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2A5F8F"/>
                </a:solidFill>
                <a:latin typeface="Calibri"/>
              </a:rPr>
              <a:t>BPS Δ  (2026→2036)</a:t>
            </a:r>
          </a:p>
        </p:txBody>
      </p:sp>
      <p:sp>
        <p:nvSpPr>
          <p:cNvPr id="11" name="FMI Lock Anchor"/>
          <p:cNvSpPr txBox="1"/>
          <p:nvPr/>
        </p:nvSpPr>
        <p:spPr>
          <a:xfrm>
            <a:off x="2489835" y="3352800"/>
            <a:ext cx="38100" cy="38100"/>
          </a:xfrm>
          <a:prstGeom prst="rect">
            <a:avLst/>
          </a:prstGeom>
          <a:noFill/>
        </p:spPr>
        <p:txBody>
          <a:bodyPr wrap="none">
            <a:spAutoFit/>
          </a:bodyPr>
          <a:lstStyle/>
          <a:p/>
        </p:txBody>
      </p:sp>
      <p:sp>
        <p:nvSpPr>
          <p:cNvPr id="12" name="FMI Legend Chip"/>
          <p:cNvSpPr/>
          <p:nvPr/>
        </p:nvSpPr>
        <p:spPr>
          <a:xfrm>
            <a:off x="4551045" y="1559593"/>
            <a:ext cx="85725" cy="85725"/>
          </a:xfrm>
          <a:prstGeom prst="rect">
            <a:avLst/>
          </a:prstGeom>
          <a:solidFill>
            <a:srgbClr val="5862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4712970" y="155483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4855845" y="147863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Western Europe</a:t>
            </a:r>
          </a:p>
        </p:txBody>
      </p:sp>
      <p:sp>
        <p:nvSpPr>
          <p:cNvPr id="15" name="BPS Value 1"/>
          <p:cNvSpPr txBox="1"/>
          <p:nvPr/>
        </p:nvSpPr>
        <p:spPr>
          <a:xfrm>
            <a:off x="6305550" y="154054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FMI Legend Chip"/>
          <p:cNvSpPr/>
          <p:nvPr/>
        </p:nvSpPr>
        <p:spPr>
          <a:xfrm>
            <a:off x="4551045" y="1801796"/>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179703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4855845" y="172083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Eastern Europe</a:t>
            </a:r>
          </a:p>
        </p:txBody>
      </p:sp>
      <p:sp>
        <p:nvSpPr>
          <p:cNvPr id="19" name="BPS Value 2"/>
          <p:cNvSpPr txBox="1"/>
          <p:nvPr/>
        </p:nvSpPr>
        <p:spPr>
          <a:xfrm>
            <a:off x="6305550" y="178274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551045" y="2099422"/>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4712970" y="209465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4855845" y="201845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23" name="BPS Value 3"/>
          <p:cNvSpPr txBox="1"/>
          <p:nvPr/>
        </p:nvSpPr>
        <p:spPr>
          <a:xfrm>
            <a:off x="6305550" y="208037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551045" y="2443960"/>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4712970" y="243919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4855845" y="2362997"/>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7" name="BPS Value 4"/>
          <p:cNvSpPr txBox="1"/>
          <p:nvPr/>
        </p:nvSpPr>
        <p:spPr>
          <a:xfrm>
            <a:off x="6305550" y="242491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551045" y="2916244"/>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4712970" y="291148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4855845" y="283528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31" name="BPS Value 5"/>
          <p:cNvSpPr txBox="1"/>
          <p:nvPr/>
        </p:nvSpPr>
        <p:spPr>
          <a:xfrm>
            <a:off x="6305550" y="289719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551045" y="3488444"/>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4712970" y="348368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4855845" y="340748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5" name="BPS Value 6"/>
          <p:cNvSpPr txBox="1"/>
          <p:nvPr/>
        </p:nvSpPr>
        <p:spPr>
          <a:xfrm>
            <a:off x="6305550" y="346939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FMI Legend Chip"/>
          <p:cNvSpPr/>
          <p:nvPr/>
        </p:nvSpPr>
        <p:spPr>
          <a:xfrm>
            <a:off x="4551045" y="4454591"/>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rot="10800000">
            <a:off x="4712970" y="444982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7"/>
          <p:cNvSpPr txBox="1"/>
          <p:nvPr/>
        </p:nvSpPr>
        <p:spPr>
          <a:xfrm>
            <a:off x="4855845" y="437362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9" name="BPS Value 7"/>
          <p:cNvSpPr txBox="1"/>
          <p:nvPr/>
        </p:nvSpPr>
        <p:spPr>
          <a:xfrm>
            <a:off x="6305550" y="443554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0" name="Rounded Rectangle 39"/>
          <p:cNvSpPr/>
          <p:nvPr/>
        </p:nvSpPr>
        <p:spPr>
          <a:xfrm>
            <a:off x="7105650" y="981075"/>
            <a:ext cx="4933950"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E2A5C"/>
                </a:solidFill>
                <a:latin typeface="Calibri"/>
              </a:rPr>
              <a:t>Regional Highlights</a:t>
            </a:r>
          </a:p>
        </p:txBody>
      </p:sp>
      <p:sp>
        <p:nvSpPr>
          <p:cNvPr id="42" name="Rectangle 41"/>
          <p:cNvSpPr/>
          <p:nvPr/>
        </p:nvSpPr>
        <p:spPr>
          <a:xfrm>
            <a:off x="7239000" y="1304925"/>
            <a:ext cx="46672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4" name="Rounded Rectangle 43"/>
          <p:cNvSpPr/>
          <p:nvPr/>
        </p:nvSpPr>
        <p:spPr>
          <a:xfrm>
            <a:off x="142875" y="5648325"/>
            <a:ext cx="3943350"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2A5F8F"/>
                </a:solidFill>
                <a:latin typeface="Calibri"/>
              </a:rPr>
              <a:t/>
            </a:r>
          </a:p>
        </p:txBody>
      </p:sp>
      <p:sp>
        <p:nvSpPr>
          <p:cNvPr id="45" name="Rounded Rectangle 44"/>
          <p:cNvSpPr/>
          <p:nvPr/>
        </p:nvSpPr>
        <p:spPr>
          <a:xfrm>
            <a:off x="4238625"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2A5F8F"/>
                </a:solidFill>
                <a:latin typeface="Calibri"/>
              </a:rPr>
              <a:t/>
            </a:r>
          </a:p>
        </p:txBody>
      </p:sp>
      <p:sp>
        <p:nvSpPr>
          <p:cNvPr id="46" name="Rounded Rectangle 45"/>
          <p:cNvSpPr/>
          <p:nvPr/>
        </p:nvSpPr>
        <p:spPr>
          <a:xfrm>
            <a:off x="8210550"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2A5F8F"/>
                </a:solidFill>
                <a:latin typeface="Calibri"/>
              </a:rPr>
              <a:t/>
            </a:r>
          </a:p>
        </p:txBody>
      </p:sp>
      <p:sp>
        <p:nvSpPr>
          <p:cNvPr id="47" name="Rectangle 4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9" name="Picture 48" descr="lock.png"/>
          <p:cNvPicPr>
            <a:picLocks noChangeAspect="1"/>
          </p:cNvPicPr>
          <p:nvPr/>
        </p:nvPicPr>
        <p:blipFill>
          <a:blip r:embed="rId5"/>
          <a:stretch>
            <a:fillRect/>
          </a:stretch>
        </p:blipFill>
        <p:spPr>
          <a:xfrm>
            <a:off x="2333863" y="3121818"/>
            <a:ext cx="343793" cy="500062"/>
          </a:xfrm>
          <a:prstGeom prst="rect">
            <a:avLst/>
          </a:prstGeom>
        </p:spPr>
      </p:pic>
      <p:pic>
        <p:nvPicPr>
          <p:cNvPr id="50" name="Picture 49" descr="10_900_605E5C.png"/>
          <p:cNvPicPr>
            <a:picLocks noChangeAspect="1"/>
          </p:cNvPicPr>
          <p:nvPr/>
        </p:nvPicPr>
        <p:blipFill>
          <a:blip r:embed="rId6"/>
          <a:stretch>
            <a:fillRect/>
          </a:stretch>
        </p:blipFill>
        <p:spPr>
          <a:xfrm>
            <a:off x="1175203" y="5897562"/>
            <a:ext cx="1878689" cy="482599"/>
          </a:xfrm>
          <a:prstGeom prst="rect">
            <a:avLst/>
          </a:prstGeom>
        </p:spPr>
      </p:pic>
      <p:pic>
        <p:nvPicPr>
          <p:cNvPr id="51" name="Picture 50" descr="17_745_605E5C.png"/>
          <p:cNvPicPr>
            <a:picLocks noChangeAspect="1"/>
          </p:cNvPicPr>
          <p:nvPr/>
        </p:nvPicPr>
        <p:blipFill>
          <a:blip r:embed="rId7"/>
          <a:stretch>
            <a:fillRect/>
          </a:stretch>
        </p:blipFill>
        <p:spPr>
          <a:xfrm>
            <a:off x="5209041" y="5897562"/>
            <a:ext cx="1878689" cy="482599"/>
          </a:xfrm>
          <a:prstGeom prst="rect">
            <a:avLst/>
          </a:prstGeom>
        </p:spPr>
      </p:pic>
      <p:pic>
        <p:nvPicPr>
          <p:cNvPr id="52" name="Picture 51" descr="5_0__605E5C.png"/>
          <p:cNvPicPr>
            <a:picLocks noChangeAspect="1"/>
          </p:cNvPicPr>
          <p:nvPr/>
        </p:nvPicPr>
        <p:blipFill>
          <a:blip r:embed="rId8"/>
          <a:stretch>
            <a:fillRect/>
          </a:stretch>
        </p:blipFill>
        <p:spPr>
          <a:xfrm>
            <a:off x="9465355" y="5897562"/>
            <a:ext cx="1309912" cy="482599"/>
          </a:xfrm>
          <a:prstGeom prst="rect">
            <a:avLst/>
          </a:prstGeom>
        </p:spPr>
      </p:pic>
      <p:pic>
        <p:nvPicPr>
          <p:cNvPr id="53" name="Picture 52" descr="lock.png"/>
          <p:cNvPicPr>
            <a:picLocks noChangeAspect="1"/>
          </p:cNvPicPr>
          <p:nvPr/>
        </p:nvPicPr>
        <p:blipFill>
          <a:blip r:embed="rId5"/>
          <a:stretch>
            <a:fillRect/>
          </a:stretch>
        </p:blipFill>
        <p:spPr>
          <a:xfrm>
            <a:off x="5914657" y="5893409"/>
            <a:ext cx="337498" cy="490906"/>
          </a:xfrm>
          <a:prstGeom prst="rect">
            <a:avLst/>
          </a:prstGeom>
        </p:spPr>
      </p:pic>
      <p:sp>
        <p:nvSpPr>
          <p:cNvPr id="54" name="TextBox 53"/>
          <p:cNvSpPr txBox="1"/>
          <p:nvPr/>
        </p:nvSpPr>
        <p:spPr>
          <a:xfrm>
            <a:off x="7239000" y="1400175"/>
            <a:ext cx="4295675" cy="194310"/>
          </a:xfrm>
          <a:prstGeom prst="rect">
            <a:avLst/>
          </a:prstGeom>
          <a:noFill/>
        </p:spPr>
        <p:txBody>
          <a:bodyPr wrap="none" lIns="0" rIns="0" tIns="0" bIns="0">
            <a:spAutoFit/>
          </a:bodyPr>
          <a:lstStyle/>
          <a:p>
            <a:r>
              <a:rPr sz="1150" b="0">
                <a:solidFill>
                  <a:srgbClr val="2E2E2E"/>
                </a:solidFill>
                <a:latin typeface="Calibri"/>
              </a:rPr>
              <a:t>North America industrial air compressor market is projected to register</a:t>
            </a:r>
          </a:p>
        </p:txBody>
      </p:sp>
      <p:pic>
        <p:nvPicPr>
          <p:cNvPr id="55" name="Picture 54" descr="lock.png"/>
          <p:cNvPicPr>
            <a:picLocks noChangeAspect="1"/>
          </p:cNvPicPr>
          <p:nvPr/>
        </p:nvPicPr>
        <p:blipFill>
          <a:blip r:embed="rId5"/>
          <a:stretch>
            <a:fillRect/>
          </a:stretch>
        </p:blipFill>
        <p:spPr>
          <a:xfrm>
            <a:off x="11483829" y="1389951"/>
            <a:ext cx="134549" cy="195707"/>
          </a:xfrm>
          <a:prstGeom prst="rect">
            <a:avLst/>
          </a:prstGeom>
        </p:spPr>
      </p:pic>
      <p:sp>
        <p:nvSpPr>
          <p:cNvPr id="56" name="TextBox 55"/>
          <p:cNvSpPr txBox="1"/>
          <p:nvPr/>
        </p:nvSpPr>
        <p:spPr>
          <a:xfrm>
            <a:off x="11658938"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57" name="TextBox 56"/>
          <p:cNvSpPr txBox="1"/>
          <p:nvPr/>
        </p:nvSpPr>
        <p:spPr>
          <a:xfrm>
            <a:off x="7239000" y="1575435"/>
            <a:ext cx="4063764" cy="194310"/>
          </a:xfrm>
          <a:prstGeom prst="rect">
            <a:avLst/>
          </a:prstGeom>
          <a:noFill/>
        </p:spPr>
        <p:txBody>
          <a:bodyPr wrap="none" lIns="0" rIns="0" tIns="0" bIns="0">
            <a:spAutoFit/>
          </a:bodyPr>
          <a:lstStyle/>
          <a:p>
            <a:r>
              <a:rPr sz="1150" b="0">
                <a:solidFill>
                  <a:srgbClr val="2E2E2E"/>
                </a:solidFill>
                <a:latin typeface="Calibri"/>
              </a:rPr>
              <a:t>higher value than South Asia &amp; Pacific in 2036. Among industrial air</a:t>
            </a:r>
          </a:p>
        </p:txBody>
      </p:sp>
      <p:sp>
        <p:nvSpPr>
          <p:cNvPr id="58" name="TextBox 57"/>
          <p:cNvSpPr txBox="1"/>
          <p:nvPr/>
        </p:nvSpPr>
        <p:spPr>
          <a:xfrm>
            <a:off x="7239000" y="1750695"/>
            <a:ext cx="4648200" cy="194310"/>
          </a:xfrm>
          <a:prstGeom prst="rect">
            <a:avLst/>
          </a:prstGeom>
          <a:noFill/>
        </p:spPr>
        <p:txBody>
          <a:bodyPr wrap="none" lIns="0" rIns="0" tIns="0" bIns="0">
            <a:spAutoFit/>
          </a:bodyPr>
          <a:lstStyle/>
          <a:p>
            <a:r>
              <a:rPr sz="1150" b="0">
                <a:solidFill>
                  <a:srgbClr val="2E2E2E"/>
                </a:solidFill>
                <a:latin typeface="Calibri"/>
              </a:rPr>
              <a:t>compressor by region, South Asia &amp; Pacific is expected to witness the highest</a:t>
            </a:r>
          </a:p>
        </p:txBody>
      </p:sp>
      <p:sp>
        <p:nvSpPr>
          <p:cNvPr id="59" name="TextBox 58"/>
          <p:cNvSpPr txBox="1"/>
          <p:nvPr/>
        </p:nvSpPr>
        <p:spPr>
          <a:xfrm>
            <a:off x="7239000" y="192595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60" name="Picture 59" descr="lock.png"/>
          <p:cNvPicPr>
            <a:picLocks noChangeAspect="1"/>
          </p:cNvPicPr>
          <p:nvPr/>
        </p:nvPicPr>
        <p:blipFill>
          <a:blip r:embed="rId5"/>
          <a:stretch>
            <a:fillRect/>
          </a:stretch>
        </p:blipFill>
        <p:spPr>
          <a:xfrm>
            <a:off x="7752690" y="1915731"/>
            <a:ext cx="134549" cy="195707"/>
          </a:xfrm>
          <a:prstGeom prst="rect">
            <a:avLst/>
          </a:prstGeom>
        </p:spPr>
      </p:pic>
      <p:sp>
        <p:nvSpPr>
          <p:cNvPr id="61" name="TextBox 60"/>
          <p:cNvSpPr txBox="1"/>
          <p:nvPr/>
        </p:nvSpPr>
        <p:spPr>
          <a:xfrm>
            <a:off x="7927800"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62" name="TextBox 61"/>
          <p:cNvSpPr txBox="1"/>
          <p:nvPr/>
        </p:nvSpPr>
        <p:spPr>
          <a:xfrm>
            <a:off x="7239000" y="2153793"/>
            <a:ext cx="4648200"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a:t>
            </a:r>
          </a:p>
        </p:txBody>
      </p:sp>
      <p:sp>
        <p:nvSpPr>
          <p:cNvPr id="63" name="TextBox 62"/>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64" name="Picture 63" descr="lock.png"/>
          <p:cNvPicPr>
            <a:picLocks noChangeAspect="1"/>
          </p:cNvPicPr>
          <p:nvPr/>
        </p:nvPicPr>
        <p:blipFill>
          <a:blip r:embed="rId5"/>
          <a:stretch>
            <a:fillRect/>
          </a:stretch>
        </p:blipFill>
        <p:spPr>
          <a:xfrm>
            <a:off x="8106708" y="2318829"/>
            <a:ext cx="134549" cy="195707"/>
          </a:xfrm>
          <a:prstGeom prst="rect">
            <a:avLst/>
          </a:prstGeom>
        </p:spPr>
      </p:pic>
      <p:sp>
        <p:nvSpPr>
          <p:cNvPr id="65" name="TextBox 64"/>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6" name="Picture 65" descr="lock.png"/>
          <p:cNvPicPr>
            <a:picLocks noChangeAspect="1"/>
          </p:cNvPicPr>
          <p:nvPr/>
        </p:nvPicPr>
        <p:blipFill>
          <a:blip r:embed="rId5"/>
          <a:stretch>
            <a:fillRect/>
          </a:stretch>
        </p:blipFill>
        <p:spPr>
          <a:xfrm>
            <a:off x="9676961" y="2318829"/>
            <a:ext cx="134549" cy="195707"/>
          </a:xfrm>
          <a:prstGeom prst="rect">
            <a:avLst/>
          </a:prstGeom>
        </p:spPr>
      </p:pic>
      <p:sp>
        <p:nvSpPr>
          <p:cNvPr id="67" name="TextBox 66"/>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8" name="lockshield_9"/>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Share Analysis, By Region Volume (Units)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region, 2021–2036, highlighting the geographies gaining and ceding ground</a:t>
            </a:r>
          </a:p>
        </p:txBody>
      </p:sp>
      <p:sp>
        <p:nvSpPr>
          <p:cNvPr id="7" name="Rounded Rectangle 6"/>
          <p:cNvSpPr/>
          <p:nvPr/>
        </p:nvSpPr>
        <p:spPr>
          <a:xfrm>
            <a:off x="142875" y="981075"/>
            <a:ext cx="11906250" cy="3267075"/>
          </a:xfrm>
          <a:prstGeom prst="roundRect">
            <a:avLst>
              <a:gd name="adj" fmla="val 233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(Units)</a:t>
            </a:r>
          </a:p>
        </p:txBody>
      </p:sp>
      <p:graphicFrame>
        <p:nvGraphicFramePr>
          <p:cNvPr id="9" name="Table 8"/>
          <p:cNvGraphicFramePr>
            <a:graphicFrameLocks noGrp="1"/>
          </p:cNvGraphicFramePr>
          <p:nvPr/>
        </p:nvGraphicFramePr>
        <p:xfrm>
          <a:off x="152400" y="1238250"/>
          <a:ext cx="11892680" cy="2800348"/>
        </p:xfrm>
        <a:graphic>
          <a:graphicData uri="http://schemas.openxmlformats.org/drawingml/2006/table">
            <a:tbl>
              <a:tblPr>
                <a:tableStyleId>{5C22544A-7EE6-4342-B048-85BDC9FD1C3A}</a:tableStyleId>
              </a:tblPr>
              <a:tblGrid>
                <a:gridCol w="1388836"/>
                <a:gridCol w="632064"/>
                <a:gridCol w="632064"/>
                <a:gridCol w="632064"/>
                <a:gridCol w="632064"/>
                <a:gridCol w="632064"/>
                <a:gridCol w="632064"/>
                <a:gridCol w="632064"/>
                <a:gridCol w="632064"/>
                <a:gridCol w="632064"/>
                <a:gridCol w="632064"/>
                <a:gridCol w="632064"/>
                <a:gridCol w="632064"/>
                <a:gridCol w="632064"/>
                <a:gridCol w="632064"/>
                <a:gridCol w="632064"/>
                <a:gridCol w="632064"/>
                <a:gridCol w="390820"/>
              </a:tblGrid>
              <a:tr h="438912">
                <a:tc>
                  <a:txBody>
                    <a:bodyPr wrap="none"/>
                    <a:lstStyle/>
                    <a:p>
                      <a:pPr algn="l"/>
                      <a:r>
                        <a:rPr sz="1100" b="1">
                          <a:solidFill>
                            <a:srgbClr val="0E2A5C"/>
                          </a:solidFill>
                          <a:latin typeface="Calibri"/>
                        </a:rPr>
                        <a:t>Region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2021A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2022A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2023A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2024A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2025A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2027F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2028F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2029F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2030F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2031F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2032F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2033F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2034F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2035F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F-CAGR</a:t>
                      </a:r>
                      <a:endParaRPr sz="1100"/>
                    </a:p>
                  </a:txBody>
                  <a:tcPr marL="19050" marR="14288" marT="19050" marB="19050" anchor="ctr">
                    <a:solidFill>
                      <a:srgbClr val="EBF2F9"/>
                    </a:solidFill>
                  </a:tcPr>
                </a:tc>
              </a:tr>
              <a:tr h="246983">
                <a:tc>
                  <a:txBody>
                    <a:bodyPr wrap="none"/>
                    <a:lstStyle/>
                    <a:p>
                      <a:pPr algn="l"/>
                      <a:r>
                        <a:rPr sz="1100" b="1">
                          <a:solidFill>
                            <a:srgbClr val="2E2E2E"/>
                          </a:solidFill>
                          <a:latin typeface="Calibri"/>
                        </a:rPr>
                        <a:t>North America</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983">
                <a:tc>
                  <a:txBody>
                    <a:bodyPr wrap="none"/>
                    <a:lstStyle/>
                    <a:p>
                      <a:pPr algn="l"/>
                      <a:r>
                        <a:rPr sz="1100" b="1">
                          <a:solidFill>
                            <a:srgbClr val="2E2E2E"/>
                          </a:solidFill>
                          <a:latin typeface="Calibri"/>
                        </a:rPr>
                        <a:t>Latin America</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246983">
                <a:tc>
                  <a:txBody>
                    <a:bodyPr wrap="none"/>
                    <a:lstStyle/>
                    <a:p>
                      <a:pPr algn="l"/>
                      <a:r>
                        <a:rPr sz="1100" b="1">
                          <a:solidFill>
                            <a:srgbClr val="2E2E2E"/>
                          </a:solidFill>
                          <a:latin typeface="Calibri"/>
                        </a:rPr>
                        <a:t>East Asia</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769">
                <a:tc>
                  <a:txBody>
                    <a:bodyPr wrap="none"/>
                    <a:lstStyle/>
                    <a:p>
                      <a:pPr algn="l"/>
                      <a:r>
                        <a:rPr sz="1100" b="1">
                          <a:solidFill>
                            <a:srgbClr val="2E2E2E"/>
                          </a:solidFill>
                          <a:latin typeface="Calibri"/>
                        </a:rPr>
                        <a:t>South Asia &amp;</a:t>
                      </a:r>
                      <a:endParaRPr sz="1100"/>
                    </a:p>
                    <a:p>
                      <a:pPr algn="l"/>
                      <a:r>
                        <a:rPr sz="1100" b="1">
                          <a:solidFill>
                            <a:srgbClr val="2E2E2E"/>
                          </a:solidFill>
                          <a:latin typeface="Calibri"/>
                        </a:rPr>
                        <a:t>Pacific</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246983">
                <a:tc>
                  <a:txBody>
                    <a:bodyPr wrap="none"/>
                    <a:lstStyle/>
                    <a:p>
                      <a:pPr algn="l"/>
                      <a:r>
                        <a:rPr sz="1100" b="1">
                          <a:solidFill>
                            <a:srgbClr val="2E2E2E"/>
                          </a:solidFill>
                          <a:latin typeface="Calibri"/>
                        </a:rPr>
                        <a:t>Western Europe</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983">
                <a:tc>
                  <a:txBody>
                    <a:bodyPr wrap="none"/>
                    <a:lstStyle/>
                    <a:p>
                      <a:pPr algn="l"/>
                      <a:r>
                        <a:rPr sz="1100" b="1">
                          <a:solidFill>
                            <a:srgbClr val="2E2E2E"/>
                          </a:solidFill>
                          <a:latin typeface="Calibri"/>
                        </a:rPr>
                        <a:t>Eastern Europe</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439769">
                <a:tc>
                  <a:txBody>
                    <a:bodyPr wrap="none"/>
                    <a:lstStyle/>
                    <a:p>
                      <a:pPr algn="l"/>
                      <a:r>
                        <a:rPr sz="1100" b="1">
                          <a:solidFill>
                            <a:srgbClr val="2E2E2E"/>
                          </a:solidFill>
                          <a:latin typeface="Calibri"/>
                        </a:rPr>
                        <a:t>Middle East &amp;</a:t>
                      </a:r>
                      <a:endParaRPr sz="1100"/>
                    </a:p>
                    <a:p>
                      <a:pPr algn="l"/>
                      <a:r>
                        <a:rPr sz="1100" b="1">
                          <a:solidFill>
                            <a:srgbClr val="2E2E2E"/>
                          </a:solidFill>
                          <a:latin typeface="Calibri"/>
                        </a:rPr>
                        <a:t>Africa</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983">
                <a:tc>
                  <a:txBody>
                    <a:bodyPr wrap="none"/>
                    <a:lstStyle/>
                    <a:p>
                      <a:pPr algn="l"/>
                      <a:r>
                        <a:rPr sz="1100" b="1">
                          <a:solidFill>
                            <a:srgbClr val="2E2E2E"/>
                          </a:solidFill>
                          <a:latin typeface="Calibri"/>
                        </a:rPr>
                        <a:t>Total</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r>
            </a:tbl>
          </a:graphicData>
        </a:graphic>
      </p:graphicFrame>
      <p:sp>
        <p:nvSpPr>
          <p:cNvPr id="10" name="TextBox 9"/>
          <p:cNvSpPr txBox="1"/>
          <p:nvPr/>
        </p:nvSpPr>
        <p:spPr>
          <a:xfrm>
            <a:off x="219075" y="40481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381500"/>
            <a:ext cx="11906250" cy="2247900"/>
          </a:xfrm>
          <a:prstGeom prst="roundRect">
            <a:avLst>
              <a:gd name="adj" fmla="val 338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467225"/>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Volume Share Read-out, By Region</a:t>
            </a:r>
          </a:p>
        </p:txBody>
      </p:sp>
      <p:sp>
        <p:nvSpPr>
          <p:cNvPr id="13" name="Rectangle 12"/>
          <p:cNvSpPr/>
          <p:nvPr/>
        </p:nvSpPr>
        <p:spPr>
          <a:xfrm>
            <a:off x="276225" y="47053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4791075"/>
            <a:ext cx="11639550" cy="1762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529244" y="2591179"/>
            <a:ext cx="366712" cy="533400"/>
          </a:xfrm>
          <a:prstGeom prst="rect">
            <a:avLst/>
          </a:prstGeom>
        </p:spPr>
      </p:pic>
      <p:sp>
        <p:nvSpPr>
          <p:cNvPr id="18" name="TextBox 17"/>
          <p:cNvSpPr txBox="1"/>
          <p:nvPr/>
        </p:nvSpPr>
        <p:spPr>
          <a:xfrm>
            <a:off x="276225" y="4800600"/>
            <a:ext cx="4595477" cy="194310"/>
          </a:xfrm>
          <a:prstGeom prst="rect">
            <a:avLst/>
          </a:prstGeom>
          <a:noFill/>
        </p:spPr>
        <p:txBody>
          <a:bodyPr wrap="none" lIns="0" rIns="0" tIns="0" bIns="0">
            <a:spAutoFit/>
          </a:bodyPr>
          <a:lstStyle/>
          <a:p>
            <a:r>
              <a:rPr sz="1150" b="0">
                <a:solidFill>
                  <a:srgbClr val="2E2E2E"/>
                </a:solidFill>
                <a:latin typeface="Calibri"/>
              </a:rPr>
              <a:t>South Asia &amp; Pacific industrial air compressor market is projected to register</a:t>
            </a:r>
          </a:p>
        </p:txBody>
      </p:sp>
      <p:pic>
        <p:nvPicPr>
          <p:cNvPr id="19" name="Picture 18" descr="lock.png"/>
          <p:cNvPicPr>
            <a:picLocks noChangeAspect="1"/>
          </p:cNvPicPr>
          <p:nvPr/>
        </p:nvPicPr>
        <p:blipFill>
          <a:blip r:embed="rId4"/>
          <a:stretch>
            <a:fillRect/>
          </a:stretch>
        </p:blipFill>
        <p:spPr>
          <a:xfrm>
            <a:off x="4820856" y="4790376"/>
            <a:ext cx="134549" cy="195707"/>
          </a:xfrm>
          <a:prstGeom prst="rect">
            <a:avLst/>
          </a:prstGeom>
        </p:spPr>
      </p:pic>
      <p:sp>
        <p:nvSpPr>
          <p:cNvPr id="20" name="TextBox 19"/>
          <p:cNvSpPr txBox="1"/>
          <p:nvPr/>
        </p:nvSpPr>
        <p:spPr>
          <a:xfrm>
            <a:off x="4995965" y="4800600"/>
            <a:ext cx="6682109" cy="194310"/>
          </a:xfrm>
          <a:prstGeom prst="rect">
            <a:avLst/>
          </a:prstGeom>
          <a:noFill/>
        </p:spPr>
        <p:txBody>
          <a:bodyPr wrap="none" lIns="0" rIns="0" tIns="0" bIns="0">
            <a:spAutoFit/>
          </a:bodyPr>
          <a:lstStyle/>
          <a:p>
            <a:r>
              <a:rPr sz="1150" b="0">
                <a:solidFill>
                  <a:srgbClr val="2E2E2E"/>
                </a:solidFill>
                <a:latin typeface="Calibri"/>
              </a:rPr>
              <a:t>X higher volume than North America in 2036. Among industrial air compressor by region, South Asia &amp; Pacific is</a:t>
            </a:r>
          </a:p>
        </p:txBody>
      </p:sp>
      <p:sp>
        <p:nvSpPr>
          <p:cNvPr id="21" name="TextBox 20"/>
          <p:cNvSpPr txBox="1"/>
          <p:nvPr/>
        </p:nvSpPr>
        <p:spPr>
          <a:xfrm>
            <a:off x="276225" y="4975860"/>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22" name="Picture 21" descr="lock.png"/>
          <p:cNvPicPr>
            <a:picLocks noChangeAspect="1"/>
          </p:cNvPicPr>
          <p:nvPr/>
        </p:nvPicPr>
        <p:blipFill>
          <a:blip r:embed="rId4"/>
          <a:stretch>
            <a:fillRect/>
          </a:stretch>
        </p:blipFill>
        <p:spPr>
          <a:xfrm>
            <a:off x="2711386" y="4965636"/>
            <a:ext cx="134549" cy="195707"/>
          </a:xfrm>
          <a:prstGeom prst="rect">
            <a:avLst/>
          </a:prstGeom>
        </p:spPr>
      </p:pic>
      <p:sp>
        <p:nvSpPr>
          <p:cNvPr id="23" name="TextBox 22"/>
          <p:cNvSpPr txBox="1"/>
          <p:nvPr/>
        </p:nvSpPr>
        <p:spPr>
          <a:xfrm>
            <a:off x="2886495" y="49758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5203697"/>
            <a:ext cx="6046564"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 dominate the market, gaining</a:t>
            </a:r>
          </a:p>
        </p:txBody>
      </p:sp>
      <p:pic>
        <p:nvPicPr>
          <p:cNvPr id="25" name="Picture 24" descr="lock.png"/>
          <p:cNvPicPr>
            <a:picLocks noChangeAspect="1"/>
          </p:cNvPicPr>
          <p:nvPr/>
        </p:nvPicPr>
        <p:blipFill>
          <a:blip r:embed="rId4"/>
          <a:stretch>
            <a:fillRect/>
          </a:stretch>
        </p:blipFill>
        <p:spPr>
          <a:xfrm>
            <a:off x="6271943" y="5193474"/>
            <a:ext cx="134549" cy="195707"/>
          </a:xfrm>
          <a:prstGeom prst="rect">
            <a:avLst/>
          </a:prstGeom>
        </p:spPr>
      </p:pic>
      <p:sp>
        <p:nvSpPr>
          <p:cNvPr id="26" name="TextBox 25"/>
          <p:cNvSpPr txBox="1"/>
          <p:nvPr/>
        </p:nvSpPr>
        <p:spPr>
          <a:xfrm>
            <a:off x="6447052" y="52036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7842195" y="5193474"/>
            <a:ext cx="134549" cy="195707"/>
          </a:xfrm>
          <a:prstGeom prst="rect">
            <a:avLst/>
          </a:prstGeom>
        </p:spPr>
      </p:pic>
      <p:sp>
        <p:nvSpPr>
          <p:cNvPr id="28" name="TextBox 27"/>
          <p:cNvSpPr txBox="1"/>
          <p:nvPr/>
        </p:nvSpPr>
        <p:spPr>
          <a:xfrm>
            <a:off x="8017304" y="5203697"/>
            <a:ext cx="2986645" cy="194310"/>
          </a:xfrm>
          <a:prstGeom prst="rect">
            <a:avLst/>
          </a:prstGeom>
          <a:noFill/>
        </p:spPr>
        <p:txBody>
          <a:bodyPr wrap="none" lIns="0" rIns="0" tIns="0" bIns="0">
            <a:spAutoFit/>
          </a:bodyPr>
          <a:lstStyle/>
          <a:p>
            <a:r>
              <a:rPr sz="1150" b="0">
                <a:solidFill>
                  <a:srgbClr val="2E2E2E"/>
                </a:solidFill>
                <a:latin typeface="Calibri"/>
              </a:rPr>
              <a:t>share by 2036. North America is expected to lose</a:t>
            </a:r>
          </a:p>
        </p:txBody>
      </p:sp>
      <p:pic>
        <p:nvPicPr>
          <p:cNvPr id="29" name="Picture 28" descr="lock.png"/>
          <p:cNvPicPr>
            <a:picLocks noChangeAspect="1"/>
          </p:cNvPicPr>
          <p:nvPr/>
        </p:nvPicPr>
        <p:blipFill>
          <a:blip r:embed="rId4"/>
          <a:stretch>
            <a:fillRect/>
          </a:stretch>
        </p:blipFill>
        <p:spPr>
          <a:xfrm>
            <a:off x="10953104" y="5193474"/>
            <a:ext cx="134549" cy="195707"/>
          </a:xfrm>
          <a:prstGeom prst="rect">
            <a:avLst/>
          </a:prstGeom>
        </p:spPr>
      </p:pic>
      <p:sp>
        <p:nvSpPr>
          <p:cNvPr id="30" name="TextBox 29"/>
          <p:cNvSpPr txBox="1"/>
          <p:nvPr/>
        </p:nvSpPr>
        <p:spPr>
          <a:xfrm>
            <a:off x="11128213" y="5203697"/>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31" name="TextBox 30"/>
          <p:cNvSpPr txBox="1"/>
          <p:nvPr/>
        </p:nvSpPr>
        <p:spPr>
          <a:xfrm>
            <a:off x="276225" y="5378957"/>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32" name="Picture 31" descr="lock.png"/>
          <p:cNvPicPr>
            <a:picLocks noChangeAspect="1"/>
          </p:cNvPicPr>
          <p:nvPr/>
        </p:nvPicPr>
        <p:blipFill>
          <a:blip r:embed="rId4"/>
          <a:stretch>
            <a:fillRect/>
          </a:stretch>
        </p:blipFill>
        <p:spPr>
          <a:xfrm>
            <a:off x="2608427" y="5368734"/>
            <a:ext cx="134549" cy="195707"/>
          </a:xfrm>
          <a:prstGeom prst="rect">
            <a:avLst/>
          </a:prstGeom>
        </p:spPr>
      </p:pic>
      <p:sp>
        <p:nvSpPr>
          <p:cNvPr id="33" name="TextBox 32"/>
          <p:cNvSpPr txBox="1"/>
          <p:nvPr/>
        </p:nvSpPr>
        <p:spPr>
          <a:xfrm>
            <a:off x="2783536" y="537895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Share Analysis, By Region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region, 2021–2036, highlighting the geographies gaining and ceding ground</a:t>
            </a:r>
          </a:p>
        </p:txBody>
      </p:sp>
      <p:sp>
        <p:nvSpPr>
          <p:cNvPr id="7" name="Rounded Rectangle 6"/>
          <p:cNvSpPr/>
          <p:nvPr/>
        </p:nvSpPr>
        <p:spPr>
          <a:xfrm>
            <a:off x="142875" y="981075"/>
            <a:ext cx="11906250" cy="2686050"/>
          </a:xfrm>
          <a:prstGeom prst="roundRect">
            <a:avLst>
              <a:gd name="adj" fmla="val 28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(US$ Mn)</a:t>
            </a:r>
          </a:p>
        </p:txBody>
      </p:sp>
      <p:graphicFrame>
        <p:nvGraphicFramePr>
          <p:cNvPr id="9" name="Table 8"/>
          <p:cNvGraphicFramePr>
            <a:graphicFrameLocks noGrp="1"/>
          </p:cNvGraphicFramePr>
          <p:nvPr/>
        </p:nvGraphicFramePr>
        <p:xfrm>
          <a:off x="152400" y="1238250"/>
          <a:ext cx="11887195" cy="2219326"/>
        </p:xfrm>
        <a:graphic>
          <a:graphicData uri="http://schemas.openxmlformats.org/drawingml/2006/table">
            <a:tbl>
              <a:tblPr>
                <a:tableStyleId>{5C22544A-7EE6-4342-B048-85BDC9FD1C3A}</a:tableStyleId>
              </a:tblPr>
              <a:tblGrid>
                <a:gridCol w="1475375"/>
                <a:gridCol w="612460"/>
                <a:gridCol w="612460"/>
                <a:gridCol w="612460"/>
                <a:gridCol w="612460"/>
                <a:gridCol w="612460"/>
                <a:gridCol w="612460"/>
                <a:gridCol w="612460"/>
                <a:gridCol w="612460"/>
                <a:gridCol w="612460"/>
                <a:gridCol w="612460"/>
                <a:gridCol w="612460"/>
                <a:gridCol w="612460"/>
                <a:gridCol w="612460"/>
                <a:gridCol w="612460"/>
                <a:gridCol w="612460"/>
                <a:gridCol w="612460"/>
                <a:gridCol w="612460"/>
              </a:tblGrid>
              <a:tr h="246126">
                <a:tc>
                  <a:txBody>
                    <a:bodyPr wrap="none"/>
                    <a:lstStyle/>
                    <a:p>
                      <a:pPr algn="l"/>
                      <a:r>
                        <a:rPr sz="1100" b="1">
                          <a:solidFill>
                            <a:srgbClr val="0E2A5C"/>
                          </a:solidFill>
                          <a:latin typeface="Calibri"/>
                        </a:rPr>
                        <a:t>Region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65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Latin America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50">
                <a:tc>
                  <a:txBody>
                    <a:bodyPr wrap="none"/>
                    <a:lstStyle/>
                    <a:p>
                      <a:pPr algn="l"/>
                      <a:r>
                        <a:rPr sz="1100" b="1">
                          <a:solidFill>
                            <a:srgbClr val="2E2E2E"/>
                          </a:solidFill>
                          <a:latin typeface="Calibr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50">
                <a:tc>
                  <a:txBody>
                    <a:bodyPr wrap="none"/>
                    <a:lstStyle/>
                    <a:p>
                      <a:pPr algn="l"/>
                      <a:r>
                        <a:rPr sz="1100" b="1">
                          <a:solidFill>
                            <a:srgbClr val="2E2E2E"/>
                          </a:solidFill>
                          <a:latin typeface="Calibr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Eastern Europe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50">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800475"/>
            <a:ext cx="11906250" cy="2828925"/>
          </a:xfrm>
          <a:prstGeom prst="roundRect">
            <a:avLst>
              <a:gd name="adj" fmla="val 269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Share Read-out, By Region</a:t>
            </a:r>
          </a:p>
        </p:txBody>
      </p:sp>
      <p:sp>
        <p:nvSpPr>
          <p:cNvPr id="13" name="Rectangle 12"/>
          <p:cNvSpPr/>
          <p:nvPr/>
        </p:nvSpPr>
        <p:spPr>
          <a:xfrm>
            <a:off x="276225" y="41243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646995" y="2204276"/>
            <a:ext cx="366712" cy="533400"/>
          </a:xfrm>
          <a:prstGeom prst="rect">
            <a:avLst/>
          </a:prstGeom>
        </p:spPr>
      </p:pic>
      <p:sp>
        <p:nvSpPr>
          <p:cNvPr id="18" name="TextBox 17"/>
          <p:cNvSpPr txBox="1"/>
          <p:nvPr/>
        </p:nvSpPr>
        <p:spPr>
          <a:xfrm>
            <a:off x="276225" y="4219575"/>
            <a:ext cx="4295675" cy="194310"/>
          </a:xfrm>
          <a:prstGeom prst="rect">
            <a:avLst/>
          </a:prstGeom>
          <a:noFill/>
        </p:spPr>
        <p:txBody>
          <a:bodyPr wrap="none" lIns="0" rIns="0" tIns="0" bIns="0">
            <a:spAutoFit/>
          </a:bodyPr>
          <a:lstStyle/>
          <a:p>
            <a:r>
              <a:rPr sz="1150" b="0">
                <a:solidFill>
                  <a:srgbClr val="2E2E2E"/>
                </a:solidFill>
                <a:latin typeface="Calibri"/>
              </a:rPr>
              <a:t>North America industrial air compressor market is projected to register</a:t>
            </a:r>
          </a:p>
        </p:txBody>
      </p:sp>
      <p:pic>
        <p:nvPicPr>
          <p:cNvPr id="19" name="Picture 18" descr="lock.png"/>
          <p:cNvPicPr>
            <a:picLocks noChangeAspect="1"/>
          </p:cNvPicPr>
          <p:nvPr/>
        </p:nvPicPr>
        <p:blipFill>
          <a:blip r:embed="rId4"/>
          <a:stretch>
            <a:fillRect/>
          </a:stretch>
        </p:blipFill>
        <p:spPr>
          <a:xfrm>
            <a:off x="4521054" y="4209351"/>
            <a:ext cx="134549" cy="195707"/>
          </a:xfrm>
          <a:prstGeom prst="rect">
            <a:avLst/>
          </a:prstGeom>
        </p:spPr>
      </p:pic>
      <p:sp>
        <p:nvSpPr>
          <p:cNvPr id="20" name="TextBox 19"/>
          <p:cNvSpPr txBox="1"/>
          <p:nvPr/>
        </p:nvSpPr>
        <p:spPr>
          <a:xfrm>
            <a:off x="4696163" y="4219575"/>
            <a:ext cx="6858111" cy="194310"/>
          </a:xfrm>
          <a:prstGeom prst="rect">
            <a:avLst/>
          </a:prstGeom>
          <a:noFill/>
        </p:spPr>
        <p:txBody>
          <a:bodyPr wrap="none" lIns="0" rIns="0" tIns="0" bIns="0">
            <a:spAutoFit/>
          </a:bodyPr>
          <a:lstStyle/>
          <a:p>
            <a:r>
              <a:rPr sz="1150" b="0">
                <a:solidFill>
                  <a:srgbClr val="2E2E2E"/>
                </a:solidFill>
                <a:latin typeface="Calibri"/>
              </a:rPr>
              <a:t>X higher value than South Asia &amp; Pacific in 2036. Among industrial air compressor by region, South Asia &amp; Pacific is</a:t>
            </a:r>
          </a:p>
        </p:txBody>
      </p:sp>
      <p:sp>
        <p:nvSpPr>
          <p:cNvPr id="21" name="TextBox 20"/>
          <p:cNvSpPr txBox="1"/>
          <p:nvPr/>
        </p:nvSpPr>
        <p:spPr>
          <a:xfrm>
            <a:off x="276225" y="439483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22" name="Picture 21" descr="lock.png"/>
          <p:cNvPicPr>
            <a:picLocks noChangeAspect="1"/>
          </p:cNvPicPr>
          <p:nvPr/>
        </p:nvPicPr>
        <p:blipFill>
          <a:blip r:embed="rId4"/>
          <a:stretch>
            <a:fillRect/>
          </a:stretch>
        </p:blipFill>
        <p:spPr>
          <a:xfrm>
            <a:off x="2711386" y="4384611"/>
            <a:ext cx="134549" cy="195707"/>
          </a:xfrm>
          <a:prstGeom prst="rect">
            <a:avLst/>
          </a:prstGeom>
        </p:spPr>
      </p:pic>
      <p:sp>
        <p:nvSpPr>
          <p:cNvPr id="23" name="TextBox 22"/>
          <p:cNvSpPr txBox="1"/>
          <p:nvPr/>
        </p:nvSpPr>
        <p:spPr>
          <a:xfrm>
            <a:off x="2886495" y="43948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622672"/>
            <a:ext cx="5541664"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 market, losing</a:t>
            </a:r>
          </a:p>
        </p:txBody>
      </p:sp>
      <p:pic>
        <p:nvPicPr>
          <p:cNvPr id="25" name="Picture 24" descr="lock.png"/>
          <p:cNvPicPr>
            <a:picLocks noChangeAspect="1"/>
          </p:cNvPicPr>
          <p:nvPr/>
        </p:nvPicPr>
        <p:blipFill>
          <a:blip r:embed="rId4"/>
          <a:stretch>
            <a:fillRect/>
          </a:stretch>
        </p:blipFill>
        <p:spPr>
          <a:xfrm>
            <a:off x="5767043" y="4612449"/>
            <a:ext cx="134549" cy="195707"/>
          </a:xfrm>
          <a:prstGeom prst="rect">
            <a:avLst/>
          </a:prstGeom>
        </p:spPr>
      </p:pic>
      <p:sp>
        <p:nvSpPr>
          <p:cNvPr id="26" name="TextBox 25"/>
          <p:cNvSpPr txBox="1"/>
          <p:nvPr/>
        </p:nvSpPr>
        <p:spPr>
          <a:xfrm>
            <a:off x="5942153" y="46226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7337296" y="4612449"/>
            <a:ext cx="134549" cy="195707"/>
          </a:xfrm>
          <a:prstGeom prst="rect">
            <a:avLst/>
          </a:prstGeom>
        </p:spPr>
      </p:pic>
      <p:sp>
        <p:nvSpPr>
          <p:cNvPr id="28" name="TextBox 27"/>
          <p:cNvSpPr txBox="1"/>
          <p:nvPr/>
        </p:nvSpPr>
        <p:spPr>
          <a:xfrm>
            <a:off x="7512405" y="462267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Trends, By Region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regional volume and value shares shift over 2021–2036, highlighting who gains ground</a:t>
            </a:r>
          </a:p>
        </p:txBody>
      </p:sp>
      <p:sp>
        <p:nvSpPr>
          <p:cNvPr id="7" name="Rounded Rectangle 6"/>
          <p:cNvSpPr/>
          <p:nvPr/>
        </p:nvSpPr>
        <p:spPr>
          <a:xfrm>
            <a:off x="142875" y="981075"/>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Region (Units)</a:t>
            </a:r>
          </a:p>
        </p:txBody>
      </p:sp>
      <p:graphicFrame>
        <p:nvGraphicFramePr>
          <p:cNvPr id="9" name="Chart 8"/>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9763125" y="1304925"/>
            <a:ext cx="2190750" cy="2333625"/>
          </a:xfrm>
          <a:prstGeom prst="roundRect">
            <a:avLst>
              <a:gd name="adj" fmla="val 34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MI Dense Legend"/>
          <p:cNvSpPr txBox="1"/>
          <p:nvPr/>
        </p:nvSpPr>
        <p:spPr>
          <a:xfrm>
            <a:off x="9839325" y="1362075"/>
            <a:ext cx="2057400" cy="171450"/>
          </a:xfrm>
          <a:prstGeom prst="rect">
            <a:avLst/>
          </a:prstGeom>
          <a:noFill/>
        </p:spPr>
        <p:txBody>
          <a:bodyPr wrap="none">
            <a:spAutoFit/>
          </a:bodyPr>
          <a:lstStyle/>
          <a:p>
            <a:pPr/>
            <a:r>
              <a:rPr sz="850" b="1">
                <a:solidFill>
                  <a:srgbClr val="6C7A89"/>
                </a:solidFill>
                <a:latin typeface="Calibri"/>
              </a:rPr>
              <a:t/>
            </a:r>
          </a:p>
        </p:txBody>
      </p:sp>
      <p:sp>
        <p:nvSpPr>
          <p:cNvPr id="12"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E2A5C"/>
                </a:solidFill>
                <a:latin typeface="Calibri"/>
              </a:rPr>
              <a:t>■  </a:t>
            </a:r>
            <a:r>
              <a:rPr sz="750">
                <a:solidFill>
                  <a:srgbClr val="2E2E2E"/>
                </a:solidFill>
                <a:latin typeface="Calibri"/>
              </a:rPr>
              <a:t>   South Asia &amp; Pacific</a:t>
            </a:r>
          </a:p>
          <a:p>
            <a:pPr>
              <a:spcBef>
                <a:spcPts val="500"/>
              </a:spcBef>
            </a:pPr>
            <a:r>
              <a:rPr sz="900">
                <a:solidFill>
                  <a:srgbClr val="2A5F8F"/>
                </a:solidFill>
                <a:latin typeface="Calibri"/>
              </a:rPr>
              <a:t>■  </a:t>
            </a:r>
            <a:r>
              <a:rPr sz="750">
                <a:solidFill>
                  <a:srgbClr val="2E2E2E"/>
                </a:solidFill>
                <a:latin typeface="Calibri"/>
              </a:rPr>
              <a:t>   North America</a:t>
            </a:r>
          </a:p>
          <a:p>
            <a:pPr>
              <a:spcBef>
                <a:spcPts val="500"/>
              </a:spcBef>
            </a:pPr>
            <a:r>
              <a:rPr sz="900">
                <a:solidFill>
                  <a:srgbClr val="0081E2"/>
                </a:solidFill>
                <a:latin typeface="Calibri"/>
              </a:rPr>
              <a:t>■  </a:t>
            </a:r>
            <a:r>
              <a:rPr sz="750">
                <a:solidFill>
                  <a:srgbClr val="2E2E2E"/>
                </a:solidFill>
                <a:latin typeface="Calibri"/>
              </a:rPr>
              <a:t>   East Asia</a:t>
            </a:r>
          </a:p>
          <a:p>
            <a:pPr>
              <a:spcBef>
                <a:spcPts val="500"/>
              </a:spcBef>
            </a:pPr>
            <a:r>
              <a:rPr sz="900">
                <a:solidFill>
                  <a:srgbClr val="00ACAC"/>
                </a:solidFill>
                <a:latin typeface="Calibri"/>
              </a:rPr>
              <a:t>■  </a:t>
            </a:r>
            <a:r>
              <a:rPr sz="750">
                <a:solidFill>
                  <a:srgbClr val="2E2E2E"/>
                </a:solidFill>
                <a:latin typeface="Calibri"/>
              </a:rPr>
              <a:t>   Latin America</a:t>
            </a:r>
          </a:p>
          <a:p>
            <a:pPr>
              <a:spcBef>
                <a:spcPts val="500"/>
              </a:spcBef>
            </a:pPr>
            <a:r>
              <a:rPr sz="900">
                <a:solidFill>
                  <a:srgbClr val="F47620"/>
                </a:solidFill>
                <a:latin typeface="Calibri"/>
              </a:rPr>
              <a:t>■  </a:t>
            </a:r>
            <a:r>
              <a:rPr sz="750">
                <a:solidFill>
                  <a:srgbClr val="2E2E2E"/>
                </a:solidFill>
                <a:latin typeface="Calibri"/>
              </a:rPr>
              <a:t>   Middle East &amp; Africa</a:t>
            </a:r>
          </a:p>
          <a:p>
            <a:pPr>
              <a:spcBef>
                <a:spcPts val="500"/>
              </a:spcBef>
            </a:pPr>
            <a:r>
              <a:rPr sz="900">
                <a:solidFill>
                  <a:srgbClr val="79C3EC"/>
                </a:solidFill>
                <a:latin typeface="Calibri"/>
              </a:rPr>
              <a:t>■  </a:t>
            </a:r>
            <a:r>
              <a:rPr sz="750">
                <a:solidFill>
                  <a:srgbClr val="2E2E2E"/>
                </a:solidFill>
                <a:latin typeface="Calibri"/>
              </a:rPr>
              <a:t>   Eastern Europe</a:t>
            </a:r>
          </a:p>
          <a:p>
            <a:pPr>
              <a:spcBef>
                <a:spcPts val="500"/>
              </a:spcBef>
            </a:pPr>
            <a:r>
              <a:rPr sz="900">
                <a:solidFill>
                  <a:srgbClr val="586272"/>
                </a:solidFill>
                <a:latin typeface="Calibri"/>
              </a:rPr>
              <a:t>■  </a:t>
            </a:r>
            <a:r>
              <a:rPr sz="750">
                <a:solidFill>
                  <a:srgbClr val="2E2E2E"/>
                </a:solidFill>
                <a:latin typeface="Calibri"/>
              </a:rPr>
              <a:t>   Western Europe</a:t>
            </a:r>
          </a:p>
        </p:txBody>
      </p:sp>
      <p:sp>
        <p:nvSpPr>
          <p:cNvPr id="13" name="Rounded Rectangle 12"/>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Region (US$ Mn)</a:t>
            </a:r>
          </a:p>
        </p:txBody>
      </p:sp>
      <p:graphicFrame>
        <p:nvGraphicFramePr>
          <p:cNvPr id="15" name="Chart 14"/>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9763125" y="4191000"/>
            <a:ext cx="2190750" cy="2333625"/>
          </a:xfrm>
          <a:prstGeom prst="roundRect">
            <a:avLst>
              <a:gd name="adj" fmla="val 34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MI Dense Legend"/>
          <p:cNvSpPr txBox="1"/>
          <p:nvPr/>
        </p:nvSpPr>
        <p:spPr>
          <a:xfrm>
            <a:off x="9839325" y="4248150"/>
            <a:ext cx="2057400" cy="171450"/>
          </a:xfrm>
          <a:prstGeom prst="rect">
            <a:avLst/>
          </a:prstGeom>
          <a:noFill/>
        </p:spPr>
        <p:txBody>
          <a:bodyPr wrap="none">
            <a:spAutoFit/>
          </a:bodyPr>
          <a:lstStyle/>
          <a:p>
            <a:pPr/>
            <a:r>
              <a:rPr sz="850" b="1">
                <a:solidFill>
                  <a:srgbClr val="6C7A89"/>
                </a:solidFill>
                <a:latin typeface="Calibri"/>
              </a:rPr>
              <a:t/>
            </a:r>
          </a:p>
        </p:txBody>
      </p:sp>
      <p:sp>
        <p:nvSpPr>
          <p:cNvPr id="18"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2A5F8F"/>
                </a:solidFill>
                <a:latin typeface="Calibri"/>
              </a:rPr>
              <a:t>■  </a:t>
            </a:r>
            <a:r>
              <a:rPr sz="750">
                <a:solidFill>
                  <a:srgbClr val="2E2E2E"/>
                </a:solidFill>
                <a:latin typeface="Calibri"/>
              </a:rPr>
              <a:t>   North America</a:t>
            </a:r>
          </a:p>
          <a:p>
            <a:pPr>
              <a:spcBef>
                <a:spcPts val="500"/>
              </a:spcBef>
            </a:pPr>
            <a:r>
              <a:rPr sz="900">
                <a:solidFill>
                  <a:srgbClr val="0E2A5C"/>
                </a:solidFill>
                <a:latin typeface="Calibri"/>
              </a:rPr>
              <a:t>■  </a:t>
            </a:r>
            <a:r>
              <a:rPr sz="750">
                <a:solidFill>
                  <a:srgbClr val="2E2E2E"/>
                </a:solidFill>
                <a:latin typeface="Calibri"/>
              </a:rPr>
              <a:t>   South Asia &amp; Pacific</a:t>
            </a:r>
          </a:p>
          <a:p>
            <a:pPr>
              <a:spcBef>
                <a:spcPts val="500"/>
              </a:spcBef>
            </a:pPr>
            <a:r>
              <a:rPr sz="900">
                <a:solidFill>
                  <a:srgbClr val="0081E2"/>
                </a:solidFill>
                <a:latin typeface="Calibri"/>
              </a:rPr>
              <a:t>■  </a:t>
            </a:r>
            <a:r>
              <a:rPr sz="750">
                <a:solidFill>
                  <a:srgbClr val="2E2E2E"/>
                </a:solidFill>
                <a:latin typeface="Calibri"/>
              </a:rPr>
              <a:t>   East Asia</a:t>
            </a:r>
          </a:p>
          <a:p>
            <a:pPr>
              <a:spcBef>
                <a:spcPts val="500"/>
              </a:spcBef>
            </a:pPr>
            <a:r>
              <a:rPr sz="900">
                <a:solidFill>
                  <a:srgbClr val="00ACAC"/>
                </a:solidFill>
                <a:latin typeface="Calibri"/>
              </a:rPr>
              <a:t>■  </a:t>
            </a:r>
            <a:r>
              <a:rPr sz="750">
                <a:solidFill>
                  <a:srgbClr val="2E2E2E"/>
                </a:solidFill>
                <a:latin typeface="Calibri"/>
              </a:rPr>
              <a:t>   Latin America</a:t>
            </a:r>
          </a:p>
          <a:p>
            <a:pPr>
              <a:spcBef>
                <a:spcPts val="500"/>
              </a:spcBef>
            </a:pPr>
            <a:r>
              <a:rPr sz="900">
                <a:solidFill>
                  <a:srgbClr val="F47620"/>
                </a:solidFill>
                <a:latin typeface="Calibri"/>
              </a:rPr>
              <a:t>■  </a:t>
            </a:r>
            <a:r>
              <a:rPr sz="750">
                <a:solidFill>
                  <a:srgbClr val="2E2E2E"/>
                </a:solidFill>
                <a:latin typeface="Calibri"/>
              </a:rPr>
              <a:t>   Middle East &amp; Africa</a:t>
            </a:r>
          </a:p>
          <a:p>
            <a:pPr>
              <a:spcBef>
                <a:spcPts val="500"/>
              </a:spcBef>
            </a:pPr>
            <a:r>
              <a:rPr sz="900">
                <a:solidFill>
                  <a:srgbClr val="79C3EC"/>
                </a:solidFill>
                <a:latin typeface="Calibri"/>
              </a:rPr>
              <a:t>■  </a:t>
            </a:r>
            <a:r>
              <a:rPr sz="750">
                <a:solidFill>
                  <a:srgbClr val="2E2E2E"/>
                </a:solidFill>
                <a:latin typeface="Calibri"/>
              </a:rPr>
              <a:t>   Eastern Europe</a:t>
            </a:r>
          </a:p>
          <a:p>
            <a:pPr>
              <a:spcBef>
                <a:spcPts val="500"/>
              </a:spcBef>
            </a:pPr>
            <a:r>
              <a:rPr sz="900">
                <a:solidFill>
                  <a:srgbClr val="586272"/>
                </a:solidFill>
                <a:latin typeface="Calibri"/>
              </a:rPr>
              <a:t>■  </a:t>
            </a:r>
            <a:r>
              <a:rPr sz="750">
                <a:solidFill>
                  <a:srgbClr val="2E2E2E"/>
                </a:solidFill>
                <a:latin typeface="Calibri"/>
              </a:rPr>
              <a:t>   Western Europe</a:t>
            </a:r>
          </a:p>
        </p:txBody>
      </p:sp>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1" name="TextBox 20"/>
          <p:cNvSpPr txBox="1"/>
          <p:nvPr/>
        </p:nvSpPr>
        <p:spPr>
          <a:xfrm>
            <a:off x="9930765" y="1407795"/>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2" name="TextBox 21"/>
          <p:cNvSpPr txBox="1"/>
          <p:nvPr/>
        </p:nvSpPr>
        <p:spPr>
          <a:xfrm>
            <a:off x="9930765" y="4293870"/>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3" name="lockshield_9"/>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lockshield_15"/>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Top 10 Countries (2036)</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global market in 2036, highlighting the leading countries within each region by value</a:t>
            </a:r>
          </a:p>
        </p:txBody>
      </p:sp>
      <p:sp>
        <p:nvSpPr>
          <p:cNvPr id="7" name="Rounded Rectangle 6"/>
          <p:cNvSpPr/>
          <p:nvPr/>
        </p:nvSpPr>
        <p:spPr>
          <a:xfrm>
            <a:off x="142875" y="981075"/>
            <a:ext cx="11906250"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by country  ·  2036 (US$ Mn)  ·  tile size = market value</a:t>
            </a:r>
          </a:p>
        </p:txBody>
      </p:sp>
      <p:sp>
        <p:nvSpPr>
          <p:cNvPr id="9" name="Rectangle 8"/>
          <p:cNvSpPr/>
          <p:nvPr/>
        </p:nvSpPr>
        <p:spPr>
          <a:xfrm>
            <a:off x="238125" y="1266825"/>
            <a:ext cx="3090574" cy="5305425"/>
          </a:xfrm>
          <a:prstGeom prst="rect">
            <a:avLst/>
          </a:prstGeom>
          <a:solidFill>
            <a:srgbClr val="2A5F8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0" name="Rectangle 9"/>
          <p:cNvSpPr/>
          <p:nvPr/>
        </p:nvSpPr>
        <p:spPr>
          <a:xfrm>
            <a:off x="3328699" y="1266825"/>
            <a:ext cx="2888699" cy="2742291"/>
          </a:xfrm>
          <a:prstGeom prst="rect">
            <a:avLst/>
          </a:prstGeom>
          <a:solidFill>
            <a:srgbClr val="0081E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1" name="Rectangle 10"/>
          <p:cNvSpPr/>
          <p:nvPr/>
        </p:nvSpPr>
        <p:spPr>
          <a:xfrm>
            <a:off x="3328699" y="4009116"/>
            <a:ext cx="2888699" cy="2563134"/>
          </a:xfrm>
          <a:prstGeom prst="rect">
            <a:avLst/>
          </a:prstGeom>
          <a:solidFill>
            <a:srgbClr val="0E2A5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12" name="Rectangle 11"/>
          <p:cNvSpPr/>
          <p:nvPr/>
        </p:nvSpPr>
        <p:spPr>
          <a:xfrm>
            <a:off x="6217398" y="1266825"/>
            <a:ext cx="2359499" cy="3085160"/>
          </a:xfrm>
          <a:prstGeom prst="rect">
            <a:avLst/>
          </a:prstGeom>
          <a:solidFill>
            <a:srgbClr val="00ACA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13" name="Rectangle 12"/>
          <p:cNvSpPr/>
          <p:nvPr/>
        </p:nvSpPr>
        <p:spPr>
          <a:xfrm>
            <a:off x="6217398" y="4351985"/>
            <a:ext cx="2359499" cy="2220265"/>
          </a:xfrm>
          <a:prstGeom prst="rect">
            <a:avLst/>
          </a:prstGeom>
          <a:solidFill>
            <a:srgbClr val="F4762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14" name="Rectangle 13"/>
          <p:cNvSpPr/>
          <p:nvPr/>
        </p:nvSpPr>
        <p:spPr>
          <a:xfrm>
            <a:off x="8576896" y="1266825"/>
            <a:ext cx="2051777" cy="2540699"/>
          </a:xfrm>
          <a:prstGeom prst="rect">
            <a:avLst/>
          </a:prstGeom>
          <a:solidFill>
            <a:srgbClr val="79C3E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Mexico</a:t>
            </a:r>
          </a:p>
          <a:p>
            <a:pPr algn="ctr"/>
            <a:r>
              <a:rPr sz="1100" b="0">
                <a:solidFill>
                  <a:srgbClr val="2E2E2E"/>
                </a:solidFill>
                <a:latin typeface="Calibri"/>
              </a:rPr>
              <a:t> </a:t>
            </a:r>
          </a:p>
        </p:txBody>
      </p:sp>
      <p:sp>
        <p:nvSpPr>
          <p:cNvPr id="15" name="Rectangle 14"/>
          <p:cNvSpPr/>
          <p:nvPr/>
        </p:nvSpPr>
        <p:spPr>
          <a:xfrm>
            <a:off x="10628673" y="1266825"/>
            <a:ext cx="1325202" cy="2540699"/>
          </a:xfrm>
          <a:prstGeom prst="rect">
            <a:avLst/>
          </a:prstGeom>
          <a:solidFill>
            <a:srgbClr val="58627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Kingdom of Saudi Arabia</a:t>
            </a:r>
          </a:p>
          <a:p>
            <a:pPr algn="ctr"/>
            <a:r>
              <a:rPr sz="1100" b="0">
                <a:solidFill>
                  <a:srgbClr val="FFFFFF"/>
                </a:solidFill>
                <a:latin typeface="Calibri"/>
              </a:rPr>
              <a:t> </a:t>
            </a:r>
          </a:p>
        </p:txBody>
      </p:sp>
      <p:sp>
        <p:nvSpPr>
          <p:cNvPr id="16" name="Rectangle 15"/>
          <p:cNvSpPr/>
          <p:nvPr/>
        </p:nvSpPr>
        <p:spPr>
          <a:xfrm>
            <a:off x="8576896" y="3807524"/>
            <a:ext cx="2286546" cy="1395738"/>
          </a:xfrm>
          <a:prstGeom prst="rect">
            <a:avLst/>
          </a:prstGeom>
          <a:solidFill>
            <a:srgbClr val="1F47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Russia</a:t>
            </a:r>
          </a:p>
          <a:p>
            <a:pPr algn="ctr"/>
            <a:r>
              <a:rPr sz="1100" b="0">
                <a:solidFill>
                  <a:srgbClr val="FFFFFF"/>
                </a:solidFill>
                <a:latin typeface="Calibri"/>
              </a:rPr>
              <a:t> </a:t>
            </a:r>
          </a:p>
        </p:txBody>
      </p:sp>
      <p:sp>
        <p:nvSpPr>
          <p:cNvPr id="17" name="Rectangle 16"/>
          <p:cNvSpPr/>
          <p:nvPr/>
        </p:nvSpPr>
        <p:spPr>
          <a:xfrm>
            <a:off x="8576896" y="5203263"/>
            <a:ext cx="2286546" cy="1368987"/>
          </a:xfrm>
          <a:prstGeom prst="rect">
            <a:avLst/>
          </a:prstGeom>
          <a:solidFill>
            <a:srgbClr val="BCBEC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Japan</a:t>
            </a:r>
          </a:p>
          <a:p>
            <a:pPr algn="ctr"/>
            <a:r>
              <a:rPr sz="1100" b="0">
                <a:solidFill>
                  <a:srgbClr val="2E2E2E"/>
                </a:solidFill>
                <a:latin typeface="Calibri"/>
              </a:rPr>
              <a:t> </a:t>
            </a:r>
          </a:p>
        </p:txBody>
      </p:sp>
      <p:sp>
        <p:nvSpPr>
          <p:cNvPr id="18" name="Rectangle 17"/>
          <p:cNvSpPr/>
          <p:nvPr/>
        </p:nvSpPr>
        <p:spPr>
          <a:xfrm>
            <a:off x="10863442" y="3807524"/>
            <a:ext cx="1090433" cy="2764726"/>
          </a:xfrm>
          <a:prstGeom prst="rect">
            <a:avLst/>
          </a:prstGeom>
          <a:solidFill>
            <a:srgbClr val="3DC6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ASEAN</a:t>
            </a:r>
          </a:p>
          <a:p>
            <a:pPr algn="ctr"/>
            <a:r>
              <a:rPr sz="1100" b="0">
                <a:solidFill>
                  <a:srgbClr val="2E2E2E"/>
                </a:solidFill>
                <a:latin typeface="Calibri"/>
              </a:rPr>
              <a:t> </a:t>
            </a:r>
          </a:p>
        </p:txBody>
      </p:sp>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4"/>
          <a:stretch>
            <a:fillRect/>
          </a:stretch>
        </p:blipFill>
        <p:spPr>
          <a:xfrm>
            <a:off x="1628973" y="3919537"/>
            <a:ext cx="308877" cy="449275"/>
          </a:xfrm>
          <a:prstGeom prst="rect">
            <a:avLst/>
          </a:prstGeom>
        </p:spPr>
      </p:pic>
      <p:pic>
        <p:nvPicPr>
          <p:cNvPr id="22" name="Picture 21" descr="lock.png"/>
          <p:cNvPicPr>
            <a:picLocks noChangeAspect="1"/>
          </p:cNvPicPr>
          <p:nvPr/>
        </p:nvPicPr>
        <p:blipFill>
          <a:blip r:embed="rId4"/>
          <a:stretch>
            <a:fillRect/>
          </a:stretch>
        </p:blipFill>
        <p:spPr>
          <a:xfrm>
            <a:off x="4618610" y="2637970"/>
            <a:ext cx="308877" cy="449275"/>
          </a:xfrm>
          <a:prstGeom prst="rect">
            <a:avLst/>
          </a:prstGeom>
        </p:spPr>
      </p:pic>
      <p:pic>
        <p:nvPicPr>
          <p:cNvPr id="23" name="Picture 22" descr="lock.png"/>
          <p:cNvPicPr>
            <a:picLocks noChangeAspect="1"/>
          </p:cNvPicPr>
          <p:nvPr/>
        </p:nvPicPr>
        <p:blipFill>
          <a:blip r:embed="rId4"/>
          <a:stretch>
            <a:fillRect/>
          </a:stretch>
        </p:blipFill>
        <p:spPr>
          <a:xfrm>
            <a:off x="4618610" y="5290683"/>
            <a:ext cx="308877" cy="449275"/>
          </a:xfrm>
          <a:prstGeom prst="rect">
            <a:avLst/>
          </a:prstGeom>
        </p:spPr>
      </p:pic>
      <p:pic>
        <p:nvPicPr>
          <p:cNvPr id="24" name="Picture 23" descr="lock.png"/>
          <p:cNvPicPr>
            <a:picLocks noChangeAspect="1"/>
          </p:cNvPicPr>
          <p:nvPr/>
        </p:nvPicPr>
        <p:blipFill>
          <a:blip r:embed="rId4"/>
          <a:stretch>
            <a:fillRect/>
          </a:stretch>
        </p:blipFill>
        <p:spPr>
          <a:xfrm>
            <a:off x="7242709" y="2809405"/>
            <a:ext cx="308877" cy="449275"/>
          </a:xfrm>
          <a:prstGeom prst="rect">
            <a:avLst/>
          </a:prstGeom>
        </p:spPr>
      </p:pic>
      <p:pic>
        <p:nvPicPr>
          <p:cNvPr id="25" name="Picture 24" descr="lock.png"/>
          <p:cNvPicPr>
            <a:picLocks noChangeAspect="1"/>
          </p:cNvPicPr>
          <p:nvPr/>
        </p:nvPicPr>
        <p:blipFill>
          <a:blip r:embed="rId4"/>
          <a:stretch>
            <a:fillRect/>
          </a:stretch>
        </p:blipFill>
        <p:spPr>
          <a:xfrm>
            <a:off x="7242709" y="5462117"/>
            <a:ext cx="308877" cy="449275"/>
          </a:xfrm>
          <a:prstGeom prst="rect">
            <a:avLst/>
          </a:prstGeom>
        </p:spPr>
      </p:pic>
      <p:pic>
        <p:nvPicPr>
          <p:cNvPr id="26" name="Picture 25" descr="lock.png"/>
          <p:cNvPicPr>
            <a:picLocks noChangeAspect="1"/>
          </p:cNvPicPr>
          <p:nvPr/>
        </p:nvPicPr>
        <p:blipFill>
          <a:blip r:embed="rId4"/>
          <a:stretch>
            <a:fillRect/>
          </a:stretch>
        </p:blipFill>
        <p:spPr>
          <a:xfrm>
            <a:off x="9448346" y="2537174"/>
            <a:ext cx="308877" cy="449275"/>
          </a:xfrm>
          <a:prstGeom prst="rect">
            <a:avLst/>
          </a:prstGeom>
        </p:spPr>
      </p:pic>
      <p:pic>
        <p:nvPicPr>
          <p:cNvPr id="27" name="Picture 26" descr="lock.png"/>
          <p:cNvPicPr>
            <a:picLocks noChangeAspect="1"/>
          </p:cNvPicPr>
          <p:nvPr/>
        </p:nvPicPr>
        <p:blipFill>
          <a:blip r:embed="rId4"/>
          <a:stretch>
            <a:fillRect/>
          </a:stretch>
        </p:blipFill>
        <p:spPr>
          <a:xfrm>
            <a:off x="11136835" y="2537174"/>
            <a:ext cx="308877" cy="449275"/>
          </a:xfrm>
          <a:prstGeom prst="rect">
            <a:avLst/>
          </a:prstGeom>
        </p:spPr>
      </p:pic>
      <p:pic>
        <p:nvPicPr>
          <p:cNvPr id="28" name="Picture 27" descr="lock.png"/>
          <p:cNvPicPr>
            <a:picLocks noChangeAspect="1"/>
          </p:cNvPicPr>
          <p:nvPr/>
        </p:nvPicPr>
        <p:blipFill>
          <a:blip r:embed="rId4"/>
          <a:stretch>
            <a:fillRect/>
          </a:stretch>
        </p:blipFill>
        <p:spPr>
          <a:xfrm>
            <a:off x="9565730" y="4505393"/>
            <a:ext cx="308877" cy="449275"/>
          </a:xfrm>
          <a:prstGeom prst="rect">
            <a:avLst/>
          </a:prstGeom>
        </p:spPr>
      </p:pic>
      <p:pic>
        <p:nvPicPr>
          <p:cNvPr id="29" name="Picture 28" descr="lock.png"/>
          <p:cNvPicPr>
            <a:picLocks noChangeAspect="1"/>
          </p:cNvPicPr>
          <p:nvPr/>
        </p:nvPicPr>
        <p:blipFill>
          <a:blip r:embed="rId4"/>
          <a:stretch>
            <a:fillRect/>
          </a:stretch>
        </p:blipFill>
        <p:spPr>
          <a:xfrm>
            <a:off x="9565730" y="5887756"/>
            <a:ext cx="308877" cy="449275"/>
          </a:xfrm>
          <a:prstGeom prst="rect">
            <a:avLst/>
          </a:prstGeom>
        </p:spPr>
      </p:pic>
      <p:pic>
        <p:nvPicPr>
          <p:cNvPr id="30" name="Picture 29" descr="lock.png"/>
          <p:cNvPicPr>
            <a:picLocks noChangeAspect="1"/>
          </p:cNvPicPr>
          <p:nvPr/>
        </p:nvPicPr>
        <p:blipFill>
          <a:blip r:embed="rId4"/>
          <a:stretch>
            <a:fillRect/>
          </a:stretch>
        </p:blipFill>
        <p:spPr>
          <a:xfrm>
            <a:off x="11254220" y="5189887"/>
            <a:ext cx="308877" cy="449275"/>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Global Market Analysis By Segments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Technology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Capacity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Compression Stage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 Use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Driver Type</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Technology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Technology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Technology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Technology,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Technology segment categorizes the market by technology.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Screw Air Compressor</a:t>
            </a:r>
          </a:p>
        </p:txBody>
      </p:sp>
      <p:sp>
        <p:nvSpPr>
          <p:cNvPr id="19" name="Rectangle 18"/>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Scroll Air Compressor</a:t>
            </a:r>
          </a:p>
        </p:txBody>
      </p:sp>
      <p:sp>
        <p:nvSpPr>
          <p:cNvPr id="26" name="Rectangle 25"/>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Centrifugal Air Compressor</a:t>
            </a:r>
          </a:p>
        </p:txBody>
      </p:sp>
      <p:sp>
        <p:nvSpPr>
          <p:cNvPr id="33" name="Rectangle 32"/>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Reciprocating (Piston) Air Compre…</a:t>
            </a:r>
          </a:p>
        </p:txBody>
      </p:sp>
      <p:sp>
        <p:nvSpPr>
          <p:cNvPr id="40" name="Rectangle 39"/>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Vane Air Compressor</a:t>
            </a:r>
          </a:p>
        </p:txBody>
      </p:sp>
      <p:sp>
        <p:nvSpPr>
          <p:cNvPr id="47" name="Rectangle 46"/>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Axial Air Compressor</a:t>
            </a:r>
          </a:p>
        </p:txBody>
      </p:sp>
      <p:sp>
        <p:nvSpPr>
          <p:cNvPr id="54" name="Rectangle 53"/>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5" name="Rectangle 54"/>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6" name="Rectangle 55"/>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7" name="Oval 56"/>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58" name="Rounded Rectangle 5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0" name="Rectangle 59"/>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2" name="Rounded Rectangle 6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4" name="Rectangle 63"/>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4219912"/>
            <a:ext cx="421005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6" name="Rounded Rectangle 6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8" name="Rectangle 67"/>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Technology split shows how demand is distributed across technology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70" name="Rectangle 6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2" name="TextBox 7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73" name="Rectangle 7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5" name="Picture 74" descr="2_510_605E5C.png"/>
          <p:cNvPicPr>
            <a:picLocks noChangeAspect="1"/>
          </p:cNvPicPr>
          <p:nvPr/>
        </p:nvPicPr>
        <p:blipFill>
          <a:blip r:embed="rId4"/>
          <a:stretch>
            <a:fillRect/>
          </a:stretch>
        </p:blipFill>
        <p:spPr>
          <a:xfrm>
            <a:off x="2054848" y="2286582"/>
            <a:ext cx="1195728" cy="361950"/>
          </a:xfrm>
          <a:prstGeom prst="rect">
            <a:avLst/>
          </a:prstGeom>
        </p:spPr>
      </p:pic>
      <p:pic>
        <p:nvPicPr>
          <p:cNvPr id="76" name="Picture 75" descr="4_214_605E5C.png"/>
          <p:cNvPicPr>
            <a:picLocks noChangeAspect="1"/>
          </p:cNvPicPr>
          <p:nvPr/>
        </p:nvPicPr>
        <p:blipFill>
          <a:blip r:embed="rId5"/>
          <a:stretch>
            <a:fillRect/>
          </a:stretch>
        </p:blipFill>
        <p:spPr>
          <a:xfrm>
            <a:off x="2054848" y="2779432"/>
            <a:ext cx="1195728" cy="361950"/>
          </a:xfrm>
          <a:prstGeom prst="rect">
            <a:avLst/>
          </a:prstGeom>
        </p:spPr>
      </p:pic>
      <p:pic>
        <p:nvPicPr>
          <p:cNvPr id="77" name="Picture 76" descr="5_3__605E5C.png"/>
          <p:cNvPicPr>
            <a:picLocks noChangeAspect="1"/>
          </p:cNvPicPr>
          <p:nvPr/>
        </p:nvPicPr>
        <p:blipFill>
          <a:blip r:embed="rId6"/>
          <a:stretch>
            <a:fillRect/>
          </a:stretch>
        </p:blipFill>
        <p:spPr>
          <a:xfrm>
            <a:off x="2161494" y="3272281"/>
            <a:ext cx="982436" cy="361950"/>
          </a:xfrm>
          <a:prstGeom prst="rect">
            <a:avLst/>
          </a:prstGeom>
        </p:spPr>
      </p:pic>
      <p:pic>
        <p:nvPicPr>
          <p:cNvPr id="78" name="Picture 77" descr="2_475_605E5C.png"/>
          <p:cNvPicPr>
            <a:picLocks noChangeAspect="1"/>
          </p:cNvPicPr>
          <p:nvPr/>
        </p:nvPicPr>
        <p:blipFill>
          <a:blip r:embed="rId7"/>
          <a:stretch>
            <a:fillRect/>
          </a:stretch>
        </p:blipFill>
        <p:spPr>
          <a:xfrm>
            <a:off x="3740773" y="2286582"/>
            <a:ext cx="1195728" cy="361950"/>
          </a:xfrm>
          <a:prstGeom prst="rect">
            <a:avLst/>
          </a:prstGeom>
        </p:spPr>
      </p:pic>
      <p:pic>
        <p:nvPicPr>
          <p:cNvPr id="79" name="Picture 78" descr="4_569_605E5C.png"/>
          <p:cNvPicPr>
            <a:picLocks noChangeAspect="1"/>
          </p:cNvPicPr>
          <p:nvPr/>
        </p:nvPicPr>
        <p:blipFill>
          <a:blip r:embed="rId8"/>
          <a:stretch>
            <a:fillRect/>
          </a:stretch>
        </p:blipFill>
        <p:spPr>
          <a:xfrm>
            <a:off x="3740773" y="2779432"/>
            <a:ext cx="1195728" cy="361950"/>
          </a:xfrm>
          <a:prstGeom prst="rect">
            <a:avLst/>
          </a:prstGeom>
        </p:spPr>
      </p:pic>
      <p:pic>
        <p:nvPicPr>
          <p:cNvPr id="80" name="Picture 79" descr="6_3__605E5C.png"/>
          <p:cNvPicPr>
            <a:picLocks noChangeAspect="1"/>
          </p:cNvPicPr>
          <p:nvPr/>
        </p:nvPicPr>
        <p:blipFill>
          <a:blip r:embed="rId9"/>
          <a:stretch>
            <a:fillRect/>
          </a:stretch>
        </p:blipFill>
        <p:spPr>
          <a:xfrm>
            <a:off x="3847419" y="3272281"/>
            <a:ext cx="982436" cy="361950"/>
          </a:xfrm>
          <a:prstGeom prst="rect">
            <a:avLst/>
          </a:prstGeom>
        </p:spPr>
      </p:pic>
      <p:pic>
        <p:nvPicPr>
          <p:cNvPr id="81" name="Picture 80" descr="2_092_605E5C.png"/>
          <p:cNvPicPr>
            <a:picLocks noChangeAspect="1"/>
          </p:cNvPicPr>
          <p:nvPr/>
        </p:nvPicPr>
        <p:blipFill>
          <a:blip r:embed="rId10"/>
          <a:stretch>
            <a:fillRect/>
          </a:stretch>
        </p:blipFill>
        <p:spPr>
          <a:xfrm>
            <a:off x="5426698" y="2286582"/>
            <a:ext cx="1195728" cy="361950"/>
          </a:xfrm>
          <a:prstGeom prst="rect">
            <a:avLst/>
          </a:prstGeom>
        </p:spPr>
      </p:pic>
      <p:pic>
        <p:nvPicPr>
          <p:cNvPr id="82" name="Picture 81" descr="3_937_605E5C.png"/>
          <p:cNvPicPr>
            <a:picLocks noChangeAspect="1"/>
          </p:cNvPicPr>
          <p:nvPr/>
        </p:nvPicPr>
        <p:blipFill>
          <a:blip r:embed="rId11"/>
          <a:stretch>
            <a:fillRect/>
          </a:stretch>
        </p:blipFill>
        <p:spPr>
          <a:xfrm>
            <a:off x="5426698" y="2779432"/>
            <a:ext cx="1195728" cy="361950"/>
          </a:xfrm>
          <a:prstGeom prst="rect">
            <a:avLst/>
          </a:prstGeom>
        </p:spPr>
      </p:pic>
      <p:pic>
        <p:nvPicPr>
          <p:cNvPr id="83" name="Picture 82" descr="6_5__605E5C.png"/>
          <p:cNvPicPr>
            <a:picLocks noChangeAspect="1"/>
          </p:cNvPicPr>
          <p:nvPr/>
        </p:nvPicPr>
        <p:blipFill>
          <a:blip r:embed="rId12"/>
          <a:stretch>
            <a:fillRect/>
          </a:stretch>
        </p:blipFill>
        <p:spPr>
          <a:xfrm>
            <a:off x="5533344" y="3272281"/>
            <a:ext cx="982436" cy="361950"/>
          </a:xfrm>
          <a:prstGeom prst="rect">
            <a:avLst/>
          </a:prstGeom>
        </p:spPr>
      </p:pic>
      <p:pic>
        <p:nvPicPr>
          <p:cNvPr id="84" name="Picture 83" descr="2_033_605E5C.png"/>
          <p:cNvPicPr>
            <a:picLocks noChangeAspect="1"/>
          </p:cNvPicPr>
          <p:nvPr/>
        </p:nvPicPr>
        <p:blipFill>
          <a:blip r:embed="rId13"/>
          <a:stretch>
            <a:fillRect/>
          </a:stretch>
        </p:blipFill>
        <p:spPr>
          <a:xfrm>
            <a:off x="7112623" y="2286582"/>
            <a:ext cx="1195728" cy="361950"/>
          </a:xfrm>
          <a:prstGeom prst="rect">
            <a:avLst/>
          </a:prstGeom>
        </p:spPr>
      </p:pic>
      <p:pic>
        <p:nvPicPr>
          <p:cNvPr id="85" name="Picture 84" descr="2_405_605E5C.png"/>
          <p:cNvPicPr>
            <a:picLocks noChangeAspect="1"/>
          </p:cNvPicPr>
          <p:nvPr/>
        </p:nvPicPr>
        <p:blipFill>
          <a:blip r:embed="rId14"/>
          <a:stretch>
            <a:fillRect/>
          </a:stretch>
        </p:blipFill>
        <p:spPr>
          <a:xfrm>
            <a:off x="7112623" y="2779432"/>
            <a:ext cx="1195728" cy="361950"/>
          </a:xfrm>
          <a:prstGeom prst="rect">
            <a:avLst/>
          </a:prstGeom>
        </p:spPr>
      </p:pic>
      <p:pic>
        <p:nvPicPr>
          <p:cNvPr id="86" name="Picture 85" descr="1_7__605E5C.png"/>
          <p:cNvPicPr>
            <a:picLocks noChangeAspect="1"/>
          </p:cNvPicPr>
          <p:nvPr/>
        </p:nvPicPr>
        <p:blipFill>
          <a:blip r:embed="rId15"/>
          <a:stretch>
            <a:fillRect/>
          </a:stretch>
        </p:blipFill>
        <p:spPr>
          <a:xfrm>
            <a:off x="7219269" y="3272281"/>
            <a:ext cx="982436" cy="361950"/>
          </a:xfrm>
          <a:prstGeom prst="rect">
            <a:avLst/>
          </a:prstGeom>
        </p:spPr>
      </p:pic>
      <p:pic>
        <p:nvPicPr>
          <p:cNvPr id="87" name="Picture 86" descr="985_7_605E5C.png"/>
          <p:cNvPicPr>
            <a:picLocks noChangeAspect="1"/>
          </p:cNvPicPr>
          <p:nvPr/>
        </p:nvPicPr>
        <p:blipFill>
          <a:blip r:embed="rId16"/>
          <a:stretch>
            <a:fillRect/>
          </a:stretch>
        </p:blipFill>
        <p:spPr>
          <a:xfrm>
            <a:off x="8798548" y="2286582"/>
            <a:ext cx="1195728" cy="361950"/>
          </a:xfrm>
          <a:prstGeom prst="rect">
            <a:avLst/>
          </a:prstGeom>
        </p:spPr>
      </p:pic>
      <p:pic>
        <p:nvPicPr>
          <p:cNvPr id="88" name="Picture 87" descr="1_708_605E5C.png"/>
          <p:cNvPicPr>
            <a:picLocks noChangeAspect="1"/>
          </p:cNvPicPr>
          <p:nvPr/>
        </p:nvPicPr>
        <p:blipFill>
          <a:blip r:embed="rId17"/>
          <a:stretch>
            <a:fillRect/>
          </a:stretch>
        </p:blipFill>
        <p:spPr>
          <a:xfrm>
            <a:off x="8798548" y="2779432"/>
            <a:ext cx="1195728" cy="361950"/>
          </a:xfrm>
          <a:prstGeom prst="rect">
            <a:avLst/>
          </a:prstGeom>
        </p:spPr>
      </p:pic>
      <p:pic>
        <p:nvPicPr>
          <p:cNvPr id="89" name="Picture 88" descr="5_7__605E5C.png"/>
          <p:cNvPicPr>
            <a:picLocks noChangeAspect="1"/>
          </p:cNvPicPr>
          <p:nvPr/>
        </p:nvPicPr>
        <p:blipFill>
          <a:blip r:embed="rId18"/>
          <a:stretch>
            <a:fillRect/>
          </a:stretch>
        </p:blipFill>
        <p:spPr>
          <a:xfrm>
            <a:off x="8905194" y="3272281"/>
            <a:ext cx="982436" cy="361950"/>
          </a:xfrm>
          <a:prstGeom prst="rect">
            <a:avLst/>
          </a:prstGeom>
        </p:spPr>
      </p:pic>
      <p:pic>
        <p:nvPicPr>
          <p:cNvPr id="90" name="Picture 89" descr="804_7_605E5C.png"/>
          <p:cNvPicPr>
            <a:picLocks noChangeAspect="1"/>
          </p:cNvPicPr>
          <p:nvPr/>
        </p:nvPicPr>
        <p:blipFill>
          <a:blip r:embed="rId19"/>
          <a:stretch>
            <a:fillRect/>
          </a:stretch>
        </p:blipFill>
        <p:spPr>
          <a:xfrm>
            <a:off x="10484473" y="2286582"/>
            <a:ext cx="1195728" cy="361950"/>
          </a:xfrm>
          <a:prstGeom prst="rect">
            <a:avLst/>
          </a:prstGeom>
        </p:spPr>
      </p:pic>
      <p:pic>
        <p:nvPicPr>
          <p:cNvPr id="91" name="Picture 90" descr="910_9_605E5C.png"/>
          <p:cNvPicPr>
            <a:picLocks noChangeAspect="1"/>
          </p:cNvPicPr>
          <p:nvPr/>
        </p:nvPicPr>
        <p:blipFill>
          <a:blip r:embed="rId20"/>
          <a:stretch>
            <a:fillRect/>
          </a:stretch>
        </p:blipFill>
        <p:spPr>
          <a:xfrm>
            <a:off x="10484473" y="2779432"/>
            <a:ext cx="1195728" cy="361950"/>
          </a:xfrm>
          <a:prstGeom prst="rect">
            <a:avLst/>
          </a:prstGeom>
        </p:spPr>
      </p:pic>
      <p:pic>
        <p:nvPicPr>
          <p:cNvPr id="92" name="Picture 91" descr="1_2__605E5C.png"/>
          <p:cNvPicPr>
            <a:picLocks noChangeAspect="1"/>
          </p:cNvPicPr>
          <p:nvPr/>
        </p:nvPicPr>
        <p:blipFill>
          <a:blip r:embed="rId21"/>
          <a:stretch>
            <a:fillRect/>
          </a:stretch>
        </p:blipFill>
        <p:spPr>
          <a:xfrm>
            <a:off x="10591119" y="3272281"/>
            <a:ext cx="982436" cy="361950"/>
          </a:xfrm>
          <a:prstGeom prst="rect">
            <a:avLst/>
          </a:prstGeom>
        </p:spPr>
      </p:pic>
      <p:pic>
        <p:nvPicPr>
          <p:cNvPr id="93" name="Picture 92" descr="lock.png"/>
          <p:cNvPicPr>
            <a:picLocks noChangeAspect="1"/>
          </p:cNvPicPr>
          <p:nvPr/>
        </p:nvPicPr>
        <p:blipFill>
          <a:blip r:embed="rId22"/>
          <a:stretch>
            <a:fillRect/>
          </a:stretch>
        </p:blipFill>
        <p:spPr>
          <a:xfrm>
            <a:off x="2559367" y="2827057"/>
            <a:ext cx="183356" cy="266700"/>
          </a:xfrm>
          <a:prstGeom prst="rect">
            <a:avLst/>
          </a:prstGeom>
        </p:spPr>
      </p:pic>
      <p:pic>
        <p:nvPicPr>
          <p:cNvPr id="94" name="Picture 93" descr="lock.png"/>
          <p:cNvPicPr>
            <a:picLocks noChangeAspect="1"/>
          </p:cNvPicPr>
          <p:nvPr/>
        </p:nvPicPr>
        <p:blipFill>
          <a:blip r:embed="rId22"/>
          <a:stretch>
            <a:fillRect/>
          </a:stretch>
        </p:blipFill>
        <p:spPr>
          <a:xfrm>
            <a:off x="4245292" y="2827057"/>
            <a:ext cx="183356" cy="266700"/>
          </a:xfrm>
          <a:prstGeom prst="rect">
            <a:avLst/>
          </a:prstGeom>
        </p:spPr>
      </p:pic>
      <p:pic>
        <p:nvPicPr>
          <p:cNvPr id="95" name="Picture 94" descr="lock.png"/>
          <p:cNvPicPr>
            <a:picLocks noChangeAspect="1"/>
          </p:cNvPicPr>
          <p:nvPr/>
        </p:nvPicPr>
        <p:blipFill>
          <a:blip r:embed="rId22"/>
          <a:stretch>
            <a:fillRect/>
          </a:stretch>
        </p:blipFill>
        <p:spPr>
          <a:xfrm>
            <a:off x="593121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761714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930306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10988992" y="2827057"/>
            <a:ext cx="183356" cy="266700"/>
          </a:xfrm>
          <a:prstGeom prst="rect">
            <a:avLst/>
          </a:prstGeom>
        </p:spPr>
      </p:pic>
      <p:sp>
        <p:nvSpPr>
          <p:cNvPr id="99" name="TextBox 98"/>
          <p:cNvSpPr txBox="1"/>
          <p:nvPr/>
        </p:nvSpPr>
        <p:spPr>
          <a:xfrm>
            <a:off x="485775" y="4229437"/>
            <a:ext cx="2792164" cy="186689"/>
          </a:xfrm>
          <a:prstGeom prst="rect">
            <a:avLst/>
          </a:prstGeom>
          <a:noFill/>
        </p:spPr>
        <p:txBody>
          <a:bodyPr wrap="none" lIns="0" rIns="0" tIns="0" bIns="0">
            <a:spAutoFit/>
          </a:bodyPr>
          <a:lstStyle/>
          <a:p>
            <a:r>
              <a:rPr sz="1100" b="0">
                <a:solidFill>
                  <a:srgbClr val="2E2E2E"/>
                </a:solidFill>
                <a:latin typeface="Calibri"/>
              </a:rPr>
              <a:t>Among industrial air compressor by technology,</a:t>
            </a:r>
          </a:p>
        </p:txBody>
      </p:sp>
      <p:sp>
        <p:nvSpPr>
          <p:cNvPr id="100" name="TextBox 99"/>
          <p:cNvSpPr txBox="1"/>
          <p:nvPr/>
        </p:nvSpPr>
        <p:spPr>
          <a:xfrm>
            <a:off x="485775" y="4397077"/>
            <a:ext cx="2913856" cy="186689"/>
          </a:xfrm>
          <a:prstGeom prst="rect">
            <a:avLst/>
          </a:prstGeom>
          <a:noFill/>
        </p:spPr>
        <p:txBody>
          <a:bodyPr wrap="none" lIns="0" rIns="0" tIns="0" bIns="0">
            <a:spAutoFit/>
          </a:bodyPr>
          <a:lstStyle/>
          <a:p>
            <a:r>
              <a:rPr sz="1100" b="0">
                <a:solidFill>
                  <a:srgbClr val="2E2E2E"/>
                </a:solidFill>
                <a:latin typeface="Calibri"/>
              </a:rPr>
              <a:t>centrifugal air compressor segment is expected to</a:t>
            </a:r>
          </a:p>
        </p:txBody>
      </p:sp>
      <p:sp>
        <p:nvSpPr>
          <p:cNvPr id="101" name="TextBox 100"/>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102" name="Picture 101" descr="lock.png"/>
          <p:cNvPicPr>
            <a:picLocks noChangeAspect="1"/>
          </p:cNvPicPr>
          <p:nvPr/>
        </p:nvPicPr>
        <p:blipFill>
          <a:blip r:embed="rId22"/>
          <a:stretch>
            <a:fillRect/>
          </a:stretch>
        </p:blipFill>
        <p:spPr>
          <a:xfrm>
            <a:off x="2108919" y="4554938"/>
            <a:ext cx="128699" cy="187198"/>
          </a:xfrm>
          <a:prstGeom prst="rect">
            <a:avLst/>
          </a:prstGeom>
        </p:spPr>
      </p:pic>
      <p:sp>
        <p:nvSpPr>
          <p:cNvPr id="103" name="TextBox 102"/>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104" name="TextBox 103"/>
          <p:cNvSpPr txBox="1"/>
          <p:nvPr/>
        </p:nvSpPr>
        <p:spPr>
          <a:xfrm>
            <a:off x="485775" y="4732357"/>
            <a:ext cx="2902942" cy="186689"/>
          </a:xfrm>
          <a:prstGeom prst="rect">
            <a:avLst/>
          </a:prstGeom>
          <a:noFill/>
        </p:spPr>
        <p:txBody>
          <a:bodyPr wrap="none" lIns="0" rIns="0" tIns="0" bIns="0">
            <a:spAutoFit/>
          </a:bodyPr>
          <a:lstStyle/>
          <a:p>
            <a:r>
              <a:rPr sz="1100" b="0">
                <a:solidFill>
                  <a:srgbClr val="2E2E2E"/>
                </a:solidFill>
                <a:latin typeface="Calibri"/>
              </a:rPr>
              <a:t>period. In terms of value share by technology, the</a:t>
            </a:r>
          </a:p>
        </p:txBody>
      </p:sp>
      <p:sp>
        <p:nvSpPr>
          <p:cNvPr id="105" name="TextBox 104"/>
          <p:cNvSpPr txBox="1"/>
          <p:nvPr/>
        </p:nvSpPr>
        <p:spPr>
          <a:xfrm>
            <a:off x="485775" y="4899997"/>
            <a:ext cx="2603624" cy="186689"/>
          </a:xfrm>
          <a:prstGeom prst="rect">
            <a:avLst/>
          </a:prstGeom>
          <a:noFill/>
        </p:spPr>
        <p:txBody>
          <a:bodyPr wrap="none" lIns="0" rIns="0" tIns="0" bIns="0">
            <a:spAutoFit/>
          </a:bodyPr>
          <a:lstStyle/>
          <a:p>
            <a:r>
              <a:rPr sz="1100" b="0">
                <a:solidFill>
                  <a:srgbClr val="2E2E2E"/>
                </a:solidFill>
                <a:latin typeface="Calibri"/>
              </a:rPr>
              <a:t>scroll air compressor segment is expected to</a:t>
            </a:r>
          </a:p>
        </p:txBody>
      </p:sp>
      <p:sp>
        <p:nvSpPr>
          <p:cNvPr id="106" name="TextBox 105"/>
          <p:cNvSpPr txBox="1"/>
          <p:nvPr/>
        </p:nvSpPr>
        <p:spPr>
          <a:xfrm>
            <a:off x="485775" y="506763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107" name="Picture 106" descr="lock.png"/>
          <p:cNvPicPr>
            <a:picLocks noChangeAspect="1"/>
          </p:cNvPicPr>
          <p:nvPr/>
        </p:nvPicPr>
        <p:blipFill>
          <a:blip r:embed="rId22"/>
          <a:stretch>
            <a:fillRect/>
          </a:stretch>
        </p:blipFill>
        <p:spPr>
          <a:xfrm>
            <a:off x="2194339" y="5057858"/>
            <a:ext cx="128699" cy="187198"/>
          </a:xfrm>
          <a:prstGeom prst="rect">
            <a:avLst/>
          </a:prstGeom>
        </p:spPr>
      </p:pic>
      <p:sp>
        <p:nvSpPr>
          <p:cNvPr id="108" name="TextBox 107"/>
          <p:cNvSpPr txBox="1"/>
          <p:nvPr/>
        </p:nvSpPr>
        <p:spPr>
          <a:xfrm>
            <a:off x="2361835"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09" name="TextBox 108"/>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10" name="Picture 109" descr="lock.png"/>
          <p:cNvPicPr>
            <a:picLocks noChangeAspect="1"/>
          </p:cNvPicPr>
          <p:nvPr/>
        </p:nvPicPr>
        <p:blipFill>
          <a:blip r:embed="rId22"/>
          <a:stretch>
            <a:fillRect/>
          </a:stretch>
        </p:blipFill>
        <p:spPr>
          <a:xfrm>
            <a:off x="1330764" y="5225498"/>
            <a:ext cx="128699" cy="187198"/>
          </a:xfrm>
          <a:prstGeom prst="rect">
            <a:avLst/>
          </a:prstGeom>
        </p:spPr>
      </p:pic>
      <p:sp>
        <p:nvSpPr>
          <p:cNvPr id="111" name="TextBox 110"/>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2" name="TextBox 111"/>
          <p:cNvSpPr txBox="1"/>
          <p:nvPr/>
        </p:nvSpPr>
        <p:spPr>
          <a:xfrm>
            <a:off x="485775" y="5453209"/>
            <a:ext cx="2639094" cy="186689"/>
          </a:xfrm>
          <a:prstGeom prst="rect">
            <a:avLst/>
          </a:prstGeom>
          <a:noFill/>
        </p:spPr>
        <p:txBody>
          <a:bodyPr wrap="none" lIns="0" rIns="0" tIns="0" bIns="0">
            <a:spAutoFit/>
          </a:bodyPr>
          <a:lstStyle/>
          <a:p>
            <a:r>
              <a:rPr sz="1100" b="0">
                <a:solidFill>
                  <a:srgbClr val="2E2E2E"/>
                </a:solidFill>
                <a:latin typeface="Calibri"/>
              </a:rPr>
              <a:t>Scroll air compressor segment is projected to</a:t>
            </a:r>
          </a:p>
        </p:txBody>
      </p:sp>
      <p:sp>
        <p:nvSpPr>
          <p:cNvPr id="113" name="TextBox 112"/>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14" name="Picture 113" descr="lock.png"/>
          <p:cNvPicPr>
            <a:picLocks noChangeAspect="1"/>
          </p:cNvPicPr>
          <p:nvPr/>
        </p:nvPicPr>
        <p:blipFill>
          <a:blip r:embed="rId22"/>
          <a:stretch>
            <a:fillRect/>
          </a:stretch>
        </p:blipFill>
        <p:spPr>
          <a:xfrm>
            <a:off x="946316" y="5611070"/>
            <a:ext cx="128699" cy="187198"/>
          </a:xfrm>
          <a:prstGeom prst="rect">
            <a:avLst/>
          </a:prstGeom>
        </p:spPr>
      </p:pic>
      <p:sp>
        <p:nvSpPr>
          <p:cNvPr id="115" name="TextBox 114"/>
          <p:cNvSpPr txBox="1"/>
          <p:nvPr/>
        </p:nvSpPr>
        <p:spPr>
          <a:xfrm>
            <a:off x="1113812" y="5620849"/>
            <a:ext cx="2095847" cy="186689"/>
          </a:xfrm>
          <a:prstGeom prst="rect">
            <a:avLst/>
          </a:prstGeom>
          <a:noFill/>
        </p:spPr>
        <p:txBody>
          <a:bodyPr wrap="none" lIns="0" rIns="0" tIns="0" bIns="0">
            <a:spAutoFit/>
          </a:bodyPr>
          <a:lstStyle/>
          <a:p>
            <a:r>
              <a:rPr sz="1100" b="0">
                <a:solidFill>
                  <a:srgbClr val="2E2E2E"/>
                </a:solidFill>
                <a:latin typeface="Calibri"/>
              </a:rPr>
              <a:t>X higher value than rotary screw air</a:t>
            </a:r>
          </a:p>
        </p:txBody>
      </p:sp>
      <p:sp>
        <p:nvSpPr>
          <p:cNvPr id="116" name="TextBox 115"/>
          <p:cNvSpPr txBox="1"/>
          <p:nvPr/>
        </p:nvSpPr>
        <p:spPr>
          <a:xfrm>
            <a:off x="485775" y="5788489"/>
            <a:ext cx="1755055" cy="186689"/>
          </a:xfrm>
          <a:prstGeom prst="rect">
            <a:avLst/>
          </a:prstGeom>
          <a:noFill/>
        </p:spPr>
        <p:txBody>
          <a:bodyPr wrap="none" lIns="0" rIns="0" tIns="0" bIns="0">
            <a:spAutoFit/>
          </a:bodyPr>
          <a:lstStyle/>
          <a:p>
            <a:r>
              <a:rPr sz="1100" b="0">
                <a:solidFill>
                  <a:srgbClr val="2E2E2E"/>
                </a:solidFill>
                <a:latin typeface="Calibri"/>
              </a:rPr>
              <a:t>compressor segment in 2036.</a:t>
            </a:r>
          </a:p>
        </p:txBody>
      </p:sp>
      <p:sp>
        <p:nvSpPr>
          <p:cNvPr id="117" name="TextBox 116"/>
          <p:cNvSpPr txBox="1"/>
          <p:nvPr/>
        </p:nvSpPr>
        <p:spPr>
          <a:xfrm>
            <a:off x="3838575" y="4229437"/>
            <a:ext cx="1886570" cy="186689"/>
          </a:xfrm>
          <a:prstGeom prst="rect">
            <a:avLst/>
          </a:prstGeom>
          <a:noFill/>
        </p:spPr>
        <p:txBody>
          <a:bodyPr wrap="none" lIns="0" rIns="0" tIns="0" bIns="0">
            <a:spAutoFit/>
          </a:bodyPr>
          <a:lstStyle/>
          <a:p>
            <a:r>
              <a:rPr sz="1100" b="0">
                <a:solidFill>
                  <a:srgbClr val="2E2E2E"/>
                </a:solidFill>
                <a:latin typeface="Calibri"/>
              </a:rPr>
              <a:t>● Rotary Screw Air Compressor:</a:t>
            </a:r>
          </a:p>
        </p:txBody>
      </p:sp>
      <p:pic>
        <p:nvPicPr>
          <p:cNvPr id="118" name="Picture 117" descr="lock.png"/>
          <p:cNvPicPr>
            <a:picLocks noChangeAspect="1"/>
          </p:cNvPicPr>
          <p:nvPr/>
        </p:nvPicPr>
        <p:blipFill>
          <a:blip r:embed="rId22"/>
          <a:stretch>
            <a:fillRect/>
          </a:stretch>
        </p:blipFill>
        <p:spPr>
          <a:xfrm>
            <a:off x="5673196" y="4219658"/>
            <a:ext cx="128699" cy="187198"/>
          </a:xfrm>
          <a:prstGeom prst="rect">
            <a:avLst/>
          </a:prstGeom>
        </p:spPr>
      </p:pic>
      <p:sp>
        <p:nvSpPr>
          <p:cNvPr id="119" name="TextBox 118"/>
          <p:cNvSpPr txBox="1"/>
          <p:nvPr/>
        </p:nvSpPr>
        <p:spPr>
          <a:xfrm>
            <a:off x="5840692"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0" name="Picture 119" descr="lock.png"/>
          <p:cNvPicPr>
            <a:picLocks noChangeAspect="1"/>
          </p:cNvPicPr>
          <p:nvPr/>
        </p:nvPicPr>
        <p:blipFill>
          <a:blip r:embed="rId22"/>
          <a:stretch>
            <a:fillRect/>
          </a:stretch>
        </p:blipFill>
        <p:spPr>
          <a:xfrm>
            <a:off x="6700142" y="4219658"/>
            <a:ext cx="128699" cy="187198"/>
          </a:xfrm>
          <a:prstGeom prst="rect">
            <a:avLst/>
          </a:prstGeom>
        </p:spPr>
      </p:pic>
      <p:sp>
        <p:nvSpPr>
          <p:cNvPr id="121" name="TextBox 120"/>
          <p:cNvSpPr txBox="1"/>
          <p:nvPr/>
        </p:nvSpPr>
        <p:spPr>
          <a:xfrm>
            <a:off x="6867638"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22" name="TextBox 121"/>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23" name="TextBox 122"/>
          <p:cNvSpPr txBox="1"/>
          <p:nvPr/>
        </p:nvSpPr>
        <p:spPr>
          <a:xfrm>
            <a:off x="3838575" y="4615009"/>
            <a:ext cx="1448097" cy="186689"/>
          </a:xfrm>
          <a:prstGeom prst="rect">
            <a:avLst/>
          </a:prstGeom>
          <a:noFill/>
        </p:spPr>
        <p:txBody>
          <a:bodyPr wrap="none" lIns="0" rIns="0" tIns="0" bIns="0">
            <a:spAutoFit/>
          </a:bodyPr>
          <a:lstStyle/>
          <a:p>
            <a:r>
              <a:rPr sz="1100" b="0">
                <a:solidFill>
                  <a:srgbClr val="2E2E2E"/>
                </a:solidFill>
                <a:latin typeface="Calibri"/>
              </a:rPr>
              <a:t>● Scroll Air Compressor:</a:t>
            </a:r>
          </a:p>
        </p:txBody>
      </p:sp>
      <p:pic>
        <p:nvPicPr>
          <p:cNvPr id="124" name="Picture 123" descr="lock.png"/>
          <p:cNvPicPr>
            <a:picLocks noChangeAspect="1"/>
          </p:cNvPicPr>
          <p:nvPr/>
        </p:nvPicPr>
        <p:blipFill>
          <a:blip r:embed="rId22"/>
          <a:stretch>
            <a:fillRect/>
          </a:stretch>
        </p:blipFill>
        <p:spPr>
          <a:xfrm>
            <a:off x="5234724" y="4605230"/>
            <a:ext cx="128699" cy="187198"/>
          </a:xfrm>
          <a:prstGeom prst="rect">
            <a:avLst/>
          </a:prstGeom>
        </p:spPr>
      </p:pic>
      <p:sp>
        <p:nvSpPr>
          <p:cNvPr id="125" name="TextBox 124"/>
          <p:cNvSpPr txBox="1"/>
          <p:nvPr/>
        </p:nvSpPr>
        <p:spPr>
          <a:xfrm>
            <a:off x="5402220"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22"/>
          <a:stretch>
            <a:fillRect/>
          </a:stretch>
        </p:blipFill>
        <p:spPr>
          <a:xfrm>
            <a:off x="6261670" y="4605230"/>
            <a:ext cx="128699" cy="187198"/>
          </a:xfrm>
          <a:prstGeom prst="rect">
            <a:avLst/>
          </a:prstGeom>
        </p:spPr>
      </p:pic>
      <p:sp>
        <p:nvSpPr>
          <p:cNvPr id="127" name="TextBox 126"/>
          <p:cNvSpPr txBox="1"/>
          <p:nvPr/>
        </p:nvSpPr>
        <p:spPr>
          <a:xfrm>
            <a:off x="6429166"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8" name="TextBox 127"/>
          <p:cNvSpPr txBox="1"/>
          <p:nvPr/>
        </p:nvSpPr>
        <p:spPr>
          <a:xfrm>
            <a:off x="3838575" y="4832941"/>
            <a:ext cx="1764059" cy="186689"/>
          </a:xfrm>
          <a:prstGeom prst="rect">
            <a:avLst/>
          </a:prstGeom>
          <a:noFill/>
        </p:spPr>
        <p:txBody>
          <a:bodyPr wrap="none" lIns="0" rIns="0" tIns="0" bIns="0">
            <a:spAutoFit/>
          </a:bodyPr>
          <a:lstStyle/>
          <a:p>
            <a:r>
              <a:rPr sz="1100" b="0">
                <a:solidFill>
                  <a:srgbClr val="2E2E2E"/>
                </a:solidFill>
                <a:latin typeface="Calibri"/>
              </a:rPr>
              <a:t>● Centrifugal Air Compressor:</a:t>
            </a:r>
          </a:p>
        </p:txBody>
      </p:sp>
      <p:pic>
        <p:nvPicPr>
          <p:cNvPr id="129" name="Picture 128" descr="lock.png"/>
          <p:cNvPicPr>
            <a:picLocks noChangeAspect="1"/>
          </p:cNvPicPr>
          <p:nvPr/>
        </p:nvPicPr>
        <p:blipFill>
          <a:blip r:embed="rId22"/>
          <a:stretch>
            <a:fillRect/>
          </a:stretch>
        </p:blipFill>
        <p:spPr>
          <a:xfrm>
            <a:off x="5550686" y="4823162"/>
            <a:ext cx="128699" cy="187198"/>
          </a:xfrm>
          <a:prstGeom prst="rect">
            <a:avLst/>
          </a:prstGeom>
        </p:spPr>
      </p:pic>
      <p:sp>
        <p:nvSpPr>
          <p:cNvPr id="130" name="TextBox 129"/>
          <p:cNvSpPr txBox="1"/>
          <p:nvPr/>
        </p:nvSpPr>
        <p:spPr>
          <a:xfrm>
            <a:off x="5718182"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1" name="Picture 130" descr="lock.png"/>
          <p:cNvPicPr>
            <a:picLocks noChangeAspect="1"/>
          </p:cNvPicPr>
          <p:nvPr/>
        </p:nvPicPr>
        <p:blipFill>
          <a:blip r:embed="rId22"/>
          <a:stretch>
            <a:fillRect/>
          </a:stretch>
        </p:blipFill>
        <p:spPr>
          <a:xfrm>
            <a:off x="6577632" y="4823162"/>
            <a:ext cx="128699" cy="187198"/>
          </a:xfrm>
          <a:prstGeom prst="rect">
            <a:avLst/>
          </a:prstGeom>
        </p:spPr>
      </p:pic>
      <p:sp>
        <p:nvSpPr>
          <p:cNvPr id="132" name="TextBox 131"/>
          <p:cNvSpPr txBox="1"/>
          <p:nvPr/>
        </p:nvSpPr>
        <p:spPr>
          <a:xfrm>
            <a:off x="6745128" y="4832941"/>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133" name="TextBox 132"/>
          <p:cNvSpPr txBox="1"/>
          <p:nvPr/>
        </p:nvSpPr>
        <p:spPr>
          <a:xfrm>
            <a:off x="3838575" y="5000581"/>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134" name="TextBox 133"/>
          <p:cNvSpPr txBox="1"/>
          <p:nvPr/>
        </p:nvSpPr>
        <p:spPr>
          <a:xfrm>
            <a:off x="3838575" y="5218513"/>
            <a:ext cx="2384251" cy="186689"/>
          </a:xfrm>
          <a:prstGeom prst="rect">
            <a:avLst/>
          </a:prstGeom>
          <a:noFill/>
        </p:spPr>
        <p:txBody>
          <a:bodyPr wrap="none" lIns="0" rIns="0" tIns="0" bIns="0">
            <a:spAutoFit/>
          </a:bodyPr>
          <a:lstStyle/>
          <a:p>
            <a:r>
              <a:rPr sz="1100" b="0">
                <a:solidFill>
                  <a:srgbClr val="2E2E2E"/>
                </a:solidFill>
                <a:latin typeface="Calibri"/>
              </a:rPr>
              <a:t>● Reciprocating (Piston) Air Compressor:</a:t>
            </a:r>
          </a:p>
        </p:txBody>
      </p:sp>
      <p:pic>
        <p:nvPicPr>
          <p:cNvPr id="135" name="Picture 134" descr="lock.png"/>
          <p:cNvPicPr>
            <a:picLocks noChangeAspect="1"/>
          </p:cNvPicPr>
          <p:nvPr/>
        </p:nvPicPr>
        <p:blipFill>
          <a:blip r:embed="rId22"/>
          <a:stretch>
            <a:fillRect/>
          </a:stretch>
        </p:blipFill>
        <p:spPr>
          <a:xfrm>
            <a:off x="6170877" y="5208733"/>
            <a:ext cx="128699" cy="187198"/>
          </a:xfrm>
          <a:prstGeom prst="rect">
            <a:avLst/>
          </a:prstGeom>
        </p:spPr>
      </p:pic>
      <p:sp>
        <p:nvSpPr>
          <p:cNvPr id="136" name="TextBox 135"/>
          <p:cNvSpPr txBox="1"/>
          <p:nvPr/>
        </p:nvSpPr>
        <p:spPr>
          <a:xfrm>
            <a:off x="6338373"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7" name="Picture 136" descr="lock.png"/>
          <p:cNvPicPr>
            <a:picLocks noChangeAspect="1"/>
          </p:cNvPicPr>
          <p:nvPr/>
        </p:nvPicPr>
        <p:blipFill>
          <a:blip r:embed="rId22"/>
          <a:stretch>
            <a:fillRect/>
          </a:stretch>
        </p:blipFill>
        <p:spPr>
          <a:xfrm>
            <a:off x="7197824" y="5208733"/>
            <a:ext cx="128699" cy="187198"/>
          </a:xfrm>
          <a:prstGeom prst="rect">
            <a:avLst/>
          </a:prstGeom>
        </p:spPr>
      </p:pic>
      <p:sp>
        <p:nvSpPr>
          <p:cNvPr id="138" name="TextBox 137"/>
          <p:cNvSpPr txBox="1"/>
          <p:nvPr/>
        </p:nvSpPr>
        <p:spPr>
          <a:xfrm>
            <a:off x="7365319" y="5218513"/>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39" name="TextBox 138"/>
          <p:cNvSpPr txBox="1"/>
          <p:nvPr/>
        </p:nvSpPr>
        <p:spPr>
          <a:xfrm>
            <a:off x="3838575" y="5386153"/>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40" name="TextBox 139"/>
          <p:cNvSpPr txBox="1"/>
          <p:nvPr/>
        </p:nvSpPr>
        <p:spPr>
          <a:xfrm>
            <a:off x="3838575" y="5604085"/>
            <a:ext cx="1834182" cy="186689"/>
          </a:xfrm>
          <a:prstGeom prst="rect">
            <a:avLst/>
          </a:prstGeom>
          <a:noFill/>
        </p:spPr>
        <p:txBody>
          <a:bodyPr wrap="none" lIns="0" rIns="0" tIns="0" bIns="0">
            <a:spAutoFit/>
          </a:bodyPr>
          <a:lstStyle/>
          <a:p>
            <a:r>
              <a:rPr sz="1100" b="0">
                <a:solidFill>
                  <a:srgbClr val="2E2E2E"/>
                </a:solidFill>
                <a:latin typeface="Calibri"/>
              </a:rPr>
              <a:t>● Rotary Vane Air Compressor:</a:t>
            </a:r>
          </a:p>
        </p:txBody>
      </p:sp>
      <p:pic>
        <p:nvPicPr>
          <p:cNvPr id="141" name="Picture 140" descr="lock.png"/>
          <p:cNvPicPr>
            <a:picLocks noChangeAspect="1"/>
          </p:cNvPicPr>
          <p:nvPr/>
        </p:nvPicPr>
        <p:blipFill>
          <a:blip r:embed="rId22"/>
          <a:stretch>
            <a:fillRect/>
          </a:stretch>
        </p:blipFill>
        <p:spPr>
          <a:xfrm>
            <a:off x="5620809" y="5594305"/>
            <a:ext cx="128699" cy="187198"/>
          </a:xfrm>
          <a:prstGeom prst="rect">
            <a:avLst/>
          </a:prstGeom>
        </p:spPr>
      </p:pic>
      <p:sp>
        <p:nvSpPr>
          <p:cNvPr id="142" name="TextBox 141"/>
          <p:cNvSpPr txBox="1"/>
          <p:nvPr/>
        </p:nvSpPr>
        <p:spPr>
          <a:xfrm>
            <a:off x="5788305" y="560408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3" name="Picture 142" descr="lock.png"/>
          <p:cNvPicPr>
            <a:picLocks noChangeAspect="1"/>
          </p:cNvPicPr>
          <p:nvPr/>
        </p:nvPicPr>
        <p:blipFill>
          <a:blip r:embed="rId22"/>
          <a:stretch>
            <a:fillRect/>
          </a:stretch>
        </p:blipFill>
        <p:spPr>
          <a:xfrm>
            <a:off x="6647755" y="5594305"/>
            <a:ext cx="128699" cy="187198"/>
          </a:xfrm>
          <a:prstGeom prst="rect">
            <a:avLst/>
          </a:prstGeom>
        </p:spPr>
      </p:pic>
      <p:sp>
        <p:nvSpPr>
          <p:cNvPr id="144" name="TextBox 143"/>
          <p:cNvSpPr txBox="1"/>
          <p:nvPr/>
        </p:nvSpPr>
        <p:spPr>
          <a:xfrm>
            <a:off x="6815251" y="5604085"/>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45" name="TextBox 144"/>
          <p:cNvSpPr txBox="1"/>
          <p:nvPr/>
        </p:nvSpPr>
        <p:spPr>
          <a:xfrm>
            <a:off x="3838575" y="5771725"/>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46" name="TextBox 145"/>
          <p:cNvSpPr txBox="1"/>
          <p:nvPr/>
        </p:nvSpPr>
        <p:spPr>
          <a:xfrm>
            <a:off x="3838575" y="5989657"/>
            <a:ext cx="1410444" cy="186689"/>
          </a:xfrm>
          <a:prstGeom prst="rect">
            <a:avLst/>
          </a:prstGeom>
          <a:noFill/>
        </p:spPr>
        <p:txBody>
          <a:bodyPr wrap="none" lIns="0" rIns="0" tIns="0" bIns="0">
            <a:spAutoFit/>
          </a:bodyPr>
          <a:lstStyle/>
          <a:p>
            <a:r>
              <a:rPr sz="1100" b="0">
                <a:solidFill>
                  <a:srgbClr val="2E2E2E"/>
                </a:solidFill>
                <a:latin typeface="Calibri"/>
              </a:rPr>
              <a:t>● Axial Air Compressor:</a:t>
            </a:r>
          </a:p>
        </p:txBody>
      </p:sp>
      <p:pic>
        <p:nvPicPr>
          <p:cNvPr id="147" name="Picture 146" descr="lock.png"/>
          <p:cNvPicPr>
            <a:picLocks noChangeAspect="1"/>
          </p:cNvPicPr>
          <p:nvPr/>
        </p:nvPicPr>
        <p:blipFill>
          <a:blip r:embed="rId22"/>
          <a:stretch>
            <a:fillRect/>
          </a:stretch>
        </p:blipFill>
        <p:spPr>
          <a:xfrm>
            <a:off x="5197070" y="5979877"/>
            <a:ext cx="128699" cy="187198"/>
          </a:xfrm>
          <a:prstGeom prst="rect">
            <a:avLst/>
          </a:prstGeom>
        </p:spPr>
      </p:pic>
      <p:sp>
        <p:nvSpPr>
          <p:cNvPr id="148" name="TextBox 147"/>
          <p:cNvSpPr txBox="1"/>
          <p:nvPr/>
        </p:nvSpPr>
        <p:spPr>
          <a:xfrm>
            <a:off x="5364566" y="598965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9" name="Picture 148" descr="lock.png"/>
          <p:cNvPicPr>
            <a:picLocks noChangeAspect="1"/>
          </p:cNvPicPr>
          <p:nvPr/>
        </p:nvPicPr>
        <p:blipFill>
          <a:blip r:embed="rId22"/>
          <a:stretch>
            <a:fillRect/>
          </a:stretch>
        </p:blipFill>
        <p:spPr>
          <a:xfrm>
            <a:off x="6224016" y="5979877"/>
            <a:ext cx="128699" cy="187198"/>
          </a:xfrm>
          <a:prstGeom prst="rect">
            <a:avLst/>
          </a:prstGeom>
        </p:spPr>
      </p:pic>
      <p:sp>
        <p:nvSpPr>
          <p:cNvPr id="150" name="TextBox 149"/>
          <p:cNvSpPr txBox="1"/>
          <p:nvPr/>
        </p:nvSpPr>
        <p:spPr>
          <a:xfrm>
            <a:off x="6391512" y="598965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51" name="TextBox 150"/>
          <p:cNvSpPr txBox="1"/>
          <p:nvPr/>
        </p:nvSpPr>
        <p:spPr>
          <a:xfrm>
            <a:off x="8524875" y="5842641"/>
            <a:ext cx="3094471" cy="194310"/>
          </a:xfrm>
          <a:prstGeom prst="rect">
            <a:avLst/>
          </a:prstGeom>
          <a:noFill/>
        </p:spPr>
        <p:txBody>
          <a:bodyPr wrap="none" lIns="0" rIns="0" tIns="0" bIns="0">
            <a:spAutoFit/>
          </a:bodyPr>
          <a:lstStyle/>
          <a:p>
            <a:r>
              <a:rPr sz="1150" b="1">
                <a:solidFill>
                  <a:srgbClr val="0B2E4A"/>
                </a:solidFill>
                <a:latin typeface="Calibri"/>
              </a:rPr>
              <a:t>The Technology segment is projected to grow at a</a:t>
            </a:r>
          </a:p>
        </p:txBody>
      </p:sp>
      <p:sp>
        <p:nvSpPr>
          <p:cNvPr id="152" name="TextBox 151"/>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53" name="Picture 152" descr="lock.png"/>
          <p:cNvPicPr>
            <a:picLocks noChangeAspect="1"/>
          </p:cNvPicPr>
          <p:nvPr/>
        </p:nvPicPr>
        <p:blipFill>
          <a:blip r:embed="rId22"/>
          <a:stretch>
            <a:fillRect/>
          </a:stretch>
        </p:blipFill>
        <p:spPr>
          <a:xfrm>
            <a:off x="9048826" y="6007677"/>
            <a:ext cx="134549" cy="195707"/>
          </a:xfrm>
          <a:prstGeom prst="rect">
            <a:avLst/>
          </a:prstGeom>
        </p:spPr>
      </p:pic>
      <p:sp>
        <p:nvSpPr>
          <p:cNvPr id="154" name="TextBox 153"/>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Technology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Technology mix within each region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Technology mix within each region (share of 2036 value) · row label = region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Technology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305133" cy="186689"/>
          </a:xfrm>
          <a:prstGeom prst="rect">
            <a:avLst/>
          </a:prstGeom>
          <a:noFill/>
        </p:spPr>
        <p:txBody>
          <a:bodyPr wrap="none" lIns="0" rIns="0" tIns="0" bIns="0">
            <a:spAutoFit/>
          </a:bodyPr>
          <a:lstStyle/>
          <a:p>
            <a:r>
              <a:rPr sz="1100" b="0">
                <a:solidFill>
                  <a:srgbClr val="2E2E2E"/>
                </a:solidFill>
                <a:latin typeface="Calibri"/>
              </a:rPr>
              <a:t>Scroll air compressor followed by centrifugal air compressor are expected to be the two most attractive technology segments in the global industrial air compressor market in terms of value over the</a:t>
            </a:r>
          </a:p>
        </p:txBody>
      </p:sp>
      <p:sp>
        <p:nvSpPr>
          <p:cNvPr id="18" name="TextBox 17"/>
          <p:cNvSpPr txBox="1"/>
          <p:nvPr/>
        </p:nvSpPr>
        <p:spPr>
          <a:xfrm>
            <a:off x="257175" y="5861685"/>
            <a:ext cx="5322299" cy="186689"/>
          </a:xfrm>
          <a:prstGeom prst="rect">
            <a:avLst/>
          </a:prstGeom>
          <a:noFill/>
        </p:spPr>
        <p:txBody>
          <a:bodyPr wrap="none" lIns="0" rIns="0" tIns="0" bIns="0">
            <a:spAutoFit/>
          </a:bodyPr>
          <a:lstStyle/>
          <a:p>
            <a:r>
              <a:rPr sz="1100" b="0">
                <a:solidFill>
                  <a:srgbClr val="2E2E2E"/>
                </a:solidFill>
                <a:latin typeface="Calibri"/>
              </a:rPr>
              <a:t>forecast period. Scroll air compressor and centrifugal air compressor exhibit a CAGR index of</a:t>
            </a:r>
          </a:p>
        </p:txBody>
      </p:sp>
      <p:pic>
        <p:nvPicPr>
          <p:cNvPr id="19" name="Picture 18" descr="lock.png"/>
          <p:cNvPicPr>
            <a:picLocks noChangeAspect="1"/>
          </p:cNvPicPr>
          <p:nvPr/>
        </p:nvPicPr>
        <p:blipFill>
          <a:blip r:embed="rId6"/>
          <a:stretch>
            <a:fillRect/>
          </a:stretch>
        </p:blipFill>
        <p:spPr>
          <a:xfrm>
            <a:off x="5527526" y="5851905"/>
            <a:ext cx="128699" cy="187198"/>
          </a:xfrm>
          <a:prstGeom prst="rect">
            <a:avLst/>
          </a:prstGeom>
        </p:spPr>
      </p:pic>
      <p:sp>
        <p:nvSpPr>
          <p:cNvPr id="20" name="TextBox 19"/>
          <p:cNvSpPr txBox="1"/>
          <p:nvPr/>
        </p:nvSpPr>
        <p:spPr>
          <a:xfrm>
            <a:off x="569502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5932916" y="5851905"/>
            <a:ext cx="128699" cy="187198"/>
          </a:xfrm>
          <a:prstGeom prst="rect">
            <a:avLst/>
          </a:prstGeom>
        </p:spPr>
      </p:pic>
      <p:sp>
        <p:nvSpPr>
          <p:cNvPr id="22" name="TextBox 21"/>
          <p:cNvSpPr txBox="1"/>
          <p:nvPr/>
        </p:nvSpPr>
        <p:spPr>
          <a:xfrm>
            <a:off x="6100412"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7709386" y="5851905"/>
            <a:ext cx="128699" cy="187198"/>
          </a:xfrm>
          <a:prstGeom prst="rect">
            <a:avLst/>
          </a:prstGeom>
        </p:spPr>
      </p:pic>
      <p:sp>
        <p:nvSpPr>
          <p:cNvPr id="24" name="TextBox 23"/>
          <p:cNvSpPr txBox="1"/>
          <p:nvPr/>
        </p:nvSpPr>
        <p:spPr>
          <a:xfrm>
            <a:off x="787688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8114776" y="5851905"/>
            <a:ext cx="128699" cy="187198"/>
          </a:xfrm>
          <a:prstGeom prst="rect">
            <a:avLst/>
          </a:prstGeom>
        </p:spPr>
      </p:pic>
      <p:sp>
        <p:nvSpPr>
          <p:cNvPr id="26" name="TextBox 25"/>
          <p:cNvSpPr txBox="1"/>
          <p:nvPr/>
        </p:nvSpPr>
        <p:spPr>
          <a:xfrm>
            <a:off x="8282272"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10836676" y="5851905"/>
            <a:ext cx="128699" cy="187198"/>
          </a:xfrm>
          <a:prstGeom prst="rect">
            <a:avLst/>
          </a:prstGeom>
        </p:spPr>
      </p:pic>
      <p:sp>
        <p:nvSpPr>
          <p:cNvPr id="28" name="TextBox 27"/>
          <p:cNvSpPr txBox="1"/>
          <p:nvPr/>
        </p:nvSpPr>
        <p:spPr>
          <a:xfrm>
            <a:off x="11004171" y="5861685"/>
            <a:ext cx="354235" cy="186689"/>
          </a:xfrm>
          <a:prstGeom prst="rect">
            <a:avLst/>
          </a:prstGeom>
          <a:noFill/>
        </p:spPr>
        <p:txBody>
          <a:bodyPr wrap="none" lIns="0" rIns="0" tIns="0" bIns="0">
            <a:spAutoFit/>
          </a:bodyPr>
          <a:lstStyle/>
          <a:p>
            <a:r>
              <a:rPr sz="1100" b="0">
                <a:solidFill>
                  <a:srgbClr val="2E2E2E"/>
                </a:solidFill>
                <a:latin typeface="Calibri"/>
              </a:rPr>
              <a:t>. The</a:t>
            </a:r>
          </a:p>
        </p:txBody>
      </p:sp>
      <p:sp>
        <p:nvSpPr>
          <p:cNvPr id="29" name="TextBox 28"/>
          <p:cNvSpPr txBox="1"/>
          <p:nvPr/>
        </p:nvSpPr>
        <p:spPr>
          <a:xfrm>
            <a:off x="257175" y="6029325"/>
            <a:ext cx="11092837" cy="186689"/>
          </a:xfrm>
          <a:prstGeom prst="rect">
            <a:avLst/>
          </a:prstGeom>
          <a:noFill/>
        </p:spPr>
        <p:txBody>
          <a:bodyPr wrap="none" lIns="0" rIns="0" tIns="0" bIns="0">
            <a:spAutoFit/>
          </a:bodyPr>
          <a:lstStyle/>
          <a:p>
            <a:r>
              <a:rPr sz="1100" b="0">
                <a:solidFill>
                  <a:srgbClr val="2E2E2E"/>
                </a:solidFill>
                <a:latin typeface="Calibri"/>
              </a:rPr>
              <a:t>axial air compressor segment is expected to be less attractive as compared to other segments over the forecast period, owing to its lower CAGR and incremental opportunity. Bubbles right of the</a:t>
            </a:r>
          </a:p>
        </p:txBody>
      </p:sp>
      <p:sp>
        <p:nvSpPr>
          <p:cNvPr id="30" name="TextBox 29"/>
          <p:cNvSpPr txBox="1"/>
          <p:nvPr/>
        </p:nvSpPr>
        <p:spPr>
          <a:xfrm>
            <a:off x="257175" y="6196965"/>
            <a:ext cx="3224344" cy="186689"/>
          </a:xfrm>
          <a:prstGeom prst="rect">
            <a:avLst/>
          </a:prstGeom>
          <a:noFill/>
        </p:spPr>
        <p:txBody>
          <a:bodyPr wrap="none" lIns="0" rIns="0" tIns="0" bIns="0">
            <a:spAutoFit/>
          </a:bodyPr>
          <a:lstStyle/>
          <a:p>
            <a:r>
              <a:rPr sz="1100" b="0">
                <a:solidFill>
                  <a:srgbClr val="2E2E2E"/>
                </a:solidFill>
                <a:latin typeface="Calibri"/>
              </a:rPr>
              <a:t>CAGR-Index 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Technology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Technology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Rotary Screw Air Compressor</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Reciprocating (Piston) Air Compressor</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Centrifugal Air Compressor</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Axial Air Compressor</a:t>
            </a:r>
          </a:p>
        </p:txBody>
      </p:sp>
      <p:graphicFrame>
        <p:nvGraphicFramePr>
          <p:cNvPr id="18" name="Chart 17"/>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4151" y="5123309"/>
            <a:ext cx="263506" cy="383281"/>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Technology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Technology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Rotary Vane Air Compressor</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Scroll Air Compressor</a:t>
            </a:r>
          </a:p>
        </p:txBody>
      </p:sp>
      <p:graphicFrame>
        <p:nvGraphicFramePr>
          <p:cNvPr id="12" name="Chart 11"/>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Summary of Global Absolute $ Opportunity Analysis, By Technology</a:t>
            </a:r>
          </a:p>
        </p:txBody>
      </p:sp>
      <p:sp>
        <p:nvSpPr>
          <p:cNvPr id="15" name="Rectangle 14"/>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Rectangle 1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9" name="Picture 18" descr="lock.png"/>
          <p:cNvPicPr>
            <a:picLocks noChangeAspect="1"/>
          </p:cNvPicPr>
          <p:nvPr/>
        </p:nvPicPr>
        <p:blipFill>
          <a:blip r:embed="rId6"/>
          <a:stretch>
            <a:fillRect/>
          </a:stretch>
        </p:blipFill>
        <p:spPr>
          <a:xfrm>
            <a:off x="3100230" y="2330679"/>
            <a:ext cx="252890" cy="367840"/>
          </a:xfrm>
          <a:prstGeom prst="rect">
            <a:avLst/>
          </a:prstGeom>
        </p:spPr>
      </p:pic>
      <p:pic>
        <p:nvPicPr>
          <p:cNvPr id="20" name="Picture 19" descr="lock.png"/>
          <p:cNvPicPr>
            <a:picLocks noChangeAspect="1"/>
          </p:cNvPicPr>
          <p:nvPr/>
        </p:nvPicPr>
        <p:blipFill>
          <a:blip r:embed="rId6"/>
          <a:stretch>
            <a:fillRect/>
          </a:stretch>
        </p:blipFill>
        <p:spPr>
          <a:xfrm>
            <a:off x="3100230" y="5216754"/>
            <a:ext cx="252890" cy="367840"/>
          </a:xfrm>
          <a:prstGeom prst="rect">
            <a:avLst/>
          </a:prstGeom>
        </p:spPr>
      </p:pic>
      <p:sp>
        <p:nvSpPr>
          <p:cNvPr id="21" name="TextBox 20"/>
          <p:cNvSpPr txBox="1"/>
          <p:nvPr/>
        </p:nvSpPr>
        <p:spPr>
          <a:xfrm>
            <a:off x="6305550" y="1400175"/>
            <a:ext cx="4734659" cy="194310"/>
          </a:xfrm>
          <a:prstGeom prst="rect">
            <a:avLst/>
          </a:prstGeom>
          <a:noFill/>
        </p:spPr>
        <p:txBody>
          <a:bodyPr wrap="none" lIns="0" rIns="0" tIns="0" bIns="0">
            <a:spAutoFit/>
          </a:bodyPr>
          <a:lstStyle/>
          <a:p>
            <a:r>
              <a:rPr sz="1150" b="0">
                <a:solidFill>
                  <a:srgbClr val="2E2E2E"/>
                </a:solidFill>
                <a:latin typeface="Calibri"/>
              </a:rPr>
              <a:t>By 2036, scroll air compressor segment is anticipated to witness an increase of</a:t>
            </a:r>
          </a:p>
        </p:txBody>
      </p:sp>
      <p:pic>
        <p:nvPicPr>
          <p:cNvPr id="22" name="Picture 21" descr="lock.png"/>
          <p:cNvPicPr>
            <a:picLocks noChangeAspect="1"/>
          </p:cNvPicPr>
          <p:nvPr/>
        </p:nvPicPr>
        <p:blipFill>
          <a:blip r:embed="rId6"/>
          <a:stretch>
            <a:fillRect/>
          </a:stretch>
        </p:blipFill>
        <p:spPr>
          <a:xfrm>
            <a:off x="10989363" y="1389951"/>
            <a:ext cx="134549" cy="195707"/>
          </a:xfrm>
          <a:prstGeom prst="rect">
            <a:avLst/>
          </a:prstGeom>
        </p:spPr>
      </p:pic>
      <p:sp>
        <p:nvSpPr>
          <p:cNvPr id="23" name="TextBox 22"/>
          <p:cNvSpPr txBox="1"/>
          <p:nvPr/>
        </p:nvSpPr>
        <p:spPr>
          <a:xfrm>
            <a:off x="11164472" y="1400175"/>
            <a:ext cx="675233" cy="194310"/>
          </a:xfrm>
          <a:prstGeom prst="rect">
            <a:avLst/>
          </a:prstGeom>
          <a:noFill/>
        </p:spPr>
        <p:txBody>
          <a:bodyPr wrap="none" lIns="0" rIns="0" tIns="0" bIns="0">
            <a:spAutoFit/>
          </a:bodyPr>
          <a:lstStyle/>
          <a:p>
            <a:r>
              <a:rPr sz="1150" b="0">
                <a:solidFill>
                  <a:srgbClr val="2E2E2E"/>
                </a:solidFill>
                <a:latin typeface="Calibri"/>
              </a:rPr>
              <a:t>X in terms</a:t>
            </a:r>
          </a:p>
        </p:txBody>
      </p:sp>
      <p:sp>
        <p:nvSpPr>
          <p:cNvPr id="24" name="TextBox 23"/>
          <p:cNvSpPr txBox="1"/>
          <p:nvPr/>
        </p:nvSpPr>
        <p:spPr>
          <a:xfrm>
            <a:off x="6305550" y="1575435"/>
            <a:ext cx="5390765" cy="194310"/>
          </a:xfrm>
          <a:prstGeom prst="rect">
            <a:avLst/>
          </a:prstGeom>
          <a:noFill/>
        </p:spPr>
        <p:txBody>
          <a:bodyPr wrap="none" lIns="0" rIns="0" tIns="0" bIns="0">
            <a:spAutoFit/>
          </a:bodyPr>
          <a:lstStyle/>
          <a:p>
            <a:r>
              <a:rPr sz="1150" b="0">
                <a:solidFill>
                  <a:srgbClr val="2E2E2E"/>
                </a:solidFill>
                <a:latin typeface="Calibri"/>
              </a:rPr>
              <a:t>of value as compared to 2026. The scroll air compressor segment is expected to create an</a:t>
            </a:r>
          </a:p>
        </p:txBody>
      </p:sp>
      <p:sp>
        <p:nvSpPr>
          <p:cNvPr id="25" name="TextBox 24"/>
          <p:cNvSpPr txBox="1"/>
          <p:nvPr/>
        </p:nvSpPr>
        <p:spPr>
          <a:xfrm>
            <a:off x="6305550" y="1750695"/>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26" name="Picture 25" descr="lock.png"/>
          <p:cNvPicPr>
            <a:picLocks noChangeAspect="1"/>
          </p:cNvPicPr>
          <p:nvPr/>
        </p:nvPicPr>
        <p:blipFill>
          <a:blip r:embed="rId6"/>
          <a:stretch>
            <a:fillRect/>
          </a:stretch>
        </p:blipFill>
        <p:spPr>
          <a:xfrm>
            <a:off x="8211582" y="1740471"/>
            <a:ext cx="134549" cy="195707"/>
          </a:xfrm>
          <a:prstGeom prst="rect">
            <a:avLst/>
          </a:prstGeom>
        </p:spPr>
      </p:pic>
      <p:sp>
        <p:nvSpPr>
          <p:cNvPr id="27" name="TextBox 26"/>
          <p:cNvSpPr txBox="1"/>
          <p:nvPr/>
        </p:nvSpPr>
        <p:spPr>
          <a:xfrm>
            <a:off x="8386692" y="1750695"/>
            <a:ext cx="3443907"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a:t>
            </a:r>
          </a:p>
        </p:txBody>
      </p:sp>
      <p:sp>
        <p:nvSpPr>
          <p:cNvPr id="28" name="TextBox 27"/>
          <p:cNvSpPr txBox="1"/>
          <p:nvPr/>
        </p:nvSpPr>
        <p:spPr>
          <a:xfrm>
            <a:off x="6305550" y="1925955"/>
            <a:ext cx="898587" cy="194310"/>
          </a:xfrm>
          <a:prstGeom prst="rect">
            <a:avLst/>
          </a:prstGeom>
          <a:noFill/>
        </p:spPr>
        <p:txBody>
          <a:bodyPr wrap="none" lIns="0" rIns="0" tIns="0" bIns="0">
            <a:spAutoFit/>
          </a:bodyPr>
          <a:lstStyle/>
          <a:p>
            <a:r>
              <a:rPr sz="1150" b="0">
                <a:solidFill>
                  <a:srgbClr val="2E2E2E"/>
                </a:solidFill>
                <a:latin typeface="Calibri"/>
              </a:rPr>
              <a:t>2026 to 2036.</a:t>
            </a:r>
          </a:p>
        </p:txBody>
      </p:sp>
      <p:sp>
        <p:nvSpPr>
          <p:cNvPr id="29" name="TextBox 28"/>
          <p:cNvSpPr txBox="1"/>
          <p:nvPr/>
        </p:nvSpPr>
        <p:spPr>
          <a:xfrm>
            <a:off x="6305550" y="2153793"/>
            <a:ext cx="5532536" cy="194310"/>
          </a:xfrm>
          <a:prstGeom prst="rect">
            <a:avLst/>
          </a:prstGeom>
          <a:noFill/>
        </p:spPr>
        <p:txBody>
          <a:bodyPr wrap="none" lIns="0" rIns="0" tIns="0" bIns="0">
            <a:spAutoFit/>
          </a:bodyPr>
          <a:lstStyle/>
          <a:p>
            <a:r>
              <a:rPr sz="1150" b="0">
                <a:solidFill>
                  <a:srgbClr val="2E2E2E"/>
                </a:solidFill>
                <a:latin typeface="Calibri"/>
              </a:rPr>
              <a:t>The centrifugal air compressor segment is expected to create an incremental opportunity of</a:t>
            </a:r>
          </a:p>
        </p:txBody>
      </p:sp>
      <p:sp>
        <p:nvSpPr>
          <p:cNvPr id="30" name="TextBox 29"/>
          <p:cNvSpPr txBox="1"/>
          <p:nvPr/>
        </p:nvSpPr>
        <p:spPr>
          <a:xfrm>
            <a:off x="6305550" y="232905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1" name="Picture 30" descr="lock.png"/>
          <p:cNvPicPr>
            <a:picLocks noChangeAspect="1"/>
          </p:cNvPicPr>
          <p:nvPr/>
        </p:nvPicPr>
        <p:blipFill>
          <a:blip r:embed="rId6"/>
          <a:stretch>
            <a:fillRect/>
          </a:stretch>
        </p:blipFill>
        <p:spPr>
          <a:xfrm>
            <a:off x="6565953" y="2318829"/>
            <a:ext cx="134549" cy="195707"/>
          </a:xfrm>
          <a:prstGeom prst="rect">
            <a:avLst/>
          </a:prstGeom>
        </p:spPr>
      </p:pic>
      <p:sp>
        <p:nvSpPr>
          <p:cNvPr id="32" name="TextBox 31"/>
          <p:cNvSpPr txBox="1"/>
          <p:nvPr/>
        </p:nvSpPr>
        <p:spPr>
          <a:xfrm>
            <a:off x="6741062" y="2329053"/>
            <a:ext cx="4950618"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 2026 to 2036. The rotary</a:t>
            </a:r>
          </a:p>
        </p:txBody>
      </p:sp>
      <p:sp>
        <p:nvSpPr>
          <p:cNvPr id="33" name="TextBox 32"/>
          <p:cNvSpPr txBox="1"/>
          <p:nvPr/>
        </p:nvSpPr>
        <p:spPr>
          <a:xfrm>
            <a:off x="6305550" y="2504313"/>
            <a:ext cx="5255269" cy="194310"/>
          </a:xfrm>
          <a:prstGeom prst="rect">
            <a:avLst/>
          </a:prstGeom>
          <a:noFill/>
        </p:spPr>
        <p:txBody>
          <a:bodyPr wrap="none" lIns="0" rIns="0" tIns="0" bIns="0">
            <a:spAutoFit/>
          </a:bodyPr>
          <a:lstStyle/>
          <a:p>
            <a:r>
              <a:rPr sz="1150" b="0">
                <a:solidFill>
                  <a:srgbClr val="2E2E2E"/>
                </a:solidFill>
                <a:latin typeface="Calibri"/>
              </a:rPr>
              <a:t>screw air compressor segment is expected to create an incremental opportunity of US$</a:t>
            </a:r>
          </a:p>
        </p:txBody>
      </p:sp>
      <p:pic>
        <p:nvPicPr>
          <p:cNvPr id="34" name="Picture 33" descr="lock.png"/>
          <p:cNvPicPr>
            <a:picLocks noChangeAspect="1"/>
          </p:cNvPicPr>
          <p:nvPr/>
        </p:nvPicPr>
        <p:blipFill>
          <a:blip r:embed="rId6"/>
          <a:stretch>
            <a:fillRect/>
          </a:stretch>
        </p:blipFill>
        <p:spPr>
          <a:xfrm>
            <a:off x="6291470" y="2669349"/>
            <a:ext cx="134549" cy="195707"/>
          </a:xfrm>
          <a:prstGeom prst="rect">
            <a:avLst/>
          </a:prstGeom>
        </p:spPr>
      </p:pic>
      <p:sp>
        <p:nvSpPr>
          <p:cNvPr id="35" name="TextBox 34"/>
          <p:cNvSpPr txBox="1"/>
          <p:nvPr/>
        </p:nvSpPr>
        <p:spPr>
          <a:xfrm>
            <a:off x="6466579" y="2679573"/>
            <a:ext cx="4299384"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 2026 to 2036.</a:t>
            </a:r>
          </a:p>
        </p:txBody>
      </p:sp>
      <p:sp>
        <p:nvSpPr>
          <p:cNvPr id="36"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ockshield_12"/>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Technology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Technology, 2021–2036, highlighting the sub-segments driving growth</a:t>
            </a:r>
          </a:p>
        </p:txBody>
      </p:sp>
      <p:sp>
        <p:nvSpPr>
          <p:cNvPr id="7" name="Rounded Rectangle 6"/>
          <p:cNvSpPr/>
          <p:nvPr/>
        </p:nvSpPr>
        <p:spPr>
          <a:xfrm>
            <a:off x="142875" y="981075"/>
            <a:ext cx="11906250" cy="2438400"/>
          </a:xfrm>
          <a:prstGeom prst="roundRect">
            <a:avLst>
              <a:gd name="adj" fmla="val 312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Technology (US$ Mn)</a:t>
            </a:r>
          </a:p>
        </p:txBody>
      </p:sp>
      <p:graphicFrame>
        <p:nvGraphicFramePr>
          <p:cNvPr id="9" name="Table 8"/>
          <p:cNvGraphicFramePr>
            <a:graphicFrameLocks noGrp="1"/>
          </p:cNvGraphicFramePr>
          <p:nvPr/>
        </p:nvGraphicFramePr>
        <p:xfrm>
          <a:off x="152400" y="1238250"/>
          <a:ext cx="11887206" cy="1971675"/>
        </p:xfrm>
        <a:graphic>
          <a:graphicData uri="http://schemas.openxmlformats.org/drawingml/2006/table">
            <a:tbl>
              <a:tblPr>
                <a:tableStyleId>{5C22544A-7EE6-4342-B048-85BDC9FD1C3A}</a:tableStyleId>
              </a:tblPr>
              <a:tblGrid>
                <a:gridCol w="2402124"/>
                <a:gridCol w="557946"/>
                <a:gridCol w="557946"/>
                <a:gridCol w="557946"/>
                <a:gridCol w="557946"/>
                <a:gridCol w="557946"/>
                <a:gridCol w="557946"/>
                <a:gridCol w="557946"/>
                <a:gridCol w="557946"/>
                <a:gridCol w="557946"/>
                <a:gridCol w="557946"/>
                <a:gridCol w="557946"/>
                <a:gridCol w="557946"/>
                <a:gridCol w="557946"/>
                <a:gridCol w="557946"/>
                <a:gridCol w="557946"/>
                <a:gridCol w="557946"/>
                <a:gridCol w="557946"/>
              </a:tblGrid>
              <a:tr h="246126">
                <a:tc>
                  <a:txBody>
                    <a:bodyPr wrap="none"/>
                    <a:lstStyle/>
                    <a:p>
                      <a:pPr algn="l"/>
                      <a:r>
                        <a:rPr sz="1100" b="1">
                          <a:solidFill>
                            <a:srgbClr val="0E2A5C"/>
                          </a:solidFill>
                          <a:latin typeface="Calibri"/>
                        </a:rPr>
                        <a:t>Technology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507">
                <a:tc>
                  <a:txBody>
                    <a:bodyPr wrap="none"/>
                    <a:lstStyle/>
                    <a:p>
                      <a:pPr algn="l"/>
                      <a:r>
                        <a:rPr sz="1100" b="1">
                          <a:solidFill>
                            <a:srgbClr val="2E2E2E"/>
                          </a:solidFill>
                          <a:latin typeface="Calibri"/>
                        </a:rPr>
                        <a:t>Rotary Screw Air Compressor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Reciprocating (Piston) Air Compressor</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Centrifugal Air Compressor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Axial Air Compressor</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Rotary Vane Air Compressor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Scroll Air Compressor</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552825"/>
            <a:ext cx="11906250" cy="3076575"/>
          </a:xfrm>
          <a:prstGeom prst="roundRect">
            <a:avLst>
              <a:gd name="adj" fmla="val 247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Analysis, By Technology</a:t>
            </a:r>
          </a:p>
        </p:txBody>
      </p:sp>
      <p:sp>
        <p:nvSpPr>
          <p:cNvPr id="13" name="Rectangle 12"/>
          <p:cNvSpPr/>
          <p:nvPr/>
        </p:nvSpPr>
        <p:spPr>
          <a:xfrm>
            <a:off x="276225" y="387667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7110375" y="2080450"/>
            <a:ext cx="366712" cy="533400"/>
          </a:xfrm>
          <a:prstGeom prst="rect">
            <a:avLst/>
          </a:prstGeom>
        </p:spPr>
      </p:pic>
      <p:sp>
        <p:nvSpPr>
          <p:cNvPr id="18" name="TextBox 17"/>
          <p:cNvSpPr txBox="1"/>
          <p:nvPr/>
        </p:nvSpPr>
        <p:spPr>
          <a:xfrm>
            <a:off x="276225" y="3971925"/>
            <a:ext cx="3244800" cy="194310"/>
          </a:xfrm>
          <a:prstGeom prst="rect">
            <a:avLst/>
          </a:prstGeom>
          <a:noFill/>
        </p:spPr>
        <p:txBody>
          <a:bodyPr wrap="none" lIns="0" rIns="0" tIns="0" bIns="0">
            <a:spAutoFit/>
          </a:bodyPr>
          <a:lstStyle/>
          <a:p>
            <a:r>
              <a:rPr sz="1150" b="0">
                <a:solidFill>
                  <a:srgbClr val="2E2E2E"/>
                </a:solidFill>
                <a:latin typeface="Calibri"/>
              </a:rPr>
              <a:t>Scroll air compressor segment is projected to register</a:t>
            </a:r>
          </a:p>
        </p:txBody>
      </p:sp>
      <p:pic>
        <p:nvPicPr>
          <p:cNvPr id="19" name="Picture 18" descr="lock.png"/>
          <p:cNvPicPr>
            <a:picLocks noChangeAspect="1"/>
          </p:cNvPicPr>
          <p:nvPr/>
        </p:nvPicPr>
        <p:blipFill>
          <a:blip r:embed="rId4"/>
          <a:stretch>
            <a:fillRect/>
          </a:stretch>
        </p:blipFill>
        <p:spPr>
          <a:xfrm>
            <a:off x="3470179" y="3961701"/>
            <a:ext cx="134549" cy="195707"/>
          </a:xfrm>
          <a:prstGeom prst="rect">
            <a:avLst/>
          </a:prstGeom>
        </p:spPr>
      </p:pic>
      <p:sp>
        <p:nvSpPr>
          <p:cNvPr id="20" name="TextBox 19"/>
          <p:cNvSpPr txBox="1"/>
          <p:nvPr/>
        </p:nvSpPr>
        <p:spPr>
          <a:xfrm>
            <a:off x="3645288" y="3971925"/>
            <a:ext cx="7707883" cy="194310"/>
          </a:xfrm>
          <a:prstGeom prst="rect">
            <a:avLst/>
          </a:prstGeom>
          <a:noFill/>
        </p:spPr>
        <p:txBody>
          <a:bodyPr wrap="none" lIns="0" rIns="0" tIns="0" bIns="0">
            <a:spAutoFit/>
          </a:bodyPr>
          <a:lstStyle/>
          <a:p>
            <a:r>
              <a:rPr sz="1150" b="0">
                <a:solidFill>
                  <a:srgbClr val="2E2E2E"/>
                </a:solidFill>
                <a:latin typeface="Calibri"/>
              </a:rPr>
              <a:t>X higher value than rotary screw air compressor segment in 2036. Among industrial air compressor by technology, centrifugal air</a:t>
            </a:r>
          </a:p>
        </p:txBody>
      </p:sp>
      <p:sp>
        <p:nvSpPr>
          <p:cNvPr id="21" name="TextBox 20"/>
          <p:cNvSpPr txBox="1"/>
          <p:nvPr/>
        </p:nvSpPr>
        <p:spPr>
          <a:xfrm>
            <a:off x="276225" y="4147185"/>
            <a:ext cx="3888030" cy="194310"/>
          </a:xfrm>
          <a:prstGeom prst="rect">
            <a:avLst/>
          </a:prstGeom>
          <a:noFill/>
        </p:spPr>
        <p:txBody>
          <a:bodyPr wrap="none" lIns="0" rIns="0" tIns="0" bIns="0">
            <a:spAutoFit/>
          </a:bodyPr>
          <a:lstStyle/>
          <a:p>
            <a:r>
              <a:rPr sz="1150" b="0">
                <a:solidFill>
                  <a:srgbClr val="2E2E2E"/>
                </a:solidFill>
                <a:latin typeface="Calibri"/>
              </a:rPr>
              <a:t>compressor segment is expected to witness the highest CAGR of</a:t>
            </a:r>
          </a:p>
        </p:txBody>
      </p:sp>
      <p:pic>
        <p:nvPicPr>
          <p:cNvPr id="22" name="Picture 21" descr="lock.png"/>
          <p:cNvPicPr>
            <a:picLocks noChangeAspect="1"/>
          </p:cNvPicPr>
          <p:nvPr/>
        </p:nvPicPr>
        <p:blipFill>
          <a:blip r:embed="rId4"/>
          <a:stretch>
            <a:fillRect/>
          </a:stretch>
        </p:blipFill>
        <p:spPr>
          <a:xfrm>
            <a:off x="4113409" y="4136961"/>
            <a:ext cx="134549" cy="195707"/>
          </a:xfrm>
          <a:prstGeom prst="rect">
            <a:avLst/>
          </a:prstGeom>
        </p:spPr>
      </p:pic>
      <p:sp>
        <p:nvSpPr>
          <p:cNvPr id="23" name="TextBox 22"/>
          <p:cNvSpPr txBox="1"/>
          <p:nvPr/>
        </p:nvSpPr>
        <p:spPr>
          <a:xfrm>
            <a:off x="4288518"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375022"/>
            <a:ext cx="7042956" cy="194310"/>
          </a:xfrm>
          <a:prstGeom prst="rect">
            <a:avLst/>
          </a:prstGeom>
          <a:noFill/>
        </p:spPr>
        <p:txBody>
          <a:bodyPr wrap="none" lIns="0" rIns="0" tIns="0" bIns="0">
            <a:spAutoFit/>
          </a:bodyPr>
          <a:lstStyle/>
          <a:p>
            <a:r>
              <a:rPr sz="1150" b="0">
                <a:solidFill>
                  <a:srgbClr val="2E2E2E"/>
                </a:solidFill>
                <a:latin typeface="Calibri"/>
              </a:rPr>
              <a:t>In terms of value share by technology, the scroll air compressor segment is expected to dominate the market, gaining</a:t>
            </a:r>
          </a:p>
        </p:txBody>
      </p:sp>
      <p:pic>
        <p:nvPicPr>
          <p:cNvPr id="25" name="Picture 24" descr="lock.png"/>
          <p:cNvPicPr>
            <a:picLocks noChangeAspect="1"/>
          </p:cNvPicPr>
          <p:nvPr/>
        </p:nvPicPr>
        <p:blipFill>
          <a:blip r:embed="rId4"/>
          <a:stretch>
            <a:fillRect/>
          </a:stretch>
        </p:blipFill>
        <p:spPr>
          <a:xfrm>
            <a:off x="7268335" y="4364799"/>
            <a:ext cx="134549" cy="195707"/>
          </a:xfrm>
          <a:prstGeom prst="rect">
            <a:avLst/>
          </a:prstGeom>
        </p:spPr>
      </p:pic>
      <p:sp>
        <p:nvSpPr>
          <p:cNvPr id="26" name="TextBox 25"/>
          <p:cNvSpPr txBox="1"/>
          <p:nvPr/>
        </p:nvSpPr>
        <p:spPr>
          <a:xfrm>
            <a:off x="7443444"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8838587" y="4364799"/>
            <a:ext cx="134549" cy="195707"/>
          </a:xfrm>
          <a:prstGeom prst="rect">
            <a:avLst/>
          </a:prstGeom>
        </p:spPr>
      </p:pic>
      <p:sp>
        <p:nvSpPr>
          <p:cNvPr id="28" name="TextBox 27"/>
          <p:cNvSpPr txBox="1"/>
          <p:nvPr/>
        </p:nvSpPr>
        <p:spPr>
          <a:xfrm>
            <a:off x="9013696" y="4375022"/>
            <a:ext cx="2696827" cy="194310"/>
          </a:xfrm>
          <a:prstGeom prst="rect">
            <a:avLst/>
          </a:prstGeom>
          <a:noFill/>
        </p:spPr>
        <p:txBody>
          <a:bodyPr wrap="none" lIns="0" rIns="0" tIns="0" bIns="0">
            <a:spAutoFit/>
          </a:bodyPr>
          <a:lstStyle/>
          <a:p>
            <a:r>
              <a:rPr sz="1150" b="0">
                <a:solidFill>
                  <a:srgbClr val="2E2E2E"/>
                </a:solidFill>
                <a:latin typeface="Calibri"/>
              </a:rPr>
              <a:t>share by 2036. The reciprocating (piston) air</a:t>
            </a:r>
          </a:p>
        </p:txBody>
      </p:sp>
      <p:sp>
        <p:nvSpPr>
          <p:cNvPr id="29" name="TextBox 28"/>
          <p:cNvSpPr txBox="1"/>
          <p:nvPr/>
        </p:nvSpPr>
        <p:spPr>
          <a:xfrm>
            <a:off x="276225" y="4550282"/>
            <a:ext cx="2456929" cy="194310"/>
          </a:xfrm>
          <a:prstGeom prst="rect">
            <a:avLst/>
          </a:prstGeom>
          <a:noFill/>
        </p:spPr>
        <p:txBody>
          <a:bodyPr wrap="none" lIns="0" rIns="0" tIns="0" bIns="0">
            <a:spAutoFit/>
          </a:bodyPr>
          <a:lstStyle/>
          <a:p>
            <a:r>
              <a:rPr sz="1150" b="0">
                <a:solidFill>
                  <a:srgbClr val="2E2E2E"/>
                </a:solidFill>
                <a:latin typeface="Calibri"/>
              </a:rPr>
              <a:t>compressor segment is expected to lose</a:t>
            </a:r>
          </a:p>
        </p:txBody>
      </p:sp>
      <p:pic>
        <p:nvPicPr>
          <p:cNvPr id="30" name="Picture 29" descr="lock.png"/>
          <p:cNvPicPr>
            <a:picLocks noChangeAspect="1"/>
          </p:cNvPicPr>
          <p:nvPr/>
        </p:nvPicPr>
        <p:blipFill>
          <a:blip r:embed="rId4"/>
          <a:stretch>
            <a:fillRect/>
          </a:stretch>
        </p:blipFill>
        <p:spPr>
          <a:xfrm>
            <a:off x="2682308" y="4540059"/>
            <a:ext cx="134549" cy="195707"/>
          </a:xfrm>
          <a:prstGeom prst="rect">
            <a:avLst/>
          </a:prstGeom>
        </p:spPr>
      </p:pic>
      <p:sp>
        <p:nvSpPr>
          <p:cNvPr id="31" name="TextBox 30"/>
          <p:cNvSpPr txBox="1"/>
          <p:nvPr/>
        </p:nvSpPr>
        <p:spPr>
          <a:xfrm>
            <a:off x="2857417"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5444921" y="4540059"/>
            <a:ext cx="134549" cy="195707"/>
          </a:xfrm>
          <a:prstGeom prst="rect">
            <a:avLst/>
          </a:prstGeom>
        </p:spPr>
      </p:pic>
      <p:sp>
        <p:nvSpPr>
          <p:cNvPr id="33" name="TextBox 32"/>
          <p:cNvSpPr txBox="1"/>
          <p:nvPr/>
        </p:nvSpPr>
        <p:spPr>
          <a:xfrm>
            <a:off x="5620031"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Technology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Technology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Technology ·  2021 / 2026 / 2036 (US$ Mn)  ·  right axis = BPS share shift</a:t>
            </a:r>
          </a:p>
        </p:txBody>
      </p:sp>
      <p:graphicFrame>
        <p:nvGraphicFramePr>
          <p:cNvPr id="9" name="Chart 8"/>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FMI Lock Anchor"/>
          <p:cNvSpPr txBox="1"/>
          <p:nvPr/>
        </p:nvSpPr>
        <p:spPr>
          <a:xfrm>
            <a:off x="2678811" y="3932301"/>
            <a:ext cx="38100" cy="38100"/>
          </a:xfrm>
          <a:prstGeom prst="rect">
            <a:avLst/>
          </a:prstGeom>
          <a:noFill/>
        </p:spPr>
        <p:txBody>
          <a:bodyPr wrap="none">
            <a:spAutoFit/>
          </a:bodyPr>
          <a:lstStyle/>
          <a:p/>
        </p:txBody>
      </p:sp>
      <p:sp>
        <p:nvSpPr>
          <p:cNvPr id="12" name="FMI Legend Chip"/>
          <p:cNvSpPr/>
          <p:nvPr/>
        </p:nvSpPr>
        <p:spPr>
          <a:xfrm>
            <a:off x="4928997" y="1628252"/>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62349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54729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Axial Air Compressor</a:t>
            </a:r>
          </a:p>
        </p:txBody>
      </p:sp>
      <p:sp>
        <p:nvSpPr>
          <p:cNvPr id="15" name="BPS Value 1"/>
          <p:cNvSpPr txBox="1"/>
          <p:nvPr/>
        </p:nvSpPr>
        <p:spPr>
          <a:xfrm>
            <a:off x="6896100" y="160920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FMI Legend Chip"/>
          <p:cNvSpPr/>
          <p:nvPr/>
        </p:nvSpPr>
        <p:spPr>
          <a:xfrm>
            <a:off x="4928997" y="1977798"/>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197303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189683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Vane Air Compressor</a:t>
            </a:r>
          </a:p>
        </p:txBody>
      </p:sp>
      <p:sp>
        <p:nvSpPr>
          <p:cNvPr id="19" name="BPS Value 2"/>
          <p:cNvSpPr txBox="1"/>
          <p:nvPr/>
        </p:nvSpPr>
        <p:spPr>
          <a:xfrm>
            <a:off x="6896100" y="195874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928997" y="2526756"/>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52199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244579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Reciprocating (Piston) Air Compressor</a:t>
            </a:r>
          </a:p>
        </p:txBody>
      </p:sp>
      <p:sp>
        <p:nvSpPr>
          <p:cNvPr id="23" name="BPS Value 3"/>
          <p:cNvSpPr txBox="1"/>
          <p:nvPr/>
        </p:nvSpPr>
        <p:spPr>
          <a:xfrm>
            <a:off x="6896100" y="250770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3373283"/>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336852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329232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Centrifugal Air Compressor</a:t>
            </a:r>
          </a:p>
        </p:txBody>
      </p:sp>
      <p:sp>
        <p:nvSpPr>
          <p:cNvPr id="27" name="BPS Value 4"/>
          <p:cNvSpPr txBox="1"/>
          <p:nvPr/>
        </p:nvSpPr>
        <p:spPr>
          <a:xfrm>
            <a:off x="6896100" y="335423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928997" y="4461332"/>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5090922" y="445657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5233797" y="438037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Screw Air Compressor</a:t>
            </a:r>
          </a:p>
        </p:txBody>
      </p:sp>
      <p:sp>
        <p:nvSpPr>
          <p:cNvPr id="31" name="BPS Value 5"/>
          <p:cNvSpPr txBox="1"/>
          <p:nvPr/>
        </p:nvSpPr>
        <p:spPr>
          <a:xfrm>
            <a:off x="6896100" y="444228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2" name="FMI Legend Chip"/>
          <p:cNvSpPr/>
          <p:nvPr/>
        </p:nvSpPr>
        <p:spPr>
          <a:xfrm>
            <a:off x="4928997" y="5633746"/>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562898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5233797" y="555278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Scroll Air Compressor</a:t>
            </a:r>
          </a:p>
        </p:txBody>
      </p:sp>
      <p:sp>
        <p:nvSpPr>
          <p:cNvPr id="35" name="BPS Value 6"/>
          <p:cNvSpPr txBox="1"/>
          <p:nvPr/>
        </p:nvSpPr>
        <p:spPr>
          <a:xfrm>
            <a:off x="6896100" y="561469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Rounded Rectangle 35"/>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Global Read-out, By Technology</a:t>
            </a:r>
          </a:p>
        </p:txBody>
      </p:sp>
      <p:sp>
        <p:nvSpPr>
          <p:cNvPr id="38" name="Rectangle 37"/>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Rectangle 3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2" name="Picture 41" descr="lock.png"/>
          <p:cNvPicPr>
            <a:picLocks noChangeAspect="1"/>
          </p:cNvPicPr>
          <p:nvPr/>
        </p:nvPicPr>
        <p:blipFill>
          <a:blip r:embed="rId5"/>
          <a:stretch>
            <a:fillRect/>
          </a:stretch>
        </p:blipFill>
        <p:spPr>
          <a:xfrm>
            <a:off x="2557843" y="3751325"/>
            <a:ext cx="275034" cy="400050"/>
          </a:xfrm>
          <a:prstGeom prst="rect">
            <a:avLst/>
          </a:prstGeom>
        </p:spPr>
      </p:pic>
      <p:sp>
        <p:nvSpPr>
          <p:cNvPr id="43" name="TextBox 42"/>
          <p:cNvSpPr txBox="1"/>
          <p:nvPr/>
        </p:nvSpPr>
        <p:spPr>
          <a:xfrm>
            <a:off x="7829550" y="1400175"/>
            <a:ext cx="3775087" cy="194310"/>
          </a:xfrm>
          <a:prstGeom prst="rect">
            <a:avLst/>
          </a:prstGeom>
          <a:noFill/>
        </p:spPr>
        <p:txBody>
          <a:bodyPr wrap="none" lIns="0" rIns="0" tIns="0" bIns="0">
            <a:spAutoFit/>
          </a:bodyPr>
          <a:lstStyle/>
          <a:p>
            <a:r>
              <a:rPr sz="1150" b="0">
                <a:solidFill>
                  <a:srgbClr val="2E2E2E"/>
                </a:solidFill>
                <a:latin typeface="Calibri"/>
              </a:rPr>
              <a:t>Among industrial air compressor by technology, centrifugal air</a:t>
            </a:r>
          </a:p>
        </p:txBody>
      </p:sp>
      <p:sp>
        <p:nvSpPr>
          <p:cNvPr id="44" name="TextBox 43"/>
          <p:cNvSpPr txBox="1"/>
          <p:nvPr/>
        </p:nvSpPr>
        <p:spPr>
          <a:xfrm>
            <a:off x="7829550" y="1575435"/>
            <a:ext cx="3888030" cy="194310"/>
          </a:xfrm>
          <a:prstGeom prst="rect">
            <a:avLst/>
          </a:prstGeom>
          <a:noFill/>
        </p:spPr>
        <p:txBody>
          <a:bodyPr wrap="none" lIns="0" rIns="0" tIns="0" bIns="0">
            <a:spAutoFit/>
          </a:bodyPr>
          <a:lstStyle/>
          <a:p>
            <a:r>
              <a:rPr sz="1150" b="0">
                <a:solidFill>
                  <a:srgbClr val="2E2E2E"/>
                </a:solidFill>
                <a:latin typeface="Calibri"/>
              </a:rPr>
              <a:t>compressor segment is expected to witness the highest CAGR of</a:t>
            </a:r>
          </a:p>
        </p:txBody>
      </p:sp>
      <p:pic>
        <p:nvPicPr>
          <p:cNvPr id="45" name="Picture 44" descr="lock.png"/>
          <p:cNvPicPr>
            <a:picLocks noChangeAspect="1"/>
          </p:cNvPicPr>
          <p:nvPr/>
        </p:nvPicPr>
        <p:blipFill>
          <a:blip r:embed="rId5"/>
          <a:stretch>
            <a:fillRect/>
          </a:stretch>
        </p:blipFill>
        <p:spPr>
          <a:xfrm>
            <a:off x="7815470" y="1740471"/>
            <a:ext cx="134549" cy="195707"/>
          </a:xfrm>
          <a:prstGeom prst="rect">
            <a:avLst/>
          </a:prstGeom>
        </p:spPr>
      </p:pic>
      <p:sp>
        <p:nvSpPr>
          <p:cNvPr id="46" name="TextBox 45"/>
          <p:cNvSpPr txBox="1"/>
          <p:nvPr/>
        </p:nvSpPr>
        <p:spPr>
          <a:xfrm>
            <a:off x="7990579" y="1750695"/>
            <a:ext cx="3847541"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technology,</a:t>
            </a:r>
          </a:p>
        </p:txBody>
      </p:sp>
      <p:sp>
        <p:nvSpPr>
          <p:cNvPr id="47" name="TextBox 46"/>
          <p:cNvSpPr txBox="1"/>
          <p:nvPr/>
        </p:nvSpPr>
        <p:spPr>
          <a:xfrm>
            <a:off x="7829550" y="1925955"/>
            <a:ext cx="3787353" cy="194310"/>
          </a:xfrm>
          <a:prstGeom prst="rect">
            <a:avLst/>
          </a:prstGeom>
          <a:noFill/>
        </p:spPr>
        <p:txBody>
          <a:bodyPr wrap="none" lIns="0" rIns="0" tIns="0" bIns="0">
            <a:spAutoFit/>
          </a:bodyPr>
          <a:lstStyle/>
          <a:p>
            <a:r>
              <a:rPr sz="1150" b="0">
                <a:solidFill>
                  <a:srgbClr val="2E2E2E"/>
                </a:solidFill>
                <a:latin typeface="Calibri"/>
              </a:rPr>
              <a:t>the scroll air compressor segment is expected to dominate the</a:t>
            </a:r>
          </a:p>
        </p:txBody>
      </p:sp>
      <p:sp>
        <p:nvSpPr>
          <p:cNvPr id="48" name="TextBox 47"/>
          <p:cNvSpPr txBox="1"/>
          <p:nvPr/>
        </p:nvSpPr>
        <p:spPr>
          <a:xfrm>
            <a:off x="7829550" y="2101215"/>
            <a:ext cx="999852" cy="194310"/>
          </a:xfrm>
          <a:prstGeom prst="rect">
            <a:avLst/>
          </a:prstGeom>
          <a:noFill/>
        </p:spPr>
        <p:txBody>
          <a:bodyPr wrap="none" lIns="0" rIns="0" tIns="0" bIns="0">
            <a:spAutoFit/>
          </a:bodyPr>
          <a:lstStyle/>
          <a:p>
            <a:r>
              <a:rPr sz="1150" b="0">
                <a:solidFill>
                  <a:srgbClr val="2E2E2E"/>
                </a:solidFill>
                <a:latin typeface="Calibri"/>
              </a:rPr>
              <a:t>market, gaining</a:t>
            </a:r>
          </a:p>
        </p:txBody>
      </p:sp>
      <p:pic>
        <p:nvPicPr>
          <p:cNvPr id="49" name="Picture 48" descr="lock.png"/>
          <p:cNvPicPr>
            <a:picLocks noChangeAspect="1"/>
          </p:cNvPicPr>
          <p:nvPr/>
        </p:nvPicPr>
        <p:blipFill>
          <a:blip r:embed="rId5"/>
          <a:stretch>
            <a:fillRect/>
          </a:stretch>
        </p:blipFill>
        <p:spPr>
          <a:xfrm>
            <a:off x="8778556" y="2090991"/>
            <a:ext cx="134549" cy="195707"/>
          </a:xfrm>
          <a:prstGeom prst="rect">
            <a:avLst/>
          </a:prstGeom>
        </p:spPr>
      </p:pic>
      <p:sp>
        <p:nvSpPr>
          <p:cNvPr id="50" name="TextBox 49"/>
          <p:cNvSpPr txBox="1"/>
          <p:nvPr/>
        </p:nvSpPr>
        <p:spPr>
          <a:xfrm>
            <a:off x="895366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1" name="Picture 50" descr="lock.png"/>
          <p:cNvPicPr>
            <a:picLocks noChangeAspect="1"/>
          </p:cNvPicPr>
          <p:nvPr/>
        </p:nvPicPr>
        <p:blipFill>
          <a:blip r:embed="rId5"/>
          <a:stretch>
            <a:fillRect/>
          </a:stretch>
        </p:blipFill>
        <p:spPr>
          <a:xfrm>
            <a:off x="10348808" y="2090991"/>
            <a:ext cx="134549" cy="195707"/>
          </a:xfrm>
          <a:prstGeom prst="rect">
            <a:avLst/>
          </a:prstGeom>
        </p:spPr>
      </p:pic>
      <p:sp>
        <p:nvSpPr>
          <p:cNvPr id="52" name="TextBox 51"/>
          <p:cNvSpPr txBox="1"/>
          <p:nvPr/>
        </p:nvSpPr>
        <p:spPr>
          <a:xfrm>
            <a:off x="10523917"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3" name="TextBox 52"/>
          <p:cNvSpPr txBox="1"/>
          <p:nvPr/>
        </p:nvSpPr>
        <p:spPr>
          <a:xfrm>
            <a:off x="7829550" y="2329053"/>
            <a:ext cx="3933973" cy="194310"/>
          </a:xfrm>
          <a:prstGeom prst="rect">
            <a:avLst/>
          </a:prstGeom>
          <a:noFill/>
        </p:spPr>
        <p:txBody>
          <a:bodyPr wrap="none" lIns="0" rIns="0" tIns="0" bIns="0">
            <a:spAutoFit/>
          </a:bodyPr>
          <a:lstStyle/>
          <a:p>
            <a:r>
              <a:rPr sz="1150" b="0">
                <a:solidFill>
                  <a:srgbClr val="2E2E2E"/>
                </a:solidFill>
                <a:latin typeface="Calibri"/>
              </a:rPr>
              <a:t>The reciprocating (piston) air compressor segment is expected to</a:t>
            </a:r>
          </a:p>
        </p:txBody>
      </p:sp>
      <p:sp>
        <p:nvSpPr>
          <p:cNvPr id="54" name="TextBox 53"/>
          <p:cNvSpPr txBox="1"/>
          <p:nvPr/>
        </p:nvSpPr>
        <p:spPr>
          <a:xfrm>
            <a:off x="7829550" y="2504313"/>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55" name="Picture 54" descr="lock.png"/>
          <p:cNvPicPr>
            <a:picLocks noChangeAspect="1"/>
          </p:cNvPicPr>
          <p:nvPr/>
        </p:nvPicPr>
        <p:blipFill>
          <a:blip r:embed="rId5"/>
          <a:stretch>
            <a:fillRect/>
          </a:stretch>
        </p:blipFill>
        <p:spPr>
          <a:xfrm>
            <a:off x="8095372" y="2494089"/>
            <a:ext cx="134549" cy="195707"/>
          </a:xfrm>
          <a:prstGeom prst="rect">
            <a:avLst/>
          </a:prstGeom>
        </p:spPr>
      </p:pic>
      <p:sp>
        <p:nvSpPr>
          <p:cNvPr id="56" name="TextBox 55"/>
          <p:cNvSpPr txBox="1"/>
          <p:nvPr/>
        </p:nvSpPr>
        <p:spPr>
          <a:xfrm>
            <a:off x="8270482" y="250431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57" name="Picture 56" descr="lock.png"/>
          <p:cNvPicPr>
            <a:picLocks noChangeAspect="1"/>
          </p:cNvPicPr>
          <p:nvPr/>
        </p:nvPicPr>
        <p:blipFill>
          <a:blip r:embed="rId5"/>
          <a:stretch>
            <a:fillRect/>
          </a:stretch>
        </p:blipFill>
        <p:spPr>
          <a:xfrm>
            <a:off x="10857986" y="2494089"/>
            <a:ext cx="134549" cy="195707"/>
          </a:xfrm>
          <a:prstGeom prst="rect">
            <a:avLst/>
          </a:prstGeom>
        </p:spPr>
      </p:pic>
      <p:sp>
        <p:nvSpPr>
          <p:cNvPr id="58" name="TextBox 57"/>
          <p:cNvSpPr txBox="1"/>
          <p:nvPr/>
        </p:nvSpPr>
        <p:spPr>
          <a:xfrm>
            <a:off x="11033096" y="2504313"/>
            <a:ext cx="579673" cy="194310"/>
          </a:xfrm>
          <a:prstGeom prst="rect">
            <a:avLst/>
          </a:prstGeom>
          <a:noFill/>
        </p:spPr>
        <p:txBody>
          <a:bodyPr wrap="none" lIns="0" rIns="0" tIns="0" bIns="0">
            <a:spAutoFit/>
          </a:bodyPr>
          <a:lstStyle/>
          <a:p>
            <a:r>
              <a:rPr sz="1150" b="0">
                <a:solidFill>
                  <a:srgbClr val="2E2E2E"/>
                </a:solidFill>
                <a:latin typeface="Calibri"/>
              </a:rPr>
              <a:t>share by</a:t>
            </a:r>
          </a:p>
        </p:txBody>
      </p:sp>
      <p:sp>
        <p:nvSpPr>
          <p:cNvPr id="59" name="TextBox 58"/>
          <p:cNvSpPr txBox="1"/>
          <p:nvPr/>
        </p:nvSpPr>
        <p:spPr>
          <a:xfrm>
            <a:off x="7829550" y="2679573"/>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60" name="lockshield_9"/>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Capacity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Capacity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Capacity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Capacity,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Capacity segment categorizes the market by capacity.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19" name="Rectangle 18"/>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Up to 500 HP</a:t>
            </a:r>
          </a:p>
        </p:txBody>
      </p:sp>
      <p:sp>
        <p:nvSpPr>
          <p:cNvPr id="26" name="Rectangle 25"/>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33" name="Rectangle 32"/>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40" name="Rectangle 39"/>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47" name="Rectangle 46"/>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54" name="Rectangle 53"/>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5" name="Rectangle 54"/>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6" name="Rectangle 55"/>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7" name="Oval 56"/>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58" name="Rounded Rectangle 5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0" name="Rectangle 59"/>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2" name="Rounded Rectangle 6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4" name="Rectangle 63"/>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6" name="Rounded Rectangle 6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8" name="Rectangle 67"/>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Capacity split shows how demand is distributed across capacity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70" name="Rectangle 6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2" name="TextBox 7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73" name="Rectangle 7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5" name="Picture 74" descr="2_000_to_5_000_HP_605E5C.png"/>
          <p:cNvPicPr>
            <a:picLocks noChangeAspect="1"/>
          </p:cNvPicPr>
          <p:nvPr/>
        </p:nvPicPr>
        <p:blipFill>
          <a:blip r:embed="rId4"/>
          <a:stretch>
            <a:fillRect/>
          </a:stretch>
        </p:blipFill>
        <p:spPr>
          <a:xfrm>
            <a:off x="1273424" y="1860245"/>
            <a:ext cx="2758566" cy="265429"/>
          </a:xfrm>
          <a:prstGeom prst="rect">
            <a:avLst/>
          </a:prstGeom>
        </p:spPr>
      </p:pic>
      <p:pic>
        <p:nvPicPr>
          <p:cNvPr id="76" name="Picture 75" descr="3_197_605E5C.png"/>
          <p:cNvPicPr>
            <a:picLocks noChangeAspect="1"/>
          </p:cNvPicPr>
          <p:nvPr/>
        </p:nvPicPr>
        <p:blipFill>
          <a:blip r:embed="rId5"/>
          <a:stretch>
            <a:fillRect/>
          </a:stretch>
        </p:blipFill>
        <p:spPr>
          <a:xfrm>
            <a:off x="2054848" y="2286582"/>
            <a:ext cx="1195728" cy="361950"/>
          </a:xfrm>
          <a:prstGeom prst="rect">
            <a:avLst/>
          </a:prstGeom>
        </p:spPr>
      </p:pic>
      <p:pic>
        <p:nvPicPr>
          <p:cNvPr id="77" name="Picture 76" descr="4_453_605E5C.png"/>
          <p:cNvPicPr>
            <a:picLocks noChangeAspect="1"/>
          </p:cNvPicPr>
          <p:nvPr/>
        </p:nvPicPr>
        <p:blipFill>
          <a:blip r:embed="rId6"/>
          <a:stretch>
            <a:fillRect/>
          </a:stretch>
        </p:blipFill>
        <p:spPr>
          <a:xfrm>
            <a:off x="2054848" y="2779432"/>
            <a:ext cx="1195728" cy="361950"/>
          </a:xfrm>
          <a:prstGeom prst="rect">
            <a:avLst/>
          </a:prstGeom>
        </p:spPr>
      </p:pic>
      <p:pic>
        <p:nvPicPr>
          <p:cNvPr id="78" name="Picture 77" descr="3_4__605E5C.png"/>
          <p:cNvPicPr>
            <a:picLocks noChangeAspect="1"/>
          </p:cNvPicPr>
          <p:nvPr/>
        </p:nvPicPr>
        <p:blipFill>
          <a:blip r:embed="rId7"/>
          <a:stretch>
            <a:fillRect/>
          </a:stretch>
        </p:blipFill>
        <p:spPr>
          <a:xfrm>
            <a:off x="2161494" y="3272281"/>
            <a:ext cx="982436" cy="361950"/>
          </a:xfrm>
          <a:prstGeom prst="rect">
            <a:avLst/>
          </a:prstGeom>
        </p:spPr>
      </p:pic>
      <p:pic>
        <p:nvPicPr>
          <p:cNvPr id="79" name="Picture 78" descr="3_028_605E5C.png"/>
          <p:cNvPicPr>
            <a:picLocks noChangeAspect="1"/>
          </p:cNvPicPr>
          <p:nvPr/>
        </p:nvPicPr>
        <p:blipFill>
          <a:blip r:embed="rId8"/>
          <a:stretch>
            <a:fillRect/>
          </a:stretch>
        </p:blipFill>
        <p:spPr>
          <a:xfrm>
            <a:off x="3740773" y="2286582"/>
            <a:ext cx="1195728" cy="361950"/>
          </a:xfrm>
          <a:prstGeom prst="rect">
            <a:avLst/>
          </a:prstGeom>
        </p:spPr>
      </p:pic>
      <p:pic>
        <p:nvPicPr>
          <p:cNvPr id="80" name="Picture 79" descr="5_502_605E5C.png"/>
          <p:cNvPicPr>
            <a:picLocks noChangeAspect="1"/>
          </p:cNvPicPr>
          <p:nvPr/>
        </p:nvPicPr>
        <p:blipFill>
          <a:blip r:embed="rId9"/>
          <a:stretch>
            <a:fillRect/>
          </a:stretch>
        </p:blipFill>
        <p:spPr>
          <a:xfrm>
            <a:off x="3740773" y="2779432"/>
            <a:ext cx="1195728" cy="361950"/>
          </a:xfrm>
          <a:prstGeom prst="rect">
            <a:avLst/>
          </a:prstGeom>
        </p:spPr>
      </p:pic>
      <p:pic>
        <p:nvPicPr>
          <p:cNvPr id="81" name="Picture 80" descr="6_2__605E5C.png"/>
          <p:cNvPicPr>
            <a:picLocks noChangeAspect="1"/>
          </p:cNvPicPr>
          <p:nvPr/>
        </p:nvPicPr>
        <p:blipFill>
          <a:blip r:embed="rId10"/>
          <a:stretch>
            <a:fillRect/>
          </a:stretch>
        </p:blipFill>
        <p:spPr>
          <a:xfrm>
            <a:off x="3847419" y="3272281"/>
            <a:ext cx="982436" cy="361950"/>
          </a:xfrm>
          <a:prstGeom prst="rect">
            <a:avLst/>
          </a:prstGeom>
        </p:spPr>
      </p:pic>
      <p:pic>
        <p:nvPicPr>
          <p:cNvPr id="82" name="Picture 81" descr="20_000_HP_605E5C.png"/>
          <p:cNvPicPr>
            <a:picLocks noChangeAspect="1"/>
          </p:cNvPicPr>
          <p:nvPr/>
        </p:nvPicPr>
        <p:blipFill>
          <a:blip r:embed="rId11"/>
          <a:stretch>
            <a:fillRect/>
          </a:stretch>
        </p:blipFill>
        <p:spPr>
          <a:xfrm>
            <a:off x="5270930" y="1860245"/>
            <a:ext cx="1507258" cy="265429"/>
          </a:xfrm>
          <a:prstGeom prst="rect">
            <a:avLst/>
          </a:prstGeom>
        </p:spPr>
      </p:pic>
      <p:pic>
        <p:nvPicPr>
          <p:cNvPr id="83" name="Picture 82" descr="2_414_605E5C.png"/>
          <p:cNvPicPr>
            <a:picLocks noChangeAspect="1"/>
          </p:cNvPicPr>
          <p:nvPr/>
        </p:nvPicPr>
        <p:blipFill>
          <a:blip r:embed="rId12"/>
          <a:stretch>
            <a:fillRect/>
          </a:stretch>
        </p:blipFill>
        <p:spPr>
          <a:xfrm>
            <a:off x="5426698" y="2286582"/>
            <a:ext cx="1195728" cy="361950"/>
          </a:xfrm>
          <a:prstGeom prst="rect">
            <a:avLst/>
          </a:prstGeom>
        </p:spPr>
      </p:pic>
      <p:pic>
        <p:nvPicPr>
          <p:cNvPr id="84" name="Picture 83" descr="4_288_605E5C.png"/>
          <p:cNvPicPr>
            <a:picLocks noChangeAspect="1"/>
          </p:cNvPicPr>
          <p:nvPr/>
        </p:nvPicPr>
        <p:blipFill>
          <a:blip r:embed="rId13"/>
          <a:stretch>
            <a:fillRect/>
          </a:stretch>
        </p:blipFill>
        <p:spPr>
          <a:xfrm>
            <a:off x="5426698" y="2779432"/>
            <a:ext cx="1195728" cy="361950"/>
          </a:xfrm>
          <a:prstGeom prst="rect">
            <a:avLst/>
          </a:prstGeom>
        </p:spPr>
      </p:pic>
      <p:pic>
        <p:nvPicPr>
          <p:cNvPr id="85" name="Picture 84" descr="5_9__605E5C.png"/>
          <p:cNvPicPr>
            <a:picLocks noChangeAspect="1"/>
          </p:cNvPicPr>
          <p:nvPr/>
        </p:nvPicPr>
        <p:blipFill>
          <a:blip r:embed="rId14"/>
          <a:stretch>
            <a:fillRect/>
          </a:stretch>
        </p:blipFill>
        <p:spPr>
          <a:xfrm>
            <a:off x="5533344" y="3272281"/>
            <a:ext cx="982436" cy="361950"/>
          </a:xfrm>
          <a:prstGeom prst="rect">
            <a:avLst/>
          </a:prstGeom>
        </p:spPr>
      </p:pic>
      <p:pic>
        <p:nvPicPr>
          <p:cNvPr id="86" name="Picture 85" descr="5_000_to_12_000_HP_605E5C.png"/>
          <p:cNvPicPr>
            <a:picLocks noChangeAspect="1"/>
          </p:cNvPicPr>
          <p:nvPr/>
        </p:nvPicPr>
        <p:blipFill>
          <a:blip r:embed="rId15"/>
          <a:stretch>
            <a:fillRect/>
          </a:stretch>
        </p:blipFill>
        <p:spPr>
          <a:xfrm>
            <a:off x="6252992" y="1860245"/>
            <a:ext cx="2914979" cy="265429"/>
          </a:xfrm>
          <a:prstGeom prst="rect">
            <a:avLst/>
          </a:prstGeom>
        </p:spPr>
      </p:pic>
      <p:pic>
        <p:nvPicPr>
          <p:cNvPr id="87" name="Picture 86" descr="884_9_605E5C.png"/>
          <p:cNvPicPr>
            <a:picLocks noChangeAspect="1"/>
          </p:cNvPicPr>
          <p:nvPr/>
        </p:nvPicPr>
        <p:blipFill>
          <a:blip r:embed="rId16"/>
          <a:stretch>
            <a:fillRect/>
          </a:stretch>
        </p:blipFill>
        <p:spPr>
          <a:xfrm>
            <a:off x="7112623" y="2286582"/>
            <a:ext cx="1195728" cy="361950"/>
          </a:xfrm>
          <a:prstGeom prst="rect">
            <a:avLst/>
          </a:prstGeom>
        </p:spPr>
      </p:pic>
      <p:pic>
        <p:nvPicPr>
          <p:cNvPr id="88" name="Picture 87" descr="1_238_605E5C.png"/>
          <p:cNvPicPr>
            <a:picLocks noChangeAspect="1"/>
          </p:cNvPicPr>
          <p:nvPr/>
        </p:nvPicPr>
        <p:blipFill>
          <a:blip r:embed="rId17"/>
          <a:stretch>
            <a:fillRect/>
          </a:stretch>
        </p:blipFill>
        <p:spPr>
          <a:xfrm>
            <a:off x="7112623" y="2779432"/>
            <a:ext cx="1195728" cy="361950"/>
          </a:xfrm>
          <a:prstGeom prst="rect">
            <a:avLst/>
          </a:prstGeom>
        </p:spPr>
      </p:pic>
      <p:pic>
        <p:nvPicPr>
          <p:cNvPr id="89" name="Picture 88" descr="3_4__605E5C.png"/>
          <p:cNvPicPr>
            <a:picLocks noChangeAspect="1"/>
          </p:cNvPicPr>
          <p:nvPr/>
        </p:nvPicPr>
        <p:blipFill>
          <a:blip r:embed="rId7"/>
          <a:stretch>
            <a:fillRect/>
          </a:stretch>
        </p:blipFill>
        <p:spPr>
          <a:xfrm>
            <a:off x="7219269" y="3272281"/>
            <a:ext cx="982436" cy="361950"/>
          </a:xfrm>
          <a:prstGeom prst="rect">
            <a:avLst/>
          </a:prstGeom>
        </p:spPr>
      </p:pic>
      <p:pic>
        <p:nvPicPr>
          <p:cNvPr id="90" name="Picture 89" descr="500_to_2_000_HP_605E5C.png"/>
          <p:cNvPicPr>
            <a:picLocks noChangeAspect="1"/>
          </p:cNvPicPr>
          <p:nvPr/>
        </p:nvPicPr>
        <p:blipFill>
          <a:blip r:embed="rId18"/>
          <a:stretch>
            <a:fillRect/>
          </a:stretch>
        </p:blipFill>
        <p:spPr>
          <a:xfrm>
            <a:off x="8173538" y="1860245"/>
            <a:ext cx="2445739" cy="265429"/>
          </a:xfrm>
          <a:prstGeom prst="rect">
            <a:avLst/>
          </a:prstGeom>
        </p:spPr>
      </p:pic>
      <p:pic>
        <p:nvPicPr>
          <p:cNvPr id="91" name="Picture 90" descr="852_7_605E5C.png"/>
          <p:cNvPicPr>
            <a:picLocks noChangeAspect="1"/>
          </p:cNvPicPr>
          <p:nvPr/>
        </p:nvPicPr>
        <p:blipFill>
          <a:blip r:embed="rId19"/>
          <a:stretch>
            <a:fillRect/>
          </a:stretch>
        </p:blipFill>
        <p:spPr>
          <a:xfrm>
            <a:off x="8798548" y="2286582"/>
            <a:ext cx="1195728" cy="361950"/>
          </a:xfrm>
          <a:prstGeom prst="rect">
            <a:avLst/>
          </a:prstGeom>
        </p:spPr>
      </p:pic>
      <p:pic>
        <p:nvPicPr>
          <p:cNvPr id="92" name="Picture 91" descr="1_379_605E5C.png"/>
          <p:cNvPicPr>
            <a:picLocks noChangeAspect="1"/>
          </p:cNvPicPr>
          <p:nvPr/>
        </p:nvPicPr>
        <p:blipFill>
          <a:blip r:embed="rId20"/>
          <a:stretch>
            <a:fillRect/>
          </a:stretch>
        </p:blipFill>
        <p:spPr>
          <a:xfrm>
            <a:off x="8798548" y="2779432"/>
            <a:ext cx="1195728" cy="361950"/>
          </a:xfrm>
          <a:prstGeom prst="rect">
            <a:avLst/>
          </a:prstGeom>
        </p:spPr>
      </p:pic>
      <p:pic>
        <p:nvPicPr>
          <p:cNvPr id="93" name="Picture 92" descr="4_9__605E5C.png"/>
          <p:cNvPicPr>
            <a:picLocks noChangeAspect="1"/>
          </p:cNvPicPr>
          <p:nvPr/>
        </p:nvPicPr>
        <p:blipFill>
          <a:blip r:embed="rId21"/>
          <a:stretch>
            <a:fillRect/>
          </a:stretch>
        </p:blipFill>
        <p:spPr>
          <a:xfrm>
            <a:off x="8905194" y="3272281"/>
            <a:ext cx="982436" cy="361950"/>
          </a:xfrm>
          <a:prstGeom prst="rect">
            <a:avLst/>
          </a:prstGeom>
        </p:spPr>
      </p:pic>
      <p:pic>
        <p:nvPicPr>
          <p:cNvPr id="94" name="Picture 93" descr="12_000_to_20_000_HP_605E5C.png"/>
          <p:cNvPicPr>
            <a:picLocks noChangeAspect="1"/>
          </p:cNvPicPr>
          <p:nvPr/>
        </p:nvPicPr>
        <p:blipFill>
          <a:blip r:embed="rId22"/>
          <a:stretch>
            <a:fillRect/>
          </a:stretch>
        </p:blipFill>
        <p:spPr>
          <a:xfrm>
            <a:off x="9546635" y="1860245"/>
            <a:ext cx="3071393" cy="265429"/>
          </a:xfrm>
          <a:prstGeom prst="rect">
            <a:avLst/>
          </a:prstGeom>
        </p:spPr>
      </p:pic>
      <p:pic>
        <p:nvPicPr>
          <p:cNvPr id="95" name="Picture 94" descr="523_1_605E5C.png"/>
          <p:cNvPicPr>
            <a:picLocks noChangeAspect="1"/>
          </p:cNvPicPr>
          <p:nvPr/>
        </p:nvPicPr>
        <p:blipFill>
          <a:blip r:embed="rId23"/>
          <a:stretch>
            <a:fillRect/>
          </a:stretch>
        </p:blipFill>
        <p:spPr>
          <a:xfrm>
            <a:off x="10484473" y="2286582"/>
            <a:ext cx="1195728" cy="361950"/>
          </a:xfrm>
          <a:prstGeom prst="rect">
            <a:avLst/>
          </a:prstGeom>
        </p:spPr>
      </p:pic>
      <p:pic>
        <p:nvPicPr>
          <p:cNvPr id="96" name="Picture 95" descr="885_0_605E5C.png"/>
          <p:cNvPicPr>
            <a:picLocks noChangeAspect="1"/>
          </p:cNvPicPr>
          <p:nvPr/>
        </p:nvPicPr>
        <p:blipFill>
          <a:blip r:embed="rId24"/>
          <a:stretch>
            <a:fillRect/>
          </a:stretch>
        </p:blipFill>
        <p:spPr>
          <a:xfrm>
            <a:off x="10484473" y="2779432"/>
            <a:ext cx="1195728" cy="361950"/>
          </a:xfrm>
          <a:prstGeom prst="rect">
            <a:avLst/>
          </a:prstGeom>
        </p:spPr>
      </p:pic>
      <p:pic>
        <p:nvPicPr>
          <p:cNvPr id="97" name="Picture 96" descr="5_4__605E5C.png"/>
          <p:cNvPicPr>
            <a:picLocks noChangeAspect="1"/>
          </p:cNvPicPr>
          <p:nvPr/>
        </p:nvPicPr>
        <p:blipFill>
          <a:blip r:embed="rId25"/>
          <a:stretch>
            <a:fillRect/>
          </a:stretch>
        </p:blipFill>
        <p:spPr>
          <a:xfrm>
            <a:off x="10591119" y="3272281"/>
            <a:ext cx="982436" cy="361950"/>
          </a:xfrm>
          <a:prstGeom prst="rect">
            <a:avLst/>
          </a:prstGeom>
        </p:spPr>
      </p:pic>
      <p:pic>
        <p:nvPicPr>
          <p:cNvPr id="98" name="Picture 97" descr="lock.png"/>
          <p:cNvPicPr>
            <a:picLocks noChangeAspect="1"/>
          </p:cNvPicPr>
          <p:nvPr/>
        </p:nvPicPr>
        <p:blipFill>
          <a:blip r:embed="rId26"/>
          <a:stretch>
            <a:fillRect/>
          </a:stretch>
        </p:blipFill>
        <p:spPr>
          <a:xfrm>
            <a:off x="2568380" y="1872486"/>
            <a:ext cx="165652" cy="240948"/>
          </a:xfrm>
          <a:prstGeom prst="rect">
            <a:avLst/>
          </a:prstGeom>
        </p:spPr>
      </p:pic>
      <p:pic>
        <p:nvPicPr>
          <p:cNvPr id="99" name="Picture 98" descr="lock.png"/>
          <p:cNvPicPr>
            <a:picLocks noChangeAspect="1"/>
          </p:cNvPicPr>
          <p:nvPr/>
        </p:nvPicPr>
        <p:blipFill>
          <a:blip r:embed="rId26"/>
          <a:stretch>
            <a:fillRect/>
          </a:stretch>
        </p:blipFill>
        <p:spPr>
          <a:xfrm>
            <a:off x="2559367" y="2827057"/>
            <a:ext cx="183356" cy="266700"/>
          </a:xfrm>
          <a:prstGeom prst="rect">
            <a:avLst/>
          </a:prstGeom>
        </p:spPr>
      </p:pic>
      <p:pic>
        <p:nvPicPr>
          <p:cNvPr id="100" name="Picture 99" descr="lock.png"/>
          <p:cNvPicPr>
            <a:picLocks noChangeAspect="1"/>
          </p:cNvPicPr>
          <p:nvPr/>
        </p:nvPicPr>
        <p:blipFill>
          <a:blip r:embed="rId26"/>
          <a:stretch>
            <a:fillRect/>
          </a:stretch>
        </p:blipFill>
        <p:spPr>
          <a:xfrm>
            <a:off x="4245292" y="2827057"/>
            <a:ext cx="183356" cy="266700"/>
          </a:xfrm>
          <a:prstGeom prst="rect">
            <a:avLst/>
          </a:prstGeom>
        </p:spPr>
      </p:pic>
      <p:pic>
        <p:nvPicPr>
          <p:cNvPr id="101" name="Picture 100" descr="lock.png"/>
          <p:cNvPicPr>
            <a:picLocks noChangeAspect="1"/>
          </p:cNvPicPr>
          <p:nvPr/>
        </p:nvPicPr>
        <p:blipFill>
          <a:blip r:embed="rId26"/>
          <a:stretch>
            <a:fillRect/>
          </a:stretch>
        </p:blipFill>
        <p:spPr>
          <a:xfrm>
            <a:off x="5931217" y="2598885"/>
            <a:ext cx="183356" cy="266700"/>
          </a:xfrm>
          <a:prstGeom prst="rect">
            <a:avLst/>
          </a:prstGeom>
        </p:spPr>
      </p:pic>
      <p:pic>
        <p:nvPicPr>
          <p:cNvPr id="102" name="Picture 101" descr="lock.png"/>
          <p:cNvPicPr>
            <a:picLocks noChangeAspect="1"/>
          </p:cNvPicPr>
          <p:nvPr/>
        </p:nvPicPr>
        <p:blipFill>
          <a:blip r:embed="rId26"/>
          <a:stretch>
            <a:fillRect/>
          </a:stretch>
        </p:blipFill>
        <p:spPr>
          <a:xfrm>
            <a:off x="7617142" y="2598885"/>
            <a:ext cx="183356" cy="266700"/>
          </a:xfrm>
          <a:prstGeom prst="rect">
            <a:avLst/>
          </a:prstGeom>
        </p:spPr>
      </p:pic>
      <p:pic>
        <p:nvPicPr>
          <p:cNvPr id="103" name="Picture 102" descr="lock.png"/>
          <p:cNvPicPr>
            <a:picLocks noChangeAspect="1"/>
          </p:cNvPicPr>
          <p:nvPr/>
        </p:nvPicPr>
        <p:blipFill>
          <a:blip r:embed="rId26"/>
          <a:stretch>
            <a:fillRect/>
          </a:stretch>
        </p:blipFill>
        <p:spPr>
          <a:xfrm>
            <a:off x="9312080" y="1872486"/>
            <a:ext cx="165652" cy="240948"/>
          </a:xfrm>
          <a:prstGeom prst="rect">
            <a:avLst/>
          </a:prstGeom>
        </p:spPr>
      </p:pic>
      <p:pic>
        <p:nvPicPr>
          <p:cNvPr id="104" name="Picture 103" descr="lock.png"/>
          <p:cNvPicPr>
            <a:picLocks noChangeAspect="1"/>
          </p:cNvPicPr>
          <p:nvPr/>
        </p:nvPicPr>
        <p:blipFill>
          <a:blip r:embed="rId26"/>
          <a:stretch>
            <a:fillRect/>
          </a:stretch>
        </p:blipFill>
        <p:spPr>
          <a:xfrm>
            <a:off x="9303067" y="2827057"/>
            <a:ext cx="183356" cy="266700"/>
          </a:xfrm>
          <a:prstGeom prst="rect">
            <a:avLst/>
          </a:prstGeom>
        </p:spPr>
      </p:pic>
      <p:pic>
        <p:nvPicPr>
          <p:cNvPr id="105" name="Picture 104" descr="lock.png"/>
          <p:cNvPicPr>
            <a:picLocks noChangeAspect="1"/>
          </p:cNvPicPr>
          <p:nvPr/>
        </p:nvPicPr>
        <p:blipFill>
          <a:blip r:embed="rId26"/>
          <a:stretch>
            <a:fillRect/>
          </a:stretch>
        </p:blipFill>
        <p:spPr>
          <a:xfrm>
            <a:off x="10988992" y="2598885"/>
            <a:ext cx="183356" cy="266700"/>
          </a:xfrm>
          <a:prstGeom prst="rect">
            <a:avLst/>
          </a:prstGeom>
        </p:spPr>
      </p:pic>
      <p:sp>
        <p:nvSpPr>
          <p:cNvPr id="106" name="TextBox 105"/>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Among industrial air compressor by capacity, up to</a:t>
            </a:r>
          </a:p>
        </p:txBody>
      </p:sp>
      <p:sp>
        <p:nvSpPr>
          <p:cNvPr id="107" name="TextBox 106"/>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500 HP segment is expected to witness the highest</a:t>
            </a:r>
          </a:p>
        </p:txBody>
      </p:sp>
      <p:sp>
        <p:nvSpPr>
          <p:cNvPr id="108" name="TextBox 107"/>
          <p:cNvSpPr txBox="1"/>
          <p:nvPr/>
        </p:nvSpPr>
        <p:spPr>
          <a:xfrm>
            <a:off x="485775" y="4564717"/>
            <a:ext cx="543304" cy="186689"/>
          </a:xfrm>
          <a:prstGeom prst="rect">
            <a:avLst/>
          </a:prstGeom>
          <a:noFill/>
        </p:spPr>
        <p:txBody>
          <a:bodyPr wrap="none" lIns="0" rIns="0" tIns="0" bIns="0">
            <a:spAutoFit/>
          </a:bodyPr>
          <a:lstStyle/>
          <a:p>
            <a:r>
              <a:rPr sz="1100" b="0">
                <a:solidFill>
                  <a:srgbClr val="2E2E2E"/>
                </a:solidFill>
                <a:latin typeface="Calibri"/>
              </a:rPr>
              <a:t>CAGR of</a:t>
            </a:r>
          </a:p>
        </p:txBody>
      </p:sp>
      <p:pic>
        <p:nvPicPr>
          <p:cNvPr id="109" name="Picture 108" descr="lock.png"/>
          <p:cNvPicPr>
            <a:picLocks noChangeAspect="1"/>
          </p:cNvPicPr>
          <p:nvPr/>
        </p:nvPicPr>
        <p:blipFill>
          <a:blip r:embed="rId26"/>
          <a:stretch>
            <a:fillRect/>
          </a:stretch>
        </p:blipFill>
        <p:spPr>
          <a:xfrm>
            <a:off x="977131" y="4554938"/>
            <a:ext cx="128699" cy="187198"/>
          </a:xfrm>
          <a:prstGeom prst="rect">
            <a:avLst/>
          </a:prstGeom>
        </p:spPr>
      </p:pic>
      <p:sp>
        <p:nvSpPr>
          <p:cNvPr id="110" name="TextBox 109"/>
          <p:cNvSpPr txBox="1"/>
          <p:nvPr/>
        </p:nvSpPr>
        <p:spPr>
          <a:xfrm>
            <a:off x="1144627" y="4564717"/>
            <a:ext cx="2135956" cy="186689"/>
          </a:xfrm>
          <a:prstGeom prst="rect">
            <a:avLst/>
          </a:prstGeom>
          <a:noFill/>
        </p:spPr>
        <p:txBody>
          <a:bodyPr wrap="none" lIns="0" rIns="0" tIns="0" bIns="0">
            <a:spAutoFit/>
          </a:bodyPr>
          <a:lstStyle/>
          <a:p>
            <a:r>
              <a:rPr sz="1100" b="0">
                <a:solidFill>
                  <a:srgbClr val="2E2E2E"/>
                </a:solidFill>
                <a:latin typeface="Calibri"/>
              </a:rPr>
              <a:t>over the forecast period. In terms of</a:t>
            </a:r>
          </a:p>
        </p:txBody>
      </p:sp>
      <p:sp>
        <p:nvSpPr>
          <p:cNvPr id="111" name="TextBox 110"/>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value share by capacity, the up to 500 HP segment</a:t>
            </a:r>
          </a:p>
        </p:txBody>
      </p:sp>
      <p:sp>
        <p:nvSpPr>
          <p:cNvPr id="112" name="TextBox 111"/>
          <p:cNvSpPr txBox="1"/>
          <p:nvPr/>
        </p:nvSpPr>
        <p:spPr>
          <a:xfrm>
            <a:off x="485775" y="4899997"/>
            <a:ext cx="2585070" cy="186689"/>
          </a:xfrm>
          <a:prstGeom prst="rect">
            <a:avLst/>
          </a:prstGeom>
          <a:noFill/>
        </p:spPr>
        <p:txBody>
          <a:bodyPr wrap="none" lIns="0" rIns="0" tIns="0" bIns="0">
            <a:spAutoFit/>
          </a:bodyPr>
          <a:lstStyle/>
          <a:p>
            <a:r>
              <a:rPr sz="1100" b="0">
                <a:solidFill>
                  <a:srgbClr val="2E2E2E"/>
                </a:solidFill>
                <a:latin typeface="Calibri"/>
              </a:rPr>
              <a:t>is expected to dominate the market, gaining</a:t>
            </a:r>
          </a:p>
        </p:txBody>
      </p:sp>
      <p:pic>
        <p:nvPicPr>
          <p:cNvPr id="113" name="Picture 112" descr="lock.png"/>
          <p:cNvPicPr>
            <a:picLocks noChangeAspect="1"/>
          </p:cNvPicPr>
          <p:nvPr/>
        </p:nvPicPr>
        <p:blipFill>
          <a:blip r:embed="rId26"/>
          <a:stretch>
            <a:fillRect/>
          </a:stretch>
        </p:blipFill>
        <p:spPr>
          <a:xfrm>
            <a:off x="3018896" y="4890217"/>
            <a:ext cx="128699" cy="187198"/>
          </a:xfrm>
          <a:prstGeom prst="rect">
            <a:avLst/>
          </a:prstGeom>
        </p:spPr>
      </p:pic>
      <p:sp>
        <p:nvSpPr>
          <p:cNvPr id="114" name="TextBox 113"/>
          <p:cNvSpPr txBox="1"/>
          <p:nvPr/>
        </p:nvSpPr>
        <p:spPr>
          <a:xfrm>
            <a:off x="485775"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15" name="Picture 114" descr="lock.png"/>
          <p:cNvPicPr>
            <a:picLocks noChangeAspect="1"/>
          </p:cNvPicPr>
          <p:nvPr/>
        </p:nvPicPr>
        <p:blipFill>
          <a:blip r:embed="rId26"/>
          <a:stretch>
            <a:fillRect/>
          </a:stretch>
        </p:blipFill>
        <p:spPr>
          <a:xfrm>
            <a:off x="1820259" y="5057858"/>
            <a:ext cx="128699" cy="187198"/>
          </a:xfrm>
          <a:prstGeom prst="rect">
            <a:avLst/>
          </a:prstGeom>
        </p:spPr>
      </p:pic>
      <p:sp>
        <p:nvSpPr>
          <p:cNvPr id="116" name="TextBox 115"/>
          <p:cNvSpPr txBox="1"/>
          <p:nvPr/>
        </p:nvSpPr>
        <p:spPr>
          <a:xfrm>
            <a:off x="1987755"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7" name="TextBox 116"/>
          <p:cNvSpPr txBox="1"/>
          <p:nvPr/>
        </p:nvSpPr>
        <p:spPr>
          <a:xfrm>
            <a:off x="485775" y="5285569"/>
            <a:ext cx="2668562" cy="186689"/>
          </a:xfrm>
          <a:prstGeom prst="rect">
            <a:avLst/>
          </a:prstGeom>
          <a:noFill/>
        </p:spPr>
        <p:txBody>
          <a:bodyPr wrap="none" lIns="0" rIns="0" tIns="0" bIns="0">
            <a:spAutoFit/>
          </a:bodyPr>
          <a:lstStyle/>
          <a:p>
            <a:r>
              <a:rPr sz="1100" b="0">
                <a:solidFill>
                  <a:srgbClr val="2E2E2E"/>
                </a:solidFill>
                <a:latin typeface="Calibri"/>
              </a:rPr>
              <a:t>Up to 500 HP segment is projected to register</a:t>
            </a:r>
          </a:p>
        </p:txBody>
      </p:sp>
      <p:pic>
        <p:nvPicPr>
          <p:cNvPr id="118" name="Picture 117" descr="lock.png"/>
          <p:cNvPicPr>
            <a:picLocks noChangeAspect="1"/>
          </p:cNvPicPr>
          <p:nvPr/>
        </p:nvPicPr>
        <p:blipFill>
          <a:blip r:embed="rId26"/>
          <a:stretch>
            <a:fillRect/>
          </a:stretch>
        </p:blipFill>
        <p:spPr>
          <a:xfrm>
            <a:off x="472307" y="5443430"/>
            <a:ext cx="128699" cy="187198"/>
          </a:xfrm>
          <a:prstGeom prst="rect">
            <a:avLst/>
          </a:prstGeom>
        </p:spPr>
      </p:pic>
      <p:sp>
        <p:nvSpPr>
          <p:cNvPr id="119" name="TextBox 118"/>
          <p:cNvSpPr txBox="1"/>
          <p:nvPr/>
        </p:nvSpPr>
        <p:spPr>
          <a:xfrm>
            <a:off x="639803" y="5453209"/>
            <a:ext cx="2594619" cy="186689"/>
          </a:xfrm>
          <a:prstGeom prst="rect">
            <a:avLst/>
          </a:prstGeom>
          <a:noFill/>
        </p:spPr>
        <p:txBody>
          <a:bodyPr wrap="none" lIns="0" rIns="0" tIns="0" bIns="0">
            <a:spAutoFit/>
          </a:bodyPr>
          <a:lstStyle/>
          <a:p>
            <a:r>
              <a:rPr sz="1100" b="0">
                <a:solidFill>
                  <a:srgbClr val="2E2E2E"/>
                </a:solidFill>
                <a:latin typeface="Calibri"/>
              </a:rPr>
              <a:t>X higher value than above 2,000 to 5,000 HP</a:t>
            </a:r>
          </a:p>
        </p:txBody>
      </p:sp>
      <p:sp>
        <p:nvSpPr>
          <p:cNvPr id="120" name="TextBox 119"/>
          <p:cNvSpPr txBox="1"/>
          <p:nvPr/>
        </p:nvSpPr>
        <p:spPr>
          <a:xfrm>
            <a:off x="485775" y="562084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121" name="TextBox 120"/>
          <p:cNvSpPr txBox="1"/>
          <p:nvPr/>
        </p:nvSpPr>
        <p:spPr>
          <a:xfrm>
            <a:off x="3838575" y="4229437"/>
            <a:ext cx="1633909" cy="186689"/>
          </a:xfrm>
          <a:prstGeom prst="rect">
            <a:avLst/>
          </a:prstGeom>
          <a:noFill/>
        </p:spPr>
        <p:txBody>
          <a:bodyPr wrap="none" lIns="0" rIns="0" tIns="0" bIns="0">
            <a:spAutoFit/>
          </a:bodyPr>
          <a:lstStyle/>
          <a:p>
            <a:r>
              <a:rPr sz="1100" b="0">
                <a:solidFill>
                  <a:srgbClr val="2E2E2E"/>
                </a:solidFill>
                <a:latin typeface="Calibri"/>
              </a:rPr>
              <a:t>● Above 2,000 to 5,000 HP:</a:t>
            </a:r>
          </a:p>
        </p:txBody>
      </p:sp>
      <p:pic>
        <p:nvPicPr>
          <p:cNvPr id="122" name="Picture 121" descr="lock.png"/>
          <p:cNvPicPr>
            <a:picLocks noChangeAspect="1"/>
          </p:cNvPicPr>
          <p:nvPr/>
        </p:nvPicPr>
        <p:blipFill>
          <a:blip r:embed="rId26"/>
          <a:stretch>
            <a:fillRect/>
          </a:stretch>
        </p:blipFill>
        <p:spPr>
          <a:xfrm>
            <a:off x="5420536" y="4219658"/>
            <a:ext cx="128699" cy="187198"/>
          </a:xfrm>
          <a:prstGeom prst="rect">
            <a:avLst/>
          </a:prstGeom>
        </p:spPr>
      </p:pic>
      <p:sp>
        <p:nvSpPr>
          <p:cNvPr id="123" name="TextBox 122"/>
          <p:cNvSpPr txBox="1"/>
          <p:nvPr/>
        </p:nvSpPr>
        <p:spPr>
          <a:xfrm>
            <a:off x="558803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4" name="Picture 123" descr="lock.png"/>
          <p:cNvPicPr>
            <a:picLocks noChangeAspect="1"/>
          </p:cNvPicPr>
          <p:nvPr/>
        </p:nvPicPr>
        <p:blipFill>
          <a:blip r:embed="rId26"/>
          <a:stretch>
            <a:fillRect/>
          </a:stretch>
        </p:blipFill>
        <p:spPr>
          <a:xfrm>
            <a:off x="6447482" y="4219658"/>
            <a:ext cx="128699" cy="187198"/>
          </a:xfrm>
          <a:prstGeom prst="rect">
            <a:avLst/>
          </a:prstGeom>
        </p:spPr>
      </p:pic>
      <p:sp>
        <p:nvSpPr>
          <p:cNvPr id="125" name="TextBox 124"/>
          <p:cNvSpPr txBox="1"/>
          <p:nvPr/>
        </p:nvSpPr>
        <p:spPr>
          <a:xfrm>
            <a:off x="6614978"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26" name="TextBox 125"/>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27" name="TextBox 126"/>
          <p:cNvSpPr txBox="1"/>
          <p:nvPr/>
        </p:nvSpPr>
        <p:spPr>
          <a:xfrm>
            <a:off x="3838575" y="4615009"/>
            <a:ext cx="980430" cy="186689"/>
          </a:xfrm>
          <a:prstGeom prst="rect">
            <a:avLst/>
          </a:prstGeom>
          <a:noFill/>
        </p:spPr>
        <p:txBody>
          <a:bodyPr wrap="none" lIns="0" rIns="0" tIns="0" bIns="0">
            <a:spAutoFit/>
          </a:bodyPr>
          <a:lstStyle/>
          <a:p>
            <a:r>
              <a:rPr sz="1100" b="0">
                <a:solidFill>
                  <a:srgbClr val="2E2E2E"/>
                </a:solidFill>
                <a:latin typeface="Calibri"/>
              </a:rPr>
              <a:t>● Up to 500 HP:</a:t>
            </a:r>
          </a:p>
        </p:txBody>
      </p:sp>
      <p:pic>
        <p:nvPicPr>
          <p:cNvPr id="128" name="Picture 127" descr="lock.png"/>
          <p:cNvPicPr>
            <a:picLocks noChangeAspect="1"/>
          </p:cNvPicPr>
          <p:nvPr/>
        </p:nvPicPr>
        <p:blipFill>
          <a:blip r:embed="rId26"/>
          <a:stretch>
            <a:fillRect/>
          </a:stretch>
        </p:blipFill>
        <p:spPr>
          <a:xfrm>
            <a:off x="4767056" y="4605230"/>
            <a:ext cx="128699" cy="187198"/>
          </a:xfrm>
          <a:prstGeom prst="rect">
            <a:avLst/>
          </a:prstGeom>
        </p:spPr>
      </p:pic>
      <p:sp>
        <p:nvSpPr>
          <p:cNvPr id="129" name="TextBox 128"/>
          <p:cNvSpPr txBox="1"/>
          <p:nvPr/>
        </p:nvSpPr>
        <p:spPr>
          <a:xfrm>
            <a:off x="4934552"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0" name="Picture 129" descr="lock.png"/>
          <p:cNvPicPr>
            <a:picLocks noChangeAspect="1"/>
          </p:cNvPicPr>
          <p:nvPr/>
        </p:nvPicPr>
        <p:blipFill>
          <a:blip r:embed="rId26"/>
          <a:stretch>
            <a:fillRect/>
          </a:stretch>
        </p:blipFill>
        <p:spPr>
          <a:xfrm>
            <a:off x="5794002" y="4605230"/>
            <a:ext cx="128699" cy="187198"/>
          </a:xfrm>
          <a:prstGeom prst="rect">
            <a:avLst/>
          </a:prstGeom>
        </p:spPr>
      </p:pic>
      <p:sp>
        <p:nvSpPr>
          <p:cNvPr id="131" name="TextBox 130"/>
          <p:cNvSpPr txBox="1"/>
          <p:nvPr/>
        </p:nvSpPr>
        <p:spPr>
          <a:xfrm>
            <a:off x="5961498" y="461500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2" name="TextBox 131"/>
          <p:cNvSpPr txBox="1"/>
          <p:nvPr/>
        </p:nvSpPr>
        <p:spPr>
          <a:xfrm>
            <a:off x="3838575" y="4832941"/>
            <a:ext cx="1202258" cy="186689"/>
          </a:xfrm>
          <a:prstGeom prst="rect">
            <a:avLst/>
          </a:prstGeom>
          <a:noFill/>
        </p:spPr>
        <p:txBody>
          <a:bodyPr wrap="none" lIns="0" rIns="0" tIns="0" bIns="0">
            <a:spAutoFit/>
          </a:bodyPr>
          <a:lstStyle/>
          <a:p>
            <a:r>
              <a:rPr sz="1100" b="0">
                <a:solidFill>
                  <a:srgbClr val="2E2E2E"/>
                </a:solidFill>
                <a:latin typeface="Calibri"/>
              </a:rPr>
              <a:t>● Above 20,000 HP:</a:t>
            </a:r>
          </a:p>
        </p:txBody>
      </p:sp>
      <p:pic>
        <p:nvPicPr>
          <p:cNvPr id="133" name="Picture 132" descr="lock.png"/>
          <p:cNvPicPr>
            <a:picLocks noChangeAspect="1"/>
          </p:cNvPicPr>
          <p:nvPr/>
        </p:nvPicPr>
        <p:blipFill>
          <a:blip r:embed="rId26"/>
          <a:stretch>
            <a:fillRect/>
          </a:stretch>
        </p:blipFill>
        <p:spPr>
          <a:xfrm>
            <a:off x="4988884" y="4823162"/>
            <a:ext cx="128699" cy="187198"/>
          </a:xfrm>
          <a:prstGeom prst="rect">
            <a:avLst/>
          </a:prstGeom>
        </p:spPr>
      </p:pic>
      <p:sp>
        <p:nvSpPr>
          <p:cNvPr id="134" name="TextBox 133"/>
          <p:cNvSpPr txBox="1"/>
          <p:nvPr/>
        </p:nvSpPr>
        <p:spPr>
          <a:xfrm>
            <a:off x="5156380"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5" name="Picture 134" descr="lock.png"/>
          <p:cNvPicPr>
            <a:picLocks noChangeAspect="1"/>
          </p:cNvPicPr>
          <p:nvPr/>
        </p:nvPicPr>
        <p:blipFill>
          <a:blip r:embed="rId26"/>
          <a:stretch>
            <a:fillRect/>
          </a:stretch>
        </p:blipFill>
        <p:spPr>
          <a:xfrm>
            <a:off x="6015831" y="4823162"/>
            <a:ext cx="128699" cy="187198"/>
          </a:xfrm>
          <a:prstGeom prst="rect">
            <a:avLst/>
          </a:prstGeom>
        </p:spPr>
      </p:pic>
      <p:sp>
        <p:nvSpPr>
          <p:cNvPr id="136" name="TextBox 135"/>
          <p:cNvSpPr txBox="1"/>
          <p:nvPr/>
        </p:nvSpPr>
        <p:spPr>
          <a:xfrm>
            <a:off x="6183326" y="483294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7" name="TextBox 136"/>
          <p:cNvSpPr txBox="1"/>
          <p:nvPr/>
        </p:nvSpPr>
        <p:spPr>
          <a:xfrm>
            <a:off x="3838575" y="5050872"/>
            <a:ext cx="1704850" cy="186689"/>
          </a:xfrm>
          <a:prstGeom prst="rect">
            <a:avLst/>
          </a:prstGeom>
          <a:noFill/>
        </p:spPr>
        <p:txBody>
          <a:bodyPr wrap="none" lIns="0" rIns="0" tIns="0" bIns="0">
            <a:spAutoFit/>
          </a:bodyPr>
          <a:lstStyle/>
          <a:p>
            <a:r>
              <a:rPr sz="1100" b="0">
                <a:solidFill>
                  <a:srgbClr val="2E2E2E"/>
                </a:solidFill>
                <a:latin typeface="Calibri"/>
              </a:rPr>
              <a:t>● Above 5,000 to 12,000 HP:</a:t>
            </a:r>
          </a:p>
        </p:txBody>
      </p:sp>
      <p:pic>
        <p:nvPicPr>
          <p:cNvPr id="138" name="Picture 137" descr="lock.png"/>
          <p:cNvPicPr>
            <a:picLocks noChangeAspect="1"/>
          </p:cNvPicPr>
          <p:nvPr/>
        </p:nvPicPr>
        <p:blipFill>
          <a:blip r:embed="rId26"/>
          <a:stretch>
            <a:fillRect/>
          </a:stretch>
        </p:blipFill>
        <p:spPr>
          <a:xfrm>
            <a:off x="5491477" y="5041093"/>
            <a:ext cx="128699" cy="187198"/>
          </a:xfrm>
          <a:prstGeom prst="rect">
            <a:avLst/>
          </a:prstGeom>
        </p:spPr>
      </p:pic>
      <p:sp>
        <p:nvSpPr>
          <p:cNvPr id="139" name="TextBox 138"/>
          <p:cNvSpPr txBox="1"/>
          <p:nvPr/>
        </p:nvSpPr>
        <p:spPr>
          <a:xfrm>
            <a:off x="5658973"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0" name="Picture 139" descr="lock.png"/>
          <p:cNvPicPr>
            <a:picLocks noChangeAspect="1"/>
          </p:cNvPicPr>
          <p:nvPr/>
        </p:nvPicPr>
        <p:blipFill>
          <a:blip r:embed="rId26"/>
          <a:stretch>
            <a:fillRect/>
          </a:stretch>
        </p:blipFill>
        <p:spPr>
          <a:xfrm>
            <a:off x="6518423" y="5041093"/>
            <a:ext cx="128699" cy="187198"/>
          </a:xfrm>
          <a:prstGeom prst="rect">
            <a:avLst/>
          </a:prstGeom>
        </p:spPr>
      </p:pic>
      <p:sp>
        <p:nvSpPr>
          <p:cNvPr id="141" name="TextBox 140"/>
          <p:cNvSpPr txBox="1"/>
          <p:nvPr/>
        </p:nvSpPr>
        <p:spPr>
          <a:xfrm>
            <a:off x="6685919" y="5050872"/>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42" name="TextBox 141"/>
          <p:cNvSpPr txBox="1"/>
          <p:nvPr/>
        </p:nvSpPr>
        <p:spPr>
          <a:xfrm>
            <a:off x="3838575" y="5218513"/>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43" name="TextBox 142"/>
          <p:cNvSpPr txBox="1"/>
          <p:nvPr/>
        </p:nvSpPr>
        <p:spPr>
          <a:xfrm>
            <a:off x="3838575" y="5436445"/>
            <a:ext cx="1528043" cy="186689"/>
          </a:xfrm>
          <a:prstGeom prst="rect">
            <a:avLst/>
          </a:prstGeom>
          <a:noFill/>
        </p:spPr>
        <p:txBody>
          <a:bodyPr wrap="none" lIns="0" rIns="0" tIns="0" bIns="0">
            <a:spAutoFit/>
          </a:bodyPr>
          <a:lstStyle/>
          <a:p>
            <a:r>
              <a:rPr sz="1100" b="0">
                <a:solidFill>
                  <a:srgbClr val="2E2E2E"/>
                </a:solidFill>
                <a:latin typeface="Calibri"/>
              </a:rPr>
              <a:t>● Above 500 to 2,000 HP:</a:t>
            </a:r>
          </a:p>
        </p:txBody>
      </p:sp>
      <p:pic>
        <p:nvPicPr>
          <p:cNvPr id="144" name="Picture 143" descr="lock.png"/>
          <p:cNvPicPr>
            <a:picLocks noChangeAspect="1"/>
          </p:cNvPicPr>
          <p:nvPr/>
        </p:nvPicPr>
        <p:blipFill>
          <a:blip r:embed="rId26"/>
          <a:stretch>
            <a:fillRect/>
          </a:stretch>
        </p:blipFill>
        <p:spPr>
          <a:xfrm>
            <a:off x="5314669" y="5426665"/>
            <a:ext cx="128699" cy="187198"/>
          </a:xfrm>
          <a:prstGeom prst="rect">
            <a:avLst/>
          </a:prstGeom>
        </p:spPr>
      </p:pic>
      <p:sp>
        <p:nvSpPr>
          <p:cNvPr id="145" name="TextBox 144"/>
          <p:cNvSpPr txBox="1"/>
          <p:nvPr/>
        </p:nvSpPr>
        <p:spPr>
          <a:xfrm>
            <a:off x="5482165" y="543644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6" name="Picture 145" descr="lock.png"/>
          <p:cNvPicPr>
            <a:picLocks noChangeAspect="1"/>
          </p:cNvPicPr>
          <p:nvPr/>
        </p:nvPicPr>
        <p:blipFill>
          <a:blip r:embed="rId26"/>
          <a:stretch>
            <a:fillRect/>
          </a:stretch>
        </p:blipFill>
        <p:spPr>
          <a:xfrm>
            <a:off x="6341615" y="5426665"/>
            <a:ext cx="128699" cy="187198"/>
          </a:xfrm>
          <a:prstGeom prst="rect">
            <a:avLst/>
          </a:prstGeom>
        </p:spPr>
      </p:pic>
      <p:sp>
        <p:nvSpPr>
          <p:cNvPr id="147" name="TextBox 146"/>
          <p:cNvSpPr txBox="1"/>
          <p:nvPr/>
        </p:nvSpPr>
        <p:spPr>
          <a:xfrm>
            <a:off x="6509111" y="543644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8" name="TextBox 147"/>
          <p:cNvSpPr txBox="1"/>
          <p:nvPr/>
        </p:nvSpPr>
        <p:spPr>
          <a:xfrm>
            <a:off x="3838575" y="5654377"/>
            <a:ext cx="1775792" cy="186689"/>
          </a:xfrm>
          <a:prstGeom prst="rect">
            <a:avLst/>
          </a:prstGeom>
          <a:noFill/>
        </p:spPr>
        <p:txBody>
          <a:bodyPr wrap="none" lIns="0" rIns="0" tIns="0" bIns="0">
            <a:spAutoFit/>
          </a:bodyPr>
          <a:lstStyle/>
          <a:p>
            <a:r>
              <a:rPr sz="1100" b="0">
                <a:solidFill>
                  <a:srgbClr val="2E2E2E"/>
                </a:solidFill>
                <a:latin typeface="Calibri"/>
              </a:rPr>
              <a:t>● Above 12,000 to 20,000 HP:</a:t>
            </a:r>
          </a:p>
        </p:txBody>
      </p:sp>
      <p:pic>
        <p:nvPicPr>
          <p:cNvPr id="149" name="Picture 148" descr="lock.png"/>
          <p:cNvPicPr>
            <a:picLocks noChangeAspect="1"/>
          </p:cNvPicPr>
          <p:nvPr/>
        </p:nvPicPr>
        <p:blipFill>
          <a:blip r:embed="rId26"/>
          <a:stretch>
            <a:fillRect/>
          </a:stretch>
        </p:blipFill>
        <p:spPr>
          <a:xfrm>
            <a:off x="5562418" y="5644597"/>
            <a:ext cx="128699" cy="187198"/>
          </a:xfrm>
          <a:prstGeom prst="rect">
            <a:avLst/>
          </a:prstGeom>
        </p:spPr>
      </p:pic>
      <p:sp>
        <p:nvSpPr>
          <p:cNvPr id="150" name="TextBox 149"/>
          <p:cNvSpPr txBox="1"/>
          <p:nvPr/>
        </p:nvSpPr>
        <p:spPr>
          <a:xfrm>
            <a:off x="5729914" y="565437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1" name="Picture 150" descr="lock.png"/>
          <p:cNvPicPr>
            <a:picLocks noChangeAspect="1"/>
          </p:cNvPicPr>
          <p:nvPr/>
        </p:nvPicPr>
        <p:blipFill>
          <a:blip r:embed="rId26"/>
          <a:stretch>
            <a:fillRect/>
          </a:stretch>
        </p:blipFill>
        <p:spPr>
          <a:xfrm>
            <a:off x="6589365" y="5644597"/>
            <a:ext cx="128699" cy="187198"/>
          </a:xfrm>
          <a:prstGeom prst="rect">
            <a:avLst/>
          </a:prstGeom>
        </p:spPr>
      </p:pic>
      <p:sp>
        <p:nvSpPr>
          <p:cNvPr id="152" name="TextBox 151"/>
          <p:cNvSpPr txBox="1"/>
          <p:nvPr/>
        </p:nvSpPr>
        <p:spPr>
          <a:xfrm>
            <a:off x="6756860" y="5654377"/>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53" name="TextBox 152"/>
          <p:cNvSpPr txBox="1"/>
          <p:nvPr/>
        </p:nvSpPr>
        <p:spPr>
          <a:xfrm>
            <a:off x="3838575" y="5822017"/>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54" name="TextBox 153"/>
          <p:cNvSpPr txBox="1"/>
          <p:nvPr/>
        </p:nvSpPr>
        <p:spPr>
          <a:xfrm>
            <a:off x="8524875" y="5842641"/>
            <a:ext cx="2916187" cy="194310"/>
          </a:xfrm>
          <a:prstGeom prst="rect">
            <a:avLst/>
          </a:prstGeom>
          <a:noFill/>
        </p:spPr>
        <p:txBody>
          <a:bodyPr wrap="none" lIns="0" rIns="0" tIns="0" bIns="0">
            <a:spAutoFit/>
          </a:bodyPr>
          <a:lstStyle/>
          <a:p>
            <a:r>
              <a:rPr sz="1150" b="1">
                <a:solidFill>
                  <a:srgbClr val="0B2E4A"/>
                </a:solidFill>
                <a:latin typeface="Calibri"/>
              </a:rPr>
              <a:t>The Capacity segment is projected to grow at a</a:t>
            </a:r>
          </a:p>
        </p:txBody>
      </p:sp>
      <p:sp>
        <p:nvSpPr>
          <p:cNvPr id="155" name="TextBox 154"/>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56" name="Picture 155" descr="lock.png"/>
          <p:cNvPicPr>
            <a:picLocks noChangeAspect="1"/>
          </p:cNvPicPr>
          <p:nvPr/>
        </p:nvPicPr>
        <p:blipFill>
          <a:blip r:embed="rId26"/>
          <a:stretch>
            <a:fillRect/>
          </a:stretch>
        </p:blipFill>
        <p:spPr>
          <a:xfrm>
            <a:off x="9048826" y="6007677"/>
            <a:ext cx="134549" cy="195707"/>
          </a:xfrm>
          <a:prstGeom prst="rect">
            <a:avLst/>
          </a:prstGeom>
        </p:spPr>
      </p:pic>
      <p:sp>
        <p:nvSpPr>
          <p:cNvPr id="157" name="TextBox 156"/>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Capacity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Capacity mix within each region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Capacity mix within each region (share of 2036 value) · row label = region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Capacity · Bubble size represents 2036 value</a:t>
            </a:r>
          </a:p>
        </p:txBody>
      </p:sp>
      <p:graphicFrame>
        <p:nvGraphicFramePr>
          <p:cNvPr id="12" name="Chart 11"/>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677650" cy="186689"/>
          </a:xfrm>
          <a:prstGeom prst="rect">
            <a:avLst/>
          </a:prstGeom>
          <a:noFill/>
        </p:spPr>
        <p:txBody>
          <a:bodyPr wrap="none" lIns="0" rIns="0" tIns="0" bIns="0">
            <a:spAutoFit/>
          </a:bodyPr>
          <a:lstStyle/>
          <a:p>
            <a:r>
              <a:rPr sz="1100" b="0">
                <a:solidFill>
                  <a:srgbClr val="2E2E2E"/>
                </a:solidFill>
                <a:latin typeface="Calibri"/>
              </a:rPr>
              <a:t>Up to 500 HP followed by above 20,000 HP are expected to be the two most attractive capacity segments in the global industrial air compressor market in terms of value over the forecast period. Up to 500</a:t>
            </a:r>
          </a:p>
        </p:txBody>
      </p:sp>
      <p:sp>
        <p:nvSpPr>
          <p:cNvPr id="18" name="TextBox 17"/>
          <p:cNvSpPr txBox="1"/>
          <p:nvPr/>
        </p:nvSpPr>
        <p:spPr>
          <a:xfrm>
            <a:off x="257175" y="5861685"/>
            <a:ext cx="2829255" cy="186689"/>
          </a:xfrm>
          <a:prstGeom prst="rect">
            <a:avLst/>
          </a:prstGeom>
          <a:noFill/>
        </p:spPr>
        <p:txBody>
          <a:bodyPr wrap="none" lIns="0" rIns="0" tIns="0" bIns="0">
            <a:spAutoFit/>
          </a:bodyPr>
          <a:lstStyle/>
          <a:p>
            <a:r>
              <a:rPr sz="1100" b="0">
                <a:solidFill>
                  <a:srgbClr val="2E2E2E"/>
                </a:solidFill>
                <a:latin typeface="Calibri"/>
              </a:rPr>
              <a:t>HP and above 20,000 HP exhibit a CAGR index of</a:t>
            </a:r>
          </a:p>
        </p:txBody>
      </p:sp>
      <p:pic>
        <p:nvPicPr>
          <p:cNvPr id="19" name="Picture 18" descr="lock.png"/>
          <p:cNvPicPr>
            <a:picLocks noChangeAspect="1"/>
          </p:cNvPicPr>
          <p:nvPr/>
        </p:nvPicPr>
        <p:blipFill>
          <a:blip r:embed="rId6"/>
          <a:stretch>
            <a:fillRect/>
          </a:stretch>
        </p:blipFill>
        <p:spPr>
          <a:xfrm>
            <a:off x="3034481" y="5851905"/>
            <a:ext cx="128699" cy="187198"/>
          </a:xfrm>
          <a:prstGeom prst="rect">
            <a:avLst/>
          </a:prstGeom>
        </p:spPr>
      </p:pic>
      <p:sp>
        <p:nvSpPr>
          <p:cNvPr id="20" name="TextBox 19"/>
          <p:cNvSpPr txBox="1"/>
          <p:nvPr/>
        </p:nvSpPr>
        <p:spPr>
          <a:xfrm>
            <a:off x="3201977"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3439871" y="5851905"/>
            <a:ext cx="128699" cy="187198"/>
          </a:xfrm>
          <a:prstGeom prst="rect">
            <a:avLst/>
          </a:prstGeom>
        </p:spPr>
      </p:pic>
      <p:sp>
        <p:nvSpPr>
          <p:cNvPr id="22" name="TextBox 21"/>
          <p:cNvSpPr txBox="1"/>
          <p:nvPr/>
        </p:nvSpPr>
        <p:spPr>
          <a:xfrm>
            <a:off x="3607367"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5216341" y="5851905"/>
            <a:ext cx="128699" cy="187198"/>
          </a:xfrm>
          <a:prstGeom prst="rect">
            <a:avLst/>
          </a:prstGeom>
        </p:spPr>
      </p:pic>
      <p:sp>
        <p:nvSpPr>
          <p:cNvPr id="24" name="TextBox 23"/>
          <p:cNvSpPr txBox="1"/>
          <p:nvPr/>
        </p:nvSpPr>
        <p:spPr>
          <a:xfrm>
            <a:off x="5383837"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5621731" y="5851905"/>
            <a:ext cx="128699" cy="187198"/>
          </a:xfrm>
          <a:prstGeom prst="rect">
            <a:avLst/>
          </a:prstGeom>
        </p:spPr>
      </p:pic>
      <p:sp>
        <p:nvSpPr>
          <p:cNvPr id="26" name="TextBox 25"/>
          <p:cNvSpPr txBox="1"/>
          <p:nvPr/>
        </p:nvSpPr>
        <p:spPr>
          <a:xfrm>
            <a:off x="5789227"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8343631" y="5851905"/>
            <a:ext cx="128699" cy="187198"/>
          </a:xfrm>
          <a:prstGeom prst="rect">
            <a:avLst/>
          </a:prstGeom>
        </p:spPr>
      </p:pic>
      <p:sp>
        <p:nvSpPr>
          <p:cNvPr id="28" name="TextBox 27"/>
          <p:cNvSpPr txBox="1"/>
          <p:nvPr/>
        </p:nvSpPr>
        <p:spPr>
          <a:xfrm>
            <a:off x="8511127" y="5861685"/>
            <a:ext cx="2488753" cy="186689"/>
          </a:xfrm>
          <a:prstGeom prst="rect">
            <a:avLst/>
          </a:prstGeom>
          <a:noFill/>
        </p:spPr>
        <p:txBody>
          <a:bodyPr wrap="none" lIns="0" rIns="0" tIns="0" bIns="0">
            <a:spAutoFit/>
          </a:bodyPr>
          <a:lstStyle/>
          <a:p>
            <a:r>
              <a:rPr sz="1100" b="0">
                <a:solidFill>
                  <a:srgbClr val="2E2E2E"/>
                </a:solidFill>
                <a:latin typeface="Calibri"/>
              </a:rPr>
              <a:t>. The above 5,000 to 12,000 HP segment is</a:t>
            </a:r>
          </a:p>
        </p:txBody>
      </p:sp>
      <p:sp>
        <p:nvSpPr>
          <p:cNvPr id="29" name="TextBox 28"/>
          <p:cNvSpPr txBox="1"/>
          <p:nvPr/>
        </p:nvSpPr>
        <p:spPr>
          <a:xfrm>
            <a:off x="257175" y="6029325"/>
            <a:ext cx="11421333" cy="186689"/>
          </a:xfrm>
          <a:prstGeom prst="rect">
            <a:avLst/>
          </a:prstGeom>
          <a:noFill/>
        </p:spPr>
        <p:txBody>
          <a:bodyPr wrap="none" lIns="0" rIns="0" tIns="0" bIns="0">
            <a:spAutoFit/>
          </a:bodyPr>
          <a:lstStyle/>
          <a:p>
            <a:r>
              <a:rPr sz="1100" b="0">
                <a:solidFill>
                  <a:srgbClr val="2E2E2E"/>
                </a:solidFill>
                <a:latin typeface="Calibri"/>
              </a:rPr>
              <a:t>expected to be less attractive as compared to other segments over the forecast period, owing to its lower CAGR and incremental opportunity. Bubbles right of the CAGR-Index line grow faster than the</a:t>
            </a:r>
          </a:p>
        </p:txBody>
      </p:sp>
      <p:sp>
        <p:nvSpPr>
          <p:cNvPr id="30" name="TextBox 29"/>
          <p:cNvSpPr txBox="1"/>
          <p:nvPr/>
        </p:nvSpPr>
        <p:spPr>
          <a:xfrm>
            <a:off x="257175" y="6196965"/>
            <a:ext cx="1084932" cy="186689"/>
          </a:xfrm>
          <a:prstGeom prst="rect">
            <a:avLst/>
          </a:prstGeom>
          <a:noFill/>
        </p:spPr>
        <p:txBody>
          <a:bodyPr wrap="none" lIns="0" rIns="0" tIns="0" bIns="0">
            <a:spAutoFit/>
          </a:bodyPr>
          <a:lstStyle/>
          <a:p>
            <a:r>
              <a:rPr sz="1100" b="0">
                <a:solidFill>
                  <a:srgbClr val="2E2E2E"/>
                </a:solidFill>
                <a:latin typeface="Calibri"/>
              </a:rPr>
              <a:t>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Capacity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Capacity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Up to 500 HP</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Above 500 to 2,000 HP</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Above 2,000 to 5,000 HP</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Above 5,000 to 12,000 HP</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094826" y="2237234"/>
            <a:ext cx="263506" cy="383281"/>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Capacity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Capacity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Above 12,000 to 20,000 HP</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Above 20,000 HP</a:t>
            </a:r>
          </a:p>
        </p:txBody>
      </p:sp>
      <p:graphicFrame>
        <p:nvGraphicFramePr>
          <p:cNvPr id="12" name="Chart 11"/>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Summary of Global Absolute $ Opportunity Analysis, By Capacity</a:t>
            </a:r>
          </a:p>
        </p:txBody>
      </p:sp>
      <p:sp>
        <p:nvSpPr>
          <p:cNvPr id="15" name="Rectangle 14"/>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Rectangle 1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9" name="Picture 18" descr="lock.png"/>
          <p:cNvPicPr>
            <a:picLocks noChangeAspect="1"/>
          </p:cNvPicPr>
          <p:nvPr/>
        </p:nvPicPr>
        <p:blipFill>
          <a:blip r:embed="rId6"/>
          <a:stretch>
            <a:fillRect/>
          </a:stretch>
        </p:blipFill>
        <p:spPr>
          <a:xfrm>
            <a:off x="3100230" y="2330679"/>
            <a:ext cx="252890" cy="367840"/>
          </a:xfrm>
          <a:prstGeom prst="rect">
            <a:avLst/>
          </a:prstGeom>
        </p:spPr>
      </p:pic>
      <p:pic>
        <p:nvPicPr>
          <p:cNvPr id="20" name="Picture 19" descr="lock.png"/>
          <p:cNvPicPr>
            <a:picLocks noChangeAspect="1"/>
          </p:cNvPicPr>
          <p:nvPr/>
        </p:nvPicPr>
        <p:blipFill>
          <a:blip r:embed="rId6"/>
          <a:stretch>
            <a:fillRect/>
          </a:stretch>
        </p:blipFill>
        <p:spPr>
          <a:xfrm>
            <a:off x="3094826" y="5123309"/>
            <a:ext cx="263506" cy="383281"/>
          </a:xfrm>
          <a:prstGeom prst="rect">
            <a:avLst/>
          </a:prstGeom>
        </p:spPr>
      </p:pic>
      <p:sp>
        <p:nvSpPr>
          <p:cNvPr id="21" name="TextBox 20"/>
          <p:cNvSpPr txBox="1"/>
          <p:nvPr/>
        </p:nvSpPr>
        <p:spPr>
          <a:xfrm>
            <a:off x="6305550" y="1400175"/>
            <a:ext cx="4269124" cy="194310"/>
          </a:xfrm>
          <a:prstGeom prst="rect">
            <a:avLst/>
          </a:prstGeom>
          <a:noFill/>
        </p:spPr>
        <p:txBody>
          <a:bodyPr wrap="none" lIns="0" rIns="0" tIns="0" bIns="0">
            <a:spAutoFit/>
          </a:bodyPr>
          <a:lstStyle/>
          <a:p>
            <a:r>
              <a:rPr sz="1150" b="0">
                <a:solidFill>
                  <a:srgbClr val="2E2E2E"/>
                </a:solidFill>
                <a:latin typeface="Calibri"/>
              </a:rPr>
              <a:t>By 2036, up to 500 HP segment is anticipated to witness an increase of</a:t>
            </a:r>
          </a:p>
        </p:txBody>
      </p:sp>
      <p:pic>
        <p:nvPicPr>
          <p:cNvPr id="22" name="Picture 21" descr="lock.png"/>
          <p:cNvPicPr>
            <a:picLocks noChangeAspect="1"/>
          </p:cNvPicPr>
          <p:nvPr/>
        </p:nvPicPr>
        <p:blipFill>
          <a:blip r:embed="rId6"/>
          <a:stretch>
            <a:fillRect/>
          </a:stretch>
        </p:blipFill>
        <p:spPr>
          <a:xfrm>
            <a:off x="10523828" y="1389951"/>
            <a:ext cx="134549" cy="195707"/>
          </a:xfrm>
          <a:prstGeom prst="rect">
            <a:avLst/>
          </a:prstGeom>
        </p:spPr>
      </p:pic>
      <p:sp>
        <p:nvSpPr>
          <p:cNvPr id="23" name="TextBox 22"/>
          <p:cNvSpPr txBox="1"/>
          <p:nvPr/>
        </p:nvSpPr>
        <p:spPr>
          <a:xfrm>
            <a:off x="10698938" y="1400175"/>
            <a:ext cx="1181844" cy="194310"/>
          </a:xfrm>
          <a:prstGeom prst="rect">
            <a:avLst/>
          </a:prstGeom>
          <a:noFill/>
        </p:spPr>
        <p:txBody>
          <a:bodyPr wrap="none" lIns="0" rIns="0" tIns="0" bIns="0">
            <a:spAutoFit/>
          </a:bodyPr>
          <a:lstStyle/>
          <a:p>
            <a:r>
              <a:rPr sz="1150" b="0">
                <a:solidFill>
                  <a:srgbClr val="2E2E2E"/>
                </a:solidFill>
                <a:latin typeface="Calibri"/>
              </a:rPr>
              <a:t>X in terms of value</a:t>
            </a:r>
          </a:p>
        </p:txBody>
      </p:sp>
      <p:sp>
        <p:nvSpPr>
          <p:cNvPr id="24" name="TextBox 23"/>
          <p:cNvSpPr txBox="1"/>
          <p:nvPr/>
        </p:nvSpPr>
        <p:spPr>
          <a:xfrm>
            <a:off x="6305550" y="1575435"/>
            <a:ext cx="5166555" cy="194310"/>
          </a:xfrm>
          <a:prstGeom prst="rect">
            <a:avLst/>
          </a:prstGeom>
          <a:noFill/>
        </p:spPr>
        <p:txBody>
          <a:bodyPr wrap="none" lIns="0" rIns="0" tIns="0" bIns="0">
            <a:spAutoFit/>
          </a:bodyPr>
          <a:lstStyle/>
          <a:p>
            <a:r>
              <a:rPr sz="1150" b="0">
                <a:solidFill>
                  <a:srgbClr val="2E2E2E"/>
                </a:solidFill>
                <a:latin typeface="Calibri"/>
              </a:rPr>
              <a:t>as compared to 2026. The up to 500 HP segment is expected to create an incremental</a:t>
            </a:r>
          </a:p>
        </p:txBody>
      </p:sp>
      <p:sp>
        <p:nvSpPr>
          <p:cNvPr id="25" name="TextBox 24"/>
          <p:cNvSpPr txBox="1"/>
          <p:nvPr/>
        </p:nvSpPr>
        <p:spPr>
          <a:xfrm>
            <a:off x="6305550" y="1750695"/>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26" name="Picture 25" descr="lock.png"/>
          <p:cNvPicPr>
            <a:picLocks noChangeAspect="1"/>
          </p:cNvPicPr>
          <p:nvPr/>
        </p:nvPicPr>
        <p:blipFill>
          <a:blip r:embed="rId6"/>
          <a:stretch>
            <a:fillRect/>
          </a:stretch>
        </p:blipFill>
        <p:spPr>
          <a:xfrm>
            <a:off x="7463647" y="1740471"/>
            <a:ext cx="134549" cy="195707"/>
          </a:xfrm>
          <a:prstGeom prst="rect">
            <a:avLst/>
          </a:prstGeom>
        </p:spPr>
      </p:pic>
      <p:sp>
        <p:nvSpPr>
          <p:cNvPr id="27" name="TextBox 26"/>
          <p:cNvSpPr txBox="1"/>
          <p:nvPr/>
        </p:nvSpPr>
        <p:spPr>
          <a:xfrm>
            <a:off x="7638756" y="1750695"/>
            <a:ext cx="3932832"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 2026 to</a:t>
            </a:r>
          </a:p>
        </p:txBody>
      </p:sp>
      <p:sp>
        <p:nvSpPr>
          <p:cNvPr id="28" name="TextBox 27"/>
          <p:cNvSpPr txBox="1"/>
          <p:nvPr/>
        </p:nvSpPr>
        <p:spPr>
          <a:xfrm>
            <a:off x="6305550" y="1925955"/>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29" name="TextBox 28"/>
          <p:cNvSpPr txBox="1"/>
          <p:nvPr/>
        </p:nvSpPr>
        <p:spPr>
          <a:xfrm>
            <a:off x="6305550" y="2153793"/>
            <a:ext cx="5245286" cy="194310"/>
          </a:xfrm>
          <a:prstGeom prst="rect">
            <a:avLst/>
          </a:prstGeom>
          <a:noFill/>
        </p:spPr>
        <p:txBody>
          <a:bodyPr wrap="none" lIns="0" rIns="0" tIns="0" bIns="0">
            <a:spAutoFit/>
          </a:bodyPr>
          <a:lstStyle/>
          <a:p>
            <a:r>
              <a:rPr sz="1150" b="0">
                <a:solidFill>
                  <a:srgbClr val="2E2E2E"/>
                </a:solidFill>
                <a:latin typeface="Calibri"/>
              </a:rPr>
              <a:t>The above 20,000 HP segment is expected to create an incremental opportunity of US$</a:t>
            </a:r>
          </a:p>
        </p:txBody>
      </p:sp>
      <p:pic>
        <p:nvPicPr>
          <p:cNvPr id="30" name="Picture 29" descr="lock.png"/>
          <p:cNvPicPr>
            <a:picLocks noChangeAspect="1"/>
          </p:cNvPicPr>
          <p:nvPr/>
        </p:nvPicPr>
        <p:blipFill>
          <a:blip r:embed="rId6"/>
          <a:stretch>
            <a:fillRect/>
          </a:stretch>
        </p:blipFill>
        <p:spPr>
          <a:xfrm>
            <a:off x="6291470" y="2318829"/>
            <a:ext cx="134549" cy="195707"/>
          </a:xfrm>
          <a:prstGeom prst="rect">
            <a:avLst/>
          </a:prstGeom>
        </p:spPr>
      </p:pic>
      <p:sp>
        <p:nvSpPr>
          <p:cNvPr id="31" name="TextBox 30"/>
          <p:cNvSpPr txBox="1"/>
          <p:nvPr/>
        </p:nvSpPr>
        <p:spPr>
          <a:xfrm>
            <a:off x="6466579" y="2329053"/>
            <a:ext cx="5314887"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 2026 to 2036. The above 2,000</a:t>
            </a:r>
          </a:p>
        </p:txBody>
      </p:sp>
      <p:sp>
        <p:nvSpPr>
          <p:cNvPr id="32" name="TextBox 31"/>
          <p:cNvSpPr txBox="1"/>
          <p:nvPr/>
        </p:nvSpPr>
        <p:spPr>
          <a:xfrm>
            <a:off x="6305550" y="2504313"/>
            <a:ext cx="4681053" cy="194310"/>
          </a:xfrm>
          <a:prstGeom prst="rect">
            <a:avLst/>
          </a:prstGeom>
          <a:noFill/>
        </p:spPr>
        <p:txBody>
          <a:bodyPr wrap="none" lIns="0" rIns="0" tIns="0" bIns="0">
            <a:spAutoFit/>
          </a:bodyPr>
          <a:lstStyle/>
          <a:p>
            <a:r>
              <a:rPr sz="1150" b="0">
                <a:solidFill>
                  <a:srgbClr val="2E2E2E"/>
                </a:solidFill>
                <a:latin typeface="Calibri"/>
              </a:rPr>
              <a:t>to 5,000 HP segment is expected to create an incremental opportunity of US$</a:t>
            </a:r>
          </a:p>
        </p:txBody>
      </p:sp>
      <p:pic>
        <p:nvPicPr>
          <p:cNvPr id="33" name="Picture 32" descr="lock.png"/>
          <p:cNvPicPr>
            <a:picLocks noChangeAspect="1"/>
          </p:cNvPicPr>
          <p:nvPr/>
        </p:nvPicPr>
        <p:blipFill>
          <a:blip r:embed="rId6"/>
          <a:stretch>
            <a:fillRect/>
          </a:stretch>
        </p:blipFill>
        <p:spPr>
          <a:xfrm>
            <a:off x="10935757" y="2494089"/>
            <a:ext cx="134549" cy="195707"/>
          </a:xfrm>
          <a:prstGeom prst="rect">
            <a:avLst/>
          </a:prstGeom>
        </p:spPr>
      </p:pic>
      <p:sp>
        <p:nvSpPr>
          <p:cNvPr id="34" name="TextBox 33"/>
          <p:cNvSpPr txBox="1"/>
          <p:nvPr/>
        </p:nvSpPr>
        <p:spPr>
          <a:xfrm>
            <a:off x="11110867" y="2504313"/>
            <a:ext cx="715168" cy="194310"/>
          </a:xfrm>
          <a:prstGeom prst="rect">
            <a:avLst/>
          </a:prstGeom>
          <a:noFill/>
        </p:spPr>
        <p:txBody>
          <a:bodyPr wrap="none" lIns="0" rIns="0" tIns="0" bIns="0">
            <a:spAutoFit/>
          </a:bodyPr>
          <a:lstStyle/>
          <a:p>
            <a:r>
              <a:rPr sz="1150" b="0">
                <a:solidFill>
                  <a:srgbClr val="2E2E2E"/>
                </a:solidFill>
                <a:latin typeface="Calibri"/>
              </a:rPr>
              <a:t>Mn for the</a:t>
            </a:r>
          </a:p>
        </p:txBody>
      </p:sp>
      <p:sp>
        <p:nvSpPr>
          <p:cNvPr id="35" name="TextBox 34"/>
          <p:cNvSpPr txBox="1"/>
          <p:nvPr/>
        </p:nvSpPr>
        <p:spPr>
          <a:xfrm>
            <a:off x="6305550" y="2679573"/>
            <a:ext cx="3627325" cy="194310"/>
          </a:xfrm>
          <a:prstGeom prst="rect">
            <a:avLst/>
          </a:prstGeom>
          <a:noFill/>
        </p:spPr>
        <p:txBody>
          <a:bodyPr wrap="none" lIns="0" rIns="0" tIns="0" bIns="0">
            <a:spAutoFit/>
          </a:bodyPr>
          <a:lstStyle/>
          <a:p>
            <a:r>
              <a:rPr sz="1150" b="0">
                <a:solidFill>
                  <a:srgbClr val="2E2E2E"/>
                </a:solidFill>
                <a:latin typeface="Calibri"/>
              </a:rPr>
              <a:t>overall industrial air compressor market from 2026 to 2036.</a:t>
            </a:r>
          </a:p>
        </p:txBody>
      </p:sp>
      <p:sp>
        <p:nvSpPr>
          <p:cNvPr id="36"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ockshield_12"/>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Capacity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Capacity, 2021–2036, highlighting the sub-segments driving growth</a:t>
            </a:r>
          </a:p>
        </p:txBody>
      </p:sp>
      <p:sp>
        <p:nvSpPr>
          <p:cNvPr id="7" name="Rounded Rectangle 6"/>
          <p:cNvSpPr/>
          <p:nvPr/>
        </p:nvSpPr>
        <p:spPr>
          <a:xfrm>
            <a:off x="142875" y="981075"/>
            <a:ext cx="11906250" cy="2438400"/>
          </a:xfrm>
          <a:prstGeom prst="roundRect">
            <a:avLst>
              <a:gd name="adj" fmla="val 312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Capacity (US$ Mn)</a:t>
            </a:r>
          </a:p>
        </p:txBody>
      </p:sp>
      <p:graphicFrame>
        <p:nvGraphicFramePr>
          <p:cNvPr id="9" name="Table 8"/>
          <p:cNvGraphicFramePr>
            <a:graphicFrameLocks noGrp="1"/>
          </p:cNvGraphicFramePr>
          <p:nvPr/>
        </p:nvGraphicFramePr>
        <p:xfrm>
          <a:off x="152400" y="1238250"/>
          <a:ext cx="11887200" cy="1971675"/>
        </p:xfrm>
        <a:graphic>
          <a:graphicData uri="http://schemas.openxmlformats.org/drawingml/2006/table">
            <a:tbl>
              <a:tblPr>
                <a:tableStyleId>{5C22544A-7EE6-4342-B048-85BDC9FD1C3A}</a:tableStyleId>
              </a:tblPr>
              <a:tblGrid>
                <a:gridCol w="1840081"/>
                <a:gridCol w="591007"/>
                <a:gridCol w="591007"/>
                <a:gridCol w="591007"/>
                <a:gridCol w="591007"/>
                <a:gridCol w="591007"/>
                <a:gridCol w="591007"/>
                <a:gridCol w="591007"/>
                <a:gridCol w="591007"/>
                <a:gridCol w="591007"/>
                <a:gridCol w="591007"/>
                <a:gridCol w="591007"/>
                <a:gridCol w="591007"/>
                <a:gridCol w="591007"/>
                <a:gridCol w="591007"/>
                <a:gridCol w="591007"/>
                <a:gridCol w="591007"/>
                <a:gridCol w="591007"/>
              </a:tblGrid>
              <a:tr h="246126">
                <a:tc>
                  <a:txBody>
                    <a:bodyPr wrap="none"/>
                    <a:lstStyle/>
                    <a:p>
                      <a:pPr algn="l"/>
                      <a:r>
                        <a:rPr sz="1100" b="1">
                          <a:solidFill>
                            <a:srgbClr val="0E2A5C"/>
                          </a:solidFill>
                          <a:latin typeface="Calibri"/>
                        </a:rPr>
                        <a:t>Capacity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507">
                <a:tc>
                  <a:txBody>
                    <a:bodyPr wrap="none"/>
                    <a:lstStyle/>
                    <a:p>
                      <a:pPr algn="l"/>
                      <a:r>
                        <a:rPr sz="1100" b="1">
                          <a:solidFill>
                            <a:srgbClr val="2E2E2E"/>
                          </a:solidFill>
                          <a:latin typeface="Calibri"/>
                        </a:rPr>
                        <a:t>Up to 500 HP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Above 500 to 2,000 HP</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Above 2,000 to 5,000 HP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Above 5,000 to 12,000 HP</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Above 12,000 to 20,000 HP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Above 20,000 HP</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552825"/>
            <a:ext cx="11906250" cy="3076575"/>
          </a:xfrm>
          <a:prstGeom prst="roundRect">
            <a:avLst>
              <a:gd name="adj" fmla="val 247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Analysis, By Capacity</a:t>
            </a:r>
          </a:p>
        </p:txBody>
      </p:sp>
      <p:sp>
        <p:nvSpPr>
          <p:cNvPr id="13" name="Rectangle 12"/>
          <p:cNvSpPr/>
          <p:nvPr/>
        </p:nvSpPr>
        <p:spPr>
          <a:xfrm>
            <a:off x="276225" y="387667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829350" y="2080450"/>
            <a:ext cx="366712" cy="533400"/>
          </a:xfrm>
          <a:prstGeom prst="rect">
            <a:avLst/>
          </a:prstGeom>
        </p:spPr>
      </p:pic>
      <p:sp>
        <p:nvSpPr>
          <p:cNvPr id="18" name="TextBox 17"/>
          <p:cNvSpPr txBox="1"/>
          <p:nvPr/>
        </p:nvSpPr>
        <p:spPr>
          <a:xfrm>
            <a:off x="276225" y="3971925"/>
            <a:ext cx="2786397" cy="194310"/>
          </a:xfrm>
          <a:prstGeom prst="rect">
            <a:avLst/>
          </a:prstGeom>
          <a:noFill/>
        </p:spPr>
        <p:txBody>
          <a:bodyPr wrap="none" lIns="0" rIns="0" tIns="0" bIns="0">
            <a:spAutoFit/>
          </a:bodyPr>
          <a:lstStyle/>
          <a:p>
            <a:r>
              <a:rPr sz="1150" b="0">
                <a:solidFill>
                  <a:srgbClr val="2E2E2E"/>
                </a:solidFill>
                <a:latin typeface="Calibri"/>
              </a:rPr>
              <a:t>Up to 500 HP segment is projected to register</a:t>
            </a:r>
          </a:p>
        </p:txBody>
      </p:sp>
      <p:pic>
        <p:nvPicPr>
          <p:cNvPr id="19" name="Picture 18" descr="lock.png"/>
          <p:cNvPicPr>
            <a:picLocks noChangeAspect="1"/>
          </p:cNvPicPr>
          <p:nvPr/>
        </p:nvPicPr>
        <p:blipFill>
          <a:blip r:embed="rId4"/>
          <a:stretch>
            <a:fillRect/>
          </a:stretch>
        </p:blipFill>
        <p:spPr>
          <a:xfrm>
            <a:off x="3011776" y="3961701"/>
            <a:ext cx="134549" cy="195707"/>
          </a:xfrm>
          <a:prstGeom prst="rect">
            <a:avLst/>
          </a:prstGeom>
        </p:spPr>
      </p:pic>
      <p:sp>
        <p:nvSpPr>
          <p:cNvPr id="20" name="TextBox 19"/>
          <p:cNvSpPr txBox="1"/>
          <p:nvPr/>
        </p:nvSpPr>
        <p:spPr>
          <a:xfrm>
            <a:off x="3186885" y="3971925"/>
            <a:ext cx="8677746" cy="194310"/>
          </a:xfrm>
          <a:prstGeom prst="rect">
            <a:avLst/>
          </a:prstGeom>
          <a:noFill/>
        </p:spPr>
        <p:txBody>
          <a:bodyPr wrap="none" lIns="0" rIns="0" tIns="0" bIns="0">
            <a:spAutoFit/>
          </a:bodyPr>
          <a:lstStyle/>
          <a:p>
            <a:r>
              <a:rPr sz="1150" b="0">
                <a:solidFill>
                  <a:srgbClr val="2E2E2E"/>
                </a:solidFill>
                <a:latin typeface="Calibri"/>
              </a:rPr>
              <a:t>X higher value than above 2,000 to 5,000 HP segment in 2036. Among industrial air compressor by capacity, up to 500 HP segment is expected to</a:t>
            </a:r>
          </a:p>
        </p:txBody>
      </p:sp>
      <p:sp>
        <p:nvSpPr>
          <p:cNvPr id="21" name="TextBox 20"/>
          <p:cNvSpPr txBox="1"/>
          <p:nvPr/>
        </p:nvSpPr>
        <p:spPr>
          <a:xfrm>
            <a:off x="276225" y="414718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2" name="Picture 21" descr="lock.png"/>
          <p:cNvPicPr>
            <a:picLocks noChangeAspect="1"/>
          </p:cNvPicPr>
          <p:nvPr/>
        </p:nvPicPr>
        <p:blipFill>
          <a:blip r:embed="rId4"/>
          <a:stretch>
            <a:fillRect/>
          </a:stretch>
        </p:blipFill>
        <p:spPr>
          <a:xfrm>
            <a:off x="1973149" y="4136961"/>
            <a:ext cx="134549" cy="195707"/>
          </a:xfrm>
          <a:prstGeom prst="rect">
            <a:avLst/>
          </a:prstGeom>
        </p:spPr>
      </p:pic>
      <p:sp>
        <p:nvSpPr>
          <p:cNvPr id="23" name="TextBox 22"/>
          <p:cNvSpPr txBox="1"/>
          <p:nvPr/>
        </p:nvSpPr>
        <p:spPr>
          <a:xfrm>
            <a:off x="2148258"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375022"/>
            <a:ext cx="6406839" cy="194310"/>
          </a:xfrm>
          <a:prstGeom prst="rect">
            <a:avLst/>
          </a:prstGeom>
          <a:noFill/>
        </p:spPr>
        <p:txBody>
          <a:bodyPr wrap="none" lIns="0" rIns="0" tIns="0" bIns="0">
            <a:spAutoFit/>
          </a:bodyPr>
          <a:lstStyle/>
          <a:p>
            <a:r>
              <a:rPr sz="1150" b="0">
                <a:solidFill>
                  <a:srgbClr val="2E2E2E"/>
                </a:solidFill>
                <a:latin typeface="Calibri"/>
              </a:rPr>
              <a:t>In terms of value share by capacity, the up to 500 HP segment is expected to dominate the market, gaining</a:t>
            </a:r>
          </a:p>
        </p:txBody>
      </p:sp>
      <p:pic>
        <p:nvPicPr>
          <p:cNvPr id="25" name="Picture 24" descr="lock.png"/>
          <p:cNvPicPr>
            <a:picLocks noChangeAspect="1"/>
          </p:cNvPicPr>
          <p:nvPr/>
        </p:nvPicPr>
        <p:blipFill>
          <a:blip r:embed="rId4"/>
          <a:stretch>
            <a:fillRect/>
          </a:stretch>
        </p:blipFill>
        <p:spPr>
          <a:xfrm>
            <a:off x="6632218" y="4364799"/>
            <a:ext cx="134549" cy="195707"/>
          </a:xfrm>
          <a:prstGeom prst="rect">
            <a:avLst/>
          </a:prstGeom>
        </p:spPr>
      </p:pic>
      <p:sp>
        <p:nvSpPr>
          <p:cNvPr id="26" name="TextBox 25"/>
          <p:cNvSpPr txBox="1"/>
          <p:nvPr/>
        </p:nvSpPr>
        <p:spPr>
          <a:xfrm>
            <a:off x="6807328"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8202471" y="4364799"/>
            <a:ext cx="134549" cy="195707"/>
          </a:xfrm>
          <a:prstGeom prst="rect">
            <a:avLst/>
          </a:prstGeom>
        </p:spPr>
      </p:pic>
      <p:sp>
        <p:nvSpPr>
          <p:cNvPr id="28" name="TextBox 27"/>
          <p:cNvSpPr txBox="1"/>
          <p:nvPr/>
        </p:nvSpPr>
        <p:spPr>
          <a:xfrm>
            <a:off x="8377580" y="4375022"/>
            <a:ext cx="3357475" cy="194310"/>
          </a:xfrm>
          <a:prstGeom prst="rect">
            <a:avLst/>
          </a:prstGeom>
          <a:noFill/>
        </p:spPr>
        <p:txBody>
          <a:bodyPr wrap="none" lIns="0" rIns="0" tIns="0" bIns="0">
            <a:spAutoFit/>
          </a:bodyPr>
          <a:lstStyle/>
          <a:p>
            <a:r>
              <a:rPr sz="1150" b="0">
                <a:solidFill>
                  <a:srgbClr val="2E2E2E"/>
                </a:solidFill>
                <a:latin typeface="Calibri"/>
              </a:rPr>
              <a:t>share by 2036. The above 2,000 to 5,000 HP segment is</a:t>
            </a:r>
          </a:p>
        </p:txBody>
      </p:sp>
      <p:sp>
        <p:nvSpPr>
          <p:cNvPr id="29" name="TextBox 28"/>
          <p:cNvSpPr txBox="1"/>
          <p:nvPr/>
        </p:nvSpPr>
        <p:spPr>
          <a:xfrm>
            <a:off x="276225" y="4550282"/>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30" name="Picture 29" descr="lock.png"/>
          <p:cNvPicPr>
            <a:picLocks noChangeAspect="1"/>
          </p:cNvPicPr>
          <p:nvPr/>
        </p:nvPicPr>
        <p:blipFill>
          <a:blip r:embed="rId4"/>
          <a:stretch>
            <a:fillRect/>
          </a:stretch>
        </p:blipFill>
        <p:spPr>
          <a:xfrm>
            <a:off x="1280285" y="4540059"/>
            <a:ext cx="134549" cy="195707"/>
          </a:xfrm>
          <a:prstGeom prst="rect">
            <a:avLst/>
          </a:prstGeom>
        </p:spPr>
      </p:pic>
      <p:sp>
        <p:nvSpPr>
          <p:cNvPr id="31" name="TextBox 30"/>
          <p:cNvSpPr txBox="1"/>
          <p:nvPr/>
        </p:nvSpPr>
        <p:spPr>
          <a:xfrm>
            <a:off x="1455394"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4042898" y="4540059"/>
            <a:ext cx="134549" cy="195707"/>
          </a:xfrm>
          <a:prstGeom prst="rect">
            <a:avLst/>
          </a:prstGeom>
        </p:spPr>
      </p:pic>
      <p:sp>
        <p:nvSpPr>
          <p:cNvPr id="33" name="TextBox 32"/>
          <p:cNvSpPr txBox="1"/>
          <p:nvPr/>
        </p:nvSpPr>
        <p:spPr>
          <a:xfrm>
            <a:off x="4218008"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Capacity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Capacity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Capacity ·  2021 / 2026 / 2036 (US$ Mn)  ·  right axis = BPS share shift</a:t>
            </a:r>
          </a:p>
        </p:txBody>
      </p:sp>
      <p:graphicFrame>
        <p:nvGraphicFramePr>
          <p:cNvPr id="9" name="Chart 8"/>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FMI Lock Anchor"/>
          <p:cNvSpPr txBox="1"/>
          <p:nvPr/>
        </p:nvSpPr>
        <p:spPr>
          <a:xfrm>
            <a:off x="2678811" y="3932301"/>
            <a:ext cx="38100" cy="38100"/>
          </a:xfrm>
          <a:prstGeom prst="rect">
            <a:avLst/>
          </a:prstGeom>
          <a:noFill/>
        </p:spPr>
        <p:txBody>
          <a:bodyPr wrap="none">
            <a:spAutoFit/>
          </a:bodyPr>
          <a:lstStyle/>
          <a:p/>
        </p:txBody>
      </p:sp>
      <p:sp>
        <p:nvSpPr>
          <p:cNvPr id="12" name="FMI Legend Chip"/>
          <p:cNvSpPr/>
          <p:nvPr/>
        </p:nvSpPr>
        <p:spPr>
          <a:xfrm>
            <a:off x="4928997" y="1624789"/>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5090922" y="162002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54382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12,000 to 20,000 HP</a:t>
            </a:r>
          </a:p>
        </p:txBody>
      </p:sp>
      <p:sp>
        <p:nvSpPr>
          <p:cNvPr id="15" name="BPS Value 1"/>
          <p:cNvSpPr txBox="1"/>
          <p:nvPr/>
        </p:nvSpPr>
        <p:spPr>
          <a:xfrm>
            <a:off x="6896100" y="160573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FMI Legend Chip"/>
          <p:cNvSpPr/>
          <p:nvPr/>
        </p:nvSpPr>
        <p:spPr>
          <a:xfrm>
            <a:off x="4928997" y="1908165"/>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190340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182720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5,000 to 12,000 HP</a:t>
            </a:r>
          </a:p>
        </p:txBody>
      </p:sp>
      <p:sp>
        <p:nvSpPr>
          <p:cNvPr id="19" name="BPS Value 2"/>
          <p:cNvSpPr txBox="1"/>
          <p:nvPr/>
        </p:nvSpPr>
        <p:spPr>
          <a:xfrm>
            <a:off x="6896100" y="188911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2257501"/>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25273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217653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500 to 2,000 HP</a:t>
            </a:r>
          </a:p>
        </p:txBody>
      </p:sp>
      <p:sp>
        <p:nvSpPr>
          <p:cNvPr id="23" name="BPS Value 3"/>
          <p:cNvSpPr txBox="1"/>
          <p:nvPr/>
        </p:nvSpPr>
        <p:spPr>
          <a:xfrm>
            <a:off x="6896100" y="223845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3013896"/>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300913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293293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20,000 HP</a:t>
            </a:r>
          </a:p>
        </p:txBody>
      </p:sp>
      <p:sp>
        <p:nvSpPr>
          <p:cNvPr id="27" name="BPS Value 4"/>
          <p:cNvSpPr txBox="1"/>
          <p:nvPr/>
        </p:nvSpPr>
        <p:spPr>
          <a:xfrm>
            <a:off x="6896100" y="299484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928997" y="4180598"/>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417583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5233797" y="409963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2,000 to 5,000 HP</a:t>
            </a:r>
          </a:p>
        </p:txBody>
      </p:sp>
      <p:sp>
        <p:nvSpPr>
          <p:cNvPr id="31" name="BPS Value 5"/>
          <p:cNvSpPr txBox="1"/>
          <p:nvPr/>
        </p:nvSpPr>
        <p:spPr>
          <a:xfrm>
            <a:off x="6896100" y="416154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928997" y="5509313"/>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550455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5233797" y="542835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Up to 500 HP</a:t>
            </a:r>
          </a:p>
        </p:txBody>
      </p:sp>
      <p:sp>
        <p:nvSpPr>
          <p:cNvPr id="35" name="BPS Value 6"/>
          <p:cNvSpPr txBox="1"/>
          <p:nvPr/>
        </p:nvSpPr>
        <p:spPr>
          <a:xfrm>
            <a:off x="6896100" y="549026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Rounded Rectangle 35"/>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Global Read-out, By Capacity</a:t>
            </a:r>
          </a:p>
        </p:txBody>
      </p:sp>
      <p:sp>
        <p:nvSpPr>
          <p:cNvPr id="38" name="Rectangle 37"/>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Rectangle 3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2" name="Picture 41" descr="lock.png"/>
          <p:cNvPicPr>
            <a:picLocks noChangeAspect="1"/>
          </p:cNvPicPr>
          <p:nvPr/>
        </p:nvPicPr>
        <p:blipFill>
          <a:blip r:embed="rId5"/>
          <a:stretch>
            <a:fillRect/>
          </a:stretch>
        </p:blipFill>
        <p:spPr>
          <a:xfrm>
            <a:off x="2557843" y="3751325"/>
            <a:ext cx="275034" cy="400050"/>
          </a:xfrm>
          <a:prstGeom prst="rect">
            <a:avLst/>
          </a:prstGeom>
        </p:spPr>
      </p:pic>
      <p:sp>
        <p:nvSpPr>
          <p:cNvPr id="43" name="TextBox 42"/>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industrial air compressor by capacity, up to 500 HP segment</a:t>
            </a:r>
          </a:p>
        </p:txBody>
      </p:sp>
      <p:sp>
        <p:nvSpPr>
          <p:cNvPr id="44" name="TextBox 43"/>
          <p:cNvSpPr txBox="1"/>
          <p:nvPr/>
        </p:nvSpPr>
        <p:spPr>
          <a:xfrm>
            <a:off x="7829550" y="1575435"/>
            <a:ext cx="2609807" cy="194310"/>
          </a:xfrm>
          <a:prstGeom prst="rect">
            <a:avLst/>
          </a:prstGeom>
          <a:noFill/>
        </p:spPr>
        <p:txBody>
          <a:bodyPr wrap="none" lIns="0" rIns="0" tIns="0" bIns="0">
            <a:spAutoFit/>
          </a:bodyPr>
          <a:lstStyle/>
          <a:p>
            <a:r>
              <a:rPr sz="1150" b="0">
                <a:solidFill>
                  <a:srgbClr val="2E2E2E"/>
                </a:solidFill>
                <a:latin typeface="Calibri"/>
              </a:rPr>
              <a:t>is expected to witness the highest CAGR of</a:t>
            </a:r>
          </a:p>
        </p:txBody>
      </p:sp>
      <p:pic>
        <p:nvPicPr>
          <p:cNvPr id="45" name="Picture 44" descr="lock.png"/>
          <p:cNvPicPr>
            <a:picLocks noChangeAspect="1"/>
          </p:cNvPicPr>
          <p:nvPr/>
        </p:nvPicPr>
        <p:blipFill>
          <a:blip r:embed="rId5"/>
          <a:stretch>
            <a:fillRect/>
          </a:stretch>
        </p:blipFill>
        <p:spPr>
          <a:xfrm>
            <a:off x="10388511" y="1565211"/>
            <a:ext cx="134549" cy="195707"/>
          </a:xfrm>
          <a:prstGeom prst="rect">
            <a:avLst/>
          </a:prstGeom>
        </p:spPr>
      </p:pic>
      <p:sp>
        <p:nvSpPr>
          <p:cNvPr id="46" name="TextBox 45"/>
          <p:cNvSpPr txBox="1"/>
          <p:nvPr/>
        </p:nvSpPr>
        <p:spPr>
          <a:xfrm>
            <a:off x="10563620" y="157543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47" name="TextBox 46"/>
          <p:cNvSpPr txBox="1"/>
          <p:nvPr/>
        </p:nvSpPr>
        <p:spPr>
          <a:xfrm>
            <a:off x="7829550" y="1750695"/>
            <a:ext cx="3661841" cy="194310"/>
          </a:xfrm>
          <a:prstGeom prst="rect">
            <a:avLst/>
          </a:prstGeom>
          <a:noFill/>
        </p:spPr>
        <p:txBody>
          <a:bodyPr wrap="none" lIns="0" rIns="0" tIns="0" bIns="0">
            <a:spAutoFit/>
          </a:bodyPr>
          <a:lstStyle/>
          <a:p>
            <a:r>
              <a:rPr sz="1150" b="0">
                <a:solidFill>
                  <a:srgbClr val="2E2E2E"/>
                </a:solidFill>
                <a:latin typeface="Calibri"/>
              </a:rPr>
              <a:t>period. In terms of value share by capacity, the up to 500 HP</a:t>
            </a:r>
          </a:p>
        </p:txBody>
      </p:sp>
      <p:sp>
        <p:nvSpPr>
          <p:cNvPr id="48" name="TextBox 47"/>
          <p:cNvSpPr txBox="1"/>
          <p:nvPr/>
        </p:nvSpPr>
        <p:spPr>
          <a:xfrm>
            <a:off x="7829550" y="1925955"/>
            <a:ext cx="3245941" cy="194310"/>
          </a:xfrm>
          <a:prstGeom prst="rect">
            <a:avLst/>
          </a:prstGeom>
          <a:noFill/>
        </p:spPr>
        <p:txBody>
          <a:bodyPr wrap="none" lIns="0" rIns="0" tIns="0" bIns="0">
            <a:spAutoFit/>
          </a:bodyPr>
          <a:lstStyle/>
          <a:p>
            <a:r>
              <a:rPr sz="1150" b="0">
                <a:solidFill>
                  <a:srgbClr val="2E2E2E"/>
                </a:solidFill>
                <a:latin typeface="Calibri"/>
              </a:rPr>
              <a:t>segment is expected to dominate the market, gaining</a:t>
            </a:r>
          </a:p>
        </p:txBody>
      </p:sp>
      <p:pic>
        <p:nvPicPr>
          <p:cNvPr id="49" name="Picture 48" descr="lock.png"/>
          <p:cNvPicPr>
            <a:picLocks noChangeAspect="1"/>
          </p:cNvPicPr>
          <p:nvPr/>
        </p:nvPicPr>
        <p:blipFill>
          <a:blip r:embed="rId5"/>
          <a:stretch>
            <a:fillRect/>
          </a:stretch>
        </p:blipFill>
        <p:spPr>
          <a:xfrm>
            <a:off x="11024645" y="1915731"/>
            <a:ext cx="134549" cy="195707"/>
          </a:xfrm>
          <a:prstGeom prst="rect">
            <a:avLst/>
          </a:prstGeom>
        </p:spPr>
      </p:pic>
      <p:sp>
        <p:nvSpPr>
          <p:cNvPr id="50" name="TextBox 49"/>
          <p:cNvSpPr txBox="1"/>
          <p:nvPr/>
        </p:nvSpPr>
        <p:spPr>
          <a:xfrm>
            <a:off x="11199754" y="192595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51" name="TextBox 50"/>
          <p:cNvSpPr txBox="1"/>
          <p:nvPr/>
        </p:nvSpPr>
        <p:spPr>
          <a:xfrm>
            <a:off x="7829550" y="210121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52" name="Picture 51" descr="lock.png"/>
          <p:cNvPicPr>
            <a:picLocks noChangeAspect="1"/>
          </p:cNvPicPr>
          <p:nvPr/>
        </p:nvPicPr>
        <p:blipFill>
          <a:blip r:embed="rId5"/>
          <a:stretch>
            <a:fillRect/>
          </a:stretch>
        </p:blipFill>
        <p:spPr>
          <a:xfrm>
            <a:off x="8712947" y="2090991"/>
            <a:ext cx="134549" cy="195707"/>
          </a:xfrm>
          <a:prstGeom prst="rect">
            <a:avLst/>
          </a:prstGeom>
        </p:spPr>
      </p:pic>
      <p:sp>
        <p:nvSpPr>
          <p:cNvPr id="53" name="TextBox 52"/>
          <p:cNvSpPr txBox="1"/>
          <p:nvPr/>
        </p:nvSpPr>
        <p:spPr>
          <a:xfrm>
            <a:off x="8888056"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4" name="TextBox 53"/>
          <p:cNvSpPr txBox="1"/>
          <p:nvPr/>
        </p:nvSpPr>
        <p:spPr>
          <a:xfrm>
            <a:off x="7829550" y="2329053"/>
            <a:ext cx="3466157" cy="194310"/>
          </a:xfrm>
          <a:prstGeom prst="rect">
            <a:avLst/>
          </a:prstGeom>
          <a:noFill/>
        </p:spPr>
        <p:txBody>
          <a:bodyPr wrap="none" lIns="0" rIns="0" tIns="0" bIns="0">
            <a:spAutoFit/>
          </a:bodyPr>
          <a:lstStyle/>
          <a:p>
            <a:r>
              <a:rPr sz="1150" b="0">
                <a:solidFill>
                  <a:srgbClr val="2E2E2E"/>
                </a:solidFill>
                <a:latin typeface="Calibri"/>
              </a:rPr>
              <a:t>The above 2,000 to 5,000 HP segment is expected to lose</a:t>
            </a:r>
          </a:p>
        </p:txBody>
      </p:sp>
      <p:pic>
        <p:nvPicPr>
          <p:cNvPr id="55" name="Picture 54" descr="lock.png"/>
          <p:cNvPicPr>
            <a:picLocks noChangeAspect="1"/>
          </p:cNvPicPr>
          <p:nvPr/>
        </p:nvPicPr>
        <p:blipFill>
          <a:blip r:embed="rId5"/>
          <a:stretch>
            <a:fillRect/>
          </a:stretch>
        </p:blipFill>
        <p:spPr>
          <a:xfrm>
            <a:off x="11244861" y="2318829"/>
            <a:ext cx="134549" cy="195707"/>
          </a:xfrm>
          <a:prstGeom prst="rect">
            <a:avLst/>
          </a:prstGeom>
        </p:spPr>
      </p:pic>
      <p:sp>
        <p:nvSpPr>
          <p:cNvPr id="56" name="TextBox 55"/>
          <p:cNvSpPr txBox="1"/>
          <p:nvPr/>
        </p:nvSpPr>
        <p:spPr>
          <a:xfrm>
            <a:off x="11419970" y="232905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57" name="TextBox 56"/>
          <p:cNvSpPr txBox="1"/>
          <p:nvPr/>
        </p:nvSpPr>
        <p:spPr>
          <a:xfrm>
            <a:off x="7829550" y="250431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58" name="Picture 57" descr="lock.png"/>
          <p:cNvPicPr>
            <a:picLocks noChangeAspect="1"/>
          </p:cNvPicPr>
          <p:nvPr/>
        </p:nvPicPr>
        <p:blipFill>
          <a:blip r:embed="rId5"/>
          <a:stretch>
            <a:fillRect/>
          </a:stretch>
        </p:blipFill>
        <p:spPr>
          <a:xfrm>
            <a:off x="10161752" y="2494089"/>
            <a:ext cx="134549" cy="195707"/>
          </a:xfrm>
          <a:prstGeom prst="rect">
            <a:avLst/>
          </a:prstGeom>
        </p:spPr>
      </p:pic>
      <p:sp>
        <p:nvSpPr>
          <p:cNvPr id="59" name="TextBox 58"/>
          <p:cNvSpPr txBox="1"/>
          <p:nvPr/>
        </p:nvSpPr>
        <p:spPr>
          <a:xfrm>
            <a:off x="10336861"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0" name="lockshield_9"/>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Compression Stage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Compression Stage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Compression Stage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Compression Stage,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Compression Stage segment categorizes the market by compression stage.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Two-Stage</a:t>
            </a:r>
          </a:p>
        </p:txBody>
      </p:sp>
      <p:sp>
        <p:nvSpPr>
          <p:cNvPr id="19" name="Rectangle 18"/>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Multistage</a:t>
            </a:r>
          </a:p>
        </p:txBody>
      </p:sp>
      <p:sp>
        <p:nvSpPr>
          <p:cNvPr id="26" name="Rectangle 25"/>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Single-Stage</a:t>
            </a:r>
          </a:p>
        </p:txBody>
      </p:sp>
      <p:sp>
        <p:nvSpPr>
          <p:cNvPr id="33" name="Rectangle 32"/>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9" name="Rectangle 38"/>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1" name="Rounded Rectangle 4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3" name="Rectangle 42"/>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5" name="Rounded Rectangle 4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7" name="Rectangle 46"/>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Compression Stage split shows how demand is distributed across compression stage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49" name="Rectangle 4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1" name="TextBox 5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52" name="Rectangle 5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54" name="Picture 53" descr="6_776_605E5C.png"/>
          <p:cNvPicPr>
            <a:picLocks noChangeAspect="1"/>
          </p:cNvPicPr>
          <p:nvPr/>
        </p:nvPicPr>
        <p:blipFill>
          <a:blip r:embed="rId4"/>
          <a:stretch>
            <a:fillRect/>
          </a:stretch>
        </p:blipFill>
        <p:spPr>
          <a:xfrm>
            <a:off x="2897811" y="2286582"/>
            <a:ext cx="1195728" cy="361950"/>
          </a:xfrm>
          <a:prstGeom prst="rect">
            <a:avLst/>
          </a:prstGeom>
        </p:spPr>
      </p:pic>
      <p:pic>
        <p:nvPicPr>
          <p:cNvPr id="55" name="Picture 54" descr="11_267_605E5C.png"/>
          <p:cNvPicPr>
            <a:picLocks noChangeAspect="1"/>
          </p:cNvPicPr>
          <p:nvPr/>
        </p:nvPicPr>
        <p:blipFill>
          <a:blip r:embed="rId5"/>
          <a:stretch>
            <a:fillRect/>
          </a:stretch>
        </p:blipFill>
        <p:spPr>
          <a:xfrm>
            <a:off x="2791165" y="2779432"/>
            <a:ext cx="1409020" cy="361950"/>
          </a:xfrm>
          <a:prstGeom prst="rect">
            <a:avLst/>
          </a:prstGeom>
        </p:spPr>
      </p:pic>
      <p:pic>
        <p:nvPicPr>
          <p:cNvPr id="56" name="Picture 55" descr="5_2__605E5C.png"/>
          <p:cNvPicPr>
            <a:picLocks noChangeAspect="1"/>
          </p:cNvPicPr>
          <p:nvPr/>
        </p:nvPicPr>
        <p:blipFill>
          <a:blip r:embed="rId6"/>
          <a:stretch>
            <a:fillRect/>
          </a:stretch>
        </p:blipFill>
        <p:spPr>
          <a:xfrm>
            <a:off x="3004457" y="3272281"/>
            <a:ext cx="982436" cy="361950"/>
          </a:xfrm>
          <a:prstGeom prst="rect">
            <a:avLst/>
          </a:prstGeom>
        </p:spPr>
      </p:pic>
      <p:pic>
        <p:nvPicPr>
          <p:cNvPr id="57" name="Picture 56" descr="2_253_605E5C.png"/>
          <p:cNvPicPr>
            <a:picLocks noChangeAspect="1"/>
          </p:cNvPicPr>
          <p:nvPr/>
        </p:nvPicPr>
        <p:blipFill>
          <a:blip r:embed="rId7"/>
          <a:stretch>
            <a:fillRect/>
          </a:stretch>
        </p:blipFill>
        <p:spPr>
          <a:xfrm>
            <a:off x="6269661" y="2286582"/>
            <a:ext cx="1195728" cy="361950"/>
          </a:xfrm>
          <a:prstGeom prst="rect">
            <a:avLst/>
          </a:prstGeom>
        </p:spPr>
      </p:pic>
      <p:pic>
        <p:nvPicPr>
          <p:cNvPr id="58" name="Picture 57" descr="3_329_605E5C.png"/>
          <p:cNvPicPr>
            <a:picLocks noChangeAspect="1"/>
          </p:cNvPicPr>
          <p:nvPr/>
        </p:nvPicPr>
        <p:blipFill>
          <a:blip r:embed="rId8"/>
          <a:stretch>
            <a:fillRect/>
          </a:stretch>
        </p:blipFill>
        <p:spPr>
          <a:xfrm>
            <a:off x="6269661" y="2779432"/>
            <a:ext cx="1195728" cy="361950"/>
          </a:xfrm>
          <a:prstGeom prst="rect">
            <a:avLst/>
          </a:prstGeom>
        </p:spPr>
      </p:pic>
      <p:pic>
        <p:nvPicPr>
          <p:cNvPr id="59" name="Picture 58" descr="4_0__605E5C.png"/>
          <p:cNvPicPr>
            <a:picLocks noChangeAspect="1"/>
          </p:cNvPicPr>
          <p:nvPr/>
        </p:nvPicPr>
        <p:blipFill>
          <a:blip r:embed="rId9"/>
          <a:stretch>
            <a:fillRect/>
          </a:stretch>
        </p:blipFill>
        <p:spPr>
          <a:xfrm>
            <a:off x="6376307" y="3272281"/>
            <a:ext cx="982436" cy="361950"/>
          </a:xfrm>
          <a:prstGeom prst="rect">
            <a:avLst/>
          </a:prstGeom>
        </p:spPr>
      </p:pic>
      <p:pic>
        <p:nvPicPr>
          <p:cNvPr id="60" name="Picture 59" descr="1_870_605E5C.png"/>
          <p:cNvPicPr>
            <a:picLocks noChangeAspect="1"/>
          </p:cNvPicPr>
          <p:nvPr/>
        </p:nvPicPr>
        <p:blipFill>
          <a:blip r:embed="rId10"/>
          <a:stretch>
            <a:fillRect/>
          </a:stretch>
        </p:blipFill>
        <p:spPr>
          <a:xfrm>
            <a:off x="9641511" y="2286582"/>
            <a:ext cx="1195728" cy="361950"/>
          </a:xfrm>
          <a:prstGeom prst="rect">
            <a:avLst/>
          </a:prstGeom>
        </p:spPr>
      </p:pic>
      <p:pic>
        <p:nvPicPr>
          <p:cNvPr id="61" name="Picture 60" descr="3_149_605E5C.png"/>
          <p:cNvPicPr>
            <a:picLocks noChangeAspect="1"/>
          </p:cNvPicPr>
          <p:nvPr/>
        </p:nvPicPr>
        <p:blipFill>
          <a:blip r:embed="rId11"/>
          <a:stretch>
            <a:fillRect/>
          </a:stretch>
        </p:blipFill>
        <p:spPr>
          <a:xfrm>
            <a:off x="9641511" y="2779432"/>
            <a:ext cx="1195728" cy="361950"/>
          </a:xfrm>
          <a:prstGeom prst="rect">
            <a:avLst/>
          </a:prstGeom>
        </p:spPr>
      </p:pic>
      <p:pic>
        <p:nvPicPr>
          <p:cNvPr id="62" name="Picture 61" descr="5_3__605E5C.png"/>
          <p:cNvPicPr>
            <a:picLocks noChangeAspect="1"/>
          </p:cNvPicPr>
          <p:nvPr/>
        </p:nvPicPr>
        <p:blipFill>
          <a:blip r:embed="rId12"/>
          <a:stretch>
            <a:fillRect/>
          </a:stretch>
        </p:blipFill>
        <p:spPr>
          <a:xfrm>
            <a:off x="9748157" y="3272281"/>
            <a:ext cx="982436" cy="361950"/>
          </a:xfrm>
          <a:prstGeom prst="rect">
            <a:avLst/>
          </a:prstGeom>
        </p:spPr>
      </p:pic>
      <p:pic>
        <p:nvPicPr>
          <p:cNvPr id="63" name="Picture 62" descr="lock.png"/>
          <p:cNvPicPr>
            <a:picLocks noChangeAspect="1"/>
          </p:cNvPicPr>
          <p:nvPr/>
        </p:nvPicPr>
        <p:blipFill>
          <a:blip r:embed="rId13"/>
          <a:stretch>
            <a:fillRect/>
          </a:stretch>
        </p:blipFill>
        <p:spPr>
          <a:xfrm>
            <a:off x="3402330" y="2827057"/>
            <a:ext cx="183356" cy="266700"/>
          </a:xfrm>
          <a:prstGeom prst="rect">
            <a:avLst/>
          </a:prstGeom>
        </p:spPr>
      </p:pic>
      <p:pic>
        <p:nvPicPr>
          <p:cNvPr id="64" name="Picture 63" descr="lock.png"/>
          <p:cNvPicPr>
            <a:picLocks noChangeAspect="1"/>
          </p:cNvPicPr>
          <p:nvPr/>
        </p:nvPicPr>
        <p:blipFill>
          <a:blip r:embed="rId13"/>
          <a:stretch>
            <a:fillRect/>
          </a:stretch>
        </p:blipFill>
        <p:spPr>
          <a:xfrm>
            <a:off x="6774180" y="2827057"/>
            <a:ext cx="183356" cy="266700"/>
          </a:xfrm>
          <a:prstGeom prst="rect">
            <a:avLst/>
          </a:prstGeom>
        </p:spPr>
      </p:pic>
      <p:pic>
        <p:nvPicPr>
          <p:cNvPr id="65" name="Picture 64" descr="lock.png"/>
          <p:cNvPicPr>
            <a:picLocks noChangeAspect="1"/>
          </p:cNvPicPr>
          <p:nvPr/>
        </p:nvPicPr>
        <p:blipFill>
          <a:blip r:embed="rId13"/>
          <a:stretch>
            <a:fillRect/>
          </a:stretch>
        </p:blipFill>
        <p:spPr>
          <a:xfrm>
            <a:off x="10146030" y="2827057"/>
            <a:ext cx="183356" cy="266700"/>
          </a:xfrm>
          <a:prstGeom prst="rect">
            <a:avLst/>
          </a:prstGeom>
        </p:spPr>
      </p:pic>
      <p:sp>
        <p:nvSpPr>
          <p:cNvPr id="66" name="TextBox 65"/>
          <p:cNvSpPr txBox="1"/>
          <p:nvPr/>
        </p:nvSpPr>
        <p:spPr>
          <a:xfrm>
            <a:off x="485775" y="4229437"/>
            <a:ext cx="2850827" cy="186689"/>
          </a:xfrm>
          <a:prstGeom prst="rect">
            <a:avLst/>
          </a:prstGeom>
          <a:noFill/>
        </p:spPr>
        <p:txBody>
          <a:bodyPr wrap="none" lIns="0" rIns="0" tIns="0" bIns="0">
            <a:spAutoFit/>
          </a:bodyPr>
          <a:lstStyle/>
          <a:p>
            <a:r>
              <a:rPr sz="1100" b="0">
                <a:solidFill>
                  <a:srgbClr val="2E2E2E"/>
                </a:solidFill>
                <a:latin typeface="Calibri"/>
              </a:rPr>
              <a:t>Among industrial air compressor by compression</a:t>
            </a:r>
          </a:p>
        </p:txBody>
      </p:sp>
      <p:sp>
        <p:nvSpPr>
          <p:cNvPr id="67" name="TextBox 66"/>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stage, single-stage segment is expected to witness</a:t>
            </a:r>
          </a:p>
        </p:txBody>
      </p:sp>
      <p:sp>
        <p:nvSpPr>
          <p:cNvPr id="68" name="TextBox 67"/>
          <p:cNvSpPr txBox="1"/>
          <p:nvPr/>
        </p:nvSpPr>
        <p:spPr>
          <a:xfrm>
            <a:off x="485775" y="456471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69" name="Picture 68" descr="lock.png"/>
          <p:cNvPicPr>
            <a:picLocks noChangeAspect="1"/>
          </p:cNvPicPr>
          <p:nvPr/>
        </p:nvPicPr>
        <p:blipFill>
          <a:blip r:embed="rId13"/>
          <a:stretch>
            <a:fillRect/>
          </a:stretch>
        </p:blipFill>
        <p:spPr>
          <a:xfrm>
            <a:off x="1646163" y="4554938"/>
            <a:ext cx="128699" cy="187198"/>
          </a:xfrm>
          <a:prstGeom prst="rect">
            <a:avLst/>
          </a:prstGeom>
        </p:spPr>
      </p:pic>
      <p:sp>
        <p:nvSpPr>
          <p:cNvPr id="70" name="TextBox 69"/>
          <p:cNvSpPr txBox="1"/>
          <p:nvPr/>
        </p:nvSpPr>
        <p:spPr>
          <a:xfrm>
            <a:off x="1813659" y="456471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71" name="TextBox 70"/>
          <p:cNvSpPr txBox="1"/>
          <p:nvPr/>
        </p:nvSpPr>
        <p:spPr>
          <a:xfrm>
            <a:off x="485775" y="4732357"/>
            <a:ext cx="2893938" cy="186689"/>
          </a:xfrm>
          <a:prstGeom prst="rect">
            <a:avLst/>
          </a:prstGeom>
          <a:noFill/>
        </p:spPr>
        <p:txBody>
          <a:bodyPr wrap="none" lIns="0" rIns="0" tIns="0" bIns="0">
            <a:spAutoFit/>
          </a:bodyPr>
          <a:lstStyle/>
          <a:p>
            <a:r>
              <a:rPr sz="1100" b="0">
                <a:solidFill>
                  <a:srgbClr val="2E2E2E"/>
                </a:solidFill>
                <a:latin typeface="Calibri"/>
              </a:rPr>
              <a:t>In terms of value share by compression stage, the</a:t>
            </a:r>
          </a:p>
        </p:txBody>
      </p:sp>
      <p:sp>
        <p:nvSpPr>
          <p:cNvPr id="72" name="TextBox 71"/>
          <p:cNvSpPr txBox="1"/>
          <p:nvPr/>
        </p:nvSpPr>
        <p:spPr>
          <a:xfrm>
            <a:off x="485775" y="4899997"/>
            <a:ext cx="2791618" cy="186689"/>
          </a:xfrm>
          <a:prstGeom prst="rect">
            <a:avLst/>
          </a:prstGeom>
          <a:noFill/>
        </p:spPr>
        <p:txBody>
          <a:bodyPr wrap="none" lIns="0" rIns="0" tIns="0" bIns="0">
            <a:spAutoFit/>
          </a:bodyPr>
          <a:lstStyle/>
          <a:p>
            <a:r>
              <a:rPr sz="1100" b="0">
                <a:solidFill>
                  <a:srgbClr val="2E2E2E"/>
                </a:solidFill>
                <a:latin typeface="Calibri"/>
              </a:rPr>
              <a:t>two-stage segment is expected to dominate the</a:t>
            </a:r>
          </a:p>
        </p:txBody>
      </p:sp>
      <p:sp>
        <p:nvSpPr>
          <p:cNvPr id="73" name="TextBox 72"/>
          <p:cNvSpPr txBox="1"/>
          <p:nvPr/>
        </p:nvSpPr>
        <p:spPr>
          <a:xfrm>
            <a:off x="485775" y="5067637"/>
            <a:ext cx="959693" cy="186689"/>
          </a:xfrm>
          <a:prstGeom prst="rect">
            <a:avLst/>
          </a:prstGeom>
          <a:noFill/>
        </p:spPr>
        <p:txBody>
          <a:bodyPr wrap="none" lIns="0" rIns="0" tIns="0" bIns="0">
            <a:spAutoFit/>
          </a:bodyPr>
          <a:lstStyle/>
          <a:p>
            <a:r>
              <a:rPr sz="1100" b="0">
                <a:solidFill>
                  <a:srgbClr val="2E2E2E"/>
                </a:solidFill>
                <a:latin typeface="Calibri"/>
              </a:rPr>
              <a:t>market, gaining</a:t>
            </a:r>
          </a:p>
        </p:txBody>
      </p:sp>
      <p:pic>
        <p:nvPicPr>
          <p:cNvPr id="74" name="Picture 73" descr="lock.png"/>
          <p:cNvPicPr>
            <a:picLocks noChangeAspect="1"/>
          </p:cNvPicPr>
          <p:nvPr/>
        </p:nvPicPr>
        <p:blipFill>
          <a:blip r:embed="rId13"/>
          <a:stretch>
            <a:fillRect/>
          </a:stretch>
        </p:blipFill>
        <p:spPr>
          <a:xfrm>
            <a:off x="1393519" y="5057858"/>
            <a:ext cx="128699" cy="187198"/>
          </a:xfrm>
          <a:prstGeom prst="rect">
            <a:avLst/>
          </a:prstGeom>
        </p:spPr>
      </p:pic>
      <p:sp>
        <p:nvSpPr>
          <p:cNvPr id="75" name="TextBox 74"/>
          <p:cNvSpPr txBox="1"/>
          <p:nvPr/>
        </p:nvSpPr>
        <p:spPr>
          <a:xfrm>
            <a:off x="1561015"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76" name="Picture 75" descr="lock.png"/>
          <p:cNvPicPr>
            <a:picLocks noChangeAspect="1"/>
          </p:cNvPicPr>
          <p:nvPr/>
        </p:nvPicPr>
        <p:blipFill>
          <a:blip r:embed="rId13"/>
          <a:stretch>
            <a:fillRect/>
          </a:stretch>
        </p:blipFill>
        <p:spPr>
          <a:xfrm>
            <a:off x="2895500" y="5057858"/>
            <a:ext cx="128699" cy="187198"/>
          </a:xfrm>
          <a:prstGeom prst="rect">
            <a:avLst/>
          </a:prstGeom>
        </p:spPr>
      </p:pic>
      <p:sp>
        <p:nvSpPr>
          <p:cNvPr id="77" name="TextBox 76"/>
          <p:cNvSpPr txBox="1"/>
          <p:nvPr/>
        </p:nvSpPr>
        <p:spPr>
          <a:xfrm>
            <a:off x="485775"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8" name="TextBox 77"/>
          <p:cNvSpPr txBox="1"/>
          <p:nvPr/>
        </p:nvSpPr>
        <p:spPr>
          <a:xfrm>
            <a:off x="485775" y="5453209"/>
            <a:ext cx="2505943" cy="186689"/>
          </a:xfrm>
          <a:prstGeom prst="rect">
            <a:avLst/>
          </a:prstGeom>
          <a:noFill/>
        </p:spPr>
        <p:txBody>
          <a:bodyPr wrap="none" lIns="0" rIns="0" tIns="0" bIns="0">
            <a:spAutoFit/>
          </a:bodyPr>
          <a:lstStyle/>
          <a:p>
            <a:r>
              <a:rPr sz="1100" b="0">
                <a:solidFill>
                  <a:srgbClr val="2E2E2E"/>
                </a:solidFill>
                <a:latin typeface="Calibri"/>
              </a:rPr>
              <a:t>Two-stage segment is projected to register</a:t>
            </a:r>
          </a:p>
        </p:txBody>
      </p:sp>
      <p:pic>
        <p:nvPicPr>
          <p:cNvPr id="79" name="Picture 78" descr="lock.png"/>
          <p:cNvPicPr>
            <a:picLocks noChangeAspect="1"/>
          </p:cNvPicPr>
          <p:nvPr/>
        </p:nvPicPr>
        <p:blipFill>
          <a:blip r:embed="rId13"/>
          <a:stretch>
            <a:fillRect/>
          </a:stretch>
        </p:blipFill>
        <p:spPr>
          <a:xfrm>
            <a:off x="2939769" y="5443430"/>
            <a:ext cx="128699" cy="187198"/>
          </a:xfrm>
          <a:prstGeom prst="rect">
            <a:avLst/>
          </a:prstGeom>
        </p:spPr>
      </p:pic>
      <p:sp>
        <p:nvSpPr>
          <p:cNvPr id="80" name="TextBox 79"/>
          <p:cNvSpPr txBox="1"/>
          <p:nvPr/>
        </p:nvSpPr>
        <p:spPr>
          <a:xfrm>
            <a:off x="3107265" y="545320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81" name="TextBox 80"/>
          <p:cNvSpPr txBox="1"/>
          <p:nvPr/>
        </p:nvSpPr>
        <p:spPr>
          <a:xfrm>
            <a:off x="485775" y="5620849"/>
            <a:ext cx="2710854" cy="186689"/>
          </a:xfrm>
          <a:prstGeom prst="rect">
            <a:avLst/>
          </a:prstGeom>
          <a:noFill/>
        </p:spPr>
        <p:txBody>
          <a:bodyPr wrap="none" lIns="0" rIns="0" tIns="0" bIns="0">
            <a:spAutoFit/>
          </a:bodyPr>
          <a:lstStyle/>
          <a:p>
            <a:r>
              <a:rPr sz="1100" b="0">
                <a:solidFill>
                  <a:srgbClr val="2E2E2E"/>
                </a:solidFill>
                <a:latin typeface="Calibri"/>
              </a:rPr>
              <a:t>higher value than multistage segment in 2036.</a:t>
            </a:r>
          </a:p>
        </p:txBody>
      </p:sp>
      <p:sp>
        <p:nvSpPr>
          <p:cNvPr id="82" name="TextBox 81"/>
          <p:cNvSpPr txBox="1"/>
          <p:nvPr/>
        </p:nvSpPr>
        <p:spPr>
          <a:xfrm>
            <a:off x="3838575" y="4229437"/>
            <a:ext cx="827360" cy="186689"/>
          </a:xfrm>
          <a:prstGeom prst="rect">
            <a:avLst/>
          </a:prstGeom>
          <a:noFill/>
        </p:spPr>
        <p:txBody>
          <a:bodyPr wrap="none" lIns="0" rIns="0" tIns="0" bIns="0">
            <a:spAutoFit/>
          </a:bodyPr>
          <a:lstStyle/>
          <a:p>
            <a:r>
              <a:rPr sz="1100" b="0">
                <a:solidFill>
                  <a:srgbClr val="2E2E2E"/>
                </a:solidFill>
                <a:latin typeface="Calibri"/>
              </a:rPr>
              <a:t>● Two-Stage:</a:t>
            </a:r>
          </a:p>
        </p:txBody>
      </p:sp>
      <p:pic>
        <p:nvPicPr>
          <p:cNvPr id="83" name="Picture 82" descr="lock.png"/>
          <p:cNvPicPr>
            <a:picLocks noChangeAspect="1"/>
          </p:cNvPicPr>
          <p:nvPr/>
        </p:nvPicPr>
        <p:blipFill>
          <a:blip r:embed="rId13"/>
          <a:stretch>
            <a:fillRect/>
          </a:stretch>
        </p:blipFill>
        <p:spPr>
          <a:xfrm>
            <a:off x="4613986" y="4219658"/>
            <a:ext cx="128699" cy="187198"/>
          </a:xfrm>
          <a:prstGeom prst="rect">
            <a:avLst/>
          </a:prstGeom>
        </p:spPr>
      </p:pic>
      <p:sp>
        <p:nvSpPr>
          <p:cNvPr id="84" name="TextBox 83"/>
          <p:cNvSpPr txBox="1"/>
          <p:nvPr/>
        </p:nvSpPr>
        <p:spPr>
          <a:xfrm>
            <a:off x="4781482"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5" name="Picture 84" descr="lock.png"/>
          <p:cNvPicPr>
            <a:picLocks noChangeAspect="1"/>
          </p:cNvPicPr>
          <p:nvPr/>
        </p:nvPicPr>
        <p:blipFill>
          <a:blip r:embed="rId13"/>
          <a:stretch>
            <a:fillRect/>
          </a:stretch>
        </p:blipFill>
        <p:spPr>
          <a:xfrm>
            <a:off x="5640932" y="4219658"/>
            <a:ext cx="128699" cy="187198"/>
          </a:xfrm>
          <a:prstGeom prst="rect">
            <a:avLst/>
          </a:prstGeom>
        </p:spPr>
      </p:pic>
      <p:sp>
        <p:nvSpPr>
          <p:cNvPr id="86" name="TextBox 85"/>
          <p:cNvSpPr txBox="1"/>
          <p:nvPr/>
        </p:nvSpPr>
        <p:spPr>
          <a:xfrm>
            <a:off x="5808428"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87" name="TextBox 86"/>
          <p:cNvSpPr txBox="1"/>
          <p:nvPr/>
        </p:nvSpPr>
        <p:spPr>
          <a:xfrm>
            <a:off x="3838575" y="4447369"/>
            <a:ext cx="837455" cy="186689"/>
          </a:xfrm>
          <a:prstGeom prst="rect">
            <a:avLst/>
          </a:prstGeom>
          <a:noFill/>
        </p:spPr>
        <p:txBody>
          <a:bodyPr wrap="none" lIns="0" rIns="0" tIns="0" bIns="0">
            <a:spAutoFit/>
          </a:bodyPr>
          <a:lstStyle/>
          <a:p>
            <a:r>
              <a:rPr sz="1100" b="0">
                <a:solidFill>
                  <a:srgbClr val="2E2E2E"/>
                </a:solidFill>
                <a:latin typeface="Calibri"/>
              </a:rPr>
              <a:t>● Multistage:</a:t>
            </a:r>
          </a:p>
        </p:txBody>
      </p:sp>
      <p:pic>
        <p:nvPicPr>
          <p:cNvPr id="88" name="Picture 87" descr="lock.png"/>
          <p:cNvPicPr>
            <a:picLocks noChangeAspect="1"/>
          </p:cNvPicPr>
          <p:nvPr/>
        </p:nvPicPr>
        <p:blipFill>
          <a:blip r:embed="rId13"/>
          <a:stretch>
            <a:fillRect/>
          </a:stretch>
        </p:blipFill>
        <p:spPr>
          <a:xfrm>
            <a:off x="4624082" y="4437590"/>
            <a:ext cx="128699" cy="187198"/>
          </a:xfrm>
          <a:prstGeom prst="rect">
            <a:avLst/>
          </a:prstGeom>
        </p:spPr>
      </p:pic>
      <p:sp>
        <p:nvSpPr>
          <p:cNvPr id="89" name="TextBox 88"/>
          <p:cNvSpPr txBox="1"/>
          <p:nvPr/>
        </p:nvSpPr>
        <p:spPr>
          <a:xfrm>
            <a:off x="4791578"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0" name="Picture 89" descr="lock.png"/>
          <p:cNvPicPr>
            <a:picLocks noChangeAspect="1"/>
          </p:cNvPicPr>
          <p:nvPr/>
        </p:nvPicPr>
        <p:blipFill>
          <a:blip r:embed="rId13"/>
          <a:stretch>
            <a:fillRect/>
          </a:stretch>
        </p:blipFill>
        <p:spPr>
          <a:xfrm>
            <a:off x="5651028" y="4437590"/>
            <a:ext cx="128699" cy="187198"/>
          </a:xfrm>
          <a:prstGeom prst="rect">
            <a:avLst/>
          </a:prstGeom>
        </p:spPr>
      </p:pic>
      <p:sp>
        <p:nvSpPr>
          <p:cNvPr id="91" name="TextBox 90"/>
          <p:cNvSpPr txBox="1"/>
          <p:nvPr/>
        </p:nvSpPr>
        <p:spPr>
          <a:xfrm>
            <a:off x="5818524"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92" name="TextBox 91"/>
          <p:cNvSpPr txBox="1"/>
          <p:nvPr/>
        </p:nvSpPr>
        <p:spPr>
          <a:xfrm>
            <a:off x="3838575" y="4665301"/>
            <a:ext cx="922858" cy="186689"/>
          </a:xfrm>
          <a:prstGeom prst="rect">
            <a:avLst/>
          </a:prstGeom>
          <a:noFill/>
        </p:spPr>
        <p:txBody>
          <a:bodyPr wrap="none" lIns="0" rIns="0" tIns="0" bIns="0">
            <a:spAutoFit/>
          </a:bodyPr>
          <a:lstStyle/>
          <a:p>
            <a:r>
              <a:rPr sz="1100" b="0">
                <a:solidFill>
                  <a:srgbClr val="2E2E2E"/>
                </a:solidFill>
                <a:latin typeface="Calibri"/>
              </a:rPr>
              <a:t>● Single-Stage:</a:t>
            </a:r>
          </a:p>
        </p:txBody>
      </p:sp>
      <p:pic>
        <p:nvPicPr>
          <p:cNvPr id="93" name="Picture 92" descr="lock.png"/>
          <p:cNvPicPr>
            <a:picLocks noChangeAspect="1"/>
          </p:cNvPicPr>
          <p:nvPr/>
        </p:nvPicPr>
        <p:blipFill>
          <a:blip r:embed="rId13"/>
          <a:stretch>
            <a:fillRect/>
          </a:stretch>
        </p:blipFill>
        <p:spPr>
          <a:xfrm>
            <a:off x="4709484" y="4655522"/>
            <a:ext cx="128699" cy="187198"/>
          </a:xfrm>
          <a:prstGeom prst="rect">
            <a:avLst/>
          </a:prstGeom>
        </p:spPr>
      </p:pic>
      <p:sp>
        <p:nvSpPr>
          <p:cNvPr id="94" name="TextBox 93"/>
          <p:cNvSpPr txBox="1"/>
          <p:nvPr/>
        </p:nvSpPr>
        <p:spPr>
          <a:xfrm>
            <a:off x="4876980"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5" name="Picture 94" descr="lock.png"/>
          <p:cNvPicPr>
            <a:picLocks noChangeAspect="1"/>
          </p:cNvPicPr>
          <p:nvPr/>
        </p:nvPicPr>
        <p:blipFill>
          <a:blip r:embed="rId13"/>
          <a:stretch>
            <a:fillRect/>
          </a:stretch>
        </p:blipFill>
        <p:spPr>
          <a:xfrm>
            <a:off x="5736431" y="4655522"/>
            <a:ext cx="128699" cy="187198"/>
          </a:xfrm>
          <a:prstGeom prst="rect">
            <a:avLst/>
          </a:prstGeom>
        </p:spPr>
      </p:pic>
      <p:sp>
        <p:nvSpPr>
          <p:cNvPr id="96" name="TextBox 95"/>
          <p:cNvSpPr txBox="1"/>
          <p:nvPr/>
        </p:nvSpPr>
        <p:spPr>
          <a:xfrm>
            <a:off x="5903926"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97" name="TextBox 96"/>
          <p:cNvSpPr txBox="1"/>
          <p:nvPr/>
        </p:nvSpPr>
        <p:spPr>
          <a:xfrm>
            <a:off x="8524875" y="5842641"/>
            <a:ext cx="2951844" cy="194310"/>
          </a:xfrm>
          <a:prstGeom prst="rect">
            <a:avLst/>
          </a:prstGeom>
          <a:noFill/>
        </p:spPr>
        <p:txBody>
          <a:bodyPr wrap="none" lIns="0" rIns="0" tIns="0" bIns="0">
            <a:spAutoFit/>
          </a:bodyPr>
          <a:lstStyle/>
          <a:p>
            <a:r>
              <a:rPr sz="1150" b="1">
                <a:solidFill>
                  <a:srgbClr val="0B2E4A"/>
                </a:solidFill>
                <a:latin typeface="Calibri"/>
              </a:rPr>
              <a:t>The Compression Stage segment is projected to</a:t>
            </a:r>
          </a:p>
        </p:txBody>
      </p:sp>
      <p:sp>
        <p:nvSpPr>
          <p:cNvPr id="98" name="TextBox 97"/>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99" name="Picture 98" descr="lock.png"/>
          <p:cNvPicPr>
            <a:picLocks noChangeAspect="1"/>
          </p:cNvPicPr>
          <p:nvPr/>
        </p:nvPicPr>
        <p:blipFill>
          <a:blip r:embed="rId13"/>
          <a:stretch>
            <a:fillRect/>
          </a:stretch>
        </p:blipFill>
        <p:spPr>
          <a:xfrm>
            <a:off x="9651852" y="6007677"/>
            <a:ext cx="134549" cy="195707"/>
          </a:xfrm>
          <a:prstGeom prst="rect">
            <a:avLst/>
          </a:prstGeom>
        </p:spPr>
      </p:pic>
      <p:sp>
        <p:nvSpPr>
          <p:cNvPr id="100" name="TextBox 99"/>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Compression Stage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Compression Stage mix within each region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Compression Stage mix within each region (share of 2036 value) · row label = region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Compression Stage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777865"/>
            <a:ext cx="11248925" cy="186689"/>
          </a:xfrm>
          <a:prstGeom prst="rect">
            <a:avLst/>
          </a:prstGeom>
          <a:noFill/>
        </p:spPr>
        <p:txBody>
          <a:bodyPr wrap="none" lIns="0" rIns="0" tIns="0" bIns="0">
            <a:spAutoFit/>
          </a:bodyPr>
          <a:lstStyle/>
          <a:p>
            <a:r>
              <a:rPr sz="1100" b="0">
                <a:solidFill>
                  <a:srgbClr val="2E2E2E"/>
                </a:solidFill>
                <a:latin typeface="Calibri"/>
              </a:rPr>
              <a:t>Two-stage followed by single-stage are expected to be the two most attractive compression stage segments in the global industrial air compressor market in terms of value over the forecast period.</a:t>
            </a:r>
          </a:p>
        </p:txBody>
      </p:sp>
      <p:sp>
        <p:nvSpPr>
          <p:cNvPr id="18" name="TextBox 17"/>
          <p:cNvSpPr txBox="1"/>
          <p:nvPr/>
        </p:nvSpPr>
        <p:spPr>
          <a:xfrm>
            <a:off x="257175" y="5945505"/>
            <a:ext cx="3002243" cy="186689"/>
          </a:xfrm>
          <a:prstGeom prst="rect">
            <a:avLst/>
          </a:prstGeom>
          <a:noFill/>
        </p:spPr>
        <p:txBody>
          <a:bodyPr wrap="none" lIns="0" rIns="0" tIns="0" bIns="0">
            <a:spAutoFit/>
          </a:bodyPr>
          <a:lstStyle/>
          <a:p>
            <a:r>
              <a:rPr sz="1100" b="0">
                <a:solidFill>
                  <a:srgbClr val="2E2E2E"/>
                </a:solidFill>
                <a:latin typeface="Calibri"/>
              </a:rPr>
              <a:t>Two-Stage and Single-Stage exhibit a CAGR index of</a:t>
            </a:r>
          </a:p>
        </p:txBody>
      </p:sp>
      <p:pic>
        <p:nvPicPr>
          <p:cNvPr id="19" name="Picture 18" descr="lock.png"/>
          <p:cNvPicPr>
            <a:picLocks noChangeAspect="1"/>
          </p:cNvPicPr>
          <p:nvPr/>
        </p:nvPicPr>
        <p:blipFill>
          <a:blip r:embed="rId6"/>
          <a:stretch>
            <a:fillRect/>
          </a:stretch>
        </p:blipFill>
        <p:spPr>
          <a:xfrm>
            <a:off x="3207469" y="5935726"/>
            <a:ext cx="128699" cy="187198"/>
          </a:xfrm>
          <a:prstGeom prst="rect">
            <a:avLst/>
          </a:prstGeom>
        </p:spPr>
      </p:pic>
      <p:sp>
        <p:nvSpPr>
          <p:cNvPr id="20" name="TextBox 19"/>
          <p:cNvSpPr txBox="1"/>
          <p:nvPr/>
        </p:nvSpPr>
        <p:spPr>
          <a:xfrm>
            <a:off x="3374965"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3612859" y="5935726"/>
            <a:ext cx="128699" cy="187198"/>
          </a:xfrm>
          <a:prstGeom prst="rect">
            <a:avLst/>
          </a:prstGeom>
        </p:spPr>
      </p:pic>
      <p:sp>
        <p:nvSpPr>
          <p:cNvPr id="22" name="TextBox 21"/>
          <p:cNvSpPr txBox="1"/>
          <p:nvPr/>
        </p:nvSpPr>
        <p:spPr>
          <a:xfrm>
            <a:off x="3780355"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5389329" y="5935726"/>
            <a:ext cx="128699" cy="187198"/>
          </a:xfrm>
          <a:prstGeom prst="rect">
            <a:avLst/>
          </a:prstGeom>
        </p:spPr>
      </p:pic>
      <p:sp>
        <p:nvSpPr>
          <p:cNvPr id="24" name="TextBox 23"/>
          <p:cNvSpPr txBox="1"/>
          <p:nvPr/>
        </p:nvSpPr>
        <p:spPr>
          <a:xfrm>
            <a:off x="5556824"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5794719" y="5935726"/>
            <a:ext cx="128699" cy="187198"/>
          </a:xfrm>
          <a:prstGeom prst="rect">
            <a:avLst/>
          </a:prstGeom>
        </p:spPr>
      </p:pic>
      <p:sp>
        <p:nvSpPr>
          <p:cNvPr id="26" name="TextBox 25"/>
          <p:cNvSpPr txBox="1"/>
          <p:nvPr/>
        </p:nvSpPr>
        <p:spPr>
          <a:xfrm>
            <a:off x="5962215"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8516619" y="5935726"/>
            <a:ext cx="128699" cy="187198"/>
          </a:xfrm>
          <a:prstGeom prst="rect">
            <a:avLst/>
          </a:prstGeom>
        </p:spPr>
      </p:pic>
      <p:sp>
        <p:nvSpPr>
          <p:cNvPr id="28" name="TextBox 27"/>
          <p:cNvSpPr txBox="1"/>
          <p:nvPr/>
        </p:nvSpPr>
        <p:spPr>
          <a:xfrm>
            <a:off x="8684115" y="5945505"/>
            <a:ext cx="2750691" cy="186689"/>
          </a:xfrm>
          <a:prstGeom prst="rect">
            <a:avLst/>
          </a:prstGeom>
          <a:noFill/>
        </p:spPr>
        <p:txBody>
          <a:bodyPr wrap="none" lIns="0" rIns="0" tIns="0" bIns="0">
            <a:spAutoFit/>
          </a:bodyPr>
          <a:lstStyle/>
          <a:p>
            <a:r>
              <a:rPr sz="1100" b="0">
                <a:solidFill>
                  <a:srgbClr val="2E2E2E"/>
                </a:solidFill>
                <a:latin typeface="Calibri"/>
              </a:rPr>
              <a:t>. The multistage segment is expected to be less</a:t>
            </a:r>
          </a:p>
        </p:txBody>
      </p:sp>
      <p:sp>
        <p:nvSpPr>
          <p:cNvPr id="29" name="TextBox 28"/>
          <p:cNvSpPr txBox="1"/>
          <p:nvPr/>
        </p:nvSpPr>
        <p:spPr>
          <a:xfrm>
            <a:off x="257175" y="6113145"/>
            <a:ext cx="11338386" cy="186689"/>
          </a:xfrm>
          <a:prstGeom prst="rect">
            <a:avLst/>
          </a:prstGeom>
          <a:noFill/>
        </p:spPr>
        <p:txBody>
          <a:bodyPr wrap="none" lIns="0" rIns="0" tIns="0" bIns="0">
            <a:spAutoFit/>
          </a:bodyPr>
          <a:lstStyle/>
          <a:p>
            <a:r>
              <a:rPr sz="1100" b="0">
                <a:solidFill>
                  <a:srgbClr val="2E2E2E"/>
                </a:solidFill>
                <a:latin typeface="Calibri"/>
              </a:rPr>
              <a:t>attractive as compared to other segments over the forecast period, owing to its lower CAGR and incremental opportunity. Bubbles right of the CAGR-Index line grow faster than the segment average.</a:t>
            </a:r>
          </a:p>
        </p:txBody>
      </p:sp>
      <p:sp>
        <p:nvSpPr>
          <p:cNvPr id="30"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Compression Stage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Compression Stage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Single-Stage</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Two-Stage</a:t>
            </a:r>
          </a:p>
        </p:txBody>
      </p:sp>
      <p:graphicFrame>
        <p:nvGraphicFramePr>
          <p:cNvPr id="12" name="Chart 11"/>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Multistage</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E2A5C"/>
                </a:solidFill>
                <a:latin typeface="Calibri"/>
              </a:rPr>
              <a:t>Summary of Global Absolute $ Opportunity Analysis, By Compression Stage</a:t>
            </a:r>
          </a:p>
        </p:txBody>
      </p:sp>
      <p:sp>
        <p:nvSpPr>
          <p:cNvPr id="18" name="Rectangle 17"/>
          <p:cNvSpPr/>
          <p:nvPr/>
        </p:nvSpPr>
        <p:spPr>
          <a:xfrm>
            <a:off x="6305550" y="438907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7"/>
          <a:stretch>
            <a:fillRect/>
          </a:stretch>
        </p:blipFill>
        <p:spPr>
          <a:xfrm>
            <a:off x="3094826" y="2237234"/>
            <a:ext cx="263506" cy="383281"/>
          </a:xfrm>
          <a:prstGeom prst="rect">
            <a:avLst/>
          </a:prstGeom>
        </p:spPr>
      </p:pic>
      <p:pic>
        <p:nvPicPr>
          <p:cNvPr id="23" name="Picture 22" descr="lock.png"/>
          <p:cNvPicPr>
            <a:picLocks noChangeAspect="1"/>
          </p:cNvPicPr>
          <p:nvPr/>
        </p:nvPicPr>
        <p:blipFill>
          <a:blip r:embed="rId7"/>
          <a:stretch>
            <a:fillRect/>
          </a:stretch>
        </p:blipFill>
        <p:spPr>
          <a:xfrm>
            <a:off x="9124151" y="2237234"/>
            <a:ext cx="263506" cy="383281"/>
          </a:xfrm>
          <a:prstGeom prst="rect">
            <a:avLst/>
          </a:prstGeom>
        </p:spPr>
      </p:pic>
      <p:pic>
        <p:nvPicPr>
          <p:cNvPr id="24" name="Picture 23" descr="lock.png"/>
          <p:cNvPicPr>
            <a:picLocks noChangeAspect="1"/>
          </p:cNvPicPr>
          <p:nvPr/>
        </p:nvPicPr>
        <p:blipFill>
          <a:blip r:embed="rId7"/>
          <a:stretch>
            <a:fillRect/>
          </a:stretch>
        </p:blipFill>
        <p:spPr>
          <a:xfrm>
            <a:off x="3094826" y="5123309"/>
            <a:ext cx="263506" cy="383281"/>
          </a:xfrm>
          <a:prstGeom prst="rect">
            <a:avLst/>
          </a:prstGeom>
        </p:spPr>
      </p:pic>
      <p:sp>
        <p:nvSpPr>
          <p:cNvPr id="25" name="TextBox 24"/>
          <p:cNvSpPr txBox="1"/>
          <p:nvPr/>
        </p:nvSpPr>
        <p:spPr>
          <a:xfrm>
            <a:off x="6305550" y="4484320"/>
            <a:ext cx="4093978" cy="194310"/>
          </a:xfrm>
          <a:prstGeom prst="rect">
            <a:avLst/>
          </a:prstGeom>
          <a:noFill/>
        </p:spPr>
        <p:txBody>
          <a:bodyPr wrap="none" lIns="0" rIns="0" tIns="0" bIns="0">
            <a:spAutoFit/>
          </a:bodyPr>
          <a:lstStyle/>
          <a:p>
            <a:r>
              <a:rPr sz="1150" b="0">
                <a:solidFill>
                  <a:srgbClr val="2E2E2E"/>
                </a:solidFill>
                <a:latin typeface="Calibri"/>
              </a:rPr>
              <a:t>By 2036, two-stage segment is anticipated to witness an increase of</a:t>
            </a:r>
          </a:p>
        </p:txBody>
      </p:sp>
      <p:pic>
        <p:nvPicPr>
          <p:cNvPr id="26" name="Picture 25" descr="lock.png"/>
          <p:cNvPicPr>
            <a:picLocks noChangeAspect="1"/>
          </p:cNvPicPr>
          <p:nvPr/>
        </p:nvPicPr>
        <p:blipFill>
          <a:blip r:embed="rId7"/>
          <a:stretch>
            <a:fillRect/>
          </a:stretch>
        </p:blipFill>
        <p:spPr>
          <a:xfrm>
            <a:off x="10348682" y="4474096"/>
            <a:ext cx="134549" cy="195707"/>
          </a:xfrm>
          <a:prstGeom prst="rect">
            <a:avLst/>
          </a:prstGeom>
        </p:spPr>
      </p:pic>
      <p:sp>
        <p:nvSpPr>
          <p:cNvPr id="27" name="TextBox 26"/>
          <p:cNvSpPr txBox="1"/>
          <p:nvPr/>
        </p:nvSpPr>
        <p:spPr>
          <a:xfrm>
            <a:off x="10523792" y="4484320"/>
            <a:ext cx="1341871" cy="194310"/>
          </a:xfrm>
          <a:prstGeom prst="rect">
            <a:avLst/>
          </a:prstGeom>
          <a:noFill/>
        </p:spPr>
        <p:txBody>
          <a:bodyPr wrap="none" lIns="0" rIns="0" tIns="0" bIns="0">
            <a:spAutoFit/>
          </a:bodyPr>
          <a:lstStyle/>
          <a:p>
            <a:r>
              <a:rPr sz="1150" b="0">
                <a:solidFill>
                  <a:srgbClr val="2E2E2E"/>
                </a:solidFill>
                <a:latin typeface="Calibri"/>
              </a:rPr>
              <a:t>X in terms of value as</a:t>
            </a:r>
          </a:p>
        </p:txBody>
      </p:sp>
      <p:sp>
        <p:nvSpPr>
          <p:cNvPr id="28" name="TextBox 27"/>
          <p:cNvSpPr txBox="1"/>
          <p:nvPr/>
        </p:nvSpPr>
        <p:spPr>
          <a:xfrm>
            <a:off x="6305550" y="4659580"/>
            <a:ext cx="5591175" cy="194310"/>
          </a:xfrm>
          <a:prstGeom prst="rect">
            <a:avLst/>
          </a:prstGeom>
          <a:noFill/>
        </p:spPr>
        <p:txBody>
          <a:bodyPr wrap="none" lIns="0" rIns="0" tIns="0" bIns="0">
            <a:spAutoFit/>
          </a:bodyPr>
          <a:lstStyle/>
          <a:p>
            <a:r>
              <a:rPr sz="1150" b="0">
                <a:solidFill>
                  <a:srgbClr val="2E2E2E"/>
                </a:solidFill>
                <a:latin typeface="Calibri"/>
              </a:rPr>
              <a:t>compared to 2026. The Two-Stage segment is expected to create an incremental opportunity</a:t>
            </a:r>
          </a:p>
        </p:txBody>
      </p:sp>
      <p:sp>
        <p:nvSpPr>
          <p:cNvPr id="29" name="TextBox 28"/>
          <p:cNvSpPr txBox="1"/>
          <p:nvPr/>
        </p:nvSpPr>
        <p:spPr>
          <a:xfrm>
            <a:off x="6305550" y="4834840"/>
            <a:ext cx="465856" cy="194310"/>
          </a:xfrm>
          <a:prstGeom prst="rect">
            <a:avLst/>
          </a:prstGeom>
          <a:noFill/>
        </p:spPr>
        <p:txBody>
          <a:bodyPr wrap="none" lIns="0" rIns="0" tIns="0" bIns="0">
            <a:spAutoFit/>
          </a:bodyPr>
          <a:lstStyle/>
          <a:p>
            <a:r>
              <a:rPr sz="1150" b="0">
                <a:solidFill>
                  <a:srgbClr val="2E2E2E"/>
                </a:solidFill>
                <a:latin typeface="Calibri"/>
              </a:rPr>
              <a:t>of US$</a:t>
            </a:r>
          </a:p>
        </p:txBody>
      </p:sp>
      <p:pic>
        <p:nvPicPr>
          <p:cNvPr id="30" name="Picture 29" descr="lock.png"/>
          <p:cNvPicPr>
            <a:picLocks noChangeAspect="1"/>
          </p:cNvPicPr>
          <p:nvPr/>
        </p:nvPicPr>
        <p:blipFill>
          <a:blip r:embed="rId7"/>
          <a:stretch>
            <a:fillRect/>
          </a:stretch>
        </p:blipFill>
        <p:spPr>
          <a:xfrm>
            <a:off x="6720560" y="4824616"/>
            <a:ext cx="134549" cy="195707"/>
          </a:xfrm>
          <a:prstGeom prst="rect">
            <a:avLst/>
          </a:prstGeom>
        </p:spPr>
      </p:pic>
      <p:sp>
        <p:nvSpPr>
          <p:cNvPr id="31" name="TextBox 30"/>
          <p:cNvSpPr txBox="1"/>
          <p:nvPr/>
        </p:nvSpPr>
        <p:spPr>
          <a:xfrm>
            <a:off x="6895670" y="4834840"/>
            <a:ext cx="4299384"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 2026 to 2036.</a:t>
            </a:r>
          </a:p>
        </p:txBody>
      </p:sp>
      <p:sp>
        <p:nvSpPr>
          <p:cNvPr id="32" name="TextBox 31"/>
          <p:cNvSpPr txBox="1"/>
          <p:nvPr/>
        </p:nvSpPr>
        <p:spPr>
          <a:xfrm>
            <a:off x="6305550" y="5062678"/>
            <a:ext cx="4967733" cy="194310"/>
          </a:xfrm>
          <a:prstGeom prst="rect">
            <a:avLst/>
          </a:prstGeom>
          <a:noFill/>
        </p:spPr>
        <p:txBody>
          <a:bodyPr wrap="none" lIns="0" rIns="0" tIns="0" bIns="0">
            <a:spAutoFit/>
          </a:bodyPr>
          <a:lstStyle/>
          <a:p>
            <a:r>
              <a:rPr sz="1150" b="0">
                <a:solidFill>
                  <a:srgbClr val="2E2E2E"/>
                </a:solidFill>
                <a:latin typeface="Calibri"/>
              </a:rPr>
              <a:t>The Single-Stage segment is expected to create an incremental opportunity of US$</a:t>
            </a:r>
          </a:p>
        </p:txBody>
      </p:sp>
      <p:pic>
        <p:nvPicPr>
          <p:cNvPr id="33" name="Picture 32" descr="lock.png"/>
          <p:cNvPicPr>
            <a:picLocks noChangeAspect="1"/>
          </p:cNvPicPr>
          <p:nvPr/>
        </p:nvPicPr>
        <p:blipFill>
          <a:blip r:embed="rId7"/>
          <a:stretch>
            <a:fillRect/>
          </a:stretch>
        </p:blipFill>
        <p:spPr>
          <a:xfrm>
            <a:off x="11222437" y="5052454"/>
            <a:ext cx="134549" cy="195707"/>
          </a:xfrm>
          <a:prstGeom prst="rect">
            <a:avLst/>
          </a:prstGeom>
        </p:spPr>
      </p:pic>
      <p:sp>
        <p:nvSpPr>
          <p:cNvPr id="34" name="TextBox 33"/>
          <p:cNvSpPr txBox="1"/>
          <p:nvPr/>
        </p:nvSpPr>
        <p:spPr>
          <a:xfrm>
            <a:off x="11397547" y="5062678"/>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35" name="TextBox 34"/>
          <p:cNvSpPr txBox="1"/>
          <p:nvPr/>
        </p:nvSpPr>
        <p:spPr>
          <a:xfrm>
            <a:off x="6305550" y="5237938"/>
            <a:ext cx="5443822" cy="194310"/>
          </a:xfrm>
          <a:prstGeom prst="rect">
            <a:avLst/>
          </a:prstGeom>
          <a:noFill/>
        </p:spPr>
        <p:txBody>
          <a:bodyPr wrap="none" lIns="0" rIns="0" tIns="0" bIns="0">
            <a:spAutoFit/>
          </a:bodyPr>
          <a:lstStyle/>
          <a:p>
            <a:r>
              <a:rPr sz="1150" b="0">
                <a:solidFill>
                  <a:srgbClr val="2E2E2E"/>
                </a:solidFill>
                <a:latin typeface="Calibri"/>
              </a:rPr>
              <a:t>the overall industrial air compressor market from 2026 to 2036. The multistage segment is</a:t>
            </a:r>
          </a:p>
        </p:txBody>
      </p:sp>
      <p:sp>
        <p:nvSpPr>
          <p:cNvPr id="36" name="TextBox 35"/>
          <p:cNvSpPr txBox="1"/>
          <p:nvPr/>
        </p:nvSpPr>
        <p:spPr>
          <a:xfrm>
            <a:off x="6305550" y="5413197"/>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37" name="Picture 36" descr="lock.png"/>
          <p:cNvPicPr>
            <a:picLocks noChangeAspect="1"/>
          </p:cNvPicPr>
          <p:nvPr/>
        </p:nvPicPr>
        <p:blipFill>
          <a:blip r:embed="rId7"/>
          <a:stretch>
            <a:fillRect/>
          </a:stretch>
        </p:blipFill>
        <p:spPr>
          <a:xfrm>
            <a:off x="9540010" y="5402974"/>
            <a:ext cx="134549" cy="195707"/>
          </a:xfrm>
          <a:prstGeom prst="rect">
            <a:avLst/>
          </a:prstGeom>
        </p:spPr>
      </p:pic>
      <p:sp>
        <p:nvSpPr>
          <p:cNvPr id="38" name="TextBox 37"/>
          <p:cNvSpPr txBox="1"/>
          <p:nvPr/>
        </p:nvSpPr>
        <p:spPr>
          <a:xfrm>
            <a:off x="9715119" y="5413197"/>
            <a:ext cx="1931206" cy="194310"/>
          </a:xfrm>
          <a:prstGeom prst="rect">
            <a:avLst/>
          </a:prstGeom>
          <a:noFill/>
        </p:spPr>
        <p:txBody>
          <a:bodyPr wrap="none" lIns="0" rIns="0" tIns="0" bIns="0">
            <a:spAutoFit/>
          </a:bodyPr>
          <a:lstStyle/>
          <a:p>
            <a:r>
              <a:rPr sz="1150" b="0">
                <a:solidFill>
                  <a:srgbClr val="2E2E2E"/>
                </a:solidFill>
                <a:latin typeface="Calibri"/>
              </a:rPr>
              <a:t>Mn for the overall industrial air</a:t>
            </a:r>
          </a:p>
        </p:txBody>
      </p:sp>
      <p:sp>
        <p:nvSpPr>
          <p:cNvPr id="39" name="TextBox 38"/>
          <p:cNvSpPr txBox="1"/>
          <p:nvPr/>
        </p:nvSpPr>
        <p:spPr>
          <a:xfrm>
            <a:off x="6305550" y="5588457"/>
            <a:ext cx="2411288" cy="194310"/>
          </a:xfrm>
          <a:prstGeom prst="rect">
            <a:avLst/>
          </a:prstGeom>
          <a:noFill/>
        </p:spPr>
        <p:txBody>
          <a:bodyPr wrap="none" lIns="0" rIns="0" tIns="0" bIns="0">
            <a:spAutoFit/>
          </a:bodyPr>
          <a:lstStyle/>
          <a:p>
            <a:r>
              <a:rPr sz="1150" b="0">
                <a:solidFill>
                  <a:srgbClr val="2E2E2E"/>
                </a:solidFill>
                <a:latin typeface="Calibri"/>
              </a:rPr>
              <a:t>compressor market from 2026 to 2036.</a:t>
            </a:r>
          </a:p>
        </p:txBody>
      </p:sp>
      <p:sp>
        <p:nvSpPr>
          <p:cNvPr id="40"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ockshield_12"/>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Compression Stage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Compression Stage, 2021–2036, highlighting the sub-segments driving growth</a:t>
            </a:r>
          </a:p>
        </p:txBody>
      </p:sp>
      <p:sp>
        <p:nvSpPr>
          <p:cNvPr id="7" name="Rounded Rectangle 6"/>
          <p:cNvSpPr/>
          <p:nvPr/>
        </p:nvSpPr>
        <p:spPr>
          <a:xfrm>
            <a:off x="142875" y="981075"/>
            <a:ext cx="11906250" cy="1704975"/>
          </a:xfrm>
          <a:prstGeom prst="roundRect">
            <a:avLst>
              <a:gd name="adj" fmla="val 446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Compression Stage (US$ Mn)</a:t>
            </a:r>
          </a:p>
        </p:txBody>
      </p:sp>
      <p:graphicFrame>
        <p:nvGraphicFramePr>
          <p:cNvPr id="9" name="Table 8"/>
          <p:cNvGraphicFramePr>
            <a:graphicFrameLocks noGrp="1"/>
          </p:cNvGraphicFramePr>
          <p:nvPr/>
        </p:nvGraphicFramePr>
        <p:xfrm>
          <a:off x="152400" y="1238250"/>
          <a:ext cx="11887203" cy="1238250"/>
        </p:xfrm>
        <a:graphic>
          <a:graphicData uri="http://schemas.openxmlformats.org/drawingml/2006/table">
            <a:tbl>
              <a:tblPr>
                <a:tableStyleId>{5C22544A-7EE6-4342-B048-85BDC9FD1C3A}</a:tableStyleId>
              </a:tblPr>
              <a:tblGrid>
                <a:gridCol w="1396384"/>
                <a:gridCol w="617107"/>
                <a:gridCol w="617107"/>
                <a:gridCol w="617107"/>
                <a:gridCol w="617107"/>
                <a:gridCol w="617107"/>
                <a:gridCol w="617107"/>
                <a:gridCol w="617107"/>
                <a:gridCol w="617107"/>
                <a:gridCol w="617107"/>
                <a:gridCol w="617107"/>
                <a:gridCol w="617107"/>
                <a:gridCol w="617107"/>
                <a:gridCol w="617107"/>
                <a:gridCol w="617107"/>
                <a:gridCol w="617107"/>
                <a:gridCol w="617107"/>
                <a:gridCol w="617107"/>
              </a:tblGrid>
              <a:tr h="246126">
                <a:tc>
                  <a:txBody>
                    <a:bodyPr wrap="none"/>
                    <a:lstStyle/>
                    <a:p>
                      <a:pPr algn="l"/>
                      <a:r>
                        <a:rPr sz="1100" b="1">
                          <a:solidFill>
                            <a:srgbClr val="0E2A5C"/>
                          </a:solidFill>
                          <a:latin typeface="Calibri"/>
                        </a:rPr>
                        <a:t>Compression Stage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031">
                <a:tc>
                  <a:txBody>
                    <a:bodyPr wrap="none"/>
                    <a:lstStyle/>
                    <a:p>
                      <a:pPr algn="l"/>
                      <a:r>
                        <a:rPr sz="1100" b="1">
                          <a:solidFill>
                            <a:srgbClr val="2E2E2E"/>
                          </a:solidFill>
                          <a:latin typeface="Calibri"/>
                        </a:rPr>
                        <a:t>Single-Stage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Two-Stage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031">
                <a:tc>
                  <a:txBody>
                    <a:bodyPr wrap="none"/>
                    <a:lstStyle/>
                    <a:p>
                      <a:pPr algn="l"/>
                      <a:r>
                        <a:rPr sz="1100" b="1">
                          <a:solidFill>
                            <a:srgbClr val="2E2E2E"/>
                          </a:solidFill>
                          <a:latin typeface="Calibri"/>
                        </a:rPr>
                        <a:t>Multistage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819400"/>
            <a:ext cx="11906250" cy="3810000"/>
          </a:xfrm>
          <a:prstGeom prst="roundRect">
            <a:avLst>
              <a:gd name="adj" fmla="val 200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Analysis, By Compression Stage</a:t>
            </a:r>
          </a:p>
        </p:txBody>
      </p:sp>
      <p:sp>
        <p:nvSpPr>
          <p:cNvPr id="13" name="Rectangle 12"/>
          <p:cNvSpPr/>
          <p:nvPr/>
        </p:nvSpPr>
        <p:spPr>
          <a:xfrm>
            <a:off x="276225" y="31432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607503" y="1713738"/>
            <a:ext cx="366712" cy="533400"/>
          </a:xfrm>
          <a:prstGeom prst="rect">
            <a:avLst/>
          </a:prstGeom>
        </p:spPr>
      </p:pic>
      <p:sp>
        <p:nvSpPr>
          <p:cNvPr id="18" name="TextBox 17"/>
          <p:cNvSpPr txBox="1"/>
          <p:nvPr/>
        </p:nvSpPr>
        <p:spPr>
          <a:xfrm>
            <a:off x="276225" y="3238500"/>
            <a:ext cx="2616386" cy="194310"/>
          </a:xfrm>
          <a:prstGeom prst="rect">
            <a:avLst/>
          </a:prstGeom>
          <a:noFill/>
        </p:spPr>
        <p:txBody>
          <a:bodyPr wrap="none" lIns="0" rIns="0" tIns="0" bIns="0">
            <a:spAutoFit/>
          </a:bodyPr>
          <a:lstStyle/>
          <a:p>
            <a:r>
              <a:rPr sz="1150" b="0">
                <a:solidFill>
                  <a:srgbClr val="2E2E2E"/>
                </a:solidFill>
                <a:latin typeface="Calibri"/>
              </a:rPr>
              <a:t>Two-stage segment is projected to register</a:t>
            </a:r>
          </a:p>
        </p:txBody>
      </p:sp>
      <p:pic>
        <p:nvPicPr>
          <p:cNvPr id="19" name="Picture 18" descr="lock.png"/>
          <p:cNvPicPr>
            <a:picLocks noChangeAspect="1"/>
          </p:cNvPicPr>
          <p:nvPr/>
        </p:nvPicPr>
        <p:blipFill>
          <a:blip r:embed="rId4"/>
          <a:stretch>
            <a:fillRect/>
          </a:stretch>
        </p:blipFill>
        <p:spPr>
          <a:xfrm>
            <a:off x="2841764" y="3228276"/>
            <a:ext cx="134549" cy="195707"/>
          </a:xfrm>
          <a:prstGeom prst="rect">
            <a:avLst/>
          </a:prstGeom>
        </p:spPr>
      </p:pic>
      <p:sp>
        <p:nvSpPr>
          <p:cNvPr id="20" name="TextBox 19"/>
          <p:cNvSpPr txBox="1"/>
          <p:nvPr/>
        </p:nvSpPr>
        <p:spPr>
          <a:xfrm>
            <a:off x="3016874" y="3238500"/>
            <a:ext cx="8407325" cy="194310"/>
          </a:xfrm>
          <a:prstGeom prst="rect">
            <a:avLst/>
          </a:prstGeom>
          <a:noFill/>
        </p:spPr>
        <p:txBody>
          <a:bodyPr wrap="none" lIns="0" rIns="0" tIns="0" bIns="0">
            <a:spAutoFit/>
          </a:bodyPr>
          <a:lstStyle/>
          <a:p>
            <a:r>
              <a:rPr sz="1150" b="0">
                <a:solidFill>
                  <a:srgbClr val="2E2E2E"/>
                </a:solidFill>
                <a:latin typeface="Calibri"/>
              </a:rPr>
              <a:t>X higher value than multistage segment in 2036. Among industrial air compressor by compression stage, single-stage segment is expected to</a:t>
            </a:r>
          </a:p>
        </p:txBody>
      </p:sp>
      <p:sp>
        <p:nvSpPr>
          <p:cNvPr id="21" name="TextBox 20"/>
          <p:cNvSpPr txBox="1"/>
          <p:nvPr/>
        </p:nvSpPr>
        <p:spPr>
          <a:xfrm>
            <a:off x="276225" y="3413760"/>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2" name="Picture 21" descr="lock.png"/>
          <p:cNvPicPr>
            <a:picLocks noChangeAspect="1"/>
          </p:cNvPicPr>
          <p:nvPr/>
        </p:nvPicPr>
        <p:blipFill>
          <a:blip r:embed="rId4"/>
          <a:stretch>
            <a:fillRect/>
          </a:stretch>
        </p:blipFill>
        <p:spPr>
          <a:xfrm>
            <a:off x="1973149" y="3403536"/>
            <a:ext cx="134549" cy="195707"/>
          </a:xfrm>
          <a:prstGeom prst="rect">
            <a:avLst/>
          </a:prstGeom>
        </p:spPr>
      </p:pic>
      <p:sp>
        <p:nvSpPr>
          <p:cNvPr id="23" name="TextBox 22"/>
          <p:cNvSpPr txBox="1"/>
          <p:nvPr/>
        </p:nvSpPr>
        <p:spPr>
          <a:xfrm>
            <a:off x="2148258"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641597"/>
            <a:ext cx="6850695" cy="194310"/>
          </a:xfrm>
          <a:prstGeom prst="rect">
            <a:avLst/>
          </a:prstGeom>
          <a:noFill/>
        </p:spPr>
        <p:txBody>
          <a:bodyPr wrap="none" lIns="0" rIns="0" tIns="0" bIns="0">
            <a:spAutoFit/>
          </a:bodyPr>
          <a:lstStyle/>
          <a:p>
            <a:r>
              <a:rPr sz="1150" b="0">
                <a:solidFill>
                  <a:srgbClr val="2E2E2E"/>
                </a:solidFill>
                <a:latin typeface="Calibri"/>
              </a:rPr>
              <a:t>In terms of value share by compression stage, the two-stage segment is expected to dominate the market, gaining</a:t>
            </a:r>
          </a:p>
        </p:txBody>
      </p:sp>
      <p:pic>
        <p:nvPicPr>
          <p:cNvPr id="25" name="Picture 24" descr="lock.png"/>
          <p:cNvPicPr>
            <a:picLocks noChangeAspect="1"/>
          </p:cNvPicPr>
          <p:nvPr/>
        </p:nvPicPr>
        <p:blipFill>
          <a:blip r:embed="rId4"/>
          <a:stretch>
            <a:fillRect/>
          </a:stretch>
        </p:blipFill>
        <p:spPr>
          <a:xfrm>
            <a:off x="7076073" y="3631374"/>
            <a:ext cx="134549" cy="195707"/>
          </a:xfrm>
          <a:prstGeom prst="rect">
            <a:avLst/>
          </a:prstGeom>
        </p:spPr>
      </p:pic>
      <p:sp>
        <p:nvSpPr>
          <p:cNvPr id="26" name="TextBox 25"/>
          <p:cNvSpPr txBox="1"/>
          <p:nvPr/>
        </p:nvSpPr>
        <p:spPr>
          <a:xfrm>
            <a:off x="7251183"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8646326" y="3631374"/>
            <a:ext cx="134549" cy="195707"/>
          </a:xfrm>
          <a:prstGeom prst="rect">
            <a:avLst/>
          </a:prstGeom>
        </p:spPr>
      </p:pic>
      <p:sp>
        <p:nvSpPr>
          <p:cNvPr id="28" name="TextBox 27"/>
          <p:cNvSpPr txBox="1"/>
          <p:nvPr/>
        </p:nvSpPr>
        <p:spPr>
          <a:xfrm>
            <a:off x="8821435" y="3641597"/>
            <a:ext cx="2531095" cy="194310"/>
          </a:xfrm>
          <a:prstGeom prst="rect">
            <a:avLst/>
          </a:prstGeom>
          <a:noFill/>
        </p:spPr>
        <p:txBody>
          <a:bodyPr wrap="none" lIns="0" rIns="0" tIns="0" bIns="0">
            <a:spAutoFit/>
          </a:bodyPr>
          <a:lstStyle/>
          <a:p>
            <a:r>
              <a:rPr sz="1150" b="0">
                <a:solidFill>
                  <a:srgbClr val="2E2E2E"/>
                </a:solidFill>
                <a:latin typeface="Calibri"/>
              </a:rPr>
              <a:t>share by 2036. The multistage segment is</a:t>
            </a:r>
          </a:p>
        </p:txBody>
      </p:sp>
      <p:sp>
        <p:nvSpPr>
          <p:cNvPr id="29" name="TextBox 28"/>
          <p:cNvSpPr txBox="1"/>
          <p:nvPr/>
        </p:nvSpPr>
        <p:spPr>
          <a:xfrm>
            <a:off x="276225" y="3816857"/>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30" name="Picture 29" descr="lock.png"/>
          <p:cNvPicPr>
            <a:picLocks noChangeAspect="1"/>
          </p:cNvPicPr>
          <p:nvPr/>
        </p:nvPicPr>
        <p:blipFill>
          <a:blip r:embed="rId4"/>
          <a:stretch>
            <a:fillRect/>
          </a:stretch>
        </p:blipFill>
        <p:spPr>
          <a:xfrm>
            <a:off x="1280285" y="3806634"/>
            <a:ext cx="134549" cy="195707"/>
          </a:xfrm>
          <a:prstGeom prst="rect">
            <a:avLst/>
          </a:prstGeom>
        </p:spPr>
      </p:pic>
      <p:sp>
        <p:nvSpPr>
          <p:cNvPr id="31" name="TextBox 30"/>
          <p:cNvSpPr txBox="1"/>
          <p:nvPr/>
        </p:nvSpPr>
        <p:spPr>
          <a:xfrm>
            <a:off x="1455394" y="381685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4042898" y="3806634"/>
            <a:ext cx="134549" cy="195707"/>
          </a:xfrm>
          <a:prstGeom prst="rect">
            <a:avLst/>
          </a:prstGeom>
        </p:spPr>
      </p:pic>
      <p:sp>
        <p:nvSpPr>
          <p:cNvPr id="33" name="TextBox 32"/>
          <p:cNvSpPr txBox="1"/>
          <p:nvPr/>
        </p:nvSpPr>
        <p:spPr>
          <a:xfrm>
            <a:off x="4218008" y="381685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Compression Stage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Compression Stage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Compression Stage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FMI Lock Anchor"/>
          <p:cNvSpPr txBox="1"/>
          <p:nvPr/>
        </p:nvSpPr>
        <p:spPr>
          <a:xfrm>
            <a:off x="2678811" y="4014597"/>
            <a:ext cx="38100" cy="38100"/>
          </a:xfrm>
          <a:prstGeom prst="rect">
            <a:avLst/>
          </a:prstGeom>
          <a:noFill/>
        </p:spPr>
        <p:txBody>
          <a:bodyPr wrap="none">
            <a:spAutoFit/>
          </a:bodyPr>
          <a:lstStyle/>
          <a:p/>
        </p:txBody>
      </p:sp>
      <p:sp>
        <p:nvSpPr>
          <p:cNvPr id="12" name="FMI Legend Chip"/>
          <p:cNvSpPr/>
          <p:nvPr/>
        </p:nvSpPr>
        <p:spPr>
          <a:xfrm>
            <a:off x="4928997" y="2076925"/>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5090922" y="207216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99596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Single-Stage</a:t>
            </a:r>
          </a:p>
        </p:txBody>
      </p:sp>
      <p:sp>
        <p:nvSpPr>
          <p:cNvPr id="15" name="BPS Value 1"/>
          <p:cNvSpPr txBox="1"/>
          <p:nvPr/>
        </p:nvSpPr>
        <p:spPr>
          <a:xfrm>
            <a:off x="6896100" y="205787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FMI Legend Chip"/>
          <p:cNvSpPr/>
          <p:nvPr/>
        </p:nvSpPr>
        <p:spPr>
          <a:xfrm>
            <a:off x="4928997" y="2911506"/>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90674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83054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Multistage</a:t>
            </a:r>
          </a:p>
        </p:txBody>
      </p:sp>
      <p:sp>
        <p:nvSpPr>
          <p:cNvPr id="19" name="BPS Value 2"/>
          <p:cNvSpPr txBox="1"/>
          <p:nvPr/>
        </p:nvSpPr>
        <p:spPr>
          <a:xfrm>
            <a:off x="6896100" y="289245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4792028"/>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478726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471106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Two-Stage</a:t>
            </a:r>
          </a:p>
        </p:txBody>
      </p:sp>
      <p:sp>
        <p:nvSpPr>
          <p:cNvPr id="23" name="BPS Value 3"/>
          <p:cNvSpPr txBox="1"/>
          <p:nvPr/>
        </p:nvSpPr>
        <p:spPr>
          <a:xfrm>
            <a:off x="6896100" y="477297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Rounded Rectangle 23"/>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Global Read-out, By Compression Stage</a:t>
            </a:r>
          </a:p>
        </p:txBody>
      </p:sp>
      <p:sp>
        <p:nvSpPr>
          <p:cNvPr id="26" name="Rectangle 25"/>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8" name="Rectangle 2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0" name="Picture 29" descr="lock.png"/>
          <p:cNvPicPr>
            <a:picLocks noChangeAspect="1"/>
          </p:cNvPicPr>
          <p:nvPr/>
        </p:nvPicPr>
        <p:blipFill>
          <a:blip r:embed="rId5"/>
          <a:stretch>
            <a:fillRect/>
          </a:stretch>
        </p:blipFill>
        <p:spPr>
          <a:xfrm>
            <a:off x="2557843" y="3833622"/>
            <a:ext cx="275034" cy="400050"/>
          </a:xfrm>
          <a:prstGeom prst="rect">
            <a:avLst/>
          </a:prstGeom>
        </p:spPr>
      </p:pic>
      <p:sp>
        <p:nvSpPr>
          <p:cNvPr id="31" name="TextBox 30"/>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industrial air compressor by compression stage, single-stage</a:t>
            </a:r>
          </a:p>
        </p:txBody>
      </p:sp>
      <p:sp>
        <p:nvSpPr>
          <p:cNvPr id="32" name="TextBox 31"/>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33" name="Picture 32" descr="lock.png"/>
          <p:cNvPicPr>
            <a:picLocks noChangeAspect="1"/>
          </p:cNvPicPr>
          <p:nvPr/>
        </p:nvPicPr>
        <p:blipFill>
          <a:blip r:embed="rId5"/>
          <a:stretch>
            <a:fillRect/>
          </a:stretch>
        </p:blipFill>
        <p:spPr>
          <a:xfrm>
            <a:off x="10935343" y="1565211"/>
            <a:ext cx="134549" cy="195707"/>
          </a:xfrm>
          <a:prstGeom prst="rect">
            <a:avLst/>
          </a:prstGeom>
        </p:spPr>
      </p:pic>
      <p:sp>
        <p:nvSpPr>
          <p:cNvPr id="34" name="TextBox 33"/>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35" name="TextBox 34"/>
          <p:cNvSpPr txBox="1"/>
          <p:nvPr/>
        </p:nvSpPr>
        <p:spPr>
          <a:xfrm>
            <a:off x="7829550" y="1750695"/>
            <a:ext cx="3996159" cy="194310"/>
          </a:xfrm>
          <a:prstGeom prst="rect">
            <a:avLst/>
          </a:prstGeom>
          <a:noFill/>
        </p:spPr>
        <p:txBody>
          <a:bodyPr wrap="none" lIns="0" rIns="0" tIns="0" bIns="0">
            <a:spAutoFit/>
          </a:bodyPr>
          <a:lstStyle/>
          <a:p>
            <a:r>
              <a:rPr sz="1150" b="0">
                <a:solidFill>
                  <a:srgbClr val="2E2E2E"/>
                </a:solidFill>
                <a:latin typeface="Calibri"/>
              </a:rPr>
              <a:t>forecast period. In terms of value share by compression stage, the</a:t>
            </a:r>
          </a:p>
        </p:txBody>
      </p:sp>
      <p:sp>
        <p:nvSpPr>
          <p:cNvPr id="36" name="TextBox 35"/>
          <p:cNvSpPr txBox="1"/>
          <p:nvPr/>
        </p:nvSpPr>
        <p:spPr>
          <a:xfrm>
            <a:off x="7829550" y="1925955"/>
            <a:ext cx="3871788" cy="194310"/>
          </a:xfrm>
          <a:prstGeom prst="rect">
            <a:avLst/>
          </a:prstGeom>
          <a:noFill/>
        </p:spPr>
        <p:txBody>
          <a:bodyPr wrap="none" lIns="0" rIns="0" tIns="0" bIns="0">
            <a:spAutoFit/>
          </a:bodyPr>
          <a:lstStyle/>
          <a:p>
            <a:r>
              <a:rPr sz="1150" b="0">
                <a:solidFill>
                  <a:srgbClr val="2E2E2E"/>
                </a:solidFill>
                <a:latin typeface="Calibri"/>
              </a:rPr>
              <a:t>two-stage segment is expected to dominate the market, gaining</a:t>
            </a:r>
          </a:p>
        </p:txBody>
      </p:sp>
      <p:pic>
        <p:nvPicPr>
          <p:cNvPr id="37" name="Picture 36" descr="lock.png"/>
          <p:cNvPicPr>
            <a:picLocks noChangeAspect="1"/>
          </p:cNvPicPr>
          <p:nvPr/>
        </p:nvPicPr>
        <p:blipFill>
          <a:blip r:embed="rId5"/>
          <a:stretch>
            <a:fillRect/>
          </a:stretch>
        </p:blipFill>
        <p:spPr>
          <a:xfrm>
            <a:off x="7815470" y="2090991"/>
            <a:ext cx="134549" cy="195707"/>
          </a:xfrm>
          <a:prstGeom prst="rect">
            <a:avLst/>
          </a:prstGeom>
        </p:spPr>
      </p:pic>
      <p:sp>
        <p:nvSpPr>
          <p:cNvPr id="38" name="TextBox 37"/>
          <p:cNvSpPr txBox="1"/>
          <p:nvPr/>
        </p:nvSpPr>
        <p:spPr>
          <a:xfrm>
            <a:off x="79905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9" name="Picture 38" descr="lock.png"/>
          <p:cNvPicPr>
            <a:picLocks noChangeAspect="1"/>
          </p:cNvPicPr>
          <p:nvPr/>
        </p:nvPicPr>
        <p:blipFill>
          <a:blip r:embed="rId5"/>
          <a:stretch>
            <a:fillRect/>
          </a:stretch>
        </p:blipFill>
        <p:spPr>
          <a:xfrm>
            <a:off x="9385722" y="2090991"/>
            <a:ext cx="134549" cy="195707"/>
          </a:xfrm>
          <a:prstGeom prst="rect">
            <a:avLst/>
          </a:prstGeom>
        </p:spPr>
      </p:pic>
      <p:sp>
        <p:nvSpPr>
          <p:cNvPr id="40" name="TextBox 39"/>
          <p:cNvSpPr txBox="1"/>
          <p:nvPr/>
        </p:nvSpPr>
        <p:spPr>
          <a:xfrm>
            <a:off x="9560832"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1" name="TextBox 40"/>
          <p:cNvSpPr txBox="1"/>
          <p:nvPr/>
        </p:nvSpPr>
        <p:spPr>
          <a:xfrm>
            <a:off x="7829550" y="2329053"/>
            <a:ext cx="2639776" cy="194310"/>
          </a:xfrm>
          <a:prstGeom prst="rect">
            <a:avLst/>
          </a:prstGeom>
          <a:noFill/>
        </p:spPr>
        <p:txBody>
          <a:bodyPr wrap="none" lIns="0" rIns="0" tIns="0" bIns="0">
            <a:spAutoFit/>
          </a:bodyPr>
          <a:lstStyle/>
          <a:p>
            <a:r>
              <a:rPr sz="1150" b="0">
                <a:solidFill>
                  <a:srgbClr val="2E2E2E"/>
                </a:solidFill>
                <a:latin typeface="Calibri"/>
              </a:rPr>
              <a:t>The multistage segment is expected to lose</a:t>
            </a:r>
          </a:p>
        </p:txBody>
      </p:sp>
      <p:pic>
        <p:nvPicPr>
          <p:cNvPr id="42" name="Picture 41" descr="lock.png"/>
          <p:cNvPicPr>
            <a:picLocks noChangeAspect="1"/>
          </p:cNvPicPr>
          <p:nvPr/>
        </p:nvPicPr>
        <p:blipFill>
          <a:blip r:embed="rId5"/>
          <a:stretch>
            <a:fillRect/>
          </a:stretch>
        </p:blipFill>
        <p:spPr>
          <a:xfrm>
            <a:off x="10418480" y="2318829"/>
            <a:ext cx="134549" cy="195707"/>
          </a:xfrm>
          <a:prstGeom prst="rect">
            <a:avLst/>
          </a:prstGeom>
        </p:spPr>
      </p:pic>
      <p:sp>
        <p:nvSpPr>
          <p:cNvPr id="43" name="TextBox 42"/>
          <p:cNvSpPr txBox="1"/>
          <p:nvPr/>
        </p:nvSpPr>
        <p:spPr>
          <a:xfrm>
            <a:off x="10593590"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44" name="TextBox 43"/>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45" name="Picture 44" descr="lock.png"/>
          <p:cNvPicPr>
            <a:picLocks noChangeAspect="1"/>
          </p:cNvPicPr>
          <p:nvPr/>
        </p:nvPicPr>
        <p:blipFill>
          <a:blip r:embed="rId5"/>
          <a:stretch>
            <a:fillRect/>
          </a:stretch>
        </p:blipFill>
        <p:spPr>
          <a:xfrm>
            <a:off x="9630324" y="2494089"/>
            <a:ext cx="134549" cy="195707"/>
          </a:xfrm>
          <a:prstGeom prst="rect">
            <a:avLst/>
          </a:prstGeom>
        </p:spPr>
      </p:pic>
      <p:sp>
        <p:nvSpPr>
          <p:cNvPr id="46" name="TextBox 45"/>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7"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7.4</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End Use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 Use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End Use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7 sub-segments of End Use,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End Use segment categorizes the market by end use.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330779"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330779"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Mining and Metals</a:t>
            </a:r>
          </a:p>
        </p:txBody>
      </p:sp>
      <p:sp>
        <p:nvSpPr>
          <p:cNvPr id="19" name="Rectangle 18"/>
          <p:cNvSpPr/>
          <p:nvPr/>
        </p:nvSpPr>
        <p:spPr>
          <a:xfrm>
            <a:off x="1866900"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37036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311979" y="1773916"/>
            <a:ext cx="1330779"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11979" y="1992961"/>
            <a:ext cx="1330779"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50079"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Industrial Air Separation</a:t>
            </a:r>
          </a:p>
        </p:txBody>
      </p:sp>
      <p:sp>
        <p:nvSpPr>
          <p:cNvPr id="26" name="Rectangle 25"/>
          <p:cNvSpPr/>
          <p:nvPr/>
        </p:nvSpPr>
        <p:spPr>
          <a:xfrm>
            <a:off x="3311979"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311979"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311979"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3815443"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4757057" y="1773916"/>
            <a:ext cx="1330779"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757057" y="1992961"/>
            <a:ext cx="1330779"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95157"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Manufacturing</a:t>
            </a:r>
          </a:p>
        </p:txBody>
      </p:sp>
      <p:sp>
        <p:nvSpPr>
          <p:cNvPr id="33" name="Rectangle 32"/>
          <p:cNvSpPr/>
          <p:nvPr/>
        </p:nvSpPr>
        <p:spPr>
          <a:xfrm>
            <a:off x="4757057"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4757057"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4757057"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5260521"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6202136" y="1773916"/>
            <a:ext cx="1330779"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02136" y="1992961"/>
            <a:ext cx="1330779"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40236"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Automotive and Transportation</a:t>
            </a:r>
          </a:p>
        </p:txBody>
      </p:sp>
      <p:sp>
        <p:nvSpPr>
          <p:cNvPr id="40" name="Rectangle 39"/>
          <p:cNvSpPr/>
          <p:nvPr/>
        </p:nvSpPr>
        <p:spPr>
          <a:xfrm>
            <a:off x="6202136"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6202136"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6202136"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670560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7647214" y="1773916"/>
            <a:ext cx="1330779"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647214" y="1992961"/>
            <a:ext cx="1330779"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85314"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Oil and Gas</a:t>
            </a:r>
          </a:p>
        </p:txBody>
      </p:sp>
      <p:sp>
        <p:nvSpPr>
          <p:cNvPr id="47" name="Rectangle 46"/>
          <p:cNvSpPr/>
          <p:nvPr/>
        </p:nvSpPr>
        <p:spPr>
          <a:xfrm>
            <a:off x="7647214"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7647214"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7647214"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815067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9092293" y="1773916"/>
            <a:ext cx="1330779"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092293" y="1992961"/>
            <a:ext cx="1330779"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130393"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Pharmaceuticals</a:t>
            </a:r>
          </a:p>
        </p:txBody>
      </p:sp>
      <p:sp>
        <p:nvSpPr>
          <p:cNvPr id="54" name="Rectangle 53"/>
          <p:cNvSpPr/>
          <p:nvPr/>
        </p:nvSpPr>
        <p:spPr>
          <a:xfrm>
            <a:off x="9092293"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5" name="Rectangle 54"/>
          <p:cNvSpPr/>
          <p:nvPr/>
        </p:nvSpPr>
        <p:spPr>
          <a:xfrm>
            <a:off x="9092293"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6" name="Rectangle 55"/>
          <p:cNvSpPr/>
          <p:nvPr/>
        </p:nvSpPr>
        <p:spPr>
          <a:xfrm>
            <a:off x="9092293"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7" name="Oval 56"/>
          <p:cNvSpPr/>
          <p:nvPr/>
        </p:nvSpPr>
        <p:spPr>
          <a:xfrm>
            <a:off x="9595757"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58" name="Rounded Rectangle 57"/>
          <p:cNvSpPr/>
          <p:nvPr/>
        </p:nvSpPr>
        <p:spPr>
          <a:xfrm>
            <a:off x="10537371" y="1773916"/>
            <a:ext cx="1330779"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537371" y="1992961"/>
            <a:ext cx="1330779"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575471"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Food and Beverages</a:t>
            </a:r>
          </a:p>
        </p:txBody>
      </p:sp>
      <p:sp>
        <p:nvSpPr>
          <p:cNvPr id="61" name="Rectangle 60"/>
          <p:cNvSpPr/>
          <p:nvPr/>
        </p:nvSpPr>
        <p:spPr>
          <a:xfrm>
            <a:off x="10537371"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2" name="Rectangle 61"/>
          <p:cNvSpPr/>
          <p:nvPr/>
        </p:nvSpPr>
        <p:spPr>
          <a:xfrm>
            <a:off x="10537371"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3" name="Rectangle 62"/>
          <p:cNvSpPr/>
          <p:nvPr/>
        </p:nvSpPr>
        <p:spPr>
          <a:xfrm>
            <a:off x="10537371"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4" name="Oval 63"/>
          <p:cNvSpPr/>
          <p:nvPr/>
        </p:nvSpPr>
        <p:spPr>
          <a:xfrm>
            <a:off x="11040836"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65" name="Rounded Rectangle 6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7" name="Rectangle 66"/>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9" name="Rounded Rectangle 6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71" name="Rectangle 70"/>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p:txBody>
      </p:sp>
      <p:sp>
        <p:nvSpPr>
          <p:cNvPr id="73" name="Rounded Rectangle 7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5" name="Rectangle 74"/>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End Use split shows how demand is distributed across end use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77" name="Rectangle 7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9" name="TextBox 78"/>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80" name="Rectangle 7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82" name="Picture 81" descr="2_293_605E5C.png"/>
          <p:cNvPicPr>
            <a:picLocks noChangeAspect="1"/>
          </p:cNvPicPr>
          <p:nvPr/>
        </p:nvPicPr>
        <p:blipFill>
          <a:blip r:embed="rId4"/>
          <a:stretch>
            <a:fillRect/>
          </a:stretch>
        </p:blipFill>
        <p:spPr>
          <a:xfrm>
            <a:off x="1934425" y="2286582"/>
            <a:ext cx="1195728" cy="361950"/>
          </a:xfrm>
          <a:prstGeom prst="rect">
            <a:avLst/>
          </a:prstGeom>
        </p:spPr>
      </p:pic>
      <p:pic>
        <p:nvPicPr>
          <p:cNvPr id="83" name="Picture 82" descr="3_262_605E5C.png"/>
          <p:cNvPicPr>
            <a:picLocks noChangeAspect="1"/>
          </p:cNvPicPr>
          <p:nvPr/>
        </p:nvPicPr>
        <p:blipFill>
          <a:blip r:embed="rId5"/>
          <a:stretch>
            <a:fillRect/>
          </a:stretch>
        </p:blipFill>
        <p:spPr>
          <a:xfrm>
            <a:off x="1934425" y="2779432"/>
            <a:ext cx="1195728" cy="361950"/>
          </a:xfrm>
          <a:prstGeom prst="rect">
            <a:avLst/>
          </a:prstGeom>
        </p:spPr>
      </p:pic>
      <p:pic>
        <p:nvPicPr>
          <p:cNvPr id="84" name="Picture 83" descr="3_6__605E5C.png"/>
          <p:cNvPicPr>
            <a:picLocks noChangeAspect="1"/>
          </p:cNvPicPr>
          <p:nvPr/>
        </p:nvPicPr>
        <p:blipFill>
          <a:blip r:embed="rId6"/>
          <a:stretch>
            <a:fillRect/>
          </a:stretch>
        </p:blipFill>
        <p:spPr>
          <a:xfrm>
            <a:off x="2041071" y="3272281"/>
            <a:ext cx="982436" cy="361950"/>
          </a:xfrm>
          <a:prstGeom prst="rect">
            <a:avLst/>
          </a:prstGeom>
        </p:spPr>
      </p:pic>
      <p:pic>
        <p:nvPicPr>
          <p:cNvPr id="85" name="Picture 84" descr="2_244_605E5C.png"/>
          <p:cNvPicPr>
            <a:picLocks noChangeAspect="1"/>
          </p:cNvPicPr>
          <p:nvPr/>
        </p:nvPicPr>
        <p:blipFill>
          <a:blip r:embed="rId7"/>
          <a:stretch>
            <a:fillRect/>
          </a:stretch>
        </p:blipFill>
        <p:spPr>
          <a:xfrm>
            <a:off x="3379504" y="2286582"/>
            <a:ext cx="1195728" cy="361950"/>
          </a:xfrm>
          <a:prstGeom prst="rect">
            <a:avLst/>
          </a:prstGeom>
        </p:spPr>
      </p:pic>
      <p:pic>
        <p:nvPicPr>
          <p:cNvPr id="86" name="Picture 85" descr="4_609_605E5C.png"/>
          <p:cNvPicPr>
            <a:picLocks noChangeAspect="1"/>
          </p:cNvPicPr>
          <p:nvPr/>
        </p:nvPicPr>
        <p:blipFill>
          <a:blip r:embed="rId8"/>
          <a:stretch>
            <a:fillRect/>
          </a:stretch>
        </p:blipFill>
        <p:spPr>
          <a:xfrm>
            <a:off x="3379504" y="2779432"/>
            <a:ext cx="1195728" cy="361950"/>
          </a:xfrm>
          <a:prstGeom prst="rect">
            <a:avLst/>
          </a:prstGeom>
        </p:spPr>
      </p:pic>
      <p:pic>
        <p:nvPicPr>
          <p:cNvPr id="87" name="Picture 86" descr="7_5__605E5C.png"/>
          <p:cNvPicPr>
            <a:picLocks noChangeAspect="1"/>
          </p:cNvPicPr>
          <p:nvPr/>
        </p:nvPicPr>
        <p:blipFill>
          <a:blip r:embed="rId9"/>
          <a:stretch>
            <a:fillRect/>
          </a:stretch>
        </p:blipFill>
        <p:spPr>
          <a:xfrm>
            <a:off x="3486150" y="3272281"/>
            <a:ext cx="982436" cy="361950"/>
          </a:xfrm>
          <a:prstGeom prst="rect">
            <a:avLst/>
          </a:prstGeom>
        </p:spPr>
      </p:pic>
      <p:pic>
        <p:nvPicPr>
          <p:cNvPr id="88" name="Picture 87" descr="1_849_605E5C.png"/>
          <p:cNvPicPr>
            <a:picLocks noChangeAspect="1"/>
          </p:cNvPicPr>
          <p:nvPr/>
        </p:nvPicPr>
        <p:blipFill>
          <a:blip r:embed="rId10"/>
          <a:stretch>
            <a:fillRect/>
          </a:stretch>
        </p:blipFill>
        <p:spPr>
          <a:xfrm>
            <a:off x="4824582" y="2286582"/>
            <a:ext cx="1195728" cy="361950"/>
          </a:xfrm>
          <a:prstGeom prst="rect">
            <a:avLst/>
          </a:prstGeom>
        </p:spPr>
      </p:pic>
      <p:pic>
        <p:nvPicPr>
          <p:cNvPr id="89" name="Picture 88" descr="3_407_605E5C.png"/>
          <p:cNvPicPr>
            <a:picLocks noChangeAspect="1"/>
          </p:cNvPicPr>
          <p:nvPr/>
        </p:nvPicPr>
        <p:blipFill>
          <a:blip r:embed="rId11"/>
          <a:stretch>
            <a:fillRect/>
          </a:stretch>
        </p:blipFill>
        <p:spPr>
          <a:xfrm>
            <a:off x="4824582" y="2779432"/>
            <a:ext cx="1195728" cy="361950"/>
          </a:xfrm>
          <a:prstGeom prst="rect">
            <a:avLst/>
          </a:prstGeom>
        </p:spPr>
      </p:pic>
      <p:pic>
        <p:nvPicPr>
          <p:cNvPr id="90" name="Picture 89" descr="6_3__605E5C.png"/>
          <p:cNvPicPr>
            <a:picLocks noChangeAspect="1"/>
          </p:cNvPicPr>
          <p:nvPr/>
        </p:nvPicPr>
        <p:blipFill>
          <a:blip r:embed="rId12"/>
          <a:stretch>
            <a:fillRect/>
          </a:stretch>
        </p:blipFill>
        <p:spPr>
          <a:xfrm>
            <a:off x="4931228" y="3272281"/>
            <a:ext cx="982436" cy="361950"/>
          </a:xfrm>
          <a:prstGeom prst="rect">
            <a:avLst/>
          </a:prstGeom>
        </p:spPr>
      </p:pic>
      <p:pic>
        <p:nvPicPr>
          <p:cNvPr id="91" name="Picture 90" descr="1_525_605E5C.png"/>
          <p:cNvPicPr>
            <a:picLocks noChangeAspect="1"/>
          </p:cNvPicPr>
          <p:nvPr/>
        </p:nvPicPr>
        <p:blipFill>
          <a:blip r:embed="rId13"/>
          <a:stretch>
            <a:fillRect/>
          </a:stretch>
        </p:blipFill>
        <p:spPr>
          <a:xfrm>
            <a:off x="6269661" y="2286582"/>
            <a:ext cx="1195728" cy="361950"/>
          </a:xfrm>
          <a:prstGeom prst="rect">
            <a:avLst/>
          </a:prstGeom>
        </p:spPr>
      </p:pic>
      <p:pic>
        <p:nvPicPr>
          <p:cNvPr id="92" name="Picture 91" descr="1_782_605E5C.png"/>
          <p:cNvPicPr>
            <a:picLocks noChangeAspect="1"/>
          </p:cNvPicPr>
          <p:nvPr/>
        </p:nvPicPr>
        <p:blipFill>
          <a:blip r:embed="rId14"/>
          <a:stretch>
            <a:fillRect/>
          </a:stretch>
        </p:blipFill>
        <p:spPr>
          <a:xfrm>
            <a:off x="6269661" y="2779432"/>
            <a:ext cx="1195728" cy="361950"/>
          </a:xfrm>
          <a:prstGeom prst="rect">
            <a:avLst/>
          </a:prstGeom>
        </p:spPr>
      </p:pic>
      <p:pic>
        <p:nvPicPr>
          <p:cNvPr id="93" name="Picture 92" descr="1_6__605E5C.png"/>
          <p:cNvPicPr>
            <a:picLocks noChangeAspect="1"/>
          </p:cNvPicPr>
          <p:nvPr/>
        </p:nvPicPr>
        <p:blipFill>
          <a:blip r:embed="rId15"/>
          <a:stretch>
            <a:fillRect/>
          </a:stretch>
        </p:blipFill>
        <p:spPr>
          <a:xfrm>
            <a:off x="6376307" y="3272281"/>
            <a:ext cx="982436" cy="361950"/>
          </a:xfrm>
          <a:prstGeom prst="rect">
            <a:avLst/>
          </a:prstGeom>
        </p:spPr>
      </p:pic>
      <p:pic>
        <p:nvPicPr>
          <p:cNvPr id="94" name="Picture 93" descr="1_196_605E5C.png"/>
          <p:cNvPicPr>
            <a:picLocks noChangeAspect="1"/>
          </p:cNvPicPr>
          <p:nvPr/>
        </p:nvPicPr>
        <p:blipFill>
          <a:blip r:embed="rId16"/>
          <a:stretch>
            <a:fillRect/>
          </a:stretch>
        </p:blipFill>
        <p:spPr>
          <a:xfrm>
            <a:off x="7714739" y="2286582"/>
            <a:ext cx="1195728" cy="361950"/>
          </a:xfrm>
          <a:prstGeom prst="rect">
            <a:avLst/>
          </a:prstGeom>
        </p:spPr>
      </p:pic>
      <p:pic>
        <p:nvPicPr>
          <p:cNvPr id="95" name="Picture 94" descr="2_233_605E5C.png"/>
          <p:cNvPicPr>
            <a:picLocks noChangeAspect="1"/>
          </p:cNvPicPr>
          <p:nvPr/>
        </p:nvPicPr>
        <p:blipFill>
          <a:blip r:embed="rId17"/>
          <a:stretch>
            <a:fillRect/>
          </a:stretch>
        </p:blipFill>
        <p:spPr>
          <a:xfrm>
            <a:off x="7714739" y="2779432"/>
            <a:ext cx="1195728" cy="361950"/>
          </a:xfrm>
          <a:prstGeom prst="rect">
            <a:avLst/>
          </a:prstGeom>
        </p:spPr>
      </p:pic>
      <p:pic>
        <p:nvPicPr>
          <p:cNvPr id="96" name="Picture 95" descr="6_4__605E5C.png"/>
          <p:cNvPicPr>
            <a:picLocks noChangeAspect="1"/>
          </p:cNvPicPr>
          <p:nvPr/>
        </p:nvPicPr>
        <p:blipFill>
          <a:blip r:embed="rId18"/>
          <a:stretch>
            <a:fillRect/>
          </a:stretch>
        </p:blipFill>
        <p:spPr>
          <a:xfrm>
            <a:off x="7821385" y="3272281"/>
            <a:ext cx="982436" cy="361950"/>
          </a:xfrm>
          <a:prstGeom prst="rect">
            <a:avLst/>
          </a:prstGeom>
        </p:spPr>
      </p:pic>
      <p:pic>
        <p:nvPicPr>
          <p:cNvPr id="97" name="Picture 96" descr="1_088_605E5C.png"/>
          <p:cNvPicPr>
            <a:picLocks noChangeAspect="1"/>
          </p:cNvPicPr>
          <p:nvPr/>
        </p:nvPicPr>
        <p:blipFill>
          <a:blip r:embed="rId19"/>
          <a:stretch>
            <a:fillRect/>
          </a:stretch>
        </p:blipFill>
        <p:spPr>
          <a:xfrm>
            <a:off x="9159818" y="2286582"/>
            <a:ext cx="1195728" cy="361950"/>
          </a:xfrm>
          <a:prstGeom prst="rect">
            <a:avLst/>
          </a:prstGeom>
        </p:spPr>
      </p:pic>
      <p:pic>
        <p:nvPicPr>
          <p:cNvPr id="98" name="Picture 97" descr="1_545_605E5C.png"/>
          <p:cNvPicPr>
            <a:picLocks noChangeAspect="1"/>
          </p:cNvPicPr>
          <p:nvPr/>
        </p:nvPicPr>
        <p:blipFill>
          <a:blip r:embed="rId20"/>
          <a:stretch>
            <a:fillRect/>
          </a:stretch>
        </p:blipFill>
        <p:spPr>
          <a:xfrm>
            <a:off x="9159818" y="2779432"/>
            <a:ext cx="1195728" cy="361950"/>
          </a:xfrm>
          <a:prstGeom prst="rect">
            <a:avLst/>
          </a:prstGeom>
        </p:spPr>
      </p:pic>
      <p:pic>
        <p:nvPicPr>
          <p:cNvPr id="99" name="Picture 98" descr="3_6__605E5C.png"/>
          <p:cNvPicPr>
            <a:picLocks noChangeAspect="1"/>
          </p:cNvPicPr>
          <p:nvPr/>
        </p:nvPicPr>
        <p:blipFill>
          <a:blip r:embed="rId6"/>
          <a:stretch>
            <a:fillRect/>
          </a:stretch>
        </p:blipFill>
        <p:spPr>
          <a:xfrm>
            <a:off x="9266464" y="3272281"/>
            <a:ext cx="982436" cy="361950"/>
          </a:xfrm>
          <a:prstGeom prst="rect">
            <a:avLst/>
          </a:prstGeom>
        </p:spPr>
      </p:pic>
      <p:pic>
        <p:nvPicPr>
          <p:cNvPr id="100" name="Picture 99" descr="705_2_605E5C.png"/>
          <p:cNvPicPr>
            <a:picLocks noChangeAspect="1"/>
          </p:cNvPicPr>
          <p:nvPr/>
        </p:nvPicPr>
        <p:blipFill>
          <a:blip r:embed="rId21"/>
          <a:stretch>
            <a:fillRect/>
          </a:stretch>
        </p:blipFill>
        <p:spPr>
          <a:xfrm>
            <a:off x="10604896" y="2286582"/>
            <a:ext cx="1195728" cy="361950"/>
          </a:xfrm>
          <a:prstGeom prst="rect">
            <a:avLst/>
          </a:prstGeom>
        </p:spPr>
      </p:pic>
      <p:pic>
        <p:nvPicPr>
          <p:cNvPr id="101" name="Picture 100" descr="905_5_605E5C.png"/>
          <p:cNvPicPr>
            <a:picLocks noChangeAspect="1"/>
          </p:cNvPicPr>
          <p:nvPr/>
        </p:nvPicPr>
        <p:blipFill>
          <a:blip r:embed="rId22"/>
          <a:stretch>
            <a:fillRect/>
          </a:stretch>
        </p:blipFill>
        <p:spPr>
          <a:xfrm>
            <a:off x="10604896" y="2779432"/>
            <a:ext cx="1195728" cy="361950"/>
          </a:xfrm>
          <a:prstGeom prst="rect">
            <a:avLst/>
          </a:prstGeom>
        </p:spPr>
      </p:pic>
      <p:pic>
        <p:nvPicPr>
          <p:cNvPr id="102" name="Picture 101" descr="2_5__605E5C.png"/>
          <p:cNvPicPr>
            <a:picLocks noChangeAspect="1"/>
          </p:cNvPicPr>
          <p:nvPr/>
        </p:nvPicPr>
        <p:blipFill>
          <a:blip r:embed="rId23"/>
          <a:stretch>
            <a:fillRect/>
          </a:stretch>
        </p:blipFill>
        <p:spPr>
          <a:xfrm>
            <a:off x="10711542" y="3272281"/>
            <a:ext cx="982436" cy="361950"/>
          </a:xfrm>
          <a:prstGeom prst="rect">
            <a:avLst/>
          </a:prstGeom>
        </p:spPr>
      </p:pic>
      <p:pic>
        <p:nvPicPr>
          <p:cNvPr id="103" name="Picture 102" descr="lock.png"/>
          <p:cNvPicPr>
            <a:picLocks noChangeAspect="1"/>
          </p:cNvPicPr>
          <p:nvPr/>
        </p:nvPicPr>
        <p:blipFill>
          <a:blip r:embed="rId24"/>
          <a:stretch>
            <a:fillRect/>
          </a:stretch>
        </p:blipFill>
        <p:spPr>
          <a:xfrm>
            <a:off x="2438944" y="2827057"/>
            <a:ext cx="183356" cy="266700"/>
          </a:xfrm>
          <a:prstGeom prst="rect">
            <a:avLst/>
          </a:prstGeom>
        </p:spPr>
      </p:pic>
      <p:pic>
        <p:nvPicPr>
          <p:cNvPr id="104" name="Picture 103" descr="lock.png"/>
          <p:cNvPicPr>
            <a:picLocks noChangeAspect="1"/>
          </p:cNvPicPr>
          <p:nvPr/>
        </p:nvPicPr>
        <p:blipFill>
          <a:blip r:embed="rId24"/>
          <a:stretch>
            <a:fillRect/>
          </a:stretch>
        </p:blipFill>
        <p:spPr>
          <a:xfrm>
            <a:off x="3884023" y="2827057"/>
            <a:ext cx="183356" cy="266700"/>
          </a:xfrm>
          <a:prstGeom prst="rect">
            <a:avLst/>
          </a:prstGeom>
        </p:spPr>
      </p:pic>
      <p:pic>
        <p:nvPicPr>
          <p:cNvPr id="105" name="Picture 104" descr="lock.png"/>
          <p:cNvPicPr>
            <a:picLocks noChangeAspect="1"/>
          </p:cNvPicPr>
          <p:nvPr/>
        </p:nvPicPr>
        <p:blipFill>
          <a:blip r:embed="rId24"/>
          <a:stretch>
            <a:fillRect/>
          </a:stretch>
        </p:blipFill>
        <p:spPr>
          <a:xfrm>
            <a:off x="5329101" y="2827057"/>
            <a:ext cx="183356" cy="266700"/>
          </a:xfrm>
          <a:prstGeom prst="rect">
            <a:avLst/>
          </a:prstGeom>
        </p:spPr>
      </p:pic>
      <p:pic>
        <p:nvPicPr>
          <p:cNvPr id="106" name="Picture 105" descr="lock.png"/>
          <p:cNvPicPr>
            <a:picLocks noChangeAspect="1"/>
          </p:cNvPicPr>
          <p:nvPr/>
        </p:nvPicPr>
        <p:blipFill>
          <a:blip r:embed="rId24"/>
          <a:stretch>
            <a:fillRect/>
          </a:stretch>
        </p:blipFill>
        <p:spPr>
          <a:xfrm>
            <a:off x="6774180" y="2827057"/>
            <a:ext cx="183356" cy="266700"/>
          </a:xfrm>
          <a:prstGeom prst="rect">
            <a:avLst/>
          </a:prstGeom>
        </p:spPr>
      </p:pic>
      <p:pic>
        <p:nvPicPr>
          <p:cNvPr id="107" name="Picture 106" descr="lock.png"/>
          <p:cNvPicPr>
            <a:picLocks noChangeAspect="1"/>
          </p:cNvPicPr>
          <p:nvPr/>
        </p:nvPicPr>
        <p:blipFill>
          <a:blip r:embed="rId24"/>
          <a:stretch>
            <a:fillRect/>
          </a:stretch>
        </p:blipFill>
        <p:spPr>
          <a:xfrm>
            <a:off x="8219258" y="2827057"/>
            <a:ext cx="183356" cy="266700"/>
          </a:xfrm>
          <a:prstGeom prst="rect">
            <a:avLst/>
          </a:prstGeom>
        </p:spPr>
      </p:pic>
      <p:pic>
        <p:nvPicPr>
          <p:cNvPr id="108" name="Picture 107" descr="lock.png"/>
          <p:cNvPicPr>
            <a:picLocks noChangeAspect="1"/>
          </p:cNvPicPr>
          <p:nvPr/>
        </p:nvPicPr>
        <p:blipFill>
          <a:blip r:embed="rId24"/>
          <a:stretch>
            <a:fillRect/>
          </a:stretch>
        </p:blipFill>
        <p:spPr>
          <a:xfrm>
            <a:off x="9664337" y="2827057"/>
            <a:ext cx="183356" cy="266700"/>
          </a:xfrm>
          <a:prstGeom prst="rect">
            <a:avLst/>
          </a:prstGeom>
        </p:spPr>
      </p:pic>
      <p:pic>
        <p:nvPicPr>
          <p:cNvPr id="109" name="Picture 108" descr="lock.png"/>
          <p:cNvPicPr>
            <a:picLocks noChangeAspect="1"/>
          </p:cNvPicPr>
          <p:nvPr/>
        </p:nvPicPr>
        <p:blipFill>
          <a:blip r:embed="rId24"/>
          <a:stretch>
            <a:fillRect/>
          </a:stretch>
        </p:blipFill>
        <p:spPr>
          <a:xfrm>
            <a:off x="11109415" y="2827057"/>
            <a:ext cx="183356" cy="266700"/>
          </a:xfrm>
          <a:prstGeom prst="rect">
            <a:avLst/>
          </a:prstGeom>
        </p:spPr>
      </p:pic>
      <p:sp>
        <p:nvSpPr>
          <p:cNvPr id="110" name="TextBox 109"/>
          <p:cNvSpPr txBox="1"/>
          <p:nvPr/>
        </p:nvSpPr>
        <p:spPr>
          <a:xfrm>
            <a:off x="485775" y="4229437"/>
            <a:ext cx="2606625" cy="186689"/>
          </a:xfrm>
          <a:prstGeom prst="rect">
            <a:avLst/>
          </a:prstGeom>
          <a:noFill/>
        </p:spPr>
        <p:txBody>
          <a:bodyPr wrap="none" lIns="0" rIns="0" tIns="0" bIns="0">
            <a:spAutoFit/>
          </a:bodyPr>
          <a:lstStyle/>
          <a:p>
            <a:r>
              <a:rPr sz="1100" b="0">
                <a:solidFill>
                  <a:srgbClr val="2E2E2E"/>
                </a:solidFill>
                <a:latin typeface="Calibri"/>
              </a:rPr>
              <a:t>Among industrial air compressor by end use,</a:t>
            </a:r>
          </a:p>
        </p:txBody>
      </p:sp>
      <p:sp>
        <p:nvSpPr>
          <p:cNvPr id="111" name="TextBox 110"/>
          <p:cNvSpPr txBox="1"/>
          <p:nvPr/>
        </p:nvSpPr>
        <p:spPr>
          <a:xfrm>
            <a:off x="485775" y="4397077"/>
            <a:ext cx="2775247" cy="186689"/>
          </a:xfrm>
          <a:prstGeom prst="rect">
            <a:avLst/>
          </a:prstGeom>
          <a:noFill/>
        </p:spPr>
        <p:txBody>
          <a:bodyPr wrap="none" lIns="0" rIns="0" tIns="0" bIns="0">
            <a:spAutoFit/>
          </a:bodyPr>
          <a:lstStyle/>
          <a:p>
            <a:r>
              <a:rPr sz="1100" b="0">
                <a:solidFill>
                  <a:srgbClr val="2E2E2E"/>
                </a:solidFill>
                <a:latin typeface="Calibri"/>
              </a:rPr>
              <a:t>industrial air separation segment is expected to</a:t>
            </a:r>
          </a:p>
        </p:txBody>
      </p:sp>
      <p:sp>
        <p:nvSpPr>
          <p:cNvPr id="112" name="TextBox 111"/>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113" name="Picture 112" descr="lock.png"/>
          <p:cNvPicPr>
            <a:picLocks noChangeAspect="1"/>
          </p:cNvPicPr>
          <p:nvPr/>
        </p:nvPicPr>
        <p:blipFill>
          <a:blip r:embed="rId24"/>
          <a:stretch>
            <a:fillRect/>
          </a:stretch>
        </p:blipFill>
        <p:spPr>
          <a:xfrm>
            <a:off x="2108919" y="4554938"/>
            <a:ext cx="128699" cy="187198"/>
          </a:xfrm>
          <a:prstGeom prst="rect">
            <a:avLst/>
          </a:prstGeom>
        </p:spPr>
      </p:pic>
      <p:sp>
        <p:nvSpPr>
          <p:cNvPr id="114" name="TextBox 113"/>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115" name="TextBox 114"/>
          <p:cNvSpPr txBox="1"/>
          <p:nvPr/>
        </p:nvSpPr>
        <p:spPr>
          <a:xfrm>
            <a:off x="485775" y="4732357"/>
            <a:ext cx="2717403" cy="186689"/>
          </a:xfrm>
          <a:prstGeom prst="rect">
            <a:avLst/>
          </a:prstGeom>
          <a:noFill/>
        </p:spPr>
        <p:txBody>
          <a:bodyPr wrap="none" lIns="0" rIns="0" tIns="0" bIns="0">
            <a:spAutoFit/>
          </a:bodyPr>
          <a:lstStyle/>
          <a:p>
            <a:r>
              <a:rPr sz="1100" b="0">
                <a:solidFill>
                  <a:srgbClr val="2E2E2E"/>
                </a:solidFill>
                <a:latin typeface="Calibri"/>
              </a:rPr>
              <a:t>period. In terms of value share by end use, the</a:t>
            </a:r>
          </a:p>
        </p:txBody>
      </p:sp>
      <p:sp>
        <p:nvSpPr>
          <p:cNvPr id="116" name="TextBox 115"/>
          <p:cNvSpPr txBox="1"/>
          <p:nvPr/>
        </p:nvSpPr>
        <p:spPr>
          <a:xfrm>
            <a:off x="485775" y="4899997"/>
            <a:ext cx="2775247" cy="186689"/>
          </a:xfrm>
          <a:prstGeom prst="rect">
            <a:avLst/>
          </a:prstGeom>
          <a:noFill/>
        </p:spPr>
        <p:txBody>
          <a:bodyPr wrap="none" lIns="0" rIns="0" tIns="0" bIns="0">
            <a:spAutoFit/>
          </a:bodyPr>
          <a:lstStyle/>
          <a:p>
            <a:r>
              <a:rPr sz="1100" b="0">
                <a:solidFill>
                  <a:srgbClr val="2E2E2E"/>
                </a:solidFill>
                <a:latin typeface="Calibri"/>
              </a:rPr>
              <a:t>industrial air separation segment is expected to</a:t>
            </a:r>
          </a:p>
        </p:txBody>
      </p:sp>
      <p:sp>
        <p:nvSpPr>
          <p:cNvPr id="117" name="TextBox 116"/>
          <p:cNvSpPr txBox="1"/>
          <p:nvPr/>
        </p:nvSpPr>
        <p:spPr>
          <a:xfrm>
            <a:off x="485775" y="506763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118" name="Picture 117" descr="lock.png"/>
          <p:cNvPicPr>
            <a:picLocks noChangeAspect="1"/>
          </p:cNvPicPr>
          <p:nvPr/>
        </p:nvPicPr>
        <p:blipFill>
          <a:blip r:embed="rId24"/>
          <a:stretch>
            <a:fillRect/>
          </a:stretch>
        </p:blipFill>
        <p:spPr>
          <a:xfrm>
            <a:off x="2194339" y="5057858"/>
            <a:ext cx="128699" cy="187198"/>
          </a:xfrm>
          <a:prstGeom prst="rect">
            <a:avLst/>
          </a:prstGeom>
        </p:spPr>
      </p:pic>
      <p:sp>
        <p:nvSpPr>
          <p:cNvPr id="119" name="TextBox 118"/>
          <p:cNvSpPr txBox="1"/>
          <p:nvPr/>
        </p:nvSpPr>
        <p:spPr>
          <a:xfrm>
            <a:off x="2361835"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20" name="TextBox 119"/>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21" name="Picture 120" descr="lock.png"/>
          <p:cNvPicPr>
            <a:picLocks noChangeAspect="1"/>
          </p:cNvPicPr>
          <p:nvPr/>
        </p:nvPicPr>
        <p:blipFill>
          <a:blip r:embed="rId24"/>
          <a:stretch>
            <a:fillRect/>
          </a:stretch>
        </p:blipFill>
        <p:spPr>
          <a:xfrm>
            <a:off x="1330764" y="5225498"/>
            <a:ext cx="128699" cy="187198"/>
          </a:xfrm>
          <a:prstGeom prst="rect">
            <a:avLst/>
          </a:prstGeom>
        </p:spPr>
      </p:pic>
      <p:sp>
        <p:nvSpPr>
          <p:cNvPr id="122" name="TextBox 121"/>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23" name="TextBox 122"/>
          <p:cNvSpPr txBox="1"/>
          <p:nvPr/>
        </p:nvSpPr>
        <p:spPr>
          <a:xfrm>
            <a:off x="485775" y="5453209"/>
            <a:ext cx="2804169" cy="186689"/>
          </a:xfrm>
          <a:prstGeom prst="rect">
            <a:avLst/>
          </a:prstGeom>
          <a:noFill/>
        </p:spPr>
        <p:txBody>
          <a:bodyPr wrap="none" lIns="0" rIns="0" tIns="0" bIns="0">
            <a:spAutoFit/>
          </a:bodyPr>
          <a:lstStyle/>
          <a:p>
            <a:r>
              <a:rPr sz="1100" b="0">
                <a:solidFill>
                  <a:srgbClr val="2E2E2E"/>
                </a:solidFill>
                <a:latin typeface="Calibri"/>
              </a:rPr>
              <a:t>Industrial air separation segment is projected to</a:t>
            </a:r>
          </a:p>
        </p:txBody>
      </p:sp>
      <p:sp>
        <p:nvSpPr>
          <p:cNvPr id="124" name="TextBox 123"/>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25" name="Picture 124" descr="lock.png"/>
          <p:cNvPicPr>
            <a:picLocks noChangeAspect="1"/>
          </p:cNvPicPr>
          <p:nvPr/>
        </p:nvPicPr>
        <p:blipFill>
          <a:blip r:embed="rId24"/>
          <a:stretch>
            <a:fillRect/>
          </a:stretch>
        </p:blipFill>
        <p:spPr>
          <a:xfrm>
            <a:off x="946316" y="5611070"/>
            <a:ext cx="128699" cy="187198"/>
          </a:xfrm>
          <a:prstGeom prst="rect">
            <a:avLst/>
          </a:prstGeom>
        </p:spPr>
      </p:pic>
      <p:sp>
        <p:nvSpPr>
          <p:cNvPr id="126" name="TextBox 125"/>
          <p:cNvSpPr txBox="1"/>
          <p:nvPr/>
        </p:nvSpPr>
        <p:spPr>
          <a:xfrm>
            <a:off x="1113812" y="5620849"/>
            <a:ext cx="1516583" cy="186689"/>
          </a:xfrm>
          <a:prstGeom prst="rect">
            <a:avLst/>
          </a:prstGeom>
          <a:noFill/>
        </p:spPr>
        <p:txBody>
          <a:bodyPr wrap="none" lIns="0" rIns="0" tIns="0" bIns="0">
            <a:spAutoFit/>
          </a:bodyPr>
          <a:lstStyle/>
          <a:p>
            <a:r>
              <a:rPr sz="1100" b="0">
                <a:solidFill>
                  <a:srgbClr val="2E2E2E"/>
                </a:solidFill>
                <a:latin typeface="Calibri"/>
              </a:rPr>
              <a:t>X higher value than other</a:t>
            </a:r>
          </a:p>
        </p:txBody>
      </p:sp>
      <p:sp>
        <p:nvSpPr>
          <p:cNvPr id="127" name="TextBox 126"/>
          <p:cNvSpPr txBox="1"/>
          <p:nvPr/>
        </p:nvSpPr>
        <p:spPr>
          <a:xfrm>
            <a:off x="485775" y="5788489"/>
            <a:ext cx="1921495" cy="186689"/>
          </a:xfrm>
          <a:prstGeom prst="rect">
            <a:avLst/>
          </a:prstGeom>
          <a:noFill/>
        </p:spPr>
        <p:txBody>
          <a:bodyPr wrap="none" lIns="0" rIns="0" tIns="0" bIns="0">
            <a:spAutoFit/>
          </a:bodyPr>
          <a:lstStyle/>
          <a:p>
            <a:r>
              <a:rPr sz="1100" b="0">
                <a:solidFill>
                  <a:srgbClr val="2E2E2E"/>
                </a:solidFill>
                <a:latin typeface="Calibri"/>
              </a:rPr>
              <a:t>manufacturing segment in 2036.</a:t>
            </a:r>
          </a:p>
        </p:txBody>
      </p:sp>
      <p:sp>
        <p:nvSpPr>
          <p:cNvPr id="128" name="TextBox 127"/>
          <p:cNvSpPr txBox="1"/>
          <p:nvPr/>
        </p:nvSpPr>
        <p:spPr>
          <a:xfrm>
            <a:off x="3838575" y="4229437"/>
            <a:ext cx="1292572" cy="186689"/>
          </a:xfrm>
          <a:prstGeom prst="rect">
            <a:avLst/>
          </a:prstGeom>
          <a:noFill/>
        </p:spPr>
        <p:txBody>
          <a:bodyPr wrap="none" lIns="0" rIns="0" tIns="0" bIns="0">
            <a:spAutoFit/>
          </a:bodyPr>
          <a:lstStyle/>
          <a:p>
            <a:r>
              <a:rPr sz="1100" b="0">
                <a:solidFill>
                  <a:srgbClr val="2E2E2E"/>
                </a:solidFill>
                <a:latin typeface="Calibri"/>
              </a:rPr>
              <a:t>● Mining and Metals:</a:t>
            </a:r>
          </a:p>
        </p:txBody>
      </p:sp>
      <p:pic>
        <p:nvPicPr>
          <p:cNvPr id="129" name="Picture 128" descr="lock.png"/>
          <p:cNvPicPr>
            <a:picLocks noChangeAspect="1"/>
          </p:cNvPicPr>
          <p:nvPr/>
        </p:nvPicPr>
        <p:blipFill>
          <a:blip r:embed="rId24"/>
          <a:stretch>
            <a:fillRect/>
          </a:stretch>
        </p:blipFill>
        <p:spPr>
          <a:xfrm>
            <a:off x="5079198" y="4219658"/>
            <a:ext cx="128699" cy="187198"/>
          </a:xfrm>
          <a:prstGeom prst="rect">
            <a:avLst/>
          </a:prstGeom>
        </p:spPr>
      </p:pic>
      <p:sp>
        <p:nvSpPr>
          <p:cNvPr id="130" name="TextBox 129"/>
          <p:cNvSpPr txBox="1"/>
          <p:nvPr/>
        </p:nvSpPr>
        <p:spPr>
          <a:xfrm>
            <a:off x="5246694"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1" name="Picture 130" descr="lock.png"/>
          <p:cNvPicPr>
            <a:picLocks noChangeAspect="1"/>
          </p:cNvPicPr>
          <p:nvPr/>
        </p:nvPicPr>
        <p:blipFill>
          <a:blip r:embed="rId24"/>
          <a:stretch>
            <a:fillRect/>
          </a:stretch>
        </p:blipFill>
        <p:spPr>
          <a:xfrm>
            <a:off x="6106144" y="4219658"/>
            <a:ext cx="128699" cy="187198"/>
          </a:xfrm>
          <a:prstGeom prst="rect">
            <a:avLst/>
          </a:prstGeom>
        </p:spPr>
      </p:pic>
      <p:sp>
        <p:nvSpPr>
          <p:cNvPr id="132" name="TextBox 131"/>
          <p:cNvSpPr txBox="1"/>
          <p:nvPr/>
        </p:nvSpPr>
        <p:spPr>
          <a:xfrm>
            <a:off x="6273640"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33" name="TextBox 132"/>
          <p:cNvSpPr txBox="1"/>
          <p:nvPr/>
        </p:nvSpPr>
        <p:spPr>
          <a:xfrm>
            <a:off x="3838575" y="4447369"/>
            <a:ext cx="1607442" cy="186689"/>
          </a:xfrm>
          <a:prstGeom prst="rect">
            <a:avLst/>
          </a:prstGeom>
          <a:noFill/>
        </p:spPr>
        <p:txBody>
          <a:bodyPr wrap="none" lIns="0" rIns="0" tIns="0" bIns="0">
            <a:spAutoFit/>
          </a:bodyPr>
          <a:lstStyle/>
          <a:p>
            <a:r>
              <a:rPr sz="1100" b="0">
                <a:solidFill>
                  <a:srgbClr val="2E2E2E"/>
                </a:solidFill>
                <a:latin typeface="Calibri"/>
              </a:rPr>
              <a:t>● Industrial Air Separation:</a:t>
            </a:r>
          </a:p>
        </p:txBody>
      </p:sp>
      <p:pic>
        <p:nvPicPr>
          <p:cNvPr id="134" name="Picture 133" descr="lock.png"/>
          <p:cNvPicPr>
            <a:picLocks noChangeAspect="1"/>
          </p:cNvPicPr>
          <p:nvPr/>
        </p:nvPicPr>
        <p:blipFill>
          <a:blip r:embed="rId24"/>
          <a:stretch>
            <a:fillRect/>
          </a:stretch>
        </p:blipFill>
        <p:spPr>
          <a:xfrm>
            <a:off x="5394069" y="4437590"/>
            <a:ext cx="128699" cy="187198"/>
          </a:xfrm>
          <a:prstGeom prst="rect">
            <a:avLst/>
          </a:prstGeom>
        </p:spPr>
      </p:pic>
      <p:sp>
        <p:nvSpPr>
          <p:cNvPr id="135" name="TextBox 134"/>
          <p:cNvSpPr txBox="1"/>
          <p:nvPr/>
        </p:nvSpPr>
        <p:spPr>
          <a:xfrm>
            <a:off x="5561565"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6" name="Picture 135" descr="lock.png"/>
          <p:cNvPicPr>
            <a:picLocks noChangeAspect="1"/>
          </p:cNvPicPr>
          <p:nvPr/>
        </p:nvPicPr>
        <p:blipFill>
          <a:blip r:embed="rId24"/>
          <a:stretch>
            <a:fillRect/>
          </a:stretch>
        </p:blipFill>
        <p:spPr>
          <a:xfrm>
            <a:off x="6421015" y="4437590"/>
            <a:ext cx="128699" cy="187198"/>
          </a:xfrm>
          <a:prstGeom prst="rect">
            <a:avLst/>
          </a:prstGeom>
        </p:spPr>
      </p:pic>
      <p:sp>
        <p:nvSpPr>
          <p:cNvPr id="137" name="TextBox 136"/>
          <p:cNvSpPr txBox="1"/>
          <p:nvPr/>
        </p:nvSpPr>
        <p:spPr>
          <a:xfrm>
            <a:off x="6588511"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8" name="TextBox 137"/>
          <p:cNvSpPr txBox="1"/>
          <p:nvPr/>
        </p:nvSpPr>
        <p:spPr>
          <a:xfrm>
            <a:off x="3838575" y="4665301"/>
            <a:ext cx="1434727" cy="186689"/>
          </a:xfrm>
          <a:prstGeom prst="rect">
            <a:avLst/>
          </a:prstGeom>
          <a:noFill/>
        </p:spPr>
        <p:txBody>
          <a:bodyPr wrap="none" lIns="0" rIns="0" tIns="0" bIns="0">
            <a:spAutoFit/>
          </a:bodyPr>
          <a:lstStyle/>
          <a:p>
            <a:r>
              <a:rPr sz="1100" b="0">
                <a:solidFill>
                  <a:srgbClr val="2E2E2E"/>
                </a:solidFill>
                <a:latin typeface="Calibri"/>
              </a:rPr>
              <a:t>● Other Manufacturing:</a:t>
            </a:r>
          </a:p>
        </p:txBody>
      </p:sp>
      <p:pic>
        <p:nvPicPr>
          <p:cNvPr id="139" name="Picture 138" descr="lock.png"/>
          <p:cNvPicPr>
            <a:picLocks noChangeAspect="1"/>
          </p:cNvPicPr>
          <p:nvPr/>
        </p:nvPicPr>
        <p:blipFill>
          <a:blip r:embed="rId24"/>
          <a:stretch>
            <a:fillRect/>
          </a:stretch>
        </p:blipFill>
        <p:spPr>
          <a:xfrm>
            <a:off x="5221354" y="4655522"/>
            <a:ext cx="128699" cy="187198"/>
          </a:xfrm>
          <a:prstGeom prst="rect">
            <a:avLst/>
          </a:prstGeom>
        </p:spPr>
      </p:pic>
      <p:sp>
        <p:nvSpPr>
          <p:cNvPr id="140" name="TextBox 139"/>
          <p:cNvSpPr txBox="1"/>
          <p:nvPr/>
        </p:nvSpPr>
        <p:spPr>
          <a:xfrm>
            <a:off x="5388850"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1" name="Picture 140" descr="lock.png"/>
          <p:cNvPicPr>
            <a:picLocks noChangeAspect="1"/>
          </p:cNvPicPr>
          <p:nvPr/>
        </p:nvPicPr>
        <p:blipFill>
          <a:blip r:embed="rId24"/>
          <a:stretch>
            <a:fillRect/>
          </a:stretch>
        </p:blipFill>
        <p:spPr>
          <a:xfrm>
            <a:off x="6248300" y="4655522"/>
            <a:ext cx="128699" cy="187198"/>
          </a:xfrm>
          <a:prstGeom prst="rect">
            <a:avLst/>
          </a:prstGeom>
        </p:spPr>
      </p:pic>
      <p:sp>
        <p:nvSpPr>
          <p:cNvPr id="142" name="TextBox 141"/>
          <p:cNvSpPr txBox="1"/>
          <p:nvPr/>
        </p:nvSpPr>
        <p:spPr>
          <a:xfrm>
            <a:off x="6415796"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3" name="TextBox 142"/>
          <p:cNvSpPr txBox="1"/>
          <p:nvPr/>
        </p:nvSpPr>
        <p:spPr>
          <a:xfrm>
            <a:off x="3838575" y="4883233"/>
            <a:ext cx="2025997" cy="186689"/>
          </a:xfrm>
          <a:prstGeom prst="rect">
            <a:avLst/>
          </a:prstGeom>
          <a:noFill/>
        </p:spPr>
        <p:txBody>
          <a:bodyPr wrap="none" lIns="0" rIns="0" tIns="0" bIns="0">
            <a:spAutoFit/>
          </a:bodyPr>
          <a:lstStyle/>
          <a:p>
            <a:r>
              <a:rPr sz="1100" b="0">
                <a:solidFill>
                  <a:srgbClr val="2E2E2E"/>
                </a:solidFill>
                <a:latin typeface="Calibri"/>
              </a:rPr>
              <a:t>● Automotive and Transportation:</a:t>
            </a:r>
          </a:p>
        </p:txBody>
      </p:sp>
      <p:pic>
        <p:nvPicPr>
          <p:cNvPr id="144" name="Picture 143" descr="lock.png"/>
          <p:cNvPicPr>
            <a:picLocks noChangeAspect="1"/>
          </p:cNvPicPr>
          <p:nvPr/>
        </p:nvPicPr>
        <p:blipFill>
          <a:blip r:embed="rId24"/>
          <a:stretch>
            <a:fillRect/>
          </a:stretch>
        </p:blipFill>
        <p:spPr>
          <a:xfrm>
            <a:off x="5812623" y="4873454"/>
            <a:ext cx="128699" cy="187198"/>
          </a:xfrm>
          <a:prstGeom prst="rect">
            <a:avLst/>
          </a:prstGeom>
        </p:spPr>
      </p:pic>
      <p:sp>
        <p:nvSpPr>
          <p:cNvPr id="145" name="TextBox 144"/>
          <p:cNvSpPr txBox="1"/>
          <p:nvPr/>
        </p:nvSpPr>
        <p:spPr>
          <a:xfrm>
            <a:off x="5980119"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6" name="Picture 145" descr="lock.png"/>
          <p:cNvPicPr>
            <a:picLocks noChangeAspect="1"/>
          </p:cNvPicPr>
          <p:nvPr/>
        </p:nvPicPr>
        <p:blipFill>
          <a:blip r:embed="rId24"/>
          <a:stretch>
            <a:fillRect/>
          </a:stretch>
        </p:blipFill>
        <p:spPr>
          <a:xfrm>
            <a:off x="6839569" y="4873454"/>
            <a:ext cx="128699" cy="187198"/>
          </a:xfrm>
          <a:prstGeom prst="rect">
            <a:avLst/>
          </a:prstGeom>
        </p:spPr>
      </p:pic>
      <p:sp>
        <p:nvSpPr>
          <p:cNvPr id="147" name="TextBox 146"/>
          <p:cNvSpPr txBox="1"/>
          <p:nvPr/>
        </p:nvSpPr>
        <p:spPr>
          <a:xfrm>
            <a:off x="7007065" y="4883233"/>
            <a:ext cx="787234" cy="186689"/>
          </a:xfrm>
          <a:prstGeom prst="rect">
            <a:avLst/>
          </a:prstGeom>
          <a:noFill/>
        </p:spPr>
        <p:txBody>
          <a:bodyPr wrap="none" lIns="0" rIns="0" tIns="0" bIns="0">
            <a:spAutoFit/>
          </a:bodyPr>
          <a:lstStyle/>
          <a:p>
            <a:r>
              <a:rPr sz="1100" b="0">
                <a:solidFill>
                  <a:srgbClr val="2E2E2E"/>
                </a:solidFill>
                <a:latin typeface="Calibri"/>
              </a:rPr>
              <a:t>CAGR serves</a:t>
            </a:r>
          </a:p>
        </p:txBody>
      </p:sp>
      <p:sp>
        <p:nvSpPr>
          <p:cNvPr id="148" name="TextBox 147"/>
          <p:cNvSpPr txBox="1"/>
          <p:nvPr/>
        </p:nvSpPr>
        <p:spPr>
          <a:xfrm>
            <a:off x="3838575" y="5050873"/>
            <a:ext cx="517673" cy="186689"/>
          </a:xfrm>
          <a:prstGeom prst="rect">
            <a:avLst/>
          </a:prstGeom>
          <a:noFill/>
        </p:spPr>
        <p:txBody>
          <a:bodyPr wrap="none" lIns="0" rIns="0" tIns="0" bIns="0">
            <a:spAutoFit/>
          </a:bodyPr>
          <a:lstStyle/>
          <a:p>
            <a:r>
              <a:rPr sz="1100" b="0">
                <a:solidFill>
                  <a:srgbClr val="2E2E2E"/>
                </a:solidFill>
                <a:latin typeface="Calibri"/>
              </a:rPr>
              <a:t>a niche.</a:t>
            </a:r>
          </a:p>
        </p:txBody>
      </p:sp>
      <p:sp>
        <p:nvSpPr>
          <p:cNvPr id="149" name="TextBox 148"/>
          <p:cNvSpPr txBox="1"/>
          <p:nvPr/>
        </p:nvSpPr>
        <p:spPr>
          <a:xfrm>
            <a:off x="3838575" y="5268805"/>
            <a:ext cx="872926" cy="186689"/>
          </a:xfrm>
          <a:prstGeom prst="rect">
            <a:avLst/>
          </a:prstGeom>
          <a:noFill/>
        </p:spPr>
        <p:txBody>
          <a:bodyPr wrap="none" lIns="0" rIns="0" tIns="0" bIns="0">
            <a:spAutoFit/>
          </a:bodyPr>
          <a:lstStyle/>
          <a:p>
            <a:r>
              <a:rPr sz="1100" b="0">
                <a:solidFill>
                  <a:srgbClr val="2E2E2E"/>
                </a:solidFill>
                <a:latin typeface="Calibri"/>
              </a:rPr>
              <a:t>● Oil and Gas:</a:t>
            </a:r>
          </a:p>
        </p:txBody>
      </p:sp>
      <p:pic>
        <p:nvPicPr>
          <p:cNvPr id="150" name="Picture 149" descr="lock.png"/>
          <p:cNvPicPr>
            <a:picLocks noChangeAspect="1"/>
          </p:cNvPicPr>
          <p:nvPr/>
        </p:nvPicPr>
        <p:blipFill>
          <a:blip r:embed="rId24"/>
          <a:stretch>
            <a:fillRect/>
          </a:stretch>
        </p:blipFill>
        <p:spPr>
          <a:xfrm>
            <a:off x="4659553" y="5259026"/>
            <a:ext cx="128699" cy="187198"/>
          </a:xfrm>
          <a:prstGeom prst="rect">
            <a:avLst/>
          </a:prstGeom>
        </p:spPr>
      </p:pic>
      <p:sp>
        <p:nvSpPr>
          <p:cNvPr id="151" name="TextBox 150"/>
          <p:cNvSpPr txBox="1"/>
          <p:nvPr/>
        </p:nvSpPr>
        <p:spPr>
          <a:xfrm>
            <a:off x="4827048" y="526880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2" name="Picture 151" descr="lock.png"/>
          <p:cNvPicPr>
            <a:picLocks noChangeAspect="1"/>
          </p:cNvPicPr>
          <p:nvPr/>
        </p:nvPicPr>
        <p:blipFill>
          <a:blip r:embed="rId24"/>
          <a:stretch>
            <a:fillRect/>
          </a:stretch>
        </p:blipFill>
        <p:spPr>
          <a:xfrm>
            <a:off x="5686499" y="5259026"/>
            <a:ext cx="128699" cy="187198"/>
          </a:xfrm>
          <a:prstGeom prst="rect">
            <a:avLst/>
          </a:prstGeom>
        </p:spPr>
      </p:pic>
      <p:sp>
        <p:nvSpPr>
          <p:cNvPr id="153" name="TextBox 152"/>
          <p:cNvSpPr txBox="1"/>
          <p:nvPr/>
        </p:nvSpPr>
        <p:spPr>
          <a:xfrm>
            <a:off x="5853995" y="526880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54" name="TextBox 153"/>
          <p:cNvSpPr txBox="1"/>
          <p:nvPr/>
        </p:nvSpPr>
        <p:spPr>
          <a:xfrm>
            <a:off x="3838575" y="5486737"/>
            <a:ext cx="1163513" cy="186689"/>
          </a:xfrm>
          <a:prstGeom prst="rect">
            <a:avLst/>
          </a:prstGeom>
          <a:noFill/>
        </p:spPr>
        <p:txBody>
          <a:bodyPr wrap="none" lIns="0" rIns="0" tIns="0" bIns="0">
            <a:spAutoFit/>
          </a:bodyPr>
          <a:lstStyle/>
          <a:p>
            <a:r>
              <a:rPr sz="1100" b="0">
                <a:solidFill>
                  <a:srgbClr val="2E2E2E"/>
                </a:solidFill>
                <a:latin typeface="Calibri"/>
              </a:rPr>
              <a:t>● Pharmaceuticals:</a:t>
            </a:r>
          </a:p>
        </p:txBody>
      </p:sp>
      <p:pic>
        <p:nvPicPr>
          <p:cNvPr id="155" name="Picture 154" descr="lock.png"/>
          <p:cNvPicPr>
            <a:picLocks noChangeAspect="1"/>
          </p:cNvPicPr>
          <p:nvPr/>
        </p:nvPicPr>
        <p:blipFill>
          <a:blip r:embed="rId24"/>
          <a:stretch>
            <a:fillRect/>
          </a:stretch>
        </p:blipFill>
        <p:spPr>
          <a:xfrm>
            <a:off x="4950140" y="5476958"/>
            <a:ext cx="128699" cy="187198"/>
          </a:xfrm>
          <a:prstGeom prst="rect">
            <a:avLst/>
          </a:prstGeom>
        </p:spPr>
      </p:pic>
      <p:sp>
        <p:nvSpPr>
          <p:cNvPr id="156" name="TextBox 155"/>
          <p:cNvSpPr txBox="1"/>
          <p:nvPr/>
        </p:nvSpPr>
        <p:spPr>
          <a:xfrm>
            <a:off x="5117635" y="54867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7" name="Picture 156" descr="lock.png"/>
          <p:cNvPicPr>
            <a:picLocks noChangeAspect="1"/>
          </p:cNvPicPr>
          <p:nvPr/>
        </p:nvPicPr>
        <p:blipFill>
          <a:blip r:embed="rId24"/>
          <a:stretch>
            <a:fillRect/>
          </a:stretch>
        </p:blipFill>
        <p:spPr>
          <a:xfrm>
            <a:off x="5977086" y="5476958"/>
            <a:ext cx="128699" cy="187198"/>
          </a:xfrm>
          <a:prstGeom prst="rect">
            <a:avLst/>
          </a:prstGeom>
        </p:spPr>
      </p:pic>
      <p:sp>
        <p:nvSpPr>
          <p:cNvPr id="158" name="TextBox 157"/>
          <p:cNvSpPr txBox="1"/>
          <p:nvPr/>
        </p:nvSpPr>
        <p:spPr>
          <a:xfrm>
            <a:off x="6144581" y="548673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59" name="TextBox 158"/>
          <p:cNvSpPr txBox="1"/>
          <p:nvPr/>
        </p:nvSpPr>
        <p:spPr>
          <a:xfrm>
            <a:off x="3838575" y="5704669"/>
            <a:ext cx="1375216" cy="186689"/>
          </a:xfrm>
          <a:prstGeom prst="rect">
            <a:avLst/>
          </a:prstGeom>
          <a:noFill/>
        </p:spPr>
        <p:txBody>
          <a:bodyPr wrap="none" lIns="0" rIns="0" tIns="0" bIns="0">
            <a:spAutoFit/>
          </a:bodyPr>
          <a:lstStyle/>
          <a:p>
            <a:r>
              <a:rPr sz="1100" b="0">
                <a:solidFill>
                  <a:srgbClr val="2E2E2E"/>
                </a:solidFill>
                <a:latin typeface="Calibri"/>
              </a:rPr>
              <a:t>● Food and Beverages:</a:t>
            </a:r>
          </a:p>
        </p:txBody>
      </p:sp>
      <p:pic>
        <p:nvPicPr>
          <p:cNvPr id="160" name="Picture 159" descr="lock.png"/>
          <p:cNvPicPr>
            <a:picLocks noChangeAspect="1"/>
          </p:cNvPicPr>
          <p:nvPr/>
        </p:nvPicPr>
        <p:blipFill>
          <a:blip r:embed="rId24"/>
          <a:stretch>
            <a:fillRect/>
          </a:stretch>
        </p:blipFill>
        <p:spPr>
          <a:xfrm>
            <a:off x="5161843" y="5694890"/>
            <a:ext cx="128699" cy="187198"/>
          </a:xfrm>
          <a:prstGeom prst="rect">
            <a:avLst/>
          </a:prstGeom>
        </p:spPr>
      </p:pic>
      <p:sp>
        <p:nvSpPr>
          <p:cNvPr id="161" name="TextBox 160"/>
          <p:cNvSpPr txBox="1"/>
          <p:nvPr/>
        </p:nvSpPr>
        <p:spPr>
          <a:xfrm>
            <a:off x="5329338" y="57046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62" name="Picture 161" descr="lock.png"/>
          <p:cNvPicPr>
            <a:picLocks noChangeAspect="1"/>
          </p:cNvPicPr>
          <p:nvPr/>
        </p:nvPicPr>
        <p:blipFill>
          <a:blip r:embed="rId24"/>
          <a:stretch>
            <a:fillRect/>
          </a:stretch>
        </p:blipFill>
        <p:spPr>
          <a:xfrm>
            <a:off x="6188789" y="5694890"/>
            <a:ext cx="128699" cy="187198"/>
          </a:xfrm>
          <a:prstGeom prst="rect">
            <a:avLst/>
          </a:prstGeom>
        </p:spPr>
      </p:pic>
      <p:sp>
        <p:nvSpPr>
          <p:cNvPr id="163" name="TextBox 162"/>
          <p:cNvSpPr txBox="1"/>
          <p:nvPr/>
        </p:nvSpPr>
        <p:spPr>
          <a:xfrm>
            <a:off x="6356284" y="57046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64" name="TextBox 163"/>
          <p:cNvSpPr txBox="1"/>
          <p:nvPr/>
        </p:nvSpPr>
        <p:spPr>
          <a:xfrm>
            <a:off x="8524875" y="5842641"/>
            <a:ext cx="2887377" cy="194310"/>
          </a:xfrm>
          <a:prstGeom prst="rect">
            <a:avLst/>
          </a:prstGeom>
          <a:noFill/>
        </p:spPr>
        <p:txBody>
          <a:bodyPr wrap="none" lIns="0" rIns="0" tIns="0" bIns="0">
            <a:spAutoFit/>
          </a:bodyPr>
          <a:lstStyle/>
          <a:p>
            <a:r>
              <a:rPr sz="1150" b="1">
                <a:solidFill>
                  <a:srgbClr val="0B2E4A"/>
                </a:solidFill>
                <a:latin typeface="Calibri"/>
              </a:rPr>
              <a:t>The End Use segment is projected to grow at a</a:t>
            </a:r>
          </a:p>
        </p:txBody>
      </p:sp>
      <p:sp>
        <p:nvSpPr>
          <p:cNvPr id="165" name="TextBox 164"/>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66" name="Picture 165" descr="lock.png"/>
          <p:cNvPicPr>
            <a:picLocks noChangeAspect="1"/>
          </p:cNvPicPr>
          <p:nvPr/>
        </p:nvPicPr>
        <p:blipFill>
          <a:blip r:embed="rId24"/>
          <a:stretch>
            <a:fillRect/>
          </a:stretch>
        </p:blipFill>
        <p:spPr>
          <a:xfrm>
            <a:off x="9048826" y="6007677"/>
            <a:ext cx="134549" cy="195707"/>
          </a:xfrm>
          <a:prstGeom prst="rect">
            <a:avLst/>
          </a:prstGeom>
        </p:spPr>
      </p:pic>
      <p:sp>
        <p:nvSpPr>
          <p:cNvPr id="167" name="TextBox 166"/>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End Use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End Use mix within each region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 Use mix within each region (share of 2036 value) · row label = region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End Use · Bubble size represents 2036 value</a:t>
            </a:r>
          </a:p>
        </p:txBody>
      </p:sp>
      <p:graphicFrame>
        <p:nvGraphicFramePr>
          <p:cNvPr id="12" name="Chart 11"/>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466934" cy="186689"/>
          </a:xfrm>
          <a:prstGeom prst="rect">
            <a:avLst/>
          </a:prstGeom>
          <a:noFill/>
        </p:spPr>
        <p:txBody>
          <a:bodyPr wrap="none" lIns="0" rIns="0" tIns="0" bIns="0">
            <a:spAutoFit/>
          </a:bodyPr>
          <a:lstStyle/>
          <a:p>
            <a:r>
              <a:rPr sz="1100" b="0">
                <a:solidFill>
                  <a:srgbClr val="2E2E2E"/>
                </a:solidFill>
                <a:latin typeface="Calibri"/>
              </a:rPr>
              <a:t>Industrial air separation followed by other manufacturing are expected to be the two most attractive end use segments in the global industrial air compressor market in terms of value over the forecast</a:t>
            </a:r>
          </a:p>
        </p:txBody>
      </p:sp>
      <p:sp>
        <p:nvSpPr>
          <p:cNvPr id="18" name="TextBox 17"/>
          <p:cNvSpPr txBox="1"/>
          <p:nvPr/>
        </p:nvSpPr>
        <p:spPr>
          <a:xfrm>
            <a:off x="257175" y="5861685"/>
            <a:ext cx="4681917" cy="186689"/>
          </a:xfrm>
          <a:prstGeom prst="rect">
            <a:avLst/>
          </a:prstGeom>
          <a:noFill/>
        </p:spPr>
        <p:txBody>
          <a:bodyPr wrap="none" lIns="0" rIns="0" tIns="0" bIns="0">
            <a:spAutoFit/>
          </a:bodyPr>
          <a:lstStyle/>
          <a:p>
            <a:r>
              <a:rPr sz="1100" b="0">
                <a:solidFill>
                  <a:srgbClr val="2E2E2E"/>
                </a:solidFill>
                <a:latin typeface="Calibri"/>
              </a:rPr>
              <a:t>period. Industrial air separation and other manufacturing exhibit a CAGR index of</a:t>
            </a:r>
          </a:p>
        </p:txBody>
      </p:sp>
      <p:pic>
        <p:nvPicPr>
          <p:cNvPr id="19" name="Picture 18" descr="lock.png"/>
          <p:cNvPicPr>
            <a:picLocks noChangeAspect="1"/>
          </p:cNvPicPr>
          <p:nvPr/>
        </p:nvPicPr>
        <p:blipFill>
          <a:blip r:embed="rId6"/>
          <a:stretch>
            <a:fillRect/>
          </a:stretch>
        </p:blipFill>
        <p:spPr>
          <a:xfrm>
            <a:off x="4887143" y="5851905"/>
            <a:ext cx="128699" cy="187198"/>
          </a:xfrm>
          <a:prstGeom prst="rect">
            <a:avLst/>
          </a:prstGeom>
        </p:spPr>
      </p:pic>
      <p:sp>
        <p:nvSpPr>
          <p:cNvPr id="20" name="TextBox 19"/>
          <p:cNvSpPr txBox="1"/>
          <p:nvPr/>
        </p:nvSpPr>
        <p:spPr>
          <a:xfrm>
            <a:off x="505463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5292534" y="5851905"/>
            <a:ext cx="128699" cy="187198"/>
          </a:xfrm>
          <a:prstGeom prst="rect">
            <a:avLst/>
          </a:prstGeom>
        </p:spPr>
      </p:pic>
      <p:sp>
        <p:nvSpPr>
          <p:cNvPr id="22" name="TextBox 21"/>
          <p:cNvSpPr txBox="1"/>
          <p:nvPr/>
        </p:nvSpPr>
        <p:spPr>
          <a:xfrm>
            <a:off x="5460029"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7069003" y="5851905"/>
            <a:ext cx="128699" cy="187198"/>
          </a:xfrm>
          <a:prstGeom prst="rect">
            <a:avLst/>
          </a:prstGeom>
        </p:spPr>
      </p:pic>
      <p:sp>
        <p:nvSpPr>
          <p:cNvPr id="24" name="TextBox 23"/>
          <p:cNvSpPr txBox="1"/>
          <p:nvPr/>
        </p:nvSpPr>
        <p:spPr>
          <a:xfrm>
            <a:off x="723649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7474393" y="5851905"/>
            <a:ext cx="128699" cy="187198"/>
          </a:xfrm>
          <a:prstGeom prst="rect">
            <a:avLst/>
          </a:prstGeom>
        </p:spPr>
      </p:pic>
      <p:sp>
        <p:nvSpPr>
          <p:cNvPr id="26" name="TextBox 25"/>
          <p:cNvSpPr txBox="1"/>
          <p:nvPr/>
        </p:nvSpPr>
        <p:spPr>
          <a:xfrm>
            <a:off x="7641889"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10196293" y="5851905"/>
            <a:ext cx="128699" cy="187198"/>
          </a:xfrm>
          <a:prstGeom prst="rect">
            <a:avLst/>
          </a:prstGeom>
        </p:spPr>
      </p:pic>
      <p:sp>
        <p:nvSpPr>
          <p:cNvPr id="28" name="TextBox 27"/>
          <p:cNvSpPr txBox="1"/>
          <p:nvPr/>
        </p:nvSpPr>
        <p:spPr>
          <a:xfrm>
            <a:off x="10363789" y="5861685"/>
            <a:ext cx="894481" cy="186689"/>
          </a:xfrm>
          <a:prstGeom prst="rect">
            <a:avLst/>
          </a:prstGeom>
          <a:noFill/>
        </p:spPr>
        <p:txBody>
          <a:bodyPr wrap="none" lIns="0" rIns="0" tIns="0" bIns="0">
            <a:spAutoFit/>
          </a:bodyPr>
          <a:lstStyle/>
          <a:p>
            <a:r>
              <a:rPr sz="1100" b="0">
                <a:solidFill>
                  <a:srgbClr val="2E2E2E"/>
                </a:solidFill>
                <a:latin typeface="Calibri"/>
              </a:rPr>
              <a:t>. The food and</a:t>
            </a:r>
          </a:p>
        </p:txBody>
      </p:sp>
      <p:sp>
        <p:nvSpPr>
          <p:cNvPr id="29" name="TextBox 28"/>
          <p:cNvSpPr txBox="1"/>
          <p:nvPr/>
        </p:nvSpPr>
        <p:spPr>
          <a:xfrm>
            <a:off x="257175" y="6029325"/>
            <a:ext cx="11481088" cy="186689"/>
          </a:xfrm>
          <a:prstGeom prst="rect">
            <a:avLst/>
          </a:prstGeom>
          <a:noFill/>
        </p:spPr>
        <p:txBody>
          <a:bodyPr wrap="none" lIns="0" rIns="0" tIns="0" bIns="0">
            <a:spAutoFit/>
          </a:bodyPr>
          <a:lstStyle/>
          <a:p>
            <a:r>
              <a:rPr sz="1100" b="0">
                <a:solidFill>
                  <a:srgbClr val="2E2E2E"/>
                </a:solidFill>
                <a:latin typeface="Calibri"/>
              </a:rPr>
              <a:t>beverages segment is expected to be less attractive as compared to other segments over the forecast period, owing to its lower CAGR and incremental opportunity. Bubbles right of the CAGR-Index line</a:t>
            </a:r>
          </a:p>
        </p:txBody>
      </p:sp>
      <p:sp>
        <p:nvSpPr>
          <p:cNvPr id="30" name="TextBox 29"/>
          <p:cNvSpPr txBox="1"/>
          <p:nvPr/>
        </p:nvSpPr>
        <p:spPr>
          <a:xfrm>
            <a:off x="257175" y="6196965"/>
            <a:ext cx="2279476" cy="186689"/>
          </a:xfrm>
          <a:prstGeom prst="rect">
            <a:avLst/>
          </a:prstGeom>
          <a:noFill/>
        </p:spPr>
        <p:txBody>
          <a:bodyPr wrap="none" lIns="0" rIns="0" tIns="0" bIns="0">
            <a:spAutoFit/>
          </a:bodyPr>
          <a:lstStyle/>
          <a:p>
            <a:r>
              <a:rPr sz="1100" b="0">
                <a:solidFill>
                  <a:srgbClr val="2E2E2E"/>
                </a:solidFill>
                <a:latin typeface="Calibri"/>
              </a:rPr>
              <a:t>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End Use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 Use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Automotive and Transportation</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Oil and Gas</a:t>
            </a:r>
          </a:p>
        </p:txBody>
      </p:sp>
      <p:graphicFrame>
        <p:nvGraphicFramePr>
          <p:cNvPr id="12" name="Chart 11"/>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Food and Beverages</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Pharmaceuticals</a:t>
            </a:r>
          </a:p>
        </p:txBody>
      </p:sp>
      <p:graphicFrame>
        <p:nvGraphicFramePr>
          <p:cNvPr id="18" name="Chart 17"/>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4151" y="2237234"/>
            <a:ext cx="263506" cy="383281"/>
          </a:xfrm>
          <a:prstGeom prst="rect">
            <a:avLst/>
          </a:prstGeom>
        </p:spPr>
      </p:pic>
      <p:pic>
        <p:nvPicPr>
          <p:cNvPr id="23" name="Picture 22" descr="lock.png"/>
          <p:cNvPicPr>
            <a:picLocks noChangeAspect="1"/>
          </p:cNvPicPr>
          <p:nvPr/>
        </p:nvPicPr>
        <p:blipFill>
          <a:blip r:embed="rId8"/>
          <a:stretch>
            <a:fillRect/>
          </a:stretch>
        </p:blipFill>
        <p:spPr>
          <a:xfrm>
            <a:off x="3094826" y="5123309"/>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5123309"/>
            <a:ext cx="263506" cy="383281"/>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End Use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 Use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Mining and Metals</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Industrial Air Separation</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 Manufacturing</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E2A5C"/>
                </a:solidFill>
                <a:latin typeface="Calibri"/>
              </a:rPr>
              <a:t>Summary of Global Absolute $ Opportunity Analysis, By End Use</a:t>
            </a:r>
          </a:p>
        </p:txBody>
      </p:sp>
      <p:sp>
        <p:nvSpPr>
          <p:cNvPr id="18" name="Rectangle 17"/>
          <p:cNvSpPr/>
          <p:nvPr/>
        </p:nvSpPr>
        <p:spPr>
          <a:xfrm>
            <a:off x="6305550" y="419100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4276725"/>
            <a:ext cx="5610225" cy="22669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7"/>
          <a:stretch>
            <a:fillRect/>
          </a:stretch>
        </p:blipFill>
        <p:spPr>
          <a:xfrm>
            <a:off x="3094826" y="2237234"/>
            <a:ext cx="263506" cy="383281"/>
          </a:xfrm>
          <a:prstGeom prst="rect">
            <a:avLst/>
          </a:prstGeom>
        </p:spPr>
      </p:pic>
      <p:pic>
        <p:nvPicPr>
          <p:cNvPr id="23" name="Picture 22" descr="lock.png"/>
          <p:cNvPicPr>
            <a:picLocks noChangeAspect="1"/>
          </p:cNvPicPr>
          <p:nvPr/>
        </p:nvPicPr>
        <p:blipFill>
          <a:blip r:embed="rId7"/>
          <a:stretch>
            <a:fillRect/>
          </a:stretch>
        </p:blipFill>
        <p:spPr>
          <a:xfrm>
            <a:off x="9129555" y="2330679"/>
            <a:ext cx="252890" cy="367840"/>
          </a:xfrm>
          <a:prstGeom prst="rect">
            <a:avLst/>
          </a:prstGeom>
        </p:spPr>
      </p:pic>
      <p:pic>
        <p:nvPicPr>
          <p:cNvPr id="24" name="Picture 23" descr="lock.png"/>
          <p:cNvPicPr>
            <a:picLocks noChangeAspect="1"/>
          </p:cNvPicPr>
          <p:nvPr/>
        </p:nvPicPr>
        <p:blipFill>
          <a:blip r:embed="rId7"/>
          <a:stretch>
            <a:fillRect/>
          </a:stretch>
        </p:blipFill>
        <p:spPr>
          <a:xfrm>
            <a:off x="3100230" y="5216754"/>
            <a:ext cx="252890" cy="367840"/>
          </a:xfrm>
          <a:prstGeom prst="rect">
            <a:avLst/>
          </a:prstGeom>
        </p:spPr>
      </p:pic>
      <p:sp>
        <p:nvSpPr>
          <p:cNvPr id="25" name="TextBox 24"/>
          <p:cNvSpPr txBox="1"/>
          <p:nvPr/>
        </p:nvSpPr>
        <p:spPr>
          <a:xfrm>
            <a:off x="6305550" y="4286250"/>
            <a:ext cx="4914083" cy="194310"/>
          </a:xfrm>
          <a:prstGeom prst="rect">
            <a:avLst/>
          </a:prstGeom>
          <a:noFill/>
        </p:spPr>
        <p:txBody>
          <a:bodyPr wrap="none" lIns="0" rIns="0" tIns="0" bIns="0">
            <a:spAutoFit/>
          </a:bodyPr>
          <a:lstStyle/>
          <a:p>
            <a:r>
              <a:rPr sz="1150" b="0">
                <a:solidFill>
                  <a:srgbClr val="2E2E2E"/>
                </a:solidFill>
                <a:latin typeface="Calibri"/>
              </a:rPr>
              <a:t>By 2036, industrial air separation segment is anticipated to witness an increase of</a:t>
            </a:r>
          </a:p>
        </p:txBody>
      </p:sp>
      <p:pic>
        <p:nvPicPr>
          <p:cNvPr id="26" name="Picture 25" descr="lock.png"/>
          <p:cNvPicPr>
            <a:picLocks noChangeAspect="1"/>
          </p:cNvPicPr>
          <p:nvPr/>
        </p:nvPicPr>
        <p:blipFill>
          <a:blip r:embed="rId7"/>
          <a:stretch>
            <a:fillRect/>
          </a:stretch>
        </p:blipFill>
        <p:spPr>
          <a:xfrm>
            <a:off x="11168787" y="4276026"/>
            <a:ext cx="134549" cy="195707"/>
          </a:xfrm>
          <a:prstGeom prst="rect">
            <a:avLst/>
          </a:prstGeom>
        </p:spPr>
      </p:pic>
      <p:sp>
        <p:nvSpPr>
          <p:cNvPr id="27" name="TextBox 26"/>
          <p:cNvSpPr txBox="1"/>
          <p:nvPr/>
        </p:nvSpPr>
        <p:spPr>
          <a:xfrm>
            <a:off x="11343897" y="4286250"/>
            <a:ext cx="295560" cy="194310"/>
          </a:xfrm>
          <a:prstGeom prst="rect">
            <a:avLst/>
          </a:prstGeom>
          <a:noFill/>
        </p:spPr>
        <p:txBody>
          <a:bodyPr wrap="none" lIns="0" rIns="0" tIns="0" bIns="0">
            <a:spAutoFit/>
          </a:bodyPr>
          <a:lstStyle/>
          <a:p>
            <a:r>
              <a:rPr sz="1150" b="0">
                <a:solidFill>
                  <a:srgbClr val="2E2E2E"/>
                </a:solidFill>
                <a:latin typeface="Calibri"/>
              </a:rPr>
              <a:t>X in</a:t>
            </a:r>
          </a:p>
        </p:txBody>
      </p:sp>
      <p:sp>
        <p:nvSpPr>
          <p:cNvPr id="28" name="TextBox 27"/>
          <p:cNvSpPr txBox="1"/>
          <p:nvPr/>
        </p:nvSpPr>
        <p:spPr>
          <a:xfrm>
            <a:off x="6305550" y="4461510"/>
            <a:ext cx="5359672" cy="194310"/>
          </a:xfrm>
          <a:prstGeom prst="rect">
            <a:avLst/>
          </a:prstGeom>
          <a:noFill/>
        </p:spPr>
        <p:txBody>
          <a:bodyPr wrap="none" lIns="0" rIns="0" tIns="0" bIns="0">
            <a:spAutoFit/>
          </a:bodyPr>
          <a:lstStyle/>
          <a:p>
            <a:r>
              <a:rPr sz="1150" b="0">
                <a:solidFill>
                  <a:srgbClr val="2E2E2E"/>
                </a:solidFill>
                <a:latin typeface="Calibri"/>
              </a:rPr>
              <a:t>terms of value as compared to 2026. The industrial air separation segment is expected to</a:t>
            </a:r>
          </a:p>
        </p:txBody>
      </p:sp>
      <p:sp>
        <p:nvSpPr>
          <p:cNvPr id="29" name="TextBox 28"/>
          <p:cNvSpPr txBox="1"/>
          <p:nvPr/>
        </p:nvSpPr>
        <p:spPr>
          <a:xfrm>
            <a:off x="6305550" y="4636770"/>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30" name="Picture 29" descr="lock.png"/>
          <p:cNvPicPr>
            <a:picLocks noChangeAspect="1"/>
          </p:cNvPicPr>
          <p:nvPr/>
        </p:nvPicPr>
        <p:blipFill>
          <a:blip r:embed="rId7"/>
          <a:stretch>
            <a:fillRect/>
          </a:stretch>
        </p:blipFill>
        <p:spPr>
          <a:xfrm>
            <a:off x="8801773" y="4626546"/>
            <a:ext cx="134549" cy="195707"/>
          </a:xfrm>
          <a:prstGeom prst="rect">
            <a:avLst/>
          </a:prstGeom>
        </p:spPr>
      </p:pic>
      <p:sp>
        <p:nvSpPr>
          <p:cNvPr id="31" name="TextBox 30"/>
          <p:cNvSpPr txBox="1"/>
          <p:nvPr/>
        </p:nvSpPr>
        <p:spPr>
          <a:xfrm>
            <a:off x="8976882" y="4636770"/>
            <a:ext cx="2662597"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a:t>
            </a:r>
          </a:p>
        </p:txBody>
      </p:sp>
      <p:sp>
        <p:nvSpPr>
          <p:cNvPr id="32" name="TextBox 31"/>
          <p:cNvSpPr txBox="1"/>
          <p:nvPr/>
        </p:nvSpPr>
        <p:spPr>
          <a:xfrm>
            <a:off x="6305550" y="4812029"/>
            <a:ext cx="1679897" cy="194310"/>
          </a:xfrm>
          <a:prstGeom prst="rect">
            <a:avLst/>
          </a:prstGeom>
          <a:noFill/>
        </p:spPr>
        <p:txBody>
          <a:bodyPr wrap="none" lIns="0" rIns="0" tIns="0" bIns="0">
            <a:spAutoFit/>
          </a:bodyPr>
          <a:lstStyle/>
          <a:p>
            <a:r>
              <a:rPr sz="1150" b="0">
                <a:solidFill>
                  <a:srgbClr val="2E2E2E"/>
                </a:solidFill>
                <a:latin typeface="Calibri"/>
              </a:rPr>
              <a:t>market from 2026 to 2036.</a:t>
            </a:r>
          </a:p>
        </p:txBody>
      </p:sp>
      <p:sp>
        <p:nvSpPr>
          <p:cNvPr id="33" name="TextBox 32"/>
          <p:cNvSpPr txBox="1"/>
          <p:nvPr/>
        </p:nvSpPr>
        <p:spPr>
          <a:xfrm>
            <a:off x="6305550" y="5039867"/>
            <a:ext cx="5474915" cy="194310"/>
          </a:xfrm>
          <a:prstGeom prst="rect">
            <a:avLst/>
          </a:prstGeom>
          <a:noFill/>
        </p:spPr>
        <p:txBody>
          <a:bodyPr wrap="none" lIns="0" rIns="0" tIns="0" bIns="0">
            <a:spAutoFit/>
          </a:bodyPr>
          <a:lstStyle/>
          <a:p>
            <a:r>
              <a:rPr sz="1150" b="0">
                <a:solidFill>
                  <a:srgbClr val="2E2E2E"/>
                </a:solidFill>
                <a:latin typeface="Calibri"/>
              </a:rPr>
              <a:t>The other manufacturing segment is expected to create an incremental opportunity of US$</a:t>
            </a:r>
          </a:p>
        </p:txBody>
      </p:sp>
      <p:pic>
        <p:nvPicPr>
          <p:cNvPr id="34" name="Picture 33" descr="lock.png"/>
          <p:cNvPicPr>
            <a:picLocks noChangeAspect="1"/>
          </p:cNvPicPr>
          <p:nvPr/>
        </p:nvPicPr>
        <p:blipFill>
          <a:blip r:embed="rId7"/>
          <a:stretch>
            <a:fillRect/>
          </a:stretch>
        </p:blipFill>
        <p:spPr>
          <a:xfrm>
            <a:off x="6291470" y="5204904"/>
            <a:ext cx="134549" cy="195707"/>
          </a:xfrm>
          <a:prstGeom prst="rect">
            <a:avLst/>
          </a:prstGeom>
        </p:spPr>
      </p:pic>
      <p:sp>
        <p:nvSpPr>
          <p:cNvPr id="35" name="TextBox 34"/>
          <p:cNvSpPr txBox="1"/>
          <p:nvPr/>
        </p:nvSpPr>
        <p:spPr>
          <a:xfrm>
            <a:off x="6466579" y="5215127"/>
            <a:ext cx="5215904"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 2026 to 2036. The oil and gas</a:t>
            </a:r>
          </a:p>
        </p:txBody>
      </p:sp>
      <p:sp>
        <p:nvSpPr>
          <p:cNvPr id="36" name="TextBox 35"/>
          <p:cNvSpPr txBox="1"/>
          <p:nvPr/>
        </p:nvSpPr>
        <p:spPr>
          <a:xfrm>
            <a:off x="6305550" y="5390387"/>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37" name="Picture 36" descr="lock.png"/>
          <p:cNvPicPr>
            <a:picLocks noChangeAspect="1"/>
          </p:cNvPicPr>
          <p:nvPr/>
        </p:nvPicPr>
        <p:blipFill>
          <a:blip r:embed="rId7"/>
          <a:stretch>
            <a:fillRect/>
          </a:stretch>
        </p:blipFill>
        <p:spPr>
          <a:xfrm>
            <a:off x="10210642" y="5380164"/>
            <a:ext cx="134549" cy="195707"/>
          </a:xfrm>
          <a:prstGeom prst="rect">
            <a:avLst/>
          </a:prstGeom>
        </p:spPr>
      </p:pic>
      <p:sp>
        <p:nvSpPr>
          <p:cNvPr id="38" name="TextBox 37"/>
          <p:cNvSpPr txBox="1"/>
          <p:nvPr/>
        </p:nvSpPr>
        <p:spPr>
          <a:xfrm>
            <a:off x="10385751" y="5390387"/>
            <a:ext cx="1152177" cy="194310"/>
          </a:xfrm>
          <a:prstGeom prst="rect">
            <a:avLst/>
          </a:prstGeom>
          <a:noFill/>
        </p:spPr>
        <p:txBody>
          <a:bodyPr wrap="none" lIns="0" rIns="0" tIns="0" bIns="0">
            <a:spAutoFit/>
          </a:bodyPr>
          <a:lstStyle/>
          <a:p>
            <a:r>
              <a:rPr sz="1150" b="0">
                <a:solidFill>
                  <a:srgbClr val="2E2E2E"/>
                </a:solidFill>
                <a:latin typeface="Calibri"/>
              </a:rPr>
              <a:t>Mn for the overall</a:t>
            </a:r>
          </a:p>
        </p:txBody>
      </p:sp>
      <p:sp>
        <p:nvSpPr>
          <p:cNvPr id="39" name="TextBox 38"/>
          <p:cNvSpPr txBox="1"/>
          <p:nvPr/>
        </p:nvSpPr>
        <p:spPr>
          <a:xfrm>
            <a:off x="6305550" y="5565647"/>
            <a:ext cx="3190316" cy="194310"/>
          </a:xfrm>
          <a:prstGeom prst="rect">
            <a:avLst/>
          </a:prstGeom>
          <a:noFill/>
        </p:spPr>
        <p:txBody>
          <a:bodyPr wrap="none" lIns="0" rIns="0" tIns="0" bIns="0">
            <a:spAutoFit/>
          </a:bodyPr>
          <a:lstStyle/>
          <a:p>
            <a:r>
              <a:rPr sz="1150" b="0">
                <a:solidFill>
                  <a:srgbClr val="2E2E2E"/>
                </a:solidFill>
                <a:latin typeface="Calibri"/>
              </a:rPr>
              <a:t>industrial air compressor market from 2026 to 2036.</a:t>
            </a:r>
          </a:p>
        </p:txBody>
      </p:sp>
      <p:sp>
        <p:nvSpPr>
          <p:cNvPr id="40"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End Use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End Use, 2021–2036, highlighting the sub-segments driving growth</a:t>
            </a:r>
          </a:p>
        </p:txBody>
      </p:sp>
      <p:sp>
        <p:nvSpPr>
          <p:cNvPr id="7" name="Rounded Rectangle 6"/>
          <p:cNvSpPr/>
          <p:nvPr/>
        </p:nvSpPr>
        <p:spPr>
          <a:xfrm>
            <a:off x="142875" y="981075"/>
            <a:ext cx="11906250" cy="2686050"/>
          </a:xfrm>
          <a:prstGeom prst="roundRect">
            <a:avLst>
              <a:gd name="adj" fmla="val 28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End Use (US$ Mn)</a:t>
            </a:r>
          </a:p>
        </p:txBody>
      </p:sp>
      <p:graphicFrame>
        <p:nvGraphicFramePr>
          <p:cNvPr id="9" name="Table 8"/>
          <p:cNvGraphicFramePr>
            <a:graphicFrameLocks noGrp="1"/>
          </p:cNvGraphicFramePr>
          <p:nvPr/>
        </p:nvGraphicFramePr>
        <p:xfrm>
          <a:off x="152400" y="1238250"/>
          <a:ext cx="11887199" cy="2219326"/>
        </p:xfrm>
        <a:graphic>
          <a:graphicData uri="http://schemas.openxmlformats.org/drawingml/2006/table">
            <a:tbl>
              <a:tblPr>
                <a:tableStyleId>{5C22544A-7EE6-4342-B048-85BDC9FD1C3A}</a:tableStyleId>
              </a:tblPr>
              <a:tblGrid>
                <a:gridCol w="2094621"/>
                <a:gridCol w="576034"/>
                <a:gridCol w="576034"/>
                <a:gridCol w="576034"/>
                <a:gridCol w="576034"/>
                <a:gridCol w="576034"/>
                <a:gridCol w="576034"/>
                <a:gridCol w="576034"/>
                <a:gridCol w="576034"/>
                <a:gridCol w="576034"/>
                <a:gridCol w="576034"/>
                <a:gridCol w="576034"/>
                <a:gridCol w="576034"/>
                <a:gridCol w="576034"/>
                <a:gridCol w="576034"/>
                <a:gridCol w="576034"/>
                <a:gridCol w="576034"/>
                <a:gridCol w="576034"/>
              </a:tblGrid>
              <a:tr h="246126">
                <a:tc>
                  <a:txBody>
                    <a:bodyPr wrap="none"/>
                    <a:lstStyle/>
                    <a:p>
                      <a:pPr algn="l"/>
                      <a:r>
                        <a:rPr sz="1100" b="1">
                          <a:solidFill>
                            <a:srgbClr val="0E2A5C"/>
                          </a:solidFill>
                          <a:latin typeface="Calibri"/>
                        </a:rPr>
                        <a:t>End Use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650">
                <a:tc>
                  <a:txBody>
                    <a:bodyPr wrap="none"/>
                    <a:lstStyle/>
                    <a:p>
                      <a:pPr algn="l"/>
                      <a:r>
                        <a:rPr sz="1100" b="1">
                          <a:solidFill>
                            <a:srgbClr val="2E2E2E"/>
                          </a:solidFill>
                          <a:latin typeface="Calibri"/>
                        </a:rPr>
                        <a:t>Automotive and Transportation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Oil and Gas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50">
                <a:tc>
                  <a:txBody>
                    <a:bodyPr wrap="none"/>
                    <a:lstStyle/>
                    <a:p>
                      <a:pPr algn="l"/>
                      <a:r>
                        <a:rPr sz="1100" b="1">
                          <a:solidFill>
                            <a:srgbClr val="2E2E2E"/>
                          </a:solidFill>
                          <a:latin typeface="Calibri"/>
                        </a:rPr>
                        <a:t>Food and Beverages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Pharmaceuticals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50">
                <a:tc>
                  <a:txBody>
                    <a:bodyPr wrap="none"/>
                    <a:lstStyle/>
                    <a:p>
                      <a:pPr algn="l"/>
                      <a:r>
                        <a:rPr sz="1100" b="1">
                          <a:solidFill>
                            <a:srgbClr val="2E2E2E"/>
                          </a:solidFill>
                          <a:latin typeface="Calibri"/>
                        </a:rPr>
                        <a:t>Mining and Metals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Industrial Air Separation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50">
                <a:tc>
                  <a:txBody>
                    <a:bodyPr wrap="none"/>
                    <a:lstStyle/>
                    <a:p>
                      <a:pPr algn="l"/>
                      <a:r>
                        <a:rPr sz="1100" b="1">
                          <a:solidFill>
                            <a:srgbClr val="2E2E2E"/>
                          </a:solidFill>
                          <a:latin typeface="Calibri"/>
                        </a:rPr>
                        <a:t>Other Manufacturing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800475"/>
            <a:ext cx="11906250" cy="2828925"/>
          </a:xfrm>
          <a:prstGeom prst="roundRect">
            <a:avLst>
              <a:gd name="adj" fmla="val 269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Analysis, By End Use</a:t>
            </a:r>
          </a:p>
        </p:txBody>
      </p:sp>
      <p:sp>
        <p:nvSpPr>
          <p:cNvPr id="13" name="Rectangle 12"/>
          <p:cNvSpPr/>
          <p:nvPr/>
        </p:nvSpPr>
        <p:spPr>
          <a:xfrm>
            <a:off x="276225" y="41243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956619" y="2204276"/>
            <a:ext cx="366712" cy="533399"/>
          </a:xfrm>
          <a:prstGeom prst="rect">
            <a:avLst/>
          </a:prstGeom>
        </p:spPr>
      </p:pic>
      <p:sp>
        <p:nvSpPr>
          <p:cNvPr id="18" name="TextBox 17"/>
          <p:cNvSpPr txBox="1"/>
          <p:nvPr/>
        </p:nvSpPr>
        <p:spPr>
          <a:xfrm>
            <a:off x="276225" y="4219575"/>
            <a:ext cx="3417379" cy="194310"/>
          </a:xfrm>
          <a:prstGeom prst="rect">
            <a:avLst/>
          </a:prstGeom>
          <a:noFill/>
        </p:spPr>
        <p:txBody>
          <a:bodyPr wrap="none" lIns="0" rIns="0" tIns="0" bIns="0">
            <a:spAutoFit/>
          </a:bodyPr>
          <a:lstStyle/>
          <a:p>
            <a:r>
              <a:rPr sz="1150" b="0">
                <a:solidFill>
                  <a:srgbClr val="2E2E2E"/>
                </a:solidFill>
                <a:latin typeface="Calibri"/>
              </a:rPr>
              <a:t>Industrial air separation segment is projected to register</a:t>
            </a:r>
          </a:p>
        </p:txBody>
      </p:sp>
      <p:pic>
        <p:nvPicPr>
          <p:cNvPr id="19" name="Picture 18" descr="lock.png"/>
          <p:cNvPicPr>
            <a:picLocks noChangeAspect="1"/>
          </p:cNvPicPr>
          <p:nvPr/>
        </p:nvPicPr>
        <p:blipFill>
          <a:blip r:embed="rId4"/>
          <a:stretch>
            <a:fillRect/>
          </a:stretch>
        </p:blipFill>
        <p:spPr>
          <a:xfrm>
            <a:off x="3642757" y="4209351"/>
            <a:ext cx="134549" cy="195707"/>
          </a:xfrm>
          <a:prstGeom prst="rect">
            <a:avLst/>
          </a:prstGeom>
        </p:spPr>
      </p:pic>
      <p:sp>
        <p:nvSpPr>
          <p:cNvPr id="20" name="TextBox 19"/>
          <p:cNvSpPr txBox="1"/>
          <p:nvPr/>
        </p:nvSpPr>
        <p:spPr>
          <a:xfrm>
            <a:off x="3817867" y="4219575"/>
            <a:ext cx="7668803" cy="194310"/>
          </a:xfrm>
          <a:prstGeom prst="rect">
            <a:avLst/>
          </a:prstGeom>
          <a:noFill/>
        </p:spPr>
        <p:txBody>
          <a:bodyPr wrap="none" lIns="0" rIns="0" tIns="0" bIns="0">
            <a:spAutoFit/>
          </a:bodyPr>
          <a:lstStyle/>
          <a:p>
            <a:r>
              <a:rPr sz="1150" b="0">
                <a:solidFill>
                  <a:srgbClr val="2E2E2E"/>
                </a:solidFill>
                <a:latin typeface="Calibri"/>
              </a:rPr>
              <a:t>X higher value than other manufacturing segment in 2036. Among industrial air compressor by end use, industrial air separation</a:t>
            </a:r>
          </a:p>
        </p:txBody>
      </p:sp>
      <p:sp>
        <p:nvSpPr>
          <p:cNvPr id="21" name="TextBox 20"/>
          <p:cNvSpPr txBox="1"/>
          <p:nvPr/>
        </p:nvSpPr>
        <p:spPr>
          <a:xfrm>
            <a:off x="276225" y="43948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2" name="Picture 21" descr="lock.png"/>
          <p:cNvPicPr>
            <a:picLocks noChangeAspect="1"/>
          </p:cNvPicPr>
          <p:nvPr/>
        </p:nvPicPr>
        <p:blipFill>
          <a:blip r:embed="rId4"/>
          <a:stretch>
            <a:fillRect/>
          </a:stretch>
        </p:blipFill>
        <p:spPr>
          <a:xfrm>
            <a:off x="3382018" y="4384611"/>
            <a:ext cx="134549" cy="195707"/>
          </a:xfrm>
          <a:prstGeom prst="rect">
            <a:avLst/>
          </a:prstGeom>
        </p:spPr>
      </p:pic>
      <p:sp>
        <p:nvSpPr>
          <p:cNvPr id="23" name="TextBox 22"/>
          <p:cNvSpPr txBox="1"/>
          <p:nvPr/>
        </p:nvSpPr>
        <p:spPr>
          <a:xfrm>
            <a:off x="3557127" y="43948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622672"/>
            <a:ext cx="7028408" cy="194310"/>
          </a:xfrm>
          <a:prstGeom prst="rect">
            <a:avLst/>
          </a:prstGeom>
          <a:noFill/>
        </p:spPr>
        <p:txBody>
          <a:bodyPr wrap="none" lIns="0" rIns="0" tIns="0" bIns="0">
            <a:spAutoFit/>
          </a:bodyPr>
          <a:lstStyle/>
          <a:p>
            <a:r>
              <a:rPr sz="1150" b="0">
                <a:solidFill>
                  <a:srgbClr val="2E2E2E"/>
                </a:solidFill>
                <a:latin typeface="Calibri"/>
              </a:rPr>
              <a:t>In terms of value share by end use, the industrial air separation segment is expected to dominate the market, gaining</a:t>
            </a:r>
          </a:p>
        </p:txBody>
      </p:sp>
      <p:pic>
        <p:nvPicPr>
          <p:cNvPr id="25" name="Picture 24" descr="lock.png"/>
          <p:cNvPicPr>
            <a:picLocks noChangeAspect="1"/>
          </p:cNvPicPr>
          <p:nvPr/>
        </p:nvPicPr>
        <p:blipFill>
          <a:blip r:embed="rId4"/>
          <a:stretch>
            <a:fillRect/>
          </a:stretch>
        </p:blipFill>
        <p:spPr>
          <a:xfrm>
            <a:off x="7253787" y="4612449"/>
            <a:ext cx="134549" cy="195707"/>
          </a:xfrm>
          <a:prstGeom prst="rect">
            <a:avLst/>
          </a:prstGeom>
        </p:spPr>
      </p:pic>
      <p:sp>
        <p:nvSpPr>
          <p:cNvPr id="26" name="TextBox 25"/>
          <p:cNvSpPr txBox="1"/>
          <p:nvPr/>
        </p:nvSpPr>
        <p:spPr>
          <a:xfrm>
            <a:off x="7428896" y="46226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8824039" y="4612449"/>
            <a:ext cx="134549" cy="195707"/>
          </a:xfrm>
          <a:prstGeom prst="rect">
            <a:avLst/>
          </a:prstGeom>
        </p:spPr>
      </p:pic>
      <p:sp>
        <p:nvSpPr>
          <p:cNvPr id="28" name="TextBox 27"/>
          <p:cNvSpPr txBox="1"/>
          <p:nvPr/>
        </p:nvSpPr>
        <p:spPr>
          <a:xfrm>
            <a:off x="8999148" y="4622672"/>
            <a:ext cx="2177380" cy="194310"/>
          </a:xfrm>
          <a:prstGeom prst="rect">
            <a:avLst/>
          </a:prstGeom>
          <a:noFill/>
        </p:spPr>
        <p:txBody>
          <a:bodyPr wrap="none" lIns="0" rIns="0" tIns="0" bIns="0">
            <a:spAutoFit/>
          </a:bodyPr>
          <a:lstStyle/>
          <a:p>
            <a:r>
              <a:rPr sz="1150" b="0">
                <a:solidFill>
                  <a:srgbClr val="2E2E2E"/>
                </a:solidFill>
                <a:latin typeface="Calibri"/>
              </a:rPr>
              <a:t>share by 2036. The automotive and</a:t>
            </a:r>
          </a:p>
        </p:txBody>
      </p:sp>
      <p:sp>
        <p:nvSpPr>
          <p:cNvPr id="29" name="TextBox 28"/>
          <p:cNvSpPr txBox="1"/>
          <p:nvPr/>
        </p:nvSpPr>
        <p:spPr>
          <a:xfrm>
            <a:off x="276225" y="4797932"/>
            <a:ext cx="2622661" cy="194310"/>
          </a:xfrm>
          <a:prstGeom prst="rect">
            <a:avLst/>
          </a:prstGeom>
          <a:noFill/>
        </p:spPr>
        <p:txBody>
          <a:bodyPr wrap="none" lIns="0" rIns="0" tIns="0" bIns="0">
            <a:spAutoFit/>
          </a:bodyPr>
          <a:lstStyle/>
          <a:p>
            <a:r>
              <a:rPr sz="1150" b="0">
                <a:solidFill>
                  <a:srgbClr val="2E2E2E"/>
                </a:solidFill>
                <a:latin typeface="Calibri"/>
              </a:rPr>
              <a:t>transportation segment is expected to lose</a:t>
            </a:r>
          </a:p>
        </p:txBody>
      </p:sp>
      <p:pic>
        <p:nvPicPr>
          <p:cNvPr id="30" name="Picture 29" descr="lock.png"/>
          <p:cNvPicPr>
            <a:picLocks noChangeAspect="1"/>
          </p:cNvPicPr>
          <p:nvPr/>
        </p:nvPicPr>
        <p:blipFill>
          <a:blip r:embed="rId4"/>
          <a:stretch>
            <a:fillRect/>
          </a:stretch>
        </p:blipFill>
        <p:spPr>
          <a:xfrm>
            <a:off x="2848040" y="4787709"/>
            <a:ext cx="134549" cy="195707"/>
          </a:xfrm>
          <a:prstGeom prst="rect">
            <a:avLst/>
          </a:prstGeom>
        </p:spPr>
      </p:pic>
      <p:sp>
        <p:nvSpPr>
          <p:cNvPr id="31" name="TextBox 30"/>
          <p:cNvSpPr txBox="1"/>
          <p:nvPr/>
        </p:nvSpPr>
        <p:spPr>
          <a:xfrm>
            <a:off x="3023149" y="47979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5610654" y="4787709"/>
            <a:ext cx="134549" cy="195707"/>
          </a:xfrm>
          <a:prstGeom prst="rect">
            <a:avLst/>
          </a:prstGeom>
        </p:spPr>
      </p:pic>
      <p:sp>
        <p:nvSpPr>
          <p:cNvPr id="33" name="TextBox 32"/>
          <p:cNvSpPr txBox="1"/>
          <p:nvPr/>
        </p:nvSpPr>
        <p:spPr>
          <a:xfrm>
            <a:off x="5785763" y="47979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End Use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End Use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End Use ·  2021 / 2026 / 2036 (US$ Mn)  ·  right axis = BPS share shift</a:t>
            </a:r>
          </a:p>
        </p:txBody>
      </p:sp>
      <p:graphicFrame>
        <p:nvGraphicFramePr>
          <p:cNvPr id="9" name="Chart 8"/>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FMI Lock Anchor"/>
          <p:cNvSpPr txBox="1"/>
          <p:nvPr/>
        </p:nvSpPr>
        <p:spPr>
          <a:xfrm>
            <a:off x="2678811" y="3932301"/>
            <a:ext cx="38100" cy="38100"/>
          </a:xfrm>
          <a:prstGeom prst="rect">
            <a:avLst/>
          </a:prstGeom>
          <a:noFill/>
        </p:spPr>
        <p:txBody>
          <a:bodyPr wrap="none">
            <a:spAutoFit/>
          </a:bodyPr>
          <a:lstStyle/>
          <a:p/>
        </p:txBody>
      </p:sp>
      <p:sp>
        <p:nvSpPr>
          <p:cNvPr id="12" name="FMI Legend Chip"/>
          <p:cNvSpPr/>
          <p:nvPr/>
        </p:nvSpPr>
        <p:spPr>
          <a:xfrm>
            <a:off x="4928997" y="1627532"/>
            <a:ext cx="85725" cy="85725"/>
          </a:xfrm>
          <a:prstGeom prst="rect">
            <a:avLst/>
          </a:prstGeom>
          <a:solidFill>
            <a:srgbClr val="5862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62276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54656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Food and Beverages</a:t>
            </a:r>
          </a:p>
        </p:txBody>
      </p:sp>
      <p:sp>
        <p:nvSpPr>
          <p:cNvPr id="15" name="BPS Value 1"/>
          <p:cNvSpPr txBox="1"/>
          <p:nvPr/>
        </p:nvSpPr>
        <p:spPr>
          <a:xfrm>
            <a:off x="6896100" y="160848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FMI Legend Chip"/>
          <p:cNvSpPr/>
          <p:nvPr/>
        </p:nvSpPr>
        <p:spPr>
          <a:xfrm>
            <a:off x="4928997" y="1954655"/>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194989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187369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Pharmaceuticals</a:t>
            </a:r>
          </a:p>
        </p:txBody>
      </p:sp>
      <p:sp>
        <p:nvSpPr>
          <p:cNvPr id="19" name="BPS Value 2"/>
          <p:cNvSpPr txBox="1"/>
          <p:nvPr/>
        </p:nvSpPr>
        <p:spPr>
          <a:xfrm>
            <a:off x="6896100" y="193560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2398785"/>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39402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231782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Automotive and Transportation</a:t>
            </a:r>
          </a:p>
        </p:txBody>
      </p:sp>
      <p:sp>
        <p:nvSpPr>
          <p:cNvPr id="23" name="BPS Value 3"/>
          <p:cNvSpPr txBox="1"/>
          <p:nvPr/>
        </p:nvSpPr>
        <p:spPr>
          <a:xfrm>
            <a:off x="6896100" y="237973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2934691"/>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292992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285372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Oil and Gas</a:t>
            </a:r>
          </a:p>
        </p:txBody>
      </p:sp>
      <p:sp>
        <p:nvSpPr>
          <p:cNvPr id="27" name="BPS Value 4"/>
          <p:cNvSpPr txBox="1"/>
          <p:nvPr/>
        </p:nvSpPr>
        <p:spPr>
          <a:xfrm>
            <a:off x="6896100" y="291564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928997" y="3668176"/>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366341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5233797" y="358721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Mining and Metals</a:t>
            </a:r>
          </a:p>
        </p:txBody>
      </p:sp>
      <p:sp>
        <p:nvSpPr>
          <p:cNvPr id="31" name="BPS Value 5"/>
          <p:cNvSpPr txBox="1"/>
          <p:nvPr/>
        </p:nvSpPr>
        <p:spPr>
          <a:xfrm>
            <a:off x="6896100" y="364912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928997" y="4558418"/>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455365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5233797" y="447745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Manufacturing</a:t>
            </a:r>
          </a:p>
        </p:txBody>
      </p:sp>
      <p:sp>
        <p:nvSpPr>
          <p:cNvPr id="35" name="BPS Value 6"/>
          <p:cNvSpPr txBox="1"/>
          <p:nvPr/>
        </p:nvSpPr>
        <p:spPr>
          <a:xfrm>
            <a:off x="6896100" y="453936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FMI Legend Chip"/>
          <p:cNvSpPr/>
          <p:nvPr/>
        </p:nvSpPr>
        <p:spPr>
          <a:xfrm>
            <a:off x="4928997" y="5628422"/>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a:off x="5090922" y="562365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7"/>
          <p:cNvSpPr txBox="1"/>
          <p:nvPr/>
        </p:nvSpPr>
        <p:spPr>
          <a:xfrm>
            <a:off x="5233797" y="554745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Industrial Air Separation</a:t>
            </a:r>
          </a:p>
        </p:txBody>
      </p:sp>
      <p:sp>
        <p:nvSpPr>
          <p:cNvPr id="39" name="BPS Value 7"/>
          <p:cNvSpPr txBox="1"/>
          <p:nvPr/>
        </p:nvSpPr>
        <p:spPr>
          <a:xfrm>
            <a:off x="6896100" y="560937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0" name="Rounded Rectangle 39"/>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Global Read-out, By End Use</a:t>
            </a:r>
          </a:p>
        </p:txBody>
      </p:sp>
      <p:sp>
        <p:nvSpPr>
          <p:cNvPr id="42" name="Rectangle 41"/>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4" name="Rectangle 4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6" name="Picture 45" descr="lock.png"/>
          <p:cNvPicPr>
            <a:picLocks noChangeAspect="1"/>
          </p:cNvPicPr>
          <p:nvPr/>
        </p:nvPicPr>
        <p:blipFill>
          <a:blip r:embed="rId5"/>
          <a:stretch>
            <a:fillRect/>
          </a:stretch>
        </p:blipFill>
        <p:spPr>
          <a:xfrm>
            <a:off x="2557843" y="3751325"/>
            <a:ext cx="275034" cy="400050"/>
          </a:xfrm>
          <a:prstGeom prst="rect">
            <a:avLst/>
          </a:prstGeom>
        </p:spPr>
      </p:pic>
      <p:sp>
        <p:nvSpPr>
          <p:cNvPr id="47" name="TextBox 46"/>
          <p:cNvSpPr txBox="1"/>
          <p:nvPr/>
        </p:nvSpPr>
        <p:spPr>
          <a:xfrm>
            <a:off x="7829550" y="1400175"/>
            <a:ext cx="3500673" cy="194310"/>
          </a:xfrm>
          <a:prstGeom prst="rect">
            <a:avLst/>
          </a:prstGeom>
          <a:noFill/>
        </p:spPr>
        <p:txBody>
          <a:bodyPr wrap="none" lIns="0" rIns="0" tIns="0" bIns="0">
            <a:spAutoFit/>
          </a:bodyPr>
          <a:lstStyle/>
          <a:p>
            <a:r>
              <a:rPr sz="1150" b="0">
                <a:solidFill>
                  <a:srgbClr val="2E2E2E"/>
                </a:solidFill>
                <a:latin typeface="Calibri"/>
              </a:rPr>
              <a:t>Among industrial air compressor by end use, industrial air</a:t>
            </a:r>
          </a:p>
        </p:txBody>
      </p:sp>
      <p:sp>
        <p:nvSpPr>
          <p:cNvPr id="48" name="TextBox 47"/>
          <p:cNvSpPr txBox="1"/>
          <p:nvPr/>
        </p:nvSpPr>
        <p:spPr>
          <a:xfrm>
            <a:off x="7829550" y="1575435"/>
            <a:ext cx="3823562" cy="194310"/>
          </a:xfrm>
          <a:prstGeom prst="rect">
            <a:avLst/>
          </a:prstGeom>
          <a:noFill/>
        </p:spPr>
        <p:txBody>
          <a:bodyPr wrap="none" lIns="0" rIns="0" tIns="0" bIns="0">
            <a:spAutoFit/>
          </a:bodyPr>
          <a:lstStyle/>
          <a:p>
            <a:r>
              <a:rPr sz="1150" b="0">
                <a:solidFill>
                  <a:srgbClr val="2E2E2E"/>
                </a:solidFill>
                <a:latin typeface="Calibri"/>
              </a:rPr>
              <a:t>separation segment is expected to witness the highest CAGR of</a:t>
            </a:r>
          </a:p>
        </p:txBody>
      </p:sp>
      <p:pic>
        <p:nvPicPr>
          <p:cNvPr id="49" name="Picture 48" descr="lock.png"/>
          <p:cNvPicPr>
            <a:picLocks noChangeAspect="1"/>
          </p:cNvPicPr>
          <p:nvPr/>
        </p:nvPicPr>
        <p:blipFill>
          <a:blip r:embed="rId5"/>
          <a:stretch>
            <a:fillRect/>
          </a:stretch>
        </p:blipFill>
        <p:spPr>
          <a:xfrm>
            <a:off x="11602266" y="1565211"/>
            <a:ext cx="134549" cy="195707"/>
          </a:xfrm>
          <a:prstGeom prst="rect">
            <a:avLst/>
          </a:prstGeom>
        </p:spPr>
      </p:pic>
      <p:sp>
        <p:nvSpPr>
          <p:cNvPr id="50" name="TextBox 49"/>
          <p:cNvSpPr txBox="1"/>
          <p:nvPr/>
        </p:nvSpPr>
        <p:spPr>
          <a:xfrm>
            <a:off x="7829550" y="1750695"/>
            <a:ext cx="3885195"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end use, the</a:t>
            </a:r>
          </a:p>
        </p:txBody>
      </p:sp>
      <p:sp>
        <p:nvSpPr>
          <p:cNvPr id="51" name="TextBox 50"/>
          <p:cNvSpPr txBox="1"/>
          <p:nvPr/>
        </p:nvSpPr>
        <p:spPr>
          <a:xfrm>
            <a:off x="7829550" y="1925955"/>
            <a:ext cx="3735151" cy="194310"/>
          </a:xfrm>
          <a:prstGeom prst="rect">
            <a:avLst/>
          </a:prstGeom>
          <a:noFill/>
        </p:spPr>
        <p:txBody>
          <a:bodyPr wrap="none" lIns="0" rIns="0" tIns="0" bIns="0">
            <a:spAutoFit/>
          </a:bodyPr>
          <a:lstStyle/>
          <a:p>
            <a:r>
              <a:rPr sz="1150" b="0">
                <a:solidFill>
                  <a:srgbClr val="2E2E2E"/>
                </a:solidFill>
                <a:latin typeface="Calibri"/>
              </a:rPr>
              <a:t>industrial air separation segment is expected to dominate the</a:t>
            </a:r>
          </a:p>
        </p:txBody>
      </p:sp>
      <p:sp>
        <p:nvSpPr>
          <p:cNvPr id="52" name="TextBox 51"/>
          <p:cNvSpPr txBox="1"/>
          <p:nvPr/>
        </p:nvSpPr>
        <p:spPr>
          <a:xfrm>
            <a:off x="7829550" y="2101215"/>
            <a:ext cx="999852" cy="194310"/>
          </a:xfrm>
          <a:prstGeom prst="rect">
            <a:avLst/>
          </a:prstGeom>
          <a:noFill/>
        </p:spPr>
        <p:txBody>
          <a:bodyPr wrap="none" lIns="0" rIns="0" tIns="0" bIns="0">
            <a:spAutoFit/>
          </a:bodyPr>
          <a:lstStyle/>
          <a:p>
            <a:r>
              <a:rPr sz="1150" b="0">
                <a:solidFill>
                  <a:srgbClr val="2E2E2E"/>
                </a:solidFill>
                <a:latin typeface="Calibri"/>
              </a:rPr>
              <a:t>market, gaining</a:t>
            </a:r>
          </a:p>
        </p:txBody>
      </p:sp>
      <p:pic>
        <p:nvPicPr>
          <p:cNvPr id="53" name="Picture 52" descr="lock.png"/>
          <p:cNvPicPr>
            <a:picLocks noChangeAspect="1"/>
          </p:cNvPicPr>
          <p:nvPr/>
        </p:nvPicPr>
        <p:blipFill>
          <a:blip r:embed="rId5"/>
          <a:stretch>
            <a:fillRect/>
          </a:stretch>
        </p:blipFill>
        <p:spPr>
          <a:xfrm>
            <a:off x="8778556" y="2090991"/>
            <a:ext cx="134549" cy="195707"/>
          </a:xfrm>
          <a:prstGeom prst="rect">
            <a:avLst/>
          </a:prstGeom>
        </p:spPr>
      </p:pic>
      <p:sp>
        <p:nvSpPr>
          <p:cNvPr id="54" name="TextBox 53"/>
          <p:cNvSpPr txBox="1"/>
          <p:nvPr/>
        </p:nvSpPr>
        <p:spPr>
          <a:xfrm>
            <a:off x="895366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5" name="Picture 54" descr="lock.png"/>
          <p:cNvPicPr>
            <a:picLocks noChangeAspect="1"/>
          </p:cNvPicPr>
          <p:nvPr/>
        </p:nvPicPr>
        <p:blipFill>
          <a:blip r:embed="rId5"/>
          <a:stretch>
            <a:fillRect/>
          </a:stretch>
        </p:blipFill>
        <p:spPr>
          <a:xfrm>
            <a:off x="10348808" y="2090991"/>
            <a:ext cx="134549" cy="195707"/>
          </a:xfrm>
          <a:prstGeom prst="rect">
            <a:avLst/>
          </a:prstGeom>
        </p:spPr>
      </p:pic>
      <p:sp>
        <p:nvSpPr>
          <p:cNvPr id="56" name="TextBox 55"/>
          <p:cNvSpPr txBox="1"/>
          <p:nvPr/>
        </p:nvSpPr>
        <p:spPr>
          <a:xfrm>
            <a:off x="10523917"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7" name="TextBox 56"/>
          <p:cNvSpPr txBox="1"/>
          <p:nvPr/>
        </p:nvSpPr>
        <p:spPr>
          <a:xfrm>
            <a:off x="7829550" y="2329053"/>
            <a:ext cx="3853817" cy="194310"/>
          </a:xfrm>
          <a:prstGeom prst="rect">
            <a:avLst/>
          </a:prstGeom>
          <a:noFill/>
        </p:spPr>
        <p:txBody>
          <a:bodyPr wrap="none" lIns="0" rIns="0" tIns="0" bIns="0">
            <a:spAutoFit/>
          </a:bodyPr>
          <a:lstStyle/>
          <a:p>
            <a:r>
              <a:rPr sz="1150" b="0">
                <a:solidFill>
                  <a:srgbClr val="2E2E2E"/>
                </a:solidFill>
                <a:latin typeface="Calibri"/>
              </a:rPr>
              <a:t>The automotive and transportation segment is expected to lose</a:t>
            </a:r>
          </a:p>
        </p:txBody>
      </p:sp>
      <p:pic>
        <p:nvPicPr>
          <p:cNvPr id="58" name="Picture 57" descr="lock.png"/>
          <p:cNvPicPr>
            <a:picLocks noChangeAspect="1"/>
          </p:cNvPicPr>
          <p:nvPr/>
        </p:nvPicPr>
        <p:blipFill>
          <a:blip r:embed="rId5"/>
          <a:stretch>
            <a:fillRect/>
          </a:stretch>
        </p:blipFill>
        <p:spPr>
          <a:xfrm>
            <a:off x="7815470" y="2494089"/>
            <a:ext cx="134549" cy="195707"/>
          </a:xfrm>
          <a:prstGeom prst="rect">
            <a:avLst/>
          </a:prstGeom>
        </p:spPr>
      </p:pic>
      <p:sp>
        <p:nvSpPr>
          <p:cNvPr id="59" name="TextBox 58"/>
          <p:cNvSpPr txBox="1"/>
          <p:nvPr/>
        </p:nvSpPr>
        <p:spPr>
          <a:xfrm>
            <a:off x="7990579" y="250431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60" name="Picture 59" descr="lock.png"/>
          <p:cNvPicPr>
            <a:picLocks noChangeAspect="1"/>
          </p:cNvPicPr>
          <p:nvPr/>
        </p:nvPicPr>
        <p:blipFill>
          <a:blip r:embed="rId5"/>
          <a:stretch>
            <a:fillRect/>
          </a:stretch>
        </p:blipFill>
        <p:spPr>
          <a:xfrm>
            <a:off x="10578084" y="2494089"/>
            <a:ext cx="134549" cy="195707"/>
          </a:xfrm>
          <a:prstGeom prst="rect">
            <a:avLst/>
          </a:prstGeom>
        </p:spPr>
      </p:pic>
      <p:sp>
        <p:nvSpPr>
          <p:cNvPr id="61" name="TextBox 60"/>
          <p:cNvSpPr txBox="1"/>
          <p:nvPr/>
        </p:nvSpPr>
        <p:spPr>
          <a:xfrm>
            <a:off x="1075319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2" name="lockshield_9"/>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7.5</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Driver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Driver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Driver Type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Driver Type,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Driver Type segment categorizes the market by driver type.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Diesel Engine-Driven</a:t>
            </a:r>
          </a:p>
        </p:txBody>
      </p:sp>
      <p:sp>
        <p:nvSpPr>
          <p:cNvPr id="19" name="Rectangle 18"/>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Natural Gas Engine-Driven</a:t>
            </a:r>
          </a:p>
        </p:txBody>
      </p:sp>
      <p:sp>
        <p:nvSpPr>
          <p:cNvPr id="26" name="Rectangle 25"/>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Steam Turbine-Driven</a:t>
            </a:r>
          </a:p>
        </p:txBody>
      </p:sp>
      <p:sp>
        <p:nvSpPr>
          <p:cNvPr id="33" name="Rectangle 32"/>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Gas Turbine-Driven</a:t>
            </a:r>
          </a:p>
        </p:txBody>
      </p:sp>
      <p:sp>
        <p:nvSpPr>
          <p:cNvPr id="40" name="Rectangle 39"/>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Drive Types</a:t>
            </a:r>
          </a:p>
        </p:txBody>
      </p:sp>
      <p:sp>
        <p:nvSpPr>
          <p:cNvPr id="47" name="Rectangle 46"/>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Electric Motor-Driven</a:t>
            </a:r>
          </a:p>
        </p:txBody>
      </p:sp>
      <p:sp>
        <p:nvSpPr>
          <p:cNvPr id="54" name="Rectangle 53"/>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5" name="Rectangle 54"/>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6" name="Rectangle 55"/>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7" name="Oval 56"/>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58" name="Rounded Rectangle 5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0" name="Rectangle 59"/>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2" name="Rounded Rectangle 6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4" name="Rectangle 63"/>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6" name="Rounded Rectangle 6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8" name="Rectangle 67"/>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Driver Type split shows how demand is distributed across driver type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70" name="Rectangle 6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2" name="TextBox 7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73" name="Rectangle 7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5" name="Picture 74" descr="4_108_605E5C.png"/>
          <p:cNvPicPr>
            <a:picLocks noChangeAspect="1"/>
          </p:cNvPicPr>
          <p:nvPr/>
        </p:nvPicPr>
        <p:blipFill>
          <a:blip r:embed="rId4"/>
          <a:stretch>
            <a:fillRect/>
          </a:stretch>
        </p:blipFill>
        <p:spPr>
          <a:xfrm>
            <a:off x="2054848" y="2286582"/>
            <a:ext cx="1195728" cy="361950"/>
          </a:xfrm>
          <a:prstGeom prst="rect">
            <a:avLst/>
          </a:prstGeom>
        </p:spPr>
      </p:pic>
      <p:pic>
        <p:nvPicPr>
          <p:cNvPr id="76" name="Picture 75" descr="7_138_605E5C.png"/>
          <p:cNvPicPr>
            <a:picLocks noChangeAspect="1"/>
          </p:cNvPicPr>
          <p:nvPr/>
        </p:nvPicPr>
        <p:blipFill>
          <a:blip r:embed="rId5"/>
          <a:stretch>
            <a:fillRect/>
          </a:stretch>
        </p:blipFill>
        <p:spPr>
          <a:xfrm>
            <a:off x="2054848" y="2779432"/>
            <a:ext cx="1195728" cy="361950"/>
          </a:xfrm>
          <a:prstGeom prst="rect">
            <a:avLst/>
          </a:prstGeom>
        </p:spPr>
      </p:pic>
      <p:pic>
        <p:nvPicPr>
          <p:cNvPr id="77" name="Picture 76" descr="5_7__605E5C.png"/>
          <p:cNvPicPr>
            <a:picLocks noChangeAspect="1"/>
          </p:cNvPicPr>
          <p:nvPr/>
        </p:nvPicPr>
        <p:blipFill>
          <a:blip r:embed="rId6"/>
          <a:stretch>
            <a:fillRect/>
          </a:stretch>
        </p:blipFill>
        <p:spPr>
          <a:xfrm>
            <a:off x="2161494" y="3272281"/>
            <a:ext cx="982436" cy="361950"/>
          </a:xfrm>
          <a:prstGeom prst="rect">
            <a:avLst/>
          </a:prstGeom>
        </p:spPr>
      </p:pic>
      <p:pic>
        <p:nvPicPr>
          <p:cNvPr id="78" name="Picture 77" descr="3_260_605E5C.png"/>
          <p:cNvPicPr>
            <a:picLocks noChangeAspect="1"/>
          </p:cNvPicPr>
          <p:nvPr/>
        </p:nvPicPr>
        <p:blipFill>
          <a:blip r:embed="rId7"/>
          <a:stretch>
            <a:fillRect/>
          </a:stretch>
        </p:blipFill>
        <p:spPr>
          <a:xfrm>
            <a:off x="3740773" y="2286582"/>
            <a:ext cx="1195728" cy="361950"/>
          </a:xfrm>
          <a:prstGeom prst="rect">
            <a:avLst/>
          </a:prstGeom>
        </p:spPr>
      </p:pic>
      <p:pic>
        <p:nvPicPr>
          <p:cNvPr id="79" name="Picture 78" descr="4_392_605E5C.png"/>
          <p:cNvPicPr>
            <a:picLocks noChangeAspect="1"/>
          </p:cNvPicPr>
          <p:nvPr/>
        </p:nvPicPr>
        <p:blipFill>
          <a:blip r:embed="rId8"/>
          <a:stretch>
            <a:fillRect/>
          </a:stretch>
        </p:blipFill>
        <p:spPr>
          <a:xfrm>
            <a:off x="3740773" y="2779432"/>
            <a:ext cx="1195728" cy="361950"/>
          </a:xfrm>
          <a:prstGeom prst="rect">
            <a:avLst/>
          </a:prstGeom>
        </p:spPr>
      </p:pic>
      <p:pic>
        <p:nvPicPr>
          <p:cNvPr id="80" name="Picture 79" descr="3_0__605E5C.png"/>
          <p:cNvPicPr>
            <a:picLocks noChangeAspect="1"/>
          </p:cNvPicPr>
          <p:nvPr/>
        </p:nvPicPr>
        <p:blipFill>
          <a:blip r:embed="rId9"/>
          <a:stretch>
            <a:fillRect/>
          </a:stretch>
        </p:blipFill>
        <p:spPr>
          <a:xfrm>
            <a:off x="3847419" y="3272281"/>
            <a:ext cx="982436" cy="361950"/>
          </a:xfrm>
          <a:prstGeom prst="rect">
            <a:avLst/>
          </a:prstGeom>
        </p:spPr>
      </p:pic>
      <p:pic>
        <p:nvPicPr>
          <p:cNvPr id="81" name="Picture 80" descr="1_692_605E5C.png"/>
          <p:cNvPicPr>
            <a:picLocks noChangeAspect="1"/>
          </p:cNvPicPr>
          <p:nvPr/>
        </p:nvPicPr>
        <p:blipFill>
          <a:blip r:embed="rId10"/>
          <a:stretch>
            <a:fillRect/>
          </a:stretch>
        </p:blipFill>
        <p:spPr>
          <a:xfrm>
            <a:off x="5426698" y="2286582"/>
            <a:ext cx="1195728" cy="361950"/>
          </a:xfrm>
          <a:prstGeom prst="rect">
            <a:avLst/>
          </a:prstGeom>
        </p:spPr>
      </p:pic>
      <p:pic>
        <p:nvPicPr>
          <p:cNvPr id="82" name="Picture 81" descr="3_344_605E5C.png"/>
          <p:cNvPicPr>
            <a:picLocks noChangeAspect="1"/>
          </p:cNvPicPr>
          <p:nvPr/>
        </p:nvPicPr>
        <p:blipFill>
          <a:blip r:embed="rId11"/>
          <a:stretch>
            <a:fillRect/>
          </a:stretch>
        </p:blipFill>
        <p:spPr>
          <a:xfrm>
            <a:off x="5426698" y="2779432"/>
            <a:ext cx="1195728" cy="361950"/>
          </a:xfrm>
          <a:prstGeom prst="rect">
            <a:avLst/>
          </a:prstGeom>
        </p:spPr>
      </p:pic>
      <p:pic>
        <p:nvPicPr>
          <p:cNvPr id="83" name="Picture 82" descr="7_0__605E5C.png"/>
          <p:cNvPicPr>
            <a:picLocks noChangeAspect="1"/>
          </p:cNvPicPr>
          <p:nvPr/>
        </p:nvPicPr>
        <p:blipFill>
          <a:blip r:embed="rId12"/>
          <a:stretch>
            <a:fillRect/>
          </a:stretch>
        </p:blipFill>
        <p:spPr>
          <a:xfrm>
            <a:off x="5533344" y="3272281"/>
            <a:ext cx="982436" cy="361950"/>
          </a:xfrm>
          <a:prstGeom prst="rect">
            <a:avLst/>
          </a:prstGeom>
        </p:spPr>
      </p:pic>
      <p:pic>
        <p:nvPicPr>
          <p:cNvPr id="84" name="Picture 83" descr="878_2_605E5C.png"/>
          <p:cNvPicPr>
            <a:picLocks noChangeAspect="1"/>
          </p:cNvPicPr>
          <p:nvPr/>
        </p:nvPicPr>
        <p:blipFill>
          <a:blip r:embed="rId13"/>
          <a:stretch>
            <a:fillRect/>
          </a:stretch>
        </p:blipFill>
        <p:spPr>
          <a:xfrm>
            <a:off x="7112623" y="2286582"/>
            <a:ext cx="1195728" cy="361950"/>
          </a:xfrm>
          <a:prstGeom prst="rect">
            <a:avLst/>
          </a:prstGeom>
        </p:spPr>
      </p:pic>
      <p:pic>
        <p:nvPicPr>
          <p:cNvPr id="85" name="Picture 84" descr="1_451_605E5C.png"/>
          <p:cNvPicPr>
            <a:picLocks noChangeAspect="1"/>
          </p:cNvPicPr>
          <p:nvPr/>
        </p:nvPicPr>
        <p:blipFill>
          <a:blip r:embed="rId14"/>
          <a:stretch>
            <a:fillRect/>
          </a:stretch>
        </p:blipFill>
        <p:spPr>
          <a:xfrm>
            <a:off x="7112623" y="2779432"/>
            <a:ext cx="1195728" cy="361950"/>
          </a:xfrm>
          <a:prstGeom prst="rect">
            <a:avLst/>
          </a:prstGeom>
        </p:spPr>
      </p:pic>
      <p:pic>
        <p:nvPicPr>
          <p:cNvPr id="86" name="Picture 85" descr="5_1__605E5C.png"/>
          <p:cNvPicPr>
            <a:picLocks noChangeAspect="1"/>
          </p:cNvPicPr>
          <p:nvPr/>
        </p:nvPicPr>
        <p:blipFill>
          <a:blip r:embed="rId15"/>
          <a:stretch>
            <a:fillRect/>
          </a:stretch>
        </p:blipFill>
        <p:spPr>
          <a:xfrm>
            <a:off x="7219269" y="3272281"/>
            <a:ext cx="982436" cy="361950"/>
          </a:xfrm>
          <a:prstGeom prst="rect">
            <a:avLst/>
          </a:prstGeom>
        </p:spPr>
      </p:pic>
      <p:pic>
        <p:nvPicPr>
          <p:cNvPr id="87" name="Picture 86" descr="495_9_605E5C.png"/>
          <p:cNvPicPr>
            <a:picLocks noChangeAspect="1"/>
          </p:cNvPicPr>
          <p:nvPr/>
        </p:nvPicPr>
        <p:blipFill>
          <a:blip r:embed="rId16"/>
          <a:stretch>
            <a:fillRect/>
          </a:stretch>
        </p:blipFill>
        <p:spPr>
          <a:xfrm>
            <a:off x="8798548" y="2286582"/>
            <a:ext cx="1195728" cy="361950"/>
          </a:xfrm>
          <a:prstGeom prst="rect">
            <a:avLst/>
          </a:prstGeom>
        </p:spPr>
      </p:pic>
      <p:pic>
        <p:nvPicPr>
          <p:cNvPr id="88" name="Picture 87" descr="622_1_605E5C.png"/>
          <p:cNvPicPr>
            <a:picLocks noChangeAspect="1"/>
          </p:cNvPicPr>
          <p:nvPr/>
        </p:nvPicPr>
        <p:blipFill>
          <a:blip r:embed="rId17"/>
          <a:stretch>
            <a:fillRect/>
          </a:stretch>
        </p:blipFill>
        <p:spPr>
          <a:xfrm>
            <a:off x="8798548" y="2779432"/>
            <a:ext cx="1195728" cy="361950"/>
          </a:xfrm>
          <a:prstGeom prst="rect">
            <a:avLst/>
          </a:prstGeom>
        </p:spPr>
      </p:pic>
      <p:pic>
        <p:nvPicPr>
          <p:cNvPr id="89" name="Picture 88" descr="2_3__605E5C.png"/>
          <p:cNvPicPr>
            <a:picLocks noChangeAspect="1"/>
          </p:cNvPicPr>
          <p:nvPr/>
        </p:nvPicPr>
        <p:blipFill>
          <a:blip r:embed="rId18"/>
          <a:stretch>
            <a:fillRect/>
          </a:stretch>
        </p:blipFill>
        <p:spPr>
          <a:xfrm>
            <a:off x="8905194" y="3272281"/>
            <a:ext cx="982436" cy="361950"/>
          </a:xfrm>
          <a:prstGeom prst="rect">
            <a:avLst/>
          </a:prstGeom>
        </p:spPr>
      </p:pic>
      <p:pic>
        <p:nvPicPr>
          <p:cNvPr id="90" name="Picture 89" descr="465_7_605E5C.png"/>
          <p:cNvPicPr>
            <a:picLocks noChangeAspect="1"/>
          </p:cNvPicPr>
          <p:nvPr/>
        </p:nvPicPr>
        <p:blipFill>
          <a:blip r:embed="rId19"/>
          <a:stretch>
            <a:fillRect/>
          </a:stretch>
        </p:blipFill>
        <p:spPr>
          <a:xfrm>
            <a:off x="10484473" y="2286582"/>
            <a:ext cx="1195728" cy="361950"/>
          </a:xfrm>
          <a:prstGeom prst="rect">
            <a:avLst/>
          </a:prstGeom>
        </p:spPr>
      </p:pic>
      <p:pic>
        <p:nvPicPr>
          <p:cNvPr id="91" name="Picture 90" descr="798_4_605E5C.png"/>
          <p:cNvPicPr>
            <a:picLocks noChangeAspect="1"/>
          </p:cNvPicPr>
          <p:nvPr/>
        </p:nvPicPr>
        <p:blipFill>
          <a:blip r:embed="rId20"/>
          <a:stretch>
            <a:fillRect/>
          </a:stretch>
        </p:blipFill>
        <p:spPr>
          <a:xfrm>
            <a:off x="10484473" y="2779432"/>
            <a:ext cx="1195728" cy="361950"/>
          </a:xfrm>
          <a:prstGeom prst="rect">
            <a:avLst/>
          </a:prstGeom>
        </p:spPr>
      </p:pic>
      <p:pic>
        <p:nvPicPr>
          <p:cNvPr id="92" name="Picture 91" descr="5_5__605E5C.png"/>
          <p:cNvPicPr>
            <a:picLocks noChangeAspect="1"/>
          </p:cNvPicPr>
          <p:nvPr/>
        </p:nvPicPr>
        <p:blipFill>
          <a:blip r:embed="rId21"/>
          <a:stretch>
            <a:fillRect/>
          </a:stretch>
        </p:blipFill>
        <p:spPr>
          <a:xfrm>
            <a:off x="10591119" y="3272281"/>
            <a:ext cx="982436" cy="361950"/>
          </a:xfrm>
          <a:prstGeom prst="rect">
            <a:avLst/>
          </a:prstGeom>
        </p:spPr>
      </p:pic>
      <p:pic>
        <p:nvPicPr>
          <p:cNvPr id="93" name="Picture 92" descr="lock.png"/>
          <p:cNvPicPr>
            <a:picLocks noChangeAspect="1"/>
          </p:cNvPicPr>
          <p:nvPr/>
        </p:nvPicPr>
        <p:blipFill>
          <a:blip r:embed="rId22"/>
          <a:stretch>
            <a:fillRect/>
          </a:stretch>
        </p:blipFill>
        <p:spPr>
          <a:xfrm>
            <a:off x="2559367" y="2827057"/>
            <a:ext cx="183356" cy="266700"/>
          </a:xfrm>
          <a:prstGeom prst="rect">
            <a:avLst/>
          </a:prstGeom>
        </p:spPr>
      </p:pic>
      <p:pic>
        <p:nvPicPr>
          <p:cNvPr id="94" name="Picture 93" descr="lock.png"/>
          <p:cNvPicPr>
            <a:picLocks noChangeAspect="1"/>
          </p:cNvPicPr>
          <p:nvPr/>
        </p:nvPicPr>
        <p:blipFill>
          <a:blip r:embed="rId22"/>
          <a:stretch>
            <a:fillRect/>
          </a:stretch>
        </p:blipFill>
        <p:spPr>
          <a:xfrm>
            <a:off x="4245292" y="2827057"/>
            <a:ext cx="183356" cy="266700"/>
          </a:xfrm>
          <a:prstGeom prst="rect">
            <a:avLst/>
          </a:prstGeom>
        </p:spPr>
      </p:pic>
      <p:pic>
        <p:nvPicPr>
          <p:cNvPr id="95" name="Picture 94" descr="lock.png"/>
          <p:cNvPicPr>
            <a:picLocks noChangeAspect="1"/>
          </p:cNvPicPr>
          <p:nvPr/>
        </p:nvPicPr>
        <p:blipFill>
          <a:blip r:embed="rId22"/>
          <a:stretch>
            <a:fillRect/>
          </a:stretch>
        </p:blipFill>
        <p:spPr>
          <a:xfrm>
            <a:off x="593121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761714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930306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10988992" y="2827057"/>
            <a:ext cx="183356" cy="266700"/>
          </a:xfrm>
          <a:prstGeom prst="rect">
            <a:avLst/>
          </a:prstGeom>
        </p:spPr>
      </p:pic>
      <p:sp>
        <p:nvSpPr>
          <p:cNvPr id="99" name="TextBox 98"/>
          <p:cNvSpPr txBox="1"/>
          <p:nvPr/>
        </p:nvSpPr>
        <p:spPr>
          <a:xfrm>
            <a:off x="485775" y="4229437"/>
            <a:ext cx="2781796" cy="186689"/>
          </a:xfrm>
          <a:prstGeom prst="rect">
            <a:avLst/>
          </a:prstGeom>
          <a:noFill/>
        </p:spPr>
        <p:txBody>
          <a:bodyPr wrap="none" lIns="0" rIns="0" tIns="0" bIns="0">
            <a:spAutoFit/>
          </a:bodyPr>
          <a:lstStyle/>
          <a:p>
            <a:r>
              <a:rPr sz="1100" b="0">
                <a:solidFill>
                  <a:srgbClr val="2E2E2E"/>
                </a:solidFill>
                <a:latin typeface="Calibri"/>
              </a:rPr>
              <a:t>Among industrial air compressor by driver type,</a:t>
            </a:r>
          </a:p>
        </p:txBody>
      </p:sp>
      <p:sp>
        <p:nvSpPr>
          <p:cNvPr id="100" name="TextBox 99"/>
          <p:cNvSpPr txBox="1"/>
          <p:nvPr/>
        </p:nvSpPr>
        <p:spPr>
          <a:xfrm>
            <a:off x="485775" y="4397077"/>
            <a:ext cx="2625997" cy="186689"/>
          </a:xfrm>
          <a:prstGeom prst="rect">
            <a:avLst/>
          </a:prstGeom>
          <a:noFill/>
        </p:spPr>
        <p:txBody>
          <a:bodyPr wrap="none" lIns="0" rIns="0" tIns="0" bIns="0">
            <a:spAutoFit/>
          </a:bodyPr>
          <a:lstStyle/>
          <a:p>
            <a:r>
              <a:rPr sz="1100" b="0">
                <a:solidFill>
                  <a:srgbClr val="2E2E2E"/>
                </a:solidFill>
                <a:latin typeface="Calibri"/>
              </a:rPr>
              <a:t>steam turbine-driven segment is expected to</a:t>
            </a:r>
          </a:p>
        </p:txBody>
      </p:sp>
      <p:sp>
        <p:nvSpPr>
          <p:cNvPr id="101" name="TextBox 100"/>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102" name="Picture 101" descr="lock.png"/>
          <p:cNvPicPr>
            <a:picLocks noChangeAspect="1"/>
          </p:cNvPicPr>
          <p:nvPr/>
        </p:nvPicPr>
        <p:blipFill>
          <a:blip r:embed="rId22"/>
          <a:stretch>
            <a:fillRect/>
          </a:stretch>
        </p:blipFill>
        <p:spPr>
          <a:xfrm>
            <a:off x="2108919" y="4554938"/>
            <a:ext cx="128699" cy="187198"/>
          </a:xfrm>
          <a:prstGeom prst="rect">
            <a:avLst/>
          </a:prstGeom>
        </p:spPr>
      </p:pic>
      <p:sp>
        <p:nvSpPr>
          <p:cNvPr id="103" name="TextBox 102"/>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104" name="TextBox 103"/>
          <p:cNvSpPr txBox="1"/>
          <p:nvPr/>
        </p:nvSpPr>
        <p:spPr>
          <a:xfrm>
            <a:off x="485775" y="4732357"/>
            <a:ext cx="2892573" cy="186689"/>
          </a:xfrm>
          <a:prstGeom prst="rect">
            <a:avLst/>
          </a:prstGeom>
          <a:noFill/>
        </p:spPr>
        <p:txBody>
          <a:bodyPr wrap="none" lIns="0" rIns="0" tIns="0" bIns="0">
            <a:spAutoFit/>
          </a:bodyPr>
          <a:lstStyle/>
          <a:p>
            <a:r>
              <a:rPr sz="1100" b="0">
                <a:solidFill>
                  <a:srgbClr val="2E2E2E"/>
                </a:solidFill>
                <a:latin typeface="Calibri"/>
              </a:rPr>
              <a:t>period. In terms of value share by driver type, the</a:t>
            </a:r>
          </a:p>
        </p:txBody>
      </p:sp>
      <p:sp>
        <p:nvSpPr>
          <p:cNvPr id="105" name="TextBox 104"/>
          <p:cNvSpPr txBox="1"/>
          <p:nvPr/>
        </p:nvSpPr>
        <p:spPr>
          <a:xfrm>
            <a:off x="485775" y="4899997"/>
            <a:ext cx="2574156" cy="186689"/>
          </a:xfrm>
          <a:prstGeom prst="rect">
            <a:avLst/>
          </a:prstGeom>
          <a:noFill/>
        </p:spPr>
        <p:txBody>
          <a:bodyPr wrap="none" lIns="0" rIns="0" tIns="0" bIns="0">
            <a:spAutoFit/>
          </a:bodyPr>
          <a:lstStyle/>
          <a:p>
            <a:r>
              <a:rPr sz="1100" b="0">
                <a:solidFill>
                  <a:srgbClr val="2E2E2E"/>
                </a:solidFill>
                <a:latin typeface="Calibri"/>
              </a:rPr>
              <a:t>diesel engine-driven segment is expected to</a:t>
            </a:r>
          </a:p>
        </p:txBody>
      </p:sp>
      <p:sp>
        <p:nvSpPr>
          <p:cNvPr id="106" name="TextBox 105"/>
          <p:cNvSpPr txBox="1"/>
          <p:nvPr/>
        </p:nvSpPr>
        <p:spPr>
          <a:xfrm>
            <a:off x="485775" y="506763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107" name="Picture 106" descr="lock.png"/>
          <p:cNvPicPr>
            <a:picLocks noChangeAspect="1"/>
          </p:cNvPicPr>
          <p:nvPr/>
        </p:nvPicPr>
        <p:blipFill>
          <a:blip r:embed="rId22"/>
          <a:stretch>
            <a:fillRect/>
          </a:stretch>
        </p:blipFill>
        <p:spPr>
          <a:xfrm>
            <a:off x="2194339" y="5057858"/>
            <a:ext cx="128699" cy="187198"/>
          </a:xfrm>
          <a:prstGeom prst="rect">
            <a:avLst/>
          </a:prstGeom>
        </p:spPr>
      </p:pic>
      <p:sp>
        <p:nvSpPr>
          <p:cNvPr id="108" name="TextBox 107"/>
          <p:cNvSpPr txBox="1"/>
          <p:nvPr/>
        </p:nvSpPr>
        <p:spPr>
          <a:xfrm>
            <a:off x="2361835"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09" name="TextBox 108"/>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10" name="Picture 109" descr="lock.png"/>
          <p:cNvPicPr>
            <a:picLocks noChangeAspect="1"/>
          </p:cNvPicPr>
          <p:nvPr/>
        </p:nvPicPr>
        <p:blipFill>
          <a:blip r:embed="rId22"/>
          <a:stretch>
            <a:fillRect/>
          </a:stretch>
        </p:blipFill>
        <p:spPr>
          <a:xfrm>
            <a:off x="1330764" y="5225498"/>
            <a:ext cx="128699" cy="187198"/>
          </a:xfrm>
          <a:prstGeom prst="rect">
            <a:avLst/>
          </a:prstGeom>
        </p:spPr>
      </p:pic>
      <p:sp>
        <p:nvSpPr>
          <p:cNvPr id="111" name="TextBox 110"/>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2" name="TextBox 111"/>
          <p:cNvSpPr txBox="1"/>
          <p:nvPr/>
        </p:nvSpPr>
        <p:spPr>
          <a:xfrm>
            <a:off x="485775" y="5453209"/>
            <a:ext cx="2612628" cy="186689"/>
          </a:xfrm>
          <a:prstGeom prst="rect">
            <a:avLst/>
          </a:prstGeom>
          <a:noFill/>
        </p:spPr>
        <p:txBody>
          <a:bodyPr wrap="none" lIns="0" rIns="0" tIns="0" bIns="0">
            <a:spAutoFit/>
          </a:bodyPr>
          <a:lstStyle/>
          <a:p>
            <a:r>
              <a:rPr sz="1100" b="0">
                <a:solidFill>
                  <a:srgbClr val="2E2E2E"/>
                </a:solidFill>
                <a:latin typeface="Calibri"/>
              </a:rPr>
              <a:t>Diesel engine-driven segment is projected to</a:t>
            </a:r>
          </a:p>
        </p:txBody>
      </p:sp>
      <p:sp>
        <p:nvSpPr>
          <p:cNvPr id="113" name="TextBox 112"/>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14" name="Picture 113" descr="lock.png"/>
          <p:cNvPicPr>
            <a:picLocks noChangeAspect="1"/>
          </p:cNvPicPr>
          <p:nvPr/>
        </p:nvPicPr>
        <p:blipFill>
          <a:blip r:embed="rId22"/>
          <a:stretch>
            <a:fillRect/>
          </a:stretch>
        </p:blipFill>
        <p:spPr>
          <a:xfrm>
            <a:off x="946316" y="5611070"/>
            <a:ext cx="128699" cy="187198"/>
          </a:xfrm>
          <a:prstGeom prst="rect">
            <a:avLst/>
          </a:prstGeom>
        </p:spPr>
      </p:pic>
      <p:sp>
        <p:nvSpPr>
          <p:cNvPr id="115" name="TextBox 114"/>
          <p:cNvSpPr txBox="1"/>
          <p:nvPr/>
        </p:nvSpPr>
        <p:spPr>
          <a:xfrm>
            <a:off x="1113812" y="5620849"/>
            <a:ext cx="1831454" cy="186689"/>
          </a:xfrm>
          <a:prstGeom prst="rect">
            <a:avLst/>
          </a:prstGeom>
          <a:noFill/>
        </p:spPr>
        <p:txBody>
          <a:bodyPr wrap="none" lIns="0" rIns="0" tIns="0" bIns="0">
            <a:spAutoFit/>
          </a:bodyPr>
          <a:lstStyle/>
          <a:p>
            <a:r>
              <a:rPr sz="1100" b="0">
                <a:solidFill>
                  <a:srgbClr val="2E2E2E"/>
                </a:solidFill>
                <a:latin typeface="Calibri"/>
              </a:rPr>
              <a:t>X higher value than natural gas</a:t>
            </a:r>
          </a:p>
        </p:txBody>
      </p:sp>
      <p:sp>
        <p:nvSpPr>
          <p:cNvPr id="116" name="TextBox 115"/>
          <p:cNvSpPr txBox="1"/>
          <p:nvPr/>
        </p:nvSpPr>
        <p:spPr>
          <a:xfrm>
            <a:off x="485775" y="5788489"/>
            <a:ext cx="1874291" cy="186689"/>
          </a:xfrm>
          <a:prstGeom prst="rect">
            <a:avLst/>
          </a:prstGeom>
          <a:noFill/>
        </p:spPr>
        <p:txBody>
          <a:bodyPr wrap="none" lIns="0" rIns="0" tIns="0" bIns="0">
            <a:spAutoFit/>
          </a:bodyPr>
          <a:lstStyle/>
          <a:p>
            <a:r>
              <a:rPr sz="1100" b="0">
                <a:solidFill>
                  <a:srgbClr val="2E2E2E"/>
                </a:solidFill>
                <a:latin typeface="Calibri"/>
              </a:rPr>
              <a:t>engine-driven segment in 2036.</a:t>
            </a:r>
          </a:p>
        </p:txBody>
      </p:sp>
      <p:sp>
        <p:nvSpPr>
          <p:cNvPr id="117" name="TextBox 116"/>
          <p:cNvSpPr txBox="1"/>
          <p:nvPr/>
        </p:nvSpPr>
        <p:spPr>
          <a:xfrm>
            <a:off x="3838575" y="4229437"/>
            <a:ext cx="1403622" cy="186689"/>
          </a:xfrm>
          <a:prstGeom prst="rect">
            <a:avLst/>
          </a:prstGeom>
          <a:noFill/>
        </p:spPr>
        <p:txBody>
          <a:bodyPr wrap="none" lIns="0" rIns="0" tIns="0" bIns="0">
            <a:spAutoFit/>
          </a:bodyPr>
          <a:lstStyle/>
          <a:p>
            <a:r>
              <a:rPr sz="1100" b="0">
                <a:solidFill>
                  <a:srgbClr val="2E2E2E"/>
                </a:solidFill>
                <a:latin typeface="Calibri"/>
              </a:rPr>
              <a:t>● Diesel Engine-Driven:</a:t>
            </a:r>
          </a:p>
        </p:txBody>
      </p:sp>
      <p:pic>
        <p:nvPicPr>
          <p:cNvPr id="118" name="Picture 117" descr="lock.png"/>
          <p:cNvPicPr>
            <a:picLocks noChangeAspect="1"/>
          </p:cNvPicPr>
          <p:nvPr/>
        </p:nvPicPr>
        <p:blipFill>
          <a:blip r:embed="rId22"/>
          <a:stretch>
            <a:fillRect/>
          </a:stretch>
        </p:blipFill>
        <p:spPr>
          <a:xfrm>
            <a:off x="5190249" y="4219658"/>
            <a:ext cx="128699" cy="187198"/>
          </a:xfrm>
          <a:prstGeom prst="rect">
            <a:avLst/>
          </a:prstGeom>
        </p:spPr>
      </p:pic>
      <p:sp>
        <p:nvSpPr>
          <p:cNvPr id="119" name="TextBox 118"/>
          <p:cNvSpPr txBox="1"/>
          <p:nvPr/>
        </p:nvSpPr>
        <p:spPr>
          <a:xfrm>
            <a:off x="5357745"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0" name="Picture 119" descr="lock.png"/>
          <p:cNvPicPr>
            <a:picLocks noChangeAspect="1"/>
          </p:cNvPicPr>
          <p:nvPr/>
        </p:nvPicPr>
        <p:blipFill>
          <a:blip r:embed="rId22"/>
          <a:stretch>
            <a:fillRect/>
          </a:stretch>
        </p:blipFill>
        <p:spPr>
          <a:xfrm>
            <a:off x="6217195" y="4219658"/>
            <a:ext cx="128699" cy="187198"/>
          </a:xfrm>
          <a:prstGeom prst="rect">
            <a:avLst/>
          </a:prstGeom>
        </p:spPr>
      </p:pic>
      <p:sp>
        <p:nvSpPr>
          <p:cNvPr id="121" name="TextBox 120"/>
          <p:cNvSpPr txBox="1"/>
          <p:nvPr/>
        </p:nvSpPr>
        <p:spPr>
          <a:xfrm>
            <a:off x="6384691"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22" name="TextBox 121"/>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23" name="TextBox 122"/>
          <p:cNvSpPr txBox="1"/>
          <p:nvPr/>
        </p:nvSpPr>
        <p:spPr>
          <a:xfrm>
            <a:off x="3838575" y="4615009"/>
            <a:ext cx="1726133" cy="186689"/>
          </a:xfrm>
          <a:prstGeom prst="rect">
            <a:avLst/>
          </a:prstGeom>
          <a:noFill/>
        </p:spPr>
        <p:txBody>
          <a:bodyPr wrap="none" lIns="0" rIns="0" tIns="0" bIns="0">
            <a:spAutoFit/>
          </a:bodyPr>
          <a:lstStyle/>
          <a:p>
            <a:r>
              <a:rPr sz="1100" b="0">
                <a:solidFill>
                  <a:srgbClr val="2E2E2E"/>
                </a:solidFill>
                <a:latin typeface="Calibri"/>
              </a:rPr>
              <a:t>● Natural Gas Engine-Driven:</a:t>
            </a:r>
          </a:p>
        </p:txBody>
      </p:sp>
      <p:pic>
        <p:nvPicPr>
          <p:cNvPr id="124" name="Picture 123" descr="lock.png"/>
          <p:cNvPicPr>
            <a:picLocks noChangeAspect="1"/>
          </p:cNvPicPr>
          <p:nvPr/>
        </p:nvPicPr>
        <p:blipFill>
          <a:blip r:embed="rId22"/>
          <a:stretch>
            <a:fillRect/>
          </a:stretch>
        </p:blipFill>
        <p:spPr>
          <a:xfrm>
            <a:off x="5512759" y="4605230"/>
            <a:ext cx="128699" cy="187198"/>
          </a:xfrm>
          <a:prstGeom prst="rect">
            <a:avLst/>
          </a:prstGeom>
        </p:spPr>
      </p:pic>
      <p:sp>
        <p:nvSpPr>
          <p:cNvPr id="125" name="TextBox 124"/>
          <p:cNvSpPr txBox="1"/>
          <p:nvPr/>
        </p:nvSpPr>
        <p:spPr>
          <a:xfrm>
            <a:off x="5680255"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22"/>
          <a:stretch>
            <a:fillRect/>
          </a:stretch>
        </p:blipFill>
        <p:spPr>
          <a:xfrm>
            <a:off x="6539706" y="4605230"/>
            <a:ext cx="128699" cy="187198"/>
          </a:xfrm>
          <a:prstGeom prst="rect">
            <a:avLst/>
          </a:prstGeom>
        </p:spPr>
      </p:pic>
      <p:sp>
        <p:nvSpPr>
          <p:cNvPr id="127" name="TextBox 126"/>
          <p:cNvSpPr txBox="1"/>
          <p:nvPr/>
        </p:nvSpPr>
        <p:spPr>
          <a:xfrm>
            <a:off x="6707201"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28" name="TextBox 127"/>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29" name="TextBox 128"/>
          <p:cNvSpPr txBox="1"/>
          <p:nvPr/>
        </p:nvSpPr>
        <p:spPr>
          <a:xfrm>
            <a:off x="3838575" y="5000581"/>
            <a:ext cx="1475109" cy="186689"/>
          </a:xfrm>
          <a:prstGeom prst="rect">
            <a:avLst/>
          </a:prstGeom>
          <a:noFill/>
        </p:spPr>
        <p:txBody>
          <a:bodyPr wrap="none" lIns="0" rIns="0" tIns="0" bIns="0">
            <a:spAutoFit/>
          </a:bodyPr>
          <a:lstStyle/>
          <a:p>
            <a:r>
              <a:rPr sz="1100" b="0">
                <a:solidFill>
                  <a:srgbClr val="2E2E2E"/>
                </a:solidFill>
                <a:latin typeface="Calibri"/>
              </a:rPr>
              <a:t>● Steam Turbine-Driven:</a:t>
            </a:r>
          </a:p>
        </p:txBody>
      </p:sp>
      <p:pic>
        <p:nvPicPr>
          <p:cNvPr id="130" name="Picture 129" descr="lock.png"/>
          <p:cNvPicPr>
            <a:picLocks noChangeAspect="1"/>
          </p:cNvPicPr>
          <p:nvPr/>
        </p:nvPicPr>
        <p:blipFill>
          <a:blip r:embed="rId22"/>
          <a:stretch>
            <a:fillRect/>
          </a:stretch>
        </p:blipFill>
        <p:spPr>
          <a:xfrm>
            <a:off x="5261736" y="4990801"/>
            <a:ext cx="128699" cy="187198"/>
          </a:xfrm>
          <a:prstGeom prst="rect">
            <a:avLst/>
          </a:prstGeom>
        </p:spPr>
      </p:pic>
      <p:sp>
        <p:nvSpPr>
          <p:cNvPr id="131" name="TextBox 130"/>
          <p:cNvSpPr txBox="1"/>
          <p:nvPr/>
        </p:nvSpPr>
        <p:spPr>
          <a:xfrm>
            <a:off x="5429232"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2" name="Picture 131" descr="lock.png"/>
          <p:cNvPicPr>
            <a:picLocks noChangeAspect="1"/>
          </p:cNvPicPr>
          <p:nvPr/>
        </p:nvPicPr>
        <p:blipFill>
          <a:blip r:embed="rId22"/>
          <a:stretch>
            <a:fillRect/>
          </a:stretch>
        </p:blipFill>
        <p:spPr>
          <a:xfrm>
            <a:off x="6288682" y="4990801"/>
            <a:ext cx="128699" cy="187198"/>
          </a:xfrm>
          <a:prstGeom prst="rect">
            <a:avLst/>
          </a:prstGeom>
        </p:spPr>
      </p:pic>
      <p:sp>
        <p:nvSpPr>
          <p:cNvPr id="133" name="TextBox 132"/>
          <p:cNvSpPr txBox="1"/>
          <p:nvPr/>
        </p:nvSpPr>
        <p:spPr>
          <a:xfrm>
            <a:off x="6456178" y="500058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4" name="TextBox 133"/>
          <p:cNvSpPr txBox="1"/>
          <p:nvPr/>
        </p:nvSpPr>
        <p:spPr>
          <a:xfrm>
            <a:off x="3838575" y="5218513"/>
            <a:ext cx="1325587" cy="186689"/>
          </a:xfrm>
          <a:prstGeom prst="rect">
            <a:avLst/>
          </a:prstGeom>
          <a:noFill/>
        </p:spPr>
        <p:txBody>
          <a:bodyPr wrap="none" lIns="0" rIns="0" tIns="0" bIns="0">
            <a:spAutoFit/>
          </a:bodyPr>
          <a:lstStyle/>
          <a:p>
            <a:r>
              <a:rPr sz="1100" b="0">
                <a:solidFill>
                  <a:srgbClr val="2E2E2E"/>
                </a:solidFill>
                <a:latin typeface="Calibri"/>
              </a:rPr>
              <a:t>● Gas Turbine-Driven:</a:t>
            </a:r>
          </a:p>
        </p:txBody>
      </p:sp>
      <p:pic>
        <p:nvPicPr>
          <p:cNvPr id="135" name="Picture 134" descr="lock.png"/>
          <p:cNvPicPr>
            <a:picLocks noChangeAspect="1"/>
          </p:cNvPicPr>
          <p:nvPr/>
        </p:nvPicPr>
        <p:blipFill>
          <a:blip r:embed="rId22"/>
          <a:stretch>
            <a:fillRect/>
          </a:stretch>
        </p:blipFill>
        <p:spPr>
          <a:xfrm>
            <a:off x="5112213" y="5208733"/>
            <a:ext cx="128699" cy="187198"/>
          </a:xfrm>
          <a:prstGeom prst="rect">
            <a:avLst/>
          </a:prstGeom>
        </p:spPr>
      </p:pic>
      <p:sp>
        <p:nvSpPr>
          <p:cNvPr id="136" name="TextBox 135"/>
          <p:cNvSpPr txBox="1"/>
          <p:nvPr/>
        </p:nvSpPr>
        <p:spPr>
          <a:xfrm>
            <a:off x="5279709"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7" name="Picture 136" descr="lock.png"/>
          <p:cNvPicPr>
            <a:picLocks noChangeAspect="1"/>
          </p:cNvPicPr>
          <p:nvPr/>
        </p:nvPicPr>
        <p:blipFill>
          <a:blip r:embed="rId22"/>
          <a:stretch>
            <a:fillRect/>
          </a:stretch>
        </p:blipFill>
        <p:spPr>
          <a:xfrm>
            <a:off x="6139159" y="5208733"/>
            <a:ext cx="128699" cy="187198"/>
          </a:xfrm>
          <a:prstGeom prst="rect">
            <a:avLst/>
          </a:prstGeom>
        </p:spPr>
      </p:pic>
      <p:sp>
        <p:nvSpPr>
          <p:cNvPr id="138" name="TextBox 137"/>
          <p:cNvSpPr txBox="1"/>
          <p:nvPr/>
        </p:nvSpPr>
        <p:spPr>
          <a:xfrm>
            <a:off x="6306655" y="521851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9" name="TextBox 138"/>
          <p:cNvSpPr txBox="1"/>
          <p:nvPr/>
        </p:nvSpPr>
        <p:spPr>
          <a:xfrm>
            <a:off x="3838575" y="5436445"/>
            <a:ext cx="1252735" cy="186689"/>
          </a:xfrm>
          <a:prstGeom prst="rect">
            <a:avLst/>
          </a:prstGeom>
          <a:noFill/>
        </p:spPr>
        <p:txBody>
          <a:bodyPr wrap="none" lIns="0" rIns="0" tIns="0" bIns="0">
            <a:spAutoFit/>
          </a:bodyPr>
          <a:lstStyle/>
          <a:p>
            <a:r>
              <a:rPr sz="1100" b="0">
                <a:solidFill>
                  <a:srgbClr val="2E2E2E"/>
                </a:solidFill>
                <a:latin typeface="Calibri"/>
              </a:rPr>
              <a:t>● Other Drive Types:</a:t>
            </a:r>
          </a:p>
        </p:txBody>
      </p:sp>
      <p:pic>
        <p:nvPicPr>
          <p:cNvPr id="140" name="Picture 139" descr="lock.png"/>
          <p:cNvPicPr>
            <a:picLocks noChangeAspect="1"/>
          </p:cNvPicPr>
          <p:nvPr/>
        </p:nvPicPr>
        <p:blipFill>
          <a:blip r:embed="rId22"/>
          <a:stretch>
            <a:fillRect/>
          </a:stretch>
        </p:blipFill>
        <p:spPr>
          <a:xfrm>
            <a:off x="5039362" y="5426665"/>
            <a:ext cx="128699" cy="187198"/>
          </a:xfrm>
          <a:prstGeom prst="rect">
            <a:avLst/>
          </a:prstGeom>
        </p:spPr>
      </p:pic>
      <p:sp>
        <p:nvSpPr>
          <p:cNvPr id="141" name="TextBox 140"/>
          <p:cNvSpPr txBox="1"/>
          <p:nvPr/>
        </p:nvSpPr>
        <p:spPr>
          <a:xfrm>
            <a:off x="5206858" y="543644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2" name="Picture 141" descr="lock.png"/>
          <p:cNvPicPr>
            <a:picLocks noChangeAspect="1"/>
          </p:cNvPicPr>
          <p:nvPr/>
        </p:nvPicPr>
        <p:blipFill>
          <a:blip r:embed="rId22"/>
          <a:stretch>
            <a:fillRect/>
          </a:stretch>
        </p:blipFill>
        <p:spPr>
          <a:xfrm>
            <a:off x="6066308" y="5426665"/>
            <a:ext cx="128699" cy="187198"/>
          </a:xfrm>
          <a:prstGeom prst="rect">
            <a:avLst/>
          </a:prstGeom>
        </p:spPr>
      </p:pic>
      <p:sp>
        <p:nvSpPr>
          <p:cNvPr id="143" name="TextBox 142"/>
          <p:cNvSpPr txBox="1"/>
          <p:nvPr/>
        </p:nvSpPr>
        <p:spPr>
          <a:xfrm>
            <a:off x="6233804" y="543644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4" name="TextBox 143"/>
          <p:cNvSpPr txBox="1"/>
          <p:nvPr/>
        </p:nvSpPr>
        <p:spPr>
          <a:xfrm>
            <a:off x="3838575" y="5654377"/>
            <a:ext cx="1456010" cy="186689"/>
          </a:xfrm>
          <a:prstGeom prst="rect">
            <a:avLst/>
          </a:prstGeom>
          <a:noFill/>
        </p:spPr>
        <p:txBody>
          <a:bodyPr wrap="none" lIns="0" rIns="0" tIns="0" bIns="0">
            <a:spAutoFit/>
          </a:bodyPr>
          <a:lstStyle/>
          <a:p>
            <a:r>
              <a:rPr sz="1100" b="0">
                <a:solidFill>
                  <a:srgbClr val="2E2E2E"/>
                </a:solidFill>
                <a:latin typeface="Calibri"/>
              </a:rPr>
              <a:t>● Electric Motor-Driven:</a:t>
            </a:r>
          </a:p>
        </p:txBody>
      </p:sp>
      <p:pic>
        <p:nvPicPr>
          <p:cNvPr id="145" name="Picture 144" descr="lock.png"/>
          <p:cNvPicPr>
            <a:picLocks noChangeAspect="1"/>
          </p:cNvPicPr>
          <p:nvPr/>
        </p:nvPicPr>
        <p:blipFill>
          <a:blip r:embed="rId22"/>
          <a:stretch>
            <a:fillRect/>
          </a:stretch>
        </p:blipFill>
        <p:spPr>
          <a:xfrm>
            <a:off x="5242636" y="5644597"/>
            <a:ext cx="128699" cy="187198"/>
          </a:xfrm>
          <a:prstGeom prst="rect">
            <a:avLst/>
          </a:prstGeom>
        </p:spPr>
      </p:pic>
      <p:sp>
        <p:nvSpPr>
          <p:cNvPr id="146" name="TextBox 145"/>
          <p:cNvSpPr txBox="1"/>
          <p:nvPr/>
        </p:nvSpPr>
        <p:spPr>
          <a:xfrm>
            <a:off x="5410132" y="565437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7" name="Picture 146" descr="lock.png"/>
          <p:cNvPicPr>
            <a:picLocks noChangeAspect="1"/>
          </p:cNvPicPr>
          <p:nvPr/>
        </p:nvPicPr>
        <p:blipFill>
          <a:blip r:embed="rId22"/>
          <a:stretch>
            <a:fillRect/>
          </a:stretch>
        </p:blipFill>
        <p:spPr>
          <a:xfrm>
            <a:off x="6269582" y="5644597"/>
            <a:ext cx="128699" cy="187198"/>
          </a:xfrm>
          <a:prstGeom prst="rect">
            <a:avLst/>
          </a:prstGeom>
        </p:spPr>
      </p:pic>
      <p:sp>
        <p:nvSpPr>
          <p:cNvPr id="148" name="TextBox 147"/>
          <p:cNvSpPr txBox="1"/>
          <p:nvPr/>
        </p:nvSpPr>
        <p:spPr>
          <a:xfrm>
            <a:off x="6437078" y="565437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9" name="TextBox 148"/>
          <p:cNvSpPr txBox="1"/>
          <p:nvPr/>
        </p:nvSpPr>
        <p:spPr>
          <a:xfrm>
            <a:off x="8524875" y="5842641"/>
            <a:ext cx="3100461" cy="194310"/>
          </a:xfrm>
          <a:prstGeom prst="rect">
            <a:avLst/>
          </a:prstGeom>
          <a:noFill/>
        </p:spPr>
        <p:txBody>
          <a:bodyPr wrap="none" lIns="0" rIns="0" tIns="0" bIns="0">
            <a:spAutoFit/>
          </a:bodyPr>
          <a:lstStyle/>
          <a:p>
            <a:r>
              <a:rPr sz="1150" b="1">
                <a:solidFill>
                  <a:srgbClr val="0B2E4A"/>
                </a:solidFill>
                <a:latin typeface="Calibri"/>
              </a:rPr>
              <a:t>The Driver Type segment is projected to grow at a</a:t>
            </a:r>
          </a:p>
        </p:txBody>
      </p:sp>
      <p:sp>
        <p:nvSpPr>
          <p:cNvPr id="150" name="TextBox 149"/>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51" name="Picture 150" descr="lock.png"/>
          <p:cNvPicPr>
            <a:picLocks noChangeAspect="1"/>
          </p:cNvPicPr>
          <p:nvPr/>
        </p:nvPicPr>
        <p:blipFill>
          <a:blip r:embed="rId22"/>
          <a:stretch>
            <a:fillRect/>
          </a:stretch>
        </p:blipFill>
        <p:spPr>
          <a:xfrm>
            <a:off x="9048826" y="6007677"/>
            <a:ext cx="134549" cy="195707"/>
          </a:xfrm>
          <a:prstGeom prst="rect">
            <a:avLst/>
          </a:prstGeom>
        </p:spPr>
      </p:pic>
      <p:sp>
        <p:nvSpPr>
          <p:cNvPr id="152" name="TextBox 151"/>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Driver Type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Driver Type mix within each region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Driver Type mix within each region (share of 2036 value) · row label = region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Driver Type · Bubble size represents 2036 value</a:t>
            </a:r>
          </a:p>
        </p:txBody>
      </p:sp>
      <p:graphicFrame>
        <p:nvGraphicFramePr>
          <p:cNvPr id="12" name="Chart 11"/>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677650" cy="186689"/>
          </a:xfrm>
          <a:prstGeom prst="rect">
            <a:avLst/>
          </a:prstGeom>
          <a:noFill/>
        </p:spPr>
        <p:txBody>
          <a:bodyPr wrap="none" lIns="0" rIns="0" tIns="0" bIns="0">
            <a:spAutoFit/>
          </a:bodyPr>
          <a:lstStyle/>
          <a:p>
            <a:r>
              <a:rPr sz="1100" b="0">
                <a:solidFill>
                  <a:srgbClr val="2E2E2E"/>
                </a:solidFill>
                <a:latin typeface="Calibri"/>
              </a:rPr>
              <a:t>Diesel engine-driven followed by natural gas engine-driven are expected to be the two most attractive driver type segments in the global industrial air compressor market in terms of value over the forecast</a:t>
            </a:r>
          </a:p>
        </p:txBody>
      </p:sp>
      <p:sp>
        <p:nvSpPr>
          <p:cNvPr id="18" name="TextBox 17"/>
          <p:cNvSpPr txBox="1"/>
          <p:nvPr/>
        </p:nvSpPr>
        <p:spPr>
          <a:xfrm>
            <a:off x="257175" y="5861685"/>
            <a:ext cx="4780416" cy="186689"/>
          </a:xfrm>
          <a:prstGeom prst="rect">
            <a:avLst/>
          </a:prstGeom>
          <a:noFill/>
        </p:spPr>
        <p:txBody>
          <a:bodyPr wrap="none" lIns="0" rIns="0" tIns="0" bIns="0">
            <a:spAutoFit/>
          </a:bodyPr>
          <a:lstStyle/>
          <a:p>
            <a:r>
              <a:rPr sz="1100" b="0">
                <a:solidFill>
                  <a:srgbClr val="2E2E2E"/>
                </a:solidFill>
                <a:latin typeface="Calibri"/>
              </a:rPr>
              <a:t>period. Diesel Engine-Driven and natural gas Engine-Driven exhibit a CAGR index of</a:t>
            </a:r>
          </a:p>
        </p:txBody>
      </p:sp>
      <p:pic>
        <p:nvPicPr>
          <p:cNvPr id="19" name="Picture 18" descr="lock.png"/>
          <p:cNvPicPr>
            <a:picLocks noChangeAspect="1"/>
          </p:cNvPicPr>
          <p:nvPr/>
        </p:nvPicPr>
        <p:blipFill>
          <a:blip r:embed="rId6"/>
          <a:stretch>
            <a:fillRect/>
          </a:stretch>
        </p:blipFill>
        <p:spPr>
          <a:xfrm>
            <a:off x="4985643" y="5851905"/>
            <a:ext cx="128699" cy="187198"/>
          </a:xfrm>
          <a:prstGeom prst="rect">
            <a:avLst/>
          </a:prstGeom>
        </p:spPr>
      </p:pic>
      <p:sp>
        <p:nvSpPr>
          <p:cNvPr id="20" name="TextBox 19"/>
          <p:cNvSpPr txBox="1"/>
          <p:nvPr/>
        </p:nvSpPr>
        <p:spPr>
          <a:xfrm>
            <a:off x="515313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5391033" y="5851905"/>
            <a:ext cx="128699" cy="187198"/>
          </a:xfrm>
          <a:prstGeom prst="rect">
            <a:avLst/>
          </a:prstGeom>
        </p:spPr>
      </p:pic>
      <p:sp>
        <p:nvSpPr>
          <p:cNvPr id="22" name="TextBox 21"/>
          <p:cNvSpPr txBox="1"/>
          <p:nvPr/>
        </p:nvSpPr>
        <p:spPr>
          <a:xfrm>
            <a:off x="5558529"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7167502" y="5851905"/>
            <a:ext cx="128699" cy="187198"/>
          </a:xfrm>
          <a:prstGeom prst="rect">
            <a:avLst/>
          </a:prstGeom>
        </p:spPr>
      </p:pic>
      <p:sp>
        <p:nvSpPr>
          <p:cNvPr id="24" name="TextBox 23"/>
          <p:cNvSpPr txBox="1"/>
          <p:nvPr/>
        </p:nvSpPr>
        <p:spPr>
          <a:xfrm>
            <a:off x="733499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7572893" y="5851905"/>
            <a:ext cx="128699" cy="187198"/>
          </a:xfrm>
          <a:prstGeom prst="rect">
            <a:avLst/>
          </a:prstGeom>
        </p:spPr>
      </p:pic>
      <p:sp>
        <p:nvSpPr>
          <p:cNvPr id="26" name="TextBox 25"/>
          <p:cNvSpPr txBox="1"/>
          <p:nvPr/>
        </p:nvSpPr>
        <p:spPr>
          <a:xfrm>
            <a:off x="7740388"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10294792" y="5851905"/>
            <a:ext cx="128699" cy="187198"/>
          </a:xfrm>
          <a:prstGeom prst="rect">
            <a:avLst/>
          </a:prstGeom>
        </p:spPr>
      </p:pic>
      <p:sp>
        <p:nvSpPr>
          <p:cNvPr id="28" name="TextBox 27"/>
          <p:cNvSpPr txBox="1"/>
          <p:nvPr/>
        </p:nvSpPr>
        <p:spPr>
          <a:xfrm>
            <a:off x="10462288" y="5861685"/>
            <a:ext cx="1016992" cy="186689"/>
          </a:xfrm>
          <a:prstGeom prst="rect">
            <a:avLst/>
          </a:prstGeom>
          <a:noFill/>
        </p:spPr>
        <p:txBody>
          <a:bodyPr wrap="none" lIns="0" rIns="0" tIns="0" bIns="0">
            <a:spAutoFit/>
          </a:bodyPr>
          <a:lstStyle/>
          <a:p>
            <a:r>
              <a:rPr sz="1100" b="0">
                <a:solidFill>
                  <a:srgbClr val="2E2E2E"/>
                </a:solidFill>
                <a:latin typeface="Calibri"/>
              </a:rPr>
              <a:t>. The other drive</a:t>
            </a:r>
          </a:p>
        </p:txBody>
      </p:sp>
      <p:sp>
        <p:nvSpPr>
          <p:cNvPr id="29" name="TextBox 28"/>
          <p:cNvSpPr txBox="1"/>
          <p:nvPr/>
        </p:nvSpPr>
        <p:spPr>
          <a:xfrm>
            <a:off x="257175" y="6029325"/>
            <a:ext cx="11527473" cy="186689"/>
          </a:xfrm>
          <a:prstGeom prst="rect">
            <a:avLst/>
          </a:prstGeom>
          <a:noFill/>
        </p:spPr>
        <p:txBody>
          <a:bodyPr wrap="none" lIns="0" rIns="0" tIns="0" bIns="0">
            <a:spAutoFit/>
          </a:bodyPr>
          <a:lstStyle/>
          <a:p>
            <a:r>
              <a:rPr sz="1100" b="0">
                <a:solidFill>
                  <a:srgbClr val="2E2E2E"/>
                </a:solidFill>
                <a:latin typeface="Calibri"/>
              </a:rPr>
              <a:t>types segment is expected to be less attractive as compared to other segments over the forecast period, owing to its lower CAGR and incremental opportunity. Bubbles right of the CAGR-Index line grow</a:t>
            </a:r>
          </a:p>
        </p:txBody>
      </p:sp>
      <p:sp>
        <p:nvSpPr>
          <p:cNvPr id="30" name="TextBox 29"/>
          <p:cNvSpPr txBox="1"/>
          <p:nvPr/>
        </p:nvSpPr>
        <p:spPr>
          <a:xfrm>
            <a:off x="257175" y="6196965"/>
            <a:ext cx="1959694" cy="186689"/>
          </a:xfrm>
          <a:prstGeom prst="rect">
            <a:avLst/>
          </a:prstGeom>
          <a:noFill/>
        </p:spPr>
        <p:txBody>
          <a:bodyPr wrap="none" lIns="0" rIns="0" tIns="0" bIns="0">
            <a:spAutoFit/>
          </a:bodyPr>
          <a:lstStyle/>
          <a:p>
            <a:r>
              <a:rPr sz="1100" b="0">
                <a:solidFill>
                  <a:srgbClr val="2E2E2E"/>
                </a:solidFill>
                <a:latin typeface="Calibri"/>
              </a:rPr>
              <a:t>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Driver Type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Driver Type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Electric Motor-Driven</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Natural Gas Engine-Driven</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Diesel Engine-Driven</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Steam Turbine-Driven</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094826" y="5123309"/>
            <a:ext cx="263506" cy="383281"/>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Driver Type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Driver Type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Gas Turbine-Driven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 Drive Types</a:t>
            </a:r>
          </a:p>
        </p:txBody>
      </p:sp>
      <p:graphicFrame>
        <p:nvGraphicFramePr>
          <p:cNvPr id="12" name="Chart 11"/>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4"/>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Summary of Global Absolute $ Opportunity Analysis, By Driver Type</a:t>
            </a:r>
          </a:p>
        </p:txBody>
      </p:sp>
      <p:sp>
        <p:nvSpPr>
          <p:cNvPr id="15" name="Rectangle 14"/>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Rectangle 1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9" name="Picture 18" descr="lock.png"/>
          <p:cNvPicPr>
            <a:picLocks noChangeAspect="1"/>
          </p:cNvPicPr>
          <p:nvPr/>
        </p:nvPicPr>
        <p:blipFill>
          <a:blip r:embed="rId6"/>
          <a:stretch>
            <a:fillRect/>
          </a:stretch>
        </p:blipFill>
        <p:spPr>
          <a:xfrm>
            <a:off x="3094826" y="2237234"/>
            <a:ext cx="263506" cy="383281"/>
          </a:xfrm>
          <a:prstGeom prst="rect">
            <a:avLst/>
          </a:prstGeom>
        </p:spPr>
      </p:pic>
      <p:pic>
        <p:nvPicPr>
          <p:cNvPr id="20" name="Picture 19" descr="lock.png"/>
          <p:cNvPicPr>
            <a:picLocks noChangeAspect="1"/>
          </p:cNvPicPr>
          <p:nvPr/>
        </p:nvPicPr>
        <p:blipFill>
          <a:blip r:embed="rId6"/>
          <a:stretch>
            <a:fillRect/>
          </a:stretch>
        </p:blipFill>
        <p:spPr>
          <a:xfrm>
            <a:off x="3094826" y="5123309"/>
            <a:ext cx="263506" cy="383281"/>
          </a:xfrm>
          <a:prstGeom prst="rect">
            <a:avLst/>
          </a:prstGeom>
        </p:spPr>
      </p:pic>
      <p:sp>
        <p:nvSpPr>
          <p:cNvPr id="21" name="TextBox 20"/>
          <p:cNvSpPr txBox="1"/>
          <p:nvPr/>
        </p:nvSpPr>
        <p:spPr>
          <a:xfrm>
            <a:off x="6305550" y="1400175"/>
            <a:ext cx="4703851" cy="194310"/>
          </a:xfrm>
          <a:prstGeom prst="rect">
            <a:avLst/>
          </a:prstGeom>
          <a:noFill/>
        </p:spPr>
        <p:txBody>
          <a:bodyPr wrap="none" lIns="0" rIns="0" tIns="0" bIns="0">
            <a:spAutoFit/>
          </a:bodyPr>
          <a:lstStyle/>
          <a:p>
            <a:r>
              <a:rPr sz="1150" b="0">
                <a:solidFill>
                  <a:srgbClr val="2E2E2E"/>
                </a:solidFill>
                <a:latin typeface="Calibri"/>
              </a:rPr>
              <a:t>By 2036, diesel engine-driven segment is anticipated to witness an increase of</a:t>
            </a:r>
          </a:p>
        </p:txBody>
      </p:sp>
      <p:pic>
        <p:nvPicPr>
          <p:cNvPr id="22" name="Picture 21" descr="lock.png"/>
          <p:cNvPicPr>
            <a:picLocks noChangeAspect="1"/>
          </p:cNvPicPr>
          <p:nvPr/>
        </p:nvPicPr>
        <p:blipFill>
          <a:blip r:embed="rId6"/>
          <a:stretch>
            <a:fillRect/>
          </a:stretch>
        </p:blipFill>
        <p:spPr>
          <a:xfrm>
            <a:off x="10958555" y="1389951"/>
            <a:ext cx="134549" cy="195707"/>
          </a:xfrm>
          <a:prstGeom prst="rect">
            <a:avLst/>
          </a:prstGeom>
        </p:spPr>
      </p:pic>
      <p:sp>
        <p:nvSpPr>
          <p:cNvPr id="23" name="TextBox 22"/>
          <p:cNvSpPr txBox="1"/>
          <p:nvPr/>
        </p:nvSpPr>
        <p:spPr>
          <a:xfrm>
            <a:off x="11133665" y="1400175"/>
            <a:ext cx="675233" cy="194310"/>
          </a:xfrm>
          <a:prstGeom prst="rect">
            <a:avLst/>
          </a:prstGeom>
          <a:noFill/>
        </p:spPr>
        <p:txBody>
          <a:bodyPr wrap="none" lIns="0" rIns="0" tIns="0" bIns="0">
            <a:spAutoFit/>
          </a:bodyPr>
          <a:lstStyle/>
          <a:p>
            <a:r>
              <a:rPr sz="1150" b="0">
                <a:solidFill>
                  <a:srgbClr val="2E2E2E"/>
                </a:solidFill>
                <a:latin typeface="Calibri"/>
              </a:rPr>
              <a:t>X in terms</a:t>
            </a:r>
          </a:p>
        </p:txBody>
      </p:sp>
      <p:sp>
        <p:nvSpPr>
          <p:cNvPr id="24" name="TextBox 23"/>
          <p:cNvSpPr txBox="1"/>
          <p:nvPr/>
        </p:nvSpPr>
        <p:spPr>
          <a:xfrm>
            <a:off x="6305550" y="1575435"/>
            <a:ext cx="5371653" cy="194310"/>
          </a:xfrm>
          <a:prstGeom prst="rect">
            <a:avLst/>
          </a:prstGeom>
          <a:noFill/>
        </p:spPr>
        <p:txBody>
          <a:bodyPr wrap="none" lIns="0" rIns="0" tIns="0" bIns="0">
            <a:spAutoFit/>
          </a:bodyPr>
          <a:lstStyle/>
          <a:p>
            <a:r>
              <a:rPr sz="1150" b="0">
                <a:solidFill>
                  <a:srgbClr val="2E2E2E"/>
                </a:solidFill>
                <a:latin typeface="Calibri"/>
              </a:rPr>
              <a:t>of value as compared to 2026. The diesel Engine-Driven segment is expected to create an</a:t>
            </a:r>
          </a:p>
        </p:txBody>
      </p:sp>
      <p:sp>
        <p:nvSpPr>
          <p:cNvPr id="25" name="TextBox 24"/>
          <p:cNvSpPr txBox="1"/>
          <p:nvPr/>
        </p:nvSpPr>
        <p:spPr>
          <a:xfrm>
            <a:off x="6305550" y="1750695"/>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26" name="Picture 25" descr="lock.png"/>
          <p:cNvPicPr>
            <a:picLocks noChangeAspect="1"/>
          </p:cNvPicPr>
          <p:nvPr/>
        </p:nvPicPr>
        <p:blipFill>
          <a:blip r:embed="rId6"/>
          <a:stretch>
            <a:fillRect/>
          </a:stretch>
        </p:blipFill>
        <p:spPr>
          <a:xfrm>
            <a:off x="8211582" y="1740471"/>
            <a:ext cx="134549" cy="195707"/>
          </a:xfrm>
          <a:prstGeom prst="rect">
            <a:avLst/>
          </a:prstGeom>
        </p:spPr>
      </p:pic>
      <p:sp>
        <p:nvSpPr>
          <p:cNvPr id="27" name="TextBox 26"/>
          <p:cNvSpPr txBox="1"/>
          <p:nvPr/>
        </p:nvSpPr>
        <p:spPr>
          <a:xfrm>
            <a:off x="8386692" y="1750695"/>
            <a:ext cx="3443907"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a:t>
            </a:r>
          </a:p>
        </p:txBody>
      </p:sp>
      <p:sp>
        <p:nvSpPr>
          <p:cNvPr id="28" name="TextBox 27"/>
          <p:cNvSpPr txBox="1"/>
          <p:nvPr/>
        </p:nvSpPr>
        <p:spPr>
          <a:xfrm>
            <a:off x="6305550" y="1925955"/>
            <a:ext cx="898587" cy="194310"/>
          </a:xfrm>
          <a:prstGeom prst="rect">
            <a:avLst/>
          </a:prstGeom>
          <a:noFill/>
        </p:spPr>
        <p:txBody>
          <a:bodyPr wrap="none" lIns="0" rIns="0" tIns="0" bIns="0">
            <a:spAutoFit/>
          </a:bodyPr>
          <a:lstStyle/>
          <a:p>
            <a:r>
              <a:rPr sz="1150" b="0">
                <a:solidFill>
                  <a:srgbClr val="2E2E2E"/>
                </a:solidFill>
                <a:latin typeface="Calibri"/>
              </a:rPr>
              <a:t>2026 to 2036.</a:t>
            </a:r>
          </a:p>
        </p:txBody>
      </p:sp>
      <p:sp>
        <p:nvSpPr>
          <p:cNvPr id="29" name="TextBox 28"/>
          <p:cNvSpPr txBox="1"/>
          <p:nvPr/>
        </p:nvSpPr>
        <p:spPr>
          <a:xfrm>
            <a:off x="6305550" y="2153793"/>
            <a:ext cx="5535104" cy="194310"/>
          </a:xfrm>
          <a:prstGeom prst="rect">
            <a:avLst/>
          </a:prstGeom>
          <a:noFill/>
        </p:spPr>
        <p:txBody>
          <a:bodyPr wrap="none" lIns="0" rIns="0" tIns="0" bIns="0">
            <a:spAutoFit/>
          </a:bodyPr>
          <a:lstStyle/>
          <a:p>
            <a:r>
              <a:rPr sz="1150" b="0">
                <a:solidFill>
                  <a:srgbClr val="2E2E2E"/>
                </a:solidFill>
                <a:latin typeface="Calibri"/>
              </a:rPr>
              <a:t>The steam Turbine-Driven segment is expected to create an incremental opportunity of US$</a:t>
            </a:r>
          </a:p>
        </p:txBody>
      </p:sp>
      <p:pic>
        <p:nvPicPr>
          <p:cNvPr id="30" name="Picture 29" descr="lock.png"/>
          <p:cNvPicPr>
            <a:picLocks noChangeAspect="1"/>
          </p:cNvPicPr>
          <p:nvPr/>
        </p:nvPicPr>
        <p:blipFill>
          <a:blip r:embed="rId6"/>
          <a:stretch>
            <a:fillRect/>
          </a:stretch>
        </p:blipFill>
        <p:spPr>
          <a:xfrm>
            <a:off x="6291470" y="2318829"/>
            <a:ext cx="134549" cy="195707"/>
          </a:xfrm>
          <a:prstGeom prst="rect">
            <a:avLst/>
          </a:prstGeom>
        </p:spPr>
      </p:pic>
      <p:sp>
        <p:nvSpPr>
          <p:cNvPr id="31" name="TextBox 30"/>
          <p:cNvSpPr txBox="1"/>
          <p:nvPr/>
        </p:nvSpPr>
        <p:spPr>
          <a:xfrm>
            <a:off x="6466579" y="2329053"/>
            <a:ext cx="5242148"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 2026 to 2036. The natural gas</a:t>
            </a:r>
          </a:p>
        </p:txBody>
      </p:sp>
      <p:sp>
        <p:nvSpPr>
          <p:cNvPr id="32" name="TextBox 31"/>
          <p:cNvSpPr txBox="1"/>
          <p:nvPr/>
        </p:nvSpPr>
        <p:spPr>
          <a:xfrm>
            <a:off x="6305550" y="2504313"/>
            <a:ext cx="4823680" cy="194310"/>
          </a:xfrm>
          <a:prstGeom prst="rect">
            <a:avLst/>
          </a:prstGeom>
          <a:noFill/>
        </p:spPr>
        <p:txBody>
          <a:bodyPr wrap="none" lIns="0" rIns="0" tIns="0" bIns="0">
            <a:spAutoFit/>
          </a:bodyPr>
          <a:lstStyle/>
          <a:p>
            <a:r>
              <a:rPr sz="1150" b="0">
                <a:solidFill>
                  <a:srgbClr val="2E2E2E"/>
                </a:solidFill>
                <a:latin typeface="Calibri"/>
              </a:rPr>
              <a:t>Engine-Driven segment is expected to create an incremental opportunity of US$</a:t>
            </a:r>
          </a:p>
        </p:txBody>
      </p:sp>
      <p:pic>
        <p:nvPicPr>
          <p:cNvPr id="33" name="Picture 32" descr="lock.png"/>
          <p:cNvPicPr>
            <a:picLocks noChangeAspect="1"/>
          </p:cNvPicPr>
          <p:nvPr/>
        </p:nvPicPr>
        <p:blipFill>
          <a:blip r:embed="rId6"/>
          <a:stretch>
            <a:fillRect/>
          </a:stretch>
        </p:blipFill>
        <p:spPr>
          <a:xfrm>
            <a:off x="11078384" y="2494089"/>
            <a:ext cx="134549" cy="195707"/>
          </a:xfrm>
          <a:prstGeom prst="rect">
            <a:avLst/>
          </a:prstGeom>
        </p:spPr>
      </p:pic>
      <p:sp>
        <p:nvSpPr>
          <p:cNvPr id="34" name="TextBox 33"/>
          <p:cNvSpPr txBox="1"/>
          <p:nvPr/>
        </p:nvSpPr>
        <p:spPr>
          <a:xfrm>
            <a:off x="11253493" y="2504313"/>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35" name="TextBox 34"/>
          <p:cNvSpPr txBox="1"/>
          <p:nvPr/>
        </p:nvSpPr>
        <p:spPr>
          <a:xfrm>
            <a:off x="6305550" y="2679573"/>
            <a:ext cx="3858952" cy="194310"/>
          </a:xfrm>
          <a:prstGeom prst="rect">
            <a:avLst/>
          </a:prstGeom>
          <a:noFill/>
        </p:spPr>
        <p:txBody>
          <a:bodyPr wrap="none" lIns="0" rIns="0" tIns="0" bIns="0">
            <a:spAutoFit/>
          </a:bodyPr>
          <a:lstStyle/>
          <a:p>
            <a:r>
              <a:rPr sz="1150" b="0">
                <a:solidFill>
                  <a:srgbClr val="2E2E2E"/>
                </a:solidFill>
                <a:latin typeface="Calibri"/>
              </a:rPr>
              <a:t>the overall industrial air compressor market from 2026 to 2036.</a:t>
            </a:r>
          </a:p>
        </p:txBody>
      </p:sp>
      <p:sp>
        <p:nvSpPr>
          <p:cNvPr id="36"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ockshield_12"/>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Driver Type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Driver Type, 2021–2036, highlighting the sub-segments driving growth</a:t>
            </a:r>
          </a:p>
        </p:txBody>
      </p:sp>
      <p:sp>
        <p:nvSpPr>
          <p:cNvPr id="7" name="Rounded Rectangle 6"/>
          <p:cNvSpPr/>
          <p:nvPr/>
        </p:nvSpPr>
        <p:spPr>
          <a:xfrm>
            <a:off x="142875" y="981075"/>
            <a:ext cx="11906250" cy="2438400"/>
          </a:xfrm>
          <a:prstGeom prst="roundRect">
            <a:avLst>
              <a:gd name="adj" fmla="val 312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Driver Type (US$ Mn)</a:t>
            </a:r>
          </a:p>
        </p:txBody>
      </p:sp>
      <p:graphicFrame>
        <p:nvGraphicFramePr>
          <p:cNvPr id="9" name="Table 8"/>
          <p:cNvGraphicFramePr>
            <a:graphicFrameLocks noGrp="1"/>
          </p:cNvGraphicFramePr>
          <p:nvPr/>
        </p:nvGraphicFramePr>
        <p:xfrm>
          <a:off x="152400" y="1238250"/>
          <a:ext cx="11887196" cy="1971675"/>
        </p:xfrm>
        <a:graphic>
          <a:graphicData uri="http://schemas.openxmlformats.org/drawingml/2006/table">
            <a:tbl>
              <a:tblPr>
                <a:tableStyleId>{5C22544A-7EE6-4342-B048-85BDC9FD1C3A}</a:tableStyleId>
              </a:tblPr>
              <a:tblGrid>
                <a:gridCol w="1809001"/>
                <a:gridCol w="592835"/>
                <a:gridCol w="592835"/>
                <a:gridCol w="592835"/>
                <a:gridCol w="592835"/>
                <a:gridCol w="592835"/>
                <a:gridCol w="592835"/>
                <a:gridCol w="592835"/>
                <a:gridCol w="592835"/>
                <a:gridCol w="592835"/>
                <a:gridCol w="592835"/>
                <a:gridCol w="592835"/>
                <a:gridCol w="592835"/>
                <a:gridCol w="592835"/>
                <a:gridCol w="592835"/>
                <a:gridCol w="592835"/>
                <a:gridCol w="592835"/>
                <a:gridCol w="592835"/>
              </a:tblGrid>
              <a:tr h="246126">
                <a:tc>
                  <a:txBody>
                    <a:bodyPr wrap="none"/>
                    <a:lstStyle/>
                    <a:p>
                      <a:pPr algn="l"/>
                      <a:r>
                        <a:rPr sz="1100" b="1">
                          <a:solidFill>
                            <a:srgbClr val="0E2A5C"/>
                          </a:solidFill>
                          <a:latin typeface="Calibri"/>
                        </a:rPr>
                        <a:t>Driver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507">
                <a:tc>
                  <a:txBody>
                    <a:bodyPr wrap="none"/>
                    <a:lstStyle/>
                    <a:p>
                      <a:pPr algn="l"/>
                      <a:r>
                        <a:rPr sz="1100" b="1">
                          <a:solidFill>
                            <a:srgbClr val="2E2E2E"/>
                          </a:solidFill>
                          <a:latin typeface="Calibri"/>
                        </a:rPr>
                        <a:t>Electric Motor-Driven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Natural Gas Engine-Driven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Diesel Engine-Driven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Steam Turbine-Driven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Gas Turbine-Driven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Other Drive Types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552825"/>
            <a:ext cx="11906250" cy="3076575"/>
          </a:xfrm>
          <a:prstGeom prst="roundRect">
            <a:avLst>
              <a:gd name="adj" fmla="val 247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Analysis, By Driver Type</a:t>
            </a:r>
          </a:p>
        </p:txBody>
      </p:sp>
      <p:sp>
        <p:nvSpPr>
          <p:cNvPr id="13" name="Rectangle 12"/>
          <p:cNvSpPr/>
          <p:nvPr/>
        </p:nvSpPr>
        <p:spPr>
          <a:xfrm>
            <a:off x="276225" y="387667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813808" y="2080450"/>
            <a:ext cx="366712" cy="533399"/>
          </a:xfrm>
          <a:prstGeom prst="rect">
            <a:avLst/>
          </a:prstGeom>
        </p:spPr>
      </p:pic>
      <p:sp>
        <p:nvSpPr>
          <p:cNvPr id="18" name="TextBox 17"/>
          <p:cNvSpPr txBox="1"/>
          <p:nvPr/>
        </p:nvSpPr>
        <p:spPr>
          <a:xfrm>
            <a:off x="276225" y="3971925"/>
            <a:ext cx="3217130" cy="194310"/>
          </a:xfrm>
          <a:prstGeom prst="rect">
            <a:avLst/>
          </a:prstGeom>
          <a:noFill/>
        </p:spPr>
        <p:txBody>
          <a:bodyPr wrap="none" lIns="0" rIns="0" tIns="0" bIns="0">
            <a:spAutoFit/>
          </a:bodyPr>
          <a:lstStyle/>
          <a:p>
            <a:r>
              <a:rPr sz="1150" b="0">
                <a:solidFill>
                  <a:srgbClr val="2E2E2E"/>
                </a:solidFill>
                <a:latin typeface="Calibri"/>
              </a:rPr>
              <a:t>Diesel engine-driven segment is projected to register</a:t>
            </a:r>
          </a:p>
        </p:txBody>
      </p:sp>
      <p:pic>
        <p:nvPicPr>
          <p:cNvPr id="19" name="Picture 18" descr="lock.png"/>
          <p:cNvPicPr>
            <a:picLocks noChangeAspect="1"/>
          </p:cNvPicPr>
          <p:nvPr/>
        </p:nvPicPr>
        <p:blipFill>
          <a:blip r:embed="rId4"/>
          <a:stretch>
            <a:fillRect/>
          </a:stretch>
        </p:blipFill>
        <p:spPr>
          <a:xfrm>
            <a:off x="3442509" y="3961701"/>
            <a:ext cx="134549" cy="195707"/>
          </a:xfrm>
          <a:prstGeom prst="rect">
            <a:avLst/>
          </a:prstGeom>
        </p:spPr>
      </p:pic>
      <p:sp>
        <p:nvSpPr>
          <p:cNvPr id="20" name="TextBox 19"/>
          <p:cNvSpPr txBox="1"/>
          <p:nvPr/>
        </p:nvSpPr>
        <p:spPr>
          <a:xfrm>
            <a:off x="3617618" y="3971925"/>
            <a:ext cx="7975736" cy="194310"/>
          </a:xfrm>
          <a:prstGeom prst="rect">
            <a:avLst/>
          </a:prstGeom>
          <a:noFill/>
        </p:spPr>
        <p:txBody>
          <a:bodyPr wrap="none" lIns="0" rIns="0" tIns="0" bIns="0">
            <a:spAutoFit/>
          </a:bodyPr>
          <a:lstStyle/>
          <a:p>
            <a:r>
              <a:rPr sz="1150" b="0">
                <a:solidFill>
                  <a:srgbClr val="2E2E2E"/>
                </a:solidFill>
                <a:latin typeface="Calibri"/>
              </a:rPr>
              <a:t>X higher value than natural gas engine-driven segment in 2036. Among industrial air compressor by driver type, steam turbine-driven</a:t>
            </a:r>
          </a:p>
        </p:txBody>
      </p:sp>
      <p:sp>
        <p:nvSpPr>
          <p:cNvPr id="21" name="TextBox 20"/>
          <p:cNvSpPr txBox="1"/>
          <p:nvPr/>
        </p:nvSpPr>
        <p:spPr>
          <a:xfrm>
            <a:off x="276225" y="414718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2" name="Picture 21" descr="lock.png"/>
          <p:cNvPicPr>
            <a:picLocks noChangeAspect="1"/>
          </p:cNvPicPr>
          <p:nvPr/>
        </p:nvPicPr>
        <p:blipFill>
          <a:blip r:embed="rId4"/>
          <a:stretch>
            <a:fillRect/>
          </a:stretch>
        </p:blipFill>
        <p:spPr>
          <a:xfrm>
            <a:off x="3382018" y="4136961"/>
            <a:ext cx="134549" cy="195707"/>
          </a:xfrm>
          <a:prstGeom prst="rect">
            <a:avLst/>
          </a:prstGeom>
        </p:spPr>
      </p:pic>
      <p:sp>
        <p:nvSpPr>
          <p:cNvPr id="23" name="TextBox 22"/>
          <p:cNvSpPr txBox="1"/>
          <p:nvPr/>
        </p:nvSpPr>
        <p:spPr>
          <a:xfrm>
            <a:off x="3557127"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375022"/>
            <a:ext cx="7001309" cy="194310"/>
          </a:xfrm>
          <a:prstGeom prst="rect">
            <a:avLst/>
          </a:prstGeom>
          <a:noFill/>
        </p:spPr>
        <p:txBody>
          <a:bodyPr wrap="none" lIns="0" rIns="0" tIns="0" bIns="0">
            <a:spAutoFit/>
          </a:bodyPr>
          <a:lstStyle/>
          <a:p>
            <a:r>
              <a:rPr sz="1150" b="0">
                <a:solidFill>
                  <a:srgbClr val="2E2E2E"/>
                </a:solidFill>
                <a:latin typeface="Calibri"/>
              </a:rPr>
              <a:t>In terms of value share by driver type, the diesel engine-driven segment is expected to dominate the market, gaining</a:t>
            </a:r>
          </a:p>
        </p:txBody>
      </p:sp>
      <p:pic>
        <p:nvPicPr>
          <p:cNvPr id="25" name="Picture 24" descr="lock.png"/>
          <p:cNvPicPr>
            <a:picLocks noChangeAspect="1"/>
          </p:cNvPicPr>
          <p:nvPr/>
        </p:nvPicPr>
        <p:blipFill>
          <a:blip r:embed="rId4"/>
          <a:stretch>
            <a:fillRect/>
          </a:stretch>
        </p:blipFill>
        <p:spPr>
          <a:xfrm>
            <a:off x="7226688" y="4364799"/>
            <a:ext cx="134549" cy="195707"/>
          </a:xfrm>
          <a:prstGeom prst="rect">
            <a:avLst/>
          </a:prstGeom>
        </p:spPr>
      </p:pic>
      <p:sp>
        <p:nvSpPr>
          <p:cNvPr id="26" name="TextBox 25"/>
          <p:cNvSpPr txBox="1"/>
          <p:nvPr/>
        </p:nvSpPr>
        <p:spPr>
          <a:xfrm>
            <a:off x="7401797"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8796940" y="4364799"/>
            <a:ext cx="134549" cy="195707"/>
          </a:xfrm>
          <a:prstGeom prst="rect">
            <a:avLst/>
          </a:prstGeom>
        </p:spPr>
      </p:pic>
      <p:sp>
        <p:nvSpPr>
          <p:cNvPr id="28" name="TextBox 27"/>
          <p:cNvSpPr txBox="1"/>
          <p:nvPr/>
        </p:nvSpPr>
        <p:spPr>
          <a:xfrm>
            <a:off x="8972049" y="4375022"/>
            <a:ext cx="2745035" cy="194310"/>
          </a:xfrm>
          <a:prstGeom prst="rect">
            <a:avLst/>
          </a:prstGeom>
          <a:noFill/>
        </p:spPr>
        <p:txBody>
          <a:bodyPr wrap="none" lIns="0" rIns="0" tIns="0" bIns="0">
            <a:spAutoFit/>
          </a:bodyPr>
          <a:lstStyle/>
          <a:p>
            <a:r>
              <a:rPr sz="1150" b="0">
                <a:solidFill>
                  <a:srgbClr val="2E2E2E"/>
                </a:solidFill>
                <a:latin typeface="Calibri"/>
              </a:rPr>
              <a:t>share by 2036. The natural gas engine-driven</a:t>
            </a:r>
          </a:p>
        </p:txBody>
      </p:sp>
      <p:sp>
        <p:nvSpPr>
          <p:cNvPr id="29" name="TextBox 28"/>
          <p:cNvSpPr txBox="1"/>
          <p:nvPr/>
        </p:nvSpPr>
        <p:spPr>
          <a:xfrm>
            <a:off x="276225" y="4550282"/>
            <a:ext cx="1725538" cy="194310"/>
          </a:xfrm>
          <a:prstGeom prst="rect">
            <a:avLst/>
          </a:prstGeom>
          <a:noFill/>
        </p:spPr>
        <p:txBody>
          <a:bodyPr wrap="none" lIns="0" rIns="0" tIns="0" bIns="0">
            <a:spAutoFit/>
          </a:bodyPr>
          <a:lstStyle/>
          <a:p>
            <a:r>
              <a:rPr sz="1150" b="0">
                <a:solidFill>
                  <a:srgbClr val="2E2E2E"/>
                </a:solidFill>
                <a:latin typeface="Calibri"/>
              </a:rPr>
              <a:t>segment is expected to lose</a:t>
            </a:r>
          </a:p>
        </p:txBody>
      </p:sp>
      <p:pic>
        <p:nvPicPr>
          <p:cNvPr id="30" name="Picture 29" descr="lock.png"/>
          <p:cNvPicPr>
            <a:picLocks noChangeAspect="1"/>
          </p:cNvPicPr>
          <p:nvPr/>
        </p:nvPicPr>
        <p:blipFill>
          <a:blip r:embed="rId4"/>
          <a:stretch>
            <a:fillRect/>
          </a:stretch>
        </p:blipFill>
        <p:spPr>
          <a:xfrm>
            <a:off x="1950917" y="4540059"/>
            <a:ext cx="134549" cy="195707"/>
          </a:xfrm>
          <a:prstGeom prst="rect">
            <a:avLst/>
          </a:prstGeom>
        </p:spPr>
      </p:pic>
      <p:sp>
        <p:nvSpPr>
          <p:cNvPr id="31" name="TextBox 30"/>
          <p:cNvSpPr txBox="1"/>
          <p:nvPr/>
        </p:nvSpPr>
        <p:spPr>
          <a:xfrm>
            <a:off x="2126026"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4713530" y="4540059"/>
            <a:ext cx="134549" cy="195707"/>
          </a:xfrm>
          <a:prstGeom prst="rect">
            <a:avLst/>
          </a:prstGeom>
        </p:spPr>
      </p:pic>
      <p:sp>
        <p:nvSpPr>
          <p:cNvPr id="33" name="TextBox 32"/>
          <p:cNvSpPr txBox="1"/>
          <p:nvPr/>
        </p:nvSpPr>
        <p:spPr>
          <a:xfrm>
            <a:off x="4888640"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Driver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Driver Type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Driver Type ·  2021 / 2026 / 2036 (US$ Mn)  ·  right axis = BPS share shift</a:t>
            </a:r>
          </a:p>
        </p:txBody>
      </p:sp>
      <p:graphicFrame>
        <p:nvGraphicFramePr>
          <p:cNvPr id="9" name="Chart 8"/>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FMI Lock Anchor"/>
          <p:cNvSpPr txBox="1"/>
          <p:nvPr/>
        </p:nvSpPr>
        <p:spPr>
          <a:xfrm>
            <a:off x="2678811" y="3932301"/>
            <a:ext cx="38100" cy="38100"/>
          </a:xfrm>
          <a:prstGeom prst="rect">
            <a:avLst/>
          </a:prstGeom>
          <a:noFill/>
        </p:spPr>
        <p:txBody>
          <a:bodyPr wrap="none">
            <a:spAutoFit/>
          </a:bodyPr>
          <a:lstStyle/>
          <a:p/>
        </p:txBody>
      </p:sp>
      <p:sp>
        <p:nvSpPr>
          <p:cNvPr id="12" name="FMI Legend Chip"/>
          <p:cNvSpPr/>
          <p:nvPr/>
        </p:nvSpPr>
        <p:spPr>
          <a:xfrm>
            <a:off x="4928997" y="1589704"/>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58494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50874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Drive Types</a:t>
            </a:r>
          </a:p>
        </p:txBody>
      </p:sp>
      <p:sp>
        <p:nvSpPr>
          <p:cNvPr id="15" name="BPS Value 1"/>
          <p:cNvSpPr txBox="1"/>
          <p:nvPr/>
        </p:nvSpPr>
        <p:spPr>
          <a:xfrm>
            <a:off x="6896100" y="157065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FMI Legend Chip"/>
          <p:cNvSpPr/>
          <p:nvPr/>
        </p:nvSpPr>
        <p:spPr>
          <a:xfrm>
            <a:off x="4928997" y="1779316"/>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177455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169835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Electric Motor-Driven</a:t>
            </a:r>
          </a:p>
        </p:txBody>
      </p:sp>
      <p:sp>
        <p:nvSpPr>
          <p:cNvPr id="19" name="BPS Value 2"/>
          <p:cNvSpPr txBox="1"/>
          <p:nvPr/>
        </p:nvSpPr>
        <p:spPr>
          <a:xfrm>
            <a:off x="6896100" y="176026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928997" y="2079527"/>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207476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199856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Gas Turbine-Driven</a:t>
            </a:r>
          </a:p>
        </p:txBody>
      </p:sp>
      <p:sp>
        <p:nvSpPr>
          <p:cNvPr id="23" name="BPS Value 3"/>
          <p:cNvSpPr txBox="1"/>
          <p:nvPr/>
        </p:nvSpPr>
        <p:spPr>
          <a:xfrm>
            <a:off x="6896100" y="206047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FMI Legend Chip"/>
          <p:cNvSpPr/>
          <p:nvPr/>
        </p:nvSpPr>
        <p:spPr>
          <a:xfrm>
            <a:off x="4928997" y="2719449"/>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271468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263848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Steam Turbine-Driven</a:t>
            </a:r>
          </a:p>
        </p:txBody>
      </p:sp>
      <p:sp>
        <p:nvSpPr>
          <p:cNvPr id="27" name="BPS Value 4"/>
          <p:cNvSpPr txBox="1"/>
          <p:nvPr/>
        </p:nvSpPr>
        <p:spPr>
          <a:xfrm>
            <a:off x="6896100" y="270039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928997" y="3751999"/>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374723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5233797" y="367103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Natural Gas Engine-Driven</a:t>
            </a:r>
          </a:p>
        </p:txBody>
      </p:sp>
      <p:sp>
        <p:nvSpPr>
          <p:cNvPr id="31" name="BPS Value 5"/>
          <p:cNvSpPr txBox="1"/>
          <p:nvPr/>
        </p:nvSpPr>
        <p:spPr>
          <a:xfrm>
            <a:off x="6896100" y="373294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928997" y="5290951"/>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528618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5233797" y="520998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Diesel Engine-Driven</a:t>
            </a:r>
          </a:p>
        </p:txBody>
      </p:sp>
      <p:sp>
        <p:nvSpPr>
          <p:cNvPr id="35" name="BPS Value 6"/>
          <p:cNvSpPr txBox="1"/>
          <p:nvPr/>
        </p:nvSpPr>
        <p:spPr>
          <a:xfrm>
            <a:off x="6896100" y="527190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Rounded Rectangle 35"/>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Global Read-out, By Driver Type</a:t>
            </a:r>
          </a:p>
        </p:txBody>
      </p:sp>
      <p:sp>
        <p:nvSpPr>
          <p:cNvPr id="38" name="Rectangle 37"/>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Rectangle 3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2" name="Picture 41" descr="lock.png"/>
          <p:cNvPicPr>
            <a:picLocks noChangeAspect="1"/>
          </p:cNvPicPr>
          <p:nvPr/>
        </p:nvPicPr>
        <p:blipFill>
          <a:blip r:embed="rId5"/>
          <a:stretch>
            <a:fillRect/>
          </a:stretch>
        </p:blipFill>
        <p:spPr>
          <a:xfrm>
            <a:off x="2557843" y="3751325"/>
            <a:ext cx="275034" cy="400050"/>
          </a:xfrm>
          <a:prstGeom prst="rect">
            <a:avLst/>
          </a:prstGeom>
        </p:spPr>
      </p:pic>
      <p:sp>
        <p:nvSpPr>
          <p:cNvPr id="43" name="TextBox 42"/>
          <p:cNvSpPr txBox="1"/>
          <p:nvPr/>
        </p:nvSpPr>
        <p:spPr>
          <a:xfrm>
            <a:off x="7829550" y="1400175"/>
            <a:ext cx="3303277" cy="194310"/>
          </a:xfrm>
          <a:prstGeom prst="rect">
            <a:avLst/>
          </a:prstGeom>
          <a:noFill/>
        </p:spPr>
        <p:txBody>
          <a:bodyPr wrap="none" lIns="0" rIns="0" tIns="0" bIns="0">
            <a:spAutoFit/>
          </a:bodyPr>
          <a:lstStyle/>
          <a:p>
            <a:r>
              <a:rPr sz="1150" b="0">
                <a:solidFill>
                  <a:srgbClr val="2E2E2E"/>
                </a:solidFill>
                <a:latin typeface="Calibri"/>
              </a:rPr>
              <a:t>Among industrial air compressor by driver type, steam</a:t>
            </a:r>
          </a:p>
        </p:txBody>
      </p:sp>
      <p:sp>
        <p:nvSpPr>
          <p:cNvPr id="44" name="TextBox 43"/>
          <p:cNvSpPr txBox="1"/>
          <p:nvPr/>
        </p:nvSpPr>
        <p:spPr>
          <a:xfrm>
            <a:off x="7829550" y="1575435"/>
            <a:ext cx="4048057" cy="194310"/>
          </a:xfrm>
          <a:prstGeom prst="rect">
            <a:avLst/>
          </a:prstGeom>
          <a:noFill/>
        </p:spPr>
        <p:txBody>
          <a:bodyPr wrap="none" lIns="0" rIns="0" tIns="0" bIns="0">
            <a:spAutoFit/>
          </a:bodyPr>
          <a:lstStyle/>
          <a:p>
            <a:r>
              <a:rPr sz="1150" b="0">
                <a:solidFill>
                  <a:srgbClr val="2E2E2E"/>
                </a:solidFill>
                <a:latin typeface="Calibri"/>
              </a:rPr>
              <a:t>turbine-driven segment is expected to witness the highest CAGR of</a:t>
            </a:r>
          </a:p>
        </p:txBody>
      </p:sp>
      <p:pic>
        <p:nvPicPr>
          <p:cNvPr id="45" name="Picture 44" descr="lock.png"/>
          <p:cNvPicPr>
            <a:picLocks noChangeAspect="1"/>
          </p:cNvPicPr>
          <p:nvPr/>
        </p:nvPicPr>
        <p:blipFill>
          <a:blip r:embed="rId5"/>
          <a:stretch>
            <a:fillRect/>
          </a:stretch>
        </p:blipFill>
        <p:spPr>
          <a:xfrm>
            <a:off x="7815470" y="1740471"/>
            <a:ext cx="134549" cy="195707"/>
          </a:xfrm>
          <a:prstGeom prst="rect">
            <a:avLst/>
          </a:prstGeom>
        </p:spPr>
      </p:pic>
      <p:sp>
        <p:nvSpPr>
          <p:cNvPr id="46" name="TextBox 45"/>
          <p:cNvSpPr txBox="1"/>
          <p:nvPr/>
        </p:nvSpPr>
        <p:spPr>
          <a:xfrm>
            <a:off x="7990579" y="1750695"/>
            <a:ext cx="3836702"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driver type,</a:t>
            </a:r>
          </a:p>
        </p:txBody>
      </p:sp>
      <p:sp>
        <p:nvSpPr>
          <p:cNvPr id="47" name="TextBox 46"/>
          <p:cNvSpPr txBox="1"/>
          <p:nvPr/>
        </p:nvSpPr>
        <p:spPr>
          <a:xfrm>
            <a:off x="7829550" y="1925955"/>
            <a:ext cx="3756545" cy="194310"/>
          </a:xfrm>
          <a:prstGeom prst="rect">
            <a:avLst/>
          </a:prstGeom>
          <a:noFill/>
        </p:spPr>
        <p:txBody>
          <a:bodyPr wrap="none" lIns="0" rIns="0" tIns="0" bIns="0">
            <a:spAutoFit/>
          </a:bodyPr>
          <a:lstStyle/>
          <a:p>
            <a:r>
              <a:rPr sz="1150" b="0">
                <a:solidFill>
                  <a:srgbClr val="2E2E2E"/>
                </a:solidFill>
                <a:latin typeface="Calibri"/>
              </a:rPr>
              <a:t>the diesel engine-driven segment is expected to dominate the</a:t>
            </a:r>
          </a:p>
        </p:txBody>
      </p:sp>
      <p:sp>
        <p:nvSpPr>
          <p:cNvPr id="48" name="TextBox 47"/>
          <p:cNvSpPr txBox="1"/>
          <p:nvPr/>
        </p:nvSpPr>
        <p:spPr>
          <a:xfrm>
            <a:off x="7829550" y="2101215"/>
            <a:ext cx="999852" cy="194310"/>
          </a:xfrm>
          <a:prstGeom prst="rect">
            <a:avLst/>
          </a:prstGeom>
          <a:noFill/>
        </p:spPr>
        <p:txBody>
          <a:bodyPr wrap="none" lIns="0" rIns="0" tIns="0" bIns="0">
            <a:spAutoFit/>
          </a:bodyPr>
          <a:lstStyle/>
          <a:p>
            <a:r>
              <a:rPr sz="1150" b="0">
                <a:solidFill>
                  <a:srgbClr val="2E2E2E"/>
                </a:solidFill>
                <a:latin typeface="Calibri"/>
              </a:rPr>
              <a:t>market, gaining</a:t>
            </a:r>
          </a:p>
        </p:txBody>
      </p:sp>
      <p:pic>
        <p:nvPicPr>
          <p:cNvPr id="49" name="Picture 48" descr="lock.png"/>
          <p:cNvPicPr>
            <a:picLocks noChangeAspect="1"/>
          </p:cNvPicPr>
          <p:nvPr/>
        </p:nvPicPr>
        <p:blipFill>
          <a:blip r:embed="rId5"/>
          <a:stretch>
            <a:fillRect/>
          </a:stretch>
        </p:blipFill>
        <p:spPr>
          <a:xfrm>
            <a:off x="8778556" y="2090991"/>
            <a:ext cx="134549" cy="195707"/>
          </a:xfrm>
          <a:prstGeom prst="rect">
            <a:avLst/>
          </a:prstGeom>
        </p:spPr>
      </p:pic>
      <p:sp>
        <p:nvSpPr>
          <p:cNvPr id="50" name="TextBox 49"/>
          <p:cNvSpPr txBox="1"/>
          <p:nvPr/>
        </p:nvSpPr>
        <p:spPr>
          <a:xfrm>
            <a:off x="895366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1" name="Picture 50" descr="lock.png"/>
          <p:cNvPicPr>
            <a:picLocks noChangeAspect="1"/>
          </p:cNvPicPr>
          <p:nvPr/>
        </p:nvPicPr>
        <p:blipFill>
          <a:blip r:embed="rId5"/>
          <a:stretch>
            <a:fillRect/>
          </a:stretch>
        </p:blipFill>
        <p:spPr>
          <a:xfrm>
            <a:off x="10348808" y="2090991"/>
            <a:ext cx="134549" cy="195707"/>
          </a:xfrm>
          <a:prstGeom prst="rect">
            <a:avLst/>
          </a:prstGeom>
        </p:spPr>
      </p:pic>
      <p:sp>
        <p:nvSpPr>
          <p:cNvPr id="52" name="TextBox 51"/>
          <p:cNvSpPr txBox="1"/>
          <p:nvPr/>
        </p:nvSpPr>
        <p:spPr>
          <a:xfrm>
            <a:off x="10523917"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3" name="TextBox 52"/>
          <p:cNvSpPr txBox="1"/>
          <p:nvPr/>
        </p:nvSpPr>
        <p:spPr>
          <a:xfrm>
            <a:off x="7829550" y="2329053"/>
            <a:ext cx="3524349" cy="194310"/>
          </a:xfrm>
          <a:prstGeom prst="rect">
            <a:avLst/>
          </a:prstGeom>
          <a:noFill/>
        </p:spPr>
        <p:txBody>
          <a:bodyPr wrap="none" lIns="0" rIns="0" tIns="0" bIns="0">
            <a:spAutoFit/>
          </a:bodyPr>
          <a:lstStyle/>
          <a:p>
            <a:r>
              <a:rPr sz="1150" b="0">
                <a:solidFill>
                  <a:srgbClr val="2E2E2E"/>
                </a:solidFill>
                <a:latin typeface="Calibri"/>
              </a:rPr>
              <a:t>The natural gas engine-driven segment is expected to lose</a:t>
            </a:r>
          </a:p>
        </p:txBody>
      </p:sp>
      <p:pic>
        <p:nvPicPr>
          <p:cNvPr id="54" name="Picture 53" descr="lock.png"/>
          <p:cNvPicPr>
            <a:picLocks noChangeAspect="1"/>
          </p:cNvPicPr>
          <p:nvPr/>
        </p:nvPicPr>
        <p:blipFill>
          <a:blip r:embed="rId5"/>
          <a:stretch>
            <a:fillRect/>
          </a:stretch>
        </p:blipFill>
        <p:spPr>
          <a:xfrm>
            <a:off x="11303053" y="2318829"/>
            <a:ext cx="134549" cy="195707"/>
          </a:xfrm>
          <a:prstGeom prst="rect">
            <a:avLst/>
          </a:prstGeom>
        </p:spPr>
      </p:pic>
      <p:sp>
        <p:nvSpPr>
          <p:cNvPr id="55" name="TextBox 54"/>
          <p:cNvSpPr txBox="1"/>
          <p:nvPr/>
        </p:nvSpPr>
        <p:spPr>
          <a:xfrm>
            <a:off x="11478162" y="232905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56" name="TextBox 55"/>
          <p:cNvSpPr txBox="1"/>
          <p:nvPr/>
        </p:nvSpPr>
        <p:spPr>
          <a:xfrm>
            <a:off x="7829550" y="250431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57" name="Picture 56" descr="lock.png"/>
          <p:cNvPicPr>
            <a:picLocks noChangeAspect="1"/>
          </p:cNvPicPr>
          <p:nvPr/>
        </p:nvPicPr>
        <p:blipFill>
          <a:blip r:embed="rId5"/>
          <a:stretch>
            <a:fillRect/>
          </a:stretch>
        </p:blipFill>
        <p:spPr>
          <a:xfrm>
            <a:off x="10161752" y="2494089"/>
            <a:ext cx="134549" cy="195707"/>
          </a:xfrm>
          <a:prstGeom prst="rect">
            <a:avLst/>
          </a:prstGeom>
        </p:spPr>
      </p:pic>
      <p:sp>
        <p:nvSpPr>
          <p:cNvPr id="58" name="TextBox 57"/>
          <p:cNvSpPr txBox="1"/>
          <p:nvPr/>
        </p:nvSpPr>
        <p:spPr>
          <a:xfrm>
            <a:off x="10336861"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9" name="lockshield_9"/>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2082800"/>
            <a:ext cx="7239000" cy="247650"/>
          </a:xfrm>
          <a:prstGeom prst="rect">
            <a:avLst/>
          </a:prstGeom>
          <a:noFill/>
        </p:spPr>
        <p:txBody>
          <a:bodyPr wrap="none" lIns="0" tIns="0">
            <a:spAutoFit/>
          </a:bodyPr>
          <a:lstStyle/>
          <a:p>
            <a:r>
              <a:rPr sz="1400" b="0">
                <a:solidFill>
                  <a:srgbClr val="8FC8F2"/>
                </a:solidFill>
                <a:latin typeface="Calibri"/>
              </a:rPr>
              <a:t>Industrial Air Compressor Market</a:t>
            </a:r>
          </a:p>
        </p:txBody>
      </p:sp>
      <p:sp>
        <p:nvSpPr>
          <p:cNvPr id="6" name="FMI Breaker Title"/>
          <p:cNvSpPr txBox="1"/>
          <p:nvPr/>
        </p:nvSpPr>
        <p:spPr>
          <a:xfrm>
            <a:off x="914400" y="2387600"/>
            <a:ext cx="7239000" cy="971550"/>
          </a:xfrm>
          <a:prstGeom prst="rect">
            <a:avLst/>
          </a:prstGeom>
          <a:noFill/>
        </p:spPr>
        <p:txBody>
          <a:bodyPr wrap="square" lIns="0" rIns="0" tIns="0">
            <a:spAutoFit/>
          </a:bodyPr>
          <a:lstStyle/>
          <a:p>
            <a:r>
              <a:rPr sz="3000" b="1" cap="all" spc="400">
                <a:solidFill>
                  <a:srgbClr val="FFFFFF"/>
                </a:solidFill>
                <a:latin typeface="Calibri"/>
              </a:rPr>
              <a:t>North America Market Outlook</a:t>
            </a:r>
          </a:p>
        </p:txBody>
      </p:sp>
      <p:sp>
        <p:nvSpPr>
          <p:cNvPr id="7" name="TextBox 6"/>
          <p:cNvSpPr txBox="1"/>
          <p:nvPr/>
        </p:nvSpPr>
        <p:spPr>
          <a:xfrm>
            <a:off x="914400" y="3549650"/>
            <a:ext cx="7124700" cy="265430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Country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Technology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Capacity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Compression Stage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End Use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Driver Type</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North America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Industrial Air Compressor Market Summary, By Volume (Units)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volume growth, incremental opportunity and the geographies driving it, 2021–2036</a:t>
            </a:r>
          </a:p>
        </p:txBody>
      </p:sp>
      <p:sp>
        <p:nvSpPr>
          <p:cNvPr id="7" name="Rounded Rectangle 6"/>
          <p:cNvSpPr/>
          <p:nvPr/>
        </p:nvSpPr>
        <p:spPr>
          <a:xfrm>
            <a:off x="142875"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(UNITS)</a:t>
            </a:r>
          </a:p>
          <a:p>
            <a:pPr algn="ctr">
              <a:lnSpc>
                <a:spcPct val="95000"/>
              </a:lnSpc>
            </a:pPr>
            <a:r>
              <a:rPr sz="1500" b="1">
                <a:solidFill>
                  <a:srgbClr val="2A5F8F"/>
                </a:solidFill>
                <a:latin typeface="Calibri"/>
              </a:rPr>
              <a:t> </a:t>
            </a:r>
          </a:p>
        </p:txBody>
      </p:sp>
      <p:sp>
        <p:nvSpPr>
          <p:cNvPr id="8" name="Rounded Rectangle 7"/>
          <p:cNvSpPr/>
          <p:nvPr/>
        </p:nvSpPr>
        <p:spPr>
          <a:xfrm>
            <a:off x="31432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(UNITS)</a:t>
            </a:r>
          </a:p>
          <a:p>
            <a:pPr algn="ctr">
              <a:lnSpc>
                <a:spcPct val="95000"/>
              </a:lnSpc>
            </a:pPr>
            <a:r>
              <a:rPr sz="1500" b="1">
                <a:solidFill>
                  <a:srgbClr val="2A5F8F"/>
                </a:solidFill>
                <a:latin typeface="Calibri"/>
              </a:rPr>
              <a:t> </a:t>
            </a:r>
          </a:p>
        </p:txBody>
      </p:sp>
      <p:sp>
        <p:nvSpPr>
          <p:cNvPr id="9" name="Rounded Rectangle 8"/>
          <p:cNvSpPr/>
          <p:nvPr/>
        </p:nvSpPr>
        <p:spPr>
          <a:xfrm>
            <a:off x="61531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2A5F8F"/>
                </a:solidFill>
                <a:latin typeface="Calibri"/>
              </a:rPr>
              <a:t> </a:t>
            </a:r>
          </a:p>
        </p:txBody>
      </p:sp>
      <p:sp>
        <p:nvSpPr>
          <p:cNvPr id="10" name="Rounded Rectangle 9"/>
          <p:cNvSpPr/>
          <p:nvPr/>
        </p:nvSpPr>
        <p:spPr>
          <a:xfrm>
            <a:off x="91630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627887"/>
            <a:ext cx="769620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3" name="Chart 12"/>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4037375"/>
            <a:ext cx="769620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(Units)</a:t>
            </a:r>
          </a:p>
        </p:txBody>
      </p:sp>
      <p:graphicFrame>
        <p:nvGraphicFramePr>
          <p:cNvPr id="16" name="Chart 15"/>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7" name="Rounded Rectangle 16"/>
          <p:cNvSpPr/>
          <p:nvPr/>
        </p:nvSpPr>
        <p:spPr>
          <a:xfrm>
            <a:off x="7915275" y="1627887"/>
            <a:ext cx="413385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9" name="Rectangle 18"/>
          <p:cNvSpPr/>
          <p:nvPr/>
        </p:nvSpPr>
        <p:spPr>
          <a:xfrm>
            <a:off x="8048625" y="1951737"/>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1" name="Rounded Rectangle 20"/>
          <p:cNvSpPr/>
          <p:nvPr/>
        </p:nvSpPr>
        <p:spPr>
          <a:xfrm>
            <a:off x="7915275" y="4037375"/>
            <a:ext cx="413385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E2A5C"/>
                </a:solidFill>
                <a:latin typeface="Calibri"/>
              </a:rPr>
              <a:t>Growth Drivers</a:t>
            </a:r>
          </a:p>
        </p:txBody>
      </p:sp>
      <p:sp>
        <p:nvSpPr>
          <p:cNvPr id="23" name="Rectangle 22"/>
          <p:cNvSpPr/>
          <p:nvPr/>
        </p:nvSpPr>
        <p:spPr>
          <a:xfrm>
            <a:off x="8048625" y="436122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5" name="Rectangle 2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644279" cy="186689"/>
          </a:xfrm>
          <a:prstGeom prst="rect">
            <a:avLst/>
          </a:prstGeom>
          <a:noFill/>
        </p:spPr>
        <p:txBody>
          <a:bodyPr wrap="none" lIns="0" rIns="0" tIns="0" bIns="0">
            <a:spAutoFit/>
          </a:bodyPr>
          <a:lstStyle/>
          <a:p>
            <a:r>
              <a:rPr sz="1100" b="0">
                <a:solidFill>
                  <a:srgbClr val="2E2E2E"/>
                </a:solidFill>
                <a:latin typeface="Calibri"/>
              </a:rPr>
              <a:t>North America industrial air compressor market is projected to</a:t>
            </a:r>
          </a:p>
        </p:txBody>
      </p:sp>
      <p:sp>
        <p:nvSpPr>
          <p:cNvPr id="33" name="TextBox 32"/>
          <p:cNvSpPr txBox="1"/>
          <p:nvPr/>
        </p:nvSpPr>
        <p:spPr>
          <a:xfrm>
            <a:off x="8048625" y="2214627"/>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34" name="Picture 33" descr="lock.png"/>
          <p:cNvPicPr>
            <a:picLocks noChangeAspect="1"/>
          </p:cNvPicPr>
          <p:nvPr/>
        </p:nvPicPr>
        <p:blipFill>
          <a:blip r:embed="rId6"/>
          <a:stretch>
            <a:fillRect/>
          </a:stretch>
        </p:blipFill>
        <p:spPr>
          <a:xfrm>
            <a:off x="8509166" y="2204848"/>
            <a:ext cx="128699" cy="187198"/>
          </a:xfrm>
          <a:prstGeom prst="rect">
            <a:avLst/>
          </a:prstGeom>
        </p:spPr>
      </p:pic>
      <p:sp>
        <p:nvSpPr>
          <p:cNvPr id="35" name="TextBox 34"/>
          <p:cNvSpPr txBox="1"/>
          <p:nvPr/>
        </p:nvSpPr>
        <p:spPr>
          <a:xfrm>
            <a:off x="8676662" y="2214627"/>
            <a:ext cx="2964333"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a:t>
            </a:r>
          </a:p>
        </p:txBody>
      </p:sp>
      <p:sp>
        <p:nvSpPr>
          <p:cNvPr id="36" name="TextBox 35"/>
          <p:cNvSpPr txBox="1"/>
          <p:nvPr/>
        </p:nvSpPr>
        <p:spPr>
          <a:xfrm>
            <a:off x="8048625" y="2382267"/>
            <a:ext cx="3599532" cy="186689"/>
          </a:xfrm>
          <a:prstGeom prst="rect">
            <a:avLst/>
          </a:prstGeom>
          <a:noFill/>
        </p:spPr>
        <p:txBody>
          <a:bodyPr wrap="none" lIns="0" rIns="0" tIns="0" bIns="0">
            <a:spAutoFit/>
          </a:bodyPr>
          <a:lstStyle/>
          <a:p>
            <a:r>
              <a:rPr sz="1100" b="0">
                <a:solidFill>
                  <a:srgbClr val="2E2E2E"/>
                </a:solidFill>
                <a:latin typeface="Calibri"/>
              </a:rPr>
              <a:t>2036. North America industrial air compressor market volume</a:t>
            </a:r>
          </a:p>
        </p:txBody>
      </p:sp>
      <p:sp>
        <p:nvSpPr>
          <p:cNvPr id="37" name="TextBox 36"/>
          <p:cNvSpPr txBox="1"/>
          <p:nvPr/>
        </p:nvSpPr>
        <p:spPr>
          <a:xfrm>
            <a:off x="8048625" y="2549907"/>
            <a:ext cx="543867" cy="186689"/>
          </a:xfrm>
          <a:prstGeom prst="rect">
            <a:avLst/>
          </a:prstGeom>
          <a:noFill/>
        </p:spPr>
        <p:txBody>
          <a:bodyPr wrap="none" lIns="0" rIns="0" tIns="0" bIns="0">
            <a:spAutoFit/>
          </a:bodyPr>
          <a:lstStyle/>
          <a:p>
            <a:r>
              <a:rPr sz="1100" b="0">
                <a:solidFill>
                  <a:srgbClr val="2E2E2E"/>
                </a:solidFill>
                <a:latin typeface="Calibri"/>
              </a:rPr>
              <a:t>stood at</a:t>
            </a:r>
          </a:p>
        </p:txBody>
      </p:sp>
      <p:pic>
        <p:nvPicPr>
          <p:cNvPr id="38" name="Picture 37" descr="lock.png"/>
          <p:cNvPicPr>
            <a:picLocks noChangeAspect="1"/>
          </p:cNvPicPr>
          <p:nvPr/>
        </p:nvPicPr>
        <p:blipFill>
          <a:blip r:embed="rId6"/>
          <a:stretch>
            <a:fillRect/>
          </a:stretch>
        </p:blipFill>
        <p:spPr>
          <a:xfrm>
            <a:off x="8540544" y="2540128"/>
            <a:ext cx="128699" cy="187198"/>
          </a:xfrm>
          <a:prstGeom prst="rect">
            <a:avLst/>
          </a:prstGeom>
        </p:spPr>
      </p:pic>
      <p:sp>
        <p:nvSpPr>
          <p:cNvPr id="39" name="TextBox 38"/>
          <p:cNvSpPr txBox="1"/>
          <p:nvPr/>
        </p:nvSpPr>
        <p:spPr>
          <a:xfrm>
            <a:off x="8708039" y="2549907"/>
            <a:ext cx="2245097" cy="186689"/>
          </a:xfrm>
          <a:prstGeom prst="rect">
            <a:avLst/>
          </a:prstGeom>
          <a:noFill/>
        </p:spPr>
        <p:txBody>
          <a:bodyPr wrap="none" lIns="0" rIns="0" tIns="0" bIns="0">
            <a:spAutoFit/>
          </a:bodyPr>
          <a:lstStyle/>
          <a:p>
            <a:r>
              <a:rPr sz="1100" b="0">
                <a:solidFill>
                  <a:srgbClr val="2E2E2E"/>
                </a:solidFill>
                <a:latin typeface="Calibri"/>
              </a:rPr>
              <a:t>Units in 2025 and is expected to reach</a:t>
            </a:r>
          </a:p>
        </p:txBody>
      </p:sp>
      <p:pic>
        <p:nvPicPr>
          <p:cNvPr id="40" name="Picture 39" descr="lock.png"/>
          <p:cNvPicPr>
            <a:picLocks noChangeAspect="1"/>
          </p:cNvPicPr>
          <p:nvPr/>
        </p:nvPicPr>
        <p:blipFill>
          <a:blip r:embed="rId6"/>
          <a:stretch>
            <a:fillRect/>
          </a:stretch>
        </p:blipFill>
        <p:spPr>
          <a:xfrm>
            <a:off x="10901188" y="2540128"/>
            <a:ext cx="128699" cy="187198"/>
          </a:xfrm>
          <a:prstGeom prst="rect">
            <a:avLst/>
          </a:prstGeom>
        </p:spPr>
      </p:pic>
      <p:sp>
        <p:nvSpPr>
          <p:cNvPr id="41" name="TextBox 40"/>
          <p:cNvSpPr txBox="1"/>
          <p:nvPr/>
        </p:nvSpPr>
        <p:spPr>
          <a:xfrm>
            <a:off x="11068684" y="2549907"/>
            <a:ext cx="541411" cy="186689"/>
          </a:xfrm>
          <a:prstGeom prst="rect">
            <a:avLst/>
          </a:prstGeom>
          <a:noFill/>
        </p:spPr>
        <p:txBody>
          <a:bodyPr wrap="none" lIns="0" rIns="0" tIns="0" bIns="0">
            <a:spAutoFit/>
          </a:bodyPr>
          <a:lstStyle/>
          <a:p>
            <a:r>
              <a:rPr sz="1100" b="0">
                <a:solidFill>
                  <a:srgbClr val="2E2E2E"/>
                </a:solidFill>
                <a:latin typeface="Calibri"/>
              </a:rPr>
              <a:t>Units by</a:t>
            </a:r>
          </a:p>
        </p:txBody>
      </p:sp>
      <p:sp>
        <p:nvSpPr>
          <p:cNvPr id="42" name="TextBox 41"/>
          <p:cNvSpPr txBox="1"/>
          <p:nvPr/>
        </p:nvSpPr>
        <p:spPr>
          <a:xfrm>
            <a:off x="8048625" y="2717547"/>
            <a:ext cx="1385597" cy="186689"/>
          </a:xfrm>
          <a:prstGeom prst="rect">
            <a:avLst/>
          </a:prstGeom>
          <a:noFill/>
        </p:spPr>
        <p:txBody>
          <a:bodyPr wrap="none" lIns="0" rIns="0" tIns="0" bIns="0">
            <a:spAutoFit/>
          </a:bodyPr>
          <a:lstStyle/>
          <a:p>
            <a:r>
              <a:rPr sz="1100" b="0">
                <a:solidFill>
                  <a:srgbClr val="2E2E2E"/>
                </a:solidFill>
                <a:latin typeface="Calibri"/>
              </a:rPr>
              <a:t>2036 end, at a CAGR of</a:t>
            </a:r>
          </a:p>
        </p:txBody>
      </p:sp>
      <p:pic>
        <p:nvPicPr>
          <p:cNvPr id="43" name="Picture 42" descr="lock.png"/>
          <p:cNvPicPr>
            <a:picLocks noChangeAspect="1"/>
          </p:cNvPicPr>
          <p:nvPr/>
        </p:nvPicPr>
        <p:blipFill>
          <a:blip r:embed="rId6"/>
          <a:stretch>
            <a:fillRect/>
          </a:stretch>
        </p:blipFill>
        <p:spPr>
          <a:xfrm>
            <a:off x="9382274" y="2707768"/>
            <a:ext cx="128699" cy="187198"/>
          </a:xfrm>
          <a:prstGeom prst="rect">
            <a:avLst/>
          </a:prstGeom>
        </p:spPr>
      </p:pic>
      <p:sp>
        <p:nvSpPr>
          <p:cNvPr id="44" name="TextBox 43"/>
          <p:cNvSpPr txBox="1"/>
          <p:nvPr/>
        </p:nvSpPr>
        <p:spPr>
          <a:xfrm>
            <a:off x="9549770"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5" name="TextBox 44"/>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6" name="TextBox 45"/>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7" name="TextBox 46"/>
          <p:cNvSpPr txBox="1"/>
          <p:nvPr/>
        </p:nvSpPr>
        <p:spPr>
          <a:xfrm>
            <a:off x="8048625" y="4456475"/>
            <a:ext cx="2130883" cy="194310"/>
          </a:xfrm>
          <a:prstGeom prst="rect">
            <a:avLst/>
          </a:prstGeom>
          <a:noFill/>
        </p:spPr>
        <p:txBody>
          <a:bodyPr wrap="none" lIns="0" rIns="0" tIns="0" bIns="0">
            <a:spAutoFit/>
          </a:bodyPr>
          <a:lstStyle/>
          <a:p>
            <a:r>
              <a:rPr sz="1150" b="0">
                <a:solidFill>
                  <a:srgbClr val="2E2E2E"/>
                </a:solidFill>
                <a:latin typeface="Calibri"/>
              </a:rPr>
              <a:t>▪ 'Mexico' leads regional growth at</a:t>
            </a:r>
          </a:p>
        </p:txBody>
      </p:sp>
      <p:pic>
        <p:nvPicPr>
          <p:cNvPr id="48" name="Picture 47" descr="lock.png"/>
          <p:cNvPicPr>
            <a:picLocks noChangeAspect="1"/>
          </p:cNvPicPr>
          <p:nvPr/>
        </p:nvPicPr>
        <p:blipFill>
          <a:blip r:embed="rId6"/>
          <a:stretch>
            <a:fillRect/>
          </a:stretch>
        </p:blipFill>
        <p:spPr>
          <a:xfrm>
            <a:off x="10128662" y="4446251"/>
            <a:ext cx="134549" cy="195707"/>
          </a:xfrm>
          <a:prstGeom prst="rect">
            <a:avLst/>
          </a:prstGeom>
        </p:spPr>
      </p:pic>
      <p:sp>
        <p:nvSpPr>
          <p:cNvPr id="49" name="TextBox 48"/>
          <p:cNvSpPr txBox="1"/>
          <p:nvPr/>
        </p:nvSpPr>
        <p:spPr>
          <a:xfrm>
            <a:off x="10303772"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0" name="TextBox 49"/>
          <p:cNvSpPr txBox="1"/>
          <p:nvPr/>
        </p:nvSpPr>
        <p:spPr>
          <a:xfrm>
            <a:off x="8048625" y="4684312"/>
            <a:ext cx="3848100" cy="194310"/>
          </a:xfrm>
          <a:prstGeom prst="rect">
            <a:avLst/>
          </a:prstGeom>
          <a:noFill/>
        </p:spPr>
        <p:txBody>
          <a:bodyPr wrap="none" lIns="0" rIns="0" tIns="0" bIns="0">
            <a:spAutoFit/>
          </a:bodyPr>
          <a:lstStyle/>
          <a:p>
            <a:r>
              <a:rPr sz="1150" b="0">
                <a:solidFill>
                  <a:srgbClr val="2E2E2E"/>
                </a:solidFill>
                <a:latin typeface="Calibri"/>
              </a:rPr>
              <a:t>▪ Demand concentrates in 'Rotary Screw Air Compressor' within</a:t>
            </a:r>
          </a:p>
        </p:txBody>
      </p:sp>
      <p:sp>
        <p:nvSpPr>
          <p:cNvPr id="51" name="TextBox 50"/>
          <p:cNvSpPr txBox="1"/>
          <p:nvPr/>
        </p:nvSpPr>
        <p:spPr>
          <a:xfrm>
            <a:off x="8048625" y="4859572"/>
            <a:ext cx="795039" cy="194310"/>
          </a:xfrm>
          <a:prstGeom prst="rect">
            <a:avLst/>
          </a:prstGeom>
          <a:noFill/>
        </p:spPr>
        <p:txBody>
          <a:bodyPr wrap="none" lIns="0" rIns="0" tIns="0" bIns="0">
            <a:spAutoFit/>
          </a:bodyPr>
          <a:lstStyle/>
          <a:p>
            <a:r>
              <a:rPr sz="1150" b="0">
                <a:solidFill>
                  <a:srgbClr val="2E2E2E"/>
                </a:solidFill>
                <a:latin typeface="Calibri"/>
              </a:rPr>
              <a:t>Technology.</a:t>
            </a:r>
          </a:p>
        </p:txBody>
      </p:sp>
      <p:sp>
        <p:nvSpPr>
          <p:cNvPr id="52" name="TextBox 51"/>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3" name="TextBox 52"/>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4" name="lockshield_13"/>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lockshield_16"/>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Industrial Air Compressor Market Pricing &amp; Regional Price Index</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country, highlighting where pricing power sits</a:t>
            </a:r>
          </a:p>
        </p:txBody>
      </p:sp>
      <p:sp>
        <p:nvSpPr>
          <p:cNvPr id="7" name="Rounded Rectangle 6"/>
          <p:cNvSpPr/>
          <p:nvPr/>
        </p:nvSpPr>
        <p:spPr>
          <a:xfrm>
            <a:off x="142875" y="1052895"/>
            <a:ext cx="7696200" cy="2665040"/>
          </a:xfrm>
          <a:prstGeom prst="roundRect">
            <a:avLst>
              <a:gd name="adj" fmla="val 28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Technology  ·  range across 2021–2036 (US$/Units)</a:t>
            </a:r>
          </a:p>
        </p:txBody>
      </p:sp>
      <p:cxnSp>
        <p:nvCxnSpPr>
          <p:cNvPr id="9" name="Connector 8"/>
          <p:cNvCxnSpPr/>
          <p:nvPr/>
        </p:nvCxnSpPr>
        <p:spPr>
          <a:xfrm>
            <a:off x="657225" y="326835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57225" y="281450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7225" y="236065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190679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452945"/>
            <a:ext cx="0" cy="181541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28650" y="326835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8650" y="281450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236065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19067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0" name="FMI Scale tick"/>
          <p:cNvSpPr txBox="1"/>
          <p:nvPr/>
        </p:nvSpPr>
        <p:spPr>
          <a:xfrm>
            <a:off x="219075" y="320168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1" name="FMI Scale tick"/>
          <p:cNvSpPr txBox="1"/>
          <p:nvPr/>
        </p:nvSpPr>
        <p:spPr>
          <a:xfrm>
            <a:off x="219075" y="2293975"/>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2" name="FMI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3" name="Connector 22"/>
          <p:cNvCxnSpPr/>
          <p:nvPr/>
        </p:nvCxnSpPr>
        <p:spPr>
          <a:xfrm flipV="1">
            <a:off x="1241425" y="1662416"/>
            <a:ext cx="0" cy="455949"/>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09980" y="211836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109980" y="166241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022350" y="1785051"/>
            <a:ext cx="438150" cy="227688"/>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1022350" y="1901729"/>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57225" y="1510016"/>
            <a:ext cx="11684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29" name="Connector 28"/>
          <p:cNvCxnSpPr/>
          <p:nvPr/>
        </p:nvCxnSpPr>
        <p:spPr>
          <a:xfrm flipV="1">
            <a:off x="2409825" y="2775415"/>
            <a:ext cx="0" cy="28347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278380" y="305888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278380" y="277541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2190750" y="2851636"/>
            <a:ext cx="438150" cy="141556"/>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2190750" y="2924165"/>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825625" y="2623015"/>
            <a:ext cx="11684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35" name="Connector 34"/>
          <p:cNvCxnSpPr/>
          <p:nvPr/>
        </p:nvCxnSpPr>
        <p:spPr>
          <a:xfrm flipV="1">
            <a:off x="3578225" y="1776207"/>
            <a:ext cx="0" cy="43791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446780" y="221412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446780" y="177620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3359150" y="1894026"/>
            <a:ext cx="438150" cy="218680"/>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3359150" y="2006095"/>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2994025" y="1623807"/>
            <a:ext cx="11684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41" name="Connector 40"/>
          <p:cNvCxnSpPr/>
          <p:nvPr/>
        </p:nvCxnSpPr>
        <p:spPr>
          <a:xfrm flipV="1">
            <a:off x="4746625" y="2684780"/>
            <a:ext cx="0" cy="29707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615180" y="298185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615180" y="268478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4527550" y="2764654"/>
            <a:ext cx="438150" cy="148349"/>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4527550" y="2840662"/>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162425" y="2532380"/>
            <a:ext cx="11684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47" name="Connector 46"/>
          <p:cNvCxnSpPr/>
          <p:nvPr/>
        </p:nvCxnSpPr>
        <p:spPr>
          <a:xfrm flipV="1">
            <a:off x="5915025" y="2591567"/>
            <a:ext cx="0" cy="31650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783580" y="290807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783580" y="259156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5695950" y="2676800"/>
            <a:ext cx="438150" cy="158046"/>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5695950" y="2757823"/>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330825" y="2439167"/>
            <a:ext cx="11684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53" name="Connector 52"/>
          <p:cNvCxnSpPr/>
          <p:nvPr/>
        </p:nvCxnSpPr>
        <p:spPr>
          <a:xfrm flipV="1">
            <a:off x="7083425" y="1950383"/>
            <a:ext cx="0" cy="41384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951980" y="236422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951980" y="195038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6864350" y="2061802"/>
            <a:ext cx="438150" cy="206659"/>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6864350" y="2167737"/>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499225" y="1797983"/>
            <a:ext cx="11684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59" name="TextBox 58"/>
          <p:cNvSpPr txBox="1"/>
          <p:nvPr/>
        </p:nvSpPr>
        <p:spPr>
          <a:xfrm>
            <a:off x="6572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Screw Air Compressor</a:t>
            </a:r>
          </a:p>
        </p:txBody>
      </p:sp>
      <p:sp>
        <p:nvSpPr>
          <p:cNvPr id="60" name="TextBox 59"/>
          <p:cNvSpPr txBox="1"/>
          <p:nvPr/>
        </p:nvSpPr>
        <p:spPr>
          <a:xfrm>
            <a:off x="18256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Reciprocating (Piston…</a:t>
            </a:r>
          </a:p>
        </p:txBody>
      </p:sp>
      <p:sp>
        <p:nvSpPr>
          <p:cNvPr id="61" name="TextBox 60"/>
          <p:cNvSpPr txBox="1"/>
          <p:nvPr/>
        </p:nvSpPr>
        <p:spPr>
          <a:xfrm>
            <a:off x="29940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Centrifugal Air Compr…</a:t>
            </a:r>
          </a:p>
        </p:txBody>
      </p:sp>
      <p:sp>
        <p:nvSpPr>
          <p:cNvPr id="62" name="TextBox 61"/>
          <p:cNvSpPr txBox="1"/>
          <p:nvPr/>
        </p:nvSpPr>
        <p:spPr>
          <a:xfrm>
            <a:off x="41624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Axial Air Compressor</a:t>
            </a:r>
          </a:p>
        </p:txBody>
      </p:sp>
      <p:sp>
        <p:nvSpPr>
          <p:cNvPr id="63" name="TextBox 62"/>
          <p:cNvSpPr txBox="1"/>
          <p:nvPr/>
        </p:nvSpPr>
        <p:spPr>
          <a:xfrm>
            <a:off x="53308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Vane Air Compressor</a:t>
            </a:r>
          </a:p>
        </p:txBody>
      </p:sp>
      <p:sp>
        <p:nvSpPr>
          <p:cNvPr id="64" name="TextBox 63"/>
          <p:cNvSpPr txBox="1"/>
          <p:nvPr/>
        </p:nvSpPr>
        <p:spPr>
          <a:xfrm>
            <a:off x="6499225" y="3296930"/>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Scroll Air Compressor</a:t>
            </a:r>
          </a:p>
        </p:txBody>
      </p:sp>
      <p:sp>
        <p:nvSpPr>
          <p:cNvPr id="65" name="Rounded Rectangle 64"/>
          <p:cNvSpPr/>
          <p:nvPr/>
        </p:nvSpPr>
        <p:spPr>
          <a:xfrm>
            <a:off x="142875" y="3772696"/>
            <a:ext cx="7696200" cy="2783689"/>
          </a:xfrm>
          <a:prstGeom prst="roundRect">
            <a:avLst>
              <a:gd name="adj" fmla="val 273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Country vs North America  ·  2026–2036</a:t>
            </a:r>
          </a:p>
        </p:txBody>
      </p:sp>
      <p:cxnSp>
        <p:nvCxnSpPr>
          <p:cNvPr id="67" name="Connector 66"/>
          <p:cNvCxnSpPr/>
          <p:nvPr/>
        </p:nvCxnSpPr>
        <p:spPr>
          <a:xfrm>
            <a:off x="619125" y="432199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19125" y="475755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19125" y="562867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19125" y="606423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19125" y="4321999"/>
            <a:ext cx="0" cy="1742233"/>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590550" y="4321999"/>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590550" y="4757557"/>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590550" y="519311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590550" y="562867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590550" y="6064232"/>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78" name="FMI Scale tick"/>
          <p:cNvSpPr txBox="1"/>
          <p:nvPr/>
        </p:nvSpPr>
        <p:spPr>
          <a:xfrm>
            <a:off x="138112" y="4255324"/>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+4.7%</a:t>
            </a:r>
          </a:p>
        </p:txBody>
      </p:sp>
      <p:sp>
        <p:nvSpPr>
          <p:cNvPr id="79" name="FMI Scale tick"/>
          <p:cNvSpPr txBox="1"/>
          <p:nvPr/>
        </p:nvSpPr>
        <p:spPr>
          <a:xfrm>
            <a:off x="138112" y="4690882"/>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+2.4%</a:t>
            </a:r>
          </a:p>
        </p:txBody>
      </p:sp>
      <p:sp>
        <p:nvSpPr>
          <p:cNvPr id="80" name="FMI Scale tick"/>
          <p:cNvSpPr txBox="1"/>
          <p:nvPr/>
        </p:nvSpPr>
        <p:spPr>
          <a:xfrm>
            <a:off x="219075" y="5126441"/>
            <a:ext cx="361950" cy="133350"/>
          </a:xfrm>
          <a:prstGeom prst="rect">
            <a:avLst/>
          </a:prstGeom>
          <a:noFill/>
        </p:spPr>
        <p:txBody>
          <a:bodyPr wrap="square" lIns="28575" rIns="28575" tIns="9525" bIns="9525" anchor="ctr">
            <a:spAutoFit/>
          </a:bodyPr>
          <a:lstStyle/>
          <a:p>
            <a:pPr algn="r"/>
            <a:r>
              <a:rPr sz="1100" b="1">
                <a:solidFill>
                  <a:srgbClr val="6C7A89"/>
                </a:solidFill>
                <a:latin typeface="Calibri"/>
              </a:rPr>
              <a:t>North America</a:t>
            </a:r>
          </a:p>
        </p:txBody>
      </p:sp>
      <p:sp>
        <p:nvSpPr>
          <p:cNvPr id="81" name="FMI Scale tick"/>
          <p:cNvSpPr txBox="1"/>
          <p:nvPr/>
        </p:nvSpPr>
        <p:spPr>
          <a:xfrm>
            <a:off x="164306" y="5561999"/>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-2.4%</a:t>
            </a:r>
          </a:p>
        </p:txBody>
      </p:sp>
      <p:sp>
        <p:nvSpPr>
          <p:cNvPr id="82" name="FMI Scale tick"/>
          <p:cNvSpPr txBox="1"/>
          <p:nvPr/>
        </p:nvSpPr>
        <p:spPr>
          <a:xfrm>
            <a:off x="164306" y="5997557"/>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-4.7%</a:t>
            </a:r>
          </a:p>
        </p:txBody>
      </p:sp>
      <p:cxnSp>
        <p:nvCxnSpPr>
          <p:cNvPr id="83" name="Connector 82"/>
          <p:cNvCxnSpPr/>
          <p:nvPr/>
        </p:nvCxnSpPr>
        <p:spPr>
          <a:xfrm>
            <a:off x="619125" y="519311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1565275" y="5193116"/>
            <a:ext cx="457200" cy="380494"/>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MI Data Label"/>
          <p:cNvSpPr txBox="1"/>
          <p:nvPr/>
        </p:nvSpPr>
        <p:spPr>
          <a:xfrm>
            <a:off x="619125" y="5583135"/>
            <a:ext cx="234950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6" name="Rectangle 85"/>
          <p:cNvSpPr/>
          <p:nvPr/>
        </p:nvSpPr>
        <p:spPr>
          <a:xfrm>
            <a:off x="3914775" y="4437287"/>
            <a:ext cx="457200" cy="75582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MI Data Label"/>
          <p:cNvSpPr txBox="1"/>
          <p:nvPr/>
        </p:nvSpPr>
        <p:spPr>
          <a:xfrm>
            <a:off x="2968625" y="4294412"/>
            <a:ext cx="234950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8" name="Rectangle 87"/>
          <p:cNvSpPr/>
          <p:nvPr/>
        </p:nvSpPr>
        <p:spPr>
          <a:xfrm>
            <a:off x="6264275" y="5030210"/>
            <a:ext cx="457200" cy="162906"/>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MI Data Label"/>
          <p:cNvSpPr txBox="1"/>
          <p:nvPr/>
        </p:nvSpPr>
        <p:spPr>
          <a:xfrm>
            <a:off x="5318125" y="4887335"/>
            <a:ext cx="234950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0" name="TextBox 89"/>
          <p:cNvSpPr txBox="1"/>
          <p:nvPr/>
        </p:nvSpPr>
        <p:spPr>
          <a:xfrm>
            <a:off x="619125" y="6242060"/>
            <a:ext cx="2349500" cy="247650"/>
          </a:xfrm>
          <a:prstGeom prst="rect">
            <a:avLst/>
          </a:prstGeom>
          <a:noFill/>
        </p:spPr>
        <p:txBody>
          <a:bodyPr wrap="square" lIns="28575" rIns="28575" tIns="9525" bIns="9525">
            <a:spAutoFit/>
          </a:bodyPr>
          <a:lstStyle/>
          <a:p>
            <a:pPr algn="ctr"/>
            <a:r>
              <a:rPr sz="1100" b="0">
                <a:solidFill>
                  <a:srgbClr val="2E2E2E"/>
                </a:solidFill>
                <a:latin typeface="Calibri"/>
              </a:rPr>
              <a:t>U.S.</a:t>
            </a:r>
          </a:p>
        </p:txBody>
      </p:sp>
      <p:sp>
        <p:nvSpPr>
          <p:cNvPr id="91" name="TextBox 90"/>
          <p:cNvSpPr txBox="1"/>
          <p:nvPr/>
        </p:nvSpPr>
        <p:spPr>
          <a:xfrm>
            <a:off x="2968625" y="6242060"/>
            <a:ext cx="2349500" cy="247650"/>
          </a:xfrm>
          <a:prstGeom prst="rect">
            <a:avLst/>
          </a:prstGeom>
          <a:noFill/>
        </p:spPr>
        <p:txBody>
          <a:bodyPr wrap="square" lIns="28575" rIns="28575" tIns="9525" bIns="9525">
            <a:spAutoFit/>
          </a:bodyPr>
          <a:lstStyle/>
          <a:p>
            <a:pPr algn="ctr"/>
            <a:r>
              <a:rPr sz="1100" b="0">
                <a:solidFill>
                  <a:srgbClr val="2E2E2E"/>
                </a:solidFill>
                <a:latin typeface="Calibri"/>
              </a:rPr>
              <a:t>Canada</a:t>
            </a:r>
          </a:p>
        </p:txBody>
      </p:sp>
      <p:sp>
        <p:nvSpPr>
          <p:cNvPr id="92" name="TextBox 91"/>
          <p:cNvSpPr txBox="1"/>
          <p:nvPr/>
        </p:nvSpPr>
        <p:spPr>
          <a:xfrm>
            <a:off x="5318125" y="6242060"/>
            <a:ext cx="2349500" cy="247650"/>
          </a:xfrm>
          <a:prstGeom prst="rect">
            <a:avLst/>
          </a:prstGeom>
          <a:noFill/>
        </p:spPr>
        <p:txBody>
          <a:bodyPr wrap="square" lIns="28575" rIns="28575" tIns="9525" bIns="9525">
            <a:spAutoFit/>
          </a:bodyPr>
          <a:lstStyle/>
          <a:p>
            <a:pPr algn="ctr"/>
            <a:r>
              <a:rPr sz="1100" b="0">
                <a:solidFill>
                  <a:srgbClr val="2E2E2E"/>
                </a:solidFill>
                <a:latin typeface="Calibri"/>
              </a:rPr>
              <a:t>Mexico</a:t>
            </a:r>
          </a:p>
        </p:txBody>
      </p:sp>
      <p:sp>
        <p:nvSpPr>
          <p:cNvPr id="93" name="Rounded Rectangle 92"/>
          <p:cNvSpPr/>
          <p:nvPr/>
        </p:nvSpPr>
        <p:spPr>
          <a:xfrm>
            <a:off x="7915275" y="1052895"/>
            <a:ext cx="4133850" cy="5503490"/>
          </a:xfrm>
          <a:prstGeom prst="roundRect">
            <a:avLst>
              <a:gd name="adj" fmla="val 1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95" name="Rectangle 94"/>
          <p:cNvSpPr/>
          <p:nvPr/>
        </p:nvSpPr>
        <p:spPr>
          <a:xfrm>
            <a:off x="8048625" y="137674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97" name="Rectangle 9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99" name="Picture 98" descr="lock.png"/>
          <p:cNvPicPr>
            <a:picLocks noChangeAspect="1"/>
          </p:cNvPicPr>
          <p:nvPr/>
        </p:nvPicPr>
        <p:blipFill>
          <a:blip r:embed="rId4"/>
          <a:stretch>
            <a:fillRect/>
          </a:stretch>
        </p:blipFill>
        <p:spPr>
          <a:xfrm>
            <a:off x="1177075" y="1483092"/>
            <a:ext cx="128699" cy="187198"/>
          </a:xfrm>
          <a:prstGeom prst="rect">
            <a:avLst/>
          </a:prstGeom>
        </p:spPr>
      </p:pic>
      <p:pic>
        <p:nvPicPr>
          <p:cNvPr id="100" name="Picture 99" descr="lock.png"/>
          <p:cNvPicPr>
            <a:picLocks noChangeAspect="1"/>
          </p:cNvPicPr>
          <p:nvPr/>
        </p:nvPicPr>
        <p:blipFill>
          <a:blip r:embed="rId4"/>
          <a:stretch>
            <a:fillRect/>
          </a:stretch>
        </p:blipFill>
        <p:spPr>
          <a:xfrm>
            <a:off x="2345475" y="2596091"/>
            <a:ext cx="128699" cy="187198"/>
          </a:xfrm>
          <a:prstGeom prst="rect">
            <a:avLst/>
          </a:prstGeom>
        </p:spPr>
      </p:pic>
      <p:pic>
        <p:nvPicPr>
          <p:cNvPr id="101" name="Picture 100" descr="lock.png"/>
          <p:cNvPicPr>
            <a:picLocks noChangeAspect="1"/>
          </p:cNvPicPr>
          <p:nvPr/>
        </p:nvPicPr>
        <p:blipFill>
          <a:blip r:embed="rId4"/>
          <a:stretch>
            <a:fillRect/>
          </a:stretch>
        </p:blipFill>
        <p:spPr>
          <a:xfrm>
            <a:off x="3513875" y="1596883"/>
            <a:ext cx="128699" cy="187198"/>
          </a:xfrm>
          <a:prstGeom prst="rect">
            <a:avLst/>
          </a:prstGeom>
        </p:spPr>
      </p:pic>
      <p:pic>
        <p:nvPicPr>
          <p:cNvPr id="102" name="Picture 101" descr="lock.png"/>
          <p:cNvPicPr>
            <a:picLocks noChangeAspect="1"/>
          </p:cNvPicPr>
          <p:nvPr/>
        </p:nvPicPr>
        <p:blipFill>
          <a:blip r:embed="rId4"/>
          <a:stretch>
            <a:fillRect/>
          </a:stretch>
        </p:blipFill>
        <p:spPr>
          <a:xfrm>
            <a:off x="4682275" y="2505456"/>
            <a:ext cx="128699" cy="187198"/>
          </a:xfrm>
          <a:prstGeom prst="rect">
            <a:avLst/>
          </a:prstGeom>
        </p:spPr>
      </p:pic>
      <p:pic>
        <p:nvPicPr>
          <p:cNvPr id="103" name="Picture 102" descr="lock.png"/>
          <p:cNvPicPr>
            <a:picLocks noChangeAspect="1"/>
          </p:cNvPicPr>
          <p:nvPr/>
        </p:nvPicPr>
        <p:blipFill>
          <a:blip r:embed="rId4"/>
          <a:stretch>
            <a:fillRect/>
          </a:stretch>
        </p:blipFill>
        <p:spPr>
          <a:xfrm>
            <a:off x="5850675" y="2412243"/>
            <a:ext cx="128699" cy="187198"/>
          </a:xfrm>
          <a:prstGeom prst="rect">
            <a:avLst/>
          </a:prstGeom>
        </p:spPr>
      </p:pic>
      <p:pic>
        <p:nvPicPr>
          <p:cNvPr id="104" name="Picture 103" descr="lock.png"/>
          <p:cNvPicPr>
            <a:picLocks noChangeAspect="1"/>
          </p:cNvPicPr>
          <p:nvPr/>
        </p:nvPicPr>
        <p:blipFill>
          <a:blip r:embed="rId4"/>
          <a:stretch>
            <a:fillRect/>
          </a:stretch>
        </p:blipFill>
        <p:spPr>
          <a:xfrm>
            <a:off x="7019075" y="1771059"/>
            <a:ext cx="128699" cy="187198"/>
          </a:xfrm>
          <a:prstGeom prst="rect">
            <a:avLst/>
          </a:prstGeom>
        </p:spPr>
      </p:pic>
      <p:pic>
        <p:nvPicPr>
          <p:cNvPr id="105" name="Picture 104" descr="lock.png"/>
          <p:cNvPicPr>
            <a:picLocks noChangeAspect="1"/>
          </p:cNvPicPr>
          <p:nvPr/>
        </p:nvPicPr>
        <p:blipFill>
          <a:blip r:embed="rId4"/>
          <a:stretch>
            <a:fillRect/>
          </a:stretch>
        </p:blipFill>
        <p:spPr>
          <a:xfrm>
            <a:off x="1729525" y="5556211"/>
            <a:ext cx="128699" cy="187198"/>
          </a:xfrm>
          <a:prstGeom prst="rect">
            <a:avLst/>
          </a:prstGeom>
        </p:spPr>
      </p:pic>
      <p:pic>
        <p:nvPicPr>
          <p:cNvPr id="106" name="Picture 105" descr="lock.png"/>
          <p:cNvPicPr>
            <a:picLocks noChangeAspect="1"/>
          </p:cNvPicPr>
          <p:nvPr/>
        </p:nvPicPr>
        <p:blipFill>
          <a:blip r:embed="rId4"/>
          <a:stretch>
            <a:fillRect/>
          </a:stretch>
        </p:blipFill>
        <p:spPr>
          <a:xfrm>
            <a:off x="4079025" y="4267488"/>
            <a:ext cx="128699" cy="187198"/>
          </a:xfrm>
          <a:prstGeom prst="rect">
            <a:avLst/>
          </a:prstGeom>
        </p:spPr>
      </p:pic>
      <p:pic>
        <p:nvPicPr>
          <p:cNvPr id="107" name="Picture 106" descr="lock.png"/>
          <p:cNvPicPr>
            <a:picLocks noChangeAspect="1"/>
          </p:cNvPicPr>
          <p:nvPr/>
        </p:nvPicPr>
        <p:blipFill>
          <a:blip r:embed="rId4"/>
          <a:stretch>
            <a:fillRect/>
          </a:stretch>
        </p:blipFill>
        <p:spPr>
          <a:xfrm>
            <a:off x="6428525" y="4860411"/>
            <a:ext cx="128699" cy="187198"/>
          </a:xfrm>
          <a:prstGeom prst="rect">
            <a:avLst/>
          </a:prstGeom>
        </p:spPr>
      </p:pic>
      <p:sp>
        <p:nvSpPr>
          <p:cNvPr id="108" name="TextBox 107"/>
          <p:cNvSpPr txBox="1"/>
          <p:nvPr/>
        </p:nvSpPr>
        <p:spPr>
          <a:xfrm>
            <a:off x="8048625" y="1471995"/>
            <a:ext cx="3805609" cy="194310"/>
          </a:xfrm>
          <a:prstGeom prst="rect">
            <a:avLst/>
          </a:prstGeom>
          <a:noFill/>
        </p:spPr>
        <p:txBody>
          <a:bodyPr wrap="none" lIns="0" rIns="0" tIns="0" bIns="0">
            <a:spAutoFit/>
          </a:bodyPr>
          <a:lstStyle/>
          <a:p>
            <a:r>
              <a:rPr sz="1150" b="0">
                <a:solidFill>
                  <a:srgbClr val="2E2E2E"/>
                </a:solidFill>
                <a:latin typeface="Calibri"/>
              </a:rPr>
              <a:t>Rotary screw air compressor segment is expected to command</a:t>
            </a:r>
          </a:p>
        </p:txBody>
      </p:sp>
      <p:sp>
        <p:nvSpPr>
          <p:cNvPr id="109" name="TextBox 108"/>
          <p:cNvSpPr txBox="1"/>
          <p:nvPr/>
        </p:nvSpPr>
        <p:spPr>
          <a:xfrm>
            <a:off x="8048625" y="1647255"/>
            <a:ext cx="1998526" cy="194310"/>
          </a:xfrm>
          <a:prstGeom prst="rect">
            <a:avLst/>
          </a:prstGeom>
          <a:noFill/>
        </p:spPr>
        <p:txBody>
          <a:bodyPr wrap="none" lIns="0" rIns="0" tIns="0" bIns="0">
            <a:spAutoFit/>
          </a:bodyPr>
          <a:lstStyle/>
          <a:p>
            <a:r>
              <a:rPr sz="1150" b="0">
                <a:solidFill>
                  <a:srgbClr val="2E2E2E"/>
                </a:solidFill>
                <a:latin typeface="Calibri"/>
              </a:rPr>
              <a:t>the highest average price of US$</a:t>
            </a:r>
          </a:p>
        </p:txBody>
      </p:sp>
      <p:pic>
        <p:nvPicPr>
          <p:cNvPr id="110" name="Picture 109" descr="lock.png"/>
          <p:cNvPicPr>
            <a:picLocks noChangeAspect="1"/>
          </p:cNvPicPr>
          <p:nvPr/>
        </p:nvPicPr>
        <p:blipFill>
          <a:blip r:embed="rId4"/>
          <a:stretch>
            <a:fillRect/>
          </a:stretch>
        </p:blipFill>
        <p:spPr>
          <a:xfrm>
            <a:off x="9996305" y="1637031"/>
            <a:ext cx="134549" cy="195707"/>
          </a:xfrm>
          <a:prstGeom prst="rect">
            <a:avLst/>
          </a:prstGeom>
        </p:spPr>
      </p:pic>
      <p:sp>
        <p:nvSpPr>
          <p:cNvPr id="111" name="TextBox 110"/>
          <p:cNvSpPr txBox="1"/>
          <p:nvPr/>
        </p:nvSpPr>
        <p:spPr>
          <a:xfrm>
            <a:off x="10171414" y="1647255"/>
            <a:ext cx="1591713" cy="194310"/>
          </a:xfrm>
          <a:prstGeom prst="rect">
            <a:avLst/>
          </a:prstGeom>
          <a:noFill/>
        </p:spPr>
        <p:txBody>
          <a:bodyPr wrap="none" lIns="0" rIns="0" tIns="0" bIns="0">
            <a:spAutoFit/>
          </a:bodyPr>
          <a:lstStyle/>
          <a:p>
            <a:r>
              <a:rPr sz="1150" b="0">
                <a:solidFill>
                  <a:srgbClr val="2E2E2E"/>
                </a:solidFill>
                <a:latin typeface="Calibri"/>
              </a:rPr>
              <a:t>per Unit in 2036. Average</a:t>
            </a:r>
          </a:p>
        </p:txBody>
      </p:sp>
      <p:sp>
        <p:nvSpPr>
          <p:cNvPr id="112" name="TextBox 111"/>
          <p:cNvSpPr txBox="1"/>
          <p:nvPr/>
        </p:nvSpPr>
        <p:spPr>
          <a:xfrm>
            <a:off x="8048625" y="1822515"/>
            <a:ext cx="3621335" cy="194310"/>
          </a:xfrm>
          <a:prstGeom prst="rect">
            <a:avLst/>
          </a:prstGeom>
          <a:noFill/>
        </p:spPr>
        <p:txBody>
          <a:bodyPr wrap="none" lIns="0" rIns="0" tIns="0" bIns="0">
            <a:spAutoFit/>
          </a:bodyPr>
          <a:lstStyle/>
          <a:p>
            <a:r>
              <a:rPr sz="1150" b="0">
                <a:solidFill>
                  <a:srgbClr val="2E2E2E"/>
                </a:solidFill>
                <a:latin typeface="Calibri"/>
              </a:rPr>
              <a:t>selling price of industrial air compressor is estimated at US$</a:t>
            </a:r>
          </a:p>
        </p:txBody>
      </p:sp>
      <p:pic>
        <p:nvPicPr>
          <p:cNvPr id="113" name="Picture 112" descr="lock.png"/>
          <p:cNvPicPr>
            <a:picLocks noChangeAspect="1"/>
          </p:cNvPicPr>
          <p:nvPr/>
        </p:nvPicPr>
        <p:blipFill>
          <a:blip r:embed="rId4"/>
          <a:stretch>
            <a:fillRect/>
          </a:stretch>
        </p:blipFill>
        <p:spPr>
          <a:xfrm>
            <a:off x="11619114" y="1812291"/>
            <a:ext cx="134549" cy="195707"/>
          </a:xfrm>
          <a:prstGeom prst="rect">
            <a:avLst/>
          </a:prstGeom>
        </p:spPr>
      </p:pic>
      <p:sp>
        <p:nvSpPr>
          <p:cNvPr id="114" name="TextBox 113"/>
          <p:cNvSpPr txBox="1"/>
          <p:nvPr/>
        </p:nvSpPr>
        <p:spPr>
          <a:xfrm>
            <a:off x="8048625" y="1997775"/>
            <a:ext cx="3138115" cy="194310"/>
          </a:xfrm>
          <a:prstGeom prst="rect">
            <a:avLst/>
          </a:prstGeom>
          <a:noFill/>
        </p:spPr>
        <p:txBody>
          <a:bodyPr wrap="none" lIns="0" rIns="0" tIns="0" bIns="0">
            <a:spAutoFit/>
          </a:bodyPr>
          <a:lstStyle/>
          <a:p>
            <a:r>
              <a:rPr sz="1150" b="0">
                <a:solidFill>
                  <a:srgbClr val="2E2E2E"/>
                </a:solidFill>
                <a:latin typeface="Calibri"/>
              </a:rPr>
              <a:t>per Unit in 2025 and is projected to increase to US$</a:t>
            </a:r>
          </a:p>
        </p:txBody>
      </p:sp>
      <p:pic>
        <p:nvPicPr>
          <p:cNvPr id="115" name="Picture 114" descr="lock.png"/>
          <p:cNvPicPr>
            <a:picLocks noChangeAspect="1"/>
          </p:cNvPicPr>
          <p:nvPr/>
        </p:nvPicPr>
        <p:blipFill>
          <a:blip r:embed="rId4"/>
          <a:stretch>
            <a:fillRect/>
          </a:stretch>
        </p:blipFill>
        <p:spPr>
          <a:xfrm>
            <a:off x="11135894" y="1987551"/>
            <a:ext cx="134549" cy="195707"/>
          </a:xfrm>
          <a:prstGeom prst="rect">
            <a:avLst/>
          </a:prstGeom>
        </p:spPr>
      </p:pic>
      <p:sp>
        <p:nvSpPr>
          <p:cNvPr id="116" name="TextBox 115"/>
          <p:cNvSpPr txBox="1"/>
          <p:nvPr/>
        </p:nvSpPr>
        <p:spPr>
          <a:xfrm>
            <a:off x="11311003" y="1997775"/>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117" name="TextBox 116"/>
          <p:cNvSpPr txBox="1"/>
          <p:nvPr/>
        </p:nvSpPr>
        <p:spPr>
          <a:xfrm>
            <a:off x="8048625" y="2173035"/>
            <a:ext cx="872058" cy="194310"/>
          </a:xfrm>
          <a:prstGeom prst="rect">
            <a:avLst/>
          </a:prstGeom>
          <a:noFill/>
        </p:spPr>
        <p:txBody>
          <a:bodyPr wrap="none" lIns="0" rIns="0" tIns="0" bIns="0">
            <a:spAutoFit/>
          </a:bodyPr>
          <a:lstStyle/>
          <a:p>
            <a:r>
              <a:rPr sz="1150" b="0">
                <a:solidFill>
                  <a:srgbClr val="2E2E2E"/>
                </a:solidFill>
                <a:latin typeface="Calibri"/>
              </a:rPr>
              <a:t>Unit by 2036.</a:t>
            </a:r>
          </a:p>
        </p:txBody>
      </p:sp>
      <p:sp>
        <p:nvSpPr>
          <p:cNvPr id="118" name="TextBox 117"/>
          <p:cNvSpPr txBox="1"/>
          <p:nvPr/>
        </p:nvSpPr>
        <p:spPr>
          <a:xfrm>
            <a:off x="8048625" y="2400873"/>
            <a:ext cx="3596518" cy="194310"/>
          </a:xfrm>
          <a:prstGeom prst="rect">
            <a:avLst/>
          </a:prstGeom>
          <a:noFill/>
        </p:spPr>
        <p:txBody>
          <a:bodyPr wrap="none" lIns="0" rIns="0" tIns="0" bIns="0">
            <a:spAutoFit/>
          </a:bodyPr>
          <a:lstStyle/>
          <a:p>
            <a:r>
              <a:rPr sz="1150" b="0">
                <a:solidFill>
                  <a:srgbClr val="2E2E2E"/>
                </a:solidFill>
                <a:latin typeface="Calibri"/>
              </a:rPr>
              <a:t>Canada is the highest-priced country, while U.S. is the most</a:t>
            </a:r>
          </a:p>
        </p:txBody>
      </p:sp>
      <p:sp>
        <p:nvSpPr>
          <p:cNvPr id="119" name="TextBox 118"/>
          <p:cNvSpPr txBox="1"/>
          <p:nvPr/>
        </p:nvSpPr>
        <p:spPr>
          <a:xfrm>
            <a:off x="8048625" y="2576133"/>
            <a:ext cx="3714898" cy="194310"/>
          </a:xfrm>
          <a:prstGeom prst="rect">
            <a:avLst/>
          </a:prstGeom>
          <a:noFill/>
        </p:spPr>
        <p:txBody>
          <a:bodyPr wrap="none" lIns="0" rIns="0" tIns="0" bIns="0">
            <a:spAutoFit/>
          </a:bodyPr>
          <a:lstStyle/>
          <a:p>
            <a:r>
              <a:rPr sz="1150" b="0">
                <a:solidFill>
                  <a:srgbClr val="2E2E2E"/>
                </a:solidFill>
                <a:latin typeface="Calibri"/>
              </a:rPr>
              <a:t>price-competitive market. Against the North America price of</a:t>
            </a:r>
          </a:p>
        </p:txBody>
      </p:sp>
      <p:pic>
        <p:nvPicPr>
          <p:cNvPr id="120" name="Picture 119" descr="lock.png"/>
          <p:cNvPicPr>
            <a:picLocks noChangeAspect="1"/>
          </p:cNvPicPr>
          <p:nvPr/>
        </p:nvPicPr>
        <p:blipFill>
          <a:blip r:embed="rId4"/>
          <a:stretch>
            <a:fillRect/>
          </a:stretch>
        </p:blipFill>
        <p:spPr>
          <a:xfrm>
            <a:off x="8034545" y="2741169"/>
            <a:ext cx="134549" cy="195707"/>
          </a:xfrm>
          <a:prstGeom prst="rect">
            <a:avLst/>
          </a:prstGeom>
        </p:spPr>
      </p:pic>
      <p:sp>
        <p:nvSpPr>
          <p:cNvPr id="121" name="TextBox 120"/>
          <p:cNvSpPr txBox="1"/>
          <p:nvPr/>
        </p:nvSpPr>
        <p:spPr>
          <a:xfrm>
            <a:off x="8209654" y="2751393"/>
            <a:ext cx="3195451" cy="194310"/>
          </a:xfrm>
          <a:prstGeom prst="rect">
            <a:avLst/>
          </a:prstGeom>
          <a:noFill/>
        </p:spPr>
        <p:txBody>
          <a:bodyPr wrap="none" lIns="0" rIns="0" tIns="0" bIns="0">
            <a:spAutoFit/>
          </a:bodyPr>
          <a:lstStyle/>
          <a:p>
            <a:r>
              <a:rPr sz="1150" b="0">
                <a:solidFill>
                  <a:srgbClr val="2E2E2E"/>
                </a:solidFill>
                <a:latin typeface="Calibri"/>
              </a:rPr>
              <a:t>US$/Units, 2 of 3 countries price above and 1 below.</a:t>
            </a:r>
          </a:p>
        </p:txBody>
      </p:sp>
      <p:sp>
        <p:nvSpPr>
          <p:cNvPr id="122" name="TextBox 121"/>
          <p:cNvSpPr txBox="1"/>
          <p:nvPr/>
        </p:nvSpPr>
        <p:spPr>
          <a:xfrm>
            <a:off x="8048625" y="2979230"/>
            <a:ext cx="1677330" cy="194310"/>
          </a:xfrm>
          <a:prstGeom prst="rect">
            <a:avLst/>
          </a:prstGeom>
          <a:noFill/>
        </p:spPr>
        <p:txBody>
          <a:bodyPr wrap="none" lIns="0" rIns="0" tIns="0" bIns="0">
            <a:spAutoFit/>
          </a:bodyPr>
          <a:lstStyle/>
          <a:p>
            <a:r>
              <a:rPr sz="1150" b="0">
                <a:solidFill>
                  <a:srgbClr val="2E2E2E"/>
                </a:solidFill>
                <a:latin typeface="Calibri"/>
              </a:rPr>
              <a:t>'Canada' is the dearest at +</a:t>
            </a:r>
          </a:p>
        </p:txBody>
      </p:sp>
      <p:pic>
        <p:nvPicPr>
          <p:cNvPr id="123" name="Picture 122" descr="lock.png"/>
          <p:cNvPicPr>
            <a:picLocks noChangeAspect="1"/>
          </p:cNvPicPr>
          <p:nvPr/>
        </p:nvPicPr>
        <p:blipFill>
          <a:blip r:embed="rId4"/>
          <a:stretch>
            <a:fillRect/>
          </a:stretch>
        </p:blipFill>
        <p:spPr>
          <a:xfrm>
            <a:off x="9675109" y="2969007"/>
            <a:ext cx="134549" cy="195707"/>
          </a:xfrm>
          <a:prstGeom prst="rect">
            <a:avLst/>
          </a:prstGeom>
        </p:spPr>
      </p:pic>
      <p:sp>
        <p:nvSpPr>
          <p:cNvPr id="124" name="TextBox 123"/>
          <p:cNvSpPr txBox="1"/>
          <p:nvPr/>
        </p:nvSpPr>
        <p:spPr>
          <a:xfrm>
            <a:off x="9850218" y="2979230"/>
            <a:ext cx="1961728" cy="194310"/>
          </a:xfrm>
          <a:prstGeom prst="rect">
            <a:avLst/>
          </a:prstGeom>
          <a:noFill/>
        </p:spPr>
        <p:txBody>
          <a:bodyPr wrap="none" lIns="0" rIns="0" tIns="0" bIns="0">
            <a:spAutoFit/>
          </a:bodyPr>
          <a:lstStyle/>
          <a:p>
            <a:r>
              <a:rPr sz="1150" b="0">
                <a:solidFill>
                  <a:srgbClr val="2E2E2E"/>
                </a:solidFill>
                <a:latin typeface="Calibri"/>
              </a:rPr>
              <a:t>versus North America, 'U.S.' the</a:t>
            </a:r>
          </a:p>
        </p:txBody>
      </p:sp>
      <p:sp>
        <p:nvSpPr>
          <p:cNvPr id="125" name="TextBox 124"/>
          <p:cNvSpPr txBox="1"/>
          <p:nvPr/>
        </p:nvSpPr>
        <p:spPr>
          <a:xfrm>
            <a:off x="8048625" y="3154490"/>
            <a:ext cx="842962" cy="194310"/>
          </a:xfrm>
          <a:prstGeom prst="rect">
            <a:avLst/>
          </a:prstGeom>
          <a:noFill/>
        </p:spPr>
        <p:txBody>
          <a:bodyPr wrap="none" lIns="0" rIns="0" tIns="0" bIns="0">
            <a:spAutoFit/>
          </a:bodyPr>
          <a:lstStyle/>
          <a:p>
            <a:r>
              <a:rPr sz="1150" b="0">
                <a:solidFill>
                  <a:srgbClr val="2E2E2E"/>
                </a:solidFill>
                <a:latin typeface="Calibri"/>
              </a:rPr>
              <a:t>cheapest at -</a:t>
            </a:r>
          </a:p>
        </p:txBody>
      </p:sp>
      <p:pic>
        <p:nvPicPr>
          <p:cNvPr id="126" name="Picture 125" descr="lock.png"/>
          <p:cNvPicPr>
            <a:picLocks noChangeAspect="1"/>
          </p:cNvPicPr>
          <p:nvPr/>
        </p:nvPicPr>
        <p:blipFill>
          <a:blip r:embed="rId4"/>
          <a:stretch>
            <a:fillRect/>
          </a:stretch>
        </p:blipFill>
        <p:spPr>
          <a:xfrm>
            <a:off x="8840741" y="3144267"/>
            <a:ext cx="134549" cy="195707"/>
          </a:xfrm>
          <a:prstGeom prst="rect">
            <a:avLst/>
          </a:prstGeom>
        </p:spPr>
      </p:pic>
      <p:sp>
        <p:nvSpPr>
          <p:cNvPr id="127" name="TextBox 126"/>
          <p:cNvSpPr txBox="1"/>
          <p:nvPr/>
        </p:nvSpPr>
        <p:spPr>
          <a:xfrm>
            <a:off x="9015850" y="3154490"/>
            <a:ext cx="2728205" cy="194310"/>
          </a:xfrm>
          <a:prstGeom prst="rect">
            <a:avLst/>
          </a:prstGeom>
          <a:noFill/>
        </p:spPr>
        <p:txBody>
          <a:bodyPr wrap="none" lIns="0" rIns="0" tIns="0" bIns="0">
            <a:spAutoFit/>
          </a:bodyPr>
          <a:lstStyle/>
          <a:p>
            <a:r>
              <a:rPr sz="1150" b="0">
                <a:solidFill>
                  <a:srgbClr val="2E2E2E"/>
                </a:solidFill>
                <a:latin typeface="Calibri"/>
              </a:rPr>
              <a:t>pointing to premiumisation headroom in the</a:t>
            </a:r>
          </a:p>
        </p:txBody>
      </p:sp>
      <p:sp>
        <p:nvSpPr>
          <p:cNvPr id="128" name="TextBox 127"/>
          <p:cNvSpPr txBox="1"/>
          <p:nvPr/>
        </p:nvSpPr>
        <p:spPr>
          <a:xfrm>
            <a:off x="8048625" y="3329750"/>
            <a:ext cx="1458540" cy="194310"/>
          </a:xfrm>
          <a:prstGeom prst="rect">
            <a:avLst/>
          </a:prstGeom>
          <a:noFill/>
        </p:spPr>
        <p:txBody>
          <a:bodyPr wrap="none" lIns="0" rIns="0" tIns="0" bIns="0">
            <a:spAutoFit/>
          </a:bodyPr>
          <a:lstStyle/>
          <a:p>
            <a:r>
              <a:rPr sz="1150" b="0">
                <a:solidFill>
                  <a:srgbClr val="2E2E2E"/>
                </a:solidFill>
                <a:latin typeface="Calibri"/>
              </a:rPr>
              <a:t>lower-priced countries.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Industrial Air Compressor Market Summary, By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value growth, incremental opportunity and the geographies driving it, 2021–2036</a:t>
            </a:r>
          </a:p>
        </p:txBody>
      </p:sp>
      <p:sp>
        <p:nvSpPr>
          <p:cNvPr id="7" name="Rounded Rectangle 6"/>
          <p:cNvSpPr/>
          <p:nvPr/>
        </p:nvSpPr>
        <p:spPr>
          <a:xfrm>
            <a:off x="142875"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2A5F8F"/>
                </a:solidFill>
                <a:latin typeface="Calibri"/>
              </a:rPr>
              <a:t> </a:t>
            </a:r>
          </a:p>
        </p:txBody>
      </p:sp>
      <p:sp>
        <p:nvSpPr>
          <p:cNvPr id="8" name="Rounded Rectangle 7"/>
          <p:cNvSpPr/>
          <p:nvPr/>
        </p:nvSpPr>
        <p:spPr>
          <a:xfrm>
            <a:off x="31432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2A5F8F"/>
                </a:solidFill>
                <a:latin typeface="Calibri"/>
              </a:rPr>
              <a:t> </a:t>
            </a:r>
          </a:p>
        </p:txBody>
      </p:sp>
      <p:sp>
        <p:nvSpPr>
          <p:cNvPr id="9" name="Rounded Rectangle 8"/>
          <p:cNvSpPr/>
          <p:nvPr/>
        </p:nvSpPr>
        <p:spPr>
          <a:xfrm>
            <a:off x="61531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2A5F8F"/>
                </a:solidFill>
                <a:latin typeface="Calibri"/>
              </a:rPr>
              <a:t> </a:t>
            </a:r>
          </a:p>
        </p:txBody>
      </p:sp>
      <p:sp>
        <p:nvSpPr>
          <p:cNvPr id="10" name="Rounded Rectangle 9"/>
          <p:cNvSpPr/>
          <p:nvPr/>
        </p:nvSpPr>
        <p:spPr>
          <a:xfrm>
            <a:off x="91630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627887"/>
            <a:ext cx="769620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3" name="Chart 12"/>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4037375"/>
            <a:ext cx="769620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6" name="Chart 15"/>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7" name="Rounded Rectangle 16"/>
          <p:cNvSpPr/>
          <p:nvPr/>
        </p:nvSpPr>
        <p:spPr>
          <a:xfrm>
            <a:off x="7915275" y="1627887"/>
            <a:ext cx="4133850" cy="3051231"/>
          </a:xfrm>
          <a:prstGeom prst="roundRect">
            <a:avLst>
              <a:gd name="adj" fmla="val 249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9" name="Rectangle 18"/>
          <p:cNvSpPr/>
          <p:nvPr/>
        </p:nvSpPr>
        <p:spPr>
          <a:xfrm>
            <a:off x="8048625" y="1951737"/>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2037462"/>
            <a:ext cx="3867150" cy="2565456"/>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21" name="Rounded Rectangle 20"/>
          <p:cNvSpPr/>
          <p:nvPr/>
        </p:nvSpPr>
        <p:spPr>
          <a:xfrm>
            <a:off x="7915275" y="4733879"/>
            <a:ext cx="4133850" cy="1822506"/>
          </a:xfrm>
          <a:prstGeom prst="roundRect">
            <a:avLst>
              <a:gd name="adj" fmla="val 418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4819604"/>
            <a:ext cx="3867150" cy="209550"/>
          </a:xfrm>
          <a:prstGeom prst="rect">
            <a:avLst/>
          </a:prstGeom>
          <a:noFill/>
        </p:spPr>
        <p:txBody>
          <a:bodyPr wrap="square" lIns="0" rIns="19050" tIns="9525" bIns="9525">
            <a:spAutoFit/>
          </a:bodyPr>
          <a:lstStyle/>
          <a:p>
            <a:pPr algn="l"/>
            <a:r>
              <a:rPr sz="1300" b="1">
                <a:solidFill>
                  <a:srgbClr val="0E2A5C"/>
                </a:solidFill>
                <a:latin typeface="Calibri"/>
              </a:rPr>
              <a:t>Growth Drivers</a:t>
            </a:r>
          </a:p>
        </p:txBody>
      </p:sp>
      <p:sp>
        <p:nvSpPr>
          <p:cNvPr id="23" name="Rectangle 22"/>
          <p:cNvSpPr/>
          <p:nvPr/>
        </p:nvSpPr>
        <p:spPr>
          <a:xfrm>
            <a:off x="8048625" y="5057729"/>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5143454"/>
            <a:ext cx="3867150" cy="133673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5" name="Rectangle 2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389163" cy="186689"/>
          </a:xfrm>
          <a:prstGeom prst="rect">
            <a:avLst/>
          </a:prstGeom>
          <a:noFill/>
        </p:spPr>
        <p:txBody>
          <a:bodyPr wrap="none" lIns="0" rIns="0" tIns="0" bIns="0">
            <a:spAutoFit/>
          </a:bodyPr>
          <a:lstStyle/>
          <a:p>
            <a:r>
              <a:rPr sz="1100" b="0">
                <a:solidFill>
                  <a:srgbClr val="2E2E2E"/>
                </a:solidFill>
                <a:latin typeface="Calibri"/>
              </a:rPr>
              <a:t>Industrial air compressor market value in North America is</a:t>
            </a:r>
          </a:p>
        </p:txBody>
      </p:sp>
      <p:sp>
        <p:nvSpPr>
          <p:cNvPr id="33" name="TextBox 32"/>
          <p:cNvSpPr txBox="1"/>
          <p:nvPr/>
        </p:nvSpPr>
        <p:spPr>
          <a:xfrm>
            <a:off x="8048625" y="2214627"/>
            <a:ext cx="1256555" cy="186689"/>
          </a:xfrm>
          <a:prstGeom prst="rect">
            <a:avLst/>
          </a:prstGeom>
          <a:noFill/>
        </p:spPr>
        <p:txBody>
          <a:bodyPr wrap="none" lIns="0" rIns="0" tIns="0" bIns="0">
            <a:spAutoFit/>
          </a:bodyPr>
          <a:lstStyle/>
          <a:p>
            <a:r>
              <a:rPr sz="1100" b="0">
                <a:solidFill>
                  <a:srgbClr val="2E2E2E"/>
                </a:solidFill>
                <a:latin typeface="Calibri"/>
              </a:rPr>
              <a:t>expected to increase</a:t>
            </a:r>
          </a:p>
        </p:txBody>
      </p:sp>
      <p:pic>
        <p:nvPicPr>
          <p:cNvPr id="34" name="Picture 33" descr="lock.png"/>
          <p:cNvPicPr>
            <a:picLocks noChangeAspect="1"/>
          </p:cNvPicPr>
          <p:nvPr/>
        </p:nvPicPr>
        <p:blipFill>
          <a:blip r:embed="rId6"/>
          <a:stretch>
            <a:fillRect/>
          </a:stretch>
        </p:blipFill>
        <p:spPr>
          <a:xfrm>
            <a:off x="9253232" y="2204848"/>
            <a:ext cx="128699" cy="187198"/>
          </a:xfrm>
          <a:prstGeom prst="rect">
            <a:avLst/>
          </a:prstGeom>
        </p:spPr>
      </p:pic>
      <p:sp>
        <p:nvSpPr>
          <p:cNvPr id="35" name="TextBox 34"/>
          <p:cNvSpPr txBox="1"/>
          <p:nvPr/>
        </p:nvSpPr>
        <p:spPr>
          <a:xfrm>
            <a:off x="9420728" y="2214627"/>
            <a:ext cx="2306215" cy="186689"/>
          </a:xfrm>
          <a:prstGeom prst="rect">
            <a:avLst/>
          </a:prstGeom>
          <a:noFill/>
        </p:spPr>
        <p:txBody>
          <a:bodyPr wrap="none" lIns="0" rIns="0" tIns="0" bIns="0">
            <a:spAutoFit/>
          </a:bodyPr>
          <a:lstStyle/>
          <a:p>
            <a:r>
              <a:rPr sz="1100" b="0">
                <a:solidFill>
                  <a:srgbClr val="2E2E2E"/>
                </a:solidFill>
                <a:latin typeface="Calibri"/>
              </a:rPr>
              <a:t>X between 2025 and 2036. In 2025, the</a:t>
            </a:r>
          </a:p>
        </p:txBody>
      </p:sp>
      <p:sp>
        <p:nvSpPr>
          <p:cNvPr id="36" name="TextBox 35"/>
          <p:cNvSpPr txBox="1"/>
          <p:nvPr/>
        </p:nvSpPr>
        <p:spPr>
          <a:xfrm>
            <a:off x="8048625" y="2382267"/>
            <a:ext cx="3739505" cy="186689"/>
          </a:xfrm>
          <a:prstGeom prst="rect">
            <a:avLst/>
          </a:prstGeom>
          <a:noFill/>
        </p:spPr>
        <p:txBody>
          <a:bodyPr wrap="none" lIns="0" rIns="0" tIns="0" bIns="0">
            <a:spAutoFit/>
          </a:bodyPr>
          <a:lstStyle/>
          <a:p>
            <a:r>
              <a:rPr sz="1100" b="0">
                <a:solidFill>
                  <a:srgbClr val="2E2E2E"/>
                </a:solidFill>
                <a:latin typeface="Calibri"/>
              </a:rPr>
              <a:t>industrial air compressor market in North America was valued at</a:t>
            </a:r>
          </a:p>
        </p:txBody>
      </p:sp>
      <p:sp>
        <p:nvSpPr>
          <p:cNvPr id="37" name="TextBox 36"/>
          <p:cNvSpPr txBox="1"/>
          <p:nvPr/>
        </p:nvSpPr>
        <p:spPr>
          <a:xfrm>
            <a:off x="8048625" y="2549907"/>
            <a:ext cx="301029" cy="186689"/>
          </a:xfrm>
          <a:prstGeom prst="rect">
            <a:avLst/>
          </a:prstGeom>
          <a:noFill/>
        </p:spPr>
        <p:txBody>
          <a:bodyPr wrap="none" lIns="0" rIns="0" tIns="0" bIns="0">
            <a:spAutoFit/>
          </a:bodyPr>
          <a:lstStyle/>
          <a:p>
            <a:r>
              <a:rPr sz="1100" b="0">
                <a:solidFill>
                  <a:srgbClr val="2E2E2E"/>
                </a:solidFill>
                <a:latin typeface="Calibri"/>
              </a:rPr>
              <a:t>US$</a:t>
            </a:r>
          </a:p>
        </p:txBody>
      </p:sp>
      <p:pic>
        <p:nvPicPr>
          <p:cNvPr id="38" name="Picture 37" descr="lock.png"/>
          <p:cNvPicPr>
            <a:picLocks noChangeAspect="1"/>
          </p:cNvPicPr>
          <p:nvPr/>
        </p:nvPicPr>
        <p:blipFill>
          <a:blip r:embed="rId6"/>
          <a:stretch>
            <a:fillRect/>
          </a:stretch>
        </p:blipFill>
        <p:spPr>
          <a:xfrm>
            <a:off x="8297706" y="2540128"/>
            <a:ext cx="128699" cy="187198"/>
          </a:xfrm>
          <a:prstGeom prst="rect">
            <a:avLst/>
          </a:prstGeom>
        </p:spPr>
      </p:pic>
      <p:sp>
        <p:nvSpPr>
          <p:cNvPr id="39" name="TextBox 38"/>
          <p:cNvSpPr txBox="1"/>
          <p:nvPr/>
        </p:nvSpPr>
        <p:spPr>
          <a:xfrm>
            <a:off x="8465202" y="2549907"/>
            <a:ext cx="2325861" cy="186689"/>
          </a:xfrm>
          <a:prstGeom prst="rect">
            <a:avLst/>
          </a:prstGeom>
          <a:noFill/>
        </p:spPr>
        <p:txBody>
          <a:bodyPr wrap="none" lIns="0" rIns="0" tIns="0" bIns="0">
            <a:spAutoFit/>
          </a:bodyPr>
          <a:lstStyle/>
          <a:p>
            <a:r>
              <a:rPr sz="1100" b="0">
                <a:solidFill>
                  <a:srgbClr val="2E2E2E"/>
                </a:solidFill>
                <a:latin typeface="Calibri"/>
              </a:rPr>
              <a:t>Mn and is estimated to account for US$</a:t>
            </a:r>
          </a:p>
        </p:txBody>
      </p:sp>
      <p:pic>
        <p:nvPicPr>
          <p:cNvPr id="40" name="Picture 39" descr="lock.png"/>
          <p:cNvPicPr>
            <a:picLocks noChangeAspect="1"/>
          </p:cNvPicPr>
          <p:nvPr/>
        </p:nvPicPr>
        <p:blipFill>
          <a:blip r:embed="rId6"/>
          <a:stretch>
            <a:fillRect/>
          </a:stretch>
        </p:blipFill>
        <p:spPr>
          <a:xfrm>
            <a:off x="10739114" y="2540128"/>
            <a:ext cx="128699" cy="187198"/>
          </a:xfrm>
          <a:prstGeom prst="rect">
            <a:avLst/>
          </a:prstGeom>
        </p:spPr>
      </p:pic>
      <p:sp>
        <p:nvSpPr>
          <p:cNvPr id="41" name="TextBox 40"/>
          <p:cNvSpPr txBox="1"/>
          <p:nvPr/>
        </p:nvSpPr>
        <p:spPr>
          <a:xfrm>
            <a:off x="10906610" y="2549907"/>
            <a:ext cx="907033" cy="186689"/>
          </a:xfrm>
          <a:prstGeom prst="rect">
            <a:avLst/>
          </a:prstGeom>
          <a:noFill/>
        </p:spPr>
        <p:txBody>
          <a:bodyPr wrap="none" lIns="0" rIns="0" tIns="0" bIns="0">
            <a:spAutoFit/>
          </a:bodyPr>
          <a:lstStyle/>
          <a:p>
            <a:r>
              <a:rPr sz="1100" b="0">
                <a:solidFill>
                  <a:srgbClr val="2E2E2E"/>
                </a:solidFill>
                <a:latin typeface="Calibri"/>
              </a:rPr>
              <a:t>Mn by the end</a:t>
            </a:r>
          </a:p>
        </p:txBody>
      </p:sp>
      <p:sp>
        <p:nvSpPr>
          <p:cNvPr id="42" name="TextBox 41"/>
          <p:cNvSpPr txBox="1"/>
          <p:nvPr/>
        </p:nvSpPr>
        <p:spPr>
          <a:xfrm>
            <a:off x="8048625" y="2717547"/>
            <a:ext cx="2392436" cy="186689"/>
          </a:xfrm>
          <a:prstGeom prst="rect">
            <a:avLst/>
          </a:prstGeom>
          <a:noFill/>
        </p:spPr>
        <p:txBody>
          <a:bodyPr wrap="none" lIns="0" rIns="0" tIns="0" bIns="0">
            <a:spAutoFit/>
          </a:bodyPr>
          <a:lstStyle/>
          <a:p>
            <a:r>
              <a:rPr sz="1100" b="0">
                <a:solidFill>
                  <a:srgbClr val="2E2E2E"/>
                </a:solidFill>
                <a:latin typeface="Calibri"/>
              </a:rPr>
              <a:t>of 2026, reflecting a Y-o-Y growth rate of</a:t>
            </a:r>
          </a:p>
        </p:txBody>
      </p:sp>
      <p:pic>
        <p:nvPicPr>
          <p:cNvPr id="43" name="Picture 42" descr="lock.png"/>
          <p:cNvPicPr>
            <a:picLocks noChangeAspect="1"/>
          </p:cNvPicPr>
          <p:nvPr/>
        </p:nvPicPr>
        <p:blipFill>
          <a:blip r:embed="rId6"/>
          <a:stretch>
            <a:fillRect/>
          </a:stretch>
        </p:blipFill>
        <p:spPr>
          <a:xfrm>
            <a:off x="10389113" y="2707768"/>
            <a:ext cx="128699" cy="187198"/>
          </a:xfrm>
          <a:prstGeom prst="rect">
            <a:avLst/>
          </a:prstGeom>
        </p:spPr>
      </p:pic>
      <p:sp>
        <p:nvSpPr>
          <p:cNvPr id="44" name="TextBox 43"/>
          <p:cNvSpPr txBox="1"/>
          <p:nvPr/>
        </p:nvSpPr>
        <p:spPr>
          <a:xfrm>
            <a:off x="10556609"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5" name="TextBox 44"/>
          <p:cNvSpPr txBox="1"/>
          <p:nvPr/>
        </p:nvSpPr>
        <p:spPr>
          <a:xfrm>
            <a:off x="8048625" y="2935479"/>
            <a:ext cx="3491210" cy="186689"/>
          </a:xfrm>
          <a:prstGeom prst="rect">
            <a:avLst/>
          </a:prstGeom>
          <a:noFill/>
        </p:spPr>
        <p:txBody>
          <a:bodyPr wrap="none" lIns="0" rIns="0" tIns="0" bIns="0">
            <a:spAutoFit/>
          </a:bodyPr>
          <a:lstStyle/>
          <a:p>
            <a:r>
              <a:rPr sz="1100" b="0">
                <a:solidFill>
                  <a:srgbClr val="2E2E2E"/>
                </a:solidFill>
                <a:latin typeface="Calibri"/>
              </a:rPr>
              <a:t>The market in North America is expected to account for US$</a:t>
            </a:r>
          </a:p>
        </p:txBody>
      </p:sp>
      <p:pic>
        <p:nvPicPr>
          <p:cNvPr id="46" name="Picture 45" descr="lock.png"/>
          <p:cNvPicPr>
            <a:picLocks noChangeAspect="1"/>
          </p:cNvPicPr>
          <p:nvPr/>
        </p:nvPicPr>
        <p:blipFill>
          <a:blip r:embed="rId6"/>
          <a:stretch>
            <a:fillRect/>
          </a:stretch>
        </p:blipFill>
        <p:spPr>
          <a:xfrm>
            <a:off x="8035157" y="3093340"/>
            <a:ext cx="128699" cy="187198"/>
          </a:xfrm>
          <a:prstGeom prst="rect">
            <a:avLst/>
          </a:prstGeom>
        </p:spPr>
      </p:pic>
      <p:sp>
        <p:nvSpPr>
          <p:cNvPr id="47" name="TextBox 46"/>
          <p:cNvSpPr txBox="1"/>
          <p:nvPr/>
        </p:nvSpPr>
        <p:spPr>
          <a:xfrm>
            <a:off x="8202653" y="3103119"/>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48" name="Picture 47" descr="lock.png"/>
          <p:cNvPicPr>
            <a:picLocks noChangeAspect="1"/>
          </p:cNvPicPr>
          <p:nvPr/>
        </p:nvPicPr>
        <p:blipFill>
          <a:blip r:embed="rId6"/>
          <a:stretch>
            <a:fillRect/>
          </a:stretch>
        </p:blipFill>
        <p:spPr>
          <a:xfrm>
            <a:off x="9646261" y="3093340"/>
            <a:ext cx="128699" cy="187198"/>
          </a:xfrm>
          <a:prstGeom prst="rect">
            <a:avLst/>
          </a:prstGeom>
        </p:spPr>
      </p:pic>
      <p:sp>
        <p:nvSpPr>
          <p:cNvPr id="49" name="TextBox 48"/>
          <p:cNvSpPr txBox="1"/>
          <p:nvPr/>
        </p:nvSpPr>
        <p:spPr>
          <a:xfrm>
            <a:off x="9813757" y="3103119"/>
            <a:ext cx="1849462" cy="186689"/>
          </a:xfrm>
          <a:prstGeom prst="rect">
            <a:avLst/>
          </a:prstGeom>
          <a:noFill/>
        </p:spPr>
        <p:txBody>
          <a:bodyPr wrap="none" lIns="0" rIns="0" tIns="0" bIns="0">
            <a:spAutoFit/>
          </a:bodyPr>
          <a:lstStyle/>
          <a:p>
            <a:r>
              <a:rPr sz="1100" b="0">
                <a:solidFill>
                  <a:srgbClr val="2E2E2E"/>
                </a:solidFill>
                <a:latin typeface="Calibri"/>
              </a:rPr>
              <a:t>over the forecast period. North</a:t>
            </a:r>
          </a:p>
        </p:txBody>
      </p:sp>
      <p:sp>
        <p:nvSpPr>
          <p:cNvPr id="50" name="TextBox 49"/>
          <p:cNvSpPr txBox="1"/>
          <p:nvPr/>
        </p:nvSpPr>
        <p:spPr>
          <a:xfrm>
            <a:off x="8048625" y="3270759"/>
            <a:ext cx="3764880" cy="186689"/>
          </a:xfrm>
          <a:prstGeom prst="rect">
            <a:avLst/>
          </a:prstGeom>
          <a:noFill/>
        </p:spPr>
        <p:txBody>
          <a:bodyPr wrap="none" lIns="0" rIns="0" tIns="0" bIns="0">
            <a:spAutoFit/>
          </a:bodyPr>
          <a:lstStyle/>
          <a:p>
            <a:r>
              <a:rPr sz="1100" b="0">
                <a:solidFill>
                  <a:srgbClr val="2E2E2E"/>
                </a:solidFill>
                <a:latin typeface="Calibri"/>
              </a:rPr>
              <a:t>America is expected to create an incremental opportunity of US$</a:t>
            </a:r>
          </a:p>
        </p:txBody>
      </p:sp>
      <p:pic>
        <p:nvPicPr>
          <p:cNvPr id="51" name="Picture 50" descr="lock.png"/>
          <p:cNvPicPr>
            <a:picLocks noChangeAspect="1"/>
          </p:cNvPicPr>
          <p:nvPr/>
        </p:nvPicPr>
        <p:blipFill>
          <a:blip r:embed="rId6"/>
          <a:stretch>
            <a:fillRect/>
          </a:stretch>
        </p:blipFill>
        <p:spPr>
          <a:xfrm>
            <a:off x="8035157" y="3428620"/>
            <a:ext cx="128699" cy="187198"/>
          </a:xfrm>
          <a:prstGeom prst="rect">
            <a:avLst/>
          </a:prstGeom>
        </p:spPr>
      </p:pic>
      <p:sp>
        <p:nvSpPr>
          <p:cNvPr id="52" name="TextBox 51"/>
          <p:cNvSpPr txBox="1"/>
          <p:nvPr/>
        </p:nvSpPr>
        <p:spPr>
          <a:xfrm>
            <a:off x="8202653" y="3438399"/>
            <a:ext cx="3612901" cy="186689"/>
          </a:xfrm>
          <a:prstGeom prst="rect">
            <a:avLst/>
          </a:prstGeom>
          <a:noFill/>
        </p:spPr>
        <p:txBody>
          <a:bodyPr wrap="none" lIns="0" rIns="0" tIns="0" bIns="0">
            <a:spAutoFit/>
          </a:bodyPr>
          <a:lstStyle/>
          <a:p>
            <a:r>
              <a:rPr sz="1100" b="0">
                <a:solidFill>
                  <a:srgbClr val="2E2E2E"/>
                </a:solidFill>
                <a:latin typeface="Calibri"/>
              </a:rPr>
              <a:t>Mn for the overall industrial air compressor market from 2025</a:t>
            </a:r>
          </a:p>
        </p:txBody>
      </p:sp>
      <p:sp>
        <p:nvSpPr>
          <p:cNvPr id="53" name="TextBox 52"/>
          <p:cNvSpPr txBox="1"/>
          <p:nvPr/>
        </p:nvSpPr>
        <p:spPr>
          <a:xfrm>
            <a:off x="8048625" y="3606039"/>
            <a:ext cx="547414" cy="186689"/>
          </a:xfrm>
          <a:prstGeom prst="rect">
            <a:avLst/>
          </a:prstGeom>
          <a:noFill/>
        </p:spPr>
        <p:txBody>
          <a:bodyPr wrap="none" lIns="0" rIns="0" tIns="0" bIns="0">
            <a:spAutoFit/>
          </a:bodyPr>
          <a:lstStyle/>
          <a:p>
            <a:r>
              <a:rPr sz="1100" b="0">
                <a:solidFill>
                  <a:srgbClr val="2E2E2E"/>
                </a:solidFill>
                <a:latin typeface="Calibri"/>
              </a:rPr>
              <a:t>to 2036.</a:t>
            </a:r>
          </a:p>
        </p:txBody>
      </p:sp>
      <p:sp>
        <p:nvSpPr>
          <p:cNvPr id="54" name="TextBox 53"/>
          <p:cNvSpPr txBox="1"/>
          <p:nvPr/>
        </p:nvSpPr>
        <p:spPr>
          <a:xfrm>
            <a:off x="8048625" y="3823971"/>
            <a:ext cx="2837184" cy="186689"/>
          </a:xfrm>
          <a:prstGeom prst="rect">
            <a:avLst/>
          </a:prstGeom>
          <a:noFill/>
        </p:spPr>
        <p:txBody>
          <a:bodyPr wrap="none" lIns="0" rIns="0" tIns="0" bIns="0">
            <a:spAutoFit/>
          </a:bodyPr>
          <a:lstStyle/>
          <a:p>
            <a:r>
              <a:rPr sz="1100" b="0">
                <a:solidFill>
                  <a:srgbClr val="2E2E2E"/>
                </a:solidFill>
                <a:latin typeface="Calibri"/>
              </a:rPr>
              <a:t>Absolute $ value for 2026 is estimated to be US$</a:t>
            </a:r>
          </a:p>
        </p:txBody>
      </p:sp>
      <p:pic>
        <p:nvPicPr>
          <p:cNvPr id="55" name="Picture 54" descr="lock.png"/>
          <p:cNvPicPr>
            <a:picLocks noChangeAspect="1"/>
          </p:cNvPicPr>
          <p:nvPr/>
        </p:nvPicPr>
        <p:blipFill>
          <a:blip r:embed="rId6"/>
          <a:stretch>
            <a:fillRect/>
          </a:stretch>
        </p:blipFill>
        <p:spPr>
          <a:xfrm>
            <a:off x="10833861" y="3814192"/>
            <a:ext cx="128699" cy="187198"/>
          </a:xfrm>
          <a:prstGeom prst="rect">
            <a:avLst/>
          </a:prstGeom>
        </p:spPr>
      </p:pic>
      <p:sp>
        <p:nvSpPr>
          <p:cNvPr id="56" name="TextBox 55"/>
          <p:cNvSpPr txBox="1"/>
          <p:nvPr/>
        </p:nvSpPr>
        <p:spPr>
          <a:xfrm>
            <a:off x="11001357" y="3823971"/>
            <a:ext cx="304303" cy="186689"/>
          </a:xfrm>
          <a:prstGeom prst="rect">
            <a:avLst/>
          </a:prstGeom>
          <a:noFill/>
        </p:spPr>
        <p:txBody>
          <a:bodyPr wrap="none" lIns="0" rIns="0" tIns="0" bIns="0">
            <a:spAutoFit/>
          </a:bodyPr>
          <a:lstStyle/>
          <a:p>
            <a:r>
              <a:rPr sz="1100" b="0">
                <a:solidFill>
                  <a:srgbClr val="2E2E2E"/>
                </a:solidFill>
                <a:latin typeface="Calibri"/>
              </a:rPr>
              <a:t>Mn.</a:t>
            </a:r>
          </a:p>
        </p:txBody>
      </p:sp>
      <p:sp>
        <p:nvSpPr>
          <p:cNvPr id="57" name="TextBox 56"/>
          <p:cNvSpPr txBox="1"/>
          <p:nvPr/>
        </p:nvSpPr>
        <p:spPr>
          <a:xfrm>
            <a:off x="8048625" y="5152979"/>
            <a:ext cx="2130883" cy="194310"/>
          </a:xfrm>
          <a:prstGeom prst="rect">
            <a:avLst/>
          </a:prstGeom>
          <a:noFill/>
        </p:spPr>
        <p:txBody>
          <a:bodyPr wrap="none" lIns="0" rIns="0" tIns="0" bIns="0">
            <a:spAutoFit/>
          </a:bodyPr>
          <a:lstStyle/>
          <a:p>
            <a:r>
              <a:rPr sz="1150" b="0">
                <a:solidFill>
                  <a:srgbClr val="2E2E2E"/>
                </a:solidFill>
                <a:latin typeface="Calibri"/>
              </a:rPr>
              <a:t>▪ 'Mexico' leads regional growth at</a:t>
            </a:r>
          </a:p>
        </p:txBody>
      </p:sp>
      <p:pic>
        <p:nvPicPr>
          <p:cNvPr id="58" name="Picture 57" descr="lock.png"/>
          <p:cNvPicPr>
            <a:picLocks noChangeAspect="1"/>
          </p:cNvPicPr>
          <p:nvPr/>
        </p:nvPicPr>
        <p:blipFill>
          <a:blip r:embed="rId6"/>
          <a:stretch>
            <a:fillRect/>
          </a:stretch>
        </p:blipFill>
        <p:spPr>
          <a:xfrm>
            <a:off x="10128662" y="5142755"/>
            <a:ext cx="134549" cy="195707"/>
          </a:xfrm>
          <a:prstGeom prst="rect">
            <a:avLst/>
          </a:prstGeom>
        </p:spPr>
      </p:pic>
      <p:sp>
        <p:nvSpPr>
          <p:cNvPr id="59" name="TextBox 58"/>
          <p:cNvSpPr txBox="1"/>
          <p:nvPr/>
        </p:nvSpPr>
        <p:spPr>
          <a:xfrm>
            <a:off x="10303772" y="5152979"/>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0" name="TextBox 59"/>
          <p:cNvSpPr txBox="1"/>
          <p:nvPr/>
        </p:nvSpPr>
        <p:spPr>
          <a:xfrm>
            <a:off x="8048625" y="5380816"/>
            <a:ext cx="3848100" cy="194310"/>
          </a:xfrm>
          <a:prstGeom prst="rect">
            <a:avLst/>
          </a:prstGeom>
          <a:noFill/>
        </p:spPr>
        <p:txBody>
          <a:bodyPr wrap="none" lIns="0" rIns="0" tIns="0" bIns="0">
            <a:spAutoFit/>
          </a:bodyPr>
          <a:lstStyle/>
          <a:p>
            <a:r>
              <a:rPr sz="1150" b="0">
                <a:solidFill>
                  <a:srgbClr val="2E2E2E"/>
                </a:solidFill>
                <a:latin typeface="Calibri"/>
              </a:rPr>
              <a:t>▪ Demand concentrates in 'Rotary Screw Air Compressor' within</a:t>
            </a:r>
          </a:p>
        </p:txBody>
      </p:sp>
      <p:sp>
        <p:nvSpPr>
          <p:cNvPr id="61" name="TextBox 60"/>
          <p:cNvSpPr txBox="1"/>
          <p:nvPr/>
        </p:nvSpPr>
        <p:spPr>
          <a:xfrm>
            <a:off x="8048625" y="5556076"/>
            <a:ext cx="795039" cy="194310"/>
          </a:xfrm>
          <a:prstGeom prst="rect">
            <a:avLst/>
          </a:prstGeom>
          <a:noFill/>
        </p:spPr>
        <p:txBody>
          <a:bodyPr wrap="none" lIns="0" rIns="0" tIns="0" bIns="0">
            <a:spAutoFit/>
          </a:bodyPr>
          <a:lstStyle/>
          <a:p>
            <a:r>
              <a:rPr sz="1150" b="0">
                <a:solidFill>
                  <a:srgbClr val="2E2E2E"/>
                </a:solidFill>
                <a:latin typeface="Calibri"/>
              </a:rPr>
              <a:t>Technology.</a:t>
            </a:r>
          </a:p>
        </p:txBody>
      </p:sp>
      <p:sp>
        <p:nvSpPr>
          <p:cNvPr id="62" name="TextBox 61"/>
          <p:cNvSpPr txBox="1"/>
          <p:nvPr/>
        </p:nvSpPr>
        <p:spPr>
          <a:xfrm>
            <a:off x="8048625" y="5783914"/>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63" name="TextBox 62"/>
          <p:cNvSpPr txBox="1"/>
          <p:nvPr/>
        </p:nvSpPr>
        <p:spPr>
          <a:xfrm>
            <a:off x="8048625" y="6011752"/>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64" name="lockshield_13"/>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16"/>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Industrial Air Compressor Market Volume &amp; Value Analysis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North America market and the incremental $ opportunity it creates, 2021–2036</a:t>
            </a:r>
          </a:p>
        </p:txBody>
      </p:sp>
      <p:sp>
        <p:nvSpPr>
          <p:cNvPr id="7" name="Rounded Rectangle 6"/>
          <p:cNvSpPr/>
          <p:nvPr/>
        </p:nvSpPr>
        <p:spPr>
          <a:xfrm>
            <a:off x="142875" y="981075"/>
            <a:ext cx="4695825" cy="2524125"/>
          </a:xfrm>
          <a:prstGeom prst="roundRect">
            <a:avLst>
              <a:gd name="adj" fmla="val 301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2021–2025 (Historical)</a:t>
            </a:r>
          </a:p>
        </p:txBody>
      </p:sp>
      <p:graphicFrame>
        <p:nvGraphicFramePr>
          <p:cNvPr id="9" name="Chart 8"/>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0" name="Rounded Rectangle 9"/>
          <p:cNvSpPr/>
          <p:nvPr/>
        </p:nvSpPr>
        <p:spPr>
          <a:xfrm>
            <a:off x="4991100" y="981075"/>
            <a:ext cx="7048500" cy="2524125"/>
          </a:xfrm>
          <a:prstGeom prst="roundRect">
            <a:avLst>
              <a:gd name="adj" fmla="val 301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2026–2036 (Forecast)</a:t>
            </a:r>
          </a:p>
        </p:txBody>
      </p:sp>
      <p:graphicFrame>
        <p:nvGraphicFramePr>
          <p:cNvPr id="12" name="Chart 11"/>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638550"/>
            <a:ext cx="2514600" cy="68580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2A5F8F"/>
                </a:solidFill>
                <a:latin typeface="Calibri"/>
              </a:rPr>
              <a:t> </a:t>
            </a:r>
          </a:p>
        </p:txBody>
      </p:sp>
      <p:sp>
        <p:nvSpPr>
          <p:cNvPr id="14" name="Rounded Rectangle 13"/>
          <p:cNvSpPr/>
          <p:nvPr/>
        </p:nvSpPr>
        <p:spPr>
          <a:xfrm>
            <a:off x="2809875" y="3638550"/>
            <a:ext cx="2514600" cy="68580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2A5F8F"/>
                </a:solidFill>
                <a:latin typeface="Calibri"/>
              </a:rPr>
              <a:t> </a:t>
            </a:r>
          </a:p>
        </p:txBody>
      </p:sp>
      <p:sp>
        <p:nvSpPr>
          <p:cNvPr id="15" name="Rounded Rectangle 14"/>
          <p:cNvSpPr/>
          <p:nvPr/>
        </p:nvSpPr>
        <p:spPr>
          <a:xfrm>
            <a:off x="5476875" y="3638550"/>
            <a:ext cx="3200400" cy="68580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2A5F8F"/>
                </a:solidFill>
                <a:latin typeface="Calibri"/>
              </a:rPr>
              <a:t> </a:t>
            </a:r>
          </a:p>
        </p:txBody>
      </p:sp>
      <p:sp>
        <p:nvSpPr>
          <p:cNvPr id="16" name="Rounded Rectangle 15"/>
          <p:cNvSpPr/>
          <p:nvPr/>
        </p:nvSpPr>
        <p:spPr>
          <a:xfrm>
            <a:off x="8829675" y="3638550"/>
            <a:ext cx="3200400" cy="68580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2A5F8F"/>
                </a:solidFill>
                <a:latin typeface="Calibri"/>
              </a:rPr>
              <a:t> </a:t>
            </a:r>
          </a:p>
        </p:txBody>
      </p:sp>
      <p:sp>
        <p:nvSpPr>
          <p:cNvPr id="17" name="Rounded Rectangle 16"/>
          <p:cNvSpPr/>
          <p:nvPr/>
        </p:nvSpPr>
        <p:spPr>
          <a:xfrm>
            <a:off x="142875" y="4457700"/>
            <a:ext cx="11906250" cy="2152650"/>
          </a:xfrm>
          <a:prstGeom prst="roundRect">
            <a:avLst>
              <a:gd name="adj" fmla="val 353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Volume &amp; Value Analysis</a:t>
            </a:r>
          </a:p>
        </p:txBody>
      </p:sp>
      <p:sp>
        <p:nvSpPr>
          <p:cNvPr id="19" name="Rectangle 18"/>
          <p:cNvSpPr/>
          <p:nvPr/>
        </p:nvSpPr>
        <p:spPr>
          <a:xfrm>
            <a:off x="276225" y="47815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2535356" y="2029222"/>
            <a:ext cx="202455" cy="294480"/>
          </a:xfrm>
          <a:prstGeom prst="rect">
            <a:avLst/>
          </a:prstGeom>
        </p:spPr>
      </p:pic>
      <p:pic>
        <p:nvPicPr>
          <p:cNvPr id="24" name="Picture 23" descr="lock.png"/>
          <p:cNvPicPr>
            <a:picLocks noChangeAspect="1"/>
          </p:cNvPicPr>
          <p:nvPr/>
        </p:nvPicPr>
        <p:blipFill>
          <a:blip r:embed="rId6"/>
          <a:stretch>
            <a:fillRect/>
          </a:stretch>
        </p:blipFill>
        <p:spPr>
          <a:xfrm>
            <a:off x="8532694" y="1990329"/>
            <a:ext cx="255933" cy="372266"/>
          </a:xfrm>
          <a:prstGeom prst="rect">
            <a:avLst/>
          </a:prstGeom>
        </p:spPr>
      </p:pic>
      <p:pic>
        <p:nvPicPr>
          <p:cNvPr id="25" name="Picture 24" descr="lock.png"/>
          <p:cNvPicPr>
            <a:picLocks noChangeAspect="1"/>
          </p:cNvPicPr>
          <p:nvPr/>
        </p:nvPicPr>
        <p:blipFill>
          <a:blip r:embed="rId6"/>
          <a:stretch>
            <a:fillRect/>
          </a:stretch>
        </p:blipFill>
        <p:spPr>
          <a:xfrm>
            <a:off x="1321594" y="3950970"/>
            <a:ext cx="157162" cy="228600"/>
          </a:xfrm>
          <a:prstGeom prst="rect">
            <a:avLst/>
          </a:prstGeom>
        </p:spPr>
      </p:pic>
      <p:pic>
        <p:nvPicPr>
          <p:cNvPr id="26" name="Picture 25" descr="lock.png"/>
          <p:cNvPicPr>
            <a:picLocks noChangeAspect="1"/>
          </p:cNvPicPr>
          <p:nvPr/>
        </p:nvPicPr>
        <p:blipFill>
          <a:blip r:embed="rId6"/>
          <a:stretch>
            <a:fillRect/>
          </a:stretch>
        </p:blipFill>
        <p:spPr>
          <a:xfrm>
            <a:off x="3988594" y="3950970"/>
            <a:ext cx="157162" cy="228600"/>
          </a:xfrm>
          <a:prstGeom prst="rect">
            <a:avLst/>
          </a:prstGeom>
        </p:spPr>
      </p:pic>
      <p:pic>
        <p:nvPicPr>
          <p:cNvPr id="27" name="Picture 26" descr="lock.png"/>
          <p:cNvPicPr>
            <a:picLocks noChangeAspect="1"/>
          </p:cNvPicPr>
          <p:nvPr/>
        </p:nvPicPr>
        <p:blipFill>
          <a:blip r:embed="rId6"/>
          <a:stretch>
            <a:fillRect/>
          </a:stretch>
        </p:blipFill>
        <p:spPr>
          <a:xfrm>
            <a:off x="6998494" y="3950970"/>
            <a:ext cx="157162" cy="228600"/>
          </a:xfrm>
          <a:prstGeom prst="rect">
            <a:avLst/>
          </a:prstGeom>
        </p:spPr>
      </p:pic>
      <p:pic>
        <p:nvPicPr>
          <p:cNvPr id="28" name="Picture 27" descr="lock.png"/>
          <p:cNvPicPr>
            <a:picLocks noChangeAspect="1"/>
          </p:cNvPicPr>
          <p:nvPr/>
        </p:nvPicPr>
        <p:blipFill>
          <a:blip r:embed="rId6"/>
          <a:stretch>
            <a:fillRect/>
          </a:stretch>
        </p:blipFill>
        <p:spPr>
          <a:xfrm>
            <a:off x="10351294" y="3950970"/>
            <a:ext cx="157162" cy="228600"/>
          </a:xfrm>
          <a:prstGeom prst="rect">
            <a:avLst/>
          </a:prstGeom>
        </p:spPr>
      </p:pic>
      <p:sp>
        <p:nvSpPr>
          <p:cNvPr id="29" name="TextBox 28"/>
          <p:cNvSpPr txBox="1"/>
          <p:nvPr/>
        </p:nvSpPr>
        <p:spPr>
          <a:xfrm>
            <a:off x="276225" y="4876800"/>
            <a:ext cx="4806850" cy="194310"/>
          </a:xfrm>
          <a:prstGeom prst="rect">
            <a:avLst/>
          </a:prstGeom>
          <a:noFill/>
        </p:spPr>
        <p:txBody>
          <a:bodyPr wrap="none" lIns="0" rIns="0" tIns="0" bIns="0">
            <a:spAutoFit/>
          </a:bodyPr>
          <a:lstStyle/>
          <a:p>
            <a:r>
              <a:rPr sz="1150" b="0">
                <a:solidFill>
                  <a:srgbClr val="2E2E2E"/>
                </a:solidFill>
                <a:latin typeface="Calibri"/>
              </a:rPr>
              <a:t>Industrial air compressor market value in North America is expected to increase</a:t>
            </a:r>
          </a:p>
        </p:txBody>
      </p:sp>
      <p:pic>
        <p:nvPicPr>
          <p:cNvPr id="30" name="Picture 29" descr="lock.png"/>
          <p:cNvPicPr>
            <a:picLocks noChangeAspect="1"/>
          </p:cNvPicPr>
          <p:nvPr/>
        </p:nvPicPr>
        <p:blipFill>
          <a:blip r:embed="rId6"/>
          <a:stretch>
            <a:fillRect/>
          </a:stretch>
        </p:blipFill>
        <p:spPr>
          <a:xfrm>
            <a:off x="5032229" y="4866576"/>
            <a:ext cx="134549" cy="195707"/>
          </a:xfrm>
          <a:prstGeom prst="rect">
            <a:avLst/>
          </a:prstGeom>
        </p:spPr>
      </p:pic>
      <p:sp>
        <p:nvSpPr>
          <p:cNvPr id="31" name="TextBox 30"/>
          <p:cNvSpPr txBox="1"/>
          <p:nvPr/>
        </p:nvSpPr>
        <p:spPr>
          <a:xfrm>
            <a:off x="5207338" y="4876800"/>
            <a:ext cx="6538627" cy="194310"/>
          </a:xfrm>
          <a:prstGeom prst="rect">
            <a:avLst/>
          </a:prstGeom>
          <a:noFill/>
        </p:spPr>
        <p:txBody>
          <a:bodyPr wrap="none" lIns="0" rIns="0" tIns="0" bIns="0">
            <a:spAutoFit/>
          </a:bodyPr>
          <a:lstStyle/>
          <a:p>
            <a:r>
              <a:rPr sz="1150" b="0">
                <a:solidFill>
                  <a:srgbClr val="2E2E2E"/>
                </a:solidFill>
                <a:latin typeface="Calibri"/>
              </a:rPr>
              <a:t>X between 2025 and 2036. In 2025, the industrial air compressor market in North America was valued at US$</a:t>
            </a:r>
          </a:p>
        </p:txBody>
      </p:sp>
      <p:pic>
        <p:nvPicPr>
          <p:cNvPr id="32" name="Picture 31" descr="lock.png"/>
          <p:cNvPicPr>
            <a:picLocks noChangeAspect="1"/>
          </p:cNvPicPr>
          <p:nvPr/>
        </p:nvPicPr>
        <p:blipFill>
          <a:blip r:embed="rId6"/>
          <a:stretch>
            <a:fillRect/>
          </a:stretch>
        </p:blipFill>
        <p:spPr>
          <a:xfrm>
            <a:off x="262145" y="5041836"/>
            <a:ext cx="134549" cy="195707"/>
          </a:xfrm>
          <a:prstGeom prst="rect">
            <a:avLst/>
          </a:prstGeom>
        </p:spPr>
      </p:pic>
      <p:sp>
        <p:nvSpPr>
          <p:cNvPr id="33" name="TextBox 32"/>
          <p:cNvSpPr txBox="1"/>
          <p:nvPr/>
        </p:nvSpPr>
        <p:spPr>
          <a:xfrm>
            <a:off x="437254" y="5052060"/>
            <a:ext cx="2428118" cy="194310"/>
          </a:xfrm>
          <a:prstGeom prst="rect">
            <a:avLst/>
          </a:prstGeom>
          <a:noFill/>
        </p:spPr>
        <p:txBody>
          <a:bodyPr wrap="none" lIns="0" rIns="0" tIns="0" bIns="0">
            <a:spAutoFit/>
          </a:bodyPr>
          <a:lstStyle/>
          <a:p>
            <a:r>
              <a:rPr sz="1150" b="0">
                <a:solidFill>
                  <a:srgbClr val="2E2E2E"/>
                </a:solidFill>
                <a:latin typeface="Calibri"/>
              </a:rPr>
              <a:t>Mn and is estimated to account for US$</a:t>
            </a:r>
          </a:p>
        </p:txBody>
      </p:sp>
      <p:pic>
        <p:nvPicPr>
          <p:cNvPr id="34" name="Picture 33" descr="lock.png"/>
          <p:cNvPicPr>
            <a:picLocks noChangeAspect="1"/>
          </p:cNvPicPr>
          <p:nvPr/>
        </p:nvPicPr>
        <p:blipFill>
          <a:blip r:embed="rId6"/>
          <a:stretch>
            <a:fillRect/>
          </a:stretch>
        </p:blipFill>
        <p:spPr>
          <a:xfrm>
            <a:off x="2814527" y="5041836"/>
            <a:ext cx="134549" cy="195707"/>
          </a:xfrm>
          <a:prstGeom prst="rect">
            <a:avLst/>
          </a:prstGeom>
        </p:spPr>
      </p:pic>
      <p:sp>
        <p:nvSpPr>
          <p:cNvPr id="35" name="TextBox 34"/>
          <p:cNvSpPr txBox="1"/>
          <p:nvPr/>
        </p:nvSpPr>
        <p:spPr>
          <a:xfrm>
            <a:off x="2989636" y="5052060"/>
            <a:ext cx="3399408" cy="194310"/>
          </a:xfrm>
          <a:prstGeom prst="rect">
            <a:avLst/>
          </a:prstGeom>
          <a:noFill/>
        </p:spPr>
        <p:txBody>
          <a:bodyPr wrap="none" lIns="0" rIns="0" tIns="0" bIns="0">
            <a:spAutoFit/>
          </a:bodyPr>
          <a:lstStyle/>
          <a:p>
            <a:r>
              <a:rPr sz="1150" b="0">
                <a:solidFill>
                  <a:srgbClr val="2E2E2E"/>
                </a:solidFill>
                <a:latin typeface="Calibri"/>
              </a:rPr>
              <a:t>Mn by the end of 2026, reflecting a Y-o-Y growth rate of</a:t>
            </a:r>
          </a:p>
        </p:txBody>
      </p:sp>
      <p:pic>
        <p:nvPicPr>
          <p:cNvPr id="36" name="Picture 35" descr="lock.png"/>
          <p:cNvPicPr>
            <a:picLocks noChangeAspect="1"/>
          </p:cNvPicPr>
          <p:nvPr/>
        </p:nvPicPr>
        <p:blipFill>
          <a:blip r:embed="rId6"/>
          <a:stretch>
            <a:fillRect/>
          </a:stretch>
        </p:blipFill>
        <p:spPr>
          <a:xfrm>
            <a:off x="6338198" y="5041836"/>
            <a:ext cx="134549" cy="195707"/>
          </a:xfrm>
          <a:prstGeom prst="rect">
            <a:avLst/>
          </a:prstGeom>
        </p:spPr>
      </p:pic>
      <p:sp>
        <p:nvSpPr>
          <p:cNvPr id="37" name="TextBox 36"/>
          <p:cNvSpPr txBox="1"/>
          <p:nvPr/>
        </p:nvSpPr>
        <p:spPr>
          <a:xfrm>
            <a:off x="6513307" y="5052060"/>
            <a:ext cx="3716325" cy="194310"/>
          </a:xfrm>
          <a:prstGeom prst="rect">
            <a:avLst/>
          </a:prstGeom>
          <a:noFill/>
        </p:spPr>
        <p:txBody>
          <a:bodyPr wrap="none" lIns="0" rIns="0" tIns="0" bIns="0">
            <a:spAutoFit/>
          </a:bodyPr>
          <a:lstStyle/>
          <a:p>
            <a:r>
              <a:rPr sz="1150" b="0">
                <a:solidFill>
                  <a:srgbClr val="2E2E2E"/>
                </a:solidFill>
                <a:latin typeface="Calibri"/>
              </a:rPr>
              <a:t>. The market in North America is expected to account for US$</a:t>
            </a:r>
          </a:p>
        </p:txBody>
      </p:sp>
      <p:pic>
        <p:nvPicPr>
          <p:cNvPr id="38" name="Picture 37" descr="lock.png"/>
          <p:cNvPicPr>
            <a:picLocks noChangeAspect="1"/>
          </p:cNvPicPr>
          <p:nvPr/>
        </p:nvPicPr>
        <p:blipFill>
          <a:blip r:embed="rId6"/>
          <a:stretch>
            <a:fillRect/>
          </a:stretch>
        </p:blipFill>
        <p:spPr>
          <a:xfrm>
            <a:off x="10178786" y="5041836"/>
            <a:ext cx="134549" cy="195707"/>
          </a:xfrm>
          <a:prstGeom prst="rect">
            <a:avLst/>
          </a:prstGeom>
        </p:spPr>
      </p:pic>
      <p:sp>
        <p:nvSpPr>
          <p:cNvPr id="39" name="TextBox 38"/>
          <p:cNvSpPr txBox="1"/>
          <p:nvPr/>
        </p:nvSpPr>
        <p:spPr>
          <a:xfrm>
            <a:off x="10353895" y="5052060"/>
            <a:ext cx="1038646" cy="194310"/>
          </a:xfrm>
          <a:prstGeom prst="rect">
            <a:avLst/>
          </a:prstGeom>
          <a:noFill/>
        </p:spPr>
        <p:txBody>
          <a:bodyPr wrap="none" lIns="0" rIns="0" tIns="0" bIns="0">
            <a:spAutoFit/>
          </a:bodyPr>
          <a:lstStyle/>
          <a:p>
            <a:r>
              <a:rPr sz="1150" b="0">
                <a:solidFill>
                  <a:srgbClr val="2E2E2E"/>
                </a:solidFill>
                <a:latin typeface="Calibri"/>
              </a:rPr>
              <a:t>Mn by 2036 at a</a:t>
            </a:r>
          </a:p>
        </p:txBody>
      </p:sp>
      <p:sp>
        <p:nvSpPr>
          <p:cNvPr id="40" name="TextBox 39"/>
          <p:cNvSpPr txBox="1"/>
          <p:nvPr/>
        </p:nvSpPr>
        <p:spPr>
          <a:xfrm>
            <a:off x="276225" y="5227320"/>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41" name="Picture 40" descr="lock.png"/>
          <p:cNvPicPr>
            <a:picLocks noChangeAspect="1"/>
          </p:cNvPicPr>
          <p:nvPr/>
        </p:nvPicPr>
        <p:blipFill>
          <a:blip r:embed="rId6"/>
          <a:stretch>
            <a:fillRect/>
          </a:stretch>
        </p:blipFill>
        <p:spPr>
          <a:xfrm>
            <a:off x="789915" y="5217096"/>
            <a:ext cx="134549" cy="195707"/>
          </a:xfrm>
          <a:prstGeom prst="rect">
            <a:avLst/>
          </a:prstGeom>
        </p:spPr>
      </p:pic>
      <p:sp>
        <p:nvSpPr>
          <p:cNvPr id="42" name="TextBox 41"/>
          <p:cNvSpPr txBox="1"/>
          <p:nvPr/>
        </p:nvSpPr>
        <p:spPr>
          <a:xfrm>
            <a:off x="965025" y="522732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3" name="TextBox 42"/>
          <p:cNvSpPr txBox="1"/>
          <p:nvPr/>
        </p:nvSpPr>
        <p:spPr>
          <a:xfrm>
            <a:off x="276225" y="5455157"/>
            <a:ext cx="4313932" cy="194310"/>
          </a:xfrm>
          <a:prstGeom prst="rect">
            <a:avLst/>
          </a:prstGeom>
          <a:noFill/>
        </p:spPr>
        <p:txBody>
          <a:bodyPr wrap="none" lIns="0" rIns="0" tIns="0" bIns="0">
            <a:spAutoFit/>
          </a:bodyPr>
          <a:lstStyle/>
          <a:p>
            <a:r>
              <a:rPr sz="1150" b="0">
                <a:solidFill>
                  <a:srgbClr val="2E2E2E"/>
                </a:solidFill>
                <a:latin typeface="Calibri"/>
              </a:rPr>
              <a:t>North America is expected to create an incremental opportunity of US$</a:t>
            </a:r>
          </a:p>
        </p:txBody>
      </p:sp>
      <p:pic>
        <p:nvPicPr>
          <p:cNvPr id="44" name="Picture 43" descr="lock.png"/>
          <p:cNvPicPr>
            <a:picLocks noChangeAspect="1"/>
          </p:cNvPicPr>
          <p:nvPr/>
        </p:nvPicPr>
        <p:blipFill>
          <a:blip r:embed="rId6"/>
          <a:stretch>
            <a:fillRect/>
          </a:stretch>
        </p:blipFill>
        <p:spPr>
          <a:xfrm>
            <a:off x="4539310" y="5444934"/>
            <a:ext cx="134549" cy="195707"/>
          </a:xfrm>
          <a:prstGeom prst="rect">
            <a:avLst/>
          </a:prstGeom>
        </p:spPr>
      </p:pic>
      <p:sp>
        <p:nvSpPr>
          <p:cNvPr id="45" name="TextBox 44"/>
          <p:cNvSpPr txBox="1"/>
          <p:nvPr/>
        </p:nvSpPr>
        <p:spPr>
          <a:xfrm>
            <a:off x="4714420" y="5455157"/>
            <a:ext cx="6950819"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 2025 to 2036. Absolute $ value for 2026 is estimated to be</a:t>
            </a:r>
          </a:p>
        </p:txBody>
      </p:sp>
      <p:sp>
        <p:nvSpPr>
          <p:cNvPr id="46" name="TextBox 45"/>
          <p:cNvSpPr txBox="1"/>
          <p:nvPr/>
        </p:nvSpPr>
        <p:spPr>
          <a:xfrm>
            <a:off x="276225" y="5630417"/>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47" name="Picture 46" descr="lock.png"/>
          <p:cNvPicPr>
            <a:picLocks noChangeAspect="1"/>
          </p:cNvPicPr>
          <p:nvPr/>
        </p:nvPicPr>
        <p:blipFill>
          <a:blip r:embed="rId6"/>
          <a:stretch>
            <a:fillRect/>
          </a:stretch>
        </p:blipFill>
        <p:spPr>
          <a:xfrm>
            <a:off x="536628" y="5620194"/>
            <a:ext cx="134549" cy="195707"/>
          </a:xfrm>
          <a:prstGeom prst="rect">
            <a:avLst/>
          </a:prstGeom>
        </p:spPr>
      </p:pic>
      <p:sp>
        <p:nvSpPr>
          <p:cNvPr id="48" name="TextBox 47"/>
          <p:cNvSpPr txBox="1"/>
          <p:nvPr/>
        </p:nvSpPr>
        <p:spPr>
          <a:xfrm>
            <a:off x="711737" y="5630417"/>
            <a:ext cx="4567237" cy="194310"/>
          </a:xfrm>
          <a:prstGeom prst="rect">
            <a:avLst/>
          </a:prstGeom>
          <a:noFill/>
        </p:spPr>
        <p:txBody>
          <a:bodyPr wrap="none" lIns="0" rIns="0" tIns="0" bIns="0">
            <a:spAutoFit/>
          </a:bodyPr>
          <a:lstStyle/>
          <a:p>
            <a:r>
              <a:rPr sz="1150" b="0">
                <a:solidFill>
                  <a:srgbClr val="2E2E2E"/>
                </a:solidFill>
                <a:latin typeface="Calibri"/>
              </a:rPr>
              <a:t>Mn. North America industrial air compressor market is projected to register</a:t>
            </a:r>
          </a:p>
        </p:txBody>
      </p:sp>
      <p:pic>
        <p:nvPicPr>
          <p:cNvPr id="49" name="Picture 48" descr="lock.png"/>
          <p:cNvPicPr>
            <a:picLocks noChangeAspect="1"/>
          </p:cNvPicPr>
          <p:nvPr/>
        </p:nvPicPr>
        <p:blipFill>
          <a:blip r:embed="rId6"/>
          <a:stretch>
            <a:fillRect/>
          </a:stretch>
        </p:blipFill>
        <p:spPr>
          <a:xfrm>
            <a:off x="5228128" y="5620194"/>
            <a:ext cx="134549" cy="195707"/>
          </a:xfrm>
          <a:prstGeom prst="rect">
            <a:avLst/>
          </a:prstGeom>
        </p:spPr>
      </p:pic>
      <p:sp>
        <p:nvSpPr>
          <p:cNvPr id="50" name="TextBox 49"/>
          <p:cNvSpPr txBox="1"/>
          <p:nvPr/>
        </p:nvSpPr>
        <p:spPr>
          <a:xfrm>
            <a:off x="5403238" y="5630417"/>
            <a:ext cx="3462163" cy="194310"/>
          </a:xfrm>
          <a:prstGeom prst="rect">
            <a:avLst/>
          </a:prstGeom>
          <a:noFill/>
        </p:spPr>
        <p:txBody>
          <a:bodyPr wrap="none" lIns="0" rIns="0" tIns="0" bIns="0">
            <a:spAutoFit/>
          </a:bodyPr>
          <a:lstStyle/>
          <a:p>
            <a:r>
              <a:rPr sz="1150" b="0">
                <a:solidFill>
                  <a:srgbClr val="2E2E2E"/>
                </a:solidFill>
                <a:latin typeface="Calibri"/>
              </a:rPr>
              <a:t>X increase in volume by the end of forecast period, 2036.</a:t>
            </a:r>
          </a:p>
        </p:txBody>
      </p:sp>
      <p:sp>
        <p:nvSpPr>
          <p:cNvPr id="51" name="TextBox 50"/>
          <p:cNvSpPr txBox="1"/>
          <p:nvPr/>
        </p:nvSpPr>
        <p:spPr>
          <a:xfrm>
            <a:off x="276225" y="5858255"/>
            <a:ext cx="3915147" cy="194310"/>
          </a:xfrm>
          <a:prstGeom prst="rect">
            <a:avLst/>
          </a:prstGeom>
          <a:noFill/>
        </p:spPr>
        <p:txBody>
          <a:bodyPr wrap="none" lIns="0" rIns="0" tIns="0" bIns="0">
            <a:spAutoFit/>
          </a:bodyPr>
          <a:lstStyle/>
          <a:p>
            <a:r>
              <a:rPr sz="1150" b="0">
                <a:solidFill>
                  <a:srgbClr val="2E2E2E"/>
                </a:solidFill>
                <a:latin typeface="Calibri"/>
              </a:rPr>
              <a:t>North America industrial air compressor market volume stood at</a:t>
            </a:r>
          </a:p>
        </p:txBody>
      </p:sp>
      <p:pic>
        <p:nvPicPr>
          <p:cNvPr id="52" name="Picture 51" descr="lock.png"/>
          <p:cNvPicPr>
            <a:picLocks noChangeAspect="1"/>
          </p:cNvPicPr>
          <p:nvPr/>
        </p:nvPicPr>
        <p:blipFill>
          <a:blip r:embed="rId6"/>
          <a:stretch>
            <a:fillRect/>
          </a:stretch>
        </p:blipFill>
        <p:spPr>
          <a:xfrm>
            <a:off x="4140526" y="5848032"/>
            <a:ext cx="134549" cy="195707"/>
          </a:xfrm>
          <a:prstGeom prst="rect">
            <a:avLst/>
          </a:prstGeom>
        </p:spPr>
      </p:pic>
      <p:sp>
        <p:nvSpPr>
          <p:cNvPr id="53" name="TextBox 52"/>
          <p:cNvSpPr txBox="1"/>
          <p:nvPr/>
        </p:nvSpPr>
        <p:spPr>
          <a:xfrm>
            <a:off x="4315635" y="5858255"/>
            <a:ext cx="2343683" cy="194310"/>
          </a:xfrm>
          <a:prstGeom prst="rect">
            <a:avLst/>
          </a:prstGeom>
          <a:noFill/>
        </p:spPr>
        <p:txBody>
          <a:bodyPr wrap="none" lIns="0" rIns="0" tIns="0" bIns="0">
            <a:spAutoFit/>
          </a:bodyPr>
          <a:lstStyle/>
          <a:p>
            <a:r>
              <a:rPr sz="1150" b="0">
                <a:solidFill>
                  <a:srgbClr val="2E2E2E"/>
                </a:solidFill>
                <a:latin typeface="Calibri"/>
              </a:rPr>
              <a:t>Units in 2025 and is expected to reach</a:t>
            </a:r>
          </a:p>
        </p:txBody>
      </p:sp>
      <p:pic>
        <p:nvPicPr>
          <p:cNvPr id="54" name="Picture 53" descr="lock.png"/>
          <p:cNvPicPr>
            <a:picLocks noChangeAspect="1"/>
          </p:cNvPicPr>
          <p:nvPr/>
        </p:nvPicPr>
        <p:blipFill>
          <a:blip r:embed="rId6"/>
          <a:stretch>
            <a:fillRect/>
          </a:stretch>
        </p:blipFill>
        <p:spPr>
          <a:xfrm>
            <a:off x="6608472" y="5848032"/>
            <a:ext cx="134549" cy="195707"/>
          </a:xfrm>
          <a:prstGeom prst="rect">
            <a:avLst/>
          </a:prstGeom>
        </p:spPr>
      </p:pic>
      <p:sp>
        <p:nvSpPr>
          <p:cNvPr id="55" name="TextBox 54"/>
          <p:cNvSpPr txBox="1"/>
          <p:nvPr/>
        </p:nvSpPr>
        <p:spPr>
          <a:xfrm>
            <a:off x="6783581" y="5858255"/>
            <a:ext cx="1964563" cy="194310"/>
          </a:xfrm>
          <a:prstGeom prst="rect">
            <a:avLst/>
          </a:prstGeom>
          <a:noFill/>
        </p:spPr>
        <p:txBody>
          <a:bodyPr wrap="none" lIns="0" rIns="0" tIns="0" bIns="0">
            <a:spAutoFit/>
          </a:bodyPr>
          <a:lstStyle/>
          <a:p>
            <a:r>
              <a:rPr sz="1150" b="0">
                <a:solidFill>
                  <a:srgbClr val="2E2E2E"/>
                </a:solidFill>
                <a:latin typeface="Calibri"/>
              </a:rPr>
              <a:t>Units by 2036 end, at a CAGR of</a:t>
            </a:r>
          </a:p>
        </p:txBody>
      </p:sp>
      <p:pic>
        <p:nvPicPr>
          <p:cNvPr id="56" name="Picture 55" descr="lock.png"/>
          <p:cNvPicPr>
            <a:picLocks noChangeAspect="1"/>
          </p:cNvPicPr>
          <p:nvPr/>
        </p:nvPicPr>
        <p:blipFill>
          <a:blip r:embed="rId6"/>
          <a:stretch>
            <a:fillRect/>
          </a:stretch>
        </p:blipFill>
        <p:spPr>
          <a:xfrm>
            <a:off x="8697298" y="5848032"/>
            <a:ext cx="134549" cy="195707"/>
          </a:xfrm>
          <a:prstGeom prst="rect">
            <a:avLst/>
          </a:prstGeom>
        </p:spPr>
      </p:pic>
      <p:sp>
        <p:nvSpPr>
          <p:cNvPr id="57" name="TextBox 56"/>
          <p:cNvSpPr txBox="1"/>
          <p:nvPr/>
        </p:nvSpPr>
        <p:spPr>
          <a:xfrm>
            <a:off x="8872408" y="5858255"/>
            <a:ext cx="2388468" cy="194310"/>
          </a:xfrm>
          <a:prstGeom prst="rect">
            <a:avLst/>
          </a:prstGeom>
          <a:noFill/>
        </p:spPr>
        <p:txBody>
          <a:bodyPr wrap="none" lIns="0" rIns="0" tIns="0" bIns="0">
            <a:spAutoFit/>
          </a:bodyPr>
          <a:lstStyle/>
          <a:p>
            <a:r>
              <a:rPr sz="1150" b="0">
                <a:solidFill>
                  <a:srgbClr val="2E2E2E"/>
                </a:solidFill>
                <a:latin typeface="Calibri"/>
              </a:rPr>
              <a:t>. Value is projected to grow faster than</a:t>
            </a:r>
          </a:p>
        </p:txBody>
      </p:sp>
      <p:sp>
        <p:nvSpPr>
          <p:cNvPr id="58" name="TextBox 57"/>
          <p:cNvSpPr txBox="1"/>
          <p:nvPr/>
        </p:nvSpPr>
        <p:spPr>
          <a:xfrm>
            <a:off x="276225" y="6033515"/>
            <a:ext cx="4708438" cy="194310"/>
          </a:xfrm>
          <a:prstGeom prst="rect">
            <a:avLst/>
          </a:prstGeom>
          <a:noFill/>
        </p:spPr>
        <p:txBody>
          <a:bodyPr wrap="none" lIns="0" rIns="0" tIns="0" bIns="0">
            <a:spAutoFit/>
          </a:bodyPr>
          <a:lstStyle/>
          <a:p>
            <a:r>
              <a:rPr sz="1150" b="0">
                <a:solidFill>
                  <a:srgbClr val="2E2E2E"/>
                </a:solidFill>
                <a:latin typeface="Calibri"/>
              </a:rPr>
              <a:t>volume over the forecast period, owing to an increase in average selling price.</a:t>
            </a:r>
          </a:p>
        </p:txBody>
      </p:sp>
      <p:sp>
        <p:nvSpPr>
          <p:cNvPr id="59" name="lockshield_9"/>
          <p:cNvSpPr/>
          <p:nvPr/>
        </p:nvSpPr>
        <p:spPr>
          <a:xfrm>
            <a:off x="238125" y="1266825"/>
            <a:ext cx="4505325"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lockshield_12"/>
          <p:cNvSpPr/>
          <p:nvPr/>
        </p:nvSpPr>
        <p:spPr>
          <a:xfrm>
            <a:off x="5086350" y="1266825"/>
            <a:ext cx="6858000"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Industrial Air Compressor Market Summary Country Indices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7" name="Rounded Rectangle 6"/>
          <p:cNvSpPr/>
          <p:nvPr/>
        </p:nvSpPr>
        <p:spPr>
          <a:xfrm>
            <a:off x="142875" y="1007261"/>
            <a:ext cx="3933825" cy="2445995"/>
          </a:xfrm>
          <a:prstGeom prst="roundRect">
            <a:avLst>
              <a:gd name="adj" fmla="val 311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9" name="Chart 8"/>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489764"/>
            <a:ext cx="3933825" cy="2436869"/>
          </a:xfrm>
          <a:prstGeom prst="roundRect">
            <a:avLst>
              <a:gd name="adj" fmla="val 312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3565964"/>
          <a:ext cx="3928892" cy="2132070"/>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628648">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28648">
                <a:tc>
                  <a:txBody>
                    <a:bodyPr wrap="none"/>
                    <a:lstStyle/>
                    <a:p>
                      <a:pPr algn="l"/>
                      <a:r>
                        <a:rPr sz="1100" b="1">
                          <a:solidFill>
                            <a:srgbClr val="2E2E2E"/>
                          </a:solidFill>
                          <a:latin typeface="Calibri"/>
                        </a:rPr>
                        <a:t>Canada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62864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3" name="Rounded Rectangle 12"/>
          <p:cNvSpPr/>
          <p:nvPr/>
        </p:nvSpPr>
        <p:spPr>
          <a:xfrm>
            <a:off x="4114800" y="1007261"/>
            <a:ext cx="3933825" cy="4928498"/>
          </a:xfrm>
          <a:prstGeom prst="roundRect">
            <a:avLst>
              <a:gd name="adj" fmla="val 193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5" name="Rectangle 14"/>
          <p:cNvSpPr/>
          <p:nvPr/>
        </p:nvSpPr>
        <p:spPr>
          <a:xfrm>
            <a:off x="4210050" y="1293011"/>
            <a:ext cx="3743325" cy="2546075"/>
          </a:xfrm>
          <a:prstGeom prst="rect">
            <a:avLst/>
          </a:prstGeom>
          <a:solidFill>
            <a:srgbClr val="2A5F8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6" name="Rectangle 15"/>
          <p:cNvSpPr/>
          <p:nvPr/>
        </p:nvSpPr>
        <p:spPr>
          <a:xfrm>
            <a:off x="4210050" y="3839086"/>
            <a:ext cx="2257649" cy="2039523"/>
          </a:xfrm>
          <a:prstGeom prst="rect">
            <a:avLst/>
          </a:prstGeom>
          <a:solidFill>
            <a:srgbClr val="0081E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7" name="Rectangle 16"/>
          <p:cNvSpPr/>
          <p:nvPr/>
        </p:nvSpPr>
        <p:spPr>
          <a:xfrm>
            <a:off x="6467699" y="3839086"/>
            <a:ext cx="1485676" cy="2039523"/>
          </a:xfrm>
          <a:prstGeom prst="rect">
            <a:avLst/>
          </a:prstGeom>
          <a:solidFill>
            <a:srgbClr val="0E2A5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Mexico</a:t>
            </a:r>
          </a:p>
          <a:p>
            <a:pPr algn="ctr"/>
            <a:r>
              <a:rPr sz="1100" b="0">
                <a:solidFill>
                  <a:srgbClr val="FFFFFF"/>
                </a:solidFill>
                <a:latin typeface="Calibri"/>
              </a:rPr>
              <a:t> </a:t>
            </a:r>
          </a:p>
        </p:txBody>
      </p:sp>
      <p:sp>
        <p:nvSpPr>
          <p:cNvPr id="18" name="Rounded Rectangle 17"/>
          <p:cNvSpPr/>
          <p:nvPr/>
        </p:nvSpPr>
        <p:spPr>
          <a:xfrm>
            <a:off x="8086725" y="1007261"/>
            <a:ext cx="3933825" cy="2436869"/>
          </a:xfrm>
          <a:prstGeom prst="roundRect">
            <a:avLst>
              <a:gd name="adj" fmla="val 312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20" name="Chart 19"/>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1" name="Rounded Rectangle 20"/>
          <p:cNvSpPr/>
          <p:nvPr/>
        </p:nvSpPr>
        <p:spPr>
          <a:xfrm>
            <a:off x="8086725" y="3471510"/>
            <a:ext cx="3933825" cy="2464249"/>
          </a:xfrm>
          <a:prstGeom prst="roundRect">
            <a:avLst>
              <a:gd name="adj" fmla="val 309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2" name="Table 21"/>
          <p:cNvGraphicFramePr>
            <a:graphicFrameLocks noGrp="1"/>
          </p:cNvGraphicFramePr>
          <p:nvPr/>
        </p:nvGraphicFramePr>
        <p:xfrm>
          <a:off x="8096250" y="3547710"/>
          <a:ext cx="3928892" cy="2159448"/>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Absolute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637774">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37774">
                <a:tc>
                  <a:txBody>
                    <a:bodyPr wrap="none"/>
                    <a:lstStyle/>
                    <a:p>
                      <a:pPr algn="l"/>
                      <a:r>
                        <a:rPr sz="1100" b="1">
                          <a:solidFill>
                            <a:srgbClr val="2E2E2E"/>
                          </a:solidFill>
                          <a:latin typeface="Calibri"/>
                        </a:rPr>
                        <a:t>Canada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637774">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23" name="TextBox 22"/>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24" name="Rounded Rectangle 23"/>
          <p:cNvSpPr/>
          <p:nvPr/>
        </p:nvSpPr>
        <p:spPr>
          <a:xfrm>
            <a:off x="142875" y="6027028"/>
            <a:ext cx="10858500" cy="602372"/>
          </a:xfrm>
          <a:prstGeom prst="roundRect">
            <a:avLst>
              <a:gd name="adj" fmla="val 126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5" name="Rectangle 2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7" name="Picture 26" descr="lock.png"/>
          <p:cNvPicPr>
            <a:picLocks noChangeAspect="1"/>
          </p:cNvPicPr>
          <p:nvPr/>
        </p:nvPicPr>
        <p:blipFill>
          <a:blip r:embed="rId6"/>
          <a:stretch>
            <a:fillRect/>
          </a:stretch>
        </p:blipFill>
        <p:spPr>
          <a:xfrm>
            <a:off x="3188017" y="2125483"/>
            <a:ext cx="183356" cy="266700"/>
          </a:xfrm>
          <a:prstGeom prst="rect">
            <a:avLst/>
          </a:prstGeom>
        </p:spPr>
      </p:pic>
      <p:pic>
        <p:nvPicPr>
          <p:cNvPr id="28" name="Picture 27" descr="lock.png"/>
          <p:cNvPicPr>
            <a:picLocks noChangeAspect="1"/>
          </p:cNvPicPr>
          <p:nvPr/>
        </p:nvPicPr>
        <p:blipFill>
          <a:blip r:embed="rId6"/>
          <a:stretch>
            <a:fillRect/>
          </a:stretch>
        </p:blipFill>
        <p:spPr>
          <a:xfrm>
            <a:off x="2232897" y="4496596"/>
            <a:ext cx="355389" cy="516930"/>
          </a:xfrm>
          <a:prstGeom prst="rect">
            <a:avLst/>
          </a:prstGeom>
        </p:spPr>
      </p:pic>
      <p:pic>
        <p:nvPicPr>
          <p:cNvPr id="29" name="Picture 28" descr="lock.png"/>
          <p:cNvPicPr>
            <a:picLocks noChangeAspect="1"/>
          </p:cNvPicPr>
          <p:nvPr/>
        </p:nvPicPr>
        <p:blipFill>
          <a:blip r:embed="rId6"/>
          <a:stretch>
            <a:fillRect/>
          </a:stretch>
        </p:blipFill>
        <p:spPr>
          <a:xfrm>
            <a:off x="6024086" y="2566048"/>
            <a:ext cx="115252" cy="167639"/>
          </a:xfrm>
          <a:prstGeom prst="rect">
            <a:avLst/>
          </a:prstGeom>
        </p:spPr>
      </p:pic>
      <p:pic>
        <p:nvPicPr>
          <p:cNvPr id="30" name="Picture 29" descr="lock.png"/>
          <p:cNvPicPr>
            <a:picLocks noChangeAspect="1"/>
          </p:cNvPicPr>
          <p:nvPr/>
        </p:nvPicPr>
        <p:blipFill>
          <a:blip r:embed="rId6"/>
          <a:stretch>
            <a:fillRect/>
          </a:stretch>
        </p:blipFill>
        <p:spPr>
          <a:xfrm>
            <a:off x="5281248" y="4858847"/>
            <a:ext cx="115252" cy="167639"/>
          </a:xfrm>
          <a:prstGeom prst="rect">
            <a:avLst/>
          </a:prstGeom>
        </p:spPr>
      </p:pic>
      <p:pic>
        <p:nvPicPr>
          <p:cNvPr id="31" name="Picture 30" descr="lock.png"/>
          <p:cNvPicPr>
            <a:picLocks noChangeAspect="1"/>
          </p:cNvPicPr>
          <p:nvPr/>
        </p:nvPicPr>
        <p:blipFill>
          <a:blip r:embed="rId6"/>
          <a:stretch>
            <a:fillRect/>
          </a:stretch>
        </p:blipFill>
        <p:spPr>
          <a:xfrm>
            <a:off x="7152911" y="4858847"/>
            <a:ext cx="115252" cy="167639"/>
          </a:xfrm>
          <a:prstGeom prst="rect">
            <a:avLst/>
          </a:prstGeom>
        </p:spPr>
      </p:pic>
      <p:pic>
        <p:nvPicPr>
          <p:cNvPr id="32" name="Picture 31" descr="lock.png"/>
          <p:cNvPicPr>
            <a:picLocks noChangeAspect="1"/>
          </p:cNvPicPr>
          <p:nvPr/>
        </p:nvPicPr>
        <p:blipFill>
          <a:blip r:embed="rId6"/>
          <a:stretch>
            <a:fillRect/>
          </a:stretch>
        </p:blipFill>
        <p:spPr>
          <a:xfrm>
            <a:off x="11131867" y="2120920"/>
            <a:ext cx="183356" cy="266700"/>
          </a:xfrm>
          <a:prstGeom prst="rect">
            <a:avLst/>
          </a:prstGeom>
        </p:spPr>
      </p:pic>
      <p:pic>
        <p:nvPicPr>
          <p:cNvPr id="33" name="Picture 32" descr="lock.png"/>
          <p:cNvPicPr>
            <a:picLocks noChangeAspect="1"/>
          </p:cNvPicPr>
          <p:nvPr/>
        </p:nvPicPr>
        <p:blipFill>
          <a:blip r:embed="rId6"/>
          <a:stretch>
            <a:fillRect/>
          </a:stretch>
        </p:blipFill>
        <p:spPr>
          <a:xfrm>
            <a:off x="10175439" y="4490162"/>
            <a:ext cx="357960" cy="520669"/>
          </a:xfrm>
          <a:prstGeom prst="rect">
            <a:avLst/>
          </a:prstGeom>
        </p:spPr>
      </p:pic>
      <p:sp>
        <p:nvSpPr>
          <p:cNvPr id="34" name="TextBox 33"/>
          <p:cNvSpPr txBox="1"/>
          <p:nvPr/>
        </p:nvSpPr>
        <p:spPr>
          <a:xfrm>
            <a:off x="257175" y="6160574"/>
            <a:ext cx="3745507" cy="186689"/>
          </a:xfrm>
          <a:prstGeom prst="rect">
            <a:avLst/>
          </a:prstGeom>
          <a:noFill/>
        </p:spPr>
        <p:txBody>
          <a:bodyPr wrap="none" lIns="0" rIns="0" tIns="0" bIns="0">
            <a:spAutoFit/>
          </a:bodyPr>
          <a:lstStyle/>
          <a:p>
            <a:r>
              <a:rPr sz="1100" b="0">
                <a:solidFill>
                  <a:srgbClr val="2E2E2E"/>
                </a:solidFill>
                <a:latin typeface="Calibri"/>
              </a:rPr>
              <a:t>The U.S. industrial air compressor market is projected to register</a:t>
            </a:r>
          </a:p>
        </p:txBody>
      </p:sp>
      <p:pic>
        <p:nvPicPr>
          <p:cNvPr id="35" name="Picture 34" descr="lock.png"/>
          <p:cNvPicPr>
            <a:picLocks noChangeAspect="1"/>
          </p:cNvPicPr>
          <p:nvPr/>
        </p:nvPicPr>
        <p:blipFill>
          <a:blip r:embed="rId6"/>
          <a:stretch>
            <a:fillRect/>
          </a:stretch>
        </p:blipFill>
        <p:spPr>
          <a:xfrm>
            <a:off x="3950734" y="6150795"/>
            <a:ext cx="128699" cy="187198"/>
          </a:xfrm>
          <a:prstGeom prst="rect">
            <a:avLst/>
          </a:prstGeom>
        </p:spPr>
      </p:pic>
      <p:sp>
        <p:nvSpPr>
          <p:cNvPr id="36" name="TextBox 35"/>
          <p:cNvSpPr txBox="1"/>
          <p:nvPr/>
        </p:nvSpPr>
        <p:spPr>
          <a:xfrm>
            <a:off x="4118230" y="6160574"/>
            <a:ext cx="4332667" cy="186689"/>
          </a:xfrm>
          <a:prstGeom prst="rect">
            <a:avLst/>
          </a:prstGeom>
          <a:noFill/>
        </p:spPr>
        <p:txBody>
          <a:bodyPr wrap="none" lIns="0" rIns="0" tIns="0" bIns="0">
            <a:spAutoFit/>
          </a:bodyPr>
          <a:lstStyle/>
          <a:p>
            <a:r>
              <a:rPr sz="1100" b="0">
                <a:solidFill>
                  <a:srgbClr val="2E2E2E"/>
                </a:solidFill>
                <a:latin typeface="Calibri"/>
              </a:rPr>
              <a:t>X higher value than Canada in 2036. Mexico posts the highest CAGR Index (</a:t>
            </a:r>
          </a:p>
        </p:txBody>
      </p:sp>
      <p:pic>
        <p:nvPicPr>
          <p:cNvPr id="37" name="Picture 36" descr="lock.png"/>
          <p:cNvPicPr>
            <a:picLocks noChangeAspect="1"/>
          </p:cNvPicPr>
          <p:nvPr/>
        </p:nvPicPr>
        <p:blipFill>
          <a:blip r:embed="rId6"/>
          <a:stretch>
            <a:fillRect/>
          </a:stretch>
        </p:blipFill>
        <p:spPr>
          <a:xfrm>
            <a:off x="8398949" y="6150795"/>
            <a:ext cx="128699" cy="187198"/>
          </a:xfrm>
          <a:prstGeom prst="rect">
            <a:avLst/>
          </a:prstGeom>
        </p:spPr>
      </p:pic>
      <p:sp>
        <p:nvSpPr>
          <p:cNvPr id="38" name="TextBox 37"/>
          <p:cNvSpPr txBox="1"/>
          <p:nvPr/>
        </p:nvSpPr>
        <p:spPr>
          <a:xfrm>
            <a:off x="8566444"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39" name="Picture 38" descr="lock.png"/>
          <p:cNvPicPr>
            <a:picLocks noChangeAspect="1"/>
          </p:cNvPicPr>
          <p:nvPr/>
        </p:nvPicPr>
        <p:blipFill>
          <a:blip r:embed="rId6"/>
          <a:stretch>
            <a:fillRect/>
          </a:stretch>
        </p:blipFill>
        <p:spPr>
          <a:xfrm>
            <a:off x="9304476" y="6150795"/>
            <a:ext cx="128699" cy="187198"/>
          </a:xfrm>
          <a:prstGeom prst="rect">
            <a:avLst/>
          </a:prstGeom>
        </p:spPr>
      </p:pic>
      <p:sp>
        <p:nvSpPr>
          <p:cNvPr id="40" name="TextBox 39"/>
          <p:cNvSpPr txBox="1"/>
          <p:nvPr/>
        </p:nvSpPr>
        <p:spPr>
          <a:xfrm>
            <a:off x="9471972" y="6160574"/>
            <a:ext cx="1069106" cy="186689"/>
          </a:xfrm>
          <a:prstGeom prst="rect">
            <a:avLst/>
          </a:prstGeom>
          <a:noFill/>
        </p:spPr>
        <p:txBody>
          <a:bodyPr wrap="none" lIns="0" rIns="0" tIns="0" bIns="0">
            <a:spAutoFit/>
          </a:bodyPr>
          <a:lstStyle/>
          <a:p>
            <a:r>
              <a:rPr sz="1100" b="0">
                <a:solidFill>
                  <a:srgbClr val="2E2E2E"/>
                </a:solidFill>
                <a:latin typeface="Calibri"/>
              </a:rPr>
              <a:t>against the North</a:t>
            </a:r>
          </a:p>
        </p:txBody>
      </p:sp>
      <p:sp>
        <p:nvSpPr>
          <p:cNvPr id="41" name="TextBox 40"/>
          <p:cNvSpPr txBox="1"/>
          <p:nvPr/>
        </p:nvSpPr>
        <p:spPr>
          <a:xfrm>
            <a:off x="257175" y="6328214"/>
            <a:ext cx="4080842" cy="186689"/>
          </a:xfrm>
          <a:prstGeom prst="rect">
            <a:avLst/>
          </a:prstGeom>
          <a:noFill/>
        </p:spPr>
        <p:txBody>
          <a:bodyPr wrap="none" lIns="0" rIns="0" tIns="0" bIns="0">
            <a:spAutoFit/>
          </a:bodyPr>
          <a:lstStyle/>
          <a:p>
            <a:r>
              <a:rPr sz="1100" b="0">
                <a:solidFill>
                  <a:srgbClr val="2E2E2E"/>
                </a:solidFill>
                <a:latin typeface="Calibri"/>
              </a:rPr>
              <a:t>America benchmark, while U.S. offers the largest absolute opportunity</a:t>
            </a:r>
          </a:p>
        </p:txBody>
      </p:sp>
      <p:pic>
        <p:nvPicPr>
          <p:cNvPr id="42" name="Picture 41" descr="lock.png"/>
          <p:cNvPicPr>
            <a:picLocks noChangeAspect="1"/>
          </p:cNvPicPr>
          <p:nvPr/>
        </p:nvPicPr>
        <p:blipFill>
          <a:blip r:embed="rId6"/>
          <a:stretch>
            <a:fillRect/>
          </a:stretch>
        </p:blipFill>
        <p:spPr>
          <a:xfrm>
            <a:off x="4286068" y="6318435"/>
            <a:ext cx="128699" cy="187198"/>
          </a:xfrm>
          <a:prstGeom prst="rect">
            <a:avLst/>
          </a:prstGeom>
        </p:spPr>
      </p:pic>
      <p:sp>
        <p:nvSpPr>
          <p:cNvPr id="43" name="TextBox 42"/>
          <p:cNvSpPr txBox="1"/>
          <p:nvPr/>
        </p:nvSpPr>
        <p:spPr>
          <a:xfrm>
            <a:off x="4453564"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44" name="Picture 43" descr="lock.png"/>
          <p:cNvPicPr>
            <a:picLocks noChangeAspect="1"/>
          </p:cNvPicPr>
          <p:nvPr/>
        </p:nvPicPr>
        <p:blipFill>
          <a:blip r:embed="rId6"/>
          <a:stretch>
            <a:fillRect/>
          </a:stretch>
        </p:blipFill>
        <p:spPr>
          <a:xfrm>
            <a:off x="7713563" y="6318435"/>
            <a:ext cx="128699" cy="187198"/>
          </a:xfrm>
          <a:prstGeom prst="rect">
            <a:avLst/>
          </a:prstGeom>
        </p:spPr>
      </p:pic>
      <p:sp>
        <p:nvSpPr>
          <p:cNvPr id="45" name="TextBox 44"/>
          <p:cNvSpPr txBox="1"/>
          <p:nvPr/>
        </p:nvSpPr>
        <p:spPr>
          <a:xfrm>
            <a:off x="7881058" y="6328214"/>
            <a:ext cx="1973336" cy="186689"/>
          </a:xfrm>
          <a:prstGeom prst="rect">
            <a:avLst/>
          </a:prstGeom>
          <a:noFill/>
        </p:spPr>
        <p:txBody>
          <a:bodyPr wrap="none" lIns="0" rIns="0" tIns="0" bIns="0">
            <a:spAutoFit/>
          </a:bodyPr>
          <a:lstStyle/>
          <a:p>
            <a:r>
              <a:rPr sz="1100" b="0">
                <a:solidFill>
                  <a:srgbClr val="2E2E2E"/>
                </a:solidFill>
                <a:latin typeface="Calibri"/>
              </a:rPr>
              <a:t>of the North America increment).</a:t>
            </a:r>
          </a:p>
        </p:txBody>
      </p:sp>
      <p:sp>
        <p:nvSpPr>
          <p:cNvPr id="46" name="lockshield_9"/>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ockshield_20"/>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7" name="Rounded Rectangle 6"/>
          <p:cNvSpPr/>
          <p:nvPr/>
        </p:nvSpPr>
        <p:spPr>
          <a:xfrm>
            <a:off x="142875" y="981075"/>
            <a:ext cx="11906250" cy="1743075"/>
          </a:xfrm>
          <a:prstGeom prst="roundRect">
            <a:avLst>
              <a:gd name="adj" fmla="val 4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E2A5C"/>
                </a:solidFill>
                <a:latin typeface="Calibri"/>
              </a:rPr>
              <a:t>Market Overview</a:t>
            </a:r>
          </a:p>
        </p:txBody>
      </p:sp>
      <p:sp>
        <p:nvSpPr>
          <p:cNvPr id="9" name="Rectangle 8"/>
          <p:cNvSpPr/>
          <p:nvPr/>
        </p:nvSpPr>
        <p:spPr>
          <a:xfrm>
            <a:off x="276225" y="13049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11639550"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1" name="Rounded Rectangle 10"/>
          <p:cNvSpPr/>
          <p:nvPr/>
        </p:nvSpPr>
        <p:spPr>
          <a:xfrm>
            <a:off x="142875" y="2857500"/>
            <a:ext cx="11906250" cy="1628775"/>
          </a:xfrm>
          <a:prstGeom prst="roundRect">
            <a:avLst>
              <a:gd name="adj" fmla="val 46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943225"/>
            <a:ext cx="11639550" cy="209550"/>
          </a:xfrm>
          <a:prstGeom prst="rect">
            <a:avLst/>
          </a:prstGeom>
          <a:noFill/>
        </p:spPr>
        <p:txBody>
          <a:bodyPr wrap="square" lIns="0" rIns="19050" tIns="9525" bIns="9525">
            <a:spAutoFit/>
          </a:bodyPr>
          <a:lstStyle/>
          <a:p>
            <a:pPr algn="l"/>
            <a:r>
              <a:rPr sz="1300" b="1">
                <a:solidFill>
                  <a:srgbClr val="0E2A5C"/>
                </a:solidFill>
                <a:latin typeface="Calibri"/>
              </a:rPr>
              <a:t>Competitive Landscape</a:t>
            </a:r>
          </a:p>
        </p:txBody>
      </p:sp>
      <p:sp>
        <p:nvSpPr>
          <p:cNvPr id="13" name="Rectangle 12"/>
          <p:cNvSpPr/>
          <p:nvPr/>
        </p:nvSpPr>
        <p:spPr>
          <a:xfrm>
            <a:off x="276225" y="31813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267075"/>
            <a:ext cx="11639550" cy="11430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5" name="Rounded Rectangle 14"/>
          <p:cNvSpPr/>
          <p:nvPr/>
        </p:nvSpPr>
        <p:spPr>
          <a:xfrm>
            <a:off x="142875" y="4619625"/>
            <a:ext cx="3943350" cy="1990725"/>
          </a:xfrm>
          <a:prstGeom prst="roundRect">
            <a:avLst>
              <a:gd name="adj" fmla="val 382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705350"/>
            <a:ext cx="3676650" cy="209550"/>
          </a:xfrm>
          <a:prstGeom prst="rect">
            <a:avLst/>
          </a:prstGeom>
          <a:noFill/>
        </p:spPr>
        <p:txBody>
          <a:bodyPr wrap="square" lIns="0" rIns="19050" tIns="9525" bIns="9525">
            <a:spAutoFit/>
          </a:bodyPr>
          <a:lstStyle/>
          <a:p>
            <a:pPr algn="l"/>
            <a:r>
              <a:rPr sz="1300" b="1">
                <a:solidFill>
                  <a:srgbClr val="0E2A5C"/>
                </a:solidFill>
                <a:latin typeface="Calibri"/>
              </a:rPr>
              <a:t>Drivers</a:t>
            </a:r>
          </a:p>
        </p:txBody>
      </p:sp>
      <p:sp>
        <p:nvSpPr>
          <p:cNvPr id="17" name="Rectangle 16"/>
          <p:cNvSpPr/>
          <p:nvPr/>
        </p:nvSpPr>
        <p:spPr>
          <a:xfrm>
            <a:off x="276225" y="4943475"/>
            <a:ext cx="36766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029200"/>
            <a:ext cx="3676650"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4238625" y="4619625"/>
            <a:ext cx="3819525" cy="1990725"/>
          </a:xfrm>
          <a:prstGeom prst="roundRect">
            <a:avLst>
              <a:gd name="adj" fmla="val 382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71975" y="4705350"/>
            <a:ext cx="3552825" cy="209550"/>
          </a:xfrm>
          <a:prstGeom prst="rect">
            <a:avLst/>
          </a:prstGeom>
          <a:noFill/>
        </p:spPr>
        <p:txBody>
          <a:bodyPr wrap="square" lIns="0" rIns="19050" tIns="9525" bIns="9525">
            <a:spAutoFit/>
          </a:bodyPr>
          <a:lstStyle/>
          <a:p>
            <a:pPr algn="l"/>
            <a:r>
              <a:rPr sz="1300" b="1">
                <a:solidFill>
                  <a:srgbClr val="0E2A5C"/>
                </a:solidFill>
                <a:latin typeface="Calibri"/>
              </a:rPr>
              <a:t>Restraints</a:t>
            </a:r>
          </a:p>
        </p:txBody>
      </p:sp>
      <p:sp>
        <p:nvSpPr>
          <p:cNvPr id="21" name="Rectangle 20"/>
          <p:cNvSpPr/>
          <p:nvPr/>
        </p:nvSpPr>
        <p:spPr>
          <a:xfrm>
            <a:off x="4371975" y="4943475"/>
            <a:ext cx="35528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1975"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8210550" y="4619625"/>
            <a:ext cx="3819525" cy="1990725"/>
          </a:xfrm>
          <a:prstGeom prst="roundRect">
            <a:avLst>
              <a:gd name="adj" fmla="val 382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43900" y="4705350"/>
            <a:ext cx="3552825" cy="209550"/>
          </a:xfrm>
          <a:prstGeom prst="rect">
            <a:avLst/>
          </a:prstGeom>
          <a:noFill/>
        </p:spPr>
        <p:txBody>
          <a:bodyPr wrap="square" lIns="0" rIns="19050" tIns="9525" bIns="9525">
            <a:spAutoFit/>
          </a:bodyPr>
          <a:lstStyle/>
          <a:p>
            <a:pPr algn="l"/>
            <a:r>
              <a:rPr sz="1300" b="1">
                <a:solidFill>
                  <a:srgbClr val="0E2A5C"/>
                </a:solidFill>
                <a:latin typeface="Calibri"/>
              </a:rPr>
              <a:t>Trends</a:t>
            </a:r>
          </a:p>
        </p:txBody>
      </p:sp>
      <p:sp>
        <p:nvSpPr>
          <p:cNvPr id="25" name="Rectangle 24"/>
          <p:cNvSpPr/>
          <p:nvPr/>
        </p:nvSpPr>
        <p:spPr>
          <a:xfrm>
            <a:off x="8343900" y="4943475"/>
            <a:ext cx="35528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43900"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Mix shifting toward 'Steam Turbine-Driven' and higher-growth tiers.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Mexico outpacing the North America average.</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Demand broadening across 6 driver type categories.</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9" name="TextBox 28"/>
          <p:cNvSpPr txBox="1"/>
          <p:nvPr/>
        </p:nvSpPr>
        <p:spPr>
          <a:xfrm>
            <a:off x="276225" y="1400175"/>
            <a:ext cx="3774516" cy="194310"/>
          </a:xfrm>
          <a:prstGeom prst="rect">
            <a:avLst/>
          </a:prstGeom>
          <a:noFill/>
        </p:spPr>
        <p:txBody>
          <a:bodyPr wrap="none" lIns="0" rIns="0" tIns="0" bIns="0">
            <a:spAutoFit/>
          </a:bodyPr>
          <a:lstStyle/>
          <a:p>
            <a:r>
              <a:rPr sz="1150" b="0">
                <a:solidFill>
                  <a:srgbClr val="2E2E2E"/>
                </a:solidFill>
                <a:latin typeface="Calibri"/>
              </a:rPr>
              <a:t>Global industrial air compressor market is expected to witness</a:t>
            </a:r>
          </a:p>
        </p:txBody>
      </p:sp>
      <p:pic>
        <p:nvPicPr>
          <p:cNvPr id="30" name="Picture 29" descr="lock.png"/>
          <p:cNvPicPr>
            <a:picLocks noChangeAspect="1"/>
          </p:cNvPicPr>
          <p:nvPr/>
        </p:nvPicPr>
        <p:blipFill>
          <a:blip r:embed="rId4"/>
          <a:stretch>
            <a:fillRect/>
          </a:stretch>
        </p:blipFill>
        <p:spPr>
          <a:xfrm>
            <a:off x="3999895" y="1389951"/>
            <a:ext cx="134549" cy="195707"/>
          </a:xfrm>
          <a:prstGeom prst="rect">
            <a:avLst/>
          </a:prstGeom>
        </p:spPr>
      </p:pic>
      <p:sp>
        <p:nvSpPr>
          <p:cNvPr id="31" name="TextBox 30"/>
          <p:cNvSpPr txBox="1"/>
          <p:nvPr/>
        </p:nvSpPr>
        <p:spPr>
          <a:xfrm>
            <a:off x="4175005" y="1400175"/>
            <a:ext cx="5663183" cy="194310"/>
          </a:xfrm>
          <a:prstGeom prst="rect">
            <a:avLst/>
          </a:prstGeom>
          <a:noFill/>
        </p:spPr>
        <p:txBody>
          <a:bodyPr wrap="none" lIns="0" rIns="0" tIns="0" bIns="0">
            <a:spAutoFit/>
          </a:bodyPr>
          <a:lstStyle/>
          <a:p>
            <a:r>
              <a:rPr sz="1150" b="0">
                <a:solidFill>
                  <a:srgbClr val="2E2E2E"/>
                </a:solidFill>
                <a:latin typeface="Calibri"/>
              </a:rPr>
              <a:t>X increase in revenue by 2036 end. Global industrial air compressor market accounted for US$</a:t>
            </a:r>
          </a:p>
        </p:txBody>
      </p:sp>
      <p:pic>
        <p:nvPicPr>
          <p:cNvPr id="32" name="Picture 31" descr="lock.png"/>
          <p:cNvPicPr>
            <a:picLocks noChangeAspect="1"/>
          </p:cNvPicPr>
          <p:nvPr/>
        </p:nvPicPr>
        <p:blipFill>
          <a:blip r:embed="rId4"/>
          <a:stretch>
            <a:fillRect/>
          </a:stretch>
        </p:blipFill>
        <p:spPr>
          <a:xfrm>
            <a:off x="9787342" y="1389951"/>
            <a:ext cx="134549" cy="195707"/>
          </a:xfrm>
          <a:prstGeom prst="rect">
            <a:avLst/>
          </a:prstGeom>
        </p:spPr>
      </p:pic>
      <p:sp>
        <p:nvSpPr>
          <p:cNvPr id="33" name="TextBox 32"/>
          <p:cNvSpPr txBox="1"/>
          <p:nvPr/>
        </p:nvSpPr>
        <p:spPr>
          <a:xfrm>
            <a:off x="9962451" y="1400175"/>
            <a:ext cx="1297942" cy="194310"/>
          </a:xfrm>
          <a:prstGeom prst="rect">
            <a:avLst/>
          </a:prstGeom>
          <a:noFill/>
        </p:spPr>
        <p:txBody>
          <a:bodyPr wrap="none" lIns="0" rIns="0" tIns="0" bIns="0">
            <a:spAutoFit/>
          </a:bodyPr>
          <a:lstStyle/>
          <a:p>
            <a:r>
              <a:rPr sz="1150" b="0">
                <a:solidFill>
                  <a:srgbClr val="2E2E2E"/>
                </a:solidFill>
                <a:latin typeface="Calibri"/>
              </a:rPr>
              <a:t>Mn in 2025, which is</a:t>
            </a:r>
          </a:p>
        </p:txBody>
      </p:sp>
      <p:sp>
        <p:nvSpPr>
          <p:cNvPr id="34" name="TextBox 33"/>
          <p:cNvSpPr txBox="1"/>
          <p:nvPr/>
        </p:nvSpPr>
        <p:spPr>
          <a:xfrm>
            <a:off x="276225" y="1575435"/>
            <a:ext cx="1737518" cy="194310"/>
          </a:xfrm>
          <a:prstGeom prst="rect">
            <a:avLst/>
          </a:prstGeom>
          <a:noFill/>
        </p:spPr>
        <p:txBody>
          <a:bodyPr wrap="none" lIns="0" rIns="0" tIns="0" bIns="0">
            <a:spAutoFit/>
          </a:bodyPr>
          <a:lstStyle/>
          <a:p>
            <a:r>
              <a:rPr sz="1150" b="0">
                <a:solidFill>
                  <a:srgbClr val="2E2E2E"/>
                </a:solidFill>
                <a:latin typeface="Calibri"/>
              </a:rPr>
              <a:t>expected to increase to US$</a:t>
            </a:r>
          </a:p>
        </p:txBody>
      </p:sp>
      <p:pic>
        <p:nvPicPr>
          <p:cNvPr id="35" name="Picture 34" descr="lock.png"/>
          <p:cNvPicPr>
            <a:picLocks noChangeAspect="1"/>
          </p:cNvPicPr>
          <p:nvPr/>
        </p:nvPicPr>
        <p:blipFill>
          <a:blip r:embed="rId4"/>
          <a:stretch>
            <a:fillRect/>
          </a:stretch>
        </p:blipFill>
        <p:spPr>
          <a:xfrm>
            <a:off x="1962897" y="1565211"/>
            <a:ext cx="134549" cy="195707"/>
          </a:xfrm>
          <a:prstGeom prst="rect">
            <a:avLst/>
          </a:prstGeom>
        </p:spPr>
      </p:pic>
      <p:sp>
        <p:nvSpPr>
          <p:cNvPr id="36" name="TextBox 35"/>
          <p:cNvSpPr txBox="1"/>
          <p:nvPr/>
        </p:nvSpPr>
        <p:spPr>
          <a:xfrm>
            <a:off x="2138006"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7" name="Picture 36" descr="lock.png"/>
          <p:cNvPicPr>
            <a:picLocks noChangeAspect="1"/>
          </p:cNvPicPr>
          <p:nvPr/>
        </p:nvPicPr>
        <p:blipFill>
          <a:blip r:embed="rId4"/>
          <a:stretch>
            <a:fillRect/>
          </a:stretch>
        </p:blipFill>
        <p:spPr>
          <a:xfrm>
            <a:off x="3614714" y="1565211"/>
            <a:ext cx="134549" cy="195707"/>
          </a:xfrm>
          <a:prstGeom prst="rect">
            <a:avLst/>
          </a:prstGeom>
        </p:spPr>
      </p:pic>
      <p:sp>
        <p:nvSpPr>
          <p:cNvPr id="38" name="TextBox 37"/>
          <p:cNvSpPr txBox="1"/>
          <p:nvPr/>
        </p:nvSpPr>
        <p:spPr>
          <a:xfrm>
            <a:off x="3789824"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9" name="TextBox 38"/>
          <p:cNvSpPr txBox="1"/>
          <p:nvPr/>
        </p:nvSpPr>
        <p:spPr>
          <a:xfrm>
            <a:off x="276225" y="1803273"/>
            <a:ext cx="11616146" cy="194310"/>
          </a:xfrm>
          <a:prstGeom prst="rect">
            <a:avLst/>
          </a:prstGeom>
          <a:noFill/>
        </p:spPr>
        <p:txBody>
          <a:bodyPr wrap="none" lIns="0" rIns="0" tIns="0" bIns="0">
            <a:spAutoFit/>
          </a:bodyPr>
          <a:lstStyle/>
          <a:p>
            <a:r>
              <a:rPr sz="1150" b="0">
                <a:solidFill>
                  <a:srgbClr val="2E2E2E"/>
                </a:solidFill>
                <a:latin typeface="Calibri"/>
              </a:rPr>
              <a:t>The global industrial air compressor market has been analysed on the basis of technology, capacity, compression stage and end use across the globe. U.S. is expected to remain the largest market</a:t>
            </a:r>
          </a:p>
        </p:txBody>
      </p:sp>
      <p:sp>
        <p:nvSpPr>
          <p:cNvPr id="40" name="TextBox 39"/>
          <p:cNvSpPr txBox="1"/>
          <p:nvPr/>
        </p:nvSpPr>
        <p:spPr>
          <a:xfrm>
            <a:off x="276225" y="1978533"/>
            <a:ext cx="6073645" cy="194310"/>
          </a:xfrm>
          <a:prstGeom prst="rect">
            <a:avLst/>
          </a:prstGeom>
          <a:noFill/>
        </p:spPr>
        <p:txBody>
          <a:bodyPr wrap="none" lIns="0" rIns="0" tIns="0" bIns="0">
            <a:spAutoFit/>
          </a:bodyPr>
          <a:lstStyle/>
          <a:p>
            <a:r>
              <a:rPr sz="1150" b="0">
                <a:solidFill>
                  <a:srgbClr val="2E2E2E"/>
                </a:solidFill>
                <a:latin typeface="Calibri"/>
              </a:rPr>
              <a:t>for industrial air compressor, while demand in Mexico is projected to increase at the highest CAGR of</a:t>
            </a:r>
          </a:p>
        </p:txBody>
      </p:sp>
      <p:pic>
        <p:nvPicPr>
          <p:cNvPr id="41" name="Picture 40" descr="lock.png"/>
          <p:cNvPicPr>
            <a:picLocks noChangeAspect="1"/>
          </p:cNvPicPr>
          <p:nvPr/>
        </p:nvPicPr>
        <p:blipFill>
          <a:blip r:embed="rId4"/>
          <a:stretch>
            <a:fillRect/>
          </a:stretch>
        </p:blipFill>
        <p:spPr>
          <a:xfrm>
            <a:off x="6299024" y="1968309"/>
            <a:ext cx="134549" cy="195707"/>
          </a:xfrm>
          <a:prstGeom prst="rect">
            <a:avLst/>
          </a:prstGeom>
        </p:spPr>
      </p:pic>
      <p:sp>
        <p:nvSpPr>
          <p:cNvPr id="42" name="TextBox 41"/>
          <p:cNvSpPr txBox="1"/>
          <p:nvPr/>
        </p:nvSpPr>
        <p:spPr>
          <a:xfrm>
            <a:off x="6474133"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3" name="TextBox 42"/>
          <p:cNvSpPr txBox="1"/>
          <p:nvPr/>
        </p:nvSpPr>
        <p:spPr>
          <a:xfrm>
            <a:off x="276225" y="3276600"/>
            <a:ext cx="5406739" cy="194310"/>
          </a:xfrm>
          <a:prstGeom prst="rect">
            <a:avLst/>
          </a:prstGeom>
          <a:noFill/>
        </p:spPr>
        <p:txBody>
          <a:bodyPr wrap="none" lIns="0" rIns="0" tIns="0" bIns="0">
            <a:spAutoFit/>
          </a:bodyPr>
          <a:lstStyle/>
          <a:p>
            <a:r>
              <a:rPr sz="1150" b="0">
                <a:solidFill>
                  <a:srgbClr val="2E2E2E"/>
                </a:solidFill>
                <a:latin typeface="Calibri"/>
              </a:rPr>
              <a:t>▪ The market is consolidated: the leading driver type category 'Diesel Engine-Driven' holds</a:t>
            </a:r>
          </a:p>
        </p:txBody>
      </p:sp>
      <p:pic>
        <p:nvPicPr>
          <p:cNvPr id="44" name="Picture 43" descr="lock.png"/>
          <p:cNvPicPr>
            <a:picLocks noChangeAspect="1"/>
          </p:cNvPicPr>
          <p:nvPr/>
        </p:nvPicPr>
        <p:blipFill>
          <a:blip r:embed="rId4"/>
          <a:stretch>
            <a:fillRect/>
          </a:stretch>
        </p:blipFill>
        <p:spPr>
          <a:xfrm>
            <a:off x="5632118" y="3266376"/>
            <a:ext cx="134549" cy="195707"/>
          </a:xfrm>
          <a:prstGeom prst="rect">
            <a:avLst/>
          </a:prstGeom>
        </p:spPr>
      </p:pic>
      <p:sp>
        <p:nvSpPr>
          <p:cNvPr id="45" name="TextBox 44"/>
          <p:cNvSpPr txBox="1"/>
          <p:nvPr/>
        </p:nvSpPr>
        <p:spPr>
          <a:xfrm>
            <a:off x="5807227" y="327660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6" name="TextBox 45"/>
          <p:cNvSpPr txBox="1"/>
          <p:nvPr/>
        </p:nvSpPr>
        <p:spPr>
          <a:xfrm>
            <a:off x="276225" y="3504437"/>
            <a:ext cx="4911824" cy="194310"/>
          </a:xfrm>
          <a:prstGeom prst="rect">
            <a:avLst/>
          </a:prstGeom>
          <a:noFill/>
        </p:spPr>
        <p:txBody>
          <a:bodyPr wrap="none" lIns="0" rIns="0" tIns="0" bIns="0">
            <a:spAutoFit/>
          </a:bodyPr>
          <a:lstStyle/>
          <a:p>
            <a:r>
              <a:rPr sz="1150" b="0">
                <a:solidFill>
                  <a:srgbClr val="2E2E2E"/>
                </a:solidFill>
                <a:latin typeface="Calibri"/>
              </a:rPr>
              <a:t>▪ Demand spans 3 countries and 5 segmentation lenses (6 driver type categories).</a:t>
            </a:r>
          </a:p>
        </p:txBody>
      </p:sp>
      <p:sp>
        <p:nvSpPr>
          <p:cNvPr id="47" name="TextBox 46"/>
          <p:cNvSpPr txBox="1"/>
          <p:nvPr/>
        </p:nvSpPr>
        <p:spPr>
          <a:xfrm>
            <a:off x="276225" y="3732275"/>
            <a:ext cx="2288914" cy="194310"/>
          </a:xfrm>
          <a:prstGeom prst="rect">
            <a:avLst/>
          </a:prstGeom>
          <a:noFill/>
        </p:spPr>
        <p:txBody>
          <a:bodyPr wrap="none" lIns="0" rIns="0" tIns="0" bIns="0">
            <a:spAutoFit/>
          </a:bodyPr>
          <a:lstStyle/>
          <a:p>
            <a:r>
              <a:rPr sz="1150" b="0">
                <a:solidFill>
                  <a:srgbClr val="2E2E2E"/>
                </a:solidFill>
                <a:latin typeface="Calibri"/>
              </a:rPr>
              <a:t>▪ U.S. is the largest country market at</a:t>
            </a:r>
          </a:p>
        </p:txBody>
      </p:sp>
      <p:pic>
        <p:nvPicPr>
          <p:cNvPr id="48" name="Picture 47" descr="lock.png"/>
          <p:cNvPicPr>
            <a:picLocks noChangeAspect="1"/>
          </p:cNvPicPr>
          <p:nvPr/>
        </p:nvPicPr>
        <p:blipFill>
          <a:blip r:embed="rId4"/>
          <a:stretch>
            <a:fillRect/>
          </a:stretch>
        </p:blipFill>
        <p:spPr>
          <a:xfrm>
            <a:off x="2514293" y="3722052"/>
            <a:ext cx="134549" cy="195707"/>
          </a:xfrm>
          <a:prstGeom prst="rect">
            <a:avLst/>
          </a:prstGeom>
        </p:spPr>
      </p:pic>
      <p:sp>
        <p:nvSpPr>
          <p:cNvPr id="49" name="TextBox 48"/>
          <p:cNvSpPr txBox="1"/>
          <p:nvPr/>
        </p:nvSpPr>
        <p:spPr>
          <a:xfrm>
            <a:off x="2689402" y="373227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0" name="TextBox 49"/>
          <p:cNvSpPr txBox="1"/>
          <p:nvPr/>
        </p:nvSpPr>
        <p:spPr>
          <a:xfrm>
            <a:off x="276225" y="5038725"/>
            <a:ext cx="2973809" cy="194310"/>
          </a:xfrm>
          <a:prstGeom prst="rect">
            <a:avLst/>
          </a:prstGeom>
          <a:noFill/>
        </p:spPr>
        <p:txBody>
          <a:bodyPr wrap="none" lIns="0" rIns="0" tIns="0" bIns="0">
            <a:spAutoFit/>
          </a:bodyPr>
          <a:lstStyle/>
          <a:p>
            <a:r>
              <a:rPr sz="1150" b="0">
                <a:solidFill>
                  <a:srgbClr val="2E2E2E"/>
                </a:solidFill>
                <a:latin typeface="Calibri"/>
              </a:rPr>
              <a:t>▪ Accelerating uptake of 'Steam Turbine-Driven' (</a:t>
            </a:r>
          </a:p>
        </p:txBody>
      </p:sp>
      <p:pic>
        <p:nvPicPr>
          <p:cNvPr id="51" name="Picture 50" descr="lock.png"/>
          <p:cNvPicPr>
            <a:picLocks noChangeAspect="1"/>
          </p:cNvPicPr>
          <p:nvPr/>
        </p:nvPicPr>
        <p:blipFill>
          <a:blip r:embed="rId4"/>
          <a:stretch>
            <a:fillRect/>
          </a:stretch>
        </p:blipFill>
        <p:spPr>
          <a:xfrm>
            <a:off x="3199188" y="5028501"/>
            <a:ext cx="134549" cy="195707"/>
          </a:xfrm>
          <a:prstGeom prst="rect">
            <a:avLst/>
          </a:prstGeom>
        </p:spPr>
      </p:pic>
      <p:sp>
        <p:nvSpPr>
          <p:cNvPr id="52" name="TextBox 51"/>
          <p:cNvSpPr txBox="1"/>
          <p:nvPr/>
        </p:nvSpPr>
        <p:spPr>
          <a:xfrm>
            <a:off x="3374297" y="503872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3" name="TextBox 52"/>
          <p:cNvSpPr txBox="1"/>
          <p:nvPr/>
        </p:nvSpPr>
        <p:spPr>
          <a:xfrm>
            <a:off x="276225" y="5266563"/>
            <a:ext cx="2139093" cy="194310"/>
          </a:xfrm>
          <a:prstGeom prst="rect">
            <a:avLst/>
          </a:prstGeom>
          <a:noFill/>
        </p:spPr>
        <p:txBody>
          <a:bodyPr wrap="none" lIns="0" rIns="0" tIns="0" bIns="0">
            <a:spAutoFit/>
          </a:bodyPr>
          <a:lstStyle/>
          <a:p>
            <a:r>
              <a:rPr sz="1150" b="0">
                <a:solidFill>
                  <a:srgbClr val="2E2E2E"/>
                </a:solidFill>
                <a:latin typeface="Calibri"/>
              </a:rPr>
              <a:t>▪ Fast-growing demand in Mexico (</a:t>
            </a:r>
          </a:p>
        </p:txBody>
      </p:sp>
      <p:pic>
        <p:nvPicPr>
          <p:cNvPr id="54" name="Picture 53" descr="lock.png"/>
          <p:cNvPicPr>
            <a:picLocks noChangeAspect="1"/>
          </p:cNvPicPr>
          <p:nvPr/>
        </p:nvPicPr>
        <p:blipFill>
          <a:blip r:embed="rId4"/>
          <a:stretch>
            <a:fillRect/>
          </a:stretch>
        </p:blipFill>
        <p:spPr>
          <a:xfrm>
            <a:off x="2364472" y="5256339"/>
            <a:ext cx="134549" cy="195707"/>
          </a:xfrm>
          <a:prstGeom prst="rect">
            <a:avLst/>
          </a:prstGeom>
        </p:spPr>
      </p:pic>
      <p:sp>
        <p:nvSpPr>
          <p:cNvPr id="55" name="TextBox 54"/>
          <p:cNvSpPr txBox="1"/>
          <p:nvPr/>
        </p:nvSpPr>
        <p:spPr>
          <a:xfrm>
            <a:off x="2539582" y="5266563"/>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6" name="TextBox 55"/>
          <p:cNvSpPr txBox="1"/>
          <p:nvPr/>
        </p:nvSpPr>
        <p:spPr>
          <a:xfrm>
            <a:off x="276225" y="5494400"/>
            <a:ext cx="3394843" cy="194310"/>
          </a:xfrm>
          <a:prstGeom prst="rect">
            <a:avLst/>
          </a:prstGeom>
          <a:noFill/>
        </p:spPr>
        <p:txBody>
          <a:bodyPr wrap="none" lIns="0" rIns="0" tIns="0" bIns="0">
            <a:spAutoFit/>
          </a:bodyPr>
          <a:lstStyle/>
          <a:p>
            <a:r>
              <a:rPr sz="1150" b="0">
                <a:solidFill>
                  <a:srgbClr val="2E2E2E"/>
                </a:solidFill>
                <a:latin typeface="Calibri"/>
              </a:rPr>
              <a:t>▪ Momentum in Industrial Air Separation within end use</a:t>
            </a:r>
          </a:p>
        </p:txBody>
      </p:sp>
      <p:sp>
        <p:nvSpPr>
          <p:cNvPr id="57" name="TextBox 56"/>
          <p:cNvSpPr txBox="1"/>
          <p:nvPr/>
        </p:nvSpPr>
        <p:spPr>
          <a:xfrm>
            <a:off x="276225" y="5669660"/>
            <a:ext cx="12041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8" name="Picture 57" descr="lock.png"/>
          <p:cNvPicPr>
            <a:picLocks noChangeAspect="1"/>
          </p:cNvPicPr>
          <p:nvPr/>
        </p:nvPicPr>
        <p:blipFill>
          <a:blip r:embed="rId4"/>
          <a:stretch>
            <a:fillRect/>
          </a:stretch>
        </p:blipFill>
        <p:spPr>
          <a:xfrm>
            <a:off x="345793" y="5659437"/>
            <a:ext cx="134549" cy="195707"/>
          </a:xfrm>
          <a:prstGeom prst="rect">
            <a:avLst/>
          </a:prstGeom>
        </p:spPr>
      </p:pic>
      <p:sp>
        <p:nvSpPr>
          <p:cNvPr id="59" name="TextBox 58"/>
          <p:cNvSpPr txBox="1"/>
          <p:nvPr/>
        </p:nvSpPr>
        <p:spPr>
          <a:xfrm>
            <a:off x="520902" y="566966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0" name="TextBox 59"/>
          <p:cNvSpPr txBox="1"/>
          <p:nvPr/>
        </p:nvSpPr>
        <p:spPr>
          <a:xfrm>
            <a:off x="4371975" y="5038725"/>
            <a:ext cx="2690266" cy="194310"/>
          </a:xfrm>
          <a:prstGeom prst="rect">
            <a:avLst/>
          </a:prstGeom>
          <a:noFill/>
        </p:spPr>
        <p:txBody>
          <a:bodyPr wrap="none" lIns="0" rIns="0" tIns="0" bIns="0">
            <a:spAutoFit/>
          </a:bodyPr>
          <a:lstStyle/>
          <a:p>
            <a:r>
              <a:rPr sz="1150" b="0">
                <a:solidFill>
                  <a:srgbClr val="2E2E2E"/>
                </a:solidFill>
                <a:latin typeface="Calibri"/>
              </a:rPr>
              <a:t>▪ Slower momentum in 'Other Drive Types' (</a:t>
            </a:r>
          </a:p>
        </p:txBody>
      </p:sp>
      <p:pic>
        <p:nvPicPr>
          <p:cNvPr id="61" name="Picture 60" descr="lock.png"/>
          <p:cNvPicPr>
            <a:picLocks noChangeAspect="1"/>
          </p:cNvPicPr>
          <p:nvPr/>
        </p:nvPicPr>
        <p:blipFill>
          <a:blip r:embed="rId4"/>
          <a:stretch>
            <a:fillRect/>
          </a:stretch>
        </p:blipFill>
        <p:spPr>
          <a:xfrm>
            <a:off x="7011395" y="5028501"/>
            <a:ext cx="134549" cy="195707"/>
          </a:xfrm>
          <a:prstGeom prst="rect">
            <a:avLst/>
          </a:prstGeom>
        </p:spPr>
      </p:pic>
      <p:sp>
        <p:nvSpPr>
          <p:cNvPr id="62" name="TextBox 61"/>
          <p:cNvSpPr txBox="1"/>
          <p:nvPr/>
        </p:nvSpPr>
        <p:spPr>
          <a:xfrm>
            <a:off x="7186505" y="503872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3" name="TextBox 62"/>
          <p:cNvSpPr txBox="1"/>
          <p:nvPr/>
        </p:nvSpPr>
        <p:spPr>
          <a:xfrm>
            <a:off x="4371975" y="5266563"/>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4" name="TextBox 63"/>
          <p:cNvSpPr txBox="1"/>
          <p:nvPr/>
        </p:nvSpPr>
        <p:spPr>
          <a:xfrm>
            <a:off x="4371975" y="544182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5" name="Picture 64" descr="lock.png"/>
          <p:cNvPicPr>
            <a:picLocks noChangeAspect="1"/>
          </p:cNvPicPr>
          <p:nvPr/>
        </p:nvPicPr>
        <p:blipFill>
          <a:blip r:embed="rId4"/>
          <a:stretch>
            <a:fillRect/>
          </a:stretch>
        </p:blipFill>
        <p:spPr>
          <a:xfrm>
            <a:off x="4883401" y="5431599"/>
            <a:ext cx="134549" cy="195707"/>
          </a:xfrm>
          <a:prstGeom prst="rect">
            <a:avLst/>
          </a:prstGeom>
        </p:spPr>
      </p:pic>
      <p:sp>
        <p:nvSpPr>
          <p:cNvPr id="66" name="TextBox 65"/>
          <p:cNvSpPr txBox="1"/>
          <p:nvPr/>
        </p:nvSpPr>
        <p:spPr>
          <a:xfrm>
            <a:off x="5058510" y="544182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7" name="TextBox 66"/>
          <p:cNvSpPr txBox="1"/>
          <p:nvPr/>
        </p:nvSpPr>
        <p:spPr>
          <a:xfrm>
            <a:off x="4371975" y="5669660"/>
            <a:ext cx="3206576" cy="194310"/>
          </a:xfrm>
          <a:prstGeom prst="rect">
            <a:avLst/>
          </a:prstGeom>
          <a:noFill/>
        </p:spPr>
        <p:txBody>
          <a:bodyPr wrap="none" lIns="0" rIns="0" tIns="0" bIns="0">
            <a:spAutoFit/>
          </a:bodyPr>
          <a:lstStyle/>
          <a:p>
            <a:r>
              <a:rPr sz="1150" b="0">
                <a:solidFill>
                  <a:srgbClr val="2E2E2E"/>
                </a:solidFill>
                <a:latin typeface="Calibri"/>
              </a:rPr>
              <a:t>▪ Value concentration in 'Diesel Engine-Driven' raises</a:t>
            </a:r>
          </a:p>
        </p:txBody>
      </p:sp>
      <p:sp>
        <p:nvSpPr>
          <p:cNvPr id="68" name="TextBox 67"/>
          <p:cNvSpPr txBox="1"/>
          <p:nvPr/>
        </p:nvSpPr>
        <p:spPr>
          <a:xfrm>
            <a:off x="4371975" y="5844920"/>
            <a:ext cx="1604305" cy="194310"/>
          </a:xfrm>
          <a:prstGeom prst="rect">
            <a:avLst/>
          </a:prstGeom>
          <a:noFill/>
        </p:spPr>
        <p:txBody>
          <a:bodyPr wrap="none" lIns="0" rIns="0" tIns="0" bIns="0">
            <a:spAutoFit/>
          </a:bodyPr>
          <a:lstStyle/>
          <a:p>
            <a:r>
              <a:rPr sz="1150" b="0">
                <a:solidFill>
                  <a:srgbClr val="2E2E2E"/>
                </a:solidFill>
                <a:latin typeface="Calibri"/>
              </a:rPr>
              <a:t>barriers for new entrants.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7" name="Rounded Rectangle 6"/>
          <p:cNvSpPr/>
          <p:nvPr/>
        </p:nvSpPr>
        <p:spPr>
          <a:xfrm>
            <a:off x="142875" y="981075"/>
            <a:ext cx="58769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Recent Developments &amp; Key Industry Activities</a:t>
            </a:r>
          </a:p>
        </p:txBody>
      </p:sp>
      <p:sp>
        <p:nvSpPr>
          <p:cNvPr id="9" name="Rectangle 8"/>
          <p:cNvSpPr/>
          <p:nvPr/>
        </p:nvSpPr>
        <p:spPr>
          <a:xfrm>
            <a:off x="276225"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Capacity and product development are concentrating in 'Steam Turbine-Driven' and Mexico.</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Portfolio expansion tracks the shift toward higher-growth driver type categories.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Commercial focus is intensifying across U.S. and Mexico.</a:t>
            </a:r>
          </a:p>
        </p:txBody>
      </p:sp>
      <p:sp>
        <p:nvSpPr>
          <p:cNvPr id="11" name="Rounded Rectangle 10"/>
          <p:cNvSpPr/>
          <p:nvPr/>
        </p:nvSpPr>
        <p:spPr>
          <a:xfrm>
            <a:off x="6172200" y="981075"/>
            <a:ext cx="58769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3" name="Rectangle 12"/>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p:txBody>
      </p:sp>
      <p:sp>
        <p:nvSpPr>
          <p:cNvPr id="15" name="Rounded Rectangle 14"/>
          <p:cNvSpPr/>
          <p:nvPr/>
        </p:nvSpPr>
        <p:spPr>
          <a:xfrm>
            <a:off x="142875" y="2895600"/>
            <a:ext cx="5876925" cy="1285875"/>
          </a:xfrm>
          <a:prstGeom prst="roundRect">
            <a:avLst>
              <a:gd name="adj" fmla="val 592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E2A5C"/>
                </a:solidFill>
                <a:latin typeface="Calibri"/>
              </a:rPr>
              <a:t>Strategic Acquisitions &amp; New Investments</a:t>
            </a:r>
          </a:p>
        </p:txBody>
      </p:sp>
      <p:sp>
        <p:nvSpPr>
          <p:cNvPr id="17" name="Rectangle 16"/>
          <p:cNvSpPr/>
          <p:nvPr/>
        </p:nvSpPr>
        <p:spPr>
          <a:xfrm>
            <a:off x="276225" y="321945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p:txBody>
      </p:sp>
      <p:sp>
        <p:nvSpPr>
          <p:cNvPr id="19" name="Rounded Rectangle 18"/>
          <p:cNvSpPr/>
          <p:nvPr/>
        </p:nvSpPr>
        <p:spPr>
          <a:xfrm>
            <a:off x="6172200" y="2895600"/>
            <a:ext cx="5876925" cy="1285875"/>
          </a:xfrm>
          <a:prstGeom prst="roundRect">
            <a:avLst>
              <a:gd name="adj" fmla="val 592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E2A5C"/>
                </a:solidFill>
                <a:latin typeface="Calibri"/>
              </a:rPr>
              <a:t>Substantial Investment in R&amp;D</a:t>
            </a:r>
          </a:p>
        </p:txBody>
      </p:sp>
      <p:sp>
        <p:nvSpPr>
          <p:cNvPr id="21" name="Rectangle 20"/>
          <p:cNvSpPr/>
          <p:nvPr/>
        </p:nvSpPr>
        <p:spPr>
          <a:xfrm>
            <a:off x="6305550" y="321945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3305175"/>
            <a:ext cx="5610225" cy="8001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23" name="Rounded Rectangle 22"/>
          <p:cNvSpPr/>
          <p:nvPr/>
        </p:nvSpPr>
        <p:spPr>
          <a:xfrm>
            <a:off x="142875" y="4314825"/>
            <a:ext cx="11906250" cy="2295525"/>
          </a:xfrm>
          <a:prstGeom prst="roundRect">
            <a:avLst>
              <a:gd name="adj" fmla="val 33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driver type share (2036)</a:t>
            </a:r>
          </a:p>
        </p:txBody>
      </p:sp>
      <p:graphicFrame>
        <p:nvGraphicFramePr>
          <p:cNvPr id="25" name="Chart 24"/>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6" name="TextBox 25"/>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5"/>
          <a:stretch>
            <a:fillRect/>
          </a:stretch>
        </p:blipFill>
        <p:spPr>
          <a:xfrm>
            <a:off x="4135025" y="5284520"/>
            <a:ext cx="382860" cy="556888"/>
          </a:xfrm>
          <a:prstGeom prst="rect">
            <a:avLst/>
          </a:prstGeom>
        </p:spPr>
      </p:pic>
      <p:sp>
        <p:nvSpPr>
          <p:cNvPr id="30" name="TextBox 29"/>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1" name="Picture 30" descr="lock.png"/>
          <p:cNvPicPr>
            <a:picLocks noChangeAspect="1"/>
          </p:cNvPicPr>
          <p:nvPr/>
        </p:nvPicPr>
        <p:blipFill>
          <a:blip r:embed="rId5"/>
          <a:stretch>
            <a:fillRect/>
          </a:stretch>
        </p:blipFill>
        <p:spPr>
          <a:xfrm>
            <a:off x="6937714" y="1390396"/>
            <a:ext cx="128699" cy="187198"/>
          </a:xfrm>
          <a:prstGeom prst="rect">
            <a:avLst/>
          </a:prstGeom>
        </p:spPr>
      </p:pic>
      <p:sp>
        <p:nvSpPr>
          <p:cNvPr id="32" name="TextBox 31"/>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3" name="Picture 32" descr="lock.png"/>
          <p:cNvPicPr>
            <a:picLocks noChangeAspect="1"/>
          </p:cNvPicPr>
          <p:nvPr/>
        </p:nvPicPr>
        <p:blipFill>
          <a:blip r:embed="rId5"/>
          <a:stretch>
            <a:fillRect/>
          </a:stretch>
        </p:blipFill>
        <p:spPr>
          <a:xfrm>
            <a:off x="7931645" y="1390396"/>
            <a:ext cx="128699" cy="187198"/>
          </a:xfrm>
          <a:prstGeom prst="rect">
            <a:avLst/>
          </a:prstGeom>
        </p:spPr>
      </p:pic>
      <p:sp>
        <p:nvSpPr>
          <p:cNvPr id="34" name="TextBox 33"/>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5" name="TextBox 34"/>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6" name="Picture 35" descr="lock.png"/>
          <p:cNvPicPr>
            <a:picLocks noChangeAspect="1"/>
          </p:cNvPicPr>
          <p:nvPr/>
        </p:nvPicPr>
        <p:blipFill>
          <a:blip r:embed="rId5"/>
          <a:stretch>
            <a:fillRect/>
          </a:stretch>
        </p:blipFill>
        <p:spPr>
          <a:xfrm>
            <a:off x="7245444" y="1608328"/>
            <a:ext cx="128699" cy="187198"/>
          </a:xfrm>
          <a:prstGeom prst="rect">
            <a:avLst/>
          </a:prstGeom>
        </p:spPr>
      </p:pic>
      <p:sp>
        <p:nvSpPr>
          <p:cNvPr id="37" name="TextBox 36"/>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38" name="TextBox 37"/>
          <p:cNvSpPr txBox="1"/>
          <p:nvPr/>
        </p:nvSpPr>
        <p:spPr>
          <a:xfrm>
            <a:off x="6305550" y="1836039"/>
            <a:ext cx="2218903" cy="186689"/>
          </a:xfrm>
          <a:prstGeom prst="rect">
            <a:avLst/>
          </a:prstGeom>
          <a:noFill/>
        </p:spPr>
        <p:txBody>
          <a:bodyPr wrap="none" lIns="0" rIns="0" tIns="0" bIns="0">
            <a:spAutoFit/>
          </a:bodyPr>
          <a:lstStyle/>
          <a:p>
            <a:r>
              <a:rPr sz="1100" b="0">
                <a:solidFill>
                  <a:srgbClr val="2E2E2E"/>
                </a:solidFill>
                <a:latin typeface="Calibri"/>
              </a:rPr>
              <a:t>▪ Lead category 'Diesel Engine-Driven'</a:t>
            </a:r>
          </a:p>
        </p:txBody>
      </p:sp>
      <p:pic>
        <p:nvPicPr>
          <p:cNvPr id="39" name="Picture 38" descr="lock.png"/>
          <p:cNvPicPr>
            <a:picLocks noChangeAspect="1"/>
          </p:cNvPicPr>
          <p:nvPr/>
        </p:nvPicPr>
        <p:blipFill>
          <a:blip r:embed="rId5"/>
          <a:stretch>
            <a:fillRect/>
          </a:stretch>
        </p:blipFill>
        <p:spPr>
          <a:xfrm>
            <a:off x="8472504" y="1826260"/>
            <a:ext cx="128699" cy="187198"/>
          </a:xfrm>
          <a:prstGeom prst="rect">
            <a:avLst/>
          </a:prstGeom>
        </p:spPr>
      </p:pic>
      <p:sp>
        <p:nvSpPr>
          <p:cNvPr id="40" name="TextBox 39"/>
          <p:cNvSpPr txBox="1"/>
          <p:nvPr/>
        </p:nvSpPr>
        <p:spPr>
          <a:xfrm>
            <a:off x="8640000"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1" name="TextBox 40"/>
          <p:cNvSpPr txBox="1"/>
          <p:nvPr/>
        </p:nvSpPr>
        <p:spPr>
          <a:xfrm>
            <a:off x="6305550" y="2053970"/>
            <a:ext cx="1152053" cy="186689"/>
          </a:xfrm>
          <a:prstGeom prst="rect">
            <a:avLst/>
          </a:prstGeom>
          <a:noFill/>
        </p:spPr>
        <p:txBody>
          <a:bodyPr wrap="none" lIns="0" rIns="0" tIns="0" bIns="0">
            <a:spAutoFit/>
          </a:bodyPr>
          <a:lstStyle/>
          <a:p>
            <a:r>
              <a:rPr sz="1100" b="0">
                <a:solidFill>
                  <a:srgbClr val="2E2E2E"/>
                </a:solidFill>
                <a:latin typeface="Calibri"/>
              </a:rPr>
              <a:t>▪ Lead country U.S.</a:t>
            </a:r>
          </a:p>
        </p:txBody>
      </p:sp>
      <p:pic>
        <p:nvPicPr>
          <p:cNvPr id="42" name="Picture 41" descr="lock.png"/>
          <p:cNvPicPr>
            <a:picLocks noChangeAspect="1"/>
          </p:cNvPicPr>
          <p:nvPr/>
        </p:nvPicPr>
        <p:blipFill>
          <a:blip r:embed="rId5"/>
          <a:stretch>
            <a:fillRect/>
          </a:stretch>
        </p:blipFill>
        <p:spPr>
          <a:xfrm>
            <a:off x="7405655" y="2044192"/>
            <a:ext cx="128699" cy="187198"/>
          </a:xfrm>
          <a:prstGeom prst="rect">
            <a:avLst/>
          </a:prstGeom>
        </p:spPr>
      </p:pic>
      <p:sp>
        <p:nvSpPr>
          <p:cNvPr id="43" name="TextBox 42"/>
          <p:cNvSpPr txBox="1"/>
          <p:nvPr/>
        </p:nvSpPr>
        <p:spPr>
          <a:xfrm>
            <a:off x="7573151"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4" name="TextBox 43"/>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5" name="Picture 44" descr="lock.png"/>
          <p:cNvPicPr>
            <a:picLocks noChangeAspect="1"/>
          </p:cNvPicPr>
          <p:nvPr/>
        </p:nvPicPr>
        <p:blipFill>
          <a:blip r:embed="rId5"/>
          <a:stretch>
            <a:fillRect/>
          </a:stretch>
        </p:blipFill>
        <p:spPr>
          <a:xfrm>
            <a:off x="7808384" y="2262124"/>
            <a:ext cx="128699" cy="187198"/>
          </a:xfrm>
          <a:prstGeom prst="rect">
            <a:avLst/>
          </a:prstGeom>
        </p:spPr>
      </p:pic>
      <p:sp>
        <p:nvSpPr>
          <p:cNvPr id="46" name="TextBox 45"/>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7" name="TextBox 46"/>
          <p:cNvSpPr txBox="1"/>
          <p:nvPr/>
        </p:nvSpPr>
        <p:spPr>
          <a:xfrm>
            <a:off x="276225" y="3314700"/>
            <a:ext cx="4591893" cy="186689"/>
          </a:xfrm>
          <a:prstGeom prst="rect">
            <a:avLst/>
          </a:prstGeom>
          <a:noFill/>
        </p:spPr>
        <p:txBody>
          <a:bodyPr wrap="none" lIns="0" rIns="0" tIns="0" bIns="0">
            <a:spAutoFit/>
          </a:bodyPr>
          <a:lstStyle/>
          <a:p>
            <a:r>
              <a:rPr sz="1100" b="0">
                <a:solidFill>
                  <a:srgbClr val="2E2E2E"/>
                </a:solidFill>
                <a:latin typeface="Calibri"/>
              </a:rPr>
              <a:t>▪ Investment is flowing toward the fastest-growing tier 'Steam Turbine-Driven' (</a:t>
            </a:r>
          </a:p>
        </p:txBody>
      </p:sp>
      <p:pic>
        <p:nvPicPr>
          <p:cNvPr id="48" name="Picture 47" descr="lock.png"/>
          <p:cNvPicPr>
            <a:picLocks noChangeAspect="1"/>
          </p:cNvPicPr>
          <p:nvPr/>
        </p:nvPicPr>
        <p:blipFill>
          <a:blip r:embed="rId5"/>
          <a:stretch>
            <a:fillRect/>
          </a:stretch>
        </p:blipFill>
        <p:spPr>
          <a:xfrm>
            <a:off x="4816169" y="3304921"/>
            <a:ext cx="128699" cy="187198"/>
          </a:xfrm>
          <a:prstGeom prst="rect">
            <a:avLst/>
          </a:prstGeom>
        </p:spPr>
      </p:pic>
      <p:sp>
        <p:nvSpPr>
          <p:cNvPr id="49" name="TextBox 48"/>
          <p:cNvSpPr txBox="1"/>
          <p:nvPr/>
        </p:nvSpPr>
        <p:spPr>
          <a:xfrm>
            <a:off x="4983665" y="3314700"/>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50" name="TextBox 49"/>
          <p:cNvSpPr txBox="1"/>
          <p:nvPr/>
        </p:nvSpPr>
        <p:spPr>
          <a:xfrm>
            <a:off x="276225" y="3532632"/>
            <a:ext cx="645914" cy="186689"/>
          </a:xfrm>
          <a:prstGeom prst="rect">
            <a:avLst/>
          </a:prstGeom>
          <a:noFill/>
        </p:spPr>
        <p:txBody>
          <a:bodyPr wrap="none" lIns="0" rIns="0" tIns="0" bIns="0">
            <a:spAutoFit/>
          </a:bodyPr>
          <a:lstStyle/>
          <a:p>
            <a:r>
              <a:rPr sz="1100" b="0">
                <a:solidFill>
                  <a:srgbClr val="2E2E2E"/>
                </a:solidFill>
                <a:latin typeface="Calibri"/>
              </a:rPr>
              <a:t>▪ Mexico (</a:t>
            </a:r>
          </a:p>
        </p:txBody>
      </p:sp>
      <p:pic>
        <p:nvPicPr>
          <p:cNvPr id="51" name="Picture 50" descr="lock.png"/>
          <p:cNvPicPr>
            <a:picLocks noChangeAspect="1"/>
          </p:cNvPicPr>
          <p:nvPr/>
        </p:nvPicPr>
        <p:blipFill>
          <a:blip r:embed="rId5"/>
          <a:stretch>
            <a:fillRect/>
          </a:stretch>
        </p:blipFill>
        <p:spPr>
          <a:xfrm>
            <a:off x="870190" y="3522853"/>
            <a:ext cx="128699" cy="187198"/>
          </a:xfrm>
          <a:prstGeom prst="rect">
            <a:avLst/>
          </a:prstGeom>
        </p:spPr>
      </p:pic>
      <p:sp>
        <p:nvSpPr>
          <p:cNvPr id="52" name="TextBox 51"/>
          <p:cNvSpPr txBox="1"/>
          <p:nvPr/>
        </p:nvSpPr>
        <p:spPr>
          <a:xfrm>
            <a:off x="1037686" y="3532632"/>
            <a:ext cx="2262832" cy="186689"/>
          </a:xfrm>
          <a:prstGeom prst="rect">
            <a:avLst/>
          </a:prstGeom>
          <a:noFill/>
        </p:spPr>
        <p:txBody>
          <a:bodyPr wrap="none" lIns="0" rIns="0" tIns="0" bIns="0">
            <a:spAutoFit/>
          </a:bodyPr>
          <a:lstStyle/>
          <a:p>
            <a:r>
              <a:rPr sz="1100" b="0">
                <a:solidFill>
                  <a:srgbClr val="2E2E2E"/>
                </a:solidFill>
                <a:latin typeface="Calibri"/>
              </a:rPr>
              <a:t>) is a priority country for new capacity.</a:t>
            </a:r>
          </a:p>
        </p:txBody>
      </p:sp>
      <p:sp>
        <p:nvSpPr>
          <p:cNvPr id="53" name="TextBox 52"/>
          <p:cNvSpPr txBox="1"/>
          <p:nvPr/>
        </p:nvSpPr>
        <p:spPr>
          <a:xfrm>
            <a:off x="276225" y="3750564"/>
            <a:ext cx="3099122" cy="186689"/>
          </a:xfrm>
          <a:prstGeom prst="rect">
            <a:avLst/>
          </a:prstGeom>
          <a:noFill/>
        </p:spPr>
        <p:txBody>
          <a:bodyPr wrap="none" lIns="0" rIns="0" tIns="0" bIns="0">
            <a:spAutoFit/>
          </a:bodyPr>
          <a:lstStyle/>
          <a:p>
            <a:r>
              <a:rPr sz="1100" b="0">
                <a:solidFill>
                  <a:srgbClr val="2E2E2E"/>
                </a:solidFill>
                <a:latin typeface="Calibri"/>
              </a:rPr>
              <a:t>▪ Scale players anchor around 'Diesel Engine-Driven' (</a:t>
            </a:r>
          </a:p>
        </p:txBody>
      </p:sp>
      <p:pic>
        <p:nvPicPr>
          <p:cNvPr id="54" name="Picture 53" descr="lock.png"/>
          <p:cNvPicPr>
            <a:picLocks noChangeAspect="1"/>
          </p:cNvPicPr>
          <p:nvPr/>
        </p:nvPicPr>
        <p:blipFill>
          <a:blip r:embed="rId5"/>
          <a:stretch>
            <a:fillRect/>
          </a:stretch>
        </p:blipFill>
        <p:spPr>
          <a:xfrm>
            <a:off x="3323399" y="3740785"/>
            <a:ext cx="128699" cy="187198"/>
          </a:xfrm>
          <a:prstGeom prst="rect">
            <a:avLst/>
          </a:prstGeom>
        </p:spPr>
      </p:pic>
      <p:sp>
        <p:nvSpPr>
          <p:cNvPr id="55" name="TextBox 54"/>
          <p:cNvSpPr txBox="1"/>
          <p:nvPr/>
        </p:nvSpPr>
        <p:spPr>
          <a:xfrm>
            <a:off x="3490894" y="3750564"/>
            <a:ext cx="46692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56" name="TextBox 55"/>
          <p:cNvSpPr txBox="1"/>
          <p:nvPr/>
        </p:nvSpPr>
        <p:spPr>
          <a:xfrm>
            <a:off x="6305550" y="3314700"/>
            <a:ext cx="4988619" cy="186689"/>
          </a:xfrm>
          <a:prstGeom prst="rect">
            <a:avLst/>
          </a:prstGeom>
          <a:noFill/>
        </p:spPr>
        <p:txBody>
          <a:bodyPr wrap="none" lIns="0" rIns="0" tIns="0" bIns="0">
            <a:spAutoFit/>
          </a:bodyPr>
          <a:lstStyle/>
          <a:p>
            <a:r>
              <a:rPr sz="1100" b="0">
                <a:solidFill>
                  <a:srgbClr val="2E2E2E"/>
                </a:solidFill>
                <a:latin typeface="Calibri"/>
              </a:rPr>
              <a:t>▪ R&amp;D aligns with the migration to 'Steam Turbine-Driven' and adjacent premium tiers.</a:t>
            </a:r>
          </a:p>
        </p:txBody>
      </p:sp>
      <p:sp>
        <p:nvSpPr>
          <p:cNvPr id="57" name="TextBox 56"/>
          <p:cNvSpPr txBox="1"/>
          <p:nvPr/>
        </p:nvSpPr>
        <p:spPr>
          <a:xfrm>
            <a:off x="6305550" y="3532632"/>
            <a:ext cx="4293393" cy="186689"/>
          </a:xfrm>
          <a:prstGeom prst="rect">
            <a:avLst/>
          </a:prstGeom>
          <a:noFill/>
        </p:spPr>
        <p:txBody>
          <a:bodyPr wrap="none" lIns="0" rIns="0" tIns="0" bIns="0">
            <a:spAutoFit/>
          </a:bodyPr>
          <a:lstStyle/>
          <a:p>
            <a:r>
              <a:rPr sz="1100" b="0">
                <a:solidFill>
                  <a:srgbClr val="2E2E2E"/>
                </a:solidFill>
                <a:latin typeface="Calibri"/>
              </a:rPr>
              <a:t>▪ Development spend targets driver type categories gaining share to 2036.</a:t>
            </a:r>
          </a:p>
        </p:txBody>
      </p:sp>
      <p:sp>
        <p:nvSpPr>
          <p:cNvPr id="58" name="TextBox 57"/>
          <p:cNvSpPr txBox="1"/>
          <p:nvPr/>
        </p:nvSpPr>
        <p:spPr>
          <a:xfrm>
            <a:off x="6305550" y="3750564"/>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59" name="Picture 58" descr="lock.png"/>
          <p:cNvPicPr>
            <a:picLocks noChangeAspect="1"/>
          </p:cNvPicPr>
          <p:nvPr/>
        </p:nvPicPr>
        <p:blipFill>
          <a:blip r:embed="rId5"/>
          <a:stretch>
            <a:fillRect/>
          </a:stretch>
        </p:blipFill>
        <p:spPr>
          <a:xfrm>
            <a:off x="7847947" y="3740785"/>
            <a:ext cx="128699" cy="187198"/>
          </a:xfrm>
          <a:prstGeom prst="rect">
            <a:avLst/>
          </a:prstGeom>
        </p:spPr>
      </p:pic>
      <p:sp>
        <p:nvSpPr>
          <p:cNvPr id="60" name="TextBox 59"/>
          <p:cNvSpPr txBox="1"/>
          <p:nvPr/>
        </p:nvSpPr>
        <p:spPr>
          <a:xfrm>
            <a:off x="8015443" y="3750564"/>
            <a:ext cx="924478" cy="186689"/>
          </a:xfrm>
          <a:prstGeom prst="rect">
            <a:avLst/>
          </a:prstGeom>
          <a:noFill/>
        </p:spPr>
        <p:txBody>
          <a:bodyPr wrap="none" lIns="0" rIns="0" tIns="0" bIns="0">
            <a:spAutoFit/>
          </a:bodyPr>
          <a:lstStyle/>
          <a:p>
            <a:r>
              <a:rPr sz="1100" b="0">
                <a:solidFill>
                  <a:srgbClr val="2E2E2E"/>
                </a:solidFill>
                <a:latin typeface="Calibri"/>
              </a:rPr>
              <a:t>forecast CAGR.</a:t>
            </a:r>
          </a:p>
        </p:txBody>
      </p:sp>
      <p:sp>
        <p:nvSpPr>
          <p:cNvPr id="61" name="lockshield_25"/>
          <p:cNvSpPr/>
          <p:nvPr/>
        </p:nvSpPr>
        <p:spPr>
          <a:xfrm>
            <a:off x="238125" y="4600575"/>
            <a:ext cx="11715750" cy="19526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TMR's analysis and recommendation</a:t>
            </a:r>
          </a:p>
        </p:txBody>
      </p:sp>
      <p:sp>
        <p:nvSpPr>
          <p:cNvPr id="7" name="Rounded Rectangle 6"/>
          <p:cNvSpPr/>
          <p:nvPr/>
        </p:nvSpPr>
        <p:spPr>
          <a:xfrm>
            <a:off x="142875" y="981075"/>
            <a:ext cx="5876925" cy="1743075"/>
          </a:xfrm>
          <a:prstGeom prst="roundRect">
            <a:avLst>
              <a:gd name="adj" fmla="val 4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Overall Market Approach</a:t>
            </a:r>
          </a:p>
        </p:txBody>
      </p:sp>
      <p:sp>
        <p:nvSpPr>
          <p:cNvPr id="9" name="Rectangle 8"/>
          <p:cNvSpPr/>
          <p:nvPr/>
        </p:nvSpPr>
        <p:spPr>
          <a:xfrm>
            <a:off x="276225"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1" name="Rounded Rectangle 10"/>
          <p:cNvSpPr/>
          <p:nvPr/>
        </p:nvSpPr>
        <p:spPr>
          <a:xfrm>
            <a:off x="6172200" y="981075"/>
            <a:ext cx="5876925" cy="1743075"/>
          </a:xfrm>
          <a:prstGeom prst="roundRect">
            <a:avLst>
              <a:gd name="adj" fmla="val 4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Differentiating Strategy</a:t>
            </a:r>
          </a:p>
        </p:txBody>
      </p:sp>
      <p:sp>
        <p:nvSpPr>
          <p:cNvPr id="13" name="Rectangle 12"/>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Differentiate through the high-growth 'Steam Turbine-Driven' tier and Industrial Air Separation within end use.</a:t>
            </a:r>
          </a:p>
        </p:txBody>
      </p:sp>
      <p:sp>
        <p:nvSpPr>
          <p:cNvPr id="15" name="Rounded Rectangle 14"/>
          <p:cNvSpPr/>
          <p:nvPr/>
        </p:nvSpPr>
        <p:spPr>
          <a:xfrm>
            <a:off x="142875" y="2857500"/>
            <a:ext cx="5876925" cy="1562100"/>
          </a:xfrm>
          <a:prstGeom prst="roundRect">
            <a:avLst>
              <a:gd name="adj" fmla="val 48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E2A5C"/>
                </a:solidFill>
                <a:latin typeface="Calibri"/>
              </a:rPr>
              <a:t>Market Segment</a:t>
            </a:r>
          </a:p>
        </p:txBody>
      </p:sp>
      <p:sp>
        <p:nvSpPr>
          <p:cNvPr id="17" name="Rectangle 16"/>
          <p:cNvSpPr/>
          <p:nvPr/>
        </p:nvSpPr>
        <p:spPr>
          <a:xfrm>
            <a:off x="276225" y="318135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6172200" y="2857500"/>
            <a:ext cx="5876925" cy="1562100"/>
          </a:xfrm>
          <a:prstGeom prst="roundRect">
            <a:avLst>
              <a:gd name="adj" fmla="val 48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E2A5C"/>
                </a:solidFill>
                <a:latin typeface="Calibri"/>
              </a:rPr>
              <a:t>Market Country</a:t>
            </a:r>
          </a:p>
        </p:txBody>
      </p:sp>
      <p:sp>
        <p:nvSpPr>
          <p:cNvPr id="21" name="Rectangle 20"/>
          <p:cNvSpPr/>
          <p:nvPr/>
        </p:nvSpPr>
        <p:spPr>
          <a:xfrm>
            <a:off x="6305550" y="318135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142875" y="4552950"/>
            <a:ext cx="11906250" cy="2057400"/>
          </a:xfrm>
          <a:prstGeom prst="roundRect">
            <a:avLst>
              <a:gd name="adj" fmla="val 370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E2A5C"/>
                </a:solidFill>
                <a:latin typeface="Calibri"/>
              </a:rPr>
              <a:t>TMR Analysis &amp; Recommendation</a:t>
            </a:r>
          </a:p>
        </p:txBody>
      </p:sp>
      <p:sp>
        <p:nvSpPr>
          <p:cNvPr id="25" name="Rectangle 24"/>
          <p:cNvSpPr/>
          <p:nvPr/>
        </p:nvSpPr>
        <p:spPr>
          <a:xfrm>
            <a:off x="276225" y="48768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9" name="TextBox 28"/>
          <p:cNvSpPr txBox="1"/>
          <p:nvPr/>
        </p:nvSpPr>
        <p:spPr>
          <a:xfrm>
            <a:off x="276225" y="1400175"/>
            <a:ext cx="5302051" cy="194310"/>
          </a:xfrm>
          <a:prstGeom prst="rect">
            <a:avLst/>
          </a:prstGeom>
          <a:noFill/>
        </p:spPr>
        <p:txBody>
          <a:bodyPr wrap="none" lIns="0" rIns="0" tIns="0" bIns="0">
            <a:spAutoFit/>
          </a:bodyPr>
          <a:lstStyle/>
          <a:p>
            <a:r>
              <a:rPr sz="1150" b="0">
                <a:solidFill>
                  <a:srgbClr val="2E2E2E"/>
                </a:solidFill>
                <a:latin typeface="Calibri"/>
              </a:rPr>
              <a:t>▪ Balance scale in 'Diesel Engine-Driven' with targeted growth in 'Steam Turbine-Driven',</a:t>
            </a:r>
          </a:p>
        </p:txBody>
      </p:sp>
      <p:sp>
        <p:nvSpPr>
          <p:cNvPr id="30" name="TextBox 29"/>
          <p:cNvSpPr txBox="1"/>
          <p:nvPr/>
        </p:nvSpPr>
        <p:spPr>
          <a:xfrm>
            <a:off x="276225" y="1575435"/>
            <a:ext cx="825276" cy="194310"/>
          </a:xfrm>
          <a:prstGeom prst="rect">
            <a:avLst/>
          </a:prstGeom>
          <a:noFill/>
        </p:spPr>
        <p:txBody>
          <a:bodyPr wrap="none" lIns="0" rIns="0" tIns="0" bIns="0">
            <a:spAutoFit/>
          </a:bodyPr>
          <a:lstStyle/>
          <a:p>
            <a:r>
              <a:rPr sz="1150" b="0">
                <a:solidFill>
                  <a:srgbClr val="2E2E2E"/>
                </a:solidFill>
                <a:latin typeface="Calibri"/>
              </a:rPr>
              <a:t>pursuing the</a:t>
            </a:r>
          </a:p>
        </p:txBody>
      </p:sp>
      <p:pic>
        <p:nvPicPr>
          <p:cNvPr id="31" name="Picture 30" descr="lock.png"/>
          <p:cNvPicPr>
            <a:picLocks noChangeAspect="1"/>
          </p:cNvPicPr>
          <p:nvPr/>
        </p:nvPicPr>
        <p:blipFill>
          <a:blip r:embed="rId4"/>
          <a:stretch>
            <a:fillRect/>
          </a:stretch>
        </p:blipFill>
        <p:spPr>
          <a:xfrm>
            <a:off x="1050655" y="1565211"/>
            <a:ext cx="134549" cy="195707"/>
          </a:xfrm>
          <a:prstGeom prst="rect">
            <a:avLst/>
          </a:prstGeom>
        </p:spPr>
      </p:pic>
      <p:sp>
        <p:nvSpPr>
          <p:cNvPr id="32" name="TextBox 31"/>
          <p:cNvSpPr txBox="1"/>
          <p:nvPr/>
        </p:nvSpPr>
        <p:spPr>
          <a:xfrm>
            <a:off x="1225764"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3" name="TextBox 32"/>
          <p:cNvSpPr txBox="1"/>
          <p:nvPr/>
        </p:nvSpPr>
        <p:spPr>
          <a:xfrm>
            <a:off x="276225" y="3276600"/>
            <a:ext cx="2172530" cy="194310"/>
          </a:xfrm>
          <a:prstGeom prst="rect">
            <a:avLst/>
          </a:prstGeom>
          <a:noFill/>
        </p:spPr>
        <p:txBody>
          <a:bodyPr wrap="none" lIns="0" rIns="0" tIns="0" bIns="0">
            <a:spAutoFit/>
          </a:bodyPr>
          <a:lstStyle/>
          <a:p>
            <a:r>
              <a:rPr sz="1150" b="0">
                <a:solidFill>
                  <a:srgbClr val="2E2E2E"/>
                </a:solidFill>
                <a:latin typeface="Calibri"/>
              </a:rPr>
              <a:t>▪ Prioritise 'Steam Turbine-Driven' (</a:t>
            </a:r>
          </a:p>
        </p:txBody>
      </p:sp>
      <p:pic>
        <p:nvPicPr>
          <p:cNvPr id="34" name="Picture 33" descr="lock.png"/>
          <p:cNvPicPr>
            <a:picLocks noChangeAspect="1"/>
          </p:cNvPicPr>
          <p:nvPr/>
        </p:nvPicPr>
        <p:blipFill>
          <a:blip r:embed="rId4"/>
          <a:stretch>
            <a:fillRect/>
          </a:stretch>
        </p:blipFill>
        <p:spPr>
          <a:xfrm>
            <a:off x="2397909" y="3266376"/>
            <a:ext cx="134549" cy="195707"/>
          </a:xfrm>
          <a:prstGeom prst="rect">
            <a:avLst/>
          </a:prstGeom>
        </p:spPr>
      </p:pic>
      <p:sp>
        <p:nvSpPr>
          <p:cNvPr id="35" name="TextBox 34"/>
          <p:cNvSpPr txBox="1"/>
          <p:nvPr/>
        </p:nvSpPr>
        <p:spPr>
          <a:xfrm>
            <a:off x="2573019" y="3276600"/>
            <a:ext cx="1987971" cy="194310"/>
          </a:xfrm>
          <a:prstGeom prst="rect">
            <a:avLst/>
          </a:prstGeom>
          <a:noFill/>
        </p:spPr>
        <p:txBody>
          <a:bodyPr wrap="none" lIns="0" rIns="0" tIns="0" bIns="0">
            <a:spAutoFit/>
          </a:bodyPr>
          <a:lstStyle/>
          <a:p>
            <a:r>
              <a:rPr sz="1150" b="0">
                <a:solidFill>
                  <a:srgbClr val="2E2E2E"/>
                </a:solidFill>
                <a:latin typeface="Calibri"/>
              </a:rPr>
              <a:t>); 'Diesel Engine-Driven' anchors</a:t>
            </a:r>
          </a:p>
        </p:txBody>
      </p:sp>
      <p:pic>
        <p:nvPicPr>
          <p:cNvPr id="36" name="Picture 35" descr="lock.png"/>
          <p:cNvPicPr>
            <a:picLocks noChangeAspect="1"/>
          </p:cNvPicPr>
          <p:nvPr/>
        </p:nvPicPr>
        <p:blipFill>
          <a:blip r:embed="rId4"/>
          <a:stretch>
            <a:fillRect/>
          </a:stretch>
        </p:blipFill>
        <p:spPr>
          <a:xfrm>
            <a:off x="4510144" y="3266376"/>
            <a:ext cx="134549" cy="195707"/>
          </a:xfrm>
          <a:prstGeom prst="rect">
            <a:avLst/>
          </a:prstGeom>
        </p:spPr>
      </p:pic>
      <p:sp>
        <p:nvSpPr>
          <p:cNvPr id="37" name="TextBox 36"/>
          <p:cNvSpPr txBox="1"/>
          <p:nvPr/>
        </p:nvSpPr>
        <p:spPr>
          <a:xfrm>
            <a:off x="4685254" y="327660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38" name="TextBox 37"/>
          <p:cNvSpPr txBox="1"/>
          <p:nvPr/>
        </p:nvSpPr>
        <p:spPr>
          <a:xfrm>
            <a:off x="6305550" y="3276600"/>
            <a:ext cx="1083431" cy="194310"/>
          </a:xfrm>
          <a:prstGeom prst="rect">
            <a:avLst/>
          </a:prstGeom>
          <a:noFill/>
        </p:spPr>
        <p:txBody>
          <a:bodyPr wrap="none" lIns="0" rIns="0" tIns="0" bIns="0">
            <a:spAutoFit/>
          </a:bodyPr>
          <a:lstStyle/>
          <a:p>
            <a:r>
              <a:rPr sz="1150" b="0">
                <a:solidFill>
                  <a:srgbClr val="2E2E2E"/>
                </a:solidFill>
                <a:latin typeface="Calibri"/>
              </a:rPr>
              <a:t>▪ Lead with U.S. (</a:t>
            </a:r>
          </a:p>
        </p:txBody>
      </p:sp>
      <p:pic>
        <p:nvPicPr>
          <p:cNvPr id="39" name="Picture 38" descr="lock.png"/>
          <p:cNvPicPr>
            <a:picLocks noChangeAspect="1"/>
          </p:cNvPicPr>
          <p:nvPr/>
        </p:nvPicPr>
        <p:blipFill>
          <a:blip r:embed="rId4"/>
          <a:stretch>
            <a:fillRect/>
          </a:stretch>
        </p:blipFill>
        <p:spPr>
          <a:xfrm>
            <a:off x="7338135" y="3266376"/>
            <a:ext cx="134549" cy="195707"/>
          </a:xfrm>
          <a:prstGeom prst="rect">
            <a:avLst/>
          </a:prstGeom>
        </p:spPr>
      </p:pic>
      <p:sp>
        <p:nvSpPr>
          <p:cNvPr id="40" name="TextBox 39"/>
          <p:cNvSpPr txBox="1"/>
          <p:nvPr/>
        </p:nvSpPr>
        <p:spPr>
          <a:xfrm>
            <a:off x="7513244" y="3276600"/>
            <a:ext cx="1764903" cy="194310"/>
          </a:xfrm>
          <a:prstGeom prst="rect">
            <a:avLst/>
          </a:prstGeom>
          <a:noFill/>
        </p:spPr>
        <p:txBody>
          <a:bodyPr wrap="none" lIns="0" rIns="0" tIns="0" bIns="0">
            <a:spAutoFit/>
          </a:bodyPr>
          <a:lstStyle/>
          <a:p>
            <a:r>
              <a:rPr sz="1150" b="0">
                <a:solidFill>
                  <a:srgbClr val="2E2E2E"/>
                </a:solidFill>
                <a:latin typeface="Calibri"/>
              </a:rPr>
              <a:t>); capture upside in Mexico (</a:t>
            </a:r>
          </a:p>
        </p:txBody>
      </p:sp>
      <p:pic>
        <p:nvPicPr>
          <p:cNvPr id="41" name="Picture 40" descr="lock.png"/>
          <p:cNvPicPr>
            <a:picLocks noChangeAspect="1"/>
          </p:cNvPicPr>
          <p:nvPr/>
        </p:nvPicPr>
        <p:blipFill>
          <a:blip r:embed="rId4"/>
          <a:stretch>
            <a:fillRect/>
          </a:stretch>
        </p:blipFill>
        <p:spPr>
          <a:xfrm>
            <a:off x="9227301" y="3266376"/>
            <a:ext cx="134549" cy="195707"/>
          </a:xfrm>
          <a:prstGeom prst="rect">
            <a:avLst/>
          </a:prstGeom>
        </p:spPr>
      </p:pic>
      <p:sp>
        <p:nvSpPr>
          <p:cNvPr id="42" name="TextBox 41"/>
          <p:cNvSpPr txBox="1"/>
          <p:nvPr/>
        </p:nvSpPr>
        <p:spPr>
          <a:xfrm>
            <a:off x="9402411" y="327660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3" name="TextBox 42"/>
          <p:cNvSpPr txBox="1"/>
          <p:nvPr/>
        </p:nvSpPr>
        <p:spPr>
          <a:xfrm>
            <a:off x="276225" y="4972050"/>
            <a:ext cx="1985404" cy="194310"/>
          </a:xfrm>
          <a:prstGeom prst="rect">
            <a:avLst/>
          </a:prstGeom>
          <a:noFill/>
        </p:spPr>
        <p:txBody>
          <a:bodyPr wrap="none" lIns="0" rIns="0" tIns="0" bIns="0">
            <a:spAutoFit/>
          </a:bodyPr>
          <a:lstStyle/>
          <a:p>
            <a:r>
              <a:rPr sz="1150" b="0">
                <a:solidFill>
                  <a:srgbClr val="2E2E2E"/>
                </a:solidFill>
                <a:latin typeface="Calibri"/>
              </a:rPr>
              <a:t>▪ Industrial Air Compressor adds</a:t>
            </a:r>
          </a:p>
        </p:txBody>
      </p:sp>
      <p:pic>
        <p:nvPicPr>
          <p:cNvPr id="44" name="Picture 43" descr="lock.png"/>
          <p:cNvPicPr>
            <a:picLocks noChangeAspect="1"/>
          </p:cNvPicPr>
          <p:nvPr/>
        </p:nvPicPr>
        <p:blipFill>
          <a:blip r:embed="rId4"/>
          <a:stretch>
            <a:fillRect/>
          </a:stretch>
        </p:blipFill>
        <p:spPr>
          <a:xfrm>
            <a:off x="2210783" y="4961826"/>
            <a:ext cx="134549" cy="195707"/>
          </a:xfrm>
          <a:prstGeom prst="rect">
            <a:avLst/>
          </a:prstGeom>
        </p:spPr>
      </p:pic>
      <p:sp>
        <p:nvSpPr>
          <p:cNvPr id="45" name="TextBox 44"/>
          <p:cNvSpPr txBox="1"/>
          <p:nvPr/>
        </p:nvSpPr>
        <p:spPr>
          <a:xfrm>
            <a:off x="2385892" y="4972050"/>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6" name="Picture 45" descr="lock.png"/>
          <p:cNvPicPr>
            <a:picLocks noChangeAspect="1"/>
          </p:cNvPicPr>
          <p:nvPr/>
        </p:nvPicPr>
        <p:blipFill>
          <a:blip r:embed="rId4"/>
          <a:stretch>
            <a:fillRect/>
          </a:stretch>
        </p:blipFill>
        <p:spPr>
          <a:xfrm>
            <a:off x="4150154" y="4961826"/>
            <a:ext cx="134549" cy="195707"/>
          </a:xfrm>
          <a:prstGeom prst="rect">
            <a:avLst/>
          </a:prstGeom>
        </p:spPr>
      </p:pic>
      <p:sp>
        <p:nvSpPr>
          <p:cNvPr id="47" name="TextBox 46"/>
          <p:cNvSpPr txBox="1"/>
          <p:nvPr/>
        </p:nvSpPr>
        <p:spPr>
          <a:xfrm>
            <a:off x="4325263" y="4972050"/>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48" name="TextBox 47"/>
          <p:cNvSpPr txBox="1"/>
          <p:nvPr/>
        </p:nvSpPr>
        <p:spPr>
          <a:xfrm>
            <a:off x="276225" y="5199888"/>
            <a:ext cx="634436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segment/country while seeding the fastest-growing pockets early.</a:t>
            </a:r>
          </a:p>
        </p:txBody>
      </p:sp>
      <p:sp>
        <p:nvSpPr>
          <p:cNvPr id="49" name="TextBox 48"/>
          <p:cNvSpPr txBox="1"/>
          <p:nvPr/>
        </p:nvSpPr>
        <p:spPr>
          <a:xfrm>
            <a:off x="276225" y="5427725"/>
            <a:ext cx="4589202" cy="194310"/>
          </a:xfrm>
          <a:prstGeom prst="rect">
            <a:avLst/>
          </a:prstGeom>
          <a:noFill/>
        </p:spPr>
        <p:txBody>
          <a:bodyPr wrap="none" lIns="0" rIns="0" tIns="0" bIns="0">
            <a:spAutoFit/>
          </a:bodyPr>
          <a:lstStyle/>
          <a:p>
            <a:r>
              <a:rPr sz="1150" b="0">
                <a:solidFill>
                  <a:srgbClr val="2E2E2E"/>
                </a:solidFill>
                <a:latin typeface="Calibri"/>
              </a:rPr>
              <a:t>▪ Defend share in 'Diesel Engine-Driven' as the value anchor of the portfolio.</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7" name="Rounded Rectangle 6"/>
          <p:cNvSpPr/>
          <p:nvPr/>
        </p:nvSpPr>
        <p:spPr>
          <a:xfrm>
            <a:off x="142875" y="981075"/>
            <a:ext cx="3943350"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8" name="Rounded Rectangle 7"/>
          <p:cNvSpPr/>
          <p:nvPr/>
        </p:nvSpPr>
        <p:spPr>
          <a:xfrm>
            <a:off x="4238625" y="981075"/>
            <a:ext cx="3819525"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9" name="Rounded Rectangle 8"/>
          <p:cNvSpPr/>
          <p:nvPr/>
        </p:nvSpPr>
        <p:spPr>
          <a:xfrm>
            <a:off x="8210550" y="981075"/>
            <a:ext cx="3819525"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10" name="Rounded Rectangle 9"/>
          <p:cNvSpPr/>
          <p:nvPr/>
        </p:nvSpPr>
        <p:spPr>
          <a:xfrm>
            <a:off x="142875" y="1809750"/>
            <a:ext cx="5876925" cy="3009900"/>
          </a:xfrm>
          <a:prstGeom prst="roundRect">
            <a:avLst>
              <a:gd name="adj" fmla="val 253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Industrial Air Compressor Market Value (US$ Mn) Scenario Forecast, 2025 &amp; 2036</a:t>
            </a:r>
          </a:p>
        </p:txBody>
      </p:sp>
      <p:cxnSp>
        <p:nvCxnSpPr>
          <p:cNvPr id="12" name="Connector 11"/>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06342" y="3445264"/>
            <a:ext cx="635826" cy="860036"/>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3936" y="3100375"/>
            <a:ext cx="635826" cy="1204925"/>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25725" y="2960089"/>
            <a:ext cx="635826" cy="1345211"/>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07515" y="2805113"/>
            <a:ext cx="635826" cy="1500187"/>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456468" y="2967025"/>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570768" y="2862250"/>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19" name="Connector 18"/>
          <p:cNvCxnSpPr/>
          <p:nvPr/>
        </p:nvCxnSpPr>
        <p:spPr>
          <a:xfrm>
            <a:off x="1456468" y="2709850"/>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570768" y="2605075"/>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1" name="Connector 20"/>
          <p:cNvCxnSpPr/>
          <p:nvPr/>
        </p:nvCxnSpPr>
        <p:spPr>
          <a:xfrm>
            <a:off x="1456468" y="2452675"/>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570768" y="2347900"/>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3" name="TextBox 22"/>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4" name="TextBox 23"/>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5" name="Oval 24"/>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27" name="Oval 26"/>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29" name="Oval 28"/>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1" name="Rounded Rectangle 30"/>
          <p:cNvSpPr/>
          <p:nvPr/>
        </p:nvSpPr>
        <p:spPr>
          <a:xfrm>
            <a:off x="6172200" y="1809750"/>
            <a:ext cx="5876925" cy="3009900"/>
          </a:xfrm>
          <a:prstGeom prst="roundRect">
            <a:avLst>
              <a:gd name="adj" fmla="val 253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Industrial Air Compressor Market Attractiveness Analysis By Region, 2026–2036</a:t>
            </a:r>
          </a:p>
        </p:txBody>
      </p:sp>
      <p:graphicFrame>
        <p:nvGraphicFramePr>
          <p:cNvPr id="33" name="Chart 32"/>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4" name="Rounded Rectangle 33"/>
          <p:cNvSpPr/>
          <p:nvPr/>
        </p:nvSpPr>
        <p:spPr>
          <a:xfrm>
            <a:off x="142875" y="4953000"/>
            <a:ext cx="11906250" cy="1676400"/>
          </a:xfrm>
          <a:prstGeom prst="roundRect">
            <a:avLst>
              <a:gd name="adj" fmla="val 454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E2A5C"/>
                </a:solidFill>
                <a:latin typeface="Calibri"/>
              </a:rPr>
              <a:t>Scenario Assumptions &amp; Outlook</a:t>
            </a:r>
          </a:p>
        </p:txBody>
      </p:sp>
      <p:sp>
        <p:nvSpPr>
          <p:cNvPr id="36" name="Rectangle 35"/>
          <p:cNvSpPr/>
          <p:nvPr/>
        </p:nvSpPr>
        <p:spPr>
          <a:xfrm>
            <a:off x="276225" y="52768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38" name="Rectangle 3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0" name="Picture 39" descr="lock.png"/>
          <p:cNvPicPr>
            <a:picLocks noChangeAspect="1"/>
          </p:cNvPicPr>
          <p:nvPr/>
        </p:nvPicPr>
        <p:blipFill>
          <a:blip r:embed="rId5"/>
          <a:stretch>
            <a:fillRect/>
          </a:stretch>
        </p:blipFill>
        <p:spPr>
          <a:xfrm>
            <a:off x="2035969" y="1214437"/>
            <a:ext cx="157162" cy="228600"/>
          </a:xfrm>
          <a:prstGeom prst="rect">
            <a:avLst/>
          </a:prstGeom>
        </p:spPr>
      </p:pic>
      <p:pic>
        <p:nvPicPr>
          <p:cNvPr id="41" name="Picture 40" descr="lock.png"/>
          <p:cNvPicPr>
            <a:picLocks noChangeAspect="1"/>
          </p:cNvPicPr>
          <p:nvPr/>
        </p:nvPicPr>
        <p:blipFill>
          <a:blip r:embed="rId5"/>
          <a:stretch>
            <a:fillRect/>
          </a:stretch>
        </p:blipFill>
        <p:spPr>
          <a:xfrm>
            <a:off x="6069806" y="1214437"/>
            <a:ext cx="157162" cy="228600"/>
          </a:xfrm>
          <a:prstGeom prst="rect">
            <a:avLst/>
          </a:prstGeom>
        </p:spPr>
      </p:pic>
      <p:pic>
        <p:nvPicPr>
          <p:cNvPr id="42" name="Picture 41" descr="lock.png"/>
          <p:cNvPicPr>
            <a:picLocks noChangeAspect="1"/>
          </p:cNvPicPr>
          <p:nvPr/>
        </p:nvPicPr>
        <p:blipFill>
          <a:blip r:embed="rId5"/>
          <a:stretch>
            <a:fillRect/>
          </a:stretch>
        </p:blipFill>
        <p:spPr>
          <a:xfrm>
            <a:off x="10041731" y="1214437"/>
            <a:ext cx="157162" cy="228600"/>
          </a:xfrm>
          <a:prstGeom prst="rect">
            <a:avLst/>
          </a:prstGeom>
        </p:spPr>
      </p:pic>
      <p:sp>
        <p:nvSpPr>
          <p:cNvPr id="43" name="TextBox 42"/>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4" name="TextBox 43"/>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5" name="Picture 44" descr="lock.png"/>
          <p:cNvPicPr>
            <a:picLocks noChangeAspect="1"/>
          </p:cNvPicPr>
          <p:nvPr/>
        </p:nvPicPr>
        <p:blipFill>
          <a:blip r:embed="rId5"/>
          <a:stretch>
            <a:fillRect/>
          </a:stretch>
        </p:blipFill>
        <p:spPr>
          <a:xfrm>
            <a:off x="2208575" y="1473019"/>
            <a:ext cx="113255" cy="164734"/>
          </a:xfrm>
          <a:prstGeom prst="rect">
            <a:avLst/>
          </a:prstGeom>
        </p:spPr>
      </p:pic>
      <p:sp>
        <p:nvSpPr>
          <p:cNvPr id="46" name="TextBox 45"/>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7" name="TextBox 46"/>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8" name="Picture 47" descr="lock.png"/>
          <p:cNvPicPr>
            <a:picLocks noChangeAspect="1"/>
          </p:cNvPicPr>
          <p:nvPr/>
        </p:nvPicPr>
        <p:blipFill>
          <a:blip r:embed="rId5"/>
          <a:stretch>
            <a:fillRect/>
          </a:stretch>
        </p:blipFill>
        <p:spPr>
          <a:xfrm>
            <a:off x="6242412" y="1473019"/>
            <a:ext cx="113255" cy="164734"/>
          </a:xfrm>
          <a:prstGeom prst="rect">
            <a:avLst/>
          </a:prstGeom>
        </p:spPr>
      </p:pic>
      <p:sp>
        <p:nvSpPr>
          <p:cNvPr id="49" name="TextBox 48"/>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0" name="TextBox 49"/>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1" name="Picture 50" descr="lock.png"/>
          <p:cNvPicPr>
            <a:picLocks noChangeAspect="1"/>
          </p:cNvPicPr>
          <p:nvPr/>
        </p:nvPicPr>
        <p:blipFill>
          <a:blip r:embed="rId5"/>
          <a:stretch>
            <a:fillRect/>
          </a:stretch>
        </p:blipFill>
        <p:spPr>
          <a:xfrm>
            <a:off x="10214337" y="1473019"/>
            <a:ext cx="113255" cy="164734"/>
          </a:xfrm>
          <a:prstGeom prst="rect">
            <a:avLst/>
          </a:prstGeom>
        </p:spPr>
      </p:pic>
      <p:sp>
        <p:nvSpPr>
          <p:cNvPr id="52" name="TextBox 51"/>
          <p:cNvSpPr txBox="1"/>
          <p:nvPr/>
        </p:nvSpPr>
        <p:spPr>
          <a:xfrm>
            <a:off x="2032418" y="2896616"/>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3" name="Picture 52" descr="lock.png"/>
          <p:cNvPicPr>
            <a:picLocks noChangeAspect="1"/>
          </p:cNvPicPr>
          <p:nvPr/>
        </p:nvPicPr>
        <p:blipFill>
          <a:blip r:embed="rId5"/>
          <a:stretch>
            <a:fillRect/>
          </a:stretch>
        </p:blipFill>
        <p:spPr>
          <a:xfrm>
            <a:off x="2358973" y="2888401"/>
            <a:ext cx="108107" cy="157246"/>
          </a:xfrm>
          <a:prstGeom prst="rect">
            <a:avLst/>
          </a:prstGeom>
        </p:spPr>
      </p:pic>
      <p:sp>
        <p:nvSpPr>
          <p:cNvPr id="54" name="TextBox 53"/>
          <p:cNvSpPr txBox="1"/>
          <p:nvPr/>
        </p:nvSpPr>
        <p:spPr>
          <a:xfrm>
            <a:off x="2032418" y="2639441"/>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631226"/>
            <a:ext cx="108107" cy="157246"/>
          </a:xfrm>
          <a:prstGeom prst="rect">
            <a:avLst/>
          </a:prstGeom>
        </p:spPr>
      </p:pic>
      <p:sp>
        <p:nvSpPr>
          <p:cNvPr id="56" name="TextBox 55"/>
          <p:cNvSpPr txBox="1"/>
          <p:nvPr/>
        </p:nvSpPr>
        <p:spPr>
          <a:xfrm>
            <a:off x="2032418" y="2382266"/>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374051"/>
            <a:ext cx="108107" cy="157246"/>
          </a:xfrm>
          <a:prstGeom prst="rect">
            <a:avLst/>
          </a:prstGeom>
        </p:spPr>
      </p:pic>
      <p:sp>
        <p:nvSpPr>
          <p:cNvPr id="58" name="TextBox 57"/>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59" name="Picture 58" descr="lock.png"/>
          <p:cNvPicPr>
            <a:picLocks noChangeAspect="1"/>
          </p:cNvPicPr>
          <p:nvPr/>
        </p:nvPicPr>
        <p:blipFill>
          <a:blip r:embed="rId5"/>
          <a:stretch>
            <a:fillRect/>
          </a:stretch>
        </p:blipFill>
        <p:spPr>
          <a:xfrm>
            <a:off x="1033540" y="5361876"/>
            <a:ext cx="134549" cy="195707"/>
          </a:xfrm>
          <a:prstGeom prst="rect">
            <a:avLst/>
          </a:prstGeom>
        </p:spPr>
      </p:pic>
      <p:sp>
        <p:nvSpPr>
          <p:cNvPr id="60" name="TextBox 59"/>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1" name="Picture 60" descr="lock.png"/>
          <p:cNvPicPr>
            <a:picLocks noChangeAspect="1"/>
          </p:cNvPicPr>
          <p:nvPr/>
        </p:nvPicPr>
        <p:blipFill>
          <a:blip r:embed="rId5"/>
          <a:stretch>
            <a:fillRect/>
          </a:stretch>
        </p:blipFill>
        <p:spPr>
          <a:xfrm>
            <a:off x="2361612" y="5361876"/>
            <a:ext cx="134549" cy="195707"/>
          </a:xfrm>
          <a:prstGeom prst="rect">
            <a:avLst/>
          </a:prstGeom>
        </p:spPr>
      </p:pic>
      <p:sp>
        <p:nvSpPr>
          <p:cNvPr id="62" name="TextBox 61"/>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3" name="TextBox 62"/>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4" name="Picture 63" descr="lock.png"/>
          <p:cNvPicPr>
            <a:picLocks noChangeAspect="1"/>
          </p:cNvPicPr>
          <p:nvPr/>
        </p:nvPicPr>
        <p:blipFill>
          <a:blip r:embed="rId5"/>
          <a:stretch>
            <a:fillRect/>
          </a:stretch>
        </p:blipFill>
        <p:spPr>
          <a:xfrm>
            <a:off x="1673650" y="5589714"/>
            <a:ext cx="134549" cy="195707"/>
          </a:xfrm>
          <a:prstGeom prst="rect">
            <a:avLst/>
          </a:prstGeom>
        </p:spPr>
      </p:pic>
      <p:sp>
        <p:nvSpPr>
          <p:cNvPr id="65" name="TextBox 64"/>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6" name="Picture 65" descr="lock.png"/>
          <p:cNvPicPr>
            <a:picLocks noChangeAspect="1"/>
          </p:cNvPicPr>
          <p:nvPr/>
        </p:nvPicPr>
        <p:blipFill>
          <a:blip r:embed="rId5"/>
          <a:stretch>
            <a:fillRect/>
          </a:stretch>
        </p:blipFill>
        <p:spPr>
          <a:xfrm>
            <a:off x="2495966" y="5589714"/>
            <a:ext cx="134549" cy="195707"/>
          </a:xfrm>
          <a:prstGeom prst="rect">
            <a:avLst/>
          </a:prstGeom>
        </p:spPr>
      </p:pic>
      <p:sp>
        <p:nvSpPr>
          <p:cNvPr id="67" name="TextBox 66"/>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8" name="TextBox 67"/>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69" name="Picture 68" descr="lock.png"/>
          <p:cNvPicPr>
            <a:picLocks noChangeAspect="1"/>
          </p:cNvPicPr>
          <p:nvPr/>
        </p:nvPicPr>
        <p:blipFill>
          <a:blip r:embed="rId5"/>
          <a:stretch>
            <a:fillRect/>
          </a:stretch>
        </p:blipFill>
        <p:spPr>
          <a:xfrm>
            <a:off x="1194994" y="5817552"/>
            <a:ext cx="134549" cy="195707"/>
          </a:xfrm>
          <a:prstGeom prst="rect">
            <a:avLst/>
          </a:prstGeom>
        </p:spPr>
      </p:pic>
      <p:sp>
        <p:nvSpPr>
          <p:cNvPr id="70" name="TextBox 69"/>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1" name="Picture 70" descr="lock.png"/>
          <p:cNvPicPr>
            <a:picLocks noChangeAspect="1"/>
          </p:cNvPicPr>
          <p:nvPr/>
        </p:nvPicPr>
        <p:blipFill>
          <a:blip r:embed="rId5"/>
          <a:stretch>
            <a:fillRect/>
          </a:stretch>
        </p:blipFill>
        <p:spPr>
          <a:xfrm>
            <a:off x="2017310" y="5817552"/>
            <a:ext cx="134549" cy="195707"/>
          </a:xfrm>
          <a:prstGeom prst="rect">
            <a:avLst/>
          </a:prstGeom>
        </p:spPr>
      </p:pic>
      <p:sp>
        <p:nvSpPr>
          <p:cNvPr id="72" name="TextBox 71"/>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3" name="TextBox 72"/>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4" name="Picture 73" descr="lock.png"/>
          <p:cNvPicPr>
            <a:picLocks noChangeAspect="1"/>
          </p:cNvPicPr>
          <p:nvPr/>
        </p:nvPicPr>
        <p:blipFill>
          <a:blip r:embed="rId5"/>
          <a:stretch>
            <a:fillRect/>
          </a:stretch>
        </p:blipFill>
        <p:spPr>
          <a:xfrm>
            <a:off x="3885509" y="6045390"/>
            <a:ext cx="134549" cy="195707"/>
          </a:xfrm>
          <a:prstGeom prst="rect">
            <a:avLst/>
          </a:prstGeom>
        </p:spPr>
      </p:pic>
      <p:sp>
        <p:nvSpPr>
          <p:cNvPr id="75" name="TextBox 74"/>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6" name="lockshield_33"/>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E2A5C"/>
                </a:solidFill>
                <a:latin typeface="Calibri"/>
              </a:rPr>
              <a:t>North America Market Analysis By Country</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North America Industrial Air Compressor – Country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Country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Industrial Air Compressor – Country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3 countries, highlighting where value concentrates,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Country view breaks the North America market down geographically. Each country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Country</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U.S.</a:t>
            </a:r>
          </a:p>
        </p:txBody>
      </p:sp>
      <p:sp>
        <p:nvSpPr>
          <p:cNvPr id="19" name="Rectangle 18"/>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0" name="Rectangle 19"/>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1" name="Rectangle 20"/>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2" name="Oval 21"/>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Canada</a:t>
            </a:r>
          </a:p>
        </p:txBody>
      </p:sp>
      <p:sp>
        <p:nvSpPr>
          <p:cNvPr id="26" name="Rectangle 25"/>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27" name="Rectangle 26"/>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28" name="Rectangle 27"/>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29" name="Oval 28"/>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Mexico</a:t>
            </a:r>
          </a:p>
        </p:txBody>
      </p:sp>
      <p:sp>
        <p:nvSpPr>
          <p:cNvPr id="33" name="Rectangle 32"/>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t>
            </a:r>
          </a:p>
        </p:txBody>
      </p:sp>
      <p:sp>
        <p:nvSpPr>
          <p:cNvPr id="34" name="Rectangle 33"/>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t>
            </a:r>
          </a:p>
        </p:txBody>
      </p:sp>
      <p:sp>
        <p:nvSpPr>
          <p:cNvPr id="35" name="Rectangle 34"/>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t>
            </a:r>
          </a:p>
        </p:txBody>
      </p:sp>
      <p:sp>
        <p:nvSpPr>
          <p:cNvPr id="36" name="Oval 35"/>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9" name="Rectangle 38"/>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1" name="Rounded Rectangle 4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Country Insights</a:t>
            </a:r>
          </a:p>
        </p:txBody>
      </p:sp>
      <p:sp>
        <p:nvSpPr>
          <p:cNvPr id="43" name="Rectangle 42"/>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5" name="Rounded Rectangle 4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Country Overview</a:t>
            </a:r>
          </a:p>
        </p:txBody>
      </p:sp>
      <p:sp>
        <p:nvSpPr>
          <p:cNvPr id="47" name="Rectangle 46"/>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By Country split shows where market value concentrates and where growth is fastest.</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demand and access dynamics are rebalancing the geographic mix through 2036.</a:t>
            </a:r>
          </a:p>
        </p:txBody>
      </p:sp>
      <p:sp>
        <p:nvSpPr>
          <p:cNvPr id="49" name="Rectangle 4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1" name="TextBox 5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52" name="Rectangle 5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54" name="Picture 53" descr="lock.png"/>
          <p:cNvPicPr>
            <a:picLocks noChangeAspect="1"/>
          </p:cNvPicPr>
          <p:nvPr/>
        </p:nvPicPr>
        <p:blipFill>
          <a:blip r:embed="rId4"/>
          <a:stretch>
            <a:fillRect/>
          </a:stretch>
        </p:blipFill>
        <p:spPr>
          <a:xfrm>
            <a:off x="3407926" y="2339922"/>
            <a:ext cx="175498" cy="255270"/>
          </a:xfrm>
          <a:prstGeom prst="rect">
            <a:avLst/>
          </a:prstGeom>
        </p:spPr>
      </p:pic>
      <p:pic>
        <p:nvPicPr>
          <p:cNvPr id="55" name="Picture 54" descr="lock.png"/>
          <p:cNvPicPr>
            <a:picLocks noChangeAspect="1"/>
          </p:cNvPicPr>
          <p:nvPr/>
        </p:nvPicPr>
        <p:blipFill>
          <a:blip r:embed="rId4"/>
          <a:stretch>
            <a:fillRect/>
          </a:stretch>
        </p:blipFill>
        <p:spPr>
          <a:xfrm>
            <a:off x="3407926" y="2832772"/>
            <a:ext cx="175498" cy="255270"/>
          </a:xfrm>
          <a:prstGeom prst="rect">
            <a:avLst/>
          </a:prstGeom>
        </p:spPr>
      </p:pic>
      <p:pic>
        <p:nvPicPr>
          <p:cNvPr id="56" name="Picture 55" descr="lock.png"/>
          <p:cNvPicPr>
            <a:picLocks noChangeAspect="1"/>
          </p:cNvPicPr>
          <p:nvPr/>
        </p:nvPicPr>
        <p:blipFill>
          <a:blip r:embed="rId4"/>
          <a:stretch>
            <a:fillRect/>
          </a:stretch>
        </p:blipFill>
        <p:spPr>
          <a:xfrm>
            <a:off x="3407926" y="3325622"/>
            <a:ext cx="175498" cy="255270"/>
          </a:xfrm>
          <a:prstGeom prst="rect">
            <a:avLst/>
          </a:prstGeom>
        </p:spPr>
      </p:pic>
      <p:pic>
        <p:nvPicPr>
          <p:cNvPr id="57" name="Picture 56" descr="lock.png"/>
          <p:cNvPicPr>
            <a:picLocks noChangeAspect="1"/>
          </p:cNvPicPr>
          <p:nvPr/>
        </p:nvPicPr>
        <p:blipFill>
          <a:blip r:embed="rId4"/>
          <a:stretch>
            <a:fillRect/>
          </a:stretch>
        </p:blipFill>
        <p:spPr>
          <a:xfrm>
            <a:off x="6779776" y="2339922"/>
            <a:ext cx="175498" cy="255270"/>
          </a:xfrm>
          <a:prstGeom prst="rect">
            <a:avLst/>
          </a:prstGeom>
        </p:spPr>
      </p:pic>
      <p:pic>
        <p:nvPicPr>
          <p:cNvPr id="58" name="Picture 57" descr="lock.png"/>
          <p:cNvPicPr>
            <a:picLocks noChangeAspect="1"/>
          </p:cNvPicPr>
          <p:nvPr/>
        </p:nvPicPr>
        <p:blipFill>
          <a:blip r:embed="rId4"/>
          <a:stretch>
            <a:fillRect/>
          </a:stretch>
        </p:blipFill>
        <p:spPr>
          <a:xfrm>
            <a:off x="6779776" y="2832772"/>
            <a:ext cx="175498" cy="255270"/>
          </a:xfrm>
          <a:prstGeom prst="rect">
            <a:avLst/>
          </a:prstGeom>
        </p:spPr>
      </p:pic>
      <p:pic>
        <p:nvPicPr>
          <p:cNvPr id="59" name="Picture 58" descr="lock.png"/>
          <p:cNvPicPr>
            <a:picLocks noChangeAspect="1"/>
          </p:cNvPicPr>
          <p:nvPr/>
        </p:nvPicPr>
        <p:blipFill>
          <a:blip r:embed="rId4"/>
          <a:stretch>
            <a:fillRect/>
          </a:stretch>
        </p:blipFill>
        <p:spPr>
          <a:xfrm>
            <a:off x="6779776" y="3325622"/>
            <a:ext cx="175498" cy="255270"/>
          </a:xfrm>
          <a:prstGeom prst="rect">
            <a:avLst/>
          </a:prstGeom>
        </p:spPr>
      </p:pic>
      <p:pic>
        <p:nvPicPr>
          <p:cNvPr id="60" name="Picture 59" descr="lock.png"/>
          <p:cNvPicPr>
            <a:picLocks noChangeAspect="1"/>
          </p:cNvPicPr>
          <p:nvPr/>
        </p:nvPicPr>
        <p:blipFill>
          <a:blip r:embed="rId4"/>
          <a:stretch>
            <a:fillRect/>
          </a:stretch>
        </p:blipFill>
        <p:spPr>
          <a:xfrm>
            <a:off x="10151626" y="2339922"/>
            <a:ext cx="175498" cy="255270"/>
          </a:xfrm>
          <a:prstGeom prst="rect">
            <a:avLst/>
          </a:prstGeom>
        </p:spPr>
      </p:pic>
      <p:pic>
        <p:nvPicPr>
          <p:cNvPr id="61" name="Picture 60" descr="lock.png"/>
          <p:cNvPicPr>
            <a:picLocks noChangeAspect="1"/>
          </p:cNvPicPr>
          <p:nvPr/>
        </p:nvPicPr>
        <p:blipFill>
          <a:blip r:embed="rId4"/>
          <a:stretch>
            <a:fillRect/>
          </a:stretch>
        </p:blipFill>
        <p:spPr>
          <a:xfrm>
            <a:off x="10151626" y="2832772"/>
            <a:ext cx="175498" cy="255270"/>
          </a:xfrm>
          <a:prstGeom prst="rect">
            <a:avLst/>
          </a:prstGeom>
        </p:spPr>
      </p:pic>
      <p:pic>
        <p:nvPicPr>
          <p:cNvPr id="62" name="Picture 61" descr="lock.png"/>
          <p:cNvPicPr>
            <a:picLocks noChangeAspect="1"/>
          </p:cNvPicPr>
          <p:nvPr/>
        </p:nvPicPr>
        <p:blipFill>
          <a:blip r:embed="rId4"/>
          <a:stretch>
            <a:fillRect/>
          </a:stretch>
        </p:blipFill>
        <p:spPr>
          <a:xfrm>
            <a:off x="10151626" y="3325622"/>
            <a:ext cx="175498" cy="255270"/>
          </a:xfrm>
          <a:prstGeom prst="rect">
            <a:avLst/>
          </a:prstGeom>
        </p:spPr>
      </p:pic>
      <p:sp>
        <p:nvSpPr>
          <p:cNvPr id="63" name="TextBox 62"/>
          <p:cNvSpPr txBox="1"/>
          <p:nvPr/>
        </p:nvSpPr>
        <p:spPr>
          <a:xfrm>
            <a:off x="485775" y="4229437"/>
            <a:ext cx="2545506" cy="186689"/>
          </a:xfrm>
          <a:prstGeom prst="rect">
            <a:avLst/>
          </a:prstGeom>
          <a:noFill/>
        </p:spPr>
        <p:txBody>
          <a:bodyPr wrap="none" lIns="0" rIns="0" tIns="0" bIns="0">
            <a:spAutoFit/>
          </a:bodyPr>
          <a:lstStyle/>
          <a:p>
            <a:r>
              <a:rPr sz="1100" b="0">
                <a:solidFill>
                  <a:srgbClr val="2E2E2E"/>
                </a:solidFill>
                <a:latin typeface="Calibri"/>
              </a:rPr>
              <a:t>The U.S. industrial air compressor market is</a:t>
            </a:r>
          </a:p>
        </p:txBody>
      </p:sp>
      <p:sp>
        <p:nvSpPr>
          <p:cNvPr id="64" name="TextBox 63"/>
          <p:cNvSpPr txBox="1"/>
          <p:nvPr/>
        </p:nvSpPr>
        <p:spPr>
          <a:xfrm>
            <a:off x="485775" y="4397077"/>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65" name="Picture 64" descr="lock.png"/>
          <p:cNvPicPr>
            <a:picLocks noChangeAspect="1"/>
          </p:cNvPicPr>
          <p:nvPr/>
        </p:nvPicPr>
        <p:blipFill>
          <a:blip r:embed="rId4"/>
          <a:stretch>
            <a:fillRect/>
          </a:stretch>
        </p:blipFill>
        <p:spPr>
          <a:xfrm>
            <a:off x="1678376" y="4387298"/>
            <a:ext cx="128699" cy="187198"/>
          </a:xfrm>
          <a:prstGeom prst="rect">
            <a:avLst/>
          </a:prstGeom>
        </p:spPr>
      </p:pic>
      <p:sp>
        <p:nvSpPr>
          <p:cNvPr id="66" name="TextBox 65"/>
          <p:cNvSpPr txBox="1"/>
          <p:nvPr/>
        </p:nvSpPr>
        <p:spPr>
          <a:xfrm>
            <a:off x="1845872" y="4397077"/>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67" name="TextBox 66"/>
          <p:cNvSpPr txBox="1"/>
          <p:nvPr/>
        </p:nvSpPr>
        <p:spPr>
          <a:xfrm>
            <a:off x="485775" y="4564717"/>
            <a:ext cx="2867471" cy="186689"/>
          </a:xfrm>
          <a:prstGeom prst="rect">
            <a:avLst/>
          </a:prstGeom>
          <a:noFill/>
        </p:spPr>
        <p:txBody>
          <a:bodyPr wrap="none" lIns="0" rIns="0" tIns="0" bIns="0">
            <a:spAutoFit/>
          </a:bodyPr>
          <a:lstStyle/>
          <a:p>
            <a:r>
              <a:rPr sz="1100" b="0">
                <a:solidFill>
                  <a:srgbClr val="2E2E2E"/>
                </a:solidFill>
                <a:latin typeface="Calibri"/>
              </a:rPr>
              <a:t>Canada in 2036. Among industrial air compressor</a:t>
            </a:r>
          </a:p>
        </p:txBody>
      </p:sp>
      <p:sp>
        <p:nvSpPr>
          <p:cNvPr id="68" name="TextBox 67"/>
          <p:cNvSpPr txBox="1"/>
          <p:nvPr/>
        </p:nvSpPr>
        <p:spPr>
          <a:xfrm>
            <a:off x="485775" y="4732357"/>
            <a:ext cx="2673474" cy="186689"/>
          </a:xfrm>
          <a:prstGeom prst="rect">
            <a:avLst/>
          </a:prstGeom>
          <a:noFill/>
        </p:spPr>
        <p:txBody>
          <a:bodyPr wrap="none" lIns="0" rIns="0" tIns="0" bIns="0">
            <a:spAutoFit/>
          </a:bodyPr>
          <a:lstStyle/>
          <a:p>
            <a:r>
              <a:rPr sz="1100" b="0">
                <a:solidFill>
                  <a:srgbClr val="2E2E2E"/>
                </a:solidFill>
                <a:latin typeface="Calibri"/>
              </a:rPr>
              <a:t>by country, Mexico is expected to witness the</a:t>
            </a:r>
          </a:p>
        </p:txBody>
      </p:sp>
      <p:sp>
        <p:nvSpPr>
          <p:cNvPr id="69" name="TextBox 68"/>
          <p:cNvSpPr txBox="1"/>
          <p:nvPr/>
        </p:nvSpPr>
        <p:spPr>
          <a:xfrm>
            <a:off x="485775" y="489999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70" name="Picture 69" descr="lock.png"/>
          <p:cNvPicPr>
            <a:picLocks noChangeAspect="1"/>
          </p:cNvPicPr>
          <p:nvPr/>
        </p:nvPicPr>
        <p:blipFill>
          <a:blip r:embed="rId4"/>
          <a:stretch>
            <a:fillRect/>
          </a:stretch>
        </p:blipFill>
        <p:spPr>
          <a:xfrm>
            <a:off x="1424607" y="4890217"/>
            <a:ext cx="128699" cy="187198"/>
          </a:xfrm>
          <a:prstGeom prst="rect">
            <a:avLst/>
          </a:prstGeom>
        </p:spPr>
      </p:pic>
      <p:sp>
        <p:nvSpPr>
          <p:cNvPr id="71" name="TextBox 70"/>
          <p:cNvSpPr txBox="1"/>
          <p:nvPr/>
        </p:nvSpPr>
        <p:spPr>
          <a:xfrm>
            <a:off x="1592103" y="489999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72" name="TextBox 71"/>
          <p:cNvSpPr txBox="1"/>
          <p:nvPr/>
        </p:nvSpPr>
        <p:spPr>
          <a:xfrm>
            <a:off x="485775" y="5117929"/>
            <a:ext cx="2914650" cy="186689"/>
          </a:xfrm>
          <a:prstGeom prst="rect">
            <a:avLst/>
          </a:prstGeom>
          <a:noFill/>
        </p:spPr>
        <p:txBody>
          <a:bodyPr wrap="none" lIns="0" rIns="0" tIns="0" bIns="0">
            <a:spAutoFit/>
          </a:bodyPr>
          <a:lstStyle/>
          <a:p>
            <a:r>
              <a:rPr sz="1100" b="0">
                <a:solidFill>
                  <a:srgbClr val="2E2E2E"/>
                </a:solidFill>
                <a:latin typeface="Calibri"/>
              </a:rPr>
              <a:t>In terms of value share by country, U.S. is expected</a:t>
            </a:r>
          </a:p>
        </p:txBody>
      </p:sp>
      <p:sp>
        <p:nvSpPr>
          <p:cNvPr id="73" name="TextBox 72"/>
          <p:cNvSpPr txBox="1"/>
          <p:nvPr/>
        </p:nvSpPr>
        <p:spPr>
          <a:xfrm>
            <a:off x="485775" y="5285569"/>
            <a:ext cx="1835001" cy="186689"/>
          </a:xfrm>
          <a:prstGeom prst="rect">
            <a:avLst/>
          </a:prstGeom>
          <a:noFill/>
        </p:spPr>
        <p:txBody>
          <a:bodyPr wrap="none" lIns="0" rIns="0" tIns="0" bIns="0">
            <a:spAutoFit/>
          </a:bodyPr>
          <a:lstStyle/>
          <a:p>
            <a:r>
              <a:rPr sz="1100" b="0">
                <a:solidFill>
                  <a:srgbClr val="2E2E2E"/>
                </a:solidFill>
                <a:latin typeface="Calibri"/>
              </a:rPr>
              <a:t>to dominate the market, losing</a:t>
            </a:r>
          </a:p>
        </p:txBody>
      </p:sp>
      <p:pic>
        <p:nvPicPr>
          <p:cNvPr id="74" name="Picture 73" descr="lock.png"/>
          <p:cNvPicPr>
            <a:picLocks noChangeAspect="1"/>
          </p:cNvPicPr>
          <p:nvPr/>
        </p:nvPicPr>
        <p:blipFill>
          <a:blip r:embed="rId4"/>
          <a:stretch>
            <a:fillRect/>
          </a:stretch>
        </p:blipFill>
        <p:spPr>
          <a:xfrm>
            <a:off x="2268827" y="5275790"/>
            <a:ext cx="128699" cy="187198"/>
          </a:xfrm>
          <a:prstGeom prst="rect">
            <a:avLst/>
          </a:prstGeom>
        </p:spPr>
      </p:pic>
      <p:sp>
        <p:nvSpPr>
          <p:cNvPr id="75" name="TextBox 74"/>
          <p:cNvSpPr txBox="1"/>
          <p:nvPr/>
        </p:nvSpPr>
        <p:spPr>
          <a:xfrm>
            <a:off x="2436323" y="5285569"/>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76" name="TextBox 75"/>
          <p:cNvSpPr txBox="1"/>
          <p:nvPr/>
        </p:nvSpPr>
        <p:spPr>
          <a:xfrm>
            <a:off x="485775" y="5453209"/>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77" name="Picture 76" descr="lock.png"/>
          <p:cNvPicPr>
            <a:picLocks noChangeAspect="1"/>
          </p:cNvPicPr>
          <p:nvPr/>
        </p:nvPicPr>
        <p:blipFill>
          <a:blip r:embed="rId4"/>
          <a:stretch>
            <a:fillRect/>
          </a:stretch>
        </p:blipFill>
        <p:spPr>
          <a:xfrm>
            <a:off x="1330764" y="5443430"/>
            <a:ext cx="128699" cy="187198"/>
          </a:xfrm>
          <a:prstGeom prst="rect">
            <a:avLst/>
          </a:prstGeom>
        </p:spPr>
      </p:pic>
      <p:sp>
        <p:nvSpPr>
          <p:cNvPr id="78" name="TextBox 77"/>
          <p:cNvSpPr txBox="1"/>
          <p:nvPr/>
        </p:nvSpPr>
        <p:spPr>
          <a:xfrm>
            <a:off x="1498259" y="545320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9" name="TextBox 78"/>
          <p:cNvSpPr txBox="1"/>
          <p:nvPr/>
        </p:nvSpPr>
        <p:spPr>
          <a:xfrm>
            <a:off x="3838575" y="4229437"/>
            <a:ext cx="453826" cy="186689"/>
          </a:xfrm>
          <a:prstGeom prst="rect">
            <a:avLst/>
          </a:prstGeom>
          <a:noFill/>
        </p:spPr>
        <p:txBody>
          <a:bodyPr wrap="none" lIns="0" rIns="0" tIns="0" bIns="0">
            <a:spAutoFit/>
          </a:bodyPr>
          <a:lstStyle/>
          <a:p>
            <a:r>
              <a:rPr sz="1100" b="0">
                <a:solidFill>
                  <a:srgbClr val="2E2E2E"/>
                </a:solidFill>
                <a:latin typeface="Calibri"/>
              </a:rPr>
              <a:t>● U.S.:</a:t>
            </a:r>
          </a:p>
        </p:txBody>
      </p:sp>
      <p:pic>
        <p:nvPicPr>
          <p:cNvPr id="80" name="Picture 79" descr="lock.png"/>
          <p:cNvPicPr>
            <a:picLocks noChangeAspect="1"/>
          </p:cNvPicPr>
          <p:nvPr/>
        </p:nvPicPr>
        <p:blipFill>
          <a:blip r:embed="rId4"/>
          <a:stretch>
            <a:fillRect/>
          </a:stretch>
        </p:blipFill>
        <p:spPr>
          <a:xfrm>
            <a:off x="4240453" y="4219658"/>
            <a:ext cx="128699" cy="187198"/>
          </a:xfrm>
          <a:prstGeom prst="rect">
            <a:avLst/>
          </a:prstGeom>
        </p:spPr>
      </p:pic>
      <p:sp>
        <p:nvSpPr>
          <p:cNvPr id="81" name="TextBox 80"/>
          <p:cNvSpPr txBox="1"/>
          <p:nvPr/>
        </p:nvSpPr>
        <p:spPr>
          <a:xfrm>
            <a:off x="440794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2" name="Picture 81" descr="lock.png"/>
          <p:cNvPicPr>
            <a:picLocks noChangeAspect="1"/>
          </p:cNvPicPr>
          <p:nvPr/>
        </p:nvPicPr>
        <p:blipFill>
          <a:blip r:embed="rId4"/>
          <a:stretch>
            <a:fillRect/>
          </a:stretch>
        </p:blipFill>
        <p:spPr>
          <a:xfrm>
            <a:off x="5267399" y="4219658"/>
            <a:ext cx="128699" cy="187198"/>
          </a:xfrm>
          <a:prstGeom prst="rect">
            <a:avLst/>
          </a:prstGeom>
        </p:spPr>
      </p:pic>
      <p:sp>
        <p:nvSpPr>
          <p:cNvPr id="83" name="TextBox 82"/>
          <p:cNvSpPr txBox="1"/>
          <p:nvPr/>
        </p:nvSpPr>
        <p:spPr>
          <a:xfrm>
            <a:off x="543489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84" name="TextBox 83"/>
          <p:cNvSpPr txBox="1"/>
          <p:nvPr/>
        </p:nvSpPr>
        <p:spPr>
          <a:xfrm>
            <a:off x="3838575" y="4447369"/>
            <a:ext cx="651371" cy="186689"/>
          </a:xfrm>
          <a:prstGeom prst="rect">
            <a:avLst/>
          </a:prstGeom>
          <a:noFill/>
        </p:spPr>
        <p:txBody>
          <a:bodyPr wrap="none" lIns="0" rIns="0" tIns="0" bIns="0">
            <a:spAutoFit/>
          </a:bodyPr>
          <a:lstStyle/>
          <a:p>
            <a:r>
              <a:rPr sz="1100" b="0">
                <a:solidFill>
                  <a:srgbClr val="2E2E2E"/>
                </a:solidFill>
                <a:latin typeface="Calibri"/>
              </a:rPr>
              <a:t>● Canada:</a:t>
            </a:r>
          </a:p>
        </p:txBody>
      </p:sp>
      <p:pic>
        <p:nvPicPr>
          <p:cNvPr id="85" name="Picture 84" descr="lock.png"/>
          <p:cNvPicPr>
            <a:picLocks noChangeAspect="1"/>
          </p:cNvPicPr>
          <p:nvPr/>
        </p:nvPicPr>
        <p:blipFill>
          <a:blip r:embed="rId4"/>
          <a:stretch>
            <a:fillRect/>
          </a:stretch>
        </p:blipFill>
        <p:spPr>
          <a:xfrm>
            <a:off x="4437997" y="4437590"/>
            <a:ext cx="128699" cy="187198"/>
          </a:xfrm>
          <a:prstGeom prst="rect">
            <a:avLst/>
          </a:prstGeom>
        </p:spPr>
      </p:pic>
      <p:sp>
        <p:nvSpPr>
          <p:cNvPr id="86" name="TextBox 85"/>
          <p:cNvSpPr txBox="1"/>
          <p:nvPr/>
        </p:nvSpPr>
        <p:spPr>
          <a:xfrm>
            <a:off x="460549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7" name="Picture 86" descr="lock.png"/>
          <p:cNvPicPr>
            <a:picLocks noChangeAspect="1"/>
          </p:cNvPicPr>
          <p:nvPr/>
        </p:nvPicPr>
        <p:blipFill>
          <a:blip r:embed="rId4"/>
          <a:stretch>
            <a:fillRect/>
          </a:stretch>
        </p:blipFill>
        <p:spPr>
          <a:xfrm>
            <a:off x="5464943" y="4437590"/>
            <a:ext cx="128699" cy="187198"/>
          </a:xfrm>
          <a:prstGeom prst="rect">
            <a:avLst/>
          </a:prstGeom>
        </p:spPr>
      </p:pic>
      <p:sp>
        <p:nvSpPr>
          <p:cNvPr id="88" name="TextBox 87"/>
          <p:cNvSpPr txBox="1"/>
          <p:nvPr/>
        </p:nvSpPr>
        <p:spPr>
          <a:xfrm>
            <a:off x="5632439"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89" name="TextBox 88"/>
          <p:cNvSpPr txBox="1"/>
          <p:nvPr/>
        </p:nvSpPr>
        <p:spPr>
          <a:xfrm>
            <a:off x="3838575" y="4665301"/>
            <a:ext cx="644276" cy="186689"/>
          </a:xfrm>
          <a:prstGeom prst="rect">
            <a:avLst/>
          </a:prstGeom>
          <a:noFill/>
        </p:spPr>
        <p:txBody>
          <a:bodyPr wrap="none" lIns="0" rIns="0" tIns="0" bIns="0">
            <a:spAutoFit/>
          </a:bodyPr>
          <a:lstStyle/>
          <a:p>
            <a:r>
              <a:rPr sz="1100" b="0">
                <a:solidFill>
                  <a:srgbClr val="2E2E2E"/>
                </a:solidFill>
                <a:latin typeface="Calibri"/>
              </a:rPr>
              <a:t>● Mexico:</a:t>
            </a:r>
          </a:p>
        </p:txBody>
      </p:sp>
      <p:pic>
        <p:nvPicPr>
          <p:cNvPr id="90" name="Picture 89" descr="lock.png"/>
          <p:cNvPicPr>
            <a:picLocks noChangeAspect="1"/>
          </p:cNvPicPr>
          <p:nvPr/>
        </p:nvPicPr>
        <p:blipFill>
          <a:blip r:embed="rId4"/>
          <a:stretch>
            <a:fillRect/>
          </a:stretch>
        </p:blipFill>
        <p:spPr>
          <a:xfrm>
            <a:off x="4430903" y="4655522"/>
            <a:ext cx="128699" cy="187198"/>
          </a:xfrm>
          <a:prstGeom prst="rect">
            <a:avLst/>
          </a:prstGeom>
        </p:spPr>
      </p:pic>
      <p:sp>
        <p:nvSpPr>
          <p:cNvPr id="91" name="TextBox 90"/>
          <p:cNvSpPr txBox="1"/>
          <p:nvPr/>
        </p:nvSpPr>
        <p:spPr>
          <a:xfrm>
            <a:off x="4598399"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2" name="Picture 91" descr="lock.png"/>
          <p:cNvPicPr>
            <a:picLocks noChangeAspect="1"/>
          </p:cNvPicPr>
          <p:nvPr/>
        </p:nvPicPr>
        <p:blipFill>
          <a:blip r:embed="rId4"/>
          <a:stretch>
            <a:fillRect/>
          </a:stretch>
        </p:blipFill>
        <p:spPr>
          <a:xfrm>
            <a:off x="5457849" y="4655522"/>
            <a:ext cx="128699" cy="187198"/>
          </a:xfrm>
          <a:prstGeom prst="rect">
            <a:avLst/>
          </a:prstGeom>
        </p:spPr>
      </p:pic>
      <p:sp>
        <p:nvSpPr>
          <p:cNvPr id="93" name="TextBox 92"/>
          <p:cNvSpPr txBox="1"/>
          <p:nvPr/>
        </p:nvSpPr>
        <p:spPr>
          <a:xfrm>
            <a:off x="5625345"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94" name="TextBox 93"/>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North America market is projected to grow at a</a:t>
            </a:r>
          </a:p>
        </p:txBody>
      </p:sp>
      <p:sp>
        <p:nvSpPr>
          <p:cNvPr id="95" name="TextBox 94"/>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96" name="Picture 95" descr="lock.png"/>
          <p:cNvPicPr>
            <a:picLocks noChangeAspect="1"/>
          </p:cNvPicPr>
          <p:nvPr/>
        </p:nvPicPr>
        <p:blipFill>
          <a:blip r:embed="rId4"/>
          <a:stretch>
            <a:fillRect/>
          </a:stretch>
        </p:blipFill>
        <p:spPr>
          <a:xfrm>
            <a:off x="9048826" y="6007677"/>
            <a:ext cx="134549" cy="195707"/>
          </a:xfrm>
          <a:prstGeom prst="rect">
            <a:avLst/>
          </a:prstGeom>
        </p:spPr>
      </p:pic>
      <p:sp>
        <p:nvSpPr>
          <p:cNvPr id="97" name="TextBox 96"/>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Industrial Air Compressor Market Analysis, By Country Volume (Units)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country in 2026 and 2036, highlighting share gains and losses in basis points</a:t>
            </a:r>
          </a:p>
        </p:txBody>
      </p:sp>
      <p:sp>
        <p:nvSpPr>
          <p:cNvPr id="7" name="Rounded Rectangle 6"/>
          <p:cNvSpPr/>
          <p:nvPr/>
        </p:nvSpPr>
        <p:spPr>
          <a:xfrm>
            <a:off x="142875" y="981075"/>
            <a:ext cx="6810375"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9" name="Chart 8"/>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0" name="TextBox 9"/>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2A5F8F"/>
                </a:solidFill>
                <a:latin typeface="Calibri"/>
              </a:rPr>
              <a:t>BPS Δ  (2026→2036)</a:t>
            </a:r>
          </a:p>
        </p:txBody>
      </p:sp>
      <p:sp>
        <p:nvSpPr>
          <p:cNvPr id="11" name="FMI Lock Anchor"/>
          <p:cNvSpPr txBox="1"/>
          <p:nvPr/>
        </p:nvSpPr>
        <p:spPr>
          <a:xfrm>
            <a:off x="2489835" y="3352800"/>
            <a:ext cx="38100" cy="38100"/>
          </a:xfrm>
          <a:prstGeom prst="rect">
            <a:avLst/>
          </a:prstGeom>
          <a:noFill/>
        </p:spPr>
        <p:txBody>
          <a:bodyPr wrap="none">
            <a:spAutoFit/>
          </a:bodyPr>
          <a:lstStyle/>
          <a:p/>
        </p:txBody>
      </p:sp>
      <p:sp>
        <p:nvSpPr>
          <p:cNvPr id="12" name="FMI Legend Chip"/>
          <p:cNvSpPr/>
          <p:nvPr/>
        </p:nvSpPr>
        <p:spPr>
          <a:xfrm>
            <a:off x="4551045" y="1783136"/>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4712970" y="177837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4855845" y="170217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Mexico</a:t>
            </a:r>
          </a:p>
        </p:txBody>
      </p:sp>
      <p:sp>
        <p:nvSpPr>
          <p:cNvPr id="15" name="BPS Value 1"/>
          <p:cNvSpPr txBox="1"/>
          <p:nvPr/>
        </p:nvSpPr>
        <p:spPr>
          <a:xfrm>
            <a:off x="6305550" y="176408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FMI Legend Chip"/>
          <p:cNvSpPr/>
          <p:nvPr/>
        </p:nvSpPr>
        <p:spPr>
          <a:xfrm>
            <a:off x="4551045" y="2574790"/>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257002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4855845" y="2493828"/>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9" name="BPS Value 2"/>
          <p:cNvSpPr txBox="1"/>
          <p:nvPr/>
        </p:nvSpPr>
        <p:spPr>
          <a:xfrm>
            <a:off x="6305550" y="255574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551045" y="4087304"/>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4712970" y="408254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4855845" y="400634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3" name="BPS Value 3"/>
          <p:cNvSpPr txBox="1"/>
          <p:nvPr/>
        </p:nvSpPr>
        <p:spPr>
          <a:xfrm>
            <a:off x="6305550" y="406825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Rounded Rectangle 23"/>
          <p:cNvSpPr/>
          <p:nvPr/>
        </p:nvSpPr>
        <p:spPr>
          <a:xfrm>
            <a:off x="7105650" y="981075"/>
            <a:ext cx="4933950"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E2A5C"/>
                </a:solidFill>
                <a:latin typeface="Calibri"/>
              </a:rPr>
              <a:t>Regional Highlights</a:t>
            </a:r>
          </a:p>
        </p:txBody>
      </p:sp>
      <p:sp>
        <p:nvSpPr>
          <p:cNvPr id="26" name="Rectangle 25"/>
          <p:cNvSpPr/>
          <p:nvPr/>
        </p:nvSpPr>
        <p:spPr>
          <a:xfrm>
            <a:off x="7239000" y="1304925"/>
            <a:ext cx="46672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8" name="Rounded Rectangle 27"/>
          <p:cNvSpPr/>
          <p:nvPr/>
        </p:nvSpPr>
        <p:spPr>
          <a:xfrm>
            <a:off x="142875" y="5648325"/>
            <a:ext cx="3943350"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(UNITS)</a:t>
            </a:r>
          </a:p>
          <a:p>
            <a:pPr algn="ctr">
              <a:lnSpc>
                <a:spcPct val="95000"/>
              </a:lnSpc>
            </a:pPr>
            <a:r>
              <a:rPr sz="2000" b="1">
                <a:solidFill>
                  <a:srgbClr val="2A5F8F"/>
                </a:solidFill>
                <a:latin typeface="Calibri"/>
              </a:rPr>
              <a:t> </a:t>
            </a:r>
          </a:p>
        </p:txBody>
      </p:sp>
      <p:sp>
        <p:nvSpPr>
          <p:cNvPr id="29" name="Rounded Rectangle 28"/>
          <p:cNvSpPr/>
          <p:nvPr/>
        </p:nvSpPr>
        <p:spPr>
          <a:xfrm>
            <a:off x="4238625"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(UNITS)</a:t>
            </a:r>
          </a:p>
          <a:p>
            <a:pPr algn="ctr">
              <a:lnSpc>
                <a:spcPct val="95000"/>
              </a:lnSpc>
            </a:pPr>
            <a:r>
              <a:rPr sz="2000" b="1">
                <a:solidFill>
                  <a:srgbClr val="2A5F8F"/>
                </a:solidFill>
                <a:latin typeface="Calibri"/>
              </a:rPr>
              <a:t> </a:t>
            </a:r>
          </a:p>
        </p:txBody>
      </p:sp>
      <p:sp>
        <p:nvSpPr>
          <p:cNvPr id="30" name="Rounded Rectangle 29"/>
          <p:cNvSpPr/>
          <p:nvPr/>
        </p:nvSpPr>
        <p:spPr>
          <a:xfrm>
            <a:off x="8210550"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2A5F8F"/>
                </a:solidFill>
                <a:latin typeface="Calibri"/>
              </a:rPr>
              <a:t> </a:t>
            </a:r>
          </a:p>
        </p:txBody>
      </p:sp>
      <p:sp>
        <p:nvSpPr>
          <p:cNvPr id="31" name="Rectangle 3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3" name="Picture 32" descr="lock.png"/>
          <p:cNvPicPr>
            <a:picLocks noChangeAspect="1"/>
          </p:cNvPicPr>
          <p:nvPr/>
        </p:nvPicPr>
        <p:blipFill>
          <a:blip r:embed="rId5"/>
          <a:stretch>
            <a:fillRect/>
          </a:stretch>
        </p:blipFill>
        <p:spPr>
          <a:xfrm>
            <a:off x="2368867" y="3171825"/>
            <a:ext cx="275034" cy="400050"/>
          </a:xfrm>
          <a:prstGeom prst="rect">
            <a:avLst/>
          </a:prstGeom>
        </p:spPr>
      </p:pic>
      <p:pic>
        <p:nvPicPr>
          <p:cNvPr id="34" name="Picture 33" descr="lock.png"/>
          <p:cNvPicPr>
            <a:picLocks noChangeAspect="1"/>
          </p:cNvPicPr>
          <p:nvPr/>
        </p:nvPicPr>
        <p:blipFill>
          <a:blip r:embed="rId5"/>
          <a:stretch>
            <a:fillRect/>
          </a:stretch>
        </p:blipFill>
        <p:spPr>
          <a:xfrm>
            <a:off x="2009775" y="6070282"/>
            <a:ext cx="209550" cy="304800"/>
          </a:xfrm>
          <a:prstGeom prst="rect">
            <a:avLst/>
          </a:prstGeom>
        </p:spPr>
      </p:pic>
      <p:pic>
        <p:nvPicPr>
          <p:cNvPr id="35" name="Picture 34" descr="lock.png"/>
          <p:cNvPicPr>
            <a:picLocks noChangeAspect="1"/>
          </p:cNvPicPr>
          <p:nvPr/>
        </p:nvPicPr>
        <p:blipFill>
          <a:blip r:embed="rId5"/>
          <a:stretch>
            <a:fillRect/>
          </a:stretch>
        </p:blipFill>
        <p:spPr>
          <a:xfrm>
            <a:off x="6043612" y="6070282"/>
            <a:ext cx="209550" cy="304800"/>
          </a:xfrm>
          <a:prstGeom prst="rect">
            <a:avLst/>
          </a:prstGeom>
        </p:spPr>
      </p:pic>
      <p:pic>
        <p:nvPicPr>
          <p:cNvPr id="36" name="Picture 35" descr="lock.png"/>
          <p:cNvPicPr>
            <a:picLocks noChangeAspect="1"/>
          </p:cNvPicPr>
          <p:nvPr/>
        </p:nvPicPr>
        <p:blipFill>
          <a:blip r:embed="rId5"/>
          <a:stretch>
            <a:fillRect/>
          </a:stretch>
        </p:blipFill>
        <p:spPr>
          <a:xfrm>
            <a:off x="10015537" y="6070282"/>
            <a:ext cx="209550" cy="304800"/>
          </a:xfrm>
          <a:prstGeom prst="rect">
            <a:avLst/>
          </a:prstGeom>
        </p:spPr>
      </p:pic>
      <p:sp>
        <p:nvSpPr>
          <p:cNvPr id="37" name="TextBox 36"/>
          <p:cNvSpPr txBox="1"/>
          <p:nvPr/>
        </p:nvSpPr>
        <p:spPr>
          <a:xfrm>
            <a:off x="7239000" y="1400175"/>
            <a:ext cx="3912294" cy="194310"/>
          </a:xfrm>
          <a:prstGeom prst="rect">
            <a:avLst/>
          </a:prstGeom>
          <a:noFill/>
        </p:spPr>
        <p:txBody>
          <a:bodyPr wrap="none" lIns="0" rIns="0" tIns="0" bIns="0">
            <a:spAutoFit/>
          </a:bodyPr>
          <a:lstStyle/>
          <a:p>
            <a:r>
              <a:rPr sz="1150" b="0">
                <a:solidFill>
                  <a:srgbClr val="2E2E2E"/>
                </a:solidFill>
                <a:latin typeface="Calibri"/>
              </a:rPr>
              <a:t>The U.S. industrial air compressor market is projected to register</a:t>
            </a:r>
          </a:p>
        </p:txBody>
      </p:sp>
      <p:pic>
        <p:nvPicPr>
          <p:cNvPr id="38" name="Picture 37" descr="lock.png"/>
          <p:cNvPicPr>
            <a:picLocks noChangeAspect="1"/>
          </p:cNvPicPr>
          <p:nvPr/>
        </p:nvPicPr>
        <p:blipFill>
          <a:blip r:embed="rId5"/>
          <a:stretch>
            <a:fillRect/>
          </a:stretch>
        </p:blipFill>
        <p:spPr>
          <a:xfrm>
            <a:off x="11100448" y="1389951"/>
            <a:ext cx="134549" cy="195707"/>
          </a:xfrm>
          <a:prstGeom prst="rect">
            <a:avLst/>
          </a:prstGeom>
        </p:spPr>
      </p:pic>
      <p:sp>
        <p:nvSpPr>
          <p:cNvPr id="39" name="TextBox 38"/>
          <p:cNvSpPr txBox="1"/>
          <p:nvPr/>
        </p:nvSpPr>
        <p:spPr>
          <a:xfrm>
            <a:off x="11275557" y="1400175"/>
            <a:ext cx="564839" cy="194310"/>
          </a:xfrm>
          <a:prstGeom prst="rect">
            <a:avLst/>
          </a:prstGeom>
          <a:noFill/>
        </p:spPr>
        <p:txBody>
          <a:bodyPr wrap="none" lIns="0" rIns="0" tIns="0" bIns="0">
            <a:spAutoFit/>
          </a:bodyPr>
          <a:lstStyle/>
          <a:p>
            <a:r>
              <a:rPr sz="1150" b="0">
                <a:solidFill>
                  <a:srgbClr val="2E2E2E"/>
                </a:solidFill>
                <a:latin typeface="Calibri"/>
              </a:rPr>
              <a:t>X higher</a:t>
            </a:r>
          </a:p>
        </p:txBody>
      </p:sp>
      <p:sp>
        <p:nvSpPr>
          <p:cNvPr id="40" name="TextBox 39"/>
          <p:cNvSpPr txBox="1"/>
          <p:nvPr/>
        </p:nvSpPr>
        <p:spPr>
          <a:xfrm>
            <a:off x="7239000" y="1575435"/>
            <a:ext cx="4479949" cy="194310"/>
          </a:xfrm>
          <a:prstGeom prst="rect">
            <a:avLst/>
          </a:prstGeom>
          <a:noFill/>
        </p:spPr>
        <p:txBody>
          <a:bodyPr wrap="none" lIns="0" rIns="0" tIns="0" bIns="0">
            <a:spAutoFit/>
          </a:bodyPr>
          <a:lstStyle/>
          <a:p>
            <a:r>
              <a:rPr sz="1150" b="0">
                <a:solidFill>
                  <a:srgbClr val="2E2E2E"/>
                </a:solidFill>
                <a:latin typeface="Calibri"/>
              </a:rPr>
              <a:t>volume than Canada in 2036. Among industrial air compressor by country,</a:t>
            </a:r>
          </a:p>
        </p:txBody>
      </p:sp>
      <p:sp>
        <p:nvSpPr>
          <p:cNvPr id="41" name="TextBox 40"/>
          <p:cNvSpPr txBox="1"/>
          <p:nvPr/>
        </p:nvSpPr>
        <p:spPr>
          <a:xfrm>
            <a:off x="7239000" y="1750695"/>
            <a:ext cx="3076482" cy="194310"/>
          </a:xfrm>
          <a:prstGeom prst="rect">
            <a:avLst/>
          </a:prstGeom>
          <a:noFill/>
        </p:spPr>
        <p:txBody>
          <a:bodyPr wrap="none" lIns="0" rIns="0" tIns="0" bIns="0">
            <a:spAutoFit/>
          </a:bodyPr>
          <a:lstStyle/>
          <a:p>
            <a:r>
              <a:rPr sz="1150" b="0">
                <a:solidFill>
                  <a:srgbClr val="2E2E2E"/>
                </a:solidFill>
                <a:latin typeface="Calibri"/>
              </a:rPr>
              <a:t>Mexico is expected to witness the highest CAGR of</a:t>
            </a:r>
          </a:p>
        </p:txBody>
      </p:sp>
      <p:pic>
        <p:nvPicPr>
          <p:cNvPr id="42" name="Picture 41" descr="lock.png"/>
          <p:cNvPicPr>
            <a:picLocks noChangeAspect="1"/>
          </p:cNvPicPr>
          <p:nvPr/>
        </p:nvPicPr>
        <p:blipFill>
          <a:blip r:embed="rId5"/>
          <a:stretch>
            <a:fillRect/>
          </a:stretch>
        </p:blipFill>
        <p:spPr>
          <a:xfrm>
            <a:off x="10264636" y="1740471"/>
            <a:ext cx="134549" cy="195707"/>
          </a:xfrm>
          <a:prstGeom prst="rect">
            <a:avLst/>
          </a:prstGeom>
        </p:spPr>
      </p:pic>
      <p:sp>
        <p:nvSpPr>
          <p:cNvPr id="43" name="TextBox 42"/>
          <p:cNvSpPr txBox="1"/>
          <p:nvPr/>
        </p:nvSpPr>
        <p:spPr>
          <a:xfrm>
            <a:off x="10439745" y="175069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44" name="TextBox 43"/>
          <p:cNvSpPr txBox="1"/>
          <p:nvPr/>
        </p:nvSpPr>
        <p:spPr>
          <a:xfrm>
            <a:off x="7239000" y="1925955"/>
            <a:ext cx="500943" cy="194310"/>
          </a:xfrm>
          <a:prstGeom prst="rect">
            <a:avLst/>
          </a:prstGeom>
          <a:noFill/>
        </p:spPr>
        <p:txBody>
          <a:bodyPr wrap="none" lIns="0" rIns="0" tIns="0" bIns="0">
            <a:spAutoFit/>
          </a:bodyPr>
          <a:lstStyle/>
          <a:p>
            <a:r>
              <a:rPr sz="1150" b="0">
                <a:solidFill>
                  <a:srgbClr val="2E2E2E"/>
                </a:solidFill>
                <a:latin typeface="Calibri"/>
              </a:rPr>
              <a:t>period.</a:t>
            </a:r>
          </a:p>
        </p:txBody>
      </p:sp>
      <p:sp>
        <p:nvSpPr>
          <p:cNvPr id="45" name="TextBox 44"/>
          <p:cNvSpPr txBox="1"/>
          <p:nvPr/>
        </p:nvSpPr>
        <p:spPr>
          <a:xfrm>
            <a:off x="7239000" y="2153793"/>
            <a:ext cx="4231493"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a:t>
            </a:r>
          </a:p>
        </p:txBody>
      </p:sp>
      <p:sp>
        <p:nvSpPr>
          <p:cNvPr id="46" name="TextBox 45"/>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47" name="Picture 46" descr="lock.png"/>
          <p:cNvPicPr>
            <a:picLocks noChangeAspect="1"/>
          </p:cNvPicPr>
          <p:nvPr/>
        </p:nvPicPr>
        <p:blipFill>
          <a:blip r:embed="rId5"/>
          <a:stretch>
            <a:fillRect/>
          </a:stretch>
        </p:blipFill>
        <p:spPr>
          <a:xfrm>
            <a:off x="8106708" y="2318829"/>
            <a:ext cx="134549" cy="195707"/>
          </a:xfrm>
          <a:prstGeom prst="rect">
            <a:avLst/>
          </a:prstGeom>
        </p:spPr>
      </p:pic>
      <p:sp>
        <p:nvSpPr>
          <p:cNvPr id="48" name="TextBox 47"/>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9" name="Picture 48" descr="lock.png"/>
          <p:cNvPicPr>
            <a:picLocks noChangeAspect="1"/>
          </p:cNvPicPr>
          <p:nvPr/>
        </p:nvPicPr>
        <p:blipFill>
          <a:blip r:embed="rId5"/>
          <a:stretch>
            <a:fillRect/>
          </a:stretch>
        </p:blipFill>
        <p:spPr>
          <a:xfrm>
            <a:off x="9676961" y="2318829"/>
            <a:ext cx="134549" cy="195707"/>
          </a:xfrm>
          <a:prstGeom prst="rect">
            <a:avLst/>
          </a:prstGeom>
        </p:spPr>
      </p:pic>
      <p:sp>
        <p:nvSpPr>
          <p:cNvPr id="50" name="TextBox 49"/>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lockshield_9"/>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Industrial Air Compressor Market Analysis, By Country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country in 2026 and 2036, highlighting share gains and losses in basis points</a:t>
            </a:r>
          </a:p>
        </p:txBody>
      </p:sp>
      <p:sp>
        <p:nvSpPr>
          <p:cNvPr id="7" name="Rounded Rectangle 6"/>
          <p:cNvSpPr/>
          <p:nvPr/>
        </p:nvSpPr>
        <p:spPr>
          <a:xfrm>
            <a:off x="142875" y="981075"/>
            <a:ext cx="6810375"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9" name="Chart 8"/>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0" name="TextBox 9"/>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2A5F8F"/>
                </a:solidFill>
                <a:latin typeface="Calibri"/>
              </a:rPr>
              <a:t>BPS Δ  (2026→2036)</a:t>
            </a:r>
          </a:p>
        </p:txBody>
      </p:sp>
      <p:sp>
        <p:nvSpPr>
          <p:cNvPr id="11" name="FMI Lock Anchor"/>
          <p:cNvSpPr txBox="1"/>
          <p:nvPr/>
        </p:nvSpPr>
        <p:spPr>
          <a:xfrm>
            <a:off x="2489835" y="3352800"/>
            <a:ext cx="38100" cy="38100"/>
          </a:xfrm>
          <a:prstGeom prst="rect">
            <a:avLst/>
          </a:prstGeom>
          <a:noFill/>
        </p:spPr>
        <p:txBody>
          <a:bodyPr wrap="none">
            <a:spAutoFit/>
          </a:bodyPr>
          <a:lstStyle/>
          <a:p/>
        </p:txBody>
      </p:sp>
      <p:sp>
        <p:nvSpPr>
          <p:cNvPr id="12" name="FMI Legend Chip"/>
          <p:cNvSpPr/>
          <p:nvPr/>
        </p:nvSpPr>
        <p:spPr>
          <a:xfrm>
            <a:off x="4551045" y="1785752"/>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4712970" y="178098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4855845" y="170478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Mexico</a:t>
            </a:r>
          </a:p>
        </p:txBody>
      </p:sp>
      <p:sp>
        <p:nvSpPr>
          <p:cNvPr id="15" name="BPS Value 1"/>
          <p:cNvSpPr txBox="1"/>
          <p:nvPr/>
        </p:nvSpPr>
        <p:spPr>
          <a:xfrm>
            <a:off x="6305550" y="176670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FMI Legend Chip"/>
          <p:cNvSpPr/>
          <p:nvPr/>
        </p:nvSpPr>
        <p:spPr>
          <a:xfrm>
            <a:off x="4551045" y="2601260"/>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259649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4855845" y="2520298"/>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9" name="BPS Value 2"/>
          <p:cNvSpPr txBox="1"/>
          <p:nvPr/>
        </p:nvSpPr>
        <p:spPr>
          <a:xfrm>
            <a:off x="6305550" y="258221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551045" y="4111158"/>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4712970" y="410639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4855845" y="403019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3" name="BPS Value 3"/>
          <p:cNvSpPr txBox="1"/>
          <p:nvPr/>
        </p:nvSpPr>
        <p:spPr>
          <a:xfrm>
            <a:off x="6305550" y="409210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Rounded Rectangle 23"/>
          <p:cNvSpPr/>
          <p:nvPr/>
        </p:nvSpPr>
        <p:spPr>
          <a:xfrm>
            <a:off x="7105650" y="981075"/>
            <a:ext cx="4933950"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E2A5C"/>
                </a:solidFill>
                <a:latin typeface="Calibri"/>
              </a:rPr>
              <a:t>Regional Highlights</a:t>
            </a:r>
          </a:p>
        </p:txBody>
      </p:sp>
      <p:sp>
        <p:nvSpPr>
          <p:cNvPr id="26" name="Rectangle 25"/>
          <p:cNvSpPr/>
          <p:nvPr/>
        </p:nvSpPr>
        <p:spPr>
          <a:xfrm>
            <a:off x="7239000" y="1304925"/>
            <a:ext cx="46672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8" name="Rounded Rectangle 27"/>
          <p:cNvSpPr/>
          <p:nvPr/>
        </p:nvSpPr>
        <p:spPr>
          <a:xfrm>
            <a:off x="142875" y="5648325"/>
            <a:ext cx="3943350"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2A5F8F"/>
                </a:solidFill>
                <a:latin typeface="Calibri"/>
              </a:rPr>
              <a:t> </a:t>
            </a:r>
          </a:p>
        </p:txBody>
      </p:sp>
      <p:sp>
        <p:nvSpPr>
          <p:cNvPr id="29" name="Rounded Rectangle 28"/>
          <p:cNvSpPr/>
          <p:nvPr/>
        </p:nvSpPr>
        <p:spPr>
          <a:xfrm>
            <a:off x="4238625"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2A5F8F"/>
                </a:solidFill>
                <a:latin typeface="Calibri"/>
              </a:rPr>
              <a:t> </a:t>
            </a:r>
          </a:p>
        </p:txBody>
      </p:sp>
      <p:sp>
        <p:nvSpPr>
          <p:cNvPr id="30" name="Rounded Rectangle 29"/>
          <p:cNvSpPr/>
          <p:nvPr/>
        </p:nvSpPr>
        <p:spPr>
          <a:xfrm>
            <a:off x="8210550"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2A5F8F"/>
                </a:solidFill>
                <a:latin typeface="Calibri"/>
              </a:rPr>
              <a:t> </a:t>
            </a:r>
          </a:p>
        </p:txBody>
      </p:sp>
      <p:sp>
        <p:nvSpPr>
          <p:cNvPr id="31" name="Rectangle 3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3" name="Picture 32" descr="lock.png"/>
          <p:cNvPicPr>
            <a:picLocks noChangeAspect="1"/>
          </p:cNvPicPr>
          <p:nvPr/>
        </p:nvPicPr>
        <p:blipFill>
          <a:blip r:embed="rId5"/>
          <a:stretch>
            <a:fillRect/>
          </a:stretch>
        </p:blipFill>
        <p:spPr>
          <a:xfrm>
            <a:off x="2368867" y="3171825"/>
            <a:ext cx="275034" cy="400050"/>
          </a:xfrm>
          <a:prstGeom prst="rect">
            <a:avLst/>
          </a:prstGeom>
        </p:spPr>
      </p:pic>
      <p:pic>
        <p:nvPicPr>
          <p:cNvPr id="34" name="Picture 33" descr="lock.png"/>
          <p:cNvPicPr>
            <a:picLocks noChangeAspect="1"/>
          </p:cNvPicPr>
          <p:nvPr/>
        </p:nvPicPr>
        <p:blipFill>
          <a:blip r:embed="rId5"/>
          <a:stretch>
            <a:fillRect/>
          </a:stretch>
        </p:blipFill>
        <p:spPr>
          <a:xfrm>
            <a:off x="2009775" y="6070282"/>
            <a:ext cx="209550" cy="304800"/>
          </a:xfrm>
          <a:prstGeom prst="rect">
            <a:avLst/>
          </a:prstGeom>
        </p:spPr>
      </p:pic>
      <p:pic>
        <p:nvPicPr>
          <p:cNvPr id="35" name="Picture 34" descr="lock.png"/>
          <p:cNvPicPr>
            <a:picLocks noChangeAspect="1"/>
          </p:cNvPicPr>
          <p:nvPr/>
        </p:nvPicPr>
        <p:blipFill>
          <a:blip r:embed="rId5"/>
          <a:stretch>
            <a:fillRect/>
          </a:stretch>
        </p:blipFill>
        <p:spPr>
          <a:xfrm>
            <a:off x="6043612" y="6070282"/>
            <a:ext cx="209550" cy="304800"/>
          </a:xfrm>
          <a:prstGeom prst="rect">
            <a:avLst/>
          </a:prstGeom>
        </p:spPr>
      </p:pic>
      <p:pic>
        <p:nvPicPr>
          <p:cNvPr id="36" name="Picture 35" descr="lock.png"/>
          <p:cNvPicPr>
            <a:picLocks noChangeAspect="1"/>
          </p:cNvPicPr>
          <p:nvPr/>
        </p:nvPicPr>
        <p:blipFill>
          <a:blip r:embed="rId5"/>
          <a:stretch>
            <a:fillRect/>
          </a:stretch>
        </p:blipFill>
        <p:spPr>
          <a:xfrm>
            <a:off x="10015537" y="6070282"/>
            <a:ext cx="209550" cy="304800"/>
          </a:xfrm>
          <a:prstGeom prst="rect">
            <a:avLst/>
          </a:prstGeom>
        </p:spPr>
      </p:pic>
      <p:sp>
        <p:nvSpPr>
          <p:cNvPr id="37" name="TextBox 36"/>
          <p:cNvSpPr txBox="1"/>
          <p:nvPr/>
        </p:nvSpPr>
        <p:spPr>
          <a:xfrm>
            <a:off x="7239000" y="1400175"/>
            <a:ext cx="3912294" cy="194310"/>
          </a:xfrm>
          <a:prstGeom prst="rect">
            <a:avLst/>
          </a:prstGeom>
          <a:noFill/>
        </p:spPr>
        <p:txBody>
          <a:bodyPr wrap="none" lIns="0" rIns="0" tIns="0" bIns="0">
            <a:spAutoFit/>
          </a:bodyPr>
          <a:lstStyle/>
          <a:p>
            <a:r>
              <a:rPr sz="1150" b="0">
                <a:solidFill>
                  <a:srgbClr val="2E2E2E"/>
                </a:solidFill>
                <a:latin typeface="Calibri"/>
              </a:rPr>
              <a:t>The U.S. industrial air compressor market is projected to register</a:t>
            </a:r>
          </a:p>
        </p:txBody>
      </p:sp>
      <p:pic>
        <p:nvPicPr>
          <p:cNvPr id="38" name="Picture 37" descr="lock.png"/>
          <p:cNvPicPr>
            <a:picLocks noChangeAspect="1"/>
          </p:cNvPicPr>
          <p:nvPr/>
        </p:nvPicPr>
        <p:blipFill>
          <a:blip r:embed="rId5"/>
          <a:stretch>
            <a:fillRect/>
          </a:stretch>
        </p:blipFill>
        <p:spPr>
          <a:xfrm>
            <a:off x="11100448" y="1389951"/>
            <a:ext cx="134549" cy="195707"/>
          </a:xfrm>
          <a:prstGeom prst="rect">
            <a:avLst/>
          </a:prstGeom>
        </p:spPr>
      </p:pic>
      <p:sp>
        <p:nvSpPr>
          <p:cNvPr id="39" name="TextBox 38"/>
          <p:cNvSpPr txBox="1"/>
          <p:nvPr/>
        </p:nvSpPr>
        <p:spPr>
          <a:xfrm>
            <a:off x="11275557" y="1400175"/>
            <a:ext cx="564839" cy="194310"/>
          </a:xfrm>
          <a:prstGeom prst="rect">
            <a:avLst/>
          </a:prstGeom>
          <a:noFill/>
        </p:spPr>
        <p:txBody>
          <a:bodyPr wrap="none" lIns="0" rIns="0" tIns="0" bIns="0">
            <a:spAutoFit/>
          </a:bodyPr>
          <a:lstStyle/>
          <a:p>
            <a:r>
              <a:rPr sz="1150" b="0">
                <a:solidFill>
                  <a:srgbClr val="2E2E2E"/>
                </a:solidFill>
                <a:latin typeface="Calibri"/>
              </a:rPr>
              <a:t>X higher</a:t>
            </a:r>
          </a:p>
        </p:txBody>
      </p:sp>
      <p:sp>
        <p:nvSpPr>
          <p:cNvPr id="40" name="TextBox 39"/>
          <p:cNvSpPr txBox="1"/>
          <p:nvPr/>
        </p:nvSpPr>
        <p:spPr>
          <a:xfrm>
            <a:off x="7239000" y="1575435"/>
            <a:ext cx="4356149" cy="194310"/>
          </a:xfrm>
          <a:prstGeom prst="rect">
            <a:avLst/>
          </a:prstGeom>
          <a:noFill/>
        </p:spPr>
        <p:txBody>
          <a:bodyPr wrap="none" lIns="0" rIns="0" tIns="0" bIns="0">
            <a:spAutoFit/>
          </a:bodyPr>
          <a:lstStyle/>
          <a:p>
            <a:r>
              <a:rPr sz="1150" b="0">
                <a:solidFill>
                  <a:srgbClr val="2E2E2E"/>
                </a:solidFill>
                <a:latin typeface="Calibri"/>
              </a:rPr>
              <a:t>value than Canada in 2036. Among industrial air compressor by country,</a:t>
            </a:r>
          </a:p>
        </p:txBody>
      </p:sp>
      <p:sp>
        <p:nvSpPr>
          <p:cNvPr id="41" name="TextBox 40"/>
          <p:cNvSpPr txBox="1"/>
          <p:nvPr/>
        </p:nvSpPr>
        <p:spPr>
          <a:xfrm>
            <a:off x="7239000" y="1750695"/>
            <a:ext cx="3076482" cy="194310"/>
          </a:xfrm>
          <a:prstGeom prst="rect">
            <a:avLst/>
          </a:prstGeom>
          <a:noFill/>
        </p:spPr>
        <p:txBody>
          <a:bodyPr wrap="none" lIns="0" rIns="0" tIns="0" bIns="0">
            <a:spAutoFit/>
          </a:bodyPr>
          <a:lstStyle/>
          <a:p>
            <a:r>
              <a:rPr sz="1150" b="0">
                <a:solidFill>
                  <a:srgbClr val="2E2E2E"/>
                </a:solidFill>
                <a:latin typeface="Calibri"/>
              </a:rPr>
              <a:t>Mexico is expected to witness the highest CAGR of</a:t>
            </a:r>
          </a:p>
        </p:txBody>
      </p:sp>
      <p:pic>
        <p:nvPicPr>
          <p:cNvPr id="42" name="Picture 41" descr="lock.png"/>
          <p:cNvPicPr>
            <a:picLocks noChangeAspect="1"/>
          </p:cNvPicPr>
          <p:nvPr/>
        </p:nvPicPr>
        <p:blipFill>
          <a:blip r:embed="rId5"/>
          <a:stretch>
            <a:fillRect/>
          </a:stretch>
        </p:blipFill>
        <p:spPr>
          <a:xfrm>
            <a:off x="10264636" y="1740471"/>
            <a:ext cx="134549" cy="195707"/>
          </a:xfrm>
          <a:prstGeom prst="rect">
            <a:avLst/>
          </a:prstGeom>
        </p:spPr>
      </p:pic>
      <p:sp>
        <p:nvSpPr>
          <p:cNvPr id="43" name="TextBox 42"/>
          <p:cNvSpPr txBox="1"/>
          <p:nvPr/>
        </p:nvSpPr>
        <p:spPr>
          <a:xfrm>
            <a:off x="10439745" y="175069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44" name="TextBox 43"/>
          <p:cNvSpPr txBox="1"/>
          <p:nvPr/>
        </p:nvSpPr>
        <p:spPr>
          <a:xfrm>
            <a:off x="7239000" y="1925955"/>
            <a:ext cx="500943" cy="194310"/>
          </a:xfrm>
          <a:prstGeom prst="rect">
            <a:avLst/>
          </a:prstGeom>
          <a:noFill/>
        </p:spPr>
        <p:txBody>
          <a:bodyPr wrap="none" lIns="0" rIns="0" tIns="0" bIns="0">
            <a:spAutoFit/>
          </a:bodyPr>
          <a:lstStyle/>
          <a:p>
            <a:r>
              <a:rPr sz="1150" b="0">
                <a:solidFill>
                  <a:srgbClr val="2E2E2E"/>
                </a:solidFill>
                <a:latin typeface="Calibri"/>
              </a:rPr>
              <a:t>period.</a:t>
            </a:r>
          </a:p>
        </p:txBody>
      </p:sp>
      <p:sp>
        <p:nvSpPr>
          <p:cNvPr id="45" name="TextBox 44"/>
          <p:cNvSpPr txBox="1"/>
          <p:nvPr/>
        </p:nvSpPr>
        <p:spPr>
          <a:xfrm>
            <a:off x="7239000" y="2153793"/>
            <a:ext cx="4603179"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a:t>
            </a:r>
          </a:p>
        </p:txBody>
      </p:sp>
      <p:sp>
        <p:nvSpPr>
          <p:cNvPr id="46" name="TextBox 45"/>
          <p:cNvSpPr txBox="1"/>
          <p:nvPr/>
        </p:nvSpPr>
        <p:spPr>
          <a:xfrm>
            <a:off x="7239000" y="2329053"/>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47" name="Picture 46" descr="lock.png"/>
          <p:cNvPicPr>
            <a:picLocks noChangeAspect="1"/>
          </p:cNvPicPr>
          <p:nvPr/>
        </p:nvPicPr>
        <p:blipFill>
          <a:blip r:embed="rId5"/>
          <a:stretch>
            <a:fillRect/>
          </a:stretch>
        </p:blipFill>
        <p:spPr>
          <a:xfrm>
            <a:off x="7611222" y="2318829"/>
            <a:ext cx="134549" cy="195707"/>
          </a:xfrm>
          <a:prstGeom prst="rect">
            <a:avLst/>
          </a:prstGeom>
        </p:spPr>
      </p:pic>
      <p:sp>
        <p:nvSpPr>
          <p:cNvPr id="48" name="TextBox 47"/>
          <p:cNvSpPr txBox="1"/>
          <p:nvPr/>
        </p:nvSpPr>
        <p:spPr>
          <a:xfrm>
            <a:off x="7786331"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9" name="Picture 48" descr="lock.png"/>
          <p:cNvPicPr>
            <a:picLocks noChangeAspect="1"/>
          </p:cNvPicPr>
          <p:nvPr/>
        </p:nvPicPr>
        <p:blipFill>
          <a:blip r:embed="rId5"/>
          <a:stretch>
            <a:fillRect/>
          </a:stretch>
        </p:blipFill>
        <p:spPr>
          <a:xfrm>
            <a:off x="9181475" y="2318829"/>
            <a:ext cx="134549" cy="195707"/>
          </a:xfrm>
          <a:prstGeom prst="rect">
            <a:avLst/>
          </a:prstGeom>
        </p:spPr>
      </p:pic>
      <p:sp>
        <p:nvSpPr>
          <p:cNvPr id="50" name="TextBox 49"/>
          <p:cNvSpPr txBox="1"/>
          <p:nvPr/>
        </p:nvSpPr>
        <p:spPr>
          <a:xfrm>
            <a:off x="9356584"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lockshield_9"/>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Industrial Air Compressor Market Share Analysis, By Country Volume (Units)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country, 2021–2036, highlighting the geographies gaining and ceding ground</a:t>
            </a:r>
          </a:p>
        </p:txBody>
      </p:sp>
      <p:sp>
        <p:nvSpPr>
          <p:cNvPr id="7" name="Rounded Rectangle 6"/>
          <p:cNvSpPr/>
          <p:nvPr/>
        </p:nvSpPr>
        <p:spPr>
          <a:xfrm>
            <a:off x="142875" y="981075"/>
            <a:ext cx="11906250" cy="1704975"/>
          </a:xfrm>
          <a:prstGeom prst="roundRect">
            <a:avLst>
              <a:gd name="adj" fmla="val 446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(Units)</a:t>
            </a:r>
          </a:p>
        </p:txBody>
      </p:sp>
      <p:graphicFrame>
        <p:nvGraphicFramePr>
          <p:cNvPr id="9" name="Table 8"/>
          <p:cNvGraphicFramePr>
            <a:graphicFrameLocks noGrp="1"/>
          </p:cNvGraphicFramePr>
          <p:nvPr/>
        </p:nvGraphicFramePr>
        <p:xfrm>
          <a:off x="152400" y="1238250"/>
          <a:ext cx="11887205" cy="1238250"/>
        </p:xfrm>
        <a:graphic>
          <a:graphicData uri="http://schemas.openxmlformats.org/drawingml/2006/table">
            <a:tbl>
              <a:tblPr>
                <a:tableStyleId>{5C22544A-7EE6-4342-B048-85BDC9FD1C3A}</a:tableStyleId>
              </a:tblPr>
              <a:tblGrid>
                <a:gridCol w="663023"/>
                <a:gridCol w="660246"/>
                <a:gridCol w="660246"/>
                <a:gridCol w="660246"/>
                <a:gridCol w="660246"/>
                <a:gridCol w="660246"/>
                <a:gridCol w="660246"/>
                <a:gridCol w="660246"/>
                <a:gridCol w="660246"/>
                <a:gridCol w="660246"/>
                <a:gridCol w="660246"/>
                <a:gridCol w="660246"/>
                <a:gridCol w="660246"/>
                <a:gridCol w="660246"/>
                <a:gridCol w="660246"/>
                <a:gridCol w="660246"/>
                <a:gridCol w="660246"/>
                <a:gridCol w="660246"/>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031">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Canada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031">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819400"/>
            <a:ext cx="11906250" cy="3810000"/>
          </a:xfrm>
          <a:prstGeom prst="roundRect">
            <a:avLst>
              <a:gd name="adj" fmla="val 200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Volume Share Read-out, By Country</a:t>
            </a:r>
          </a:p>
        </p:txBody>
      </p:sp>
      <p:sp>
        <p:nvSpPr>
          <p:cNvPr id="13" name="Rectangle 12"/>
          <p:cNvSpPr/>
          <p:nvPr/>
        </p:nvSpPr>
        <p:spPr>
          <a:xfrm>
            <a:off x="276225" y="31432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240824" y="1713738"/>
            <a:ext cx="366712" cy="533400"/>
          </a:xfrm>
          <a:prstGeom prst="rect">
            <a:avLst/>
          </a:prstGeom>
        </p:spPr>
      </p:pic>
      <p:sp>
        <p:nvSpPr>
          <p:cNvPr id="18" name="TextBox 17"/>
          <p:cNvSpPr txBox="1"/>
          <p:nvPr/>
        </p:nvSpPr>
        <p:spPr>
          <a:xfrm>
            <a:off x="276225" y="3238500"/>
            <a:ext cx="3912294" cy="194310"/>
          </a:xfrm>
          <a:prstGeom prst="rect">
            <a:avLst/>
          </a:prstGeom>
          <a:noFill/>
        </p:spPr>
        <p:txBody>
          <a:bodyPr wrap="none" lIns="0" rIns="0" tIns="0" bIns="0">
            <a:spAutoFit/>
          </a:bodyPr>
          <a:lstStyle/>
          <a:p>
            <a:r>
              <a:rPr sz="1150" b="0">
                <a:solidFill>
                  <a:srgbClr val="2E2E2E"/>
                </a:solidFill>
                <a:latin typeface="Calibri"/>
              </a:rPr>
              <a:t>The U.S. industrial air compressor market is projected to register</a:t>
            </a:r>
          </a:p>
        </p:txBody>
      </p:sp>
      <p:pic>
        <p:nvPicPr>
          <p:cNvPr id="19" name="Picture 18" descr="lock.png"/>
          <p:cNvPicPr>
            <a:picLocks noChangeAspect="1"/>
          </p:cNvPicPr>
          <p:nvPr/>
        </p:nvPicPr>
        <p:blipFill>
          <a:blip r:embed="rId4"/>
          <a:stretch>
            <a:fillRect/>
          </a:stretch>
        </p:blipFill>
        <p:spPr>
          <a:xfrm>
            <a:off x="4137673" y="3228276"/>
            <a:ext cx="134549" cy="195707"/>
          </a:xfrm>
          <a:prstGeom prst="rect">
            <a:avLst/>
          </a:prstGeom>
        </p:spPr>
      </p:pic>
      <p:sp>
        <p:nvSpPr>
          <p:cNvPr id="20" name="TextBox 19"/>
          <p:cNvSpPr txBox="1"/>
          <p:nvPr/>
        </p:nvSpPr>
        <p:spPr>
          <a:xfrm>
            <a:off x="4312782" y="3238500"/>
            <a:ext cx="7513625" cy="194310"/>
          </a:xfrm>
          <a:prstGeom prst="rect">
            <a:avLst/>
          </a:prstGeom>
          <a:noFill/>
        </p:spPr>
        <p:txBody>
          <a:bodyPr wrap="none" lIns="0" rIns="0" tIns="0" bIns="0">
            <a:spAutoFit/>
          </a:bodyPr>
          <a:lstStyle/>
          <a:p>
            <a:r>
              <a:rPr sz="1150" b="0">
                <a:solidFill>
                  <a:srgbClr val="2E2E2E"/>
                </a:solidFill>
                <a:latin typeface="Calibri"/>
              </a:rPr>
              <a:t>X higher volume than Canada in 2036. Among industrial air compressor by country, Mexico is expected to witness the highest</a:t>
            </a:r>
          </a:p>
        </p:txBody>
      </p:sp>
      <p:sp>
        <p:nvSpPr>
          <p:cNvPr id="21" name="TextBox 20"/>
          <p:cNvSpPr txBox="1"/>
          <p:nvPr/>
        </p:nvSpPr>
        <p:spPr>
          <a:xfrm>
            <a:off x="276225" y="3413760"/>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22" name="Picture 21" descr="lock.png"/>
          <p:cNvPicPr>
            <a:picLocks noChangeAspect="1"/>
          </p:cNvPicPr>
          <p:nvPr/>
        </p:nvPicPr>
        <p:blipFill>
          <a:blip r:embed="rId4"/>
          <a:stretch>
            <a:fillRect/>
          </a:stretch>
        </p:blipFill>
        <p:spPr>
          <a:xfrm>
            <a:off x="789915" y="3403536"/>
            <a:ext cx="134549" cy="195707"/>
          </a:xfrm>
          <a:prstGeom prst="rect">
            <a:avLst/>
          </a:prstGeom>
        </p:spPr>
      </p:pic>
      <p:sp>
        <p:nvSpPr>
          <p:cNvPr id="23" name="TextBox 22"/>
          <p:cNvSpPr txBox="1"/>
          <p:nvPr/>
        </p:nvSpPr>
        <p:spPr>
          <a:xfrm>
            <a:off x="965025"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641597"/>
            <a:ext cx="5106937"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 market, losing</a:t>
            </a:r>
          </a:p>
        </p:txBody>
      </p:sp>
      <p:pic>
        <p:nvPicPr>
          <p:cNvPr id="25" name="Picture 24" descr="lock.png"/>
          <p:cNvPicPr>
            <a:picLocks noChangeAspect="1"/>
          </p:cNvPicPr>
          <p:nvPr/>
        </p:nvPicPr>
        <p:blipFill>
          <a:blip r:embed="rId4"/>
          <a:stretch>
            <a:fillRect/>
          </a:stretch>
        </p:blipFill>
        <p:spPr>
          <a:xfrm>
            <a:off x="5332316" y="3631374"/>
            <a:ext cx="134549" cy="195707"/>
          </a:xfrm>
          <a:prstGeom prst="rect">
            <a:avLst/>
          </a:prstGeom>
        </p:spPr>
      </p:pic>
      <p:sp>
        <p:nvSpPr>
          <p:cNvPr id="26" name="TextBox 25"/>
          <p:cNvSpPr txBox="1"/>
          <p:nvPr/>
        </p:nvSpPr>
        <p:spPr>
          <a:xfrm>
            <a:off x="5507426"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6902569" y="3631374"/>
            <a:ext cx="134549" cy="195707"/>
          </a:xfrm>
          <a:prstGeom prst="rect">
            <a:avLst/>
          </a:prstGeom>
        </p:spPr>
      </p:pic>
      <p:sp>
        <p:nvSpPr>
          <p:cNvPr id="28" name="TextBox 27"/>
          <p:cNvSpPr txBox="1"/>
          <p:nvPr/>
        </p:nvSpPr>
        <p:spPr>
          <a:xfrm>
            <a:off x="7077678" y="364159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Industrial Air Compressor Market Share Analysis, By Country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country, 2021–2036, highlighting the geographies gaining and ceding ground</a:t>
            </a:r>
          </a:p>
        </p:txBody>
      </p:sp>
      <p:sp>
        <p:nvSpPr>
          <p:cNvPr id="7" name="Rounded Rectangle 6"/>
          <p:cNvSpPr/>
          <p:nvPr/>
        </p:nvSpPr>
        <p:spPr>
          <a:xfrm>
            <a:off x="142875" y="981075"/>
            <a:ext cx="11906250" cy="1704975"/>
          </a:xfrm>
          <a:prstGeom prst="roundRect">
            <a:avLst>
              <a:gd name="adj" fmla="val 446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(US$ Mn)</a:t>
            </a:r>
          </a:p>
        </p:txBody>
      </p:sp>
      <p:graphicFrame>
        <p:nvGraphicFramePr>
          <p:cNvPr id="9" name="Table 8"/>
          <p:cNvGraphicFramePr>
            <a:graphicFrameLocks noGrp="1"/>
          </p:cNvGraphicFramePr>
          <p:nvPr/>
        </p:nvGraphicFramePr>
        <p:xfrm>
          <a:off x="152400" y="1238250"/>
          <a:ext cx="11887200" cy="1238250"/>
        </p:xfrm>
        <a:graphic>
          <a:graphicData uri="http://schemas.openxmlformats.org/drawingml/2006/table">
            <a:tbl>
              <a:tblPr>
                <a:tableStyleId>{5C22544A-7EE6-4342-B048-85BDC9FD1C3A}</a:tableStyleId>
              </a:tblPr>
              <a:tblGrid>
                <a:gridCol w="696253"/>
                <a:gridCol w="658291"/>
                <a:gridCol w="658291"/>
                <a:gridCol w="658291"/>
                <a:gridCol w="658291"/>
                <a:gridCol w="658291"/>
                <a:gridCol w="658291"/>
                <a:gridCol w="658291"/>
                <a:gridCol w="658291"/>
                <a:gridCol w="658291"/>
                <a:gridCol w="658291"/>
                <a:gridCol w="658291"/>
                <a:gridCol w="658291"/>
                <a:gridCol w="658291"/>
                <a:gridCol w="658291"/>
                <a:gridCol w="658291"/>
                <a:gridCol w="658291"/>
                <a:gridCol w="658291"/>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031">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Canada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031">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819400"/>
            <a:ext cx="11906250" cy="3810000"/>
          </a:xfrm>
          <a:prstGeom prst="roundRect">
            <a:avLst>
              <a:gd name="adj" fmla="val 200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Share Read-out, By Country</a:t>
            </a:r>
          </a:p>
        </p:txBody>
      </p:sp>
      <p:sp>
        <p:nvSpPr>
          <p:cNvPr id="13" name="Rectangle 12"/>
          <p:cNvSpPr/>
          <p:nvPr/>
        </p:nvSpPr>
        <p:spPr>
          <a:xfrm>
            <a:off x="276225" y="31432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257436" y="1713738"/>
            <a:ext cx="366712" cy="533400"/>
          </a:xfrm>
          <a:prstGeom prst="rect">
            <a:avLst/>
          </a:prstGeom>
        </p:spPr>
      </p:pic>
      <p:sp>
        <p:nvSpPr>
          <p:cNvPr id="18" name="TextBox 17"/>
          <p:cNvSpPr txBox="1"/>
          <p:nvPr/>
        </p:nvSpPr>
        <p:spPr>
          <a:xfrm>
            <a:off x="276225" y="3238500"/>
            <a:ext cx="3912294" cy="194310"/>
          </a:xfrm>
          <a:prstGeom prst="rect">
            <a:avLst/>
          </a:prstGeom>
          <a:noFill/>
        </p:spPr>
        <p:txBody>
          <a:bodyPr wrap="none" lIns="0" rIns="0" tIns="0" bIns="0">
            <a:spAutoFit/>
          </a:bodyPr>
          <a:lstStyle/>
          <a:p>
            <a:r>
              <a:rPr sz="1150" b="0">
                <a:solidFill>
                  <a:srgbClr val="2E2E2E"/>
                </a:solidFill>
                <a:latin typeface="Calibri"/>
              </a:rPr>
              <a:t>The U.S. industrial air compressor market is projected to register</a:t>
            </a:r>
          </a:p>
        </p:txBody>
      </p:sp>
      <p:pic>
        <p:nvPicPr>
          <p:cNvPr id="19" name="Picture 18" descr="lock.png"/>
          <p:cNvPicPr>
            <a:picLocks noChangeAspect="1"/>
          </p:cNvPicPr>
          <p:nvPr/>
        </p:nvPicPr>
        <p:blipFill>
          <a:blip r:embed="rId4"/>
          <a:stretch>
            <a:fillRect/>
          </a:stretch>
        </p:blipFill>
        <p:spPr>
          <a:xfrm>
            <a:off x="4137673" y="3228276"/>
            <a:ext cx="134549" cy="195707"/>
          </a:xfrm>
          <a:prstGeom prst="rect">
            <a:avLst/>
          </a:prstGeom>
        </p:spPr>
      </p:pic>
      <p:sp>
        <p:nvSpPr>
          <p:cNvPr id="20" name="TextBox 19"/>
          <p:cNvSpPr txBox="1"/>
          <p:nvPr/>
        </p:nvSpPr>
        <p:spPr>
          <a:xfrm>
            <a:off x="4312782" y="3238500"/>
            <a:ext cx="7389824" cy="194310"/>
          </a:xfrm>
          <a:prstGeom prst="rect">
            <a:avLst/>
          </a:prstGeom>
          <a:noFill/>
        </p:spPr>
        <p:txBody>
          <a:bodyPr wrap="none" lIns="0" rIns="0" tIns="0" bIns="0">
            <a:spAutoFit/>
          </a:bodyPr>
          <a:lstStyle/>
          <a:p>
            <a:r>
              <a:rPr sz="1150" b="0">
                <a:solidFill>
                  <a:srgbClr val="2E2E2E"/>
                </a:solidFill>
                <a:latin typeface="Calibri"/>
              </a:rPr>
              <a:t>X higher value than Canada in 2036. Among industrial air compressor by country, Mexico is expected to witness the highest</a:t>
            </a:r>
          </a:p>
        </p:txBody>
      </p:sp>
      <p:sp>
        <p:nvSpPr>
          <p:cNvPr id="21" name="TextBox 20"/>
          <p:cNvSpPr txBox="1"/>
          <p:nvPr/>
        </p:nvSpPr>
        <p:spPr>
          <a:xfrm>
            <a:off x="276225" y="3413760"/>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22" name="Picture 21" descr="lock.png"/>
          <p:cNvPicPr>
            <a:picLocks noChangeAspect="1"/>
          </p:cNvPicPr>
          <p:nvPr/>
        </p:nvPicPr>
        <p:blipFill>
          <a:blip r:embed="rId4"/>
          <a:stretch>
            <a:fillRect/>
          </a:stretch>
        </p:blipFill>
        <p:spPr>
          <a:xfrm>
            <a:off x="789915" y="3403536"/>
            <a:ext cx="134549" cy="195707"/>
          </a:xfrm>
          <a:prstGeom prst="rect">
            <a:avLst/>
          </a:prstGeom>
        </p:spPr>
      </p:pic>
      <p:sp>
        <p:nvSpPr>
          <p:cNvPr id="23" name="TextBox 22"/>
          <p:cNvSpPr txBox="1"/>
          <p:nvPr/>
        </p:nvSpPr>
        <p:spPr>
          <a:xfrm>
            <a:off x="965025"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641597"/>
            <a:ext cx="4983137"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 losing</a:t>
            </a:r>
          </a:p>
        </p:txBody>
      </p:sp>
      <p:pic>
        <p:nvPicPr>
          <p:cNvPr id="25" name="Picture 24" descr="lock.png"/>
          <p:cNvPicPr>
            <a:picLocks noChangeAspect="1"/>
          </p:cNvPicPr>
          <p:nvPr/>
        </p:nvPicPr>
        <p:blipFill>
          <a:blip r:embed="rId4"/>
          <a:stretch>
            <a:fillRect/>
          </a:stretch>
        </p:blipFill>
        <p:spPr>
          <a:xfrm>
            <a:off x="5208516" y="3631374"/>
            <a:ext cx="134549" cy="195707"/>
          </a:xfrm>
          <a:prstGeom prst="rect">
            <a:avLst/>
          </a:prstGeom>
        </p:spPr>
      </p:pic>
      <p:sp>
        <p:nvSpPr>
          <p:cNvPr id="26" name="TextBox 25"/>
          <p:cNvSpPr txBox="1"/>
          <p:nvPr/>
        </p:nvSpPr>
        <p:spPr>
          <a:xfrm>
            <a:off x="5383625"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6778769" y="3631374"/>
            <a:ext cx="134549" cy="195707"/>
          </a:xfrm>
          <a:prstGeom prst="rect">
            <a:avLst/>
          </a:prstGeom>
        </p:spPr>
      </p:pic>
      <p:sp>
        <p:nvSpPr>
          <p:cNvPr id="28" name="TextBox 27"/>
          <p:cNvSpPr txBox="1"/>
          <p:nvPr/>
        </p:nvSpPr>
        <p:spPr>
          <a:xfrm>
            <a:off x="6953878" y="364159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Industrial Air Compressor Market Trends, By Country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country volume and value shares shift over 2021–2036, highlighting who gains ground</a:t>
            </a:r>
          </a:p>
        </p:txBody>
      </p:sp>
      <p:sp>
        <p:nvSpPr>
          <p:cNvPr id="7" name="Rounded Rectangle 6"/>
          <p:cNvSpPr/>
          <p:nvPr/>
        </p:nvSpPr>
        <p:spPr>
          <a:xfrm>
            <a:off x="142875" y="981075"/>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Country (Units)</a:t>
            </a:r>
          </a:p>
        </p:txBody>
      </p:sp>
      <p:graphicFrame>
        <p:nvGraphicFramePr>
          <p:cNvPr id="9" name="Chart 8"/>
          <p:cNvGraphicFramePr>
            <a:graphicFrameLocks noGrp="1"/>
          </p:cNvGraphicFramePr>
          <p:nvPr/>
        </p:nvGraphicFramePr>
        <p:xfrm>
          <a:off x="238125" y="1266825"/>
          <a:ext cx="11715750"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Country (US$ Mn)</a:t>
            </a:r>
          </a:p>
        </p:txBody>
      </p:sp>
      <p:graphicFrame>
        <p:nvGraphicFramePr>
          <p:cNvPr id="12" name="Chart 11"/>
          <p:cNvGraphicFramePr>
            <a:graphicFrameLocks noGrp="1"/>
          </p:cNvGraphicFramePr>
          <p:nvPr/>
        </p:nvGraphicFramePr>
        <p:xfrm>
          <a:off x="238125" y="4152900"/>
          <a:ext cx="11715750" cy="2409825"/>
        </p:xfrm>
        <a:graphic>
          <a:graphicData uri="http://schemas.openxmlformats.org/drawingml/2006/chart">
            <c:chart xmlns:c="http://schemas.openxmlformats.org/drawingml/2006/chart" r:id="rId4"/>
          </a:graphicData>
        </a:graphic>
      </p:graphicFrame>
      <p:sp>
        <p:nvSpPr>
          <p:cNvPr id="13" name="Rectangle 1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5" name="Picture 14" descr="lock.png"/>
          <p:cNvPicPr>
            <a:picLocks noChangeAspect="1"/>
          </p:cNvPicPr>
          <p:nvPr/>
        </p:nvPicPr>
        <p:blipFill>
          <a:blip r:embed="rId6"/>
          <a:stretch>
            <a:fillRect/>
          </a:stretch>
        </p:blipFill>
        <p:spPr>
          <a:xfrm>
            <a:off x="6058646" y="2026489"/>
            <a:ext cx="363375" cy="528545"/>
          </a:xfrm>
          <a:prstGeom prst="rect">
            <a:avLst/>
          </a:prstGeom>
        </p:spPr>
      </p:pic>
      <p:pic>
        <p:nvPicPr>
          <p:cNvPr id="16" name="Picture 15" descr="lock.png"/>
          <p:cNvPicPr>
            <a:picLocks noChangeAspect="1"/>
          </p:cNvPicPr>
          <p:nvPr/>
        </p:nvPicPr>
        <p:blipFill>
          <a:blip r:embed="rId6"/>
          <a:stretch>
            <a:fillRect/>
          </a:stretch>
        </p:blipFill>
        <p:spPr>
          <a:xfrm>
            <a:off x="6058646" y="4912564"/>
            <a:ext cx="363375" cy="528545"/>
          </a:xfrm>
          <a:prstGeom prst="rect">
            <a:avLst/>
          </a:prstGeom>
        </p:spPr>
      </p:pic>
      <p:sp>
        <p:nvSpPr>
          <p:cNvPr id="17" name="lockshield_9"/>
          <p:cNvSpPr/>
          <p:nvPr/>
        </p:nvSpPr>
        <p:spPr>
          <a:xfrm>
            <a:off x="238125" y="1266825"/>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2"/>
          <p:cNvSpPr/>
          <p:nvPr/>
        </p:nvSpPr>
        <p:spPr>
          <a:xfrm>
            <a:off x="238125" y="4152900"/>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Industrial Air Compressor Market Top 3 Countries (2036)</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North America market in 2036, highlighting the leading countries within each region by value</a:t>
            </a:r>
          </a:p>
        </p:txBody>
      </p:sp>
      <p:sp>
        <p:nvSpPr>
          <p:cNvPr id="7" name="Rounded Rectangle 6"/>
          <p:cNvSpPr/>
          <p:nvPr/>
        </p:nvSpPr>
        <p:spPr>
          <a:xfrm>
            <a:off x="142875" y="981075"/>
            <a:ext cx="11906250"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by country  ·  2036 (US$ Mn)  ·  tile size = market value</a:t>
            </a:r>
          </a:p>
        </p:txBody>
      </p:sp>
      <p:sp>
        <p:nvSpPr>
          <p:cNvPr id="9" name="Rectangle 8"/>
          <p:cNvSpPr/>
          <p:nvPr/>
        </p:nvSpPr>
        <p:spPr>
          <a:xfrm>
            <a:off x="238125" y="1266825"/>
            <a:ext cx="6504970" cy="5305425"/>
          </a:xfrm>
          <a:prstGeom prst="rect">
            <a:avLst/>
          </a:prstGeom>
          <a:solidFill>
            <a:srgbClr val="2A5F8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0" name="Rectangle 9"/>
          <p:cNvSpPr/>
          <p:nvPr/>
        </p:nvSpPr>
        <p:spPr>
          <a:xfrm>
            <a:off x="6743095" y="1266825"/>
            <a:ext cx="5210780" cy="3199772"/>
          </a:xfrm>
          <a:prstGeom prst="rect">
            <a:avLst/>
          </a:prstGeom>
          <a:solidFill>
            <a:srgbClr val="0081E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1" name="Rectangle 10"/>
          <p:cNvSpPr/>
          <p:nvPr/>
        </p:nvSpPr>
        <p:spPr>
          <a:xfrm>
            <a:off x="6743095" y="4466597"/>
            <a:ext cx="5210780" cy="2105653"/>
          </a:xfrm>
          <a:prstGeom prst="rect">
            <a:avLst/>
          </a:prstGeom>
          <a:solidFill>
            <a:srgbClr val="0E2A5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Mexico</a:t>
            </a:r>
          </a:p>
          <a:p>
            <a:pPr algn="ctr"/>
            <a:r>
              <a:rPr sz="1100" b="0">
                <a:solidFill>
                  <a:srgbClr val="FFFFFF"/>
                </a:solidFill>
                <a:latin typeface="Calibri"/>
              </a:rPr>
              <a:t> </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4" name="Picture 13" descr="lock.png"/>
          <p:cNvPicPr>
            <a:picLocks noChangeAspect="1"/>
          </p:cNvPicPr>
          <p:nvPr/>
        </p:nvPicPr>
        <p:blipFill>
          <a:blip r:embed="rId4"/>
          <a:stretch>
            <a:fillRect/>
          </a:stretch>
        </p:blipFill>
        <p:spPr>
          <a:xfrm>
            <a:off x="3432984" y="3919537"/>
            <a:ext cx="115252" cy="167639"/>
          </a:xfrm>
          <a:prstGeom prst="rect">
            <a:avLst/>
          </a:prstGeom>
        </p:spPr>
      </p:pic>
      <p:pic>
        <p:nvPicPr>
          <p:cNvPr id="15" name="Picture 14" descr="lock.png"/>
          <p:cNvPicPr>
            <a:picLocks noChangeAspect="1"/>
          </p:cNvPicPr>
          <p:nvPr/>
        </p:nvPicPr>
        <p:blipFill>
          <a:blip r:embed="rId4"/>
          <a:stretch>
            <a:fillRect/>
          </a:stretch>
        </p:blipFill>
        <p:spPr>
          <a:xfrm>
            <a:off x="9290859" y="2866710"/>
            <a:ext cx="115252" cy="167639"/>
          </a:xfrm>
          <a:prstGeom prst="rect">
            <a:avLst/>
          </a:prstGeom>
        </p:spPr>
      </p:pic>
      <p:pic>
        <p:nvPicPr>
          <p:cNvPr id="16" name="Picture 15" descr="lock.png"/>
          <p:cNvPicPr>
            <a:picLocks noChangeAspect="1"/>
          </p:cNvPicPr>
          <p:nvPr/>
        </p:nvPicPr>
        <p:blipFill>
          <a:blip r:embed="rId4"/>
          <a:stretch>
            <a:fillRect/>
          </a:stretch>
        </p:blipFill>
        <p:spPr>
          <a:xfrm>
            <a:off x="9290859" y="5519423"/>
            <a:ext cx="115252" cy="167639"/>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North America Market Analysis By Segments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Technology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Capacity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Compression Stage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 Use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Driver Type</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Technology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Technology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Technology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Technology,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Technology segment categorizes the market by technology.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Screw Air Compressor</a:t>
            </a:r>
          </a:p>
        </p:txBody>
      </p:sp>
      <p:sp>
        <p:nvSpPr>
          <p:cNvPr id="19" name="Rectangle 18"/>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Reciprocating (Piston) Air Compre…</a:t>
            </a:r>
          </a:p>
        </p:txBody>
      </p:sp>
      <p:sp>
        <p:nvSpPr>
          <p:cNvPr id="26" name="Rectangle 25"/>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Scroll Air Compressor</a:t>
            </a:r>
          </a:p>
        </p:txBody>
      </p:sp>
      <p:sp>
        <p:nvSpPr>
          <p:cNvPr id="33" name="Rectangle 32"/>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Centrifugal Air Compressor</a:t>
            </a:r>
          </a:p>
        </p:txBody>
      </p:sp>
      <p:sp>
        <p:nvSpPr>
          <p:cNvPr id="40" name="Rectangle 39"/>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Vane Air Compressor</a:t>
            </a:r>
          </a:p>
        </p:txBody>
      </p:sp>
      <p:sp>
        <p:nvSpPr>
          <p:cNvPr id="47" name="Rectangle 46"/>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Axial Air Compressor</a:t>
            </a:r>
          </a:p>
        </p:txBody>
      </p:sp>
      <p:sp>
        <p:nvSpPr>
          <p:cNvPr id="54" name="Rectangle 53"/>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5" name="Rectangle 54"/>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6" name="Rectangle 55"/>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7" name="Oval 56"/>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58" name="Rounded Rectangle 5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0" name="Rectangle 59"/>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2" name="Rounded Rectangle 6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4" name="Rectangle 63"/>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4219912"/>
            <a:ext cx="421005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6" name="Rounded Rectangle 6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8" name="Rectangle 67"/>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Technology split shows how demand is distributed across technology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70" name="Rectangle 6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2" name="TextBox 7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73" name="Rectangle 7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5" name="Picture 74" descr="1_042_605E5C.png"/>
          <p:cNvPicPr>
            <a:picLocks noChangeAspect="1"/>
          </p:cNvPicPr>
          <p:nvPr/>
        </p:nvPicPr>
        <p:blipFill>
          <a:blip r:embed="rId4"/>
          <a:stretch>
            <a:fillRect/>
          </a:stretch>
        </p:blipFill>
        <p:spPr>
          <a:xfrm>
            <a:off x="2054848" y="2286582"/>
            <a:ext cx="1195728" cy="361950"/>
          </a:xfrm>
          <a:prstGeom prst="rect">
            <a:avLst/>
          </a:prstGeom>
        </p:spPr>
      </p:pic>
      <p:pic>
        <p:nvPicPr>
          <p:cNvPr id="76" name="Picture 75" descr="1_643_605E5C.png"/>
          <p:cNvPicPr>
            <a:picLocks noChangeAspect="1"/>
          </p:cNvPicPr>
          <p:nvPr/>
        </p:nvPicPr>
        <p:blipFill>
          <a:blip r:embed="rId5"/>
          <a:stretch>
            <a:fillRect/>
          </a:stretch>
        </p:blipFill>
        <p:spPr>
          <a:xfrm>
            <a:off x="2054848" y="2779432"/>
            <a:ext cx="1195728" cy="361950"/>
          </a:xfrm>
          <a:prstGeom prst="rect">
            <a:avLst/>
          </a:prstGeom>
        </p:spPr>
      </p:pic>
      <p:pic>
        <p:nvPicPr>
          <p:cNvPr id="77" name="Picture 76" descr="4_7__605E5C.png"/>
          <p:cNvPicPr>
            <a:picLocks noChangeAspect="1"/>
          </p:cNvPicPr>
          <p:nvPr/>
        </p:nvPicPr>
        <p:blipFill>
          <a:blip r:embed="rId6"/>
          <a:stretch>
            <a:fillRect/>
          </a:stretch>
        </p:blipFill>
        <p:spPr>
          <a:xfrm>
            <a:off x="2161494" y="3272281"/>
            <a:ext cx="982436" cy="361950"/>
          </a:xfrm>
          <a:prstGeom prst="rect">
            <a:avLst/>
          </a:prstGeom>
        </p:spPr>
      </p:pic>
      <p:pic>
        <p:nvPicPr>
          <p:cNvPr id="78" name="Picture 77" descr="903_5_605E5C.png"/>
          <p:cNvPicPr>
            <a:picLocks noChangeAspect="1"/>
          </p:cNvPicPr>
          <p:nvPr/>
        </p:nvPicPr>
        <p:blipFill>
          <a:blip r:embed="rId7"/>
          <a:stretch>
            <a:fillRect/>
          </a:stretch>
        </p:blipFill>
        <p:spPr>
          <a:xfrm>
            <a:off x="3740773" y="2286582"/>
            <a:ext cx="1195728" cy="361950"/>
          </a:xfrm>
          <a:prstGeom prst="rect">
            <a:avLst/>
          </a:prstGeom>
        </p:spPr>
      </p:pic>
      <p:pic>
        <p:nvPicPr>
          <p:cNvPr id="79" name="Picture 78" descr="1_009_605E5C.png"/>
          <p:cNvPicPr>
            <a:picLocks noChangeAspect="1"/>
          </p:cNvPicPr>
          <p:nvPr/>
        </p:nvPicPr>
        <p:blipFill>
          <a:blip r:embed="rId8"/>
          <a:stretch>
            <a:fillRect/>
          </a:stretch>
        </p:blipFill>
        <p:spPr>
          <a:xfrm>
            <a:off x="3740773" y="2779432"/>
            <a:ext cx="1195728" cy="361950"/>
          </a:xfrm>
          <a:prstGeom prst="rect">
            <a:avLst/>
          </a:prstGeom>
        </p:spPr>
      </p:pic>
      <p:pic>
        <p:nvPicPr>
          <p:cNvPr id="80" name="Picture 79" descr="1_1__605E5C.png"/>
          <p:cNvPicPr>
            <a:picLocks noChangeAspect="1"/>
          </p:cNvPicPr>
          <p:nvPr/>
        </p:nvPicPr>
        <p:blipFill>
          <a:blip r:embed="rId9"/>
          <a:stretch>
            <a:fillRect/>
          </a:stretch>
        </p:blipFill>
        <p:spPr>
          <a:xfrm>
            <a:off x="3847419" y="3272281"/>
            <a:ext cx="982436" cy="361950"/>
          </a:xfrm>
          <a:prstGeom prst="rect">
            <a:avLst/>
          </a:prstGeom>
        </p:spPr>
      </p:pic>
      <p:pic>
        <p:nvPicPr>
          <p:cNvPr id="81" name="Picture 80" descr="849_8_605E5C.png"/>
          <p:cNvPicPr>
            <a:picLocks noChangeAspect="1"/>
          </p:cNvPicPr>
          <p:nvPr/>
        </p:nvPicPr>
        <p:blipFill>
          <a:blip r:embed="rId10"/>
          <a:stretch>
            <a:fillRect/>
          </a:stretch>
        </p:blipFill>
        <p:spPr>
          <a:xfrm>
            <a:off x="5426698" y="2286582"/>
            <a:ext cx="1195728" cy="361950"/>
          </a:xfrm>
          <a:prstGeom prst="rect">
            <a:avLst/>
          </a:prstGeom>
        </p:spPr>
      </p:pic>
      <p:pic>
        <p:nvPicPr>
          <p:cNvPr id="82" name="Picture 81" descr="1_480_605E5C.png"/>
          <p:cNvPicPr>
            <a:picLocks noChangeAspect="1"/>
          </p:cNvPicPr>
          <p:nvPr/>
        </p:nvPicPr>
        <p:blipFill>
          <a:blip r:embed="rId11"/>
          <a:stretch>
            <a:fillRect/>
          </a:stretch>
        </p:blipFill>
        <p:spPr>
          <a:xfrm>
            <a:off x="5426698" y="2779432"/>
            <a:ext cx="1195728" cy="361950"/>
          </a:xfrm>
          <a:prstGeom prst="rect">
            <a:avLst/>
          </a:prstGeom>
        </p:spPr>
      </p:pic>
      <p:pic>
        <p:nvPicPr>
          <p:cNvPr id="83" name="Picture 82" descr="5_7__605E5C.png"/>
          <p:cNvPicPr>
            <a:picLocks noChangeAspect="1"/>
          </p:cNvPicPr>
          <p:nvPr/>
        </p:nvPicPr>
        <p:blipFill>
          <a:blip r:embed="rId12"/>
          <a:stretch>
            <a:fillRect/>
          </a:stretch>
        </p:blipFill>
        <p:spPr>
          <a:xfrm>
            <a:off x="5533344" y="3272281"/>
            <a:ext cx="982436" cy="361950"/>
          </a:xfrm>
          <a:prstGeom prst="rect">
            <a:avLst/>
          </a:prstGeom>
        </p:spPr>
      </p:pic>
      <p:pic>
        <p:nvPicPr>
          <p:cNvPr id="84" name="Picture 83" descr="785_5_605E5C.png"/>
          <p:cNvPicPr>
            <a:picLocks noChangeAspect="1"/>
          </p:cNvPicPr>
          <p:nvPr/>
        </p:nvPicPr>
        <p:blipFill>
          <a:blip r:embed="rId13"/>
          <a:stretch>
            <a:fillRect/>
          </a:stretch>
        </p:blipFill>
        <p:spPr>
          <a:xfrm>
            <a:off x="7112623" y="2286582"/>
            <a:ext cx="1195728" cy="361950"/>
          </a:xfrm>
          <a:prstGeom prst="rect">
            <a:avLst/>
          </a:prstGeom>
        </p:spPr>
      </p:pic>
      <p:pic>
        <p:nvPicPr>
          <p:cNvPr id="85" name="Picture 84" descr="1_389_605E5C.png"/>
          <p:cNvPicPr>
            <a:picLocks noChangeAspect="1"/>
          </p:cNvPicPr>
          <p:nvPr/>
        </p:nvPicPr>
        <p:blipFill>
          <a:blip r:embed="rId14"/>
          <a:stretch>
            <a:fillRect/>
          </a:stretch>
        </p:blipFill>
        <p:spPr>
          <a:xfrm>
            <a:off x="7112623" y="2779432"/>
            <a:ext cx="1195728" cy="361950"/>
          </a:xfrm>
          <a:prstGeom prst="rect">
            <a:avLst/>
          </a:prstGeom>
        </p:spPr>
      </p:pic>
      <p:pic>
        <p:nvPicPr>
          <p:cNvPr id="86" name="Picture 85" descr="5_9__605E5C.png"/>
          <p:cNvPicPr>
            <a:picLocks noChangeAspect="1"/>
          </p:cNvPicPr>
          <p:nvPr/>
        </p:nvPicPr>
        <p:blipFill>
          <a:blip r:embed="rId15"/>
          <a:stretch>
            <a:fillRect/>
          </a:stretch>
        </p:blipFill>
        <p:spPr>
          <a:xfrm>
            <a:off x="7219269" y="3272281"/>
            <a:ext cx="982436" cy="361950"/>
          </a:xfrm>
          <a:prstGeom prst="rect">
            <a:avLst/>
          </a:prstGeom>
        </p:spPr>
      </p:pic>
      <p:pic>
        <p:nvPicPr>
          <p:cNvPr id="87" name="Picture 86" descr="390_9_605E5C.png"/>
          <p:cNvPicPr>
            <a:picLocks noChangeAspect="1"/>
          </p:cNvPicPr>
          <p:nvPr/>
        </p:nvPicPr>
        <p:blipFill>
          <a:blip r:embed="rId16"/>
          <a:stretch>
            <a:fillRect/>
          </a:stretch>
        </p:blipFill>
        <p:spPr>
          <a:xfrm>
            <a:off x="8798548" y="2286582"/>
            <a:ext cx="1195728" cy="361950"/>
          </a:xfrm>
          <a:prstGeom prst="rect">
            <a:avLst/>
          </a:prstGeom>
        </p:spPr>
      </p:pic>
      <p:pic>
        <p:nvPicPr>
          <p:cNvPr id="88" name="Picture 87" descr="639_1_605E5C.png"/>
          <p:cNvPicPr>
            <a:picLocks noChangeAspect="1"/>
          </p:cNvPicPr>
          <p:nvPr/>
        </p:nvPicPr>
        <p:blipFill>
          <a:blip r:embed="rId17"/>
          <a:stretch>
            <a:fillRect/>
          </a:stretch>
        </p:blipFill>
        <p:spPr>
          <a:xfrm>
            <a:off x="8798548" y="2779432"/>
            <a:ext cx="1195728" cy="361950"/>
          </a:xfrm>
          <a:prstGeom prst="rect">
            <a:avLst/>
          </a:prstGeom>
        </p:spPr>
      </p:pic>
      <p:pic>
        <p:nvPicPr>
          <p:cNvPr id="89" name="Picture 88" descr="5_0__605E5C.png"/>
          <p:cNvPicPr>
            <a:picLocks noChangeAspect="1"/>
          </p:cNvPicPr>
          <p:nvPr/>
        </p:nvPicPr>
        <p:blipFill>
          <a:blip r:embed="rId18"/>
          <a:stretch>
            <a:fillRect/>
          </a:stretch>
        </p:blipFill>
        <p:spPr>
          <a:xfrm>
            <a:off x="8905194" y="3272281"/>
            <a:ext cx="982436" cy="361950"/>
          </a:xfrm>
          <a:prstGeom prst="rect">
            <a:avLst/>
          </a:prstGeom>
        </p:spPr>
      </p:pic>
      <p:pic>
        <p:nvPicPr>
          <p:cNvPr id="90" name="Picture 89" descr="345_3_605E5C.png"/>
          <p:cNvPicPr>
            <a:picLocks noChangeAspect="1"/>
          </p:cNvPicPr>
          <p:nvPr/>
        </p:nvPicPr>
        <p:blipFill>
          <a:blip r:embed="rId19"/>
          <a:stretch>
            <a:fillRect/>
          </a:stretch>
        </p:blipFill>
        <p:spPr>
          <a:xfrm>
            <a:off x="10484473" y="2286582"/>
            <a:ext cx="1195728" cy="361950"/>
          </a:xfrm>
          <a:prstGeom prst="rect">
            <a:avLst/>
          </a:prstGeom>
        </p:spPr>
      </p:pic>
      <p:pic>
        <p:nvPicPr>
          <p:cNvPr id="91" name="Picture 90" descr="368_5_605E5C.png"/>
          <p:cNvPicPr>
            <a:picLocks noChangeAspect="1"/>
          </p:cNvPicPr>
          <p:nvPr/>
        </p:nvPicPr>
        <p:blipFill>
          <a:blip r:embed="rId20"/>
          <a:stretch>
            <a:fillRect/>
          </a:stretch>
        </p:blipFill>
        <p:spPr>
          <a:xfrm>
            <a:off x="10484473" y="2779432"/>
            <a:ext cx="1195728" cy="361950"/>
          </a:xfrm>
          <a:prstGeom prst="rect">
            <a:avLst/>
          </a:prstGeom>
        </p:spPr>
      </p:pic>
      <p:pic>
        <p:nvPicPr>
          <p:cNvPr id="92" name="Picture 91" descr="0_7__605E5C.png"/>
          <p:cNvPicPr>
            <a:picLocks noChangeAspect="1"/>
          </p:cNvPicPr>
          <p:nvPr/>
        </p:nvPicPr>
        <p:blipFill>
          <a:blip r:embed="rId21"/>
          <a:stretch>
            <a:fillRect/>
          </a:stretch>
        </p:blipFill>
        <p:spPr>
          <a:xfrm>
            <a:off x="10591119" y="3272281"/>
            <a:ext cx="982436" cy="361950"/>
          </a:xfrm>
          <a:prstGeom prst="rect">
            <a:avLst/>
          </a:prstGeom>
        </p:spPr>
      </p:pic>
      <p:pic>
        <p:nvPicPr>
          <p:cNvPr id="93" name="Picture 92" descr="lock.png"/>
          <p:cNvPicPr>
            <a:picLocks noChangeAspect="1"/>
          </p:cNvPicPr>
          <p:nvPr/>
        </p:nvPicPr>
        <p:blipFill>
          <a:blip r:embed="rId22"/>
          <a:stretch>
            <a:fillRect/>
          </a:stretch>
        </p:blipFill>
        <p:spPr>
          <a:xfrm>
            <a:off x="2559367" y="2827057"/>
            <a:ext cx="183356" cy="266700"/>
          </a:xfrm>
          <a:prstGeom prst="rect">
            <a:avLst/>
          </a:prstGeom>
        </p:spPr>
      </p:pic>
      <p:pic>
        <p:nvPicPr>
          <p:cNvPr id="94" name="Picture 93" descr="lock.png"/>
          <p:cNvPicPr>
            <a:picLocks noChangeAspect="1"/>
          </p:cNvPicPr>
          <p:nvPr/>
        </p:nvPicPr>
        <p:blipFill>
          <a:blip r:embed="rId22"/>
          <a:stretch>
            <a:fillRect/>
          </a:stretch>
        </p:blipFill>
        <p:spPr>
          <a:xfrm>
            <a:off x="4245292" y="2827057"/>
            <a:ext cx="183356" cy="266700"/>
          </a:xfrm>
          <a:prstGeom prst="rect">
            <a:avLst/>
          </a:prstGeom>
        </p:spPr>
      </p:pic>
      <p:pic>
        <p:nvPicPr>
          <p:cNvPr id="95" name="Picture 94" descr="lock.png"/>
          <p:cNvPicPr>
            <a:picLocks noChangeAspect="1"/>
          </p:cNvPicPr>
          <p:nvPr/>
        </p:nvPicPr>
        <p:blipFill>
          <a:blip r:embed="rId22"/>
          <a:stretch>
            <a:fillRect/>
          </a:stretch>
        </p:blipFill>
        <p:spPr>
          <a:xfrm>
            <a:off x="593121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761714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930306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10988992" y="2827057"/>
            <a:ext cx="183356" cy="266700"/>
          </a:xfrm>
          <a:prstGeom prst="rect">
            <a:avLst/>
          </a:prstGeom>
        </p:spPr>
      </p:pic>
      <p:sp>
        <p:nvSpPr>
          <p:cNvPr id="99" name="TextBox 98"/>
          <p:cNvSpPr txBox="1"/>
          <p:nvPr/>
        </p:nvSpPr>
        <p:spPr>
          <a:xfrm>
            <a:off x="485775" y="4229437"/>
            <a:ext cx="2792164" cy="186689"/>
          </a:xfrm>
          <a:prstGeom prst="rect">
            <a:avLst/>
          </a:prstGeom>
          <a:noFill/>
        </p:spPr>
        <p:txBody>
          <a:bodyPr wrap="none" lIns="0" rIns="0" tIns="0" bIns="0">
            <a:spAutoFit/>
          </a:bodyPr>
          <a:lstStyle/>
          <a:p>
            <a:r>
              <a:rPr sz="1100" b="0">
                <a:solidFill>
                  <a:srgbClr val="2E2E2E"/>
                </a:solidFill>
                <a:latin typeface="Calibri"/>
              </a:rPr>
              <a:t>Among industrial air compressor by technology,</a:t>
            </a:r>
          </a:p>
        </p:txBody>
      </p:sp>
      <p:sp>
        <p:nvSpPr>
          <p:cNvPr id="100" name="TextBox 99"/>
          <p:cNvSpPr txBox="1"/>
          <p:nvPr/>
        </p:nvSpPr>
        <p:spPr>
          <a:xfrm>
            <a:off x="485775" y="4397077"/>
            <a:ext cx="2913856" cy="186689"/>
          </a:xfrm>
          <a:prstGeom prst="rect">
            <a:avLst/>
          </a:prstGeom>
          <a:noFill/>
        </p:spPr>
        <p:txBody>
          <a:bodyPr wrap="none" lIns="0" rIns="0" tIns="0" bIns="0">
            <a:spAutoFit/>
          </a:bodyPr>
          <a:lstStyle/>
          <a:p>
            <a:r>
              <a:rPr sz="1100" b="0">
                <a:solidFill>
                  <a:srgbClr val="2E2E2E"/>
                </a:solidFill>
                <a:latin typeface="Calibri"/>
              </a:rPr>
              <a:t>centrifugal air compressor segment is expected to</a:t>
            </a:r>
          </a:p>
        </p:txBody>
      </p:sp>
      <p:sp>
        <p:nvSpPr>
          <p:cNvPr id="101" name="TextBox 100"/>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102" name="Picture 101" descr="lock.png"/>
          <p:cNvPicPr>
            <a:picLocks noChangeAspect="1"/>
          </p:cNvPicPr>
          <p:nvPr/>
        </p:nvPicPr>
        <p:blipFill>
          <a:blip r:embed="rId22"/>
          <a:stretch>
            <a:fillRect/>
          </a:stretch>
        </p:blipFill>
        <p:spPr>
          <a:xfrm>
            <a:off x="2108919" y="4554938"/>
            <a:ext cx="128699" cy="187198"/>
          </a:xfrm>
          <a:prstGeom prst="rect">
            <a:avLst/>
          </a:prstGeom>
        </p:spPr>
      </p:pic>
      <p:sp>
        <p:nvSpPr>
          <p:cNvPr id="103" name="TextBox 102"/>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104" name="TextBox 103"/>
          <p:cNvSpPr txBox="1"/>
          <p:nvPr/>
        </p:nvSpPr>
        <p:spPr>
          <a:xfrm>
            <a:off x="485775" y="4732357"/>
            <a:ext cx="2902942" cy="186689"/>
          </a:xfrm>
          <a:prstGeom prst="rect">
            <a:avLst/>
          </a:prstGeom>
          <a:noFill/>
        </p:spPr>
        <p:txBody>
          <a:bodyPr wrap="none" lIns="0" rIns="0" tIns="0" bIns="0">
            <a:spAutoFit/>
          </a:bodyPr>
          <a:lstStyle/>
          <a:p>
            <a:r>
              <a:rPr sz="1100" b="0">
                <a:solidFill>
                  <a:srgbClr val="2E2E2E"/>
                </a:solidFill>
                <a:latin typeface="Calibri"/>
              </a:rPr>
              <a:t>period. In terms of value share by technology, the</a:t>
            </a:r>
          </a:p>
        </p:txBody>
      </p:sp>
      <p:sp>
        <p:nvSpPr>
          <p:cNvPr id="105" name="TextBox 104"/>
          <p:cNvSpPr txBox="1"/>
          <p:nvPr/>
        </p:nvSpPr>
        <p:spPr>
          <a:xfrm>
            <a:off x="485775" y="4899997"/>
            <a:ext cx="2862833" cy="186689"/>
          </a:xfrm>
          <a:prstGeom prst="rect">
            <a:avLst/>
          </a:prstGeom>
          <a:noFill/>
        </p:spPr>
        <p:txBody>
          <a:bodyPr wrap="none" lIns="0" rIns="0" tIns="0" bIns="0">
            <a:spAutoFit/>
          </a:bodyPr>
          <a:lstStyle/>
          <a:p>
            <a:r>
              <a:rPr sz="1100" b="0">
                <a:solidFill>
                  <a:srgbClr val="2E2E2E"/>
                </a:solidFill>
                <a:latin typeface="Calibri"/>
              </a:rPr>
              <a:t>rotary screw air compressor segment is expected</a:t>
            </a:r>
          </a:p>
        </p:txBody>
      </p:sp>
      <p:sp>
        <p:nvSpPr>
          <p:cNvPr id="106" name="TextBox 105"/>
          <p:cNvSpPr txBox="1"/>
          <p:nvPr/>
        </p:nvSpPr>
        <p:spPr>
          <a:xfrm>
            <a:off x="485775" y="5067637"/>
            <a:ext cx="1912763" cy="186689"/>
          </a:xfrm>
          <a:prstGeom prst="rect">
            <a:avLst/>
          </a:prstGeom>
          <a:noFill/>
        </p:spPr>
        <p:txBody>
          <a:bodyPr wrap="none" lIns="0" rIns="0" tIns="0" bIns="0">
            <a:spAutoFit/>
          </a:bodyPr>
          <a:lstStyle/>
          <a:p>
            <a:r>
              <a:rPr sz="1100" b="0">
                <a:solidFill>
                  <a:srgbClr val="2E2E2E"/>
                </a:solidFill>
                <a:latin typeface="Calibri"/>
              </a:rPr>
              <a:t>to dominate the market, gaining</a:t>
            </a:r>
          </a:p>
        </p:txBody>
      </p:sp>
      <p:pic>
        <p:nvPicPr>
          <p:cNvPr id="107" name="Picture 106" descr="lock.png"/>
          <p:cNvPicPr>
            <a:picLocks noChangeAspect="1"/>
          </p:cNvPicPr>
          <p:nvPr/>
        </p:nvPicPr>
        <p:blipFill>
          <a:blip r:embed="rId22"/>
          <a:stretch>
            <a:fillRect/>
          </a:stretch>
        </p:blipFill>
        <p:spPr>
          <a:xfrm>
            <a:off x="2346590" y="5057858"/>
            <a:ext cx="128699" cy="187198"/>
          </a:xfrm>
          <a:prstGeom prst="rect">
            <a:avLst/>
          </a:prstGeom>
        </p:spPr>
      </p:pic>
      <p:sp>
        <p:nvSpPr>
          <p:cNvPr id="108" name="TextBox 107"/>
          <p:cNvSpPr txBox="1"/>
          <p:nvPr/>
        </p:nvSpPr>
        <p:spPr>
          <a:xfrm>
            <a:off x="2514086"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09" name="TextBox 108"/>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10" name="Picture 109" descr="lock.png"/>
          <p:cNvPicPr>
            <a:picLocks noChangeAspect="1"/>
          </p:cNvPicPr>
          <p:nvPr/>
        </p:nvPicPr>
        <p:blipFill>
          <a:blip r:embed="rId22"/>
          <a:stretch>
            <a:fillRect/>
          </a:stretch>
        </p:blipFill>
        <p:spPr>
          <a:xfrm>
            <a:off x="1330764" y="5225498"/>
            <a:ext cx="128699" cy="187198"/>
          </a:xfrm>
          <a:prstGeom prst="rect">
            <a:avLst/>
          </a:prstGeom>
        </p:spPr>
      </p:pic>
      <p:sp>
        <p:nvSpPr>
          <p:cNvPr id="111" name="TextBox 110"/>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2" name="TextBox 111"/>
          <p:cNvSpPr txBox="1"/>
          <p:nvPr/>
        </p:nvSpPr>
        <p:spPr>
          <a:xfrm>
            <a:off x="485775" y="5453209"/>
            <a:ext cx="2914650" cy="186689"/>
          </a:xfrm>
          <a:prstGeom prst="rect">
            <a:avLst/>
          </a:prstGeom>
          <a:noFill/>
        </p:spPr>
        <p:txBody>
          <a:bodyPr wrap="none" lIns="0" rIns="0" tIns="0" bIns="0">
            <a:spAutoFit/>
          </a:bodyPr>
          <a:lstStyle/>
          <a:p>
            <a:r>
              <a:rPr sz="1100" b="0">
                <a:solidFill>
                  <a:srgbClr val="2E2E2E"/>
                </a:solidFill>
                <a:latin typeface="Calibri"/>
              </a:rPr>
              <a:t>Rotary screw air compressor segment is projected</a:t>
            </a:r>
          </a:p>
        </p:txBody>
      </p:sp>
      <p:sp>
        <p:nvSpPr>
          <p:cNvPr id="113" name="TextBox 112"/>
          <p:cNvSpPr txBox="1"/>
          <p:nvPr/>
        </p:nvSpPr>
        <p:spPr>
          <a:xfrm>
            <a:off x="485775" y="5620849"/>
            <a:ext cx="664740" cy="186689"/>
          </a:xfrm>
          <a:prstGeom prst="rect">
            <a:avLst/>
          </a:prstGeom>
          <a:noFill/>
        </p:spPr>
        <p:txBody>
          <a:bodyPr wrap="none" lIns="0" rIns="0" tIns="0" bIns="0">
            <a:spAutoFit/>
          </a:bodyPr>
          <a:lstStyle/>
          <a:p>
            <a:r>
              <a:rPr sz="1100" b="0">
                <a:solidFill>
                  <a:srgbClr val="2E2E2E"/>
                </a:solidFill>
                <a:latin typeface="Calibri"/>
              </a:rPr>
              <a:t>to register</a:t>
            </a:r>
          </a:p>
        </p:txBody>
      </p:sp>
      <p:pic>
        <p:nvPicPr>
          <p:cNvPr id="114" name="Picture 113" descr="lock.png"/>
          <p:cNvPicPr>
            <a:picLocks noChangeAspect="1"/>
          </p:cNvPicPr>
          <p:nvPr/>
        </p:nvPicPr>
        <p:blipFill>
          <a:blip r:embed="rId22"/>
          <a:stretch>
            <a:fillRect/>
          </a:stretch>
        </p:blipFill>
        <p:spPr>
          <a:xfrm>
            <a:off x="1098567" y="5611070"/>
            <a:ext cx="128699" cy="187198"/>
          </a:xfrm>
          <a:prstGeom prst="rect">
            <a:avLst/>
          </a:prstGeom>
        </p:spPr>
      </p:pic>
      <p:sp>
        <p:nvSpPr>
          <p:cNvPr id="115" name="TextBox 114"/>
          <p:cNvSpPr txBox="1"/>
          <p:nvPr/>
        </p:nvSpPr>
        <p:spPr>
          <a:xfrm>
            <a:off x="1266063" y="5620849"/>
            <a:ext cx="1684387" cy="186689"/>
          </a:xfrm>
          <a:prstGeom prst="rect">
            <a:avLst/>
          </a:prstGeom>
          <a:noFill/>
        </p:spPr>
        <p:txBody>
          <a:bodyPr wrap="none" lIns="0" rIns="0" tIns="0" bIns="0">
            <a:spAutoFit/>
          </a:bodyPr>
          <a:lstStyle/>
          <a:p>
            <a:r>
              <a:rPr sz="1100" b="0">
                <a:solidFill>
                  <a:srgbClr val="2E2E2E"/>
                </a:solidFill>
                <a:latin typeface="Calibri"/>
              </a:rPr>
              <a:t>X higher value than scroll air</a:t>
            </a:r>
          </a:p>
        </p:txBody>
      </p:sp>
      <p:sp>
        <p:nvSpPr>
          <p:cNvPr id="116" name="TextBox 115"/>
          <p:cNvSpPr txBox="1"/>
          <p:nvPr/>
        </p:nvSpPr>
        <p:spPr>
          <a:xfrm>
            <a:off x="485775" y="5788489"/>
            <a:ext cx="1755055" cy="186689"/>
          </a:xfrm>
          <a:prstGeom prst="rect">
            <a:avLst/>
          </a:prstGeom>
          <a:noFill/>
        </p:spPr>
        <p:txBody>
          <a:bodyPr wrap="none" lIns="0" rIns="0" tIns="0" bIns="0">
            <a:spAutoFit/>
          </a:bodyPr>
          <a:lstStyle/>
          <a:p>
            <a:r>
              <a:rPr sz="1100" b="0">
                <a:solidFill>
                  <a:srgbClr val="2E2E2E"/>
                </a:solidFill>
                <a:latin typeface="Calibri"/>
              </a:rPr>
              <a:t>compressor segment in 2036.</a:t>
            </a:r>
          </a:p>
        </p:txBody>
      </p:sp>
      <p:sp>
        <p:nvSpPr>
          <p:cNvPr id="117" name="TextBox 116"/>
          <p:cNvSpPr txBox="1"/>
          <p:nvPr/>
        </p:nvSpPr>
        <p:spPr>
          <a:xfrm>
            <a:off x="3838575" y="4229437"/>
            <a:ext cx="1886570" cy="186689"/>
          </a:xfrm>
          <a:prstGeom prst="rect">
            <a:avLst/>
          </a:prstGeom>
          <a:noFill/>
        </p:spPr>
        <p:txBody>
          <a:bodyPr wrap="none" lIns="0" rIns="0" tIns="0" bIns="0">
            <a:spAutoFit/>
          </a:bodyPr>
          <a:lstStyle/>
          <a:p>
            <a:r>
              <a:rPr sz="1100" b="0">
                <a:solidFill>
                  <a:srgbClr val="2E2E2E"/>
                </a:solidFill>
                <a:latin typeface="Calibri"/>
              </a:rPr>
              <a:t>● Rotary Screw Air Compressor:</a:t>
            </a:r>
          </a:p>
        </p:txBody>
      </p:sp>
      <p:pic>
        <p:nvPicPr>
          <p:cNvPr id="118" name="Picture 117" descr="lock.png"/>
          <p:cNvPicPr>
            <a:picLocks noChangeAspect="1"/>
          </p:cNvPicPr>
          <p:nvPr/>
        </p:nvPicPr>
        <p:blipFill>
          <a:blip r:embed="rId22"/>
          <a:stretch>
            <a:fillRect/>
          </a:stretch>
        </p:blipFill>
        <p:spPr>
          <a:xfrm>
            <a:off x="5673196" y="4219658"/>
            <a:ext cx="128699" cy="187198"/>
          </a:xfrm>
          <a:prstGeom prst="rect">
            <a:avLst/>
          </a:prstGeom>
        </p:spPr>
      </p:pic>
      <p:sp>
        <p:nvSpPr>
          <p:cNvPr id="119" name="TextBox 118"/>
          <p:cNvSpPr txBox="1"/>
          <p:nvPr/>
        </p:nvSpPr>
        <p:spPr>
          <a:xfrm>
            <a:off x="5840692"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0" name="Picture 119" descr="lock.png"/>
          <p:cNvPicPr>
            <a:picLocks noChangeAspect="1"/>
          </p:cNvPicPr>
          <p:nvPr/>
        </p:nvPicPr>
        <p:blipFill>
          <a:blip r:embed="rId22"/>
          <a:stretch>
            <a:fillRect/>
          </a:stretch>
        </p:blipFill>
        <p:spPr>
          <a:xfrm>
            <a:off x="6700142" y="4219658"/>
            <a:ext cx="128699" cy="187198"/>
          </a:xfrm>
          <a:prstGeom prst="rect">
            <a:avLst/>
          </a:prstGeom>
        </p:spPr>
      </p:pic>
      <p:sp>
        <p:nvSpPr>
          <p:cNvPr id="121" name="TextBox 120"/>
          <p:cNvSpPr txBox="1"/>
          <p:nvPr/>
        </p:nvSpPr>
        <p:spPr>
          <a:xfrm>
            <a:off x="6867638"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22" name="TextBox 121"/>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23" name="TextBox 122"/>
          <p:cNvSpPr txBox="1"/>
          <p:nvPr/>
        </p:nvSpPr>
        <p:spPr>
          <a:xfrm>
            <a:off x="3838575" y="4615009"/>
            <a:ext cx="2384251" cy="186689"/>
          </a:xfrm>
          <a:prstGeom prst="rect">
            <a:avLst/>
          </a:prstGeom>
          <a:noFill/>
        </p:spPr>
        <p:txBody>
          <a:bodyPr wrap="none" lIns="0" rIns="0" tIns="0" bIns="0">
            <a:spAutoFit/>
          </a:bodyPr>
          <a:lstStyle/>
          <a:p>
            <a:r>
              <a:rPr sz="1100" b="0">
                <a:solidFill>
                  <a:srgbClr val="2E2E2E"/>
                </a:solidFill>
                <a:latin typeface="Calibri"/>
              </a:rPr>
              <a:t>● Reciprocating (Piston) Air Compressor:</a:t>
            </a:r>
          </a:p>
        </p:txBody>
      </p:sp>
      <p:pic>
        <p:nvPicPr>
          <p:cNvPr id="124" name="Picture 123" descr="lock.png"/>
          <p:cNvPicPr>
            <a:picLocks noChangeAspect="1"/>
          </p:cNvPicPr>
          <p:nvPr/>
        </p:nvPicPr>
        <p:blipFill>
          <a:blip r:embed="rId22"/>
          <a:stretch>
            <a:fillRect/>
          </a:stretch>
        </p:blipFill>
        <p:spPr>
          <a:xfrm>
            <a:off x="6170877" y="4605230"/>
            <a:ext cx="128699" cy="187198"/>
          </a:xfrm>
          <a:prstGeom prst="rect">
            <a:avLst/>
          </a:prstGeom>
        </p:spPr>
      </p:pic>
      <p:sp>
        <p:nvSpPr>
          <p:cNvPr id="125" name="TextBox 124"/>
          <p:cNvSpPr txBox="1"/>
          <p:nvPr/>
        </p:nvSpPr>
        <p:spPr>
          <a:xfrm>
            <a:off x="6338373"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22"/>
          <a:stretch>
            <a:fillRect/>
          </a:stretch>
        </p:blipFill>
        <p:spPr>
          <a:xfrm>
            <a:off x="7197824" y="4605230"/>
            <a:ext cx="128699" cy="187198"/>
          </a:xfrm>
          <a:prstGeom prst="rect">
            <a:avLst/>
          </a:prstGeom>
        </p:spPr>
      </p:pic>
      <p:sp>
        <p:nvSpPr>
          <p:cNvPr id="127" name="TextBox 126"/>
          <p:cNvSpPr txBox="1"/>
          <p:nvPr/>
        </p:nvSpPr>
        <p:spPr>
          <a:xfrm>
            <a:off x="7365319"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28" name="TextBox 127"/>
          <p:cNvSpPr txBox="1"/>
          <p:nvPr/>
        </p:nvSpPr>
        <p:spPr>
          <a:xfrm>
            <a:off x="3838575" y="4782649"/>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29" name="TextBox 128"/>
          <p:cNvSpPr txBox="1"/>
          <p:nvPr/>
        </p:nvSpPr>
        <p:spPr>
          <a:xfrm>
            <a:off x="3838575" y="5000581"/>
            <a:ext cx="1448097" cy="186689"/>
          </a:xfrm>
          <a:prstGeom prst="rect">
            <a:avLst/>
          </a:prstGeom>
          <a:noFill/>
        </p:spPr>
        <p:txBody>
          <a:bodyPr wrap="none" lIns="0" rIns="0" tIns="0" bIns="0">
            <a:spAutoFit/>
          </a:bodyPr>
          <a:lstStyle/>
          <a:p>
            <a:r>
              <a:rPr sz="1100" b="0">
                <a:solidFill>
                  <a:srgbClr val="2E2E2E"/>
                </a:solidFill>
                <a:latin typeface="Calibri"/>
              </a:rPr>
              <a:t>● Scroll Air Compressor:</a:t>
            </a:r>
          </a:p>
        </p:txBody>
      </p:sp>
      <p:pic>
        <p:nvPicPr>
          <p:cNvPr id="130" name="Picture 129" descr="lock.png"/>
          <p:cNvPicPr>
            <a:picLocks noChangeAspect="1"/>
          </p:cNvPicPr>
          <p:nvPr/>
        </p:nvPicPr>
        <p:blipFill>
          <a:blip r:embed="rId22"/>
          <a:stretch>
            <a:fillRect/>
          </a:stretch>
        </p:blipFill>
        <p:spPr>
          <a:xfrm>
            <a:off x="5234724" y="4990801"/>
            <a:ext cx="128699" cy="187198"/>
          </a:xfrm>
          <a:prstGeom prst="rect">
            <a:avLst/>
          </a:prstGeom>
        </p:spPr>
      </p:pic>
      <p:sp>
        <p:nvSpPr>
          <p:cNvPr id="131" name="TextBox 130"/>
          <p:cNvSpPr txBox="1"/>
          <p:nvPr/>
        </p:nvSpPr>
        <p:spPr>
          <a:xfrm>
            <a:off x="5402220"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2" name="Picture 131" descr="lock.png"/>
          <p:cNvPicPr>
            <a:picLocks noChangeAspect="1"/>
          </p:cNvPicPr>
          <p:nvPr/>
        </p:nvPicPr>
        <p:blipFill>
          <a:blip r:embed="rId22"/>
          <a:stretch>
            <a:fillRect/>
          </a:stretch>
        </p:blipFill>
        <p:spPr>
          <a:xfrm>
            <a:off x="6261670" y="4990801"/>
            <a:ext cx="128699" cy="187198"/>
          </a:xfrm>
          <a:prstGeom prst="rect">
            <a:avLst/>
          </a:prstGeom>
        </p:spPr>
      </p:pic>
      <p:sp>
        <p:nvSpPr>
          <p:cNvPr id="133" name="TextBox 132"/>
          <p:cNvSpPr txBox="1"/>
          <p:nvPr/>
        </p:nvSpPr>
        <p:spPr>
          <a:xfrm>
            <a:off x="6429166" y="500058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4" name="TextBox 133"/>
          <p:cNvSpPr txBox="1"/>
          <p:nvPr/>
        </p:nvSpPr>
        <p:spPr>
          <a:xfrm>
            <a:off x="3838575" y="5218513"/>
            <a:ext cx="1764059" cy="186689"/>
          </a:xfrm>
          <a:prstGeom prst="rect">
            <a:avLst/>
          </a:prstGeom>
          <a:noFill/>
        </p:spPr>
        <p:txBody>
          <a:bodyPr wrap="none" lIns="0" rIns="0" tIns="0" bIns="0">
            <a:spAutoFit/>
          </a:bodyPr>
          <a:lstStyle/>
          <a:p>
            <a:r>
              <a:rPr sz="1100" b="0">
                <a:solidFill>
                  <a:srgbClr val="2E2E2E"/>
                </a:solidFill>
                <a:latin typeface="Calibri"/>
              </a:rPr>
              <a:t>● Centrifugal Air Compressor:</a:t>
            </a:r>
          </a:p>
        </p:txBody>
      </p:sp>
      <p:pic>
        <p:nvPicPr>
          <p:cNvPr id="135" name="Picture 134" descr="lock.png"/>
          <p:cNvPicPr>
            <a:picLocks noChangeAspect="1"/>
          </p:cNvPicPr>
          <p:nvPr/>
        </p:nvPicPr>
        <p:blipFill>
          <a:blip r:embed="rId22"/>
          <a:stretch>
            <a:fillRect/>
          </a:stretch>
        </p:blipFill>
        <p:spPr>
          <a:xfrm>
            <a:off x="5550686" y="5208733"/>
            <a:ext cx="128699" cy="187198"/>
          </a:xfrm>
          <a:prstGeom prst="rect">
            <a:avLst/>
          </a:prstGeom>
        </p:spPr>
      </p:pic>
      <p:sp>
        <p:nvSpPr>
          <p:cNvPr id="136" name="TextBox 135"/>
          <p:cNvSpPr txBox="1"/>
          <p:nvPr/>
        </p:nvSpPr>
        <p:spPr>
          <a:xfrm>
            <a:off x="5718182"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7" name="Picture 136" descr="lock.png"/>
          <p:cNvPicPr>
            <a:picLocks noChangeAspect="1"/>
          </p:cNvPicPr>
          <p:nvPr/>
        </p:nvPicPr>
        <p:blipFill>
          <a:blip r:embed="rId22"/>
          <a:stretch>
            <a:fillRect/>
          </a:stretch>
        </p:blipFill>
        <p:spPr>
          <a:xfrm>
            <a:off x="6577632" y="5208733"/>
            <a:ext cx="128699" cy="187198"/>
          </a:xfrm>
          <a:prstGeom prst="rect">
            <a:avLst/>
          </a:prstGeom>
        </p:spPr>
      </p:pic>
      <p:sp>
        <p:nvSpPr>
          <p:cNvPr id="138" name="TextBox 137"/>
          <p:cNvSpPr txBox="1"/>
          <p:nvPr/>
        </p:nvSpPr>
        <p:spPr>
          <a:xfrm>
            <a:off x="6745128" y="5218513"/>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139" name="TextBox 138"/>
          <p:cNvSpPr txBox="1"/>
          <p:nvPr/>
        </p:nvSpPr>
        <p:spPr>
          <a:xfrm>
            <a:off x="3838575" y="5386153"/>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140" name="TextBox 139"/>
          <p:cNvSpPr txBox="1"/>
          <p:nvPr/>
        </p:nvSpPr>
        <p:spPr>
          <a:xfrm>
            <a:off x="3838575" y="5604085"/>
            <a:ext cx="1834182" cy="186689"/>
          </a:xfrm>
          <a:prstGeom prst="rect">
            <a:avLst/>
          </a:prstGeom>
          <a:noFill/>
        </p:spPr>
        <p:txBody>
          <a:bodyPr wrap="none" lIns="0" rIns="0" tIns="0" bIns="0">
            <a:spAutoFit/>
          </a:bodyPr>
          <a:lstStyle/>
          <a:p>
            <a:r>
              <a:rPr sz="1100" b="0">
                <a:solidFill>
                  <a:srgbClr val="2E2E2E"/>
                </a:solidFill>
                <a:latin typeface="Calibri"/>
              </a:rPr>
              <a:t>● Rotary Vane Air Compressor:</a:t>
            </a:r>
          </a:p>
        </p:txBody>
      </p:sp>
      <p:pic>
        <p:nvPicPr>
          <p:cNvPr id="141" name="Picture 140" descr="lock.png"/>
          <p:cNvPicPr>
            <a:picLocks noChangeAspect="1"/>
          </p:cNvPicPr>
          <p:nvPr/>
        </p:nvPicPr>
        <p:blipFill>
          <a:blip r:embed="rId22"/>
          <a:stretch>
            <a:fillRect/>
          </a:stretch>
        </p:blipFill>
        <p:spPr>
          <a:xfrm>
            <a:off x="5620809" y="5594305"/>
            <a:ext cx="128699" cy="187198"/>
          </a:xfrm>
          <a:prstGeom prst="rect">
            <a:avLst/>
          </a:prstGeom>
        </p:spPr>
      </p:pic>
      <p:sp>
        <p:nvSpPr>
          <p:cNvPr id="142" name="TextBox 141"/>
          <p:cNvSpPr txBox="1"/>
          <p:nvPr/>
        </p:nvSpPr>
        <p:spPr>
          <a:xfrm>
            <a:off x="5788305" y="560408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3" name="Picture 142" descr="lock.png"/>
          <p:cNvPicPr>
            <a:picLocks noChangeAspect="1"/>
          </p:cNvPicPr>
          <p:nvPr/>
        </p:nvPicPr>
        <p:blipFill>
          <a:blip r:embed="rId22"/>
          <a:stretch>
            <a:fillRect/>
          </a:stretch>
        </p:blipFill>
        <p:spPr>
          <a:xfrm>
            <a:off x="6647755" y="5594305"/>
            <a:ext cx="128699" cy="187198"/>
          </a:xfrm>
          <a:prstGeom prst="rect">
            <a:avLst/>
          </a:prstGeom>
        </p:spPr>
      </p:pic>
      <p:sp>
        <p:nvSpPr>
          <p:cNvPr id="144" name="TextBox 143"/>
          <p:cNvSpPr txBox="1"/>
          <p:nvPr/>
        </p:nvSpPr>
        <p:spPr>
          <a:xfrm>
            <a:off x="6815251" y="5604085"/>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45" name="TextBox 144"/>
          <p:cNvSpPr txBox="1"/>
          <p:nvPr/>
        </p:nvSpPr>
        <p:spPr>
          <a:xfrm>
            <a:off x="3838575" y="5771725"/>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46" name="TextBox 145"/>
          <p:cNvSpPr txBox="1"/>
          <p:nvPr/>
        </p:nvSpPr>
        <p:spPr>
          <a:xfrm>
            <a:off x="3838575" y="5989657"/>
            <a:ext cx="1410444" cy="186689"/>
          </a:xfrm>
          <a:prstGeom prst="rect">
            <a:avLst/>
          </a:prstGeom>
          <a:noFill/>
        </p:spPr>
        <p:txBody>
          <a:bodyPr wrap="none" lIns="0" rIns="0" tIns="0" bIns="0">
            <a:spAutoFit/>
          </a:bodyPr>
          <a:lstStyle/>
          <a:p>
            <a:r>
              <a:rPr sz="1100" b="0">
                <a:solidFill>
                  <a:srgbClr val="2E2E2E"/>
                </a:solidFill>
                <a:latin typeface="Calibri"/>
              </a:rPr>
              <a:t>● Axial Air Compressor:</a:t>
            </a:r>
          </a:p>
        </p:txBody>
      </p:sp>
      <p:pic>
        <p:nvPicPr>
          <p:cNvPr id="147" name="Picture 146" descr="lock.png"/>
          <p:cNvPicPr>
            <a:picLocks noChangeAspect="1"/>
          </p:cNvPicPr>
          <p:nvPr/>
        </p:nvPicPr>
        <p:blipFill>
          <a:blip r:embed="rId22"/>
          <a:stretch>
            <a:fillRect/>
          </a:stretch>
        </p:blipFill>
        <p:spPr>
          <a:xfrm>
            <a:off x="5197070" y="5979877"/>
            <a:ext cx="128699" cy="187198"/>
          </a:xfrm>
          <a:prstGeom prst="rect">
            <a:avLst/>
          </a:prstGeom>
        </p:spPr>
      </p:pic>
      <p:sp>
        <p:nvSpPr>
          <p:cNvPr id="148" name="TextBox 147"/>
          <p:cNvSpPr txBox="1"/>
          <p:nvPr/>
        </p:nvSpPr>
        <p:spPr>
          <a:xfrm>
            <a:off x="5364566" y="598965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9" name="Picture 148" descr="lock.png"/>
          <p:cNvPicPr>
            <a:picLocks noChangeAspect="1"/>
          </p:cNvPicPr>
          <p:nvPr/>
        </p:nvPicPr>
        <p:blipFill>
          <a:blip r:embed="rId22"/>
          <a:stretch>
            <a:fillRect/>
          </a:stretch>
        </p:blipFill>
        <p:spPr>
          <a:xfrm>
            <a:off x="6224016" y="5979877"/>
            <a:ext cx="128699" cy="187198"/>
          </a:xfrm>
          <a:prstGeom prst="rect">
            <a:avLst/>
          </a:prstGeom>
        </p:spPr>
      </p:pic>
      <p:sp>
        <p:nvSpPr>
          <p:cNvPr id="150" name="TextBox 149"/>
          <p:cNvSpPr txBox="1"/>
          <p:nvPr/>
        </p:nvSpPr>
        <p:spPr>
          <a:xfrm>
            <a:off x="6391512" y="598965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51" name="TextBox 150"/>
          <p:cNvSpPr txBox="1"/>
          <p:nvPr/>
        </p:nvSpPr>
        <p:spPr>
          <a:xfrm>
            <a:off x="8524875" y="5842641"/>
            <a:ext cx="3094471" cy="194310"/>
          </a:xfrm>
          <a:prstGeom prst="rect">
            <a:avLst/>
          </a:prstGeom>
          <a:noFill/>
        </p:spPr>
        <p:txBody>
          <a:bodyPr wrap="none" lIns="0" rIns="0" tIns="0" bIns="0">
            <a:spAutoFit/>
          </a:bodyPr>
          <a:lstStyle/>
          <a:p>
            <a:r>
              <a:rPr sz="1150" b="1">
                <a:solidFill>
                  <a:srgbClr val="0B2E4A"/>
                </a:solidFill>
                <a:latin typeface="Calibri"/>
              </a:rPr>
              <a:t>The Technology segment is projected to grow at a</a:t>
            </a:r>
          </a:p>
        </p:txBody>
      </p:sp>
      <p:sp>
        <p:nvSpPr>
          <p:cNvPr id="152" name="TextBox 151"/>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53" name="Picture 152" descr="lock.png"/>
          <p:cNvPicPr>
            <a:picLocks noChangeAspect="1"/>
          </p:cNvPicPr>
          <p:nvPr/>
        </p:nvPicPr>
        <p:blipFill>
          <a:blip r:embed="rId22"/>
          <a:stretch>
            <a:fillRect/>
          </a:stretch>
        </p:blipFill>
        <p:spPr>
          <a:xfrm>
            <a:off x="9048826" y="6007677"/>
            <a:ext cx="134549" cy="195707"/>
          </a:xfrm>
          <a:prstGeom prst="rect">
            <a:avLst/>
          </a:prstGeom>
        </p:spPr>
      </p:pic>
      <p:sp>
        <p:nvSpPr>
          <p:cNvPr id="154" name="TextBox 153"/>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Technology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Technology mix within each country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Technology mix within each country (share of 2036 value) · row label = country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Technology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677650" cy="186689"/>
          </a:xfrm>
          <a:prstGeom prst="rect">
            <a:avLst/>
          </a:prstGeom>
          <a:noFill/>
        </p:spPr>
        <p:txBody>
          <a:bodyPr wrap="none" lIns="0" rIns="0" tIns="0" bIns="0">
            <a:spAutoFit/>
          </a:bodyPr>
          <a:lstStyle/>
          <a:p>
            <a:r>
              <a:rPr sz="1100" b="0">
                <a:solidFill>
                  <a:srgbClr val="2E2E2E"/>
                </a:solidFill>
                <a:latin typeface="Calibri"/>
              </a:rPr>
              <a:t>Rotary screw air compressor followed by scroll air compressor are expected to be the two most attractive technology segments in the North America industrial air compressor market in terms of value over</a:t>
            </a:r>
          </a:p>
        </p:txBody>
      </p:sp>
      <p:sp>
        <p:nvSpPr>
          <p:cNvPr id="18" name="TextBox 17"/>
          <p:cNvSpPr txBox="1"/>
          <p:nvPr/>
        </p:nvSpPr>
        <p:spPr>
          <a:xfrm>
            <a:off x="257175" y="5861685"/>
            <a:ext cx="5662545" cy="186689"/>
          </a:xfrm>
          <a:prstGeom prst="rect">
            <a:avLst/>
          </a:prstGeom>
          <a:noFill/>
        </p:spPr>
        <p:txBody>
          <a:bodyPr wrap="none" lIns="0" rIns="0" tIns="0" bIns="0">
            <a:spAutoFit/>
          </a:bodyPr>
          <a:lstStyle/>
          <a:p>
            <a:r>
              <a:rPr sz="1100" b="0">
                <a:solidFill>
                  <a:srgbClr val="2E2E2E"/>
                </a:solidFill>
                <a:latin typeface="Calibri"/>
              </a:rPr>
              <a:t>the forecast period. Rotary screw air compressor and scroll air compressor exhibit a CAGR index of</a:t>
            </a:r>
          </a:p>
        </p:txBody>
      </p:sp>
      <p:pic>
        <p:nvPicPr>
          <p:cNvPr id="19" name="Picture 18" descr="lock.png"/>
          <p:cNvPicPr>
            <a:picLocks noChangeAspect="1"/>
          </p:cNvPicPr>
          <p:nvPr/>
        </p:nvPicPr>
        <p:blipFill>
          <a:blip r:embed="rId6"/>
          <a:stretch>
            <a:fillRect/>
          </a:stretch>
        </p:blipFill>
        <p:spPr>
          <a:xfrm>
            <a:off x="5867772" y="5851905"/>
            <a:ext cx="128699" cy="187198"/>
          </a:xfrm>
          <a:prstGeom prst="rect">
            <a:avLst/>
          </a:prstGeom>
        </p:spPr>
      </p:pic>
      <p:sp>
        <p:nvSpPr>
          <p:cNvPr id="20" name="TextBox 19"/>
          <p:cNvSpPr txBox="1"/>
          <p:nvPr/>
        </p:nvSpPr>
        <p:spPr>
          <a:xfrm>
            <a:off x="603526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6273162" y="5851905"/>
            <a:ext cx="128699" cy="187198"/>
          </a:xfrm>
          <a:prstGeom prst="rect">
            <a:avLst/>
          </a:prstGeom>
        </p:spPr>
      </p:pic>
      <p:sp>
        <p:nvSpPr>
          <p:cNvPr id="22" name="TextBox 21"/>
          <p:cNvSpPr txBox="1"/>
          <p:nvPr/>
        </p:nvSpPr>
        <p:spPr>
          <a:xfrm>
            <a:off x="6440658"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8049631" y="5851905"/>
            <a:ext cx="128699" cy="187198"/>
          </a:xfrm>
          <a:prstGeom prst="rect">
            <a:avLst/>
          </a:prstGeom>
        </p:spPr>
      </p:pic>
      <p:sp>
        <p:nvSpPr>
          <p:cNvPr id="24" name="TextBox 23"/>
          <p:cNvSpPr txBox="1"/>
          <p:nvPr/>
        </p:nvSpPr>
        <p:spPr>
          <a:xfrm>
            <a:off x="8217127"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8455022" y="5851905"/>
            <a:ext cx="128699" cy="187198"/>
          </a:xfrm>
          <a:prstGeom prst="rect">
            <a:avLst/>
          </a:prstGeom>
        </p:spPr>
      </p:pic>
      <p:sp>
        <p:nvSpPr>
          <p:cNvPr id="26" name="TextBox 25"/>
          <p:cNvSpPr txBox="1"/>
          <p:nvPr/>
        </p:nvSpPr>
        <p:spPr>
          <a:xfrm>
            <a:off x="8622517"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11176922" y="5851905"/>
            <a:ext cx="128699" cy="187198"/>
          </a:xfrm>
          <a:prstGeom prst="rect">
            <a:avLst/>
          </a:prstGeom>
        </p:spPr>
      </p:pic>
      <p:sp>
        <p:nvSpPr>
          <p:cNvPr id="28" name="TextBox 27"/>
          <p:cNvSpPr txBox="1"/>
          <p:nvPr/>
        </p:nvSpPr>
        <p:spPr>
          <a:xfrm>
            <a:off x="11344417" y="586168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29" name="TextBox 28"/>
          <p:cNvSpPr txBox="1"/>
          <p:nvPr/>
        </p:nvSpPr>
        <p:spPr>
          <a:xfrm>
            <a:off x="257175" y="6029325"/>
            <a:ext cx="11335675" cy="186689"/>
          </a:xfrm>
          <a:prstGeom prst="rect">
            <a:avLst/>
          </a:prstGeom>
          <a:noFill/>
        </p:spPr>
        <p:txBody>
          <a:bodyPr wrap="none" lIns="0" rIns="0" tIns="0" bIns="0">
            <a:spAutoFit/>
          </a:bodyPr>
          <a:lstStyle/>
          <a:p>
            <a:r>
              <a:rPr sz="1100" b="0">
                <a:solidFill>
                  <a:srgbClr val="2E2E2E"/>
                </a:solidFill>
                <a:latin typeface="Calibri"/>
              </a:rPr>
              <a:t>The axial air compressor segment is expected to be less attractive as compared to other segments over the forecast period, owing to its lower CAGR and incremental opportunity. Bubbles right of the</a:t>
            </a:r>
          </a:p>
        </p:txBody>
      </p:sp>
      <p:sp>
        <p:nvSpPr>
          <p:cNvPr id="30" name="TextBox 29"/>
          <p:cNvSpPr txBox="1"/>
          <p:nvPr/>
        </p:nvSpPr>
        <p:spPr>
          <a:xfrm>
            <a:off x="257175" y="6196965"/>
            <a:ext cx="3224344" cy="186689"/>
          </a:xfrm>
          <a:prstGeom prst="rect">
            <a:avLst/>
          </a:prstGeom>
          <a:noFill/>
        </p:spPr>
        <p:txBody>
          <a:bodyPr wrap="none" lIns="0" rIns="0" tIns="0" bIns="0">
            <a:spAutoFit/>
          </a:bodyPr>
          <a:lstStyle/>
          <a:p>
            <a:r>
              <a:rPr sz="1100" b="0">
                <a:solidFill>
                  <a:srgbClr val="2E2E2E"/>
                </a:solidFill>
                <a:latin typeface="Calibri"/>
              </a:rPr>
              <a:t>CAGR-Index 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Technology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Technology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Rotary Screw Air Compressor</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Reciprocating (Piston) Air Compressor</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Centrifugal Air Compressor</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Axial Air Compressor</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Technology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Technology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Rotary Vane Air Compressor</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Scroll Air Compressor</a:t>
            </a:r>
          </a:p>
        </p:txBody>
      </p:sp>
      <p:graphicFrame>
        <p:nvGraphicFramePr>
          <p:cNvPr id="12" name="Chart 11"/>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E2A5C"/>
                </a:solidFill>
                <a:latin typeface="Calibri"/>
              </a:rPr>
              <a:t>Summary of North America Absolute $ Opportunity Analysis, By Technology</a:t>
            </a:r>
          </a:p>
        </p:txBody>
      </p:sp>
      <p:sp>
        <p:nvSpPr>
          <p:cNvPr id="15" name="Rectangle 14"/>
          <p:cNvSpPr/>
          <p:nvPr/>
        </p:nvSpPr>
        <p:spPr>
          <a:xfrm>
            <a:off x="6305550" y="150299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Rectangle 1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9" name="Picture 18" descr="lock.png"/>
          <p:cNvPicPr>
            <a:picLocks noChangeAspect="1"/>
          </p:cNvPicPr>
          <p:nvPr/>
        </p:nvPicPr>
        <p:blipFill>
          <a:blip r:embed="rId6"/>
          <a:stretch>
            <a:fillRect/>
          </a:stretch>
        </p:blipFill>
        <p:spPr>
          <a:xfrm>
            <a:off x="3100230" y="2330679"/>
            <a:ext cx="252890" cy="367840"/>
          </a:xfrm>
          <a:prstGeom prst="rect">
            <a:avLst/>
          </a:prstGeom>
        </p:spPr>
      </p:pic>
      <p:pic>
        <p:nvPicPr>
          <p:cNvPr id="20" name="Picture 19" descr="lock.png"/>
          <p:cNvPicPr>
            <a:picLocks noChangeAspect="1"/>
          </p:cNvPicPr>
          <p:nvPr/>
        </p:nvPicPr>
        <p:blipFill>
          <a:blip r:embed="rId6"/>
          <a:stretch>
            <a:fillRect/>
          </a:stretch>
        </p:blipFill>
        <p:spPr>
          <a:xfrm>
            <a:off x="3100230" y="5216754"/>
            <a:ext cx="252890" cy="367840"/>
          </a:xfrm>
          <a:prstGeom prst="rect">
            <a:avLst/>
          </a:prstGeom>
        </p:spPr>
      </p:pic>
      <p:sp>
        <p:nvSpPr>
          <p:cNvPr id="21" name="TextBox 20"/>
          <p:cNvSpPr txBox="1"/>
          <p:nvPr/>
        </p:nvSpPr>
        <p:spPr>
          <a:xfrm>
            <a:off x="6305550" y="1598245"/>
            <a:ext cx="4734659" cy="194310"/>
          </a:xfrm>
          <a:prstGeom prst="rect">
            <a:avLst/>
          </a:prstGeom>
          <a:noFill/>
        </p:spPr>
        <p:txBody>
          <a:bodyPr wrap="none" lIns="0" rIns="0" tIns="0" bIns="0">
            <a:spAutoFit/>
          </a:bodyPr>
          <a:lstStyle/>
          <a:p>
            <a:r>
              <a:rPr sz="1150" b="0">
                <a:solidFill>
                  <a:srgbClr val="2E2E2E"/>
                </a:solidFill>
                <a:latin typeface="Calibri"/>
              </a:rPr>
              <a:t>By 2036, scroll air compressor segment is anticipated to witness an increase of</a:t>
            </a:r>
          </a:p>
        </p:txBody>
      </p:sp>
      <p:pic>
        <p:nvPicPr>
          <p:cNvPr id="22" name="Picture 21" descr="lock.png"/>
          <p:cNvPicPr>
            <a:picLocks noChangeAspect="1"/>
          </p:cNvPicPr>
          <p:nvPr/>
        </p:nvPicPr>
        <p:blipFill>
          <a:blip r:embed="rId6"/>
          <a:stretch>
            <a:fillRect/>
          </a:stretch>
        </p:blipFill>
        <p:spPr>
          <a:xfrm>
            <a:off x="10989363" y="1588021"/>
            <a:ext cx="134549" cy="195707"/>
          </a:xfrm>
          <a:prstGeom prst="rect">
            <a:avLst/>
          </a:prstGeom>
        </p:spPr>
      </p:pic>
      <p:sp>
        <p:nvSpPr>
          <p:cNvPr id="23" name="TextBox 22"/>
          <p:cNvSpPr txBox="1"/>
          <p:nvPr/>
        </p:nvSpPr>
        <p:spPr>
          <a:xfrm>
            <a:off x="11164472" y="1598245"/>
            <a:ext cx="675233" cy="194310"/>
          </a:xfrm>
          <a:prstGeom prst="rect">
            <a:avLst/>
          </a:prstGeom>
          <a:noFill/>
        </p:spPr>
        <p:txBody>
          <a:bodyPr wrap="none" lIns="0" rIns="0" tIns="0" bIns="0">
            <a:spAutoFit/>
          </a:bodyPr>
          <a:lstStyle/>
          <a:p>
            <a:r>
              <a:rPr sz="1150" b="0">
                <a:solidFill>
                  <a:srgbClr val="2E2E2E"/>
                </a:solidFill>
                <a:latin typeface="Calibri"/>
              </a:rPr>
              <a:t>X in terms</a:t>
            </a:r>
          </a:p>
        </p:txBody>
      </p:sp>
      <p:sp>
        <p:nvSpPr>
          <p:cNvPr id="24" name="TextBox 23"/>
          <p:cNvSpPr txBox="1"/>
          <p:nvPr/>
        </p:nvSpPr>
        <p:spPr>
          <a:xfrm>
            <a:off x="6305550" y="1773505"/>
            <a:ext cx="5390765" cy="194310"/>
          </a:xfrm>
          <a:prstGeom prst="rect">
            <a:avLst/>
          </a:prstGeom>
          <a:noFill/>
        </p:spPr>
        <p:txBody>
          <a:bodyPr wrap="none" lIns="0" rIns="0" tIns="0" bIns="0">
            <a:spAutoFit/>
          </a:bodyPr>
          <a:lstStyle/>
          <a:p>
            <a:r>
              <a:rPr sz="1150" b="0">
                <a:solidFill>
                  <a:srgbClr val="2E2E2E"/>
                </a:solidFill>
                <a:latin typeface="Calibri"/>
              </a:rPr>
              <a:t>of value as compared to 2026. The scroll air compressor segment is expected to create an</a:t>
            </a:r>
          </a:p>
        </p:txBody>
      </p:sp>
      <p:sp>
        <p:nvSpPr>
          <p:cNvPr id="25" name="TextBox 24"/>
          <p:cNvSpPr txBox="1"/>
          <p:nvPr/>
        </p:nvSpPr>
        <p:spPr>
          <a:xfrm>
            <a:off x="6305550" y="1948765"/>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26" name="Picture 25" descr="lock.png"/>
          <p:cNvPicPr>
            <a:picLocks noChangeAspect="1"/>
          </p:cNvPicPr>
          <p:nvPr/>
        </p:nvPicPr>
        <p:blipFill>
          <a:blip r:embed="rId6"/>
          <a:stretch>
            <a:fillRect/>
          </a:stretch>
        </p:blipFill>
        <p:spPr>
          <a:xfrm>
            <a:off x="8211582" y="1938541"/>
            <a:ext cx="134549" cy="195707"/>
          </a:xfrm>
          <a:prstGeom prst="rect">
            <a:avLst/>
          </a:prstGeom>
        </p:spPr>
      </p:pic>
      <p:sp>
        <p:nvSpPr>
          <p:cNvPr id="27" name="TextBox 26"/>
          <p:cNvSpPr txBox="1"/>
          <p:nvPr/>
        </p:nvSpPr>
        <p:spPr>
          <a:xfrm>
            <a:off x="8386692" y="1948765"/>
            <a:ext cx="3443907"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a:t>
            </a:r>
          </a:p>
        </p:txBody>
      </p:sp>
      <p:sp>
        <p:nvSpPr>
          <p:cNvPr id="28" name="TextBox 27"/>
          <p:cNvSpPr txBox="1"/>
          <p:nvPr/>
        </p:nvSpPr>
        <p:spPr>
          <a:xfrm>
            <a:off x="6305550" y="2124025"/>
            <a:ext cx="898587" cy="194310"/>
          </a:xfrm>
          <a:prstGeom prst="rect">
            <a:avLst/>
          </a:prstGeom>
          <a:noFill/>
        </p:spPr>
        <p:txBody>
          <a:bodyPr wrap="none" lIns="0" rIns="0" tIns="0" bIns="0">
            <a:spAutoFit/>
          </a:bodyPr>
          <a:lstStyle/>
          <a:p>
            <a:r>
              <a:rPr sz="1150" b="0">
                <a:solidFill>
                  <a:srgbClr val="2E2E2E"/>
                </a:solidFill>
                <a:latin typeface="Calibri"/>
              </a:rPr>
              <a:t>2026 to 2036.</a:t>
            </a:r>
          </a:p>
        </p:txBody>
      </p:sp>
      <p:sp>
        <p:nvSpPr>
          <p:cNvPr id="29" name="TextBox 28"/>
          <p:cNvSpPr txBox="1"/>
          <p:nvPr/>
        </p:nvSpPr>
        <p:spPr>
          <a:xfrm>
            <a:off x="6305550" y="2351863"/>
            <a:ext cx="5532536" cy="194310"/>
          </a:xfrm>
          <a:prstGeom prst="rect">
            <a:avLst/>
          </a:prstGeom>
          <a:noFill/>
        </p:spPr>
        <p:txBody>
          <a:bodyPr wrap="none" lIns="0" rIns="0" tIns="0" bIns="0">
            <a:spAutoFit/>
          </a:bodyPr>
          <a:lstStyle/>
          <a:p>
            <a:r>
              <a:rPr sz="1150" b="0">
                <a:solidFill>
                  <a:srgbClr val="2E2E2E"/>
                </a:solidFill>
                <a:latin typeface="Calibri"/>
              </a:rPr>
              <a:t>The centrifugal air compressor segment is expected to create an incremental opportunity of</a:t>
            </a:r>
          </a:p>
        </p:txBody>
      </p:sp>
      <p:sp>
        <p:nvSpPr>
          <p:cNvPr id="30" name="TextBox 29"/>
          <p:cNvSpPr txBox="1"/>
          <p:nvPr/>
        </p:nvSpPr>
        <p:spPr>
          <a:xfrm>
            <a:off x="6305550" y="252712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1" name="Picture 30" descr="lock.png"/>
          <p:cNvPicPr>
            <a:picLocks noChangeAspect="1"/>
          </p:cNvPicPr>
          <p:nvPr/>
        </p:nvPicPr>
        <p:blipFill>
          <a:blip r:embed="rId6"/>
          <a:stretch>
            <a:fillRect/>
          </a:stretch>
        </p:blipFill>
        <p:spPr>
          <a:xfrm>
            <a:off x="6565953" y="2516899"/>
            <a:ext cx="134549" cy="195707"/>
          </a:xfrm>
          <a:prstGeom prst="rect">
            <a:avLst/>
          </a:prstGeom>
        </p:spPr>
      </p:pic>
      <p:sp>
        <p:nvSpPr>
          <p:cNvPr id="32" name="TextBox 31"/>
          <p:cNvSpPr txBox="1"/>
          <p:nvPr/>
        </p:nvSpPr>
        <p:spPr>
          <a:xfrm>
            <a:off x="6741062" y="2527123"/>
            <a:ext cx="4950618"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 2026 to 2036. The rotary</a:t>
            </a:r>
          </a:p>
        </p:txBody>
      </p:sp>
      <p:sp>
        <p:nvSpPr>
          <p:cNvPr id="33" name="TextBox 32"/>
          <p:cNvSpPr txBox="1"/>
          <p:nvPr/>
        </p:nvSpPr>
        <p:spPr>
          <a:xfrm>
            <a:off x="6305550" y="2702383"/>
            <a:ext cx="5255269" cy="194310"/>
          </a:xfrm>
          <a:prstGeom prst="rect">
            <a:avLst/>
          </a:prstGeom>
          <a:noFill/>
        </p:spPr>
        <p:txBody>
          <a:bodyPr wrap="none" lIns="0" rIns="0" tIns="0" bIns="0">
            <a:spAutoFit/>
          </a:bodyPr>
          <a:lstStyle/>
          <a:p>
            <a:r>
              <a:rPr sz="1150" b="0">
                <a:solidFill>
                  <a:srgbClr val="2E2E2E"/>
                </a:solidFill>
                <a:latin typeface="Calibri"/>
              </a:rPr>
              <a:t>screw air compressor segment is expected to create an incremental opportunity of US$</a:t>
            </a:r>
          </a:p>
        </p:txBody>
      </p:sp>
      <p:pic>
        <p:nvPicPr>
          <p:cNvPr id="34" name="Picture 33" descr="lock.png"/>
          <p:cNvPicPr>
            <a:picLocks noChangeAspect="1"/>
          </p:cNvPicPr>
          <p:nvPr/>
        </p:nvPicPr>
        <p:blipFill>
          <a:blip r:embed="rId6"/>
          <a:stretch>
            <a:fillRect/>
          </a:stretch>
        </p:blipFill>
        <p:spPr>
          <a:xfrm>
            <a:off x="6291470" y="2867419"/>
            <a:ext cx="134549" cy="195707"/>
          </a:xfrm>
          <a:prstGeom prst="rect">
            <a:avLst/>
          </a:prstGeom>
        </p:spPr>
      </p:pic>
      <p:sp>
        <p:nvSpPr>
          <p:cNvPr id="35" name="TextBox 34"/>
          <p:cNvSpPr txBox="1"/>
          <p:nvPr/>
        </p:nvSpPr>
        <p:spPr>
          <a:xfrm>
            <a:off x="6466579" y="2877643"/>
            <a:ext cx="4299384"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 2026 to 2036.</a:t>
            </a:r>
          </a:p>
        </p:txBody>
      </p:sp>
      <p:sp>
        <p:nvSpPr>
          <p:cNvPr id="36"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ockshield_12"/>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Technology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Technology, 2021–2036, highlighting the sub-segments driving growth</a:t>
            </a:r>
          </a:p>
        </p:txBody>
      </p:sp>
      <p:sp>
        <p:nvSpPr>
          <p:cNvPr id="7" name="Rounded Rectangle 6"/>
          <p:cNvSpPr/>
          <p:nvPr/>
        </p:nvSpPr>
        <p:spPr>
          <a:xfrm>
            <a:off x="142875" y="981075"/>
            <a:ext cx="11906250" cy="2438400"/>
          </a:xfrm>
          <a:prstGeom prst="roundRect">
            <a:avLst>
              <a:gd name="adj" fmla="val 312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Technology (US$ Mn)</a:t>
            </a:r>
          </a:p>
        </p:txBody>
      </p:sp>
      <p:graphicFrame>
        <p:nvGraphicFramePr>
          <p:cNvPr id="9" name="Table 8"/>
          <p:cNvGraphicFramePr>
            <a:graphicFrameLocks noGrp="1"/>
          </p:cNvGraphicFramePr>
          <p:nvPr/>
        </p:nvGraphicFramePr>
        <p:xfrm>
          <a:off x="152400" y="1238250"/>
          <a:ext cx="11887206" cy="1971675"/>
        </p:xfrm>
        <a:graphic>
          <a:graphicData uri="http://schemas.openxmlformats.org/drawingml/2006/table">
            <a:tbl>
              <a:tblPr>
                <a:tableStyleId>{5C22544A-7EE6-4342-B048-85BDC9FD1C3A}</a:tableStyleId>
              </a:tblPr>
              <a:tblGrid>
                <a:gridCol w="2402124"/>
                <a:gridCol w="557946"/>
                <a:gridCol w="557946"/>
                <a:gridCol w="557946"/>
                <a:gridCol w="557946"/>
                <a:gridCol w="557946"/>
                <a:gridCol w="557946"/>
                <a:gridCol w="557946"/>
                <a:gridCol w="557946"/>
                <a:gridCol w="557946"/>
                <a:gridCol w="557946"/>
                <a:gridCol w="557946"/>
                <a:gridCol w="557946"/>
                <a:gridCol w="557946"/>
                <a:gridCol w="557946"/>
                <a:gridCol w="557946"/>
                <a:gridCol w="557946"/>
                <a:gridCol w="557946"/>
              </a:tblGrid>
              <a:tr h="246126">
                <a:tc>
                  <a:txBody>
                    <a:bodyPr wrap="none"/>
                    <a:lstStyle/>
                    <a:p>
                      <a:pPr algn="l"/>
                      <a:r>
                        <a:rPr sz="1100" b="1">
                          <a:solidFill>
                            <a:srgbClr val="0E2A5C"/>
                          </a:solidFill>
                          <a:latin typeface="Calibri"/>
                        </a:rPr>
                        <a:t>Technology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507">
                <a:tc>
                  <a:txBody>
                    <a:bodyPr wrap="none"/>
                    <a:lstStyle/>
                    <a:p>
                      <a:pPr algn="l"/>
                      <a:r>
                        <a:rPr sz="1100" b="1">
                          <a:solidFill>
                            <a:srgbClr val="2E2E2E"/>
                          </a:solidFill>
                          <a:latin typeface="Calibri"/>
                        </a:rPr>
                        <a:t>Rotary Screw Air Compressor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Reciprocating (Piston) Air Compressor</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Centrifugal Air Compressor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Axial Air Compressor</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Rotary Vane Air Compressor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Scroll Air Compressor</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552825"/>
            <a:ext cx="11906250" cy="3076575"/>
          </a:xfrm>
          <a:prstGeom prst="roundRect">
            <a:avLst>
              <a:gd name="adj" fmla="val 247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Analysis, By Technology</a:t>
            </a:r>
          </a:p>
        </p:txBody>
      </p:sp>
      <p:sp>
        <p:nvSpPr>
          <p:cNvPr id="13" name="Rectangle 12"/>
          <p:cNvSpPr/>
          <p:nvPr/>
        </p:nvSpPr>
        <p:spPr>
          <a:xfrm>
            <a:off x="276225" y="387667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7110375" y="2080450"/>
            <a:ext cx="366712" cy="533400"/>
          </a:xfrm>
          <a:prstGeom prst="rect">
            <a:avLst/>
          </a:prstGeom>
        </p:spPr>
      </p:pic>
      <p:sp>
        <p:nvSpPr>
          <p:cNvPr id="18" name="TextBox 17"/>
          <p:cNvSpPr txBox="1"/>
          <p:nvPr/>
        </p:nvSpPr>
        <p:spPr>
          <a:xfrm>
            <a:off x="276225" y="3971925"/>
            <a:ext cx="3693219" cy="194310"/>
          </a:xfrm>
          <a:prstGeom prst="rect">
            <a:avLst/>
          </a:prstGeom>
          <a:noFill/>
        </p:spPr>
        <p:txBody>
          <a:bodyPr wrap="none" lIns="0" rIns="0" tIns="0" bIns="0">
            <a:spAutoFit/>
          </a:bodyPr>
          <a:lstStyle/>
          <a:p>
            <a:r>
              <a:rPr sz="1150" b="0">
                <a:solidFill>
                  <a:srgbClr val="2E2E2E"/>
                </a:solidFill>
                <a:latin typeface="Calibri"/>
              </a:rPr>
              <a:t>Rotary screw air compressor segment is projected to register</a:t>
            </a:r>
          </a:p>
        </p:txBody>
      </p:sp>
      <p:pic>
        <p:nvPicPr>
          <p:cNvPr id="19" name="Picture 18" descr="lock.png"/>
          <p:cNvPicPr>
            <a:picLocks noChangeAspect="1"/>
          </p:cNvPicPr>
          <p:nvPr/>
        </p:nvPicPr>
        <p:blipFill>
          <a:blip r:embed="rId4"/>
          <a:stretch>
            <a:fillRect/>
          </a:stretch>
        </p:blipFill>
        <p:spPr>
          <a:xfrm>
            <a:off x="3918598" y="3961701"/>
            <a:ext cx="134549" cy="195707"/>
          </a:xfrm>
          <a:prstGeom prst="rect">
            <a:avLst/>
          </a:prstGeom>
        </p:spPr>
      </p:pic>
      <p:sp>
        <p:nvSpPr>
          <p:cNvPr id="20" name="TextBox 19"/>
          <p:cNvSpPr txBox="1"/>
          <p:nvPr/>
        </p:nvSpPr>
        <p:spPr>
          <a:xfrm>
            <a:off x="4093707" y="3971925"/>
            <a:ext cx="7277720" cy="194310"/>
          </a:xfrm>
          <a:prstGeom prst="rect">
            <a:avLst/>
          </a:prstGeom>
          <a:noFill/>
        </p:spPr>
        <p:txBody>
          <a:bodyPr wrap="none" lIns="0" rIns="0" tIns="0" bIns="0">
            <a:spAutoFit/>
          </a:bodyPr>
          <a:lstStyle/>
          <a:p>
            <a:r>
              <a:rPr sz="1150" b="0">
                <a:solidFill>
                  <a:srgbClr val="2E2E2E"/>
                </a:solidFill>
                <a:latin typeface="Calibri"/>
              </a:rPr>
              <a:t>X higher value than scroll air compressor segment in 2036. Among industrial air compressor by technology, centrifugal air</a:t>
            </a:r>
          </a:p>
        </p:txBody>
      </p:sp>
      <p:sp>
        <p:nvSpPr>
          <p:cNvPr id="21" name="TextBox 20"/>
          <p:cNvSpPr txBox="1"/>
          <p:nvPr/>
        </p:nvSpPr>
        <p:spPr>
          <a:xfrm>
            <a:off x="276225" y="4147185"/>
            <a:ext cx="3888030" cy="194310"/>
          </a:xfrm>
          <a:prstGeom prst="rect">
            <a:avLst/>
          </a:prstGeom>
          <a:noFill/>
        </p:spPr>
        <p:txBody>
          <a:bodyPr wrap="none" lIns="0" rIns="0" tIns="0" bIns="0">
            <a:spAutoFit/>
          </a:bodyPr>
          <a:lstStyle/>
          <a:p>
            <a:r>
              <a:rPr sz="1150" b="0">
                <a:solidFill>
                  <a:srgbClr val="2E2E2E"/>
                </a:solidFill>
                <a:latin typeface="Calibri"/>
              </a:rPr>
              <a:t>compressor segment is expected to witness the highest CAGR of</a:t>
            </a:r>
          </a:p>
        </p:txBody>
      </p:sp>
      <p:pic>
        <p:nvPicPr>
          <p:cNvPr id="22" name="Picture 21" descr="lock.png"/>
          <p:cNvPicPr>
            <a:picLocks noChangeAspect="1"/>
          </p:cNvPicPr>
          <p:nvPr/>
        </p:nvPicPr>
        <p:blipFill>
          <a:blip r:embed="rId4"/>
          <a:stretch>
            <a:fillRect/>
          </a:stretch>
        </p:blipFill>
        <p:spPr>
          <a:xfrm>
            <a:off x="4113409" y="4136961"/>
            <a:ext cx="134549" cy="195707"/>
          </a:xfrm>
          <a:prstGeom prst="rect">
            <a:avLst/>
          </a:prstGeom>
        </p:spPr>
      </p:pic>
      <p:sp>
        <p:nvSpPr>
          <p:cNvPr id="23" name="TextBox 22"/>
          <p:cNvSpPr txBox="1"/>
          <p:nvPr/>
        </p:nvSpPr>
        <p:spPr>
          <a:xfrm>
            <a:off x="4288518"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375022"/>
            <a:ext cx="7473119" cy="194310"/>
          </a:xfrm>
          <a:prstGeom prst="rect">
            <a:avLst/>
          </a:prstGeom>
          <a:noFill/>
        </p:spPr>
        <p:txBody>
          <a:bodyPr wrap="none" lIns="0" rIns="0" tIns="0" bIns="0">
            <a:spAutoFit/>
          </a:bodyPr>
          <a:lstStyle/>
          <a:p>
            <a:r>
              <a:rPr sz="1150" b="0">
                <a:solidFill>
                  <a:srgbClr val="2E2E2E"/>
                </a:solidFill>
                <a:latin typeface="Calibri"/>
              </a:rPr>
              <a:t>In terms of value share by technology, the rotary screw air compressor segment is expected to dominate the market, gaining</a:t>
            </a:r>
          </a:p>
        </p:txBody>
      </p:sp>
      <p:pic>
        <p:nvPicPr>
          <p:cNvPr id="25" name="Picture 24" descr="lock.png"/>
          <p:cNvPicPr>
            <a:picLocks noChangeAspect="1"/>
          </p:cNvPicPr>
          <p:nvPr/>
        </p:nvPicPr>
        <p:blipFill>
          <a:blip r:embed="rId4"/>
          <a:stretch>
            <a:fillRect/>
          </a:stretch>
        </p:blipFill>
        <p:spPr>
          <a:xfrm>
            <a:off x="7698497" y="4364799"/>
            <a:ext cx="134549" cy="195707"/>
          </a:xfrm>
          <a:prstGeom prst="rect">
            <a:avLst/>
          </a:prstGeom>
        </p:spPr>
      </p:pic>
      <p:sp>
        <p:nvSpPr>
          <p:cNvPr id="26" name="TextBox 25"/>
          <p:cNvSpPr txBox="1"/>
          <p:nvPr/>
        </p:nvSpPr>
        <p:spPr>
          <a:xfrm>
            <a:off x="7873607"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9268750" y="4364799"/>
            <a:ext cx="134549" cy="195707"/>
          </a:xfrm>
          <a:prstGeom prst="rect">
            <a:avLst/>
          </a:prstGeom>
        </p:spPr>
      </p:pic>
      <p:sp>
        <p:nvSpPr>
          <p:cNvPr id="28" name="TextBox 27"/>
          <p:cNvSpPr txBox="1"/>
          <p:nvPr/>
        </p:nvSpPr>
        <p:spPr>
          <a:xfrm>
            <a:off x="9443859" y="4375022"/>
            <a:ext cx="2017352" cy="194310"/>
          </a:xfrm>
          <a:prstGeom prst="rect">
            <a:avLst/>
          </a:prstGeom>
          <a:noFill/>
        </p:spPr>
        <p:txBody>
          <a:bodyPr wrap="none" lIns="0" rIns="0" tIns="0" bIns="0">
            <a:spAutoFit/>
          </a:bodyPr>
          <a:lstStyle/>
          <a:p>
            <a:r>
              <a:rPr sz="1150" b="0">
                <a:solidFill>
                  <a:srgbClr val="2E2E2E"/>
                </a:solidFill>
                <a:latin typeface="Calibri"/>
              </a:rPr>
              <a:t>share by 2036. The reciprocating</a:t>
            </a:r>
          </a:p>
        </p:txBody>
      </p:sp>
      <p:sp>
        <p:nvSpPr>
          <p:cNvPr id="29" name="TextBox 28"/>
          <p:cNvSpPr txBox="1"/>
          <p:nvPr/>
        </p:nvSpPr>
        <p:spPr>
          <a:xfrm>
            <a:off x="276225" y="4550282"/>
            <a:ext cx="3136403" cy="194310"/>
          </a:xfrm>
          <a:prstGeom prst="rect">
            <a:avLst/>
          </a:prstGeom>
          <a:noFill/>
        </p:spPr>
        <p:txBody>
          <a:bodyPr wrap="none" lIns="0" rIns="0" tIns="0" bIns="0">
            <a:spAutoFit/>
          </a:bodyPr>
          <a:lstStyle/>
          <a:p>
            <a:r>
              <a:rPr sz="1150" b="0">
                <a:solidFill>
                  <a:srgbClr val="2E2E2E"/>
                </a:solidFill>
                <a:latin typeface="Calibri"/>
              </a:rPr>
              <a:t>(piston) air compressor segment is expected to lose</a:t>
            </a:r>
          </a:p>
        </p:txBody>
      </p:sp>
      <p:pic>
        <p:nvPicPr>
          <p:cNvPr id="30" name="Picture 29" descr="lock.png"/>
          <p:cNvPicPr>
            <a:picLocks noChangeAspect="1"/>
          </p:cNvPicPr>
          <p:nvPr/>
        </p:nvPicPr>
        <p:blipFill>
          <a:blip r:embed="rId4"/>
          <a:stretch>
            <a:fillRect/>
          </a:stretch>
        </p:blipFill>
        <p:spPr>
          <a:xfrm>
            <a:off x="3361782" y="4540059"/>
            <a:ext cx="134549" cy="195707"/>
          </a:xfrm>
          <a:prstGeom prst="rect">
            <a:avLst/>
          </a:prstGeom>
        </p:spPr>
      </p:pic>
      <p:sp>
        <p:nvSpPr>
          <p:cNvPr id="31" name="TextBox 30"/>
          <p:cNvSpPr txBox="1"/>
          <p:nvPr/>
        </p:nvSpPr>
        <p:spPr>
          <a:xfrm>
            <a:off x="3536892"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6124396" y="4540059"/>
            <a:ext cx="134549" cy="195707"/>
          </a:xfrm>
          <a:prstGeom prst="rect">
            <a:avLst/>
          </a:prstGeom>
        </p:spPr>
      </p:pic>
      <p:sp>
        <p:nvSpPr>
          <p:cNvPr id="33" name="TextBox 32"/>
          <p:cNvSpPr txBox="1"/>
          <p:nvPr/>
        </p:nvSpPr>
        <p:spPr>
          <a:xfrm>
            <a:off x="6299505"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Technology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Technology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Technology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FMI Lock Anchor"/>
          <p:cNvSpPr txBox="1"/>
          <p:nvPr/>
        </p:nvSpPr>
        <p:spPr>
          <a:xfrm>
            <a:off x="2678811" y="4014597"/>
            <a:ext cx="38100" cy="38100"/>
          </a:xfrm>
          <a:prstGeom prst="rect">
            <a:avLst/>
          </a:prstGeom>
          <a:noFill/>
        </p:spPr>
        <p:txBody>
          <a:bodyPr wrap="none">
            <a:spAutoFit/>
          </a:bodyPr>
          <a:lstStyle/>
          <a:p/>
        </p:txBody>
      </p:sp>
      <p:sp>
        <p:nvSpPr>
          <p:cNvPr id="12" name="FMI Legend Chip"/>
          <p:cNvSpPr/>
          <p:nvPr/>
        </p:nvSpPr>
        <p:spPr>
          <a:xfrm>
            <a:off x="4928997" y="1800292"/>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79552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71932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Axial Air Compressor</a:t>
            </a:r>
          </a:p>
        </p:txBody>
      </p:sp>
      <p:sp>
        <p:nvSpPr>
          <p:cNvPr id="15" name="BPS Value 1"/>
          <p:cNvSpPr txBox="1"/>
          <p:nvPr/>
        </p:nvSpPr>
        <p:spPr>
          <a:xfrm>
            <a:off x="6896100" y="178124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FMI Legend Chip"/>
          <p:cNvSpPr/>
          <p:nvPr/>
        </p:nvSpPr>
        <p:spPr>
          <a:xfrm>
            <a:off x="4928997" y="2153133"/>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214837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07217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Vane Air Compressor</a:t>
            </a:r>
          </a:p>
        </p:txBody>
      </p:sp>
      <p:sp>
        <p:nvSpPr>
          <p:cNvPr id="19" name="BPS Value 2"/>
          <p:cNvSpPr txBox="1"/>
          <p:nvPr/>
        </p:nvSpPr>
        <p:spPr>
          <a:xfrm>
            <a:off x="6896100" y="213408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928997" y="2730213"/>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72545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264925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Reciprocating (Piston) Air Compressor</a:t>
            </a:r>
          </a:p>
        </p:txBody>
      </p:sp>
      <p:sp>
        <p:nvSpPr>
          <p:cNvPr id="23" name="BPS Value 3"/>
          <p:cNvSpPr txBox="1"/>
          <p:nvPr/>
        </p:nvSpPr>
        <p:spPr>
          <a:xfrm>
            <a:off x="6896100" y="271116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3569913"/>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356515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348895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Centrifugal Air Compressor</a:t>
            </a:r>
          </a:p>
        </p:txBody>
      </p:sp>
      <p:sp>
        <p:nvSpPr>
          <p:cNvPr id="27" name="BPS Value 4"/>
          <p:cNvSpPr txBox="1"/>
          <p:nvPr/>
        </p:nvSpPr>
        <p:spPr>
          <a:xfrm>
            <a:off x="6896100" y="355086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928997" y="4574693"/>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5090922" y="456993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5233797" y="449373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Scroll Air Compressor</a:t>
            </a:r>
          </a:p>
        </p:txBody>
      </p:sp>
      <p:sp>
        <p:nvSpPr>
          <p:cNvPr id="31" name="BPS Value 5"/>
          <p:cNvSpPr txBox="1"/>
          <p:nvPr/>
        </p:nvSpPr>
        <p:spPr>
          <a:xfrm>
            <a:off x="6896100" y="455564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2" name="FMI Legend Chip"/>
          <p:cNvSpPr/>
          <p:nvPr/>
        </p:nvSpPr>
        <p:spPr>
          <a:xfrm>
            <a:off x="4928997" y="5668343"/>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566358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5233797" y="558738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Screw Air Compressor</a:t>
            </a:r>
          </a:p>
        </p:txBody>
      </p:sp>
      <p:sp>
        <p:nvSpPr>
          <p:cNvPr id="35" name="BPS Value 6"/>
          <p:cNvSpPr txBox="1"/>
          <p:nvPr/>
        </p:nvSpPr>
        <p:spPr>
          <a:xfrm>
            <a:off x="6896100" y="564929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Rounded Rectangle 35"/>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North America Read-out, By Technology</a:t>
            </a:r>
          </a:p>
        </p:txBody>
      </p:sp>
      <p:sp>
        <p:nvSpPr>
          <p:cNvPr id="38" name="Rectangle 37"/>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Rectangle 3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2" name="Picture 41" descr="lock.png"/>
          <p:cNvPicPr>
            <a:picLocks noChangeAspect="1"/>
          </p:cNvPicPr>
          <p:nvPr/>
        </p:nvPicPr>
        <p:blipFill>
          <a:blip r:embed="rId5"/>
          <a:stretch>
            <a:fillRect/>
          </a:stretch>
        </p:blipFill>
        <p:spPr>
          <a:xfrm>
            <a:off x="2557843" y="3833622"/>
            <a:ext cx="275034" cy="400050"/>
          </a:xfrm>
          <a:prstGeom prst="rect">
            <a:avLst/>
          </a:prstGeom>
        </p:spPr>
      </p:pic>
      <p:sp>
        <p:nvSpPr>
          <p:cNvPr id="43" name="TextBox 42"/>
          <p:cNvSpPr txBox="1"/>
          <p:nvPr/>
        </p:nvSpPr>
        <p:spPr>
          <a:xfrm>
            <a:off x="7829550" y="1400175"/>
            <a:ext cx="3775087" cy="194310"/>
          </a:xfrm>
          <a:prstGeom prst="rect">
            <a:avLst/>
          </a:prstGeom>
          <a:noFill/>
        </p:spPr>
        <p:txBody>
          <a:bodyPr wrap="none" lIns="0" rIns="0" tIns="0" bIns="0">
            <a:spAutoFit/>
          </a:bodyPr>
          <a:lstStyle/>
          <a:p>
            <a:r>
              <a:rPr sz="1150" b="0">
                <a:solidFill>
                  <a:srgbClr val="2E2E2E"/>
                </a:solidFill>
                <a:latin typeface="Calibri"/>
              </a:rPr>
              <a:t>Among industrial air compressor by technology, centrifugal air</a:t>
            </a:r>
          </a:p>
        </p:txBody>
      </p:sp>
      <p:sp>
        <p:nvSpPr>
          <p:cNvPr id="44" name="TextBox 43"/>
          <p:cNvSpPr txBox="1"/>
          <p:nvPr/>
        </p:nvSpPr>
        <p:spPr>
          <a:xfrm>
            <a:off x="7829550" y="1575435"/>
            <a:ext cx="3888030" cy="194310"/>
          </a:xfrm>
          <a:prstGeom prst="rect">
            <a:avLst/>
          </a:prstGeom>
          <a:noFill/>
        </p:spPr>
        <p:txBody>
          <a:bodyPr wrap="none" lIns="0" rIns="0" tIns="0" bIns="0">
            <a:spAutoFit/>
          </a:bodyPr>
          <a:lstStyle/>
          <a:p>
            <a:r>
              <a:rPr sz="1150" b="0">
                <a:solidFill>
                  <a:srgbClr val="2E2E2E"/>
                </a:solidFill>
                <a:latin typeface="Calibri"/>
              </a:rPr>
              <a:t>compressor segment is expected to witness the highest CAGR of</a:t>
            </a:r>
          </a:p>
        </p:txBody>
      </p:sp>
      <p:pic>
        <p:nvPicPr>
          <p:cNvPr id="45" name="Picture 44" descr="lock.png"/>
          <p:cNvPicPr>
            <a:picLocks noChangeAspect="1"/>
          </p:cNvPicPr>
          <p:nvPr/>
        </p:nvPicPr>
        <p:blipFill>
          <a:blip r:embed="rId5"/>
          <a:stretch>
            <a:fillRect/>
          </a:stretch>
        </p:blipFill>
        <p:spPr>
          <a:xfrm>
            <a:off x="7815470" y="1740471"/>
            <a:ext cx="134549" cy="195707"/>
          </a:xfrm>
          <a:prstGeom prst="rect">
            <a:avLst/>
          </a:prstGeom>
        </p:spPr>
      </p:pic>
      <p:sp>
        <p:nvSpPr>
          <p:cNvPr id="46" name="TextBox 45"/>
          <p:cNvSpPr txBox="1"/>
          <p:nvPr/>
        </p:nvSpPr>
        <p:spPr>
          <a:xfrm>
            <a:off x="7990579" y="1750695"/>
            <a:ext cx="3847541"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technology,</a:t>
            </a:r>
          </a:p>
        </p:txBody>
      </p:sp>
      <p:sp>
        <p:nvSpPr>
          <p:cNvPr id="47" name="TextBox 46"/>
          <p:cNvSpPr txBox="1"/>
          <p:nvPr/>
        </p:nvSpPr>
        <p:spPr>
          <a:xfrm>
            <a:off x="7829550" y="1925955"/>
            <a:ext cx="3985890" cy="194310"/>
          </a:xfrm>
          <a:prstGeom prst="rect">
            <a:avLst/>
          </a:prstGeom>
          <a:noFill/>
        </p:spPr>
        <p:txBody>
          <a:bodyPr wrap="none" lIns="0" rIns="0" tIns="0" bIns="0">
            <a:spAutoFit/>
          </a:bodyPr>
          <a:lstStyle/>
          <a:p>
            <a:r>
              <a:rPr sz="1150" b="0">
                <a:solidFill>
                  <a:srgbClr val="2E2E2E"/>
                </a:solidFill>
                <a:latin typeface="Calibri"/>
              </a:rPr>
              <a:t>the rotary screw air compressor segment is expected to dominate</a:t>
            </a:r>
          </a:p>
        </p:txBody>
      </p:sp>
      <p:sp>
        <p:nvSpPr>
          <p:cNvPr id="48" name="TextBox 47"/>
          <p:cNvSpPr txBox="1"/>
          <p:nvPr/>
        </p:nvSpPr>
        <p:spPr>
          <a:xfrm>
            <a:off x="7829550" y="2101215"/>
            <a:ext cx="1231478" cy="194310"/>
          </a:xfrm>
          <a:prstGeom prst="rect">
            <a:avLst/>
          </a:prstGeom>
          <a:noFill/>
        </p:spPr>
        <p:txBody>
          <a:bodyPr wrap="none" lIns="0" rIns="0" tIns="0" bIns="0">
            <a:spAutoFit/>
          </a:bodyPr>
          <a:lstStyle/>
          <a:p>
            <a:r>
              <a:rPr sz="1150" b="0">
                <a:solidFill>
                  <a:srgbClr val="2E2E2E"/>
                </a:solidFill>
                <a:latin typeface="Calibri"/>
              </a:rPr>
              <a:t>the market, gaining</a:t>
            </a:r>
          </a:p>
        </p:txBody>
      </p:sp>
      <p:pic>
        <p:nvPicPr>
          <p:cNvPr id="49" name="Picture 48" descr="lock.png"/>
          <p:cNvPicPr>
            <a:picLocks noChangeAspect="1"/>
          </p:cNvPicPr>
          <p:nvPr/>
        </p:nvPicPr>
        <p:blipFill>
          <a:blip r:embed="rId5"/>
          <a:stretch>
            <a:fillRect/>
          </a:stretch>
        </p:blipFill>
        <p:spPr>
          <a:xfrm>
            <a:off x="9010182" y="2090991"/>
            <a:ext cx="134549" cy="195707"/>
          </a:xfrm>
          <a:prstGeom prst="rect">
            <a:avLst/>
          </a:prstGeom>
        </p:spPr>
      </p:pic>
      <p:sp>
        <p:nvSpPr>
          <p:cNvPr id="50" name="TextBox 49"/>
          <p:cNvSpPr txBox="1"/>
          <p:nvPr/>
        </p:nvSpPr>
        <p:spPr>
          <a:xfrm>
            <a:off x="9185291"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1" name="Picture 50" descr="lock.png"/>
          <p:cNvPicPr>
            <a:picLocks noChangeAspect="1"/>
          </p:cNvPicPr>
          <p:nvPr/>
        </p:nvPicPr>
        <p:blipFill>
          <a:blip r:embed="rId5"/>
          <a:stretch>
            <a:fillRect/>
          </a:stretch>
        </p:blipFill>
        <p:spPr>
          <a:xfrm>
            <a:off x="10580434" y="2090991"/>
            <a:ext cx="134549" cy="195707"/>
          </a:xfrm>
          <a:prstGeom prst="rect">
            <a:avLst/>
          </a:prstGeom>
        </p:spPr>
      </p:pic>
      <p:sp>
        <p:nvSpPr>
          <p:cNvPr id="52" name="TextBox 51"/>
          <p:cNvSpPr txBox="1"/>
          <p:nvPr/>
        </p:nvSpPr>
        <p:spPr>
          <a:xfrm>
            <a:off x="10755543"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3" name="TextBox 52"/>
          <p:cNvSpPr txBox="1"/>
          <p:nvPr/>
        </p:nvSpPr>
        <p:spPr>
          <a:xfrm>
            <a:off x="7829550" y="2329053"/>
            <a:ext cx="3933973" cy="194310"/>
          </a:xfrm>
          <a:prstGeom prst="rect">
            <a:avLst/>
          </a:prstGeom>
          <a:noFill/>
        </p:spPr>
        <p:txBody>
          <a:bodyPr wrap="none" lIns="0" rIns="0" tIns="0" bIns="0">
            <a:spAutoFit/>
          </a:bodyPr>
          <a:lstStyle/>
          <a:p>
            <a:r>
              <a:rPr sz="1150" b="0">
                <a:solidFill>
                  <a:srgbClr val="2E2E2E"/>
                </a:solidFill>
                <a:latin typeface="Calibri"/>
              </a:rPr>
              <a:t>The reciprocating (piston) air compressor segment is expected to</a:t>
            </a:r>
          </a:p>
        </p:txBody>
      </p:sp>
      <p:sp>
        <p:nvSpPr>
          <p:cNvPr id="54" name="TextBox 53"/>
          <p:cNvSpPr txBox="1"/>
          <p:nvPr/>
        </p:nvSpPr>
        <p:spPr>
          <a:xfrm>
            <a:off x="7829550" y="2504313"/>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55" name="Picture 54" descr="lock.png"/>
          <p:cNvPicPr>
            <a:picLocks noChangeAspect="1"/>
          </p:cNvPicPr>
          <p:nvPr/>
        </p:nvPicPr>
        <p:blipFill>
          <a:blip r:embed="rId5"/>
          <a:stretch>
            <a:fillRect/>
          </a:stretch>
        </p:blipFill>
        <p:spPr>
          <a:xfrm>
            <a:off x="8095372" y="2494089"/>
            <a:ext cx="134549" cy="195707"/>
          </a:xfrm>
          <a:prstGeom prst="rect">
            <a:avLst/>
          </a:prstGeom>
        </p:spPr>
      </p:pic>
      <p:sp>
        <p:nvSpPr>
          <p:cNvPr id="56" name="TextBox 55"/>
          <p:cNvSpPr txBox="1"/>
          <p:nvPr/>
        </p:nvSpPr>
        <p:spPr>
          <a:xfrm>
            <a:off x="8270482" y="250431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57" name="Picture 56" descr="lock.png"/>
          <p:cNvPicPr>
            <a:picLocks noChangeAspect="1"/>
          </p:cNvPicPr>
          <p:nvPr/>
        </p:nvPicPr>
        <p:blipFill>
          <a:blip r:embed="rId5"/>
          <a:stretch>
            <a:fillRect/>
          </a:stretch>
        </p:blipFill>
        <p:spPr>
          <a:xfrm>
            <a:off x="10857986" y="2494089"/>
            <a:ext cx="134549" cy="195707"/>
          </a:xfrm>
          <a:prstGeom prst="rect">
            <a:avLst/>
          </a:prstGeom>
        </p:spPr>
      </p:pic>
      <p:sp>
        <p:nvSpPr>
          <p:cNvPr id="58" name="TextBox 57"/>
          <p:cNvSpPr txBox="1"/>
          <p:nvPr/>
        </p:nvSpPr>
        <p:spPr>
          <a:xfrm>
            <a:off x="11033096" y="2504313"/>
            <a:ext cx="579673" cy="194310"/>
          </a:xfrm>
          <a:prstGeom prst="rect">
            <a:avLst/>
          </a:prstGeom>
          <a:noFill/>
        </p:spPr>
        <p:txBody>
          <a:bodyPr wrap="none" lIns="0" rIns="0" tIns="0" bIns="0">
            <a:spAutoFit/>
          </a:bodyPr>
          <a:lstStyle/>
          <a:p>
            <a:r>
              <a:rPr sz="1150" b="0">
                <a:solidFill>
                  <a:srgbClr val="2E2E2E"/>
                </a:solidFill>
                <a:latin typeface="Calibri"/>
              </a:rPr>
              <a:t>share by</a:t>
            </a:r>
          </a:p>
        </p:txBody>
      </p:sp>
      <p:sp>
        <p:nvSpPr>
          <p:cNvPr id="59" name="TextBox 58"/>
          <p:cNvSpPr txBox="1"/>
          <p:nvPr/>
        </p:nvSpPr>
        <p:spPr>
          <a:xfrm>
            <a:off x="7829550" y="2679573"/>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60"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Capacity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Capacity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Capacity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Capacity,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Capacity segment categorizes the market by capacity.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19" name="Rectangle 18"/>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Up to 500 HP</a:t>
            </a:r>
          </a:p>
        </p:txBody>
      </p:sp>
      <p:sp>
        <p:nvSpPr>
          <p:cNvPr id="26" name="Rectangle 25"/>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33" name="Rectangle 32"/>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40" name="Rectangle 39"/>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47" name="Rectangle 46"/>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
            </a:r>
          </a:p>
        </p:txBody>
      </p:sp>
      <p:sp>
        <p:nvSpPr>
          <p:cNvPr id="54" name="Rectangle 53"/>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5" name="Rectangle 54"/>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6" name="Rectangle 55"/>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7" name="Oval 56"/>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58" name="Rounded Rectangle 5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0" name="Rectangle 59"/>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2" name="Rounded Rectangle 6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4" name="Rectangle 63"/>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6" name="Rounded Rectangle 6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8" name="Rectangle 67"/>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Capacity split shows how demand is distributed across capacity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70" name="Rectangle 6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2" name="TextBox 7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73" name="Rectangle 7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5" name="Picture 74" descr="2_000_to_5_000_HP_605E5C.png"/>
          <p:cNvPicPr>
            <a:picLocks noChangeAspect="1"/>
          </p:cNvPicPr>
          <p:nvPr/>
        </p:nvPicPr>
        <p:blipFill>
          <a:blip r:embed="rId4"/>
          <a:stretch>
            <a:fillRect/>
          </a:stretch>
        </p:blipFill>
        <p:spPr>
          <a:xfrm>
            <a:off x="1273424" y="1860245"/>
            <a:ext cx="2758566" cy="265429"/>
          </a:xfrm>
          <a:prstGeom prst="rect">
            <a:avLst/>
          </a:prstGeom>
        </p:spPr>
      </p:pic>
      <p:pic>
        <p:nvPicPr>
          <p:cNvPr id="76" name="Picture 75" descr="1_368_605E5C.png"/>
          <p:cNvPicPr>
            <a:picLocks noChangeAspect="1"/>
          </p:cNvPicPr>
          <p:nvPr/>
        </p:nvPicPr>
        <p:blipFill>
          <a:blip r:embed="rId5"/>
          <a:stretch>
            <a:fillRect/>
          </a:stretch>
        </p:blipFill>
        <p:spPr>
          <a:xfrm>
            <a:off x="2054848" y="2286582"/>
            <a:ext cx="1195728" cy="361950"/>
          </a:xfrm>
          <a:prstGeom prst="rect">
            <a:avLst/>
          </a:prstGeom>
        </p:spPr>
      </p:pic>
      <p:pic>
        <p:nvPicPr>
          <p:cNvPr id="77" name="Picture 76" descr="1_786_605E5C.png"/>
          <p:cNvPicPr>
            <a:picLocks noChangeAspect="1"/>
          </p:cNvPicPr>
          <p:nvPr/>
        </p:nvPicPr>
        <p:blipFill>
          <a:blip r:embed="rId6"/>
          <a:stretch>
            <a:fillRect/>
          </a:stretch>
        </p:blipFill>
        <p:spPr>
          <a:xfrm>
            <a:off x="2054848" y="2779432"/>
            <a:ext cx="1195728" cy="361950"/>
          </a:xfrm>
          <a:prstGeom prst="rect">
            <a:avLst/>
          </a:prstGeom>
        </p:spPr>
      </p:pic>
      <p:pic>
        <p:nvPicPr>
          <p:cNvPr id="78" name="Picture 77" descr="2_7__605E5C.png"/>
          <p:cNvPicPr>
            <a:picLocks noChangeAspect="1"/>
          </p:cNvPicPr>
          <p:nvPr/>
        </p:nvPicPr>
        <p:blipFill>
          <a:blip r:embed="rId7"/>
          <a:stretch>
            <a:fillRect/>
          </a:stretch>
        </p:blipFill>
        <p:spPr>
          <a:xfrm>
            <a:off x="2161494" y="3272281"/>
            <a:ext cx="982436" cy="361950"/>
          </a:xfrm>
          <a:prstGeom prst="rect">
            <a:avLst/>
          </a:prstGeom>
        </p:spPr>
      </p:pic>
      <p:pic>
        <p:nvPicPr>
          <p:cNvPr id="79" name="Picture 78" descr="1_204_605E5C.png"/>
          <p:cNvPicPr>
            <a:picLocks noChangeAspect="1"/>
          </p:cNvPicPr>
          <p:nvPr/>
        </p:nvPicPr>
        <p:blipFill>
          <a:blip r:embed="rId8"/>
          <a:stretch>
            <a:fillRect/>
          </a:stretch>
        </p:blipFill>
        <p:spPr>
          <a:xfrm>
            <a:off x="3740773" y="2286582"/>
            <a:ext cx="1195728" cy="361950"/>
          </a:xfrm>
          <a:prstGeom prst="rect">
            <a:avLst/>
          </a:prstGeom>
        </p:spPr>
      </p:pic>
      <p:pic>
        <p:nvPicPr>
          <p:cNvPr id="80" name="Picture 79" descr="2_041_605E5C.png"/>
          <p:cNvPicPr>
            <a:picLocks noChangeAspect="1"/>
          </p:cNvPicPr>
          <p:nvPr/>
        </p:nvPicPr>
        <p:blipFill>
          <a:blip r:embed="rId9"/>
          <a:stretch>
            <a:fillRect/>
          </a:stretch>
        </p:blipFill>
        <p:spPr>
          <a:xfrm>
            <a:off x="3740773" y="2779432"/>
            <a:ext cx="1195728" cy="361950"/>
          </a:xfrm>
          <a:prstGeom prst="rect">
            <a:avLst/>
          </a:prstGeom>
        </p:spPr>
      </p:pic>
      <p:pic>
        <p:nvPicPr>
          <p:cNvPr id="81" name="Picture 80" descr="5_4__605E5C.png"/>
          <p:cNvPicPr>
            <a:picLocks noChangeAspect="1"/>
          </p:cNvPicPr>
          <p:nvPr/>
        </p:nvPicPr>
        <p:blipFill>
          <a:blip r:embed="rId10"/>
          <a:stretch>
            <a:fillRect/>
          </a:stretch>
        </p:blipFill>
        <p:spPr>
          <a:xfrm>
            <a:off x="3847419" y="3272281"/>
            <a:ext cx="982436" cy="361950"/>
          </a:xfrm>
          <a:prstGeom prst="rect">
            <a:avLst/>
          </a:prstGeom>
        </p:spPr>
      </p:pic>
      <p:pic>
        <p:nvPicPr>
          <p:cNvPr id="82" name="Picture 81" descr="20_000_HP_605E5C.png"/>
          <p:cNvPicPr>
            <a:picLocks noChangeAspect="1"/>
          </p:cNvPicPr>
          <p:nvPr/>
        </p:nvPicPr>
        <p:blipFill>
          <a:blip r:embed="rId11"/>
          <a:stretch>
            <a:fillRect/>
          </a:stretch>
        </p:blipFill>
        <p:spPr>
          <a:xfrm>
            <a:off x="5270930" y="1860245"/>
            <a:ext cx="1507258" cy="265429"/>
          </a:xfrm>
          <a:prstGeom prst="rect">
            <a:avLst/>
          </a:prstGeom>
        </p:spPr>
      </p:pic>
      <p:pic>
        <p:nvPicPr>
          <p:cNvPr id="83" name="Picture 82" descr="882_2_605E5C.png"/>
          <p:cNvPicPr>
            <a:picLocks noChangeAspect="1"/>
          </p:cNvPicPr>
          <p:nvPr/>
        </p:nvPicPr>
        <p:blipFill>
          <a:blip r:embed="rId12"/>
          <a:stretch>
            <a:fillRect/>
          </a:stretch>
        </p:blipFill>
        <p:spPr>
          <a:xfrm>
            <a:off x="5426698" y="2286582"/>
            <a:ext cx="1195728" cy="361950"/>
          </a:xfrm>
          <a:prstGeom prst="rect">
            <a:avLst/>
          </a:prstGeom>
        </p:spPr>
      </p:pic>
      <p:pic>
        <p:nvPicPr>
          <p:cNvPr id="84" name="Picture 83" descr="1_457_605E5C.png"/>
          <p:cNvPicPr>
            <a:picLocks noChangeAspect="1"/>
          </p:cNvPicPr>
          <p:nvPr/>
        </p:nvPicPr>
        <p:blipFill>
          <a:blip r:embed="rId13"/>
          <a:stretch>
            <a:fillRect/>
          </a:stretch>
        </p:blipFill>
        <p:spPr>
          <a:xfrm>
            <a:off x="5426698" y="2779432"/>
            <a:ext cx="1195728" cy="361950"/>
          </a:xfrm>
          <a:prstGeom prst="rect">
            <a:avLst/>
          </a:prstGeom>
        </p:spPr>
      </p:pic>
      <p:pic>
        <p:nvPicPr>
          <p:cNvPr id="85" name="Picture 84" descr="5_1__605E5C.png"/>
          <p:cNvPicPr>
            <a:picLocks noChangeAspect="1"/>
          </p:cNvPicPr>
          <p:nvPr/>
        </p:nvPicPr>
        <p:blipFill>
          <a:blip r:embed="rId14"/>
          <a:stretch>
            <a:fillRect/>
          </a:stretch>
        </p:blipFill>
        <p:spPr>
          <a:xfrm>
            <a:off x="5533344" y="3272281"/>
            <a:ext cx="982436" cy="361950"/>
          </a:xfrm>
          <a:prstGeom prst="rect">
            <a:avLst/>
          </a:prstGeom>
        </p:spPr>
      </p:pic>
      <p:pic>
        <p:nvPicPr>
          <p:cNvPr id="86" name="Picture 85" descr="500_to_2_000_HP_605E5C.png"/>
          <p:cNvPicPr>
            <a:picLocks noChangeAspect="1"/>
          </p:cNvPicPr>
          <p:nvPr/>
        </p:nvPicPr>
        <p:blipFill>
          <a:blip r:embed="rId15"/>
          <a:stretch>
            <a:fillRect/>
          </a:stretch>
        </p:blipFill>
        <p:spPr>
          <a:xfrm>
            <a:off x="6487613" y="1860245"/>
            <a:ext cx="2445739" cy="265429"/>
          </a:xfrm>
          <a:prstGeom prst="rect">
            <a:avLst/>
          </a:prstGeom>
        </p:spPr>
      </p:pic>
      <p:pic>
        <p:nvPicPr>
          <p:cNvPr id="87" name="Picture 86" descr="338_5_605E5C.png"/>
          <p:cNvPicPr>
            <a:picLocks noChangeAspect="1"/>
          </p:cNvPicPr>
          <p:nvPr/>
        </p:nvPicPr>
        <p:blipFill>
          <a:blip r:embed="rId16"/>
          <a:stretch>
            <a:fillRect/>
          </a:stretch>
        </p:blipFill>
        <p:spPr>
          <a:xfrm>
            <a:off x="7112623" y="2286582"/>
            <a:ext cx="1195728" cy="361950"/>
          </a:xfrm>
          <a:prstGeom prst="rect">
            <a:avLst/>
          </a:prstGeom>
        </p:spPr>
      </p:pic>
      <p:pic>
        <p:nvPicPr>
          <p:cNvPr id="88" name="Picture 87" descr="510_2_605E5C.png"/>
          <p:cNvPicPr>
            <a:picLocks noChangeAspect="1"/>
          </p:cNvPicPr>
          <p:nvPr/>
        </p:nvPicPr>
        <p:blipFill>
          <a:blip r:embed="rId17"/>
          <a:stretch>
            <a:fillRect/>
          </a:stretch>
        </p:blipFill>
        <p:spPr>
          <a:xfrm>
            <a:off x="7112623" y="2779432"/>
            <a:ext cx="1195728" cy="361950"/>
          </a:xfrm>
          <a:prstGeom prst="rect">
            <a:avLst/>
          </a:prstGeom>
        </p:spPr>
      </p:pic>
      <p:pic>
        <p:nvPicPr>
          <p:cNvPr id="89" name="Picture 88" descr="4_2__605E5C.png"/>
          <p:cNvPicPr>
            <a:picLocks noChangeAspect="1"/>
          </p:cNvPicPr>
          <p:nvPr/>
        </p:nvPicPr>
        <p:blipFill>
          <a:blip r:embed="rId18"/>
          <a:stretch>
            <a:fillRect/>
          </a:stretch>
        </p:blipFill>
        <p:spPr>
          <a:xfrm>
            <a:off x="7219269" y="3272281"/>
            <a:ext cx="982436" cy="361950"/>
          </a:xfrm>
          <a:prstGeom prst="rect">
            <a:avLst/>
          </a:prstGeom>
        </p:spPr>
      </p:pic>
      <p:pic>
        <p:nvPicPr>
          <p:cNvPr id="90" name="Picture 89" descr="5_000_to_12_000_HP_605E5C.png"/>
          <p:cNvPicPr>
            <a:picLocks noChangeAspect="1"/>
          </p:cNvPicPr>
          <p:nvPr/>
        </p:nvPicPr>
        <p:blipFill>
          <a:blip r:embed="rId19"/>
          <a:stretch>
            <a:fillRect/>
          </a:stretch>
        </p:blipFill>
        <p:spPr>
          <a:xfrm>
            <a:off x="7938917" y="1860245"/>
            <a:ext cx="2914979" cy="265429"/>
          </a:xfrm>
          <a:prstGeom prst="rect">
            <a:avLst/>
          </a:prstGeom>
        </p:spPr>
      </p:pic>
      <p:pic>
        <p:nvPicPr>
          <p:cNvPr id="91" name="Picture 90" descr="333_2_605E5C.png"/>
          <p:cNvPicPr>
            <a:picLocks noChangeAspect="1"/>
          </p:cNvPicPr>
          <p:nvPr/>
        </p:nvPicPr>
        <p:blipFill>
          <a:blip r:embed="rId20"/>
          <a:stretch>
            <a:fillRect/>
          </a:stretch>
        </p:blipFill>
        <p:spPr>
          <a:xfrm>
            <a:off x="8798548" y="2286582"/>
            <a:ext cx="1195728" cy="361950"/>
          </a:xfrm>
          <a:prstGeom prst="rect">
            <a:avLst/>
          </a:prstGeom>
        </p:spPr>
      </p:pic>
      <p:pic>
        <p:nvPicPr>
          <p:cNvPr id="92" name="Picture 91" descr="433_3_605E5C.png"/>
          <p:cNvPicPr>
            <a:picLocks noChangeAspect="1"/>
          </p:cNvPicPr>
          <p:nvPr/>
        </p:nvPicPr>
        <p:blipFill>
          <a:blip r:embed="rId21"/>
          <a:stretch>
            <a:fillRect/>
          </a:stretch>
        </p:blipFill>
        <p:spPr>
          <a:xfrm>
            <a:off x="8798548" y="2779432"/>
            <a:ext cx="1195728" cy="361950"/>
          </a:xfrm>
          <a:prstGeom prst="rect">
            <a:avLst/>
          </a:prstGeom>
        </p:spPr>
      </p:pic>
      <p:pic>
        <p:nvPicPr>
          <p:cNvPr id="93" name="Picture 92" descr="2_7__605E5C.png"/>
          <p:cNvPicPr>
            <a:picLocks noChangeAspect="1"/>
          </p:cNvPicPr>
          <p:nvPr/>
        </p:nvPicPr>
        <p:blipFill>
          <a:blip r:embed="rId7"/>
          <a:stretch>
            <a:fillRect/>
          </a:stretch>
        </p:blipFill>
        <p:spPr>
          <a:xfrm>
            <a:off x="8905194" y="3272281"/>
            <a:ext cx="982436" cy="361950"/>
          </a:xfrm>
          <a:prstGeom prst="rect">
            <a:avLst/>
          </a:prstGeom>
        </p:spPr>
      </p:pic>
      <p:pic>
        <p:nvPicPr>
          <p:cNvPr id="94" name="Picture 93" descr="12_000_to_20_000_HP_605E5C.png"/>
          <p:cNvPicPr>
            <a:picLocks noChangeAspect="1"/>
          </p:cNvPicPr>
          <p:nvPr/>
        </p:nvPicPr>
        <p:blipFill>
          <a:blip r:embed="rId22"/>
          <a:stretch>
            <a:fillRect/>
          </a:stretch>
        </p:blipFill>
        <p:spPr>
          <a:xfrm>
            <a:off x="9546635" y="1860245"/>
            <a:ext cx="3071393" cy="265429"/>
          </a:xfrm>
          <a:prstGeom prst="rect">
            <a:avLst/>
          </a:prstGeom>
        </p:spPr>
      </p:pic>
      <p:pic>
        <p:nvPicPr>
          <p:cNvPr id="95" name="Picture 94" descr="190_6_605E5C.png"/>
          <p:cNvPicPr>
            <a:picLocks noChangeAspect="1"/>
          </p:cNvPicPr>
          <p:nvPr/>
        </p:nvPicPr>
        <p:blipFill>
          <a:blip r:embed="rId23"/>
          <a:stretch>
            <a:fillRect/>
          </a:stretch>
        </p:blipFill>
        <p:spPr>
          <a:xfrm>
            <a:off x="10484473" y="2286582"/>
            <a:ext cx="1195728" cy="361950"/>
          </a:xfrm>
          <a:prstGeom prst="rect">
            <a:avLst/>
          </a:prstGeom>
        </p:spPr>
      </p:pic>
      <p:pic>
        <p:nvPicPr>
          <p:cNvPr id="96" name="Picture 95" descr="301_1_605E5C.png"/>
          <p:cNvPicPr>
            <a:picLocks noChangeAspect="1"/>
          </p:cNvPicPr>
          <p:nvPr/>
        </p:nvPicPr>
        <p:blipFill>
          <a:blip r:embed="rId24"/>
          <a:stretch>
            <a:fillRect/>
          </a:stretch>
        </p:blipFill>
        <p:spPr>
          <a:xfrm>
            <a:off x="10484473" y="2779432"/>
            <a:ext cx="1195728" cy="361950"/>
          </a:xfrm>
          <a:prstGeom prst="rect">
            <a:avLst/>
          </a:prstGeom>
        </p:spPr>
      </p:pic>
      <p:pic>
        <p:nvPicPr>
          <p:cNvPr id="97" name="Picture 96" descr="4_7__605E5C.png"/>
          <p:cNvPicPr>
            <a:picLocks noChangeAspect="1"/>
          </p:cNvPicPr>
          <p:nvPr/>
        </p:nvPicPr>
        <p:blipFill>
          <a:blip r:embed="rId25"/>
          <a:stretch>
            <a:fillRect/>
          </a:stretch>
        </p:blipFill>
        <p:spPr>
          <a:xfrm>
            <a:off x="10591119" y="3272281"/>
            <a:ext cx="982436" cy="361950"/>
          </a:xfrm>
          <a:prstGeom prst="rect">
            <a:avLst/>
          </a:prstGeom>
        </p:spPr>
      </p:pic>
      <p:pic>
        <p:nvPicPr>
          <p:cNvPr id="98" name="Picture 97" descr="lock.png"/>
          <p:cNvPicPr>
            <a:picLocks noChangeAspect="1"/>
          </p:cNvPicPr>
          <p:nvPr/>
        </p:nvPicPr>
        <p:blipFill>
          <a:blip r:embed="rId26"/>
          <a:stretch>
            <a:fillRect/>
          </a:stretch>
        </p:blipFill>
        <p:spPr>
          <a:xfrm>
            <a:off x="2568380" y="1872486"/>
            <a:ext cx="165652" cy="240948"/>
          </a:xfrm>
          <a:prstGeom prst="rect">
            <a:avLst/>
          </a:prstGeom>
        </p:spPr>
      </p:pic>
      <p:pic>
        <p:nvPicPr>
          <p:cNvPr id="99" name="Picture 98" descr="lock.png"/>
          <p:cNvPicPr>
            <a:picLocks noChangeAspect="1"/>
          </p:cNvPicPr>
          <p:nvPr/>
        </p:nvPicPr>
        <p:blipFill>
          <a:blip r:embed="rId26"/>
          <a:stretch>
            <a:fillRect/>
          </a:stretch>
        </p:blipFill>
        <p:spPr>
          <a:xfrm>
            <a:off x="2559367" y="2827057"/>
            <a:ext cx="183356" cy="266700"/>
          </a:xfrm>
          <a:prstGeom prst="rect">
            <a:avLst/>
          </a:prstGeom>
        </p:spPr>
      </p:pic>
      <p:pic>
        <p:nvPicPr>
          <p:cNvPr id="100" name="Picture 99" descr="lock.png"/>
          <p:cNvPicPr>
            <a:picLocks noChangeAspect="1"/>
          </p:cNvPicPr>
          <p:nvPr/>
        </p:nvPicPr>
        <p:blipFill>
          <a:blip r:embed="rId26"/>
          <a:stretch>
            <a:fillRect/>
          </a:stretch>
        </p:blipFill>
        <p:spPr>
          <a:xfrm>
            <a:off x="4245292" y="2827057"/>
            <a:ext cx="183356" cy="266700"/>
          </a:xfrm>
          <a:prstGeom prst="rect">
            <a:avLst/>
          </a:prstGeom>
        </p:spPr>
      </p:pic>
      <p:pic>
        <p:nvPicPr>
          <p:cNvPr id="101" name="Picture 100" descr="lock.png"/>
          <p:cNvPicPr>
            <a:picLocks noChangeAspect="1"/>
          </p:cNvPicPr>
          <p:nvPr/>
        </p:nvPicPr>
        <p:blipFill>
          <a:blip r:embed="rId26"/>
          <a:stretch>
            <a:fillRect/>
          </a:stretch>
        </p:blipFill>
        <p:spPr>
          <a:xfrm>
            <a:off x="5931217" y="2598885"/>
            <a:ext cx="183356" cy="266700"/>
          </a:xfrm>
          <a:prstGeom prst="rect">
            <a:avLst/>
          </a:prstGeom>
        </p:spPr>
      </p:pic>
      <p:pic>
        <p:nvPicPr>
          <p:cNvPr id="102" name="Picture 101" descr="lock.png"/>
          <p:cNvPicPr>
            <a:picLocks noChangeAspect="1"/>
          </p:cNvPicPr>
          <p:nvPr/>
        </p:nvPicPr>
        <p:blipFill>
          <a:blip r:embed="rId26"/>
          <a:stretch>
            <a:fillRect/>
          </a:stretch>
        </p:blipFill>
        <p:spPr>
          <a:xfrm>
            <a:off x="7617142" y="2598885"/>
            <a:ext cx="183356" cy="266700"/>
          </a:xfrm>
          <a:prstGeom prst="rect">
            <a:avLst/>
          </a:prstGeom>
        </p:spPr>
      </p:pic>
      <p:pic>
        <p:nvPicPr>
          <p:cNvPr id="103" name="Picture 102" descr="lock.png"/>
          <p:cNvPicPr>
            <a:picLocks noChangeAspect="1"/>
          </p:cNvPicPr>
          <p:nvPr/>
        </p:nvPicPr>
        <p:blipFill>
          <a:blip r:embed="rId26"/>
          <a:stretch>
            <a:fillRect/>
          </a:stretch>
        </p:blipFill>
        <p:spPr>
          <a:xfrm>
            <a:off x="9312080" y="1872486"/>
            <a:ext cx="165652" cy="240948"/>
          </a:xfrm>
          <a:prstGeom prst="rect">
            <a:avLst/>
          </a:prstGeom>
        </p:spPr>
      </p:pic>
      <p:pic>
        <p:nvPicPr>
          <p:cNvPr id="104" name="Picture 103" descr="lock.png"/>
          <p:cNvPicPr>
            <a:picLocks noChangeAspect="1"/>
          </p:cNvPicPr>
          <p:nvPr/>
        </p:nvPicPr>
        <p:blipFill>
          <a:blip r:embed="rId26"/>
          <a:stretch>
            <a:fillRect/>
          </a:stretch>
        </p:blipFill>
        <p:spPr>
          <a:xfrm>
            <a:off x="9303067" y="2827057"/>
            <a:ext cx="183356" cy="266700"/>
          </a:xfrm>
          <a:prstGeom prst="rect">
            <a:avLst/>
          </a:prstGeom>
        </p:spPr>
      </p:pic>
      <p:pic>
        <p:nvPicPr>
          <p:cNvPr id="105" name="Picture 104" descr="lock.png"/>
          <p:cNvPicPr>
            <a:picLocks noChangeAspect="1"/>
          </p:cNvPicPr>
          <p:nvPr/>
        </p:nvPicPr>
        <p:blipFill>
          <a:blip r:embed="rId26"/>
          <a:stretch>
            <a:fillRect/>
          </a:stretch>
        </p:blipFill>
        <p:spPr>
          <a:xfrm>
            <a:off x="10988992" y="2598885"/>
            <a:ext cx="183356" cy="266700"/>
          </a:xfrm>
          <a:prstGeom prst="rect">
            <a:avLst/>
          </a:prstGeom>
        </p:spPr>
      </p:pic>
      <p:sp>
        <p:nvSpPr>
          <p:cNvPr id="106" name="TextBox 105"/>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Among industrial air compressor by capacity, up to</a:t>
            </a:r>
          </a:p>
        </p:txBody>
      </p:sp>
      <p:sp>
        <p:nvSpPr>
          <p:cNvPr id="107" name="TextBox 106"/>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500 HP segment is expected to witness the highest</a:t>
            </a:r>
          </a:p>
        </p:txBody>
      </p:sp>
      <p:sp>
        <p:nvSpPr>
          <p:cNvPr id="108" name="TextBox 107"/>
          <p:cNvSpPr txBox="1"/>
          <p:nvPr/>
        </p:nvSpPr>
        <p:spPr>
          <a:xfrm>
            <a:off x="485775" y="4564717"/>
            <a:ext cx="543304" cy="186689"/>
          </a:xfrm>
          <a:prstGeom prst="rect">
            <a:avLst/>
          </a:prstGeom>
          <a:noFill/>
        </p:spPr>
        <p:txBody>
          <a:bodyPr wrap="none" lIns="0" rIns="0" tIns="0" bIns="0">
            <a:spAutoFit/>
          </a:bodyPr>
          <a:lstStyle/>
          <a:p>
            <a:r>
              <a:rPr sz="1100" b="0">
                <a:solidFill>
                  <a:srgbClr val="2E2E2E"/>
                </a:solidFill>
                <a:latin typeface="Calibri"/>
              </a:rPr>
              <a:t>CAGR of</a:t>
            </a:r>
          </a:p>
        </p:txBody>
      </p:sp>
      <p:pic>
        <p:nvPicPr>
          <p:cNvPr id="109" name="Picture 108" descr="lock.png"/>
          <p:cNvPicPr>
            <a:picLocks noChangeAspect="1"/>
          </p:cNvPicPr>
          <p:nvPr/>
        </p:nvPicPr>
        <p:blipFill>
          <a:blip r:embed="rId26"/>
          <a:stretch>
            <a:fillRect/>
          </a:stretch>
        </p:blipFill>
        <p:spPr>
          <a:xfrm>
            <a:off x="977131" y="4554938"/>
            <a:ext cx="128699" cy="187198"/>
          </a:xfrm>
          <a:prstGeom prst="rect">
            <a:avLst/>
          </a:prstGeom>
        </p:spPr>
      </p:pic>
      <p:sp>
        <p:nvSpPr>
          <p:cNvPr id="110" name="TextBox 109"/>
          <p:cNvSpPr txBox="1"/>
          <p:nvPr/>
        </p:nvSpPr>
        <p:spPr>
          <a:xfrm>
            <a:off x="1144627" y="4564717"/>
            <a:ext cx="2135956" cy="186689"/>
          </a:xfrm>
          <a:prstGeom prst="rect">
            <a:avLst/>
          </a:prstGeom>
          <a:noFill/>
        </p:spPr>
        <p:txBody>
          <a:bodyPr wrap="none" lIns="0" rIns="0" tIns="0" bIns="0">
            <a:spAutoFit/>
          </a:bodyPr>
          <a:lstStyle/>
          <a:p>
            <a:r>
              <a:rPr sz="1100" b="0">
                <a:solidFill>
                  <a:srgbClr val="2E2E2E"/>
                </a:solidFill>
                <a:latin typeface="Calibri"/>
              </a:rPr>
              <a:t>over the forecast period. In terms of</a:t>
            </a:r>
          </a:p>
        </p:txBody>
      </p:sp>
      <p:sp>
        <p:nvSpPr>
          <p:cNvPr id="111" name="TextBox 110"/>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value share by capacity, the up to 500 HP segment</a:t>
            </a:r>
          </a:p>
        </p:txBody>
      </p:sp>
      <p:sp>
        <p:nvSpPr>
          <p:cNvPr id="112" name="TextBox 111"/>
          <p:cNvSpPr txBox="1"/>
          <p:nvPr/>
        </p:nvSpPr>
        <p:spPr>
          <a:xfrm>
            <a:off x="485775" y="4899997"/>
            <a:ext cx="2585070" cy="186689"/>
          </a:xfrm>
          <a:prstGeom prst="rect">
            <a:avLst/>
          </a:prstGeom>
          <a:noFill/>
        </p:spPr>
        <p:txBody>
          <a:bodyPr wrap="none" lIns="0" rIns="0" tIns="0" bIns="0">
            <a:spAutoFit/>
          </a:bodyPr>
          <a:lstStyle/>
          <a:p>
            <a:r>
              <a:rPr sz="1100" b="0">
                <a:solidFill>
                  <a:srgbClr val="2E2E2E"/>
                </a:solidFill>
                <a:latin typeface="Calibri"/>
              </a:rPr>
              <a:t>is expected to dominate the market, gaining</a:t>
            </a:r>
          </a:p>
        </p:txBody>
      </p:sp>
      <p:pic>
        <p:nvPicPr>
          <p:cNvPr id="113" name="Picture 112" descr="lock.png"/>
          <p:cNvPicPr>
            <a:picLocks noChangeAspect="1"/>
          </p:cNvPicPr>
          <p:nvPr/>
        </p:nvPicPr>
        <p:blipFill>
          <a:blip r:embed="rId26"/>
          <a:stretch>
            <a:fillRect/>
          </a:stretch>
        </p:blipFill>
        <p:spPr>
          <a:xfrm>
            <a:off x="3018896" y="4890217"/>
            <a:ext cx="128699" cy="187198"/>
          </a:xfrm>
          <a:prstGeom prst="rect">
            <a:avLst/>
          </a:prstGeom>
        </p:spPr>
      </p:pic>
      <p:sp>
        <p:nvSpPr>
          <p:cNvPr id="114" name="TextBox 113"/>
          <p:cNvSpPr txBox="1"/>
          <p:nvPr/>
        </p:nvSpPr>
        <p:spPr>
          <a:xfrm>
            <a:off x="485775"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15" name="Picture 114" descr="lock.png"/>
          <p:cNvPicPr>
            <a:picLocks noChangeAspect="1"/>
          </p:cNvPicPr>
          <p:nvPr/>
        </p:nvPicPr>
        <p:blipFill>
          <a:blip r:embed="rId26"/>
          <a:stretch>
            <a:fillRect/>
          </a:stretch>
        </p:blipFill>
        <p:spPr>
          <a:xfrm>
            <a:off x="1820259" y="5057858"/>
            <a:ext cx="128699" cy="187198"/>
          </a:xfrm>
          <a:prstGeom prst="rect">
            <a:avLst/>
          </a:prstGeom>
        </p:spPr>
      </p:pic>
      <p:sp>
        <p:nvSpPr>
          <p:cNvPr id="116" name="TextBox 115"/>
          <p:cNvSpPr txBox="1"/>
          <p:nvPr/>
        </p:nvSpPr>
        <p:spPr>
          <a:xfrm>
            <a:off x="1987755" y="506763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7" name="TextBox 116"/>
          <p:cNvSpPr txBox="1"/>
          <p:nvPr/>
        </p:nvSpPr>
        <p:spPr>
          <a:xfrm>
            <a:off x="485775" y="5285569"/>
            <a:ext cx="2668562" cy="186689"/>
          </a:xfrm>
          <a:prstGeom prst="rect">
            <a:avLst/>
          </a:prstGeom>
          <a:noFill/>
        </p:spPr>
        <p:txBody>
          <a:bodyPr wrap="none" lIns="0" rIns="0" tIns="0" bIns="0">
            <a:spAutoFit/>
          </a:bodyPr>
          <a:lstStyle/>
          <a:p>
            <a:r>
              <a:rPr sz="1100" b="0">
                <a:solidFill>
                  <a:srgbClr val="2E2E2E"/>
                </a:solidFill>
                <a:latin typeface="Calibri"/>
              </a:rPr>
              <a:t>Up to 500 HP segment is projected to register</a:t>
            </a:r>
          </a:p>
        </p:txBody>
      </p:sp>
      <p:pic>
        <p:nvPicPr>
          <p:cNvPr id="118" name="Picture 117" descr="lock.png"/>
          <p:cNvPicPr>
            <a:picLocks noChangeAspect="1"/>
          </p:cNvPicPr>
          <p:nvPr/>
        </p:nvPicPr>
        <p:blipFill>
          <a:blip r:embed="rId26"/>
          <a:stretch>
            <a:fillRect/>
          </a:stretch>
        </p:blipFill>
        <p:spPr>
          <a:xfrm>
            <a:off x="472307" y="5443430"/>
            <a:ext cx="128699" cy="187198"/>
          </a:xfrm>
          <a:prstGeom prst="rect">
            <a:avLst/>
          </a:prstGeom>
        </p:spPr>
      </p:pic>
      <p:sp>
        <p:nvSpPr>
          <p:cNvPr id="119" name="TextBox 118"/>
          <p:cNvSpPr txBox="1"/>
          <p:nvPr/>
        </p:nvSpPr>
        <p:spPr>
          <a:xfrm>
            <a:off x="639803" y="5453209"/>
            <a:ext cx="2594619" cy="186689"/>
          </a:xfrm>
          <a:prstGeom prst="rect">
            <a:avLst/>
          </a:prstGeom>
          <a:noFill/>
        </p:spPr>
        <p:txBody>
          <a:bodyPr wrap="none" lIns="0" rIns="0" tIns="0" bIns="0">
            <a:spAutoFit/>
          </a:bodyPr>
          <a:lstStyle/>
          <a:p>
            <a:r>
              <a:rPr sz="1100" b="0">
                <a:solidFill>
                  <a:srgbClr val="2E2E2E"/>
                </a:solidFill>
                <a:latin typeface="Calibri"/>
              </a:rPr>
              <a:t>X higher value than above 2,000 to 5,000 HP</a:t>
            </a:r>
          </a:p>
        </p:txBody>
      </p:sp>
      <p:sp>
        <p:nvSpPr>
          <p:cNvPr id="120" name="TextBox 119"/>
          <p:cNvSpPr txBox="1"/>
          <p:nvPr/>
        </p:nvSpPr>
        <p:spPr>
          <a:xfrm>
            <a:off x="485775" y="562084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121" name="TextBox 120"/>
          <p:cNvSpPr txBox="1"/>
          <p:nvPr/>
        </p:nvSpPr>
        <p:spPr>
          <a:xfrm>
            <a:off x="3838575" y="4229437"/>
            <a:ext cx="1633909" cy="186689"/>
          </a:xfrm>
          <a:prstGeom prst="rect">
            <a:avLst/>
          </a:prstGeom>
          <a:noFill/>
        </p:spPr>
        <p:txBody>
          <a:bodyPr wrap="none" lIns="0" rIns="0" tIns="0" bIns="0">
            <a:spAutoFit/>
          </a:bodyPr>
          <a:lstStyle/>
          <a:p>
            <a:r>
              <a:rPr sz="1100" b="0">
                <a:solidFill>
                  <a:srgbClr val="2E2E2E"/>
                </a:solidFill>
                <a:latin typeface="Calibri"/>
              </a:rPr>
              <a:t>● Above 2,000 to 5,000 HP:</a:t>
            </a:r>
          </a:p>
        </p:txBody>
      </p:sp>
      <p:pic>
        <p:nvPicPr>
          <p:cNvPr id="122" name="Picture 121" descr="lock.png"/>
          <p:cNvPicPr>
            <a:picLocks noChangeAspect="1"/>
          </p:cNvPicPr>
          <p:nvPr/>
        </p:nvPicPr>
        <p:blipFill>
          <a:blip r:embed="rId26"/>
          <a:stretch>
            <a:fillRect/>
          </a:stretch>
        </p:blipFill>
        <p:spPr>
          <a:xfrm>
            <a:off x="5420536" y="4219658"/>
            <a:ext cx="128699" cy="187198"/>
          </a:xfrm>
          <a:prstGeom prst="rect">
            <a:avLst/>
          </a:prstGeom>
        </p:spPr>
      </p:pic>
      <p:sp>
        <p:nvSpPr>
          <p:cNvPr id="123" name="TextBox 122"/>
          <p:cNvSpPr txBox="1"/>
          <p:nvPr/>
        </p:nvSpPr>
        <p:spPr>
          <a:xfrm>
            <a:off x="558803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4" name="Picture 123" descr="lock.png"/>
          <p:cNvPicPr>
            <a:picLocks noChangeAspect="1"/>
          </p:cNvPicPr>
          <p:nvPr/>
        </p:nvPicPr>
        <p:blipFill>
          <a:blip r:embed="rId26"/>
          <a:stretch>
            <a:fillRect/>
          </a:stretch>
        </p:blipFill>
        <p:spPr>
          <a:xfrm>
            <a:off x="6447482" y="4219658"/>
            <a:ext cx="128699" cy="187198"/>
          </a:xfrm>
          <a:prstGeom prst="rect">
            <a:avLst/>
          </a:prstGeom>
        </p:spPr>
      </p:pic>
      <p:sp>
        <p:nvSpPr>
          <p:cNvPr id="125" name="TextBox 124"/>
          <p:cNvSpPr txBox="1"/>
          <p:nvPr/>
        </p:nvSpPr>
        <p:spPr>
          <a:xfrm>
            <a:off x="6614978"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26" name="TextBox 125"/>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27" name="TextBox 126"/>
          <p:cNvSpPr txBox="1"/>
          <p:nvPr/>
        </p:nvSpPr>
        <p:spPr>
          <a:xfrm>
            <a:off x="3838575" y="4615009"/>
            <a:ext cx="980430" cy="186689"/>
          </a:xfrm>
          <a:prstGeom prst="rect">
            <a:avLst/>
          </a:prstGeom>
          <a:noFill/>
        </p:spPr>
        <p:txBody>
          <a:bodyPr wrap="none" lIns="0" rIns="0" tIns="0" bIns="0">
            <a:spAutoFit/>
          </a:bodyPr>
          <a:lstStyle/>
          <a:p>
            <a:r>
              <a:rPr sz="1100" b="0">
                <a:solidFill>
                  <a:srgbClr val="2E2E2E"/>
                </a:solidFill>
                <a:latin typeface="Calibri"/>
              </a:rPr>
              <a:t>● Up to 500 HP:</a:t>
            </a:r>
          </a:p>
        </p:txBody>
      </p:sp>
      <p:pic>
        <p:nvPicPr>
          <p:cNvPr id="128" name="Picture 127" descr="lock.png"/>
          <p:cNvPicPr>
            <a:picLocks noChangeAspect="1"/>
          </p:cNvPicPr>
          <p:nvPr/>
        </p:nvPicPr>
        <p:blipFill>
          <a:blip r:embed="rId26"/>
          <a:stretch>
            <a:fillRect/>
          </a:stretch>
        </p:blipFill>
        <p:spPr>
          <a:xfrm>
            <a:off x="4767056" y="4605230"/>
            <a:ext cx="128699" cy="187198"/>
          </a:xfrm>
          <a:prstGeom prst="rect">
            <a:avLst/>
          </a:prstGeom>
        </p:spPr>
      </p:pic>
      <p:sp>
        <p:nvSpPr>
          <p:cNvPr id="129" name="TextBox 128"/>
          <p:cNvSpPr txBox="1"/>
          <p:nvPr/>
        </p:nvSpPr>
        <p:spPr>
          <a:xfrm>
            <a:off x="4934552"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0" name="Picture 129" descr="lock.png"/>
          <p:cNvPicPr>
            <a:picLocks noChangeAspect="1"/>
          </p:cNvPicPr>
          <p:nvPr/>
        </p:nvPicPr>
        <p:blipFill>
          <a:blip r:embed="rId26"/>
          <a:stretch>
            <a:fillRect/>
          </a:stretch>
        </p:blipFill>
        <p:spPr>
          <a:xfrm>
            <a:off x="5794002" y="4605230"/>
            <a:ext cx="128699" cy="187198"/>
          </a:xfrm>
          <a:prstGeom prst="rect">
            <a:avLst/>
          </a:prstGeom>
        </p:spPr>
      </p:pic>
      <p:sp>
        <p:nvSpPr>
          <p:cNvPr id="131" name="TextBox 130"/>
          <p:cNvSpPr txBox="1"/>
          <p:nvPr/>
        </p:nvSpPr>
        <p:spPr>
          <a:xfrm>
            <a:off x="5961498" y="461500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2" name="TextBox 131"/>
          <p:cNvSpPr txBox="1"/>
          <p:nvPr/>
        </p:nvSpPr>
        <p:spPr>
          <a:xfrm>
            <a:off x="3838575" y="4832941"/>
            <a:ext cx="1202258" cy="186689"/>
          </a:xfrm>
          <a:prstGeom prst="rect">
            <a:avLst/>
          </a:prstGeom>
          <a:noFill/>
        </p:spPr>
        <p:txBody>
          <a:bodyPr wrap="none" lIns="0" rIns="0" tIns="0" bIns="0">
            <a:spAutoFit/>
          </a:bodyPr>
          <a:lstStyle/>
          <a:p>
            <a:r>
              <a:rPr sz="1100" b="0">
                <a:solidFill>
                  <a:srgbClr val="2E2E2E"/>
                </a:solidFill>
                <a:latin typeface="Calibri"/>
              </a:rPr>
              <a:t>● Above 20,000 HP:</a:t>
            </a:r>
          </a:p>
        </p:txBody>
      </p:sp>
      <p:pic>
        <p:nvPicPr>
          <p:cNvPr id="133" name="Picture 132" descr="lock.png"/>
          <p:cNvPicPr>
            <a:picLocks noChangeAspect="1"/>
          </p:cNvPicPr>
          <p:nvPr/>
        </p:nvPicPr>
        <p:blipFill>
          <a:blip r:embed="rId26"/>
          <a:stretch>
            <a:fillRect/>
          </a:stretch>
        </p:blipFill>
        <p:spPr>
          <a:xfrm>
            <a:off x="4988884" y="4823162"/>
            <a:ext cx="128699" cy="187198"/>
          </a:xfrm>
          <a:prstGeom prst="rect">
            <a:avLst/>
          </a:prstGeom>
        </p:spPr>
      </p:pic>
      <p:sp>
        <p:nvSpPr>
          <p:cNvPr id="134" name="TextBox 133"/>
          <p:cNvSpPr txBox="1"/>
          <p:nvPr/>
        </p:nvSpPr>
        <p:spPr>
          <a:xfrm>
            <a:off x="5156380"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5" name="Picture 134" descr="lock.png"/>
          <p:cNvPicPr>
            <a:picLocks noChangeAspect="1"/>
          </p:cNvPicPr>
          <p:nvPr/>
        </p:nvPicPr>
        <p:blipFill>
          <a:blip r:embed="rId26"/>
          <a:stretch>
            <a:fillRect/>
          </a:stretch>
        </p:blipFill>
        <p:spPr>
          <a:xfrm>
            <a:off x="6015831" y="4823162"/>
            <a:ext cx="128699" cy="187198"/>
          </a:xfrm>
          <a:prstGeom prst="rect">
            <a:avLst/>
          </a:prstGeom>
        </p:spPr>
      </p:pic>
      <p:sp>
        <p:nvSpPr>
          <p:cNvPr id="136" name="TextBox 135"/>
          <p:cNvSpPr txBox="1"/>
          <p:nvPr/>
        </p:nvSpPr>
        <p:spPr>
          <a:xfrm>
            <a:off x="6183326" y="483294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7" name="TextBox 136"/>
          <p:cNvSpPr txBox="1"/>
          <p:nvPr/>
        </p:nvSpPr>
        <p:spPr>
          <a:xfrm>
            <a:off x="3838575" y="5050872"/>
            <a:ext cx="1528043" cy="186689"/>
          </a:xfrm>
          <a:prstGeom prst="rect">
            <a:avLst/>
          </a:prstGeom>
          <a:noFill/>
        </p:spPr>
        <p:txBody>
          <a:bodyPr wrap="none" lIns="0" rIns="0" tIns="0" bIns="0">
            <a:spAutoFit/>
          </a:bodyPr>
          <a:lstStyle/>
          <a:p>
            <a:r>
              <a:rPr sz="1100" b="0">
                <a:solidFill>
                  <a:srgbClr val="2E2E2E"/>
                </a:solidFill>
                <a:latin typeface="Calibri"/>
              </a:rPr>
              <a:t>● Above 500 to 2,000 HP:</a:t>
            </a:r>
          </a:p>
        </p:txBody>
      </p:sp>
      <p:pic>
        <p:nvPicPr>
          <p:cNvPr id="138" name="Picture 137" descr="lock.png"/>
          <p:cNvPicPr>
            <a:picLocks noChangeAspect="1"/>
          </p:cNvPicPr>
          <p:nvPr/>
        </p:nvPicPr>
        <p:blipFill>
          <a:blip r:embed="rId26"/>
          <a:stretch>
            <a:fillRect/>
          </a:stretch>
        </p:blipFill>
        <p:spPr>
          <a:xfrm>
            <a:off x="5314669" y="5041093"/>
            <a:ext cx="128699" cy="187198"/>
          </a:xfrm>
          <a:prstGeom prst="rect">
            <a:avLst/>
          </a:prstGeom>
        </p:spPr>
      </p:pic>
      <p:sp>
        <p:nvSpPr>
          <p:cNvPr id="139" name="TextBox 138"/>
          <p:cNvSpPr txBox="1"/>
          <p:nvPr/>
        </p:nvSpPr>
        <p:spPr>
          <a:xfrm>
            <a:off x="5482165"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0" name="Picture 139" descr="lock.png"/>
          <p:cNvPicPr>
            <a:picLocks noChangeAspect="1"/>
          </p:cNvPicPr>
          <p:nvPr/>
        </p:nvPicPr>
        <p:blipFill>
          <a:blip r:embed="rId26"/>
          <a:stretch>
            <a:fillRect/>
          </a:stretch>
        </p:blipFill>
        <p:spPr>
          <a:xfrm>
            <a:off x="6341615" y="5041093"/>
            <a:ext cx="128699" cy="187198"/>
          </a:xfrm>
          <a:prstGeom prst="rect">
            <a:avLst/>
          </a:prstGeom>
        </p:spPr>
      </p:pic>
      <p:sp>
        <p:nvSpPr>
          <p:cNvPr id="141" name="TextBox 140"/>
          <p:cNvSpPr txBox="1"/>
          <p:nvPr/>
        </p:nvSpPr>
        <p:spPr>
          <a:xfrm>
            <a:off x="6509111" y="5050872"/>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2" name="TextBox 141"/>
          <p:cNvSpPr txBox="1"/>
          <p:nvPr/>
        </p:nvSpPr>
        <p:spPr>
          <a:xfrm>
            <a:off x="3838575" y="5268804"/>
            <a:ext cx="1704850" cy="186689"/>
          </a:xfrm>
          <a:prstGeom prst="rect">
            <a:avLst/>
          </a:prstGeom>
          <a:noFill/>
        </p:spPr>
        <p:txBody>
          <a:bodyPr wrap="none" lIns="0" rIns="0" tIns="0" bIns="0">
            <a:spAutoFit/>
          </a:bodyPr>
          <a:lstStyle/>
          <a:p>
            <a:r>
              <a:rPr sz="1100" b="0">
                <a:solidFill>
                  <a:srgbClr val="2E2E2E"/>
                </a:solidFill>
                <a:latin typeface="Calibri"/>
              </a:rPr>
              <a:t>● Above 5,000 to 12,000 HP:</a:t>
            </a:r>
          </a:p>
        </p:txBody>
      </p:sp>
      <p:pic>
        <p:nvPicPr>
          <p:cNvPr id="143" name="Picture 142" descr="lock.png"/>
          <p:cNvPicPr>
            <a:picLocks noChangeAspect="1"/>
          </p:cNvPicPr>
          <p:nvPr/>
        </p:nvPicPr>
        <p:blipFill>
          <a:blip r:embed="rId26"/>
          <a:stretch>
            <a:fillRect/>
          </a:stretch>
        </p:blipFill>
        <p:spPr>
          <a:xfrm>
            <a:off x="5491477" y="5259025"/>
            <a:ext cx="128699" cy="187198"/>
          </a:xfrm>
          <a:prstGeom prst="rect">
            <a:avLst/>
          </a:prstGeom>
        </p:spPr>
      </p:pic>
      <p:sp>
        <p:nvSpPr>
          <p:cNvPr id="144" name="TextBox 143"/>
          <p:cNvSpPr txBox="1"/>
          <p:nvPr/>
        </p:nvSpPr>
        <p:spPr>
          <a:xfrm>
            <a:off x="5658973" y="5268804"/>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5" name="Picture 144" descr="lock.png"/>
          <p:cNvPicPr>
            <a:picLocks noChangeAspect="1"/>
          </p:cNvPicPr>
          <p:nvPr/>
        </p:nvPicPr>
        <p:blipFill>
          <a:blip r:embed="rId26"/>
          <a:stretch>
            <a:fillRect/>
          </a:stretch>
        </p:blipFill>
        <p:spPr>
          <a:xfrm>
            <a:off x="6518423" y="5259025"/>
            <a:ext cx="128699" cy="187198"/>
          </a:xfrm>
          <a:prstGeom prst="rect">
            <a:avLst/>
          </a:prstGeom>
        </p:spPr>
      </p:pic>
      <p:sp>
        <p:nvSpPr>
          <p:cNvPr id="146" name="TextBox 145"/>
          <p:cNvSpPr txBox="1"/>
          <p:nvPr/>
        </p:nvSpPr>
        <p:spPr>
          <a:xfrm>
            <a:off x="6685919" y="5268804"/>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47" name="TextBox 146"/>
          <p:cNvSpPr txBox="1"/>
          <p:nvPr/>
        </p:nvSpPr>
        <p:spPr>
          <a:xfrm>
            <a:off x="3838575" y="5436445"/>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48" name="TextBox 147"/>
          <p:cNvSpPr txBox="1"/>
          <p:nvPr/>
        </p:nvSpPr>
        <p:spPr>
          <a:xfrm>
            <a:off x="3838575" y="5654377"/>
            <a:ext cx="1775792" cy="186689"/>
          </a:xfrm>
          <a:prstGeom prst="rect">
            <a:avLst/>
          </a:prstGeom>
          <a:noFill/>
        </p:spPr>
        <p:txBody>
          <a:bodyPr wrap="none" lIns="0" rIns="0" tIns="0" bIns="0">
            <a:spAutoFit/>
          </a:bodyPr>
          <a:lstStyle/>
          <a:p>
            <a:r>
              <a:rPr sz="1100" b="0">
                <a:solidFill>
                  <a:srgbClr val="2E2E2E"/>
                </a:solidFill>
                <a:latin typeface="Calibri"/>
              </a:rPr>
              <a:t>● Above 12,000 to 20,000 HP:</a:t>
            </a:r>
          </a:p>
        </p:txBody>
      </p:sp>
      <p:pic>
        <p:nvPicPr>
          <p:cNvPr id="149" name="Picture 148" descr="lock.png"/>
          <p:cNvPicPr>
            <a:picLocks noChangeAspect="1"/>
          </p:cNvPicPr>
          <p:nvPr/>
        </p:nvPicPr>
        <p:blipFill>
          <a:blip r:embed="rId26"/>
          <a:stretch>
            <a:fillRect/>
          </a:stretch>
        </p:blipFill>
        <p:spPr>
          <a:xfrm>
            <a:off x="5562418" y="5644597"/>
            <a:ext cx="128699" cy="187198"/>
          </a:xfrm>
          <a:prstGeom prst="rect">
            <a:avLst/>
          </a:prstGeom>
        </p:spPr>
      </p:pic>
      <p:sp>
        <p:nvSpPr>
          <p:cNvPr id="150" name="TextBox 149"/>
          <p:cNvSpPr txBox="1"/>
          <p:nvPr/>
        </p:nvSpPr>
        <p:spPr>
          <a:xfrm>
            <a:off x="5729914" y="565437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1" name="Picture 150" descr="lock.png"/>
          <p:cNvPicPr>
            <a:picLocks noChangeAspect="1"/>
          </p:cNvPicPr>
          <p:nvPr/>
        </p:nvPicPr>
        <p:blipFill>
          <a:blip r:embed="rId26"/>
          <a:stretch>
            <a:fillRect/>
          </a:stretch>
        </p:blipFill>
        <p:spPr>
          <a:xfrm>
            <a:off x="6589365" y="5644597"/>
            <a:ext cx="128699" cy="187198"/>
          </a:xfrm>
          <a:prstGeom prst="rect">
            <a:avLst/>
          </a:prstGeom>
        </p:spPr>
      </p:pic>
      <p:sp>
        <p:nvSpPr>
          <p:cNvPr id="152" name="TextBox 151"/>
          <p:cNvSpPr txBox="1"/>
          <p:nvPr/>
        </p:nvSpPr>
        <p:spPr>
          <a:xfrm>
            <a:off x="6756860" y="5654377"/>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53" name="TextBox 152"/>
          <p:cNvSpPr txBox="1"/>
          <p:nvPr/>
        </p:nvSpPr>
        <p:spPr>
          <a:xfrm>
            <a:off x="3838575" y="5822017"/>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54" name="TextBox 153"/>
          <p:cNvSpPr txBox="1"/>
          <p:nvPr/>
        </p:nvSpPr>
        <p:spPr>
          <a:xfrm>
            <a:off x="8524875" y="5842641"/>
            <a:ext cx="2916187" cy="194310"/>
          </a:xfrm>
          <a:prstGeom prst="rect">
            <a:avLst/>
          </a:prstGeom>
          <a:noFill/>
        </p:spPr>
        <p:txBody>
          <a:bodyPr wrap="none" lIns="0" rIns="0" tIns="0" bIns="0">
            <a:spAutoFit/>
          </a:bodyPr>
          <a:lstStyle/>
          <a:p>
            <a:r>
              <a:rPr sz="1150" b="1">
                <a:solidFill>
                  <a:srgbClr val="0B2E4A"/>
                </a:solidFill>
                <a:latin typeface="Calibri"/>
              </a:rPr>
              <a:t>The Capacity segment is projected to grow at a</a:t>
            </a:r>
          </a:p>
        </p:txBody>
      </p:sp>
      <p:sp>
        <p:nvSpPr>
          <p:cNvPr id="155" name="TextBox 154"/>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56" name="Picture 155" descr="lock.png"/>
          <p:cNvPicPr>
            <a:picLocks noChangeAspect="1"/>
          </p:cNvPicPr>
          <p:nvPr/>
        </p:nvPicPr>
        <p:blipFill>
          <a:blip r:embed="rId26"/>
          <a:stretch>
            <a:fillRect/>
          </a:stretch>
        </p:blipFill>
        <p:spPr>
          <a:xfrm>
            <a:off x="9048826" y="6007677"/>
            <a:ext cx="134549" cy="195707"/>
          </a:xfrm>
          <a:prstGeom prst="rect">
            <a:avLst/>
          </a:prstGeom>
        </p:spPr>
      </p:pic>
      <p:sp>
        <p:nvSpPr>
          <p:cNvPr id="157" name="TextBox 156"/>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Capacity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Capacity mix within each country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Capacity mix within each country (share of 2036 value) · row label = country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Capacity · Bubble size represents 2036 value</a:t>
            </a:r>
          </a:p>
        </p:txBody>
      </p:sp>
      <p:graphicFrame>
        <p:nvGraphicFramePr>
          <p:cNvPr id="12" name="Chart 11"/>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587534" cy="186689"/>
          </a:xfrm>
          <a:prstGeom prst="rect">
            <a:avLst/>
          </a:prstGeom>
          <a:noFill/>
        </p:spPr>
        <p:txBody>
          <a:bodyPr wrap="none" lIns="0" rIns="0" tIns="0" bIns="0">
            <a:spAutoFit/>
          </a:bodyPr>
          <a:lstStyle/>
          <a:p>
            <a:r>
              <a:rPr sz="1100" b="0">
                <a:solidFill>
                  <a:srgbClr val="2E2E2E"/>
                </a:solidFill>
                <a:latin typeface="Calibri"/>
              </a:rPr>
              <a:t>Up to 500 HP followed by above 2,000 to 5,000 HP are expected to be the two most attractive capacity segments in the North America industrial air compressor market in terms of value over the forecast</a:t>
            </a:r>
          </a:p>
        </p:txBody>
      </p:sp>
      <p:sp>
        <p:nvSpPr>
          <p:cNvPr id="18" name="TextBox 17"/>
          <p:cNvSpPr txBox="1"/>
          <p:nvPr/>
        </p:nvSpPr>
        <p:spPr>
          <a:xfrm>
            <a:off x="257175" y="5861685"/>
            <a:ext cx="4290375" cy="186689"/>
          </a:xfrm>
          <a:prstGeom prst="rect">
            <a:avLst/>
          </a:prstGeom>
          <a:noFill/>
        </p:spPr>
        <p:txBody>
          <a:bodyPr wrap="none" lIns="0" rIns="0" tIns="0" bIns="0">
            <a:spAutoFit/>
          </a:bodyPr>
          <a:lstStyle/>
          <a:p>
            <a:r>
              <a:rPr sz="1100" b="0">
                <a:solidFill>
                  <a:srgbClr val="2E2E2E"/>
                </a:solidFill>
                <a:latin typeface="Calibri"/>
              </a:rPr>
              <a:t>period. Up to 500 HP and above 2,000 to 5,000 HP exhibit a CAGR index of</a:t>
            </a:r>
          </a:p>
        </p:txBody>
      </p:sp>
      <p:pic>
        <p:nvPicPr>
          <p:cNvPr id="19" name="Picture 18" descr="lock.png"/>
          <p:cNvPicPr>
            <a:picLocks noChangeAspect="1"/>
          </p:cNvPicPr>
          <p:nvPr/>
        </p:nvPicPr>
        <p:blipFill>
          <a:blip r:embed="rId6"/>
          <a:stretch>
            <a:fillRect/>
          </a:stretch>
        </p:blipFill>
        <p:spPr>
          <a:xfrm>
            <a:off x="4495601" y="5851905"/>
            <a:ext cx="128699" cy="187198"/>
          </a:xfrm>
          <a:prstGeom prst="rect">
            <a:avLst/>
          </a:prstGeom>
        </p:spPr>
      </p:pic>
      <p:sp>
        <p:nvSpPr>
          <p:cNvPr id="20" name="TextBox 19"/>
          <p:cNvSpPr txBox="1"/>
          <p:nvPr/>
        </p:nvSpPr>
        <p:spPr>
          <a:xfrm>
            <a:off x="4663097"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4900992" y="5851905"/>
            <a:ext cx="128699" cy="187198"/>
          </a:xfrm>
          <a:prstGeom prst="rect">
            <a:avLst/>
          </a:prstGeom>
        </p:spPr>
      </p:pic>
      <p:sp>
        <p:nvSpPr>
          <p:cNvPr id="22" name="TextBox 21"/>
          <p:cNvSpPr txBox="1"/>
          <p:nvPr/>
        </p:nvSpPr>
        <p:spPr>
          <a:xfrm>
            <a:off x="5068487"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6677461" y="5851905"/>
            <a:ext cx="128699" cy="187198"/>
          </a:xfrm>
          <a:prstGeom prst="rect">
            <a:avLst/>
          </a:prstGeom>
        </p:spPr>
      </p:pic>
      <p:sp>
        <p:nvSpPr>
          <p:cNvPr id="24" name="TextBox 23"/>
          <p:cNvSpPr txBox="1"/>
          <p:nvPr/>
        </p:nvSpPr>
        <p:spPr>
          <a:xfrm>
            <a:off x="6844957"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7082851" y="5851905"/>
            <a:ext cx="128699" cy="187198"/>
          </a:xfrm>
          <a:prstGeom prst="rect">
            <a:avLst/>
          </a:prstGeom>
        </p:spPr>
      </p:pic>
      <p:sp>
        <p:nvSpPr>
          <p:cNvPr id="26" name="TextBox 25"/>
          <p:cNvSpPr txBox="1"/>
          <p:nvPr/>
        </p:nvSpPr>
        <p:spPr>
          <a:xfrm>
            <a:off x="7250347"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9804751" y="5851905"/>
            <a:ext cx="128699" cy="187198"/>
          </a:xfrm>
          <a:prstGeom prst="rect">
            <a:avLst/>
          </a:prstGeom>
        </p:spPr>
      </p:pic>
      <p:sp>
        <p:nvSpPr>
          <p:cNvPr id="28" name="TextBox 27"/>
          <p:cNvSpPr txBox="1"/>
          <p:nvPr/>
        </p:nvSpPr>
        <p:spPr>
          <a:xfrm>
            <a:off x="9972247" y="5861685"/>
            <a:ext cx="1235000" cy="186689"/>
          </a:xfrm>
          <a:prstGeom prst="rect">
            <a:avLst/>
          </a:prstGeom>
          <a:noFill/>
        </p:spPr>
        <p:txBody>
          <a:bodyPr wrap="none" lIns="0" rIns="0" tIns="0" bIns="0">
            <a:spAutoFit/>
          </a:bodyPr>
          <a:lstStyle/>
          <a:p>
            <a:r>
              <a:rPr sz="1100" b="0">
                <a:solidFill>
                  <a:srgbClr val="2E2E2E"/>
                </a:solidFill>
                <a:latin typeface="Calibri"/>
              </a:rPr>
              <a:t>. The above 5,000 to</a:t>
            </a:r>
          </a:p>
        </p:txBody>
      </p:sp>
      <p:sp>
        <p:nvSpPr>
          <p:cNvPr id="29" name="TextBox 28"/>
          <p:cNvSpPr txBox="1"/>
          <p:nvPr/>
        </p:nvSpPr>
        <p:spPr>
          <a:xfrm>
            <a:off x="257175" y="6029325"/>
            <a:ext cx="11480542" cy="186689"/>
          </a:xfrm>
          <a:prstGeom prst="rect">
            <a:avLst/>
          </a:prstGeom>
          <a:noFill/>
        </p:spPr>
        <p:txBody>
          <a:bodyPr wrap="none" lIns="0" rIns="0" tIns="0" bIns="0">
            <a:spAutoFit/>
          </a:bodyPr>
          <a:lstStyle/>
          <a:p>
            <a:r>
              <a:rPr sz="1100" b="0">
                <a:solidFill>
                  <a:srgbClr val="2E2E2E"/>
                </a:solidFill>
                <a:latin typeface="Calibri"/>
              </a:rPr>
              <a:t>12,000 HP segment is expected to be less attractive as compared to other segments over the forecast period, owing to its lower CAGR and incremental opportunity. Bubbles right of the CAGR-Index line</a:t>
            </a:r>
          </a:p>
        </p:txBody>
      </p:sp>
      <p:sp>
        <p:nvSpPr>
          <p:cNvPr id="30" name="TextBox 29"/>
          <p:cNvSpPr txBox="1"/>
          <p:nvPr/>
        </p:nvSpPr>
        <p:spPr>
          <a:xfrm>
            <a:off x="257175" y="6196965"/>
            <a:ext cx="2279476" cy="186689"/>
          </a:xfrm>
          <a:prstGeom prst="rect">
            <a:avLst/>
          </a:prstGeom>
          <a:noFill/>
        </p:spPr>
        <p:txBody>
          <a:bodyPr wrap="none" lIns="0" rIns="0" tIns="0" bIns="0">
            <a:spAutoFit/>
          </a:bodyPr>
          <a:lstStyle/>
          <a:p>
            <a:r>
              <a:rPr sz="1100" b="0">
                <a:solidFill>
                  <a:srgbClr val="2E2E2E"/>
                </a:solidFill>
                <a:latin typeface="Calibri"/>
              </a:rPr>
              <a:t>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Capacity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Capacity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Up to 500 HP</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Above 500 to 2,000 HP</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Above 2,000 to 5,000 HP</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Above 5,000 to 12,000 HP</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Capacity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Capacity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Above 12,000 to 20,000 HP</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Above 20,000 HP</a:t>
            </a:r>
          </a:p>
        </p:txBody>
      </p:sp>
      <p:graphicFrame>
        <p:nvGraphicFramePr>
          <p:cNvPr id="12" name="Chart 11"/>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Summary of North America Absolute $ Opportunity Analysis, By Capacity</a:t>
            </a:r>
          </a:p>
        </p:txBody>
      </p:sp>
      <p:sp>
        <p:nvSpPr>
          <p:cNvPr id="15" name="Rectangle 14"/>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Rectangle 1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9" name="Picture 18" descr="lock.png"/>
          <p:cNvPicPr>
            <a:picLocks noChangeAspect="1"/>
          </p:cNvPicPr>
          <p:nvPr/>
        </p:nvPicPr>
        <p:blipFill>
          <a:blip r:embed="rId6"/>
          <a:stretch>
            <a:fillRect/>
          </a:stretch>
        </p:blipFill>
        <p:spPr>
          <a:xfrm>
            <a:off x="3100230" y="2330679"/>
            <a:ext cx="252890" cy="367840"/>
          </a:xfrm>
          <a:prstGeom prst="rect">
            <a:avLst/>
          </a:prstGeom>
        </p:spPr>
      </p:pic>
      <p:pic>
        <p:nvPicPr>
          <p:cNvPr id="20" name="Picture 19" descr="lock.png"/>
          <p:cNvPicPr>
            <a:picLocks noChangeAspect="1"/>
          </p:cNvPicPr>
          <p:nvPr/>
        </p:nvPicPr>
        <p:blipFill>
          <a:blip r:embed="rId6"/>
          <a:stretch>
            <a:fillRect/>
          </a:stretch>
        </p:blipFill>
        <p:spPr>
          <a:xfrm>
            <a:off x="3100230" y="5216754"/>
            <a:ext cx="252890" cy="367840"/>
          </a:xfrm>
          <a:prstGeom prst="rect">
            <a:avLst/>
          </a:prstGeom>
        </p:spPr>
      </p:pic>
      <p:sp>
        <p:nvSpPr>
          <p:cNvPr id="21" name="TextBox 20"/>
          <p:cNvSpPr txBox="1"/>
          <p:nvPr/>
        </p:nvSpPr>
        <p:spPr>
          <a:xfrm>
            <a:off x="6305550" y="1400175"/>
            <a:ext cx="4269124" cy="194310"/>
          </a:xfrm>
          <a:prstGeom prst="rect">
            <a:avLst/>
          </a:prstGeom>
          <a:noFill/>
        </p:spPr>
        <p:txBody>
          <a:bodyPr wrap="none" lIns="0" rIns="0" tIns="0" bIns="0">
            <a:spAutoFit/>
          </a:bodyPr>
          <a:lstStyle/>
          <a:p>
            <a:r>
              <a:rPr sz="1150" b="0">
                <a:solidFill>
                  <a:srgbClr val="2E2E2E"/>
                </a:solidFill>
                <a:latin typeface="Calibri"/>
              </a:rPr>
              <a:t>By 2036, up to 500 HP segment is anticipated to witness an increase of</a:t>
            </a:r>
          </a:p>
        </p:txBody>
      </p:sp>
      <p:pic>
        <p:nvPicPr>
          <p:cNvPr id="22" name="Picture 21" descr="lock.png"/>
          <p:cNvPicPr>
            <a:picLocks noChangeAspect="1"/>
          </p:cNvPicPr>
          <p:nvPr/>
        </p:nvPicPr>
        <p:blipFill>
          <a:blip r:embed="rId6"/>
          <a:stretch>
            <a:fillRect/>
          </a:stretch>
        </p:blipFill>
        <p:spPr>
          <a:xfrm>
            <a:off x="10523828" y="1389951"/>
            <a:ext cx="134549" cy="195707"/>
          </a:xfrm>
          <a:prstGeom prst="rect">
            <a:avLst/>
          </a:prstGeom>
        </p:spPr>
      </p:pic>
      <p:sp>
        <p:nvSpPr>
          <p:cNvPr id="23" name="TextBox 22"/>
          <p:cNvSpPr txBox="1"/>
          <p:nvPr/>
        </p:nvSpPr>
        <p:spPr>
          <a:xfrm>
            <a:off x="10698938" y="1400175"/>
            <a:ext cx="1181844" cy="194310"/>
          </a:xfrm>
          <a:prstGeom prst="rect">
            <a:avLst/>
          </a:prstGeom>
          <a:noFill/>
        </p:spPr>
        <p:txBody>
          <a:bodyPr wrap="none" lIns="0" rIns="0" tIns="0" bIns="0">
            <a:spAutoFit/>
          </a:bodyPr>
          <a:lstStyle/>
          <a:p>
            <a:r>
              <a:rPr sz="1150" b="0">
                <a:solidFill>
                  <a:srgbClr val="2E2E2E"/>
                </a:solidFill>
                <a:latin typeface="Calibri"/>
              </a:rPr>
              <a:t>X in terms of value</a:t>
            </a:r>
          </a:p>
        </p:txBody>
      </p:sp>
      <p:sp>
        <p:nvSpPr>
          <p:cNvPr id="24" name="TextBox 23"/>
          <p:cNvSpPr txBox="1"/>
          <p:nvPr/>
        </p:nvSpPr>
        <p:spPr>
          <a:xfrm>
            <a:off x="6305550" y="1575435"/>
            <a:ext cx="5166555" cy="194310"/>
          </a:xfrm>
          <a:prstGeom prst="rect">
            <a:avLst/>
          </a:prstGeom>
          <a:noFill/>
        </p:spPr>
        <p:txBody>
          <a:bodyPr wrap="none" lIns="0" rIns="0" tIns="0" bIns="0">
            <a:spAutoFit/>
          </a:bodyPr>
          <a:lstStyle/>
          <a:p>
            <a:r>
              <a:rPr sz="1150" b="0">
                <a:solidFill>
                  <a:srgbClr val="2E2E2E"/>
                </a:solidFill>
                <a:latin typeface="Calibri"/>
              </a:rPr>
              <a:t>as compared to 2026. The up to 500 HP segment is expected to create an incremental</a:t>
            </a:r>
          </a:p>
        </p:txBody>
      </p:sp>
      <p:sp>
        <p:nvSpPr>
          <p:cNvPr id="25" name="TextBox 24"/>
          <p:cNvSpPr txBox="1"/>
          <p:nvPr/>
        </p:nvSpPr>
        <p:spPr>
          <a:xfrm>
            <a:off x="6305550" y="1750695"/>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26" name="Picture 25" descr="lock.png"/>
          <p:cNvPicPr>
            <a:picLocks noChangeAspect="1"/>
          </p:cNvPicPr>
          <p:nvPr/>
        </p:nvPicPr>
        <p:blipFill>
          <a:blip r:embed="rId6"/>
          <a:stretch>
            <a:fillRect/>
          </a:stretch>
        </p:blipFill>
        <p:spPr>
          <a:xfrm>
            <a:off x="7463647" y="1740471"/>
            <a:ext cx="134549" cy="195707"/>
          </a:xfrm>
          <a:prstGeom prst="rect">
            <a:avLst/>
          </a:prstGeom>
        </p:spPr>
      </p:pic>
      <p:sp>
        <p:nvSpPr>
          <p:cNvPr id="27" name="TextBox 26"/>
          <p:cNvSpPr txBox="1"/>
          <p:nvPr/>
        </p:nvSpPr>
        <p:spPr>
          <a:xfrm>
            <a:off x="7638756" y="1750695"/>
            <a:ext cx="3932832"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 2026 to</a:t>
            </a:r>
          </a:p>
        </p:txBody>
      </p:sp>
      <p:sp>
        <p:nvSpPr>
          <p:cNvPr id="28" name="TextBox 27"/>
          <p:cNvSpPr txBox="1"/>
          <p:nvPr/>
        </p:nvSpPr>
        <p:spPr>
          <a:xfrm>
            <a:off x="6305550" y="1925955"/>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29" name="TextBox 28"/>
          <p:cNvSpPr txBox="1"/>
          <p:nvPr/>
        </p:nvSpPr>
        <p:spPr>
          <a:xfrm>
            <a:off x="6305550" y="2153793"/>
            <a:ext cx="5245286" cy="194310"/>
          </a:xfrm>
          <a:prstGeom prst="rect">
            <a:avLst/>
          </a:prstGeom>
          <a:noFill/>
        </p:spPr>
        <p:txBody>
          <a:bodyPr wrap="none" lIns="0" rIns="0" tIns="0" bIns="0">
            <a:spAutoFit/>
          </a:bodyPr>
          <a:lstStyle/>
          <a:p>
            <a:r>
              <a:rPr sz="1150" b="0">
                <a:solidFill>
                  <a:srgbClr val="2E2E2E"/>
                </a:solidFill>
                <a:latin typeface="Calibri"/>
              </a:rPr>
              <a:t>The above 20,000 HP segment is expected to create an incremental opportunity of US$</a:t>
            </a:r>
          </a:p>
        </p:txBody>
      </p:sp>
      <p:pic>
        <p:nvPicPr>
          <p:cNvPr id="30" name="Picture 29" descr="lock.png"/>
          <p:cNvPicPr>
            <a:picLocks noChangeAspect="1"/>
          </p:cNvPicPr>
          <p:nvPr/>
        </p:nvPicPr>
        <p:blipFill>
          <a:blip r:embed="rId6"/>
          <a:stretch>
            <a:fillRect/>
          </a:stretch>
        </p:blipFill>
        <p:spPr>
          <a:xfrm>
            <a:off x="6291470" y="2318829"/>
            <a:ext cx="134549" cy="195707"/>
          </a:xfrm>
          <a:prstGeom prst="rect">
            <a:avLst/>
          </a:prstGeom>
        </p:spPr>
      </p:pic>
      <p:sp>
        <p:nvSpPr>
          <p:cNvPr id="31" name="TextBox 30"/>
          <p:cNvSpPr txBox="1"/>
          <p:nvPr/>
        </p:nvSpPr>
        <p:spPr>
          <a:xfrm>
            <a:off x="6466579" y="2329053"/>
            <a:ext cx="5314887"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 2026 to 2036. The above 2,000</a:t>
            </a:r>
          </a:p>
        </p:txBody>
      </p:sp>
      <p:sp>
        <p:nvSpPr>
          <p:cNvPr id="32" name="TextBox 31"/>
          <p:cNvSpPr txBox="1"/>
          <p:nvPr/>
        </p:nvSpPr>
        <p:spPr>
          <a:xfrm>
            <a:off x="6305550" y="2504313"/>
            <a:ext cx="4681053" cy="194310"/>
          </a:xfrm>
          <a:prstGeom prst="rect">
            <a:avLst/>
          </a:prstGeom>
          <a:noFill/>
        </p:spPr>
        <p:txBody>
          <a:bodyPr wrap="none" lIns="0" rIns="0" tIns="0" bIns="0">
            <a:spAutoFit/>
          </a:bodyPr>
          <a:lstStyle/>
          <a:p>
            <a:r>
              <a:rPr sz="1150" b="0">
                <a:solidFill>
                  <a:srgbClr val="2E2E2E"/>
                </a:solidFill>
                <a:latin typeface="Calibri"/>
              </a:rPr>
              <a:t>to 5,000 HP segment is expected to create an incremental opportunity of US$</a:t>
            </a:r>
          </a:p>
        </p:txBody>
      </p:sp>
      <p:pic>
        <p:nvPicPr>
          <p:cNvPr id="33" name="Picture 32" descr="lock.png"/>
          <p:cNvPicPr>
            <a:picLocks noChangeAspect="1"/>
          </p:cNvPicPr>
          <p:nvPr/>
        </p:nvPicPr>
        <p:blipFill>
          <a:blip r:embed="rId6"/>
          <a:stretch>
            <a:fillRect/>
          </a:stretch>
        </p:blipFill>
        <p:spPr>
          <a:xfrm>
            <a:off x="10935757" y="2494089"/>
            <a:ext cx="134549" cy="195707"/>
          </a:xfrm>
          <a:prstGeom prst="rect">
            <a:avLst/>
          </a:prstGeom>
        </p:spPr>
      </p:pic>
      <p:sp>
        <p:nvSpPr>
          <p:cNvPr id="34" name="TextBox 33"/>
          <p:cNvSpPr txBox="1"/>
          <p:nvPr/>
        </p:nvSpPr>
        <p:spPr>
          <a:xfrm>
            <a:off x="11110867" y="2504313"/>
            <a:ext cx="715168" cy="194310"/>
          </a:xfrm>
          <a:prstGeom prst="rect">
            <a:avLst/>
          </a:prstGeom>
          <a:noFill/>
        </p:spPr>
        <p:txBody>
          <a:bodyPr wrap="none" lIns="0" rIns="0" tIns="0" bIns="0">
            <a:spAutoFit/>
          </a:bodyPr>
          <a:lstStyle/>
          <a:p>
            <a:r>
              <a:rPr sz="1150" b="0">
                <a:solidFill>
                  <a:srgbClr val="2E2E2E"/>
                </a:solidFill>
                <a:latin typeface="Calibri"/>
              </a:rPr>
              <a:t>Mn for the</a:t>
            </a:r>
          </a:p>
        </p:txBody>
      </p:sp>
      <p:sp>
        <p:nvSpPr>
          <p:cNvPr id="35" name="TextBox 34"/>
          <p:cNvSpPr txBox="1"/>
          <p:nvPr/>
        </p:nvSpPr>
        <p:spPr>
          <a:xfrm>
            <a:off x="6305550" y="2679573"/>
            <a:ext cx="3627325" cy="194310"/>
          </a:xfrm>
          <a:prstGeom prst="rect">
            <a:avLst/>
          </a:prstGeom>
          <a:noFill/>
        </p:spPr>
        <p:txBody>
          <a:bodyPr wrap="none" lIns="0" rIns="0" tIns="0" bIns="0">
            <a:spAutoFit/>
          </a:bodyPr>
          <a:lstStyle/>
          <a:p>
            <a:r>
              <a:rPr sz="1150" b="0">
                <a:solidFill>
                  <a:srgbClr val="2E2E2E"/>
                </a:solidFill>
                <a:latin typeface="Calibri"/>
              </a:rPr>
              <a:t>overall industrial air compressor market from 2026 to 2036.</a:t>
            </a:r>
          </a:p>
        </p:txBody>
      </p:sp>
      <p:sp>
        <p:nvSpPr>
          <p:cNvPr id="36"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ockshield_12"/>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Capacity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Capacity, 2021–2036, highlighting the sub-segments driving growth</a:t>
            </a:r>
          </a:p>
        </p:txBody>
      </p:sp>
      <p:sp>
        <p:nvSpPr>
          <p:cNvPr id="7" name="Rounded Rectangle 6"/>
          <p:cNvSpPr/>
          <p:nvPr/>
        </p:nvSpPr>
        <p:spPr>
          <a:xfrm>
            <a:off x="142875" y="981075"/>
            <a:ext cx="11906250" cy="2438400"/>
          </a:xfrm>
          <a:prstGeom prst="roundRect">
            <a:avLst>
              <a:gd name="adj" fmla="val 312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Capacity (US$ Mn)</a:t>
            </a:r>
          </a:p>
        </p:txBody>
      </p:sp>
      <p:graphicFrame>
        <p:nvGraphicFramePr>
          <p:cNvPr id="9" name="Table 8"/>
          <p:cNvGraphicFramePr>
            <a:graphicFrameLocks noGrp="1"/>
          </p:cNvGraphicFramePr>
          <p:nvPr/>
        </p:nvGraphicFramePr>
        <p:xfrm>
          <a:off x="152400" y="1238250"/>
          <a:ext cx="11887200" cy="1971675"/>
        </p:xfrm>
        <a:graphic>
          <a:graphicData uri="http://schemas.openxmlformats.org/drawingml/2006/table">
            <a:tbl>
              <a:tblPr>
                <a:tableStyleId>{5C22544A-7EE6-4342-B048-85BDC9FD1C3A}</a:tableStyleId>
              </a:tblPr>
              <a:tblGrid>
                <a:gridCol w="1840081"/>
                <a:gridCol w="591007"/>
                <a:gridCol w="591007"/>
                <a:gridCol w="591007"/>
                <a:gridCol w="591007"/>
                <a:gridCol w="591007"/>
                <a:gridCol w="591007"/>
                <a:gridCol w="591007"/>
                <a:gridCol w="591007"/>
                <a:gridCol w="591007"/>
                <a:gridCol w="591007"/>
                <a:gridCol w="591007"/>
                <a:gridCol w="591007"/>
                <a:gridCol w="591007"/>
                <a:gridCol w="591007"/>
                <a:gridCol w="591007"/>
                <a:gridCol w="591007"/>
                <a:gridCol w="591007"/>
              </a:tblGrid>
              <a:tr h="246126">
                <a:tc>
                  <a:txBody>
                    <a:bodyPr wrap="none"/>
                    <a:lstStyle/>
                    <a:p>
                      <a:pPr algn="l"/>
                      <a:r>
                        <a:rPr sz="1100" b="1">
                          <a:solidFill>
                            <a:srgbClr val="0E2A5C"/>
                          </a:solidFill>
                          <a:latin typeface="Calibri"/>
                        </a:rPr>
                        <a:t>Capacity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507">
                <a:tc>
                  <a:txBody>
                    <a:bodyPr wrap="none"/>
                    <a:lstStyle/>
                    <a:p>
                      <a:pPr algn="l"/>
                      <a:r>
                        <a:rPr sz="1100" b="1">
                          <a:solidFill>
                            <a:srgbClr val="2E2E2E"/>
                          </a:solidFill>
                          <a:latin typeface="Calibri"/>
                        </a:rPr>
                        <a:t>Up to 500 HP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Above 500 to 2,000 HP</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Above 2,000 to 5,000 HP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Above 5,000 to 12,000 HP</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Above 12,000 to 20,000 HP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Above 20,000 HP</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552825"/>
            <a:ext cx="11906250" cy="3076575"/>
          </a:xfrm>
          <a:prstGeom prst="roundRect">
            <a:avLst>
              <a:gd name="adj" fmla="val 247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Analysis, By Capacity</a:t>
            </a:r>
          </a:p>
        </p:txBody>
      </p:sp>
      <p:sp>
        <p:nvSpPr>
          <p:cNvPr id="13" name="Rectangle 12"/>
          <p:cNvSpPr/>
          <p:nvPr/>
        </p:nvSpPr>
        <p:spPr>
          <a:xfrm>
            <a:off x="276225" y="387667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829350" y="2080450"/>
            <a:ext cx="366712" cy="533400"/>
          </a:xfrm>
          <a:prstGeom prst="rect">
            <a:avLst/>
          </a:prstGeom>
        </p:spPr>
      </p:pic>
      <p:sp>
        <p:nvSpPr>
          <p:cNvPr id="18" name="TextBox 17"/>
          <p:cNvSpPr txBox="1"/>
          <p:nvPr/>
        </p:nvSpPr>
        <p:spPr>
          <a:xfrm>
            <a:off x="276225" y="3971925"/>
            <a:ext cx="2786397" cy="194310"/>
          </a:xfrm>
          <a:prstGeom prst="rect">
            <a:avLst/>
          </a:prstGeom>
          <a:noFill/>
        </p:spPr>
        <p:txBody>
          <a:bodyPr wrap="none" lIns="0" rIns="0" tIns="0" bIns="0">
            <a:spAutoFit/>
          </a:bodyPr>
          <a:lstStyle/>
          <a:p>
            <a:r>
              <a:rPr sz="1150" b="0">
                <a:solidFill>
                  <a:srgbClr val="2E2E2E"/>
                </a:solidFill>
                <a:latin typeface="Calibri"/>
              </a:rPr>
              <a:t>Up to 500 HP segment is projected to register</a:t>
            </a:r>
          </a:p>
        </p:txBody>
      </p:sp>
      <p:pic>
        <p:nvPicPr>
          <p:cNvPr id="19" name="Picture 18" descr="lock.png"/>
          <p:cNvPicPr>
            <a:picLocks noChangeAspect="1"/>
          </p:cNvPicPr>
          <p:nvPr/>
        </p:nvPicPr>
        <p:blipFill>
          <a:blip r:embed="rId4"/>
          <a:stretch>
            <a:fillRect/>
          </a:stretch>
        </p:blipFill>
        <p:spPr>
          <a:xfrm>
            <a:off x="3011776" y="3961701"/>
            <a:ext cx="134549" cy="195707"/>
          </a:xfrm>
          <a:prstGeom prst="rect">
            <a:avLst/>
          </a:prstGeom>
        </p:spPr>
      </p:pic>
      <p:sp>
        <p:nvSpPr>
          <p:cNvPr id="20" name="TextBox 19"/>
          <p:cNvSpPr txBox="1"/>
          <p:nvPr/>
        </p:nvSpPr>
        <p:spPr>
          <a:xfrm>
            <a:off x="3186885" y="3971925"/>
            <a:ext cx="8677746" cy="194310"/>
          </a:xfrm>
          <a:prstGeom prst="rect">
            <a:avLst/>
          </a:prstGeom>
          <a:noFill/>
        </p:spPr>
        <p:txBody>
          <a:bodyPr wrap="none" lIns="0" rIns="0" tIns="0" bIns="0">
            <a:spAutoFit/>
          </a:bodyPr>
          <a:lstStyle/>
          <a:p>
            <a:r>
              <a:rPr sz="1150" b="0">
                <a:solidFill>
                  <a:srgbClr val="2E2E2E"/>
                </a:solidFill>
                <a:latin typeface="Calibri"/>
              </a:rPr>
              <a:t>X higher value than above 2,000 to 5,000 HP segment in 2036. Among industrial air compressor by capacity, up to 500 HP segment is expected to</a:t>
            </a:r>
          </a:p>
        </p:txBody>
      </p:sp>
      <p:sp>
        <p:nvSpPr>
          <p:cNvPr id="21" name="TextBox 20"/>
          <p:cNvSpPr txBox="1"/>
          <p:nvPr/>
        </p:nvSpPr>
        <p:spPr>
          <a:xfrm>
            <a:off x="276225" y="414718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2" name="Picture 21" descr="lock.png"/>
          <p:cNvPicPr>
            <a:picLocks noChangeAspect="1"/>
          </p:cNvPicPr>
          <p:nvPr/>
        </p:nvPicPr>
        <p:blipFill>
          <a:blip r:embed="rId4"/>
          <a:stretch>
            <a:fillRect/>
          </a:stretch>
        </p:blipFill>
        <p:spPr>
          <a:xfrm>
            <a:off x="1973149" y="4136961"/>
            <a:ext cx="134549" cy="195707"/>
          </a:xfrm>
          <a:prstGeom prst="rect">
            <a:avLst/>
          </a:prstGeom>
        </p:spPr>
      </p:pic>
      <p:sp>
        <p:nvSpPr>
          <p:cNvPr id="23" name="TextBox 22"/>
          <p:cNvSpPr txBox="1"/>
          <p:nvPr/>
        </p:nvSpPr>
        <p:spPr>
          <a:xfrm>
            <a:off x="2148258"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375022"/>
            <a:ext cx="6406839" cy="194310"/>
          </a:xfrm>
          <a:prstGeom prst="rect">
            <a:avLst/>
          </a:prstGeom>
          <a:noFill/>
        </p:spPr>
        <p:txBody>
          <a:bodyPr wrap="none" lIns="0" rIns="0" tIns="0" bIns="0">
            <a:spAutoFit/>
          </a:bodyPr>
          <a:lstStyle/>
          <a:p>
            <a:r>
              <a:rPr sz="1150" b="0">
                <a:solidFill>
                  <a:srgbClr val="2E2E2E"/>
                </a:solidFill>
                <a:latin typeface="Calibri"/>
              </a:rPr>
              <a:t>In terms of value share by capacity, the up to 500 HP segment is expected to dominate the market, gaining</a:t>
            </a:r>
          </a:p>
        </p:txBody>
      </p:sp>
      <p:pic>
        <p:nvPicPr>
          <p:cNvPr id="25" name="Picture 24" descr="lock.png"/>
          <p:cNvPicPr>
            <a:picLocks noChangeAspect="1"/>
          </p:cNvPicPr>
          <p:nvPr/>
        </p:nvPicPr>
        <p:blipFill>
          <a:blip r:embed="rId4"/>
          <a:stretch>
            <a:fillRect/>
          </a:stretch>
        </p:blipFill>
        <p:spPr>
          <a:xfrm>
            <a:off x="6632218" y="4364799"/>
            <a:ext cx="134549" cy="195707"/>
          </a:xfrm>
          <a:prstGeom prst="rect">
            <a:avLst/>
          </a:prstGeom>
        </p:spPr>
      </p:pic>
      <p:sp>
        <p:nvSpPr>
          <p:cNvPr id="26" name="TextBox 25"/>
          <p:cNvSpPr txBox="1"/>
          <p:nvPr/>
        </p:nvSpPr>
        <p:spPr>
          <a:xfrm>
            <a:off x="6807328"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8202471" y="4364799"/>
            <a:ext cx="134549" cy="195707"/>
          </a:xfrm>
          <a:prstGeom prst="rect">
            <a:avLst/>
          </a:prstGeom>
        </p:spPr>
      </p:pic>
      <p:sp>
        <p:nvSpPr>
          <p:cNvPr id="28" name="TextBox 27"/>
          <p:cNvSpPr txBox="1"/>
          <p:nvPr/>
        </p:nvSpPr>
        <p:spPr>
          <a:xfrm>
            <a:off x="8377580" y="4375022"/>
            <a:ext cx="3357475" cy="194310"/>
          </a:xfrm>
          <a:prstGeom prst="rect">
            <a:avLst/>
          </a:prstGeom>
          <a:noFill/>
        </p:spPr>
        <p:txBody>
          <a:bodyPr wrap="none" lIns="0" rIns="0" tIns="0" bIns="0">
            <a:spAutoFit/>
          </a:bodyPr>
          <a:lstStyle/>
          <a:p>
            <a:r>
              <a:rPr sz="1150" b="0">
                <a:solidFill>
                  <a:srgbClr val="2E2E2E"/>
                </a:solidFill>
                <a:latin typeface="Calibri"/>
              </a:rPr>
              <a:t>share by 2036. The above 2,000 to 5,000 HP segment is</a:t>
            </a:r>
          </a:p>
        </p:txBody>
      </p:sp>
      <p:sp>
        <p:nvSpPr>
          <p:cNvPr id="29" name="TextBox 28"/>
          <p:cNvSpPr txBox="1"/>
          <p:nvPr/>
        </p:nvSpPr>
        <p:spPr>
          <a:xfrm>
            <a:off x="276225" y="4550282"/>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30" name="Picture 29" descr="lock.png"/>
          <p:cNvPicPr>
            <a:picLocks noChangeAspect="1"/>
          </p:cNvPicPr>
          <p:nvPr/>
        </p:nvPicPr>
        <p:blipFill>
          <a:blip r:embed="rId4"/>
          <a:stretch>
            <a:fillRect/>
          </a:stretch>
        </p:blipFill>
        <p:spPr>
          <a:xfrm>
            <a:off x="1280285" y="4540059"/>
            <a:ext cx="134549" cy="195707"/>
          </a:xfrm>
          <a:prstGeom prst="rect">
            <a:avLst/>
          </a:prstGeom>
        </p:spPr>
      </p:pic>
      <p:sp>
        <p:nvSpPr>
          <p:cNvPr id="31" name="TextBox 30"/>
          <p:cNvSpPr txBox="1"/>
          <p:nvPr/>
        </p:nvSpPr>
        <p:spPr>
          <a:xfrm>
            <a:off x="1455394"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4042898" y="4540059"/>
            <a:ext cx="134549" cy="195707"/>
          </a:xfrm>
          <a:prstGeom prst="rect">
            <a:avLst/>
          </a:prstGeom>
        </p:spPr>
      </p:pic>
      <p:sp>
        <p:nvSpPr>
          <p:cNvPr id="33" name="TextBox 32"/>
          <p:cNvSpPr txBox="1"/>
          <p:nvPr/>
        </p:nvSpPr>
        <p:spPr>
          <a:xfrm>
            <a:off x="4218008"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Capacity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Capacity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Capacity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FMI Lock Anchor"/>
          <p:cNvSpPr txBox="1"/>
          <p:nvPr/>
        </p:nvSpPr>
        <p:spPr>
          <a:xfrm>
            <a:off x="2678811" y="4014597"/>
            <a:ext cx="38100" cy="38100"/>
          </a:xfrm>
          <a:prstGeom prst="rect">
            <a:avLst/>
          </a:prstGeom>
          <a:noFill/>
        </p:spPr>
        <p:txBody>
          <a:bodyPr wrap="none">
            <a:spAutoFit/>
          </a:bodyPr>
          <a:lstStyle/>
          <a:p/>
        </p:txBody>
      </p:sp>
      <p:sp>
        <p:nvSpPr>
          <p:cNvPr id="12" name="FMI Legend Chip"/>
          <p:cNvSpPr/>
          <p:nvPr/>
        </p:nvSpPr>
        <p:spPr>
          <a:xfrm>
            <a:off x="4928997" y="1776691"/>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5090922" y="177192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69572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12,000 to 20,000 HP</a:t>
            </a:r>
          </a:p>
        </p:txBody>
      </p:sp>
      <p:sp>
        <p:nvSpPr>
          <p:cNvPr id="15" name="BPS Value 1"/>
          <p:cNvSpPr txBox="1"/>
          <p:nvPr/>
        </p:nvSpPr>
        <p:spPr>
          <a:xfrm>
            <a:off x="6896100" y="175764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FMI Legend Chip"/>
          <p:cNvSpPr/>
          <p:nvPr/>
        </p:nvSpPr>
        <p:spPr>
          <a:xfrm>
            <a:off x="4928997" y="2033852"/>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02909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195289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5,000 to 12,000 HP</a:t>
            </a:r>
          </a:p>
        </p:txBody>
      </p:sp>
      <p:sp>
        <p:nvSpPr>
          <p:cNvPr id="19" name="BPS Value 2"/>
          <p:cNvSpPr txBox="1"/>
          <p:nvPr/>
        </p:nvSpPr>
        <p:spPr>
          <a:xfrm>
            <a:off x="6896100" y="201480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2364242"/>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35947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228327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500 to 2,000 HP</a:t>
            </a:r>
          </a:p>
        </p:txBody>
      </p:sp>
      <p:sp>
        <p:nvSpPr>
          <p:cNvPr id="23" name="BPS Value 3"/>
          <p:cNvSpPr txBox="1"/>
          <p:nvPr/>
        </p:nvSpPr>
        <p:spPr>
          <a:xfrm>
            <a:off x="6896100" y="234519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3053242"/>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304848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297228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20,000 HP</a:t>
            </a:r>
          </a:p>
        </p:txBody>
      </p:sp>
      <p:sp>
        <p:nvSpPr>
          <p:cNvPr id="27" name="BPS Value 4"/>
          <p:cNvSpPr txBox="1"/>
          <p:nvPr/>
        </p:nvSpPr>
        <p:spPr>
          <a:xfrm>
            <a:off x="6896100" y="303419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928997" y="4189074"/>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418431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5233797" y="410811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2,000 to 5,000 HP</a:t>
            </a:r>
          </a:p>
        </p:txBody>
      </p:sp>
      <p:sp>
        <p:nvSpPr>
          <p:cNvPr id="31" name="BPS Value 5"/>
          <p:cNvSpPr txBox="1"/>
          <p:nvPr/>
        </p:nvSpPr>
        <p:spPr>
          <a:xfrm>
            <a:off x="6896100" y="417002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928997" y="5529103"/>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552434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5233797" y="544814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Up to 500 HP</a:t>
            </a:r>
          </a:p>
        </p:txBody>
      </p:sp>
      <p:sp>
        <p:nvSpPr>
          <p:cNvPr id="35" name="BPS Value 6"/>
          <p:cNvSpPr txBox="1"/>
          <p:nvPr/>
        </p:nvSpPr>
        <p:spPr>
          <a:xfrm>
            <a:off x="6896100" y="551005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Rounded Rectangle 35"/>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North America Read-out, By Capacity</a:t>
            </a:r>
          </a:p>
        </p:txBody>
      </p:sp>
      <p:sp>
        <p:nvSpPr>
          <p:cNvPr id="38" name="Rectangle 37"/>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Rectangle 3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2" name="Picture 41" descr="lock.png"/>
          <p:cNvPicPr>
            <a:picLocks noChangeAspect="1"/>
          </p:cNvPicPr>
          <p:nvPr/>
        </p:nvPicPr>
        <p:blipFill>
          <a:blip r:embed="rId5"/>
          <a:stretch>
            <a:fillRect/>
          </a:stretch>
        </p:blipFill>
        <p:spPr>
          <a:xfrm>
            <a:off x="2557843" y="3833622"/>
            <a:ext cx="275034" cy="400050"/>
          </a:xfrm>
          <a:prstGeom prst="rect">
            <a:avLst/>
          </a:prstGeom>
        </p:spPr>
      </p:pic>
      <p:sp>
        <p:nvSpPr>
          <p:cNvPr id="43" name="TextBox 42"/>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industrial air compressor by capacity, up to 500 HP segment</a:t>
            </a:r>
          </a:p>
        </p:txBody>
      </p:sp>
      <p:sp>
        <p:nvSpPr>
          <p:cNvPr id="44" name="TextBox 43"/>
          <p:cNvSpPr txBox="1"/>
          <p:nvPr/>
        </p:nvSpPr>
        <p:spPr>
          <a:xfrm>
            <a:off x="7829550" y="1575435"/>
            <a:ext cx="2609807" cy="194310"/>
          </a:xfrm>
          <a:prstGeom prst="rect">
            <a:avLst/>
          </a:prstGeom>
          <a:noFill/>
        </p:spPr>
        <p:txBody>
          <a:bodyPr wrap="none" lIns="0" rIns="0" tIns="0" bIns="0">
            <a:spAutoFit/>
          </a:bodyPr>
          <a:lstStyle/>
          <a:p>
            <a:r>
              <a:rPr sz="1150" b="0">
                <a:solidFill>
                  <a:srgbClr val="2E2E2E"/>
                </a:solidFill>
                <a:latin typeface="Calibri"/>
              </a:rPr>
              <a:t>is expected to witness the highest CAGR of</a:t>
            </a:r>
          </a:p>
        </p:txBody>
      </p:sp>
      <p:pic>
        <p:nvPicPr>
          <p:cNvPr id="45" name="Picture 44" descr="lock.png"/>
          <p:cNvPicPr>
            <a:picLocks noChangeAspect="1"/>
          </p:cNvPicPr>
          <p:nvPr/>
        </p:nvPicPr>
        <p:blipFill>
          <a:blip r:embed="rId5"/>
          <a:stretch>
            <a:fillRect/>
          </a:stretch>
        </p:blipFill>
        <p:spPr>
          <a:xfrm>
            <a:off x="10388511" y="1565211"/>
            <a:ext cx="134549" cy="195707"/>
          </a:xfrm>
          <a:prstGeom prst="rect">
            <a:avLst/>
          </a:prstGeom>
        </p:spPr>
      </p:pic>
      <p:sp>
        <p:nvSpPr>
          <p:cNvPr id="46" name="TextBox 45"/>
          <p:cNvSpPr txBox="1"/>
          <p:nvPr/>
        </p:nvSpPr>
        <p:spPr>
          <a:xfrm>
            <a:off x="10563620" y="157543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47" name="TextBox 46"/>
          <p:cNvSpPr txBox="1"/>
          <p:nvPr/>
        </p:nvSpPr>
        <p:spPr>
          <a:xfrm>
            <a:off x="7829550" y="1750695"/>
            <a:ext cx="3661841" cy="194310"/>
          </a:xfrm>
          <a:prstGeom prst="rect">
            <a:avLst/>
          </a:prstGeom>
          <a:noFill/>
        </p:spPr>
        <p:txBody>
          <a:bodyPr wrap="none" lIns="0" rIns="0" tIns="0" bIns="0">
            <a:spAutoFit/>
          </a:bodyPr>
          <a:lstStyle/>
          <a:p>
            <a:r>
              <a:rPr sz="1150" b="0">
                <a:solidFill>
                  <a:srgbClr val="2E2E2E"/>
                </a:solidFill>
                <a:latin typeface="Calibri"/>
              </a:rPr>
              <a:t>period. In terms of value share by capacity, the up to 500 HP</a:t>
            </a:r>
          </a:p>
        </p:txBody>
      </p:sp>
      <p:sp>
        <p:nvSpPr>
          <p:cNvPr id="48" name="TextBox 47"/>
          <p:cNvSpPr txBox="1"/>
          <p:nvPr/>
        </p:nvSpPr>
        <p:spPr>
          <a:xfrm>
            <a:off x="7829550" y="1925955"/>
            <a:ext cx="3245941" cy="194310"/>
          </a:xfrm>
          <a:prstGeom prst="rect">
            <a:avLst/>
          </a:prstGeom>
          <a:noFill/>
        </p:spPr>
        <p:txBody>
          <a:bodyPr wrap="none" lIns="0" rIns="0" tIns="0" bIns="0">
            <a:spAutoFit/>
          </a:bodyPr>
          <a:lstStyle/>
          <a:p>
            <a:r>
              <a:rPr sz="1150" b="0">
                <a:solidFill>
                  <a:srgbClr val="2E2E2E"/>
                </a:solidFill>
                <a:latin typeface="Calibri"/>
              </a:rPr>
              <a:t>segment is expected to dominate the market, gaining</a:t>
            </a:r>
          </a:p>
        </p:txBody>
      </p:sp>
      <p:pic>
        <p:nvPicPr>
          <p:cNvPr id="49" name="Picture 48" descr="lock.png"/>
          <p:cNvPicPr>
            <a:picLocks noChangeAspect="1"/>
          </p:cNvPicPr>
          <p:nvPr/>
        </p:nvPicPr>
        <p:blipFill>
          <a:blip r:embed="rId5"/>
          <a:stretch>
            <a:fillRect/>
          </a:stretch>
        </p:blipFill>
        <p:spPr>
          <a:xfrm>
            <a:off x="11024645" y="1915731"/>
            <a:ext cx="134549" cy="195707"/>
          </a:xfrm>
          <a:prstGeom prst="rect">
            <a:avLst/>
          </a:prstGeom>
        </p:spPr>
      </p:pic>
      <p:sp>
        <p:nvSpPr>
          <p:cNvPr id="50" name="TextBox 49"/>
          <p:cNvSpPr txBox="1"/>
          <p:nvPr/>
        </p:nvSpPr>
        <p:spPr>
          <a:xfrm>
            <a:off x="11199754" y="192595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51" name="TextBox 50"/>
          <p:cNvSpPr txBox="1"/>
          <p:nvPr/>
        </p:nvSpPr>
        <p:spPr>
          <a:xfrm>
            <a:off x="7829550" y="210121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52" name="Picture 51" descr="lock.png"/>
          <p:cNvPicPr>
            <a:picLocks noChangeAspect="1"/>
          </p:cNvPicPr>
          <p:nvPr/>
        </p:nvPicPr>
        <p:blipFill>
          <a:blip r:embed="rId5"/>
          <a:stretch>
            <a:fillRect/>
          </a:stretch>
        </p:blipFill>
        <p:spPr>
          <a:xfrm>
            <a:off x="8712947" y="2090991"/>
            <a:ext cx="134549" cy="195707"/>
          </a:xfrm>
          <a:prstGeom prst="rect">
            <a:avLst/>
          </a:prstGeom>
        </p:spPr>
      </p:pic>
      <p:sp>
        <p:nvSpPr>
          <p:cNvPr id="53" name="TextBox 52"/>
          <p:cNvSpPr txBox="1"/>
          <p:nvPr/>
        </p:nvSpPr>
        <p:spPr>
          <a:xfrm>
            <a:off x="8888056"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4" name="TextBox 53"/>
          <p:cNvSpPr txBox="1"/>
          <p:nvPr/>
        </p:nvSpPr>
        <p:spPr>
          <a:xfrm>
            <a:off x="7829550" y="2329053"/>
            <a:ext cx="3466157" cy="194310"/>
          </a:xfrm>
          <a:prstGeom prst="rect">
            <a:avLst/>
          </a:prstGeom>
          <a:noFill/>
        </p:spPr>
        <p:txBody>
          <a:bodyPr wrap="none" lIns="0" rIns="0" tIns="0" bIns="0">
            <a:spAutoFit/>
          </a:bodyPr>
          <a:lstStyle/>
          <a:p>
            <a:r>
              <a:rPr sz="1150" b="0">
                <a:solidFill>
                  <a:srgbClr val="2E2E2E"/>
                </a:solidFill>
                <a:latin typeface="Calibri"/>
              </a:rPr>
              <a:t>The above 2,000 to 5,000 HP segment is expected to lose</a:t>
            </a:r>
          </a:p>
        </p:txBody>
      </p:sp>
      <p:pic>
        <p:nvPicPr>
          <p:cNvPr id="55" name="Picture 54" descr="lock.png"/>
          <p:cNvPicPr>
            <a:picLocks noChangeAspect="1"/>
          </p:cNvPicPr>
          <p:nvPr/>
        </p:nvPicPr>
        <p:blipFill>
          <a:blip r:embed="rId5"/>
          <a:stretch>
            <a:fillRect/>
          </a:stretch>
        </p:blipFill>
        <p:spPr>
          <a:xfrm>
            <a:off x="11244861" y="2318829"/>
            <a:ext cx="134549" cy="195707"/>
          </a:xfrm>
          <a:prstGeom prst="rect">
            <a:avLst/>
          </a:prstGeom>
        </p:spPr>
      </p:pic>
      <p:sp>
        <p:nvSpPr>
          <p:cNvPr id="56" name="TextBox 55"/>
          <p:cNvSpPr txBox="1"/>
          <p:nvPr/>
        </p:nvSpPr>
        <p:spPr>
          <a:xfrm>
            <a:off x="11419970" y="232905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57" name="TextBox 56"/>
          <p:cNvSpPr txBox="1"/>
          <p:nvPr/>
        </p:nvSpPr>
        <p:spPr>
          <a:xfrm>
            <a:off x="7829550" y="250431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58" name="Picture 57" descr="lock.png"/>
          <p:cNvPicPr>
            <a:picLocks noChangeAspect="1"/>
          </p:cNvPicPr>
          <p:nvPr/>
        </p:nvPicPr>
        <p:blipFill>
          <a:blip r:embed="rId5"/>
          <a:stretch>
            <a:fillRect/>
          </a:stretch>
        </p:blipFill>
        <p:spPr>
          <a:xfrm>
            <a:off x="10161752" y="2494089"/>
            <a:ext cx="134549" cy="195707"/>
          </a:xfrm>
          <a:prstGeom prst="rect">
            <a:avLst/>
          </a:prstGeom>
        </p:spPr>
      </p:pic>
      <p:sp>
        <p:nvSpPr>
          <p:cNvPr id="59" name="TextBox 58"/>
          <p:cNvSpPr txBox="1"/>
          <p:nvPr/>
        </p:nvSpPr>
        <p:spPr>
          <a:xfrm>
            <a:off x="10336861"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0"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Compression Stage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Compression Stage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Compression Stage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Compression Stage,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Compression Stage segment categorizes the market by compression stage.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Two-Stage</a:t>
            </a:r>
          </a:p>
        </p:txBody>
      </p:sp>
      <p:sp>
        <p:nvSpPr>
          <p:cNvPr id="19" name="Rectangle 18"/>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Multistage</a:t>
            </a:r>
          </a:p>
        </p:txBody>
      </p:sp>
      <p:sp>
        <p:nvSpPr>
          <p:cNvPr id="26" name="Rectangle 25"/>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Single-Stage</a:t>
            </a:r>
          </a:p>
        </p:txBody>
      </p:sp>
      <p:sp>
        <p:nvSpPr>
          <p:cNvPr id="33" name="Rectangle 32"/>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9" name="Rectangle 38"/>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1" name="Rounded Rectangle 4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3" name="Rectangle 42"/>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5" name="Rounded Rectangle 4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7" name="Rectangle 46"/>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Compression Stage split shows how demand is distributed across compression stage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49" name="Rectangle 4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1" name="TextBox 5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52" name="Rectangle 5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54" name="Picture 53" descr="2_786_605E5C.png"/>
          <p:cNvPicPr>
            <a:picLocks noChangeAspect="1"/>
          </p:cNvPicPr>
          <p:nvPr/>
        </p:nvPicPr>
        <p:blipFill>
          <a:blip r:embed="rId4"/>
          <a:stretch>
            <a:fillRect/>
          </a:stretch>
        </p:blipFill>
        <p:spPr>
          <a:xfrm>
            <a:off x="2897811" y="2286582"/>
            <a:ext cx="1195728" cy="361950"/>
          </a:xfrm>
          <a:prstGeom prst="rect">
            <a:avLst/>
          </a:prstGeom>
        </p:spPr>
      </p:pic>
      <p:pic>
        <p:nvPicPr>
          <p:cNvPr id="55" name="Picture 54" descr="4_297_605E5C.png"/>
          <p:cNvPicPr>
            <a:picLocks noChangeAspect="1"/>
          </p:cNvPicPr>
          <p:nvPr/>
        </p:nvPicPr>
        <p:blipFill>
          <a:blip r:embed="rId5"/>
          <a:stretch>
            <a:fillRect/>
          </a:stretch>
        </p:blipFill>
        <p:spPr>
          <a:xfrm>
            <a:off x="2897811" y="2779432"/>
            <a:ext cx="1195728" cy="361950"/>
          </a:xfrm>
          <a:prstGeom prst="rect">
            <a:avLst/>
          </a:prstGeom>
        </p:spPr>
      </p:pic>
      <p:pic>
        <p:nvPicPr>
          <p:cNvPr id="56" name="Picture 55" descr="4_4__605E5C.png"/>
          <p:cNvPicPr>
            <a:picLocks noChangeAspect="1"/>
          </p:cNvPicPr>
          <p:nvPr/>
        </p:nvPicPr>
        <p:blipFill>
          <a:blip r:embed="rId6"/>
          <a:stretch>
            <a:fillRect/>
          </a:stretch>
        </p:blipFill>
        <p:spPr>
          <a:xfrm>
            <a:off x="3004457" y="3272281"/>
            <a:ext cx="982436" cy="361950"/>
          </a:xfrm>
          <a:prstGeom prst="rect">
            <a:avLst/>
          </a:prstGeom>
        </p:spPr>
      </p:pic>
      <p:pic>
        <p:nvPicPr>
          <p:cNvPr id="57" name="Picture 56" descr="800_7_605E5C.png"/>
          <p:cNvPicPr>
            <a:picLocks noChangeAspect="1"/>
          </p:cNvPicPr>
          <p:nvPr/>
        </p:nvPicPr>
        <p:blipFill>
          <a:blip r:embed="rId7"/>
          <a:stretch>
            <a:fillRect/>
          </a:stretch>
        </p:blipFill>
        <p:spPr>
          <a:xfrm>
            <a:off x="6269661" y="2286582"/>
            <a:ext cx="1195728" cy="361950"/>
          </a:xfrm>
          <a:prstGeom prst="rect">
            <a:avLst/>
          </a:prstGeom>
        </p:spPr>
      </p:pic>
      <p:pic>
        <p:nvPicPr>
          <p:cNvPr id="58" name="Picture 57" descr="1_095_605E5C.png"/>
          <p:cNvPicPr>
            <a:picLocks noChangeAspect="1"/>
          </p:cNvPicPr>
          <p:nvPr/>
        </p:nvPicPr>
        <p:blipFill>
          <a:blip r:embed="rId8"/>
          <a:stretch>
            <a:fillRect/>
          </a:stretch>
        </p:blipFill>
        <p:spPr>
          <a:xfrm>
            <a:off x="6269661" y="2779432"/>
            <a:ext cx="1195728" cy="361950"/>
          </a:xfrm>
          <a:prstGeom prst="rect">
            <a:avLst/>
          </a:prstGeom>
        </p:spPr>
      </p:pic>
      <p:pic>
        <p:nvPicPr>
          <p:cNvPr id="59" name="Picture 58" descr="3_2__605E5C.png"/>
          <p:cNvPicPr>
            <a:picLocks noChangeAspect="1"/>
          </p:cNvPicPr>
          <p:nvPr/>
        </p:nvPicPr>
        <p:blipFill>
          <a:blip r:embed="rId9"/>
          <a:stretch>
            <a:fillRect/>
          </a:stretch>
        </p:blipFill>
        <p:spPr>
          <a:xfrm>
            <a:off x="6376307" y="3272281"/>
            <a:ext cx="982436" cy="361950"/>
          </a:xfrm>
          <a:prstGeom prst="rect">
            <a:avLst/>
          </a:prstGeom>
        </p:spPr>
      </p:pic>
      <p:pic>
        <p:nvPicPr>
          <p:cNvPr id="60" name="Picture 59" descr="729_8_605E5C.png"/>
          <p:cNvPicPr>
            <a:picLocks noChangeAspect="1"/>
          </p:cNvPicPr>
          <p:nvPr/>
        </p:nvPicPr>
        <p:blipFill>
          <a:blip r:embed="rId10"/>
          <a:stretch>
            <a:fillRect/>
          </a:stretch>
        </p:blipFill>
        <p:spPr>
          <a:xfrm>
            <a:off x="9641511" y="2286582"/>
            <a:ext cx="1195728" cy="361950"/>
          </a:xfrm>
          <a:prstGeom prst="rect">
            <a:avLst/>
          </a:prstGeom>
        </p:spPr>
      </p:pic>
      <p:pic>
        <p:nvPicPr>
          <p:cNvPr id="61" name="Picture 60" descr="1_137_605E5C.png"/>
          <p:cNvPicPr>
            <a:picLocks noChangeAspect="1"/>
          </p:cNvPicPr>
          <p:nvPr/>
        </p:nvPicPr>
        <p:blipFill>
          <a:blip r:embed="rId11"/>
          <a:stretch>
            <a:fillRect/>
          </a:stretch>
        </p:blipFill>
        <p:spPr>
          <a:xfrm>
            <a:off x="9641511" y="2779432"/>
            <a:ext cx="1195728" cy="361950"/>
          </a:xfrm>
          <a:prstGeom prst="rect">
            <a:avLst/>
          </a:prstGeom>
        </p:spPr>
      </p:pic>
      <p:pic>
        <p:nvPicPr>
          <p:cNvPr id="62" name="Picture 61" descr="4_5__605E5C.png"/>
          <p:cNvPicPr>
            <a:picLocks noChangeAspect="1"/>
          </p:cNvPicPr>
          <p:nvPr/>
        </p:nvPicPr>
        <p:blipFill>
          <a:blip r:embed="rId12"/>
          <a:stretch>
            <a:fillRect/>
          </a:stretch>
        </p:blipFill>
        <p:spPr>
          <a:xfrm>
            <a:off x="9748157" y="3272281"/>
            <a:ext cx="982436" cy="361950"/>
          </a:xfrm>
          <a:prstGeom prst="rect">
            <a:avLst/>
          </a:prstGeom>
        </p:spPr>
      </p:pic>
      <p:pic>
        <p:nvPicPr>
          <p:cNvPr id="63" name="Picture 62" descr="lock.png"/>
          <p:cNvPicPr>
            <a:picLocks noChangeAspect="1"/>
          </p:cNvPicPr>
          <p:nvPr/>
        </p:nvPicPr>
        <p:blipFill>
          <a:blip r:embed="rId13"/>
          <a:stretch>
            <a:fillRect/>
          </a:stretch>
        </p:blipFill>
        <p:spPr>
          <a:xfrm>
            <a:off x="3402330" y="2827057"/>
            <a:ext cx="183356" cy="266700"/>
          </a:xfrm>
          <a:prstGeom prst="rect">
            <a:avLst/>
          </a:prstGeom>
        </p:spPr>
      </p:pic>
      <p:pic>
        <p:nvPicPr>
          <p:cNvPr id="64" name="Picture 63" descr="lock.png"/>
          <p:cNvPicPr>
            <a:picLocks noChangeAspect="1"/>
          </p:cNvPicPr>
          <p:nvPr/>
        </p:nvPicPr>
        <p:blipFill>
          <a:blip r:embed="rId13"/>
          <a:stretch>
            <a:fillRect/>
          </a:stretch>
        </p:blipFill>
        <p:spPr>
          <a:xfrm>
            <a:off x="6774180" y="2827057"/>
            <a:ext cx="183356" cy="266700"/>
          </a:xfrm>
          <a:prstGeom prst="rect">
            <a:avLst/>
          </a:prstGeom>
        </p:spPr>
      </p:pic>
      <p:pic>
        <p:nvPicPr>
          <p:cNvPr id="65" name="Picture 64" descr="lock.png"/>
          <p:cNvPicPr>
            <a:picLocks noChangeAspect="1"/>
          </p:cNvPicPr>
          <p:nvPr/>
        </p:nvPicPr>
        <p:blipFill>
          <a:blip r:embed="rId13"/>
          <a:stretch>
            <a:fillRect/>
          </a:stretch>
        </p:blipFill>
        <p:spPr>
          <a:xfrm>
            <a:off x="10146030" y="2827057"/>
            <a:ext cx="183356" cy="266700"/>
          </a:xfrm>
          <a:prstGeom prst="rect">
            <a:avLst/>
          </a:prstGeom>
        </p:spPr>
      </p:pic>
      <p:sp>
        <p:nvSpPr>
          <p:cNvPr id="66" name="TextBox 65"/>
          <p:cNvSpPr txBox="1"/>
          <p:nvPr/>
        </p:nvSpPr>
        <p:spPr>
          <a:xfrm>
            <a:off x="485775" y="4229437"/>
            <a:ext cx="2850827" cy="186689"/>
          </a:xfrm>
          <a:prstGeom prst="rect">
            <a:avLst/>
          </a:prstGeom>
          <a:noFill/>
        </p:spPr>
        <p:txBody>
          <a:bodyPr wrap="none" lIns="0" rIns="0" tIns="0" bIns="0">
            <a:spAutoFit/>
          </a:bodyPr>
          <a:lstStyle/>
          <a:p>
            <a:r>
              <a:rPr sz="1100" b="0">
                <a:solidFill>
                  <a:srgbClr val="2E2E2E"/>
                </a:solidFill>
                <a:latin typeface="Calibri"/>
              </a:rPr>
              <a:t>Among industrial air compressor by compression</a:t>
            </a:r>
          </a:p>
        </p:txBody>
      </p:sp>
      <p:sp>
        <p:nvSpPr>
          <p:cNvPr id="67" name="TextBox 66"/>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stage, single-stage segment is expected to witness</a:t>
            </a:r>
          </a:p>
        </p:txBody>
      </p:sp>
      <p:sp>
        <p:nvSpPr>
          <p:cNvPr id="68" name="TextBox 67"/>
          <p:cNvSpPr txBox="1"/>
          <p:nvPr/>
        </p:nvSpPr>
        <p:spPr>
          <a:xfrm>
            <a:off x="485775" y="456471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69" name="Picture 68" descr="lock.png"/>
          <p:cNvPicPr>
            <a:picLocks noChangeAspect="1"/>
          </p:cNvPicPr>
          <p:nvPr/>
        </p:nvPicPr>
        <p:blipFill>
          <a:blip r:embed="rId13"/>
          <a:stretch>
            <a:fillRect/>
          </a:stretch>
        </p:blipFill>
        <p:spPr>
          <a:xfrm>
            <a:off x="1646163" y="4554938"/>
            <a:ext cx="128699" cy="187198"/>
          </a:xfrm>
          <a:prstGeom prst="rect">
            <a:avLst/>
          </a:prstGeom>
        </p:spPr>
      </p:pic>
      <p:sp>
        <p:nvSpPr>
          <p:cNvPr id="70" name="TextBox 69"/>
          <p:cNvSpPr txBox="1"/>
          <p:nvPr/>
        </p:nvSpPr>
        <p:spPr>
          <a:xfrm>
            <a:off x="1813659" y="456471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71" name="TextBox 70"/>
          <p:cNvSpPr txBox="1"/>
          <p:nvPr/>
        </p:nvSpPr>
        <p:spPr>
          <a:xfrm>
            <a:off x="485775" y="4732357"/>
            <a:ext cx="2893938" cy="186689"/>
          </a:xfrm>
          <a:prstGeom prst="rect">
            <a:avLst/>
          </a:prstGeom>
          <a:noFill/>
        </p:spPr>
        <p:txBody>
          <a:bodyPr wrap="none" lIns="0" rIns="0" tIns="0" bIns="0">
            <a:spAutoFit/>
          </a:bodyPr>
          <a:lstStyle/>
          <a:p>
            <a:r>
              <a:rPr sz="1100" b="0">
                <a:solidFill>
                  <a:srgbClr val="2E2E2E"/>
                </a:solidFill>
                <a:latin typeface="Calibri"/>
              </a:rPr>
              <a:t>In terms of value share by compression stage, the</a:t>
            </a:r>
          </a:p>
        </p:txBody>
      </p:sp>
      <p:sp>
        <p:nvSpPr>
          <p:cNvPr id="72" name="TextBox 71"/>
          <p:cNvSpPr txBox="1"/>
          <p:nvPr/>
        </p:nvSpPr>
        <p:spPr>
          <a:xfrm>
            <a:off x="485775" y="4899997"/>
            <a:ext cx="2791618" cy="186689"/>
          </a:xfrm>
          <a:prstGeom prst="rect">
            <a:avLst/>
          </a:prstGeom>
          <a:noFill/>
        </p:spPr>
        <p:txBody>
          <a:bodyPr wrap="none" lIns="0" rIns="0" tIns="0" bIns="0">
            <a:spAutoFit/>
          </a:bodyPr>
          <a:lstStyle/>
          <a:p>
            <a:r>
              <a:rPr sz="1100" b="0">
                <a:solidFill>
                  <a:srgbClr val="2E2E2E"/>
                </a:solidFill>
                <a:latin typeface="Calibri"/>
              </a:rPr>
              <a:t>two-stage segment is expected to dominate the</a:t>
            </a:r>
          </a:p>
        </p:txBody>
      </p:sp>
      <p:sp>
        <p:nvSpPr>
          <p:cNvPr id="73" name="TextBox 72"/>
          <p:cNvSpPr txBox="1"/>
          <p:nvPr/>
        </p:nvSpPr>
        <p:spPr>
          <a:xfrm>
            <a:off x="485775" y="5067637"/>
            <a:ext cx="959693" cy="186689"/>
          </a:xfrm>
          <a:prstGeom prst="rect">
            <a:avLst/>
          </a:prstGeom>
          <a:noFill/>
        </p:spPr>
        <p:txBody>
          <a:bodyPr wrap="none" lIns="0" rIns="0" tIns="0" bIns="0">
            <a:spAutoFit/>
          </a:bodyPr>
          <a:lstStyle/>
          <a:p>
            <a:r>
              <a:rPr sz="1100" b="0">
                <a:solidFill>
                  <a:srgbClr val="2E2E2E"/>
                </a:solidFill>
                <a:latin typeface="Calibri"/>
              </a:rPr>
              <a:t>market, gaining</a:t>
            </a:r>
          </a:p>
        </p:txBody>
      </p:sp>
      <p:pic>
        <p:nvPicPr>
          <p:cNvPr id="74" name="Picture 73" descr="lock.png"/>
          <p:cNvPicPr>
            <a:picLocks noChangeAspect="1"/>
          </p:cNvPicPr>
          <p:nvPr/>
        </p:nvPicPr>
        <p:blipFill>
          <a:blip r:embed="rId13"/>
          <a:stretch>
            <a:fillRect/>
          </a:stretch>
        </p:blipFill>
        <p:spPr>
          <a:xfrm>
            <a:off x="1393519" y="5057858"/>
            <a:ext cx="128699" cy="187198"/>
          </a:xfrm>
          <a:prstGeom prst="rect">
            <a:avLst/>
          </a:prstGeom>
        </p:spPr>
      </p:pic>
      <p:sp>
        <p:nvSpPr>
          <p:cNvPr id="75" name="TextBox 74"/>
          <p:cNvSpPr txBox="1"/>
          <p:nvPr/>
        </p:nvSpPr>
        <p:spPr>
          <a:xfrm>
            <a:off x="1561015"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76" name="Picture 75" descr="lock.png"/>
          <p:cNvPicPr>
            <a:picLocks noChangeAspect="1"/>
          </p:cNvPicPr>
          <p:nvPr/>
        </p:nvPicPr>
        <p:blipFill>
          <a:blip r:embed="rId13"/>
          <a:stretch>
            <a:fillRect/>
          </a:stretch>
        </p:blipFill>
        <p:spPr>
          <a:xfrm>
            <a:off x="2895500" y="5057858"/>
            <a:ext cx="128699" cy="187198"/>
          </a:xfrm>
          <a:prstGeom prst="rect">
            <a:avLst/>
          </a:prstGeom>
        </p:spPr>
      </p:pic>
      <p:sp>
        <p:nvSpPr>
          <p:cNvPr id="77" name="TextBox 76"/>
          <p:cNvSpPr txBox="1"/>
          <p:nvPr/>
        </p:nvSpPr>
        <p:spPr>
          <a:xfrm>
            <a:off x="485775"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8" name="TextBox 77"/>
          <p:cNvSpPr txBox="1"/>
          <p:nvPr/>
        </p:nvSpPr>
        <p:spPr>
          <a:xfrm>
            <a:off x="485775" y="5453209"/>
            <a:ext cx="2505943" cy="186689"/>
          </a:xfrm>
          <a:prstGeom prst="rect">
            <a:avLst/>
          </a:prstGeom>
          <a:noFill/>
        </p:spPr>
        <p:txBody>
          <a:bodyPr wrap="none" lIns="0" rIns="0" tIns="0" bIns="0">
            <a:spAutoFit/>
          </a:bodyPr>
          <a:lstStyle/>
          <a:p>
            <a:r>
              <a:rPr sz="1100" b="0">
                <a:solidFill>
                  <a:srgbClr val="2E2E2E"/>
                </a:solidFill>
                <a:latin typeface="Calibri"/>
              </a:rPr>
              <a:t>Two-stage segment is projected to register</a:t>
            </a:r>
          </a:p>
        </p:txBody>
      </p:sp>
      <p:pic>
        <p:nvPicPr>
          <p:cNvPr id="79" name="Picture 78" descr="lock.png"/>
          <p:cNvPicPr>
            <a:picLocks noChangeAspect="1"/>
          </p:cNvPicPr>
          <p:nvPr/>
        </p:nvPicPr>
        <p:blipFill>
          <a:blip r:embed="rId13"/>
          <a:stretch>
            <a:fillRect/>
          </a:stretch>
        </p:blipFill>
        <p:spPr>
          <a:xfrm>
            <a:off x="2939769" y="5443430"/>
            <a:ext cx="128699" cy="187198"/>
          </a:xfrm>
          <a:prstGeom prst="rect">
            <a:avLst/>
          </a:prstGeom>
        </p:spPr>
      </p:pic>
      <p:sp>
        <p:nvSpPr>
          <p:cNvPr id="80" name="TextBox 79"/>
          <p:cNvSpPr txBox="1"/>
          <p:nvPr/>
        </p:nvSpPr>
        <p:spPr>
          <a:xfrm>
            <a:off x="3107265" y="545320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81" name="TextBox 80"/>
          <p:cNvSpPr txBox="1"/>
          <p:nvPr/>
        </p:nvSpPr>
        <p:spPr>
          <a:xfrm>
            <a:off x="485775" y="5620849"/>
            <a:ext cx="2785070" cy="186689"/>
          </a:xfrm>
          <a:prstGeom prst="rect">
            <a:avLst/>
          </a:prstGeom>
          <a:noFill/>
        </p:spPr>
        <p:txBody>
          <a:bodyPr wrap="none" lIns="0" rIns="0" tIns="0" bIns="0">
            <a:spAutoFit/>
          </a:bodyPr>
          <a:lstStyle/>
          <a:p>
            <a:r>
              <a:rPr sz="1100" b="0">
                <a:solidFill>
                  <a:srgbClr val="2E2E2E"/>
                </a:solidFill>
                <a:latin typeface="Calibri"/>
              </a:rPr>
              <a:t>higher value than single-stage segment in 2036.</a:t>
            </a:r>
          </a:p>
        </p:txBody>
      </p:sp>
      <p:sp>
        <p:nvSpPr>
          <p:cNvPr id="82" name="TextBox 81"/>
          <p:cNvSpPr txBox="1"/>
          <p:nvPr/>
        </p:nvSpPr>
        <p:spPr>
          <a:xfrm>
            <a:off x="3838575" y="4229437"/>
            <a:ext cx="827360" cy="186689"/>
          </a:xfrm>
          <a:prstGeom prst="rect">
            <a:avLst/>
          </a:prstGeom>
          <a:noFill/>
        </p:spPr>
        <p:txBody>
          <a:bodyPr wrap="none" lIns="0" rIns="0" tIns="0" bIns="0">
            <a:spAutoFit/>
          </a:bodyPr>
          <a:lstStyle/>
          <a:p>
            <a:r>
              <a:rPr sz="1100" b="0">
                <a:solidFill>
                  <a:srgbClr val="2E2E2E"/>
                </a:solidFill>
                <a:latin typeface="Calibri"/>
              </a:rPr>
              <a:t>● Two-Stage:</a:t>
            </a:r>
          </a:p>
        </p:txBody>
      </p:sp>
      <p:pic>
        <p:nvPicPr>
          <p:cNvPr id="83" name="Picture 82" descr="lock.png"/>
          <p:cNvPicPr>
            <a:picLocks noChangeAspect="1"/>
          </p:cNvPicPr>
          <p:nvPr/>
        </p:nvPicPr>
        <p:blipFill>
          <a:blip r:embed="rId13"/>
          <a:stretch>
            <a:fillRect/>
          </a:stretch>
        </p:blipFill>
        <p:spPr>
          <a:xfrm>
            <a:off x="4613986" y="4219658"/>
            <a:ext cx="128699" cy="187198"/>
          </a:xfrm>
          <a:prstGeom prst="rect">
            <a:avLst/>
          </a:prstGeom>
        </p:spPr>
      </p:pic>
      <p:sp>
        <p:nvSpPr>
          <p:cNvPr id="84" name="TextBox 83"/>
          <p:cNvSpPr txBox="1"/>
          <p:nvPr/>
        </p:nvSpPr>
        <p:spPr>
          <a:xfrm>
            <a:off x="4781482"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5" name="Picture 84" descr="lock.png"/>
          <p:cNvPicPr>
            <a:picLocks noChangeAspect="1"/>
          </p:cNvPicPr>
          <p:nvPr/>
        </p:nvPicPr>
        <p:blipFill>
          <a:blip r:embed="rId13"/>
          <a:stretch>
            <a:fillRect/>
          </a:stretch>
        </p:blipFill>
        <p:spPr>
          <a:xfrm>
            <a:off x="5640932" y="4219658"/>
            <a:ext cx="128699" cy="187198"/>
          </a:xfrm>
          <a:prstGeom prst="rect">
            <a:avLst/>
          </a:prstGeom>
        </p:spPr>
      </p:pic>
      <p:sp>
        <p:nvSpPr>
          <p:cNvPr id="86" name="TextBox 85"/>
          <p:cNvSpPr txBox="1"/>
          <p:nvPr/>
        </p:nvSpPr>
        <p:spPr>
          <a:xfrm>
            <a:off x="5808428"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87" name="TextBox 86"/>
          <p:cNvSpPr txBox="1"/>
          <p:nvPr/>
        </p:nvSpPr>
        <p:spPr>
          <a:xfrm>
            <a:off x="3838575" y="4447369"/>
            <a:ext cx="837455" cy="186689"/>
          </a:xfrm>
          <a:prstGeom prst="rect">
            <a:avLst/>
          </a:prstGeom>
          <a:noFill/>
        </p:spPr>
        <p:txBody>
          <a:bodyPr wrap="none" lIns="0" rIns="0" tIns="0" bIns="0">
            <a:spAutoFit/>
          </a:bodyPr>
          <a:lstStyle/>
          <a:p>
            <a:r>
              <a:rPr sz="1100" b="0">
                <a:solidFill>
                  <a:srgbClr val="2E2E2E"/>
                </a:solidFill>
                <a:latin typeface="Calibri"/>
              </a:rPr>
              <a:t>● Multistage:</a:t>
            </a:r>
          </a:p>
        </p:txBody>
      </p:sp>
      <p:pic>
        <p:nvPicPr>
          <p:cNvPr id="88" name="Picture 87" descr="lock.png"/>
          <p:cNvPicPr>
            <a:picLocks noChangeAspect="1"/>
          </p:cNvPicPr>
          <p:nvPr/>
        </p:nvPicPr>
        <p:blipFill>
          <a:blip r:embed="rId13"/>
          <a:stretch>
            <a:fillRect/>
          </a:stretch>
        </p:blipFill>
        <p:spPr>
          <a:xfrm>
            <a:off x="4624082" y="4437590"/>
            <a:ext cx="128699" cy="187198"/>
          </a:xfrm>
          <a:prstGeom prst="rect">
            <a:avLst/>
          </a:prstGeom>
        </p:spPr>
      </p:pic>
      <p:sp>
        <p:nvSpPr>
          <p:cNvPr id="89" name="TextBox 88"/>
          <p:cNvSpPr txBox="1"/>
          <p:nvPr/>
        </p:nvSpPr>
        <p:spPr>
          <a:xfrm>
            <a:off x="4791578"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0" name="Picture 89" descr="lock.png"/>
          <p:cNvPicPr>
            <a:picLocks noChangeAspect="1"/>
          </p:cNvPicPr>
          <p:nvPr/>
        </p:nvPicPr>
        <p:blipFill>
          <a:blip r:embed="rId13"/>
          <a:stretch>
            <a:fillRect/>
          </a:stretch>
        </p:blipFill>
        <p:spPr>
          <a:xfrm>
            <a:off x="5651028" y="4437590"/>
            <a:ext cx="128699" cy="187198"/>
          </a:xfrm>
          <a:prstGeom prst="rect">
            <a:avLst/>
          </a:prstGeom>
        </p:spPr>
      </p:pic>
      <p:sp>
        <p:nvSpPr>
          <p:cNvPr id="91" name="TextBox 90"/>
          <p:cNvSpPr txBox="1"/>
          <p:nvPr/>
        </p:nvSpPr>
        <p:spPr>
          <a:xfrm>
            <a:off x="5818524"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92" name="TextBox 91"/>
          <p:cNvSpPr txBox="1"/>
          <p:nvPr/>
        </p:nvSpPr>
        <p:spPr>
          <a:xfrm>
            <a:off x="3838575" y="4665301"/>
            <a:ext cx="922858" cy="186689"/>
          </a:xfrm>
          <a:prstGeom prst="rect">
            <a:avLst/>
          </a:prstGeom>
          <a:noFill/>
        </p:spPr>
        <p:txBody>
          <a:bodyPr wrap="none" lIns="0" rIns="0" tIns="0" bIns="0">
            <a:spAutoFit/>
          </a:bodyPr>
          <a:lstStyle/>
          <a:p>
            <a:r>
              <a:rPr sz="1100" b="0">
                <a:solidFill>
                  <a:srgbClr val="2E2E2E"/>
                </a:solidFill>
                <a:latin typeface="Calibri"/>
              </a:rPr>
              <a:t>● Single-Stage:</a:t>
            </a:r>
          </a:p>
        </p:txBody>
      </p:sp>
      <p:pic>
        <p:nvPicPr>
          <p:cNvPr id="93" name="Picture 92" descr="lock.png"/>
          <p:cNvPicPr>
            <a:picLocks noChangeAspect="1"/>
          </p:cNvPicPr>
          <p:nvPr/>
        </p:nvPicPr>
        <p:blipFill>
          <a:blip r:embed="rId13"/>
          <a:stretch>
            <a:fillRect/>
          </a:stretch>
        </p:blipFill>
        <p:spPr>
          <a:xfrm>
            <a:off x="4709484" y="4655522"/>
            <a:ext cx="128699" cy="187198"/>
          </a:xfrm>
          <a:prstGeom prst="rect">
            <a:avLst/>
          </a:prstGeom>
        </p:spPr>
      </p:pic>
      <p:sp>
        <p:nvSpPr>
          <p:cNvPr id="94" name="TextBox 93"/>
          <p:cNvSpPr txBox="1"/>
          <p:nvPr/>
        </p:nvSpPr>
        <p:spPr>
          <a:xfrm>
            <a:off x="4876980"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5" name="Picture 94" descr="lock.png"/>
          <p:cNvPicPr>
            <a:picLocks noChangeAspect="1"/>
          </p:cNvPicPr>
          <p:nvPr/>
        </p:nvPicPr>
        <p:blipFill>
          <a:blip r:embed="rId13"/>
          <a:stretch>
            <a:fillRect/>
          </a:stretch>
        </p:blipFill>
        <p:spPr>
          <a:xfrm>
            <a:off x="5736431" y="4655522"/>
            <a:ext cx="128699" cy="187198"/>
          </a:xfrm>
          <a:prstGeom prst="rect">
            <a:avLst/>
          </a:prstGeom>
        </p:spPr>
      </p:pic>
      <p:sp>
        <p:nvSpPr>
          <p:cNvPr id="96" name="TextBox 95"/>
          <p:cNvSpPr txBox="1"/>
          <p:nvPr/>
        </p:nvSpPr>
        <p:spPr>
          <a:xfrm>
            <a:off x="5903926"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97" name="TextBox 96"/>
          <p:cNvSpPr txBox="1"/>
          <p:nvPr/>
        </p:nvSpPr>
        <p:spPr>
          <a:xfrm>
            <a:off x="8524875" y="5842641"/>
            <a:ext cx="2951844" cy="194310"/>
          </a:xfrm>
          <a:prstGeom prst="rect">
            <a:avLst/>
          </a:prstGeom>
          <a:noFill/>
        </p:spPr>
        <p:txBody>
          <a:bodyPr wrap="none" lIns="0" rIns="0" tIns="0" bIns="0">
            <a:spAutoFit/>
          </a:bodyPr>
          <a:lstStyle/>
          <a:p>
            <a:r>
              <a:rPr sz="1150" b="1">
                <a:solidFill>
                  <a:srgbClr val="0B2E4A"/>
                </a:solidFill>
                <a:latin typeface="Calibri"/>
              </a:rPr>
              <a:t>The Compression Stage segment is projected to</a:t>
            </a:r>
          </a:p>
        </p:txBody>
      </p:sp>
      <p:sp>
        <p:nvSpPr>
          <p:cNvPr id="98" name="TextBox 97"/>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99" name="Picture 98" descr="lock.png"/>
          <p:cNvPicPr>
            <a:picLocks noChangeAspect="1"/>
          </p:cNvPicPr>
          <p:nvPr/>
        </p:nvPicPr>
        <p:blipFill>
          <a:blip r:embed="rId13"/>
          <a:stretch>
            <a:fillRect/>
          </a:stretch>
        </p:blipFill>
        <p:spPr>
          <a:xfrm>
            <a:off x="9651852" y="6007677"/>
            <a:ext cx="134549" cy="195707"/>
          </a:xfrm>
          <a:prstGeom prst="rect">
            <a:avLst/>
          </a:prstGeom>
        </p:spPr>
      </p:pic>
      <p:sp>
        <p:nvSpPr>
          <p:cNvPr id="100" name="TextBox 99"/>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Compression Stage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Compression Stage mix within each country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Compression Stage mix within each country (share of 2036 value) · row label = country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Compression Stage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777865"/>
            <a:ext cx="11677650" cy="186689"/>
          </a:xfrm>
          <a:prstGeom prst="rect">
            <a:avLst/>
          </a:prstGeom>
          <a:noFill/>
        </p:spPr>
        <p:txBody>
          <a:bodyPr wrap="none" lIns="0" rIns="0" tIns="0" bIns="0">
            <a:spAutoFit/>
          </a:bodyPr>
          <a:lstStyle/>
          <a:p>
            <a:r>
              <a:rPr sz="1100" b="0">
                <a:solidFill>
                  <a:srgbClr val="2E2E2E"/>
                </a:solidFill>
                <a:latin typeface="Calibri"/>
              </a:rPr>
              <a:t>Two-stage followed by single-stage are expected to be the two most attractive compression stage segments in the North America industrial air compressor market in terms of value over the forecast period.</a:t>
            </a:r>
          </a:p>
        </p:txBody>
      </p:sp>
      <p:sp>
        <p:nvSpPr>
          <p:cNvPr id="18" name="TextBox 17"/>
          <p:cNvSpPr txBox="1"/>
          <p:nvPr/>
        </p:nvSpPr>
        <p:spPr>
          <a:xfrm>
            <a:off x="257175" y="5945505"/>
            <a:ext cx="3002243" cy="186689"/>
          </a:xfrm>
          <a:prstGeom prst="rect">
            <a:avLst/>
          </a:prstGeom>
          <a:noFill/>
        </p:spPr>
        <p:txBody>
          <a:bodyPr wrap="none" lIns="0" rIns="0" tIns="0" bIns="0">
            <a:spAutoFit/>
          </a:bodyPr>
          <a:lstStyle/>
          <a:p>
            <a:r>
              <a:rPr sz="1100" b="0">
                <a:solidFill>
                  <a:srgbClr val="2E2E2E"/>
                </a:solidFill>
                <a:latin typeface="Calibri"/>
              </a:rPr>
              <a:t>Two-Stage and Single-Stage exhibit a CAGR index of</a:t>
            </a:r>
          </a:p>
        </p:txBody>
      </p:sp>
      <p:pic>
        <p:nvPicPr>
          <p:cNvPr id="19" name="Picture 18" descr="lock.png"/>
          <p:cNvPicPr>
            <a:picLocks noChangeAspect="1"/>
          </p:cNvPicPr>
          <p:nvPr/>
        </p:nvPicPr>
        <p:blipFill>
          <a:blip r:embed="rId6"/>
          <a:stretch>
            <a:fillRect/>
          </a:stretch>
        </p:blipFill>
        <p:spPr>
          <a:xfrm>
            <a:off x="3207469" y="5935726"/>
            <a:ext cx="128699" cy="187198"/>
          </a:xfrm>
          <a:prstGeom prst="rect">
            <a:avLst/>
          </a:prstGeom>
        </p:spPr>
      </p:pic>
      <p:sp>
        <p:nvSpPr>
          <p:cNvPr id="20" name="TextBox 19"/>
          <p:cNvSpPr txBox="1"/>
          <p:nvPr/>
        </p:nvSpPr>
        <p:spPr>
          <a:xfrm>
            <a:off x="3374965"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3612859" y="5935726"/>
            <a:ext cx="128699" cy="187198"/>
          </a:xfrm>
          <a:prstGeom prst="rect">
            <a:avLst/>
          </a:prstGeom>
        </p:spPr>
      </p:pic>
      <p:sp>
        <p:nvSpPr>
          <p:cNvPr id="22" name="TextBox 21"/>
          <p:cNvSpPr txBox="1"/>
          <p:nvPr/>
        </p:nvSpPr>
        <p:spPr>
          <a:xfrm>
            <a:off x="3780355"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5389329" y="5935726"/>
            <a:ext cx="128699" cy="187198"/>
          </a:xfrm>
          <a:prstGeom prst="rect">
            <a:avLst/>
          </a:prstGeom>
        </p:spPr>
      </p:pic>
      <p:sp>
        <p:nvSpPr>
          <p:cNvPr id="24" name="TextBox 23"/>
          <p:cNvSpPr txBox="1"/>
          <p:nvPr/>
        </p:nvSpPr>
        <p:spPr>
          <a:xfrm>
            <a:off x="5556824"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5794719" y="5935726"/>
            <a:ext cx="128699" cy="187198"/>
          </a:xfrm>
          <a:prstGeom prst="rect">
            <a:avLst/>
          </a:prstGeom>
        </p:spPr>
      </p:pic>
      <p:sp>
        <p:nvSpPr>
          <p:cNvPr id="26" name="TextBox 25"/>
          <p:cNvSpPr txBox="1"/>
          <p:nvPr/>
        </p:nvSpPr>
        <p:spPr>
          <a:xfrm>
            <a:off x="5962215"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8516619" y="5935726"/>
            <a:ext cx="128699" cy="187198"/>
          </a:xfrm>
          <a:prstGeom prst="rect">
            <a:avLst/>
          </a:prstGeom>
        </p:spPr>
      </p:pic>
      <p:sp>
        <p:nvSpPr>
          <p:cNvPr id="28" name="TextBox 27"/>
          <p:cNvSpPr txBox="1"/>
          <p:nvPr/>
        </p:nvSpPr>
        <p:spPr>
          <a:xfrm>
            <a:off x="8684115" y="5945505"/>
            <a:ext cx="2750691" cy="186689"/>
          </a:xfrm>
          <a:prstGeom prst="rect">
            <a:avLst/>
          </a:prstGeom>
          <a:noFill/>
        </p:spPr>
        <p:txBody>
          <a:bodyPr wrap="none" lIns="0" rIns="0" tIns="0" bIns="0">
            <a:spAutoFit/>
          </a:bodyPr>
          <a:lstStyle/>
          <a:p>
            <a:r>
              <a:rPr sz="1100" b="0">
                <a:solidFill>
                  <a:srgbClr val="2E2E2E"/>
                </a:solidFill>
                <a:latin typeface="Calibri"/>
              </a:rPr>
              <a:t>. The multistage segment is expected to be less</a:t>
            </a:r>
          </a:p>
        </p:txBody>
      </p:sp>
      <p:sp>
        <p:nvSpPr>
          <p:cNvPr id="29" name="TextBox 28"/>
          <p:cNvSpPr txBox="1"/>
          <p:nvPr/>
        </p:nvSpPr>
        <p:spPr>
          <a:xfrm>
            <a:off x="257175" y="6113145"/>
            <a:ext cx="11338386" cy="186689"/>
          </a:xfrm>
          <a:prstGeom prst="rect">
            <a:avLst/>
          </a:prstGeom>
          <a:noFill/>
        </p:spPr>
        <p:txBody>
          <a:bodyPr wrap="none" lIns="0" rIns="0" tIns="0" bIns="0">
            <a:spAutoFit/>
          </a:bodyPr>
          <a:lstStyle/>
          <a:p>
            <a:r>
              <a:rPr sz="1100" b="0">
                <a:solidFill>
                  <a:srgbClr val="2E2E2E"/>
                </a:solidFill>
                <a:latin typeface="Calibri"/>
              </a:rPr>
              <a:t>attractive as compared to other segments over the forecast period, owing to its lower CAGR and incremental opportunity. Bubbles right of the CAGR-Index line grow faster than the segment average.</a:t>
            </a:r>
          </a:p>
        </p:txBody>
      </p:sp>
      <p:sp>
        <p:nvSpPr>
          <p:cNvPr id="30"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Compression Stage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Compression Stage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Single-Stage</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Two-Stage</a:t>
            </a:r>
          </a:p>
        </p:txBody>
      </p:sp>
      <p:graphicFrame>
        <p:nvGraphicFramePr>
          <p:cNvPr id="12" name="Chart 11"/>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Multistage</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E2A5C"/>
                </a:solidFill>
                <a:latin typeface="Calibri"/>
              </a:rPr>
              <a:t>Summary of North America Absolute $ Opportunity Analysis, By Compression Stage</a:t>
            </a:r>
          </a:p>
        </p:txBody>
      </p:sp>
      <p:sp>
        <p:nvSpPr>
          <p:cNvPr id="18" name="Rectangle 17"/>
          <p:cNvSpPr/>
          <p:nvPr/>
        </p:nvSpPr>
        <p:spPr>
          <a:xfrm>
            <a:off x="6305550" y="438907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7"/>
          <a:stretch>
            <a:fillRect/>
          </a:stretch>
        </p:blipFill>
        <p:spPr>
          <a:xfrm>
            <a:off x="3094826" y="2237234"/>
            <a:ext cx="263506" cy="383281"/>
          </a:xfrm>
          <a:prstGeom prst="rect">
            <a:avLst/>
          </a:prstGeom>
        </p:spPr>
      </p:pic>
      <p:pic>
        <p:nvPicPr>
          <p:cNvPr id="23" name="Picture 22" descr="lock.png"/>
          <p:cNvPicPr>
            <a:picLocks noChangeAspect="1"/>
          </p:cNvPicPr>
          <p:nvPr/>
        </p:nvPicPr>
        <p:blipFill>
          <a:blip r:embed="rId7"/>
          <a:stretch>
            <a:fillRect/>
          </a:stretch>
        </p:blipFill>
        <p:spPr>
          <a:xfrm>
            <a:off x="9124151" y="2237234"/>
            <a:ext cx="263506" cy="383281"/>
          </a:xfrm>
          <a:prstGeom prst="rect">
            <a:avLst/>
          </a:prstGeom>
        </p:spPr>
      </p:pic>
      <p:pic>
        <p:nvPicPr>
          <p:cNvPr id="24" name="Picture 23" descr="lock.png"/>
          <p:cNvPicPr>
            <a:picLocks noChangeAspect="1"/>
          </p:cNvPicPr>
          <p:nvPr/>
        </p:nvPicPr>
        <p:blipFill>
          <a:blip r:embed="rId7"/>
          <a:stretch>
            <a:fillRect/>
          </a:stretch>
        </p:blipFill>
        <p:spPr>
          <a:xfrm>
            <a:off x="3094826" y="5123309"/>
            <a:ext cx="263506" cy="383281"/>
          </a:xfrm>
          <a:prstGeom prst="rect">
            <a:avLst/>
          </a:prstGeom>
        </p:spPr>
      </p:pic>
      <p:sp>
        <p:nvSpPr>
          <p:cNvPr id="25" name="TextBox 24"/>
          <p:cNvSpPr txBox="1"/>
          <p:nvPr/>
        </p:nvSpPr>
        <p:spPr>
          <a:xfrm>
            <a:off x="6305550" y="4484320"/>
            <a:ext cx="4093978" cy="194310"/>
          </a:xfrm>
          <a:prstGeom prst="rect">
            <a:avLst/>
          </a:prstGeom>
          <a:noFill/>
        </p:spPr>
        <p:txBody>
          <a:bodyPr wrap="none" lIns="0" rIns="0" tIns="0" bIns="0">
            <a:spAutoFit/>
          </a:bodyPr>
          <a:lstStyle/>
          <a:p>
            <a:r>
              <a:rPr sz="1150" b="0">
                <a:solidFill>
                  <a:srgbClr val="2E2E2E"/>
                </a:solidFill>
                <a:latin typeface="Calibri"/>
              </a:rPr>
              <a:t>By 2036, two-stage segment is anticipated to witness an increase of</a:t>
            </a:r>
          </a:p>
        </p:txBody>
      </p:sp>
      <p:pic>
        <p:nvPicPr>
          <p:cNvPr id="26" name="Picture 25" descr="lock.png"/>
          <p:cNvPicPr>
            <a:picLocks noChangeAspect="1"/>
          </p:cNvPicPr>
          <p:nvPr/>
        </p:nvPicPr>
        <p:blipFill>
          <a:blip r:embed="rId7"/>
          <a:stretch>
            <a:fillRect/>
          </a:stretch>
        </p:blipFill>
        <p:spPr>
          <a:xfrm>
            <a:off x="10348682" y="4474096"/>
            <a:ext cx="134549" cy="195707"/>
          </a:xfrm>
          <a:prstGeom prst="rect">
            <a:avLst/>
          </a:prstGeom>
        </p:spPr>
      </p:pic>
      <p:sp>
        <p:nvSpPr>
          <p:cNvPr id="27" name="TextBox 26"/>
          <p:cNvSpPr txBox="1"/>
          <p:nvPr/>
        </p:nvSpPr>
        <p:spPr>
          <a:xfrm>
            <a:off x="10523792" y="4484320"/>
            <a:ext cx="1341871" cy="194310"/>
          </a:xfrm>
          <a:prstGeom prst="rect">
            <a:avLst/>
          </a:prstGeom>
          <a:noFill/>
        </p:spPr>
        <p:txBody>
          <a:bodyPr wrap="none" lIns="0" rIns="0" tIns="0" bIns="0">
            <a:spAutoFit/>
          </a:bodyPr>
          <a:lstStyle/>
          <a:p>
            <a:r>
              <a:rPr sz="1150" b="0">
                <a:solidFill>
                  <a:srgbClr val="2E2E2E"/>
                </a:solidFill>
                <a:latin typeface="Calibri"/>
              </a:rPr>
              <a:t>X in terms of value as</a:t>
            </a:r>
          </a:p>
        </p:txBody>
      </p:sp>
      <p:sp>
        <p:nvSpPr>
          <p:cNvPr id="28" name="TextBox 27"/>
          <p:cNvSpPr txBox="1"/>
          <p:nvPr/>
        </p:nvSpPr>
        <p:spPr>
          <a:xfrm>
            <a:off x="6305550" y="4659580"/>
            <a:ext cx="5591175" cy="194310"/>
          </a:xfrm>
          <a:prstGeom prst="rect">
            <a:avLst/>
          </a:prstGeom>
          <a:noFill/>
        </p:spPr>
        <p:txBody>
          <a:bodyPr wrap="none" lIns="0" rIns="0" tIns="0" bIns="0">
            <a:spAutoFit/>
          </a:bodyPr>
          <a:lstStyle/>
          <a:p>
            <a:r>
              <a:rPr sz="1150" b="0">
                <a:solidFill>
                  <a:srgbClr val="2E2E2E"/>
                </a:solidFill>
                <a:latin typeface="Calibri"/>
              </a:rPr>
              <a:t>compared to 2026. The Two-Stage segment is expected to create an incremental opportunity</a:t>
            </a:r>
          </a:p>
        </p:txBody>
      </p:sp>
      <p:sp>
        <p:nvSpPr>
          <p:cNvPr id="29" name="TextBox 28"/>
          <p:cNvSpPr txBox="1"/>
          <p:nvPr/>
        </p:nvSpPr>
        <p:spPr>
          <a:xfrm>
            <a:off x="6305550" y="4834840"/>
            <a:ext cx="465856" cy="194310"/>
          </a:xfrm>
          <a:prstGeom prst="rect">
            <a:avLst/>
          </a:prstGeom>
          <a:noFill/>
        </p:spPr>
        <p:txBody>
          <a:bodyPr wrap="none" lIns="0" rIns="0" tIns="0" bIns="0">
            <a:spAutoFit/>
          </a:bodyPr>
          <a:lstStyle/>
          <a:p>
            <a:r>
              <a:rPr sz="1150" b="0">
                <a:solidFill>
                  <a:srgbClr val="2E2E2E"/>
                </a:solidFill>
                <a:latin typeface="Calibri"/>
              </a:rPr>
              <a:t>of US$</a:t>
            </a:r>
          </a:p>
        </p:txBody>
      </p:sp>
      <p:pic>
        <p:nvPicPr>
          <p:cNvPr id="30" name="Picture 29" descr="lock.png"/>
          <p:cNvPicPr>
            <a:picLocks noChangeAspect="1"/>
          </p:cNvPicPr>
          <p:nvPr/>
        </p:nvPicPr>
        <p:blipFill>
          <a:blip r:embed="rId7"/>
          <a:stretch>
            <a:fillRect/>
          </a:stretch>
        </p:blipFill>
        <p:spPr>
          <a:xfrm>
            <a:off x="6720560" y="4824616"/>
            <a:ext cx="134549" cy="195707"/>
          </a:xfrm>
          <a:prstGeom prst="rect">
            <a:avLst/>
          </a:prstGeom>
        </p:spPr>
      </p:pic>
      <p:sp>
        <p:nvSpPr>
          <p:cNvPr id="31" name="TextBox 30"/>
          <p:cNvSpPr txBox="1"/>
          <p:nvPr/>
        </p:nvSpPr>
        <p:spPr>
          <a:xfrm>
            <a:off x="6895670" y="4834840"/>
            <a:ext cx="4299384"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 2026 to 2036.</a:t>
            </a:r>
          </a:p>
        </p:txBody>
      </p:sp>
      <p:sp>
        <p:nvSpPr>
          <p:cNvPr id="32" name="TextBox 31"/>
          <p:cNvSpPr txBox="1"/>
          <p:nvPr/>
        </p:nvSpPr>
        <p:spPr>
          <a:xfrm>
            <a:off x="6305550" y="5062678"/>
            <a:ext cx="4967733" cy="194310"/>
          </a:xfrm>
          <a:prstGeom prst="rect">
            <a:avLst/>
          </a:prstGeom>
          <a:noFill/>
        </p:spPr>
        <p:txBody>
          <a:bodyPr wrap="none" lIns="0" rIns="0" tIns="0" bIns="0">
            <a:spAutoFit/>
          </a:bodyPr>
          <a:lstStyle/>
          <a:p>
            <a:r>
              <a:rPr sz="1150" b="0">
                <a:solidFill>
                  <a:srgbClr val="2E2E2E"/>
                </a:solidFill>
                <a:latin typeface="Calibri"/>
              </a:rPr>
              <a:t>The Single-Stage segment is expected to create an incremental opportunity of US$</a:t>
            </a:r>
          </a:p>
        </p:txBody>
      </p:sp>
      <p:pic>
        <p:nvPicPr>
          <p:cNvPr id="33" name="Picture 32" descr="lock.png"/>
          <p:cNvPicPr>
            <a:picLocks noChangeAspect="1"/>
          </p:cNvPicPr>
          <p:nvPr/>
        </p:nvPicPr>
        <p:blipFill>
          <a:blip r:embed="rId7"/>
          <a:stretch>
            <a:fillRect/>
          </a:stretch>
        </p:blipFill>
        <p:spPr>
          <a:xfrm>
            <a:off x="11222437" y="5052454"/>
            <a:ext cx="134549" cy="195707"/>
          </a:xfrm>
          <a:prstGeom prst="rect">
            <a:avLst/>
          </a:prstGeom>
        </p:spPr>
      </p:pic>
      <p:sp>
        <p:nvSpPr>
          <p:cNvPr id="34" name="TextBox 33"/>
          <p:cNvSpPr txBox="1"/>
          <p:nvPr/>
        </p:nvSpPr>
        <p:spPr>
          <a:xfrm>
            <a:off x="11397547" y="5062678"/>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35" name="TextBox 34"/>
          <p:cNvSpPr txBox="1"/>
          <p:nvPr/>
        </p:nvSpPr>
        <p:spPr>
          <a:xfrm>
            <a:off x="6305550" y="5237938"/>
            <a:ext cx="5443822" cy="194310"/>
          </a:xfrm>
          <a:prstGeom prst="rect">
            <a:avLst/>
          </a:prstGeom>
          <a:noFill/>
        </p:spPr>
        <p:txBody>
          <a:bodyPr wrap="none" lIns="0" rIns="0" tIns="0" bIns="0">
            <a:spAutoFit/>
          </a:bodyPr>
          <a:lstStyle/>
          <a:p>
            <a:r>
              <a:rPr sz="1150" b="0">
                <a:solidFill>
                  <a:srgbClr val="2E2E2E"/>
                </a:solidFill>
                <a:latin typeface="Calibri"/>
              </a:rPr>
              <a:t>the overall industrial air compressor market from 2026 to 2036. The multistage segment is</a:t>
            </a:r>
          </a:p>
        </p:txBody>
      </p:sp>
      <p:sp>
        <p:nvSpPr>
          <p:cNvPr id="36" name="TextBox 35"/>
          <p:cNvSpPr txBox="1"/>
          <p:nvPr/>
        </p:nvSpPr>
        <p:spPr>
          <a:xfrm>
            <a:off x="6305550" y="5413197"/>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37" name="Picture 36" descr="lock.png"/>
          <p:cNvPicPr>
            <a:picLocks noChangeAspect="1"/>
          </p:cNvPicPr>
          <p:nvPr/>
        </p:nvPicPr>
        <p:blipFill>
          <a:blip r:embed="rId7"/>
          <a:stretch>
            <a:fillRect/>
          </a:stretch>
        </p:blipFill>
        <p:spPr>
          <a:xfrm>
            <a:off x="9540010" y="5402974"/>
            <a:ext cx="134549" cy="195707"/>
          </a:xfrm>
          <a:prstGeom prst="rect">
            <a:avLst/>
          </a:prstGeom>
        </p:spPr>
      </p:pic>
      <p:sp>
        <p:nvSpPr>
          <p:cNvPr id="38" name="TextBox 37"/>
          <p:cNvSpPr txBox="1"/>
          <p:nvPr/>
        </p:nvSpPr>
        <p:spPr>
          <a:xfrm>
            <a:off x="9715119" y="5413197"/>
            <a:ext cx="1931206" cy="194310"/>
          </a:xfrm>
          <a:prstGeom prst="rect">
            <a:avLst/>
          </a:prstGeom>
          <a:noFill/>
        </p:spPr>
        <p:txBody>
          <a:bodyPr wrap="none" lIns="0" rIns="0" tIns="0" bIns="0">
            <a:spAutoFit/>
          </a:bodyPr>
          <a:lstStyle/>
          <a:p>
            <a:r>
              <a:rPr sz="1150" b="0">
                <a:solidFill>
                  <a:srgbClr val="2E2E2E"/>
                </a:solidFill>
                <a:latin typeface="Calibri"/>
              </a:rPr>
              <a:t>Mn for the overall industrial air</a:t>
            </a:r>
          </a:p>
        </p:txBody>
      </p:sp>
      <p:sp>
        <p:nvSpPr>
          <p:cNvPr id="39" name="TextBox 38"/>
          <p:cNvSpPr txBox="1"/>
          <p:nvPr/>
        </p:nvSpPr>
        <p:spPr>
          <a:xfrm>
            <a:off x="6305550" y="5588457"/>
            <a:ext cx="2411288" cy="194310"/>
          </a:xfrm>
          <a:prstGeom prst="rect">
            <a:avLst/>
          </a:prstGeom>
          <a:noFill/>
        </p:spPr>
        <p:txBody>
          <a:bodyPr wrap="none" lIns="0" rIns="0" tIns="0" bIns="0">
            <a:spAutoFit/>
          </a:bodyPr>
          <a:lstStyle/>
          <a:p>
            <a:r>
              <a:rPr sz="1150" b="0">
                <a:solidFill>
                  <a:srgbClr val="2E2E2E"/>
                </a:solidFill>
                <a:latin typeface="Calibri"/>
              </a:rPr>
              <a:t>compressor market from 2026 to 2036.</a:t>
            </a:r>
          </a:p>
        </p:txBody>
      </p:sp>
      <p:sp>
        <p:nvSpPr>
          <p:cNvPr id="40"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ockshield_12"/>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Compression Stage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Compression Stage, 2021–2036, highlighting the sub-segments driving growth</a:t>
            </a:r>
          </a:p>
        </p:txBody>
      </p:sp>
      <p:sp>
        <p:nvSpPr>
          <p:cNvPr id="7" name="Rounded Rectangle 6"/>
          <p:cNvSpPr/>
          <p:nvPr/>
        </p:nvSpPr>
        <p:spPr>
          <a:xfrm>
            <a:off x="142875" y="981075"/>
            <a:ext cx="11906250" cy="1704975"/>
          </a:xfrm>
          <a:prstGeom prst="roundRect">
            <a:avLst>
              <a:gd name="adj" fmla="val 446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Compression Stage (US$ Mn)</a:t>
            </a:r>
          </a:p>
        </p:txBody>
      </p:sp>
      <p:graphicFrame>
        <p:nvGraphicFramePr>
          <p:cNvPr id="9" name="Table 8"/>
          <p:cNvGraphicFramePr>
            <a:graphicFrameLocks noGrp="1"/>
          </p:cNvGraphicFramePr>
          <p:nvPr/>
        </p:nvGraphicFramePr>
        <p:xfrm>
          <a:off x="152400" y="1238250"/>
          <a:ext cx="11887203" cy="1238250"/>
        </p:xfrm>
        <a:graphic>
          <a:graphicData uri="http://schemas.openxmlformats.org/drawingml/2006/table">
            <a:tbl>
              <a:tblPr>
                <a:tableStyleId>{5C22544A-7EE6-4342-B048-85BDC9FD1C3A}</a:tableStyleId>
              </a:tblPr>
              <a:tblGrid>
                <a:gridCol w="1396384"/>
                <a:gridCol w="617107"/>
                <a:gridCol w="617107"/>
                <a:gridCol w="617107"/>
                <a:gridCol w="617107"/>
                <a:gridCol w="617107"/>
                <a:gridCol w="617107"/>
                <a:gridCol w="617107"/>
                <a:gridCol w="617107"/>
                <a:gridCol w="617107"/>
                <a:gridCol w="617107"/>
                <a:gridCol w="617107"/>
                <a:gridCol w="617107"/>
                <a:gridCol w="617107"/>
                <a:gridCol w="617107"/>
                <a:gridCol w="617107"/>
                <a:gridCol w="617107"/>
                <a:gridCol w="617107"/>
              </a:tblGrid>
              <a:tr h="246126">
                <a:tc>
                  <a:txBody>
                    <a:bodyPr wrap="none"/>
                    <a:lstStyle/>
                    <a:p>
                      <a:pPr algn="l"/>
                      <a:r>
                        <a:rPr sz="1100" b="1">
                          <a:solidFill>
                            <a:srgbClr val="0E2A5C"/>
                          </a:solidFill>
                          <a:latin typeface="Calibri"/>
                        </a:rPr>
                        <a:t>Compression Stage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031">
                <a:tc>
                  <a:txBody>
                    <a:bodyPr wrap="none"/>
                    <a:lstStyle/>
                    <a:p>
                      <a:pPr algn="l"/>
                      <a:r>
                        <a:rPr sz="1100" b="1">
                          <a:solidFill>
                            <a:srgbClr val="2E2E2E"/>
                          </a:solidFill>
                          <a:latin typeface="Calibri"/>
                        </a:rPr>
                        <a:t>Single-Stage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Two-Stage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031">
                <a:tc>
                  <a:txBody>
                    <a:bodyPr wrap="none"/>
                    <a:lstStyle/>
                    <a:p>
                      <a:pPr algn="l"/>
                      <a:r>
                        <a:rPr sz="1100" b="1">
                          <a:solidFill>
                            <a:srgbClr val="2E2E2E"/>
                          </a:solidFill>
                          <a:latin typeface="Calibri"/>
                        </a:rPr>
                        <a:t>Multistage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819400"/>
            <a:ext cx="11906250" cy="3810000"/>
          </a:xfrm>
          <a:prstGeom prst="roundRect">
            <a:avLst>
              <a:gd name="adj" fmla="val 200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Analysis, By Compression Stage</a:t>
            </a:r>
          </a:p>
        </p:txBody>
      </p:sp>
      <p:sp>
        <p:nvSpPr>
          <p:cNvPr id="13" name="Rectangle 12"/>
          <p:cNvSpPr/>
          <p:nvPr/>
        </p:nvSpPr>
        <p:spPr>
          <a:xfrm>
            <a:off x="276225" y="31432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607503" y="1713738"/>
            <a:ext cx="366712" cy="533400"/>
          </a:xfrm>
          <a:prstGeom prst="rect">
            <a:avLst/>
          </a:prstGeom>
        </p:spPr>
      </p:pic>
      <p:sp>
        <p:nvSpPr>
          <p:cNvPr id="18" name="TextBox 17"/>
          <p:cNvSpPr txBox="1"/>
          <p:nvPr/>
        </p:nvSpPr>
        <p:spPr>
          <a:xfrm>
            <a:off x="276225" y="3238500"/>
            <a:ext cx="2616386" cy="194310"/>
          </a:xfrm>
          <a:prstGeom prst="rect">
            <a:avLst/>
          </a:prstGeom>
          <a:noFill/>
        </p:spPr>
        <p:txBody>
          <a:bodyPr wrap="none" lIns="0" rIns="0" tIns="0" bIns="0">
            <a:spAutoFit/>
          </a:bodyPr>
          <a:lstStyle/>
          <a:p>
            <a:r>
              <a:rPr sz="1150" b="0">
                <a:solidFill>
                  <a:srgbClr val="2E2E2E"/>
                </a:solidFill>
                <a:latin typeface="Calibri"/>
              </a:rPr>
              <a:t>Two-stage segment is projected to register</a:t>
            </a:r>
          </a:p>
        </p:txBody>
      </p:sp>
      <p:pic>
        <p:nvPicPr>
          <p:cNvPr id="19" name="Picture 18" descr="lock.png"/>
          <p:cNvPicPr>
            <a:picLocks noChangeAspect="1"/>
          </p:cNvPicPr>
          <p:nvPr/>
        </p:nvPicPr>
        <p:blipFill>
          <a:blip r:embed="rId4"/>
          <a:stretch>
            <a:fillRect/>
          </a:stretch>
        </p:blipFill>
        <p:spPr>
          <a:xfrm>
            <a:off x="2841764" y="3228276"/>
            <a:ext cx="134549" cy="195707"/>
          </a:xfrm>
          <a:prstGeom prst="rect">
            <a:avLst/>
          </a:prstGeom>
        </p:spPr>
      </p:pic>
      <p:sp>
        <p:nvSpPr>
          <p:cNvPr id="20" name="TextBox 19"/>
          <p:cNvSpPr txBox="1"/>
          <p:nvPr/>
        </p:nvSpPr>
        <p:spPr>
          <a:xfrm>
            <a:off x="3016874" y="3238500"/>
            <a:ext cx="8484914" cy="194310"/>
          </a:xfrm>
          <a:prstGeom prst="rect">
            <a:avLst/>
          </a:prstGeom>
          <a:noFill/>
        </p:spPr>
        <p:txBody>
          <a:bodyPr wrap="none" lIns="0" rIns="0" tIns="0" bIns="0">
            <a:spAutoFit/>
          </a:bodyPr>
          <a:lstStyle/>
          <a:p>
            <a:r>
              <a:rPr sz="1150" b="0">
                <a:solidFill>
                  <a:srgbClr val="2E2E2E"/>
                </a:solidFill>
                <a:latin typeface="Calibri"/>
              </a:rPr>
              <a:t>X higher value than single-stage segment in 2036. Among industrial air compressor by compression stage, single-stage segment is expected to</a:t>
            </a:r>
          </a:p>
        </p:txBody>
      </p:sp>
      <p:sp>
        <p:nvSpPr>
          <p:cNvPr id="21" name="TextBox 20"/>
          <p:cNvSpPr txBox="1"/>
          <p:nvPr/>
        </p:nvSpPr>
        <p:spPr>
          <a:xfrm>
            <a:off x="276225" y="3413760"/>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2" name="Picture 21" descr="lock.png"/>
          <p:cNvPicPr>
            <a:picLocks noChangeAspect="1"/>
          </p:cNvPicPr>
          <p:nvPr/>
        </p:nvPicPr>
        <p:blipFill>
          <a:blip r:embed="rId4"/>
          <a:stretch>
            <a:fillRect/>
          </a:stretch>
        </p:blipFill>
        <p:spPr>
          <a:xfrm>
            <a:off x="1973149" y="3403536"/>
            <a:ext cx="134549" cy="195707"/>
          </a:xfrm>
          <a:prstGeom prst="rect">
            <a:avLst/>
          </a:prstGeom>
        </p:spPr>
      </p:pic>
      <p:sp>
        <p:nvSpPr>
          <p:cNvPr id="23" name="TextBox 22"/>
          <p:cNvSpPr txBox="1"/>
          <p:nvPr/>
        </p:nvSpPr>
        <p:spPr>
          <a:xfrm>
            <a:off x="2148258"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641597"/>
            <a:ext cx="6850695" cy="194310"/>
          </a:xfrm>
          <a:prstGeom prst="rect">
            <a:avLst/>
          </a:prstGeom>
          <a:noFill/>
        </p:spPr>
        <p:txBody>
          <a:bodyPr wrap="none" lIns="0" rIns="0" tIns="0" bIns="0">
            <a:spAutoFit/>
          </a:bodyPr>
          <a:lstStyle/>
          <a:p>
            <a:r>
              <a:rPr sz="1150" b="0">
                <a:solidFill>
                  <a:srgbClr val="2E2E2E"/>
                </a:solidFill>
                <a:latin typeface="Calibri"/>
              </a:rPr>
              <a:t>In terms of value share by compression stage, the two-stage segment is expected to dominate the market, gaining</a:t>
            </a:r>
          </a:p>
        </p:txBody>
      </p:sp>
      <p:pic>
        <p:nvPicPr>
          <p:cNvPr id="25" name="Picture 24" descr="lock.png"/>
          <p:cNvPicPr>
            <a:picLocks noChangeAspect="1"/>
          </p:cNvPicPr>
          <p:nvPr/>
        </p:nvPicPr>
        <p:blipFill>
          <a:blip r:embed="rId4"/>
          <a:stretch>
            <a:fillRect/>
          </a:stretch>
        </p:blipFill>
        <p:spPr>
          <a:xfrm>
            <a:off x="7076073" y="3631374"/>
            <a:ext cx="134549" cy="195707"/>
          </a:xfrm>
          <a:prstGeom prst="rect">
            <a:avLst/>
          </a:prstGeom>
        </p:spPr>
      </p:pic>
      <p:sp>
        <p:nvSpPr>
          <p:cNvPr id="26" name="TextBox 25"/>
          <p:cNvSpPr txBox="1"/>
          <p:nvPr/>
        </p:nvSpPr>
        <p:spPr>
          <a:xfrm>
            <a:off x="7251183"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8646326" y="3631374"/>
            <a:ext cx="134549" cy="195707"/>
          </a:xfrm>
          <a:prstGeom prst="rect">
            <a:avLst/>
          </a:prstGeom>
        </p:spPr>
      </p:pic>
      <p:sp>
        <p:nvSpPr>
          <p:cNvPr id="28" name="TextBox 27"/>
          <p:cNvSpPr txBox="1"/>
          <p:nvPr/>
        </p:nvSpPr>
        <p:spPr>
          <a:xfrm>
            <a:off x="8821435" y="3641597"/>
            <a:ext cx="2531095" cy="194310"/>
          </a:xfrm>
          <a:prstGeom prst="rect">
            <a:avLst/>
          </a:prstGeom>
          <a:noFill/>
        </p:spPr>
        <p:txBody>
          <a:bodyPr wrap="none" lIns="0" rIns="0" tIns="0" bIns="0">
            <a:spAutoFit/>
          </a:bodyPr>
          <a:lstStyle/>
          <a:p>
            <a:r>
              <a:rPr sz="1150" b="0">
                <a:solidFill>
                  <a:srgbClr val="2E2E2E"/>
                </a:solidFill>
                <a:latin typeface="Calibri"/>
              </a:rPr>
              <a:t>share by 2036. The multistage segment is</a:t>
            </a:r>
          </a:p>
        </p:txBody>
      </p:sp>
      <p:sp>
        <p:nvSpPr>
          <p:cNvPr id="29" name="TextBox 28"/>
          <p:cNvSpPr txBox="1"/>
          <p:nvPr/>
        </p:nvSpPr>
        <p:spPr>
          <a:xfrm>
            <a:off x="276225" y="3816857"/>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30" name="Picture 29" descr="lock.png"/>
          <p:cNvPicPr>
            <a:picLocks noChangeAspect="1"/>
          </p:cNvPicPr>
          <p:nvPr/>
        </p:nvPicPr>
        <p:blipFill>
          <a:blip r:embed="rId4"/>
          <a:stretch>
            <a:fillRect/>
          </a:stretch>
        </p:blipFill>
        <p:spPr>
          <a:xfrm>
            <a:off x="1280285" y="3806634"/>
            <a:ext cx="134549" cy="195707"/>
          </a:xfrm>
          <a:prstGeom prst="rect">
            <a:avLst/>
          </a:prstGeom>
        </p:spPr>
      </p:pic>
      <p:sp>
        <p:nvSpPr>
          <p:cNvPr id="31" name="TextBox 30"/>
          <p:cNvSpPr txBox="1"/>
          <p:nvPr/>
        </p:nvSpPr>
        <p:spPr>
          <a:xfrm>
            <a:off x="1455394" y="381685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4042898" y="3806634"/>
            <a:ext cx="134549" cy="195707"/>
          </a:xfrm>
          <a:prstGeom prst="rect">
            <a:avLst/>
          </a:prstGeom>
        </p:spPr>
      </p:pic>
      <p:sp>
        <p:nvSpPr>
          <p:cNvPr id="33" name="TextBox 32"/>
          <p:cNvSpPr txBox="1"/>
          <p:nvPr/>
        </p:nvSpPr>
        <p:spPr>
          <a:xfrm>
            <a:off x="4218008" y="381685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Compression Stage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Compression Stage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Compression Stage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FMI Lock Anchor"/>
          <p:cNvSpPr txBox="1"/>
          <p:nvPr/>
        </p:nvSpPr>
        <p:spPr>
          <a:xfrm>
            <a:off x="2678811" y="4014597"/>
            <a:ext cx="38100" cy="38100"/>
          </a:xfrm>
          <a:prstGeom prst="rect">
            <a:avLst/>
          </a:prstGeom>
          <a:noFill/>
        </p:spPr>
        <p:txBody>
          <a:bodyPr wrap="none">
            <a:spAutoFit/>
          </a:bodyPr>
          <a:lstStyle/>
          <a:p/>
        </p:txBody>
      </p:sp>
      <p:sp>
        <p:nvSpPr>
          <p:cNvPr id="12" name="FMI Legend Chip"/>
          <p:cNvSpPr/>
          <p:nvPr/>
        </p:nvSpPr>
        <p:spPr>
          <a:xfrm>
            <a:off x="4928997" y="2054553"/>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204979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97359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Multistage</a:t>
            </a:r>
          </a:p>
        </p:txBody>
      </p:sp>
      <p:sp>
        <p:nvSpPr>
          <p:cNvPr id="15" name="BPS Value 1"/>
          <p:cNvSpPr txBox="1"/>
          <p:nvPr/>
        </p:nvSpPr>
        <p:spPr>
          <a:xfrm>
            <a:off x="6896100" y="203550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FMI Legend Chip"/>
          <p:cNvSpPr/>
          <p:nvPr/>
        </p:nvSpPr>
        <p:spPr>
          <a:xfrm>
            <a:off x="4928997" y="2836003"/>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283124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75504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Single-Stage</a:t>
            </a:r>
          </a:p>
        </p:txBody>
      </p:sp>
      <p:sp>
        <p:nvSpPr>
          <p:cNvPr id="19" name="BPS Value 2"/>
          <p:cNvSpPr txBox="1"/>
          <p:nvPr/>
        </p:nvSpPr>
        <p:spPr>
          <a:xfrm>
            <a:off x="6896100" y="281695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928997" y="4738896"/>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473413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465793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Two-Stage</a:t>
            </a:r>
          </a:p>
        </p:txBody>
      </p:sp>
      <p:sp>
        <p:nvSpPr>
          <p:cNvPr id="23" name="BPS Value 3"/>
          <p:cNvSpPr txBox="1"/>
          <p:nvPr/>
        </p:nvSpPr>
        <p:spPr>
          <a:xfrm>
            <a:off x="6896100" y="471984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Rounded Rectangle 23"/>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North America Read-out, By Compression Stage</a:t>
            </a:r>
          </a:p>
        </p:txBody>
      </p:sp>
      <p:sp>
        <p:nvSpPr>
          <p:cNvPr id="26" name="Rectangle 25"/>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8" name="Rectangle 2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0" name="Picture 29" descr="lock.png"/>
          <p:cNvPicPr>
            <a:picLocks noChangeAspect="1"/>
          </p:cNvPicPr>
          <p:nvPr/>
        </p:nvPicPr>
        <p:blipFill>
          <a:blip r:embed="rId5"/>
          <a:stretch>
            <a:fillRect/>
          </a:stretch>
        </p:blipFill>
        <p:spPr>
          <a:xfrm>
            <a:off x="2557843" y="3833622"/>
            <a:ext cx="275034" cy="400050"/>
          </a:xfrm>
          <a:prstGeom prst="rect">
            <a:avLst/>
          </a:prstGeom>
        </p:spPr>
      </p:pic>
      <p:sp>
        <p:nvSpPr>
          <p:cNvPr id="31" name="TextBox 30"/>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industrial air compressor by compression stage, single-stage</a:t>
            </a:r>
          </a:p>
        </p:txBody>
      </p:sp>
      <p:sp>
        <p:nvSpPr>
          <p:cNvPr id="32" name="TextBox 31"/>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33" name="Picture 32" descr="lock.png"/>
          <p:cNvPicPr>
            <a:picLocks noChangeAspect="1"/>
          </p:cNvPicPr>
          <p:nvPr/>
        </p:nvPicPr>
        <p:blipFill>
          <a:blip r:embed="rId5"/>
          <a:stretch>
            <a:fillRect/>
          </a:stretch>
        </p:blipFill>
        <p:spPr>
          <a:xfrm>
            <a:off x="10935343" y="1565211"/>
            <a:ext cx="134549" cy="195707"/>
          </a:xfrm>
          <a:prstGeom prst="rect">
            <a:avLst/>
          </a:prstGeom>
        </p:spPr>
      </p:pic>
      <p:sp>
        <p:nvSpPr>
          <p:cNvPr id="34" name="TextBox 33"/>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35" name="TextBox 34"/>
          <p:cNvSpPr txBox="1"/>
          <p:nvPr/>
        </p:nvSpPr>
        <p:spPr>
          <a:xfrm>
            <a:off x="7829550" y="1750695"/>
            <a:ext cx="3996159" cy="194310"/>
          </a:xfrm>
          <a:prstGeom prst="rect">
            <a:avLst/>
          </a:prstGeom>
          <a:noFill/>
        </p:spPr>
        <p:txBody>
          <a:bodyPr wrap="none" lIns="0" rIns="0" tIns="0" bIns="0">
            <a:spAutoFit/>
          </a:bodyPr>
          <a:lstStyle/>
          <a:p>
            <a:r>
              <a:rPr sz="1150" b="0">
                <a:solidFill>
                  <a:srgbClr val="2E2E2E"/>
                </a:solidFill>
                <a:latin typeface="Calibri"/>
              </a:rPr>
              <a:t>forecast period. In terms of value share by compression stage, the</a:t>
            </a:r>
          </a:p>
        </p:txBody>
      </p:sp>
      <p:sp>
        <p:nvSpPr>
          <p:cNvPr id="36" name="TextBox 35"/>
          <p:cNvSpPr txBox="1"/>
          <p:nvPr/>
        </p:nvSpPr>
        <p:spPr>
          <a:xfrm>
            <a:off x="7829550" y="1925955"/>
            <a:ext cx="3871788" cy="194310"/>
          </a:xfrm>
          <a:prstGeom prst="rect">
            <a:avLst/>
          </a:prstGeom>
          <a:noFill/>
        </p:spPr>
        <p:txBody>
          <a:bodyPr wrap="none" lIns="0" rIns="0" tIns="0" bIns="0">
            <a:spAutoFit/>
          </a:bodyPr>
          <a:lstStyle/>
          <a:p>
            <a:r>
              <a:rPr sz="1150" b="0">
                <a:solidFill>
                  <a:srgbClr val="2E2E2E"/>
                </a:solidFill>
                <a:latin typeface="Calibri"/>
              </a:rPr>
              <a:t>two-stage segment is expected to dominate the market, gaining</a:t>
            </a:r>
          </a:p>
        </p:txBody>
      </p:sp>
      <p:pic>
        <p:nvPicPr>
          <p:cNvPr id="37" name="Picture 36" descr="lock.png"/>
          <p:cNvPicPr>
            <a:picLocks noChangeAspect="1"/>
          </p:cNvPicPr>
          <p:nvPr/>
        </p:nvPicPr>
        <p:blipFill>
          <a:blip r:embed="rId5"/>
          <a:stretch>
            <a:fillRect/>
          </a:stretch>
        </p:blipFill>
        <p:spPr>
          <a:xfrm>
            <a:off x="7815470" y="2090991"/>
            <a:ext cx="134549" cy="195707"/>
          </a:xfrm>
          <a:prstGeom prst="rect">
            <a:avLst/>
          </a:prstGeom>
        </p:spPr>
      </p:pic>
      <p:sp>
        <p:nvSpPr>
          <p:cNvPr id="38" name="TextBox 37"/>
          <p:cNvSpPr txBox="1"/>
          <p:nvPr/>
        </p:nvSpPr>
        <p:spPr>
          <a:xfrm>
            <a:off x="79905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9" name="Picture 38" descr="lock.png"/>
          <p:cNvPicPr>
            <a:picLocks noChangeAspect="1"/>
          </p:cNvPicPr>
          <p:nvPr/>
        </p:nvPicPr>
        <p:blipFill>
          <a:blip r:embed="rId5"/>
          <a:stretch>
            <a:fillRect/>
          </a:stretch>
        </p:blipFill>
        <p:spPr>
          <a:xfrm>
            <a:off x="9385722" y="2090991"/>
            <a:ext cx="134549" cy="195707"/>
          </a:xfrm>
          <a:prstGeom prst="rect">
            <a:avLst/>
          </a:prstGeom>
        </p:spPr>
      </p:pic>
      <p:sp>
        <p:nvSpPr>
          <p:cNvPr id="40" name="TextBox 39"/>
          <p:cNvSpPr txBox="1"/>
          <p:nvPr/>
        </p:nvSpPr>
        <p:spPr>
          <a:xfrm>
            <a:off x="9560832"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1" name="TextBox 40"/>
          <p:cNvSpPr txBox="1"/>
          <p:nvPr/>
        </p:nvSpPr>
        <p:spPr>
          <a:xfrm>
            <a:off x="7829550" y="2329053"/>
            <a:ext cx="2639776" cy="194310"/>
          </a:xfrm>
          <a:prstGeom prst="rect">
            <a:avLst/>
          </a:prstGeom>
          <a:noFill/>
        </p:spPr>
        <p:txBody>
          <a:bodyPr wrap="none" lIns="0" rIns="0" tIns="0" bIns="0">
            <a:spAutoFit/>
          </a:bodyPr>
          <a:lstStyle/>
          <a:p>
            <a:r>
              <a:rPr sz="1150" b="0">
                <a:solidFill>
                  <a:srgbClr val="2E2E2E"/>
                </a:solidFill>
                <a:latin typeface="Calibri"/>
              </a:rPr>
              <a:t>The multistage segment is expected to lose</a:t>
            </a:r>
          </a:p>
        </p:txBody>
      </p:sp>
      <p:pic>
        <p:nvPicPr>
          <p:cNvPr id="42" name="Picture 41" descr="lock.png"/>
          <p:cNvPicPr>
            <a:picLocks noChangeAspect="1"/>
          </p:cNvPicPr>
          <p:nvPr/>
        </p:nvPicPr>
        <p:blipFill>
          <a:blip r:embed="rId5"/>
          <a:stretch>
            <a:fillRect/>
          </a:stretch>
        </p:blipFill>
        <p:spPr>
          <a:xfrm>
            <a:off x="10418480" y="2318829"/>
            <a:ext cx="134549" cy="195707"/>
          </a:xfrm>
          <a:prstGeom prst="rect">
            <a:avLst/>
          </a:prstGeom>
        </p:spPr>
      </p:pic>
      <p:sp>
        <p:nvSpPr>
          <p:cNvPr id="43" name="TextBox 42"/>
          <p:cNvSpPr txBox="1"/>
          <p:nvPr/>
        </p:nvSpPr>
        <p:spPr>
          <a:xfrm>
            <a:off x="10593590"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44" name="TextBox 43"/>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45" name="Picture 44" descr="lock.png"/>
          <p:cNvPicPr>
            <a:picLocks noChangeAspect="1"/>
          </p:cNvPicPr>
          <p:nvPr/>
        </p:nvPicPr>
        <p:blipFill>
          <a:blip r:embed="rId5"/>
          <a:stretch>
            <a:fillRect/>
          </a:stretch>
        </p:blipFill>
        <p:spPr>
          <a:xfrm>
            <a:off x="9630324" y="2494089"/>
            <a:ext cx="134549" cy="195707"/>
          </a:xfrm>
          <a:prstGeom prst="rect">
            <a:avLst/>
          </a:prstGeom>
        </p:spPr>
      </p:pic>
      <p:sp>
        <p:nvSpPr>
          <p:cNvPr id="46" name="TextBox 45"/>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7"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10.4</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End Use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 Use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End Use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7 sub-segments of End Use,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End Use segment categorizes the market by end use.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330779"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330779"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Industrial Air Separation</a:t>
            </a:r>
          </a:p>
        </p:txBody>
      </p:sp>
      <p:sp>
        <p:nvSpPr>
          <p:cNvPr id="19" name="Rectangle 18"/>
          <p:cNvSpPr/>
          <p:nvPr/>
        </p:nvSpPr>
        <p:spPr>
          <a:xfrm>
            <a:off x="1866900"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37036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311979" y="1773916"/>
            <a:ext cx="1330779"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11979" y="1992961"/>
            <a:ext cx="1330779"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50079"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Mining and Metals</a:t>
            </a:r>
          </a:p>
        </p:txBody>
      </p:sp>
      <p:sp>
        <p:nvSpPr>
          <p:cNvPr id="26" name="Rectangle 25"/>
          <p:cNvSpPr/>
          <p:nvPr/>
        </p:nvSpPr>
        <p:spPr>
          <a:xfrm>
            <a:off x="3311979"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311979"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311979"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3815443"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4757057" y="1773916"/>
            <a:ext cx="1330779"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757057" y="1992961"/>
            <a:ext cx="1330779"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95157"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Manufacturing</a:t>
            </a:r>
          </a:p>
        </p:txBody>
      </p:sp>
      <p:sp>
        <p:nvSpPr>
          <p:cNvPr id="33" name="Rectangle 32"/>
          <p:cNvSpPr/>
          <p:nvPr/>
        </p:nvSpPr>
        <p:spPr>
          <a:xfrm>
            <a:off x="4757057"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4757057"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4757057"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5260521"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6202136" y="1773916"/>
            <a:ext cx="1330779"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02136" y="1992961"/>
            <a:ext cx="1330779"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40236"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Automotive and Transportation</a:t>
            </a:r>
          </a:p>
        </p:txBody>
      </p:sp>
      <p:sp>
        <p:nvSpPr>
          <p:cNvPr id="40" name="Rectangle 39"/>
          <p:cNvSpPr/>
          <p:nvPr/>
        </p:nvSpPr>
        <p:spPr>
          <a:xfrm>
            <a:off x="6202136"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6202136"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6202136"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670560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7647214" y="1773916"/>
            <a:ext cx="1330779"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647214" y="1992961"/>
            <a:ext cx="1330779"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85314"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Oil and Gas</a:t>
            </a:r>
          </a:p>
        </p:txBody>
      </p:sp>
      <p:sp>
        <p:nvSpPr>
          <p:cNvPr id="47" name="Rectangle 46"/>
          <p:cNvSpPr/>
          <p:nvPr/>
        </p:nvSpPr>
        <p:spPr>
          <a:xfrm>
            <a:off x="7647214"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7647214"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7647214"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815067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9092293" y="1773916"/>
            <a:ext cx="1330779"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092293" y="1992961"/>
            <a:ext cx="1330779"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130393"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Pharmaceuticals</a:t>
            </a:r>
          </a:p>
        </p:txBody>
      </p:sp>
      <p:sp>
        <p:nvSpPr>
          <p:cNvPr id="54" name="Rectangle 53"/>
          <p:cNvSpPr/>
          <p:nvPr/>
        </p:nvSpPr>
        <p:spPr>
          <a:xfrm>
            <a:off x="9092293"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5" name="Rectangle 54"/>
          <p:cNvSpPr/>
          <p:nvPr/>
        </p:nvSpPr>
        <p:spPr>
          <a:xfrm>
            <a:off x="9092293"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6" name="Rectangle 55"/>
          <p:cNvSpPr/>
          <p:nvPr/>
        </p:nvSpPr>
        <p:spPr>
          <a:xfrm>
            <a:off x="9092293"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7" name="Oval 56"/>
          <p:cNvSpPr/>
          <p:nvPr/>
        </p:nvSpPr>
        <p:spPr>
          <a:xfrm>
            <a:off x="9595757"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58" name="Rounded Rectangle 57"/>
          <p:cNvSpPr/>
          <p:nvPr/>
        </p:nvSpPr>
        <p:spPr>
          <a:xfrm>
            <a:off x="10537371" y="1773916"/>
            <a:ext cx="1330779"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537371" y="1992961"/>
            <a:ext cx="1330779"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575471"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Food and Beverages</a:t>
            </a:r>
          </a:p>
        </p:txBody>
      </p:sp>
      <p:sp>
        <p:nvSpPr>
          <p:cNvPr id="61" name="Rectangle 60"/>
          <p:cNvSpPr/>
          <p:nvPr/>
        </p:nvSpPr>
        <p:spPr>
          <a:xfrm>
            <a:off x="10537371"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2" name="Rectangle 61"/>
          <p:cNvSpPr/>
          <p:nvPr/>
        </p:nvSpPr>
        <p:spPr>
          <a:xfrm>
            <a:off x="10537371"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3" name="Rectangle 62"/>
          <p:cNvSpPr/>
          <p:nvPr/>
        </p:nvSpPr>
        <p:spPr>
          <a:xfrm>
            <a:off x="10537371"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4" name="Oval 63"/>
          <p:cNvSpPr/>
          <p:nvPr/>
        </p:nvSpPr>
        <p:spPr>
          <a:xfrm>
            <a:off x="11040836"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65" name="Rounded Rectangle 6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7" name="Rectangle 66"/>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9" name="Rounded Rectangle 6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71" name="Rectangle 70"/>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p:txBody>
      </p:sp>
      <p:sp>
        <p:nvSpPr>
          <p:cNvPr id="73" name="Rounded Rectangle 7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5" name="Rectangle 74"/>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End Use split shows how demand is distributed across end use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77" name="Rectangle 7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9" name="TextBox 78"/>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80" name="Rectangle 7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82" name="Picture 81" descr="905_4_605E5C.png"/>
          <p:cNvPicPr>
            <a:picLocks noChangeAspect="1"/>
          </p:cNvPicPr>
          <p:nvPr/>
        </p:nvPicPr>
        <p:blipFill>
          <a:blip r:embed="rId4"/>
          <a:stretch>
            <a:fillRect/>
          </a:stretch>
        </p:blipFill>
        <p:spPr>
          <a:xfrm>
            <a:off x="1934425" y="2286582"/>
            <a:ext cx="1195728" cy="361950"/>
          </a:xfrm>
          <a:prstGeom prst="rect">
            <a:avLst/>
          </a:prstGeom>
        </p:spPr>
      </p:pic>
      <p:pic>
        <p:nvPicPr>
          <p:cNvPr id="83" name="Picture 82" descr="1_710_605E5C.png"/>
          <p:cNvPicPr>
            <a:picLocks noChangeAspect="1"/>
          </p:cNvPicPr>
          <p:nvPr/>
        </p:nvPicPr>
        <p:blipFill>
          <a:blip r:embed="rId5"/>
          <a:stretch>
            <a:fillRect/>
          </a:stretch>
        </p:blipFill>
        <p:spPr>
          <a:xfrm>
            <a:off x="1934425" y="2779432"/>
            <a:ext cx="1195728" cy="361950"/>
          </a:xfrm>
          <a:prstGeom prst="rect">
            <a:avLst/>
          </a:prstGeom>
        </p:spPr>
      </p:pic>
      <p:pic>
        <p:nvPicPr>
          <p:cNvPr id="84" name="Picture 83" descr="6_6__605E5C.png"/>
          <p:cNvPicPr>
            <a:picLocks noChangeAspect="1"/>
          </p:cNvPicPr>
          <p:nvPr/>
        </p:nvPicPr>
        <p:blipFill>
          <a:blip r:embed="rId6"/>
          <a:stretch>
            <a:fillRect/>
          </a:stretch>
        </p:blipFill>
        <p:spPr>
          <a:xfrm>
            <a:off x="2041071" y="3272281"/>
            <a:ext cx="982436" cy="361950"/>
          </a:xfrm>
          <a:prstGeom prst="rect">
            <a:avLst/>
          </a:prstGeom>
        </p:spPr>
      </p:pic>
      <p:pic>
        <p:nvPicPr>
          <p:cNvPr id="85" name="Picture 84" descr="889_6_605E5C.png"/>
          <p:cNvPicPr>
            <a:picLocks noChangeAspect="1"/>
          </p:cNvPicPr>
          <p:nvPr/>
        </p:nvPicPr>
        <p:blipFill>
          <a:blip r:embed="rId7"/>
          <a:stretch>
            <a:fillRect/>
          </a:stretch>
        </p:blipFill>
        <p:spPr>
          <a:xfrm>
            <a:off x="3379504" y="2286582"/>
            <a:ext cx="1195728" cy="361950"/>
          </a:xfrm>
          <a:prstGeom prst="rect">
            <a:avLst/>
          </a:prstGeom>
        </p:spPr>
      </p:pic>
      <p:pic>
        <p:nvPicPr>
          <p:cNvPr id="86" name="Picture 85" descr="1_172_605E5C.png"/>
          <p:cNvPicPr>
            <a:picLocks noChangeAspect="1"/>
          </p:cNvPicPr>
          <p:nvPr/>
        </p:nvPicPr>
        <p:blipFill>
          <a:blip r:embed="rId8"/>
          <a:stretch>
            <a:fillRect/>
          </a:stretch>
        </p:blipFill>
        <p:spPr>
          <a:xfrm>
            <a:off x="3379504" y="2779432"/>
            <a:ext cx="1195728" cy="361950"/>
          </a:xfrm>
          <a:prstGeom prst="rect">
            <a:avLst/>
          </a:prstGeom>
        </p:spPr>
      </p:pic>
      <p:pic>
        <p:nvPicPr>
          <p:cNvPr id="87" name="Picture 86" descr="2_8__605E5C.png"/>
          <p:cNvPicPr>
            <a:picLocks noChangeAspect="1"/>
          </p:cNvPicPr>
          <p:nvPr/>
        </p:nvPicPr>
        <p:blipFill>
          <a:blip r:embed="rId9"/>
          <a:stretch>
            <a:fillRect/>
          </a:stretch>
        </p:blipFill>
        <p:spPr>
          <a:xfrm>
            <a:off x="3486150" y="3272281"/>
            <a:ext cx="982436" cy="361950"/>
          </a:xfrm>
          <a:prstGeom prst="rect">
            <a:avLst/>
          </a:prstGeom>
        </p:spPr>
      </p:pic>
      <p:pic>
        <p:nvPicPr>
          <p:cNvPr id="88" name="Picture 87" descr="723_1_605E5C.png"/>
          <p:cNvPicPr>
            <a:picLocks noChangeAspect="1"/>
          </p:cNvPicPr>
          <p:nvPr/>
        </p:nvPicPr>
        <p:blipFill>
          <a:blip r:embed="rId10"/>
          <a:stretch>
            <a:fillRect/>
          </a:stretch>
        </p:blipFill>
        <p:spPr>
          <a:xfrm>
            <a:off x="4824582" y="2286582"/>
            <a:ext cx="1195728" cy="361950"/>
          </a:xfrm>
          <a:prstGeom prst="rect">
            <a:avLst/>
          </a:prstGeom>
        </p:spPr>
      </p:pic>
      <p:pic>
        <p:nvPicPr>
          <p:cNvPr id="89" name="Picture 88" descr="1_230_605E5C.png"/>
          <p:cNvPicPr>
            <a:picLocks noChangeAspect="1"/>
          </p:cNvPicPr>
          <p:nvPr/>
        </p:nvPicPr>
        <p:blipFill>
          <a:blip r:embed="rId11"/>
          <a:stretch>
            <a:fillRect/>
          </a:stretch>
        </p:blipFill>
        <p:spPr>
          <a:xfrm>
            <a:off x="4824582" y="2779432"/>
            <a:ext cx="1195728" cy="361950"/>
          </a:xfrm>
          <a:prstGeom prst="rect">
            <a:avLst/>
          </a:prstGeom>
        </p:spPr>
      </p:pic>
      <p:pic>
        <p:nvPicPr>
          <p:cNvPr id="90" name="Picture 89" descr="5_5__605E5C.png"/>
          <p:cNvPicPr>
            <a:picLocks noChangeAspect="1"/>
          </p:cNvPicPr>
          <p:nvPr/>
        </p:nvPicPr>
        <p:blipFill>
          <a:blip r:embed="rId12"/>
          <a:stretch>
            <a:fillRect/>
          </a:stretch>
        </p:blipFill>
        <p:spPr>
          <a:xfrm>
            <a:off x="4931228" y="3272281"/>
            <a:ext cx="982436" cy="361950"/>
          </a:xfrm>
          <a:prstGeom prst="rect">
            <a:avLst/>
          </a:prstGeom>
        </p:spPr>
      </p:pic>
      <p:pic>
        <p:nvPicPr>
          <p:cNvPr id="91" name="Picture 90" descr="565_3_605E5C.png"/>
          <p:cNvPicPr>
            <a:picLocks noChangeAspect="1"/>
          </p:cNvPicPr>
          <p:nvPr/>
        </p:nvPicPr>
        <p:blipFill>
          <a:blip r:embed="rId13"/>
          <a:stretch>
            <a:fillRect/>
          </a:stretch>
        </p:blipFill>
        <p:spPr>
          <a:xfrm>
            <a:off x="6269661" y="2286582"/>
            <a:ext cx="1195728" cy="361950"/>
          </a:xfrm>
          <a:prstGeom prst="rect">
            <a:avLst/>
          </a:prstGeom>
        </p:spPr>
      </p:pic>
      <p:pic>
        <p:nvPicPr>
          <p:cNvPr id="92" name="Picture 91" descr="609_4_605E5C.png"/>
          <p:cNvPicPr>
            <a:picLocks noChangeAspect="1"/>
          </p:cNvPicPr>
          <p:nvPr/>
        </p:nvPicPr>
        <p:blipFill>
          <a:blip r:embed="rId14"/>
          <a:stretch>
            <a:fillRect/>
          </a:stretch>
        </p:blipFill>
        <p:spPr>
          <a:xfrm>
            <a:off x="6269661" y="2779432"/>
            <a:ext cx="1195728" cy="361950"/>
          </a:xfrm>
          <a:prstGeom prst="rect">
            <a:avLst/>
          </a:prstGeom>
        </p:spPr>
      </p:pic>
      <p:pic>
        <p:nvPicPr>
          <p:cNvPr id="93" name="Picture 92" descr="0_8__605E5C.png"/>
          <p:cNvPicPr>
            <a:picLocks noChangeAspect="1"/>
          </p:cNvPicPr>
          <p:nvPr/>
        </p:nvPicPr>
        <p:blipFill>
          <a:blip r:embed="rId15"/>
          <a:stretch>
            <a:fillRect/>
          </a:stretch>
        </p:blipFill>
        <p:spPr>
          <a:xfrm>
            <a:off x="6376307" y="3272281"/>
            <a:ext cx="982436" cy="361950"/>
          </a:xfrm>
          <a:prstGeom prst="rect">
            <a:avLst/>
          </a:prstGeom>
        </p:spPr>
      </p:pic>
      <p:pic>
        <p:nvPicPr>
          <p:cNvPr id="94" name="Picture 93" descr="531_1_605E5C.png"/>
          <p:cNvPicPr>
            <a:picLocks noChangeAspect="1"/>
          </p:cNvPicPr>
          <p:nvPr/>
        </p:nvPicPr>
        <p:blipFill>
          <a:blip r:embed="rId16"/>
          <a:stretch>
            <a:fillRect/>
          </a:stretch>
        </p:blipFill>
        <p:spPr>
          <a:xfrm>
            <a:off x="7714739" y="2286582"/>
            <a:ext cx="1195728" cy="361950"/>
          </a:xfrm>
          <a:prstGeom prst="rect">
            <a:avLst/>
          </a:prstGeom>
        </p:spPr>
      </p:pic>
      <p:pic>
        <p:nvPicPr>
          <p:cNvPr id="95" name="Picture 94" descr="920_0_605E5C.png"/>
          <p:cNvPicPr>
            <a:picLocks noChangeAspect="1"/>
          </p:cNvPicPr>
          <p:nvPr/>
        </p:nvPicPr>
        <p:blipFill>
          <a:blip r:embed="rId17"/>
          <a:stretch>
            <a:fillRect/>
          </a:stretch>
        </p:blipFill>
        <p:spPr>
          <a:xfrm>
            <a:off x="7714739" y="2779432"/>
            <a:ext cx="1195728" cy="361950"/>
          </a:xfrm>
          <a:prstGeom prst="rect">
            <a:avLst/>
          </a:prstGeom>
        </p:spPr>
      </p:pic>
      <p:pic>
        <p:nvPicPr>
          <p:cNvPr id="96" name="Picture 95" descr="5_6__605E5C.png"/>
          <p:cNvPicPr>
            <a:picLocks noChangeAspect="1"/>
          </p:cNvPicPr>
          <p:nvPr/>
        </p:nvPicPr>
        <p:blipFill>
          <a:blip r:embed="rId18"/>
          <a:stretch>
            <a:fillRect/>
          </a:stretch>
        </p:blipFill>
        <p:spPr>
          <a:xfrm>
            <a:off x="7821385" y="3272281"/>
            <a:ext cx="982436" cy="361950"/>
          </a:xfrm>
          <a:prstGeom prst="rect">
            <a:avLst/>
          </a:prstGeom>
        </p:spPr>
      </p:pic>
      <p:pic>
        <p:nvPicPr>
          <p:cNvPr id="97" name="Picture 96" descr="424_2_605E5C.png"/>
          <p:cNvPicPr>
            <a:picLocks noChangeAspect="1"/>
          </p:cNvPicPr>
          <p:nvPr/>
        </p:nvPicPr>
        <p:blipFill>
          <a:blip r:embed="rId19"/>
          <a:stretch>
            <a:fillRect/>
          </a:stretch>
        </p:blipFill>
        <p:spPr>
          <a:xfrm>
            <a:off x="9159818" y="2286582"/>
            <a:ext cx="1195728" cy="361950"/>
          </a:xfrm>
          <a:prstGeom prst="rect">
            <a:avLst/>
          </a:prstGeom>
        </p:spPr>
      </p:pic>
      <p:pic>
        <p:nvPicPr>
          <p:cNvPr id="98" name="Picture 97" descr="559_1_605E5C.png"/>
          <p:cNvPicPr>
            <a:picLocks noChangeAspect="1"/>
          </p:cNvPicPr>
          <p:nvPr/>
        </p:nvPicPr>
        <p:blipFill>
          <a:blip r:embed="rId20"/>
          <a:stretch>
            <a:fillRect/>
          </a:stretch>
        </p:blipFill>
        <p:spPr>
          <a:xfrm>
            <a:off x="9159818" y="2779432"/>
            <a:ext cx="1195728" cy="361950"/>
          </a:xfrm>
          <a:prstGeom prst="rect">
            <a:avLst/>
          </a:prstGeom>
        </p:spPr>
      </p:pic>
      <p:pic>
        <p:nvPicPr>
          <p:cNvPr id="99" name="Picture 98" descr="2_8__605E5C.png"/>
          <p:cNvPicPr>
            <a:picLocks noChangeAspect="1"/>
          </p:cNvPicPr>
          <p:nvPr/>
        </p:nvPicPr>
        <p:blipFill>
          <a:blip r:embed="rId9"/>
          <a:stretch>
            <a:fillRect/>
          </a:stretch>
        </p:blipFill>
        <p:spPr>
          <a:xfrm>
            <a:off x="9266464" y="3272281"/>
            <a:ext cx="982436" cy="361950"/>
          </a:xfrm>
          <a:prstGeom prst="rect">
            <a:avLst/>
          </a:prstGeom>
        </p:spPr>
      </p:pic>
      <p:pic>
        <p:nvPicPr>
          <p:cNvPr id="100" name="Picture 99" descr="277_9_605E5C.png"/>
          <p:cNvPicPr>
            <a:picLocks noChangeAspect="1"/>
          </p:cNvPicPr>
          <p:nvPr/>
        </p:nvPicPr>
        <p:blipFill>
          <a:blip r:embed="rId21"/>
          <a:stretch>
            <a:fillRect/>
          </a:stretch>
        </p:blipFill>
        <p:spPr>
          <a:xfrm>
            <a:off x="10604896" y="2286582"/>
            <a:ext cx="1195728" cy="361950"/>
          </a:xfrm>
          <a:prstGeom prst="rect">
            <a:avLst/>
          </a:prstGeom>
        </p:spPr>
      </p:pic>
      <p:pic>
        <p:nvPicPr>
          <p:cNvPr id="101" name="Picture 100" descr="328_4_605E5C.png"/>
          <p:cNvPicPr>
            <a:picLocks noChangeAspect="1"/>
          </p:cNvPicPr>
          <p:nvPr/>
        </p:nvPicPr>
        <p:blipFill>
          <a:blip r:embed="rId22"/>
          <a:stretch>
            <a:fillRect/>
          </a:stretch>
        </p:blipFill>
        <p:spPr>
          <a:xfrm>
            <a:off x="10604896" y="2779432"/>
            <a:ext cx="1195728" cy="361950"/>
          </a:xfrm>
          <a:prstGeom prst="rect">
            <a:avLst/>
          </a:prstGeom>
        </p:spPr>
      </p:pic>
      <p:pic>
        <p:nvPicPr>
          <p:cNvPr id="102" name="Picture 101" descr="1_7__605E5C.png"/>
          <p:cNvPicPr>
            <a:picLocks noChangeAspect="1"/>
          </p:cNvPicPr>
          <p:nvPr/>
        </p:nvPicPr>
        <p:blipFill>
          <a:blip r:embed="rId23"/>
          <a:stretch>
            <a:fillRect/>
          </a:stretch>
        </p:blipFill>
        <p:spPr>
          <a:xfrm>
            <a:off x="10711542" y="3272281"/>
            <a:ext cx="982436" cy="361950"/>
          </a:xfrm>
          <a:prstGeom prst="rect">
            <a:avLst/>
          </a:prstGeom>
        </p:spPr>
      </p:pic>
      <p:pic>
        <p:nvPicPr>
          <p:cNvPr id="103" name="Picture 102" descr="lock.png"/>
          <p:cNvPicPr>
            <a:picLocks noChangeAspect="1"/>
          </p:cNvPicPr>
          <p:nvPr/>
        </p:nvPicPr>
        <p:blipFill>
          <a:blip r:embed="rId24"/>
          <a:stretch>
            <a:fillRect/>
          </a:stretch>
        </p:blipFill>
        <p:spPr>
          <a:xfrm>
            <a:off x="2438944" y="2827057"/>
            <a:ext cx="183356" cy="266700"/>
          </a:xfrm>
          <a:prstGeom prst="rect">
            <a:avLst/>
          </a:prstGeom>
        </p:spPr>
      </p:pic>
      <p:pic>
        <p:nvPicPr>
          <p:cNvPr id="104" name="Picture 103" descr="lock.png"/>
          <p:cNvPicPr>
            <a:picLocks noChangeAspect="1"/>
          </p:cNvPicPr>
          <p:nvPr/>
        </p:nvPicPr>
        <p:blipFill>
          <a:blip r:embed="rId24"/>
          <a:stretch>
            <a:fillRect/>
          </a:stretch>
        </p:blipFill>
        <p:spPr>
          <a:xfrm>
            <a:off x="3884023" y="2827057"/>
            <a:ext cx="183356" cy="266700"/>
          </a:xfrm>
          <a:prstGeom prst="rect">
            <a:avLst/>
          </a:prstGeom>
        </p:spPr>
      </p:pic>
      <p:pic>
        <p:nvPicPr>
          <p:cNvPr id="105" name="Picture 104" descr="lock.png"/>
          <p:cNvPicPr>
            <a:picLocks noChangeAspect="1"/>
          </p:cNvPicPr>
          <p:nvPr/>
        </p:nvPicPr>
        <p:blipFill>
          <a:blip r:embed="rId24"/>
          <a:stretch>
            <a:fillRect/>
          </a:stretch>
        </p:blipFill>
        <p:spPr>
          <a:xfrm>
            <a:off x="5329101" y="2827057"/>
            <a:ext cx="183356" cy="266700"/>
          </a:xfrm>
          <a:prstGeom prst="rect">
            <a:avLst/>
          </a:prstGeom>
        </p:spPr>
      </p:pic>
      <p:pic>
        <p:nvPicPr>
          <p:cNvPr id="106" name="Picture 105" descr="lock.png"/>
          <p:cNvPicPr>
            <a:picLocks noChangeAspect="1"/>
          </p:cNvPicPr>
          <p:nvPr/>
        </p:nvPicPr>
        <p:blipFill>
          <a:blip r:embed="rId24"/>
          <a:stretch>
            <a:fillRect/>
          </a:stretch>
        </p:blipFill>
        <p:spPr>
          <a:xfrm>
            <a:off x="6774180" y="2827057"/>
            <a:ext cx="183356" cy="266700"/>
          </a:xfrm>
          <a:prstGeom prst="rect">
            <a:avLst/>
          </a:prstGeom>
        </p:spPr>
      </p:pic>
      <p:pic>
        <p:nvPicPr>
          <p:cNvPr id="107" name="Picture 106" descr="lock.png"/>
          <p:cNvPicPr>
            <a:picLocks noChangeAspect="1"/>
          </p:cNvPicPr>
          <p:nvPr/>
        </p:nvPicPr>
        <p:blipFill>
          <a:blip r:embed="rId24"/>
          <a:stretch>
            <a:fillRect/>
          </a:stretch>
        </p:blipFill>
        <p:spPr>
          <a:xfrm>
            <a:off x="8219258" y="2827057"/>
            <a:ext cx="183356" cy="266700"/>
          </a:xfrm>
          <a:prstGeom prst="rect">
            <a:avLst/>
          </a:prstGeom>
        </p:spPr>
      </p:pic>
      <p:pic>
        <p:nvPicPr>
          <p:cNvPr id="108" name="Picture 107" descr="lock.png"/>
          <p:cNvPicPr>
            <a:picLocks noChangeAspect="1"/>
          </p:cNvPicPr>
          <p:nvPr/>
        </p:nvPicPr>
        <p:blipFill>
          <a:blip r:embed="rId24"/>
          <a:stretch>
            <a:fillRect/>
          </a:stretch>
        </p:blipFill>
        <p:spPr>
          <a:xfrm>
            <a:off x="9664337" y="2827057"/>
            <a:ext cx="183356" cy="266700"/>
          </a:xfrm>
          <a:prstGeom prst="rect">
            <a:avLst/>
          </a:prstGeom>
        </p:spPr>
      </p:pic>
      <p:pic>
        <p:nvPicPr>
          <p:cNvPr id="109" name="Picture 108" descr="lock.png"/>
          <p:cNvPicPr>
            <a:picLocks noChangeAspect="1"/>
          </p:cNvPicPr>
          <p:nvPr/>
        </p:nvPicPr>
        <p:blipFill>
          <a:blip r:embed="rId24"/>
          <a:stretch>
            <a:fillRect/>
          </a:stretch>
        </p:blipFill>
        <p:spPr>
          <a:xfrm>
            <a:off x="11109415" y="2827057"/>
            <a:ext cx="183356" cy="266700"/>
          </a:xfrm>
          <a:prstGeom prst="rect">
            <a:avLst/>
          </a:prstGeom>
        </p:spPr>
      </p:pic>
      <p:sp>
        <p:nvSpPr>
          <p:cNvPr id="110" name="TextBox 109"/>
          <p:cNvSpPr txBox="1"/>
          <p:nvPr/>
        </p:nvSpPr>
        <p:spPr>
          <a:xfrm>
            <a:off x="485775" y="4229437"/>
            <a:ext cx="2606625" cy="186689"/>
          </a:xfrm>
          <a:prstGeom prst="rect">
            <a:avLst/>
          </a:prstGeom>
          <a:noFill/>
        </p:spPr>
        <p:txBody>
          <a:bodyPr wrap="none" lIns="0" rIns="0" tIns="0" bIns="0">
            <a:spAutoFit/>
          </a:bodyPr>
          <a:lstStyle/>
          <a:p>
            <a:r>
              <a:rPr sz="1100" b="0">
                <a:solidFill>
                  <a:srgbClr val="2E2E2E"/>
                </a:solidFill>
                <a:latin typeface="Calibri"/>
              </a:rPr>
              <a:t>Among industrial air compressor by end use,</a:t>
            </a:r>
          </a:p>
        </p:txBody>
      </p:sp>
      <p:sp>
        <p:nvSpPr>
          <p:cNvPr id="111" name="TextBox 110"/>
          <p:cNvSpPr txBox="1"/>
          <p:nvPr/>
        </p:nvSpPr>
        <p:spPr>
          <a:xfrm>
            <a:off x="485775" y="4397077"/>
            <a:ext cx="2775247" cy="186689"/>
          </a:xfrm>
          <a:prstGeom prst="rect">
            <a:avLst/>
          </a:prstGeom>
          <a:noFill/>
        </p:spPr>
        <p:txBody>
          <a:bodyPr wrap="none" lIns="0" rIns="0" tIns="0" bIns="0">
            <a:spAutoFit/>
          </a:bodyPr>
          <a:lstStyle/>
          <a:p>
            <a:r>
              <a:rPr sz="1100" b="0">
                <a:solidFill>
                  <a:srgbClr val="2E2E2E"/>
                </a:solidFill>
                <a:latin typeface="Calibri"/>
              </a:rPr>
              <a:t>industrial air separation segment is expected to</a:t>
            </a:r>
          </a:p>
        </p:txBody>
      </p:sp>
      <p:sp>
        <p:nvSpPr>
          <p:cNvPr id="112" name="TextBox 111"/>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113" name="Picture 112" descr="lock.png"/>
          <p:cNvPicPr>
            <a:picLocks noChangeAspect="1"/>
          </p:cNvPicPr>
          <p:nvPr/>
        </p:nvPicPr>
        <p:blipFill>
          <a:blip r:embed="rId24"/>
          <a:stretch>
            <a:fillRect/>
          </a:stretch>
        </p:blipFill>
        <p:spPr>
          <a:xfrm>
            <a:off x="2108919" y="4554938"/>
            <a:ext cx="128699" cy="187198"/>
          </a:xfrm>
          <a:prstGeom prst="rect">
            <a:avLst/>
          </a:prstGeom>
        </p:spPr>
      </p:pic>
      <p:sp>
        <p:nvSpPr>
          <p:cNvPr id="114" name="TextBox 113"/>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115" name="TextBox 114"/>
          <p:cNvSpPr txBox="1"/>
          <p:nvPr/>
        </p:nvSpPr>
        <p:spPr>
          <a:xfrm>
            <a:off x="485775" y="4732357"/>
            <a:ext cx="2717403" cy="186689"/>
          </a:xfrm>
          <a:prstGeom prst="rect">
            <a:avLst/>
          </a:prstGeom>
          <a:noFill/>
        </p:spPr>
        <p:txBody>
          <a:bodyPr wrap="none" lIns="0" rIns="0" tIns="0" bIns="0">
            <a:spAutoFit/>
          </a:bodyPr>
          <a:lstStyle/>
          <a:p>
            <a:r>
              <a:rPr sz="1100" b="0">
                <a:solidFill>
                  <a:srgbClr val="2E2E2E"/>
                </a:solidFill>
                <a:latin typeface="Calibri"/>
              </a:rPr>
              <a:t>period. In terms of value share by end use, the</a:t>
            </a:r>
          </a:p>
        </p:txBody>
      </p:sp>
      <p:sp>
        <p:nvSpPr>
          <p:cNvPr id="116" name="TextBox 115"/>
          <p:cNvSpPr txBox="1"/>
          <p:nvPr/>
        </p:nvSpPr>
        <p:spPr>
          <a:xfrm>
            <a:off x="485775" y="4899997"/>
            <a:ext cx="2775247" cy="186689"/>
          </a:xfrm>
          <a:prstGeom prst="rect">
            <a:avLst/>
          </a:prstGeom>
          <a:noFill/>
        </p:spPr>
        <p:txBody>
          <a:bodyPr wrap="none" lIns="0" rIns="0" tIns="0" bIns="0">
            <a:spAutoFit/>
          </a:bodyPr>
          <a:lstStyle/>
          <a:p>
            <a:r>
              <a:rPr sz="1100" b="0">
                <a:solidFill>
                  <a:srgbClr val="2E2E2E"/>
                </a:solidFill>
                <a:latin typeface="Calibri"/>
              </a:rPr>
              <a:t>industrial air separation segment is expected to</a:t>
            </a:r>
          </a:p>
        </p:txBody>
      </p:sp>
      <p:sp>
        <p:nvSpPr>
          <p:cNvPr id="117" name="TextBox 116"/>
          <p:cNvSpPr txBox="1"/>
          <p:nvPr/>
        </p:nvSpPr>
        <p:spPr>
          <a:xfrm>
            <a:off x="485775" y="506763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118" name="Picture 117" descr="lock.png"/>
          <p:cNvPicPr>
            <a:picLocks noChangeAspect="1"/>
          </p:cNvPicPr>
          <p:nvPr/>
        </p:nvPicPr>
        <p:blipFill>
          <a:blip r:embed="rId24"/>
          <a:stretch>
            <a:fillRect/>
          </a:stretch>
        </p:blipFill>
        <p:spPr>
          <a:xfrm>
            <a:off x="2194339" y="5057858"/>
            <a:ext cx="128699" cy="187198"/>
          </a:xfrm>
          <a:prstGeom prst="rect">
            <a:avLst/>
          </a:prstGeom>
        </p:spPr>
      </p:pic>
      <p:sp>
        <p:nvSpPr>
          <p:cNvPr id="119" name="TextBox 118"/>
          <p:cNvSpPr txBox="1"/>
          <p:nvPr/>
        </p:nvSpPr>
        <p:spPr>
          <a:xfrm>
            <a:off x="2361835"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20" name="TextBox 119"/>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21" name="Picture 120" descr="lock.png"/>
          <p:cNvPicPr>
            <a:picLocks noChangeAspect="1"/>
          </p:cNvPicPr>
          <p:nvPr/>
        </p:nvPicPr>
        <p:blipFill>
          <a:blip r:embed="rId24"/>
          <a:stretch>
            <a:fillRect/>
          </a:stretch>
        </p:blipFill>
        <p:spPr>
          <a:xfrm>
            <a:off x="1330764" y="5225498"/>
            <a:ext cx="128699" cy="187198"/>
          </a:xfrm>
          <a:prstGeom prst="rect">
            <a:avLst/>
          </a:prstGeom>
        </p:spPr>
      </p:pic>
      <p:sp>
        <p:nvSpPr>
          <p:cNvPr id="122" name="TextBox 121"/>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23" name="TextBox 122"/>
          <p:cNvSpPr txBox="1"/>
          <p:nvPr/>
        </p:nvSpPr>
        <p:spPr>
          <a:xfrm>
            <a:off x="485775" y="5453209"/>
            <a:ext cx="2804169" cy="186689"/>
          </a:xfrm>
          <a:prstGeom prst="rect">
            <a:avLst/>
          </a:prstGeom>
          <a:noFill/>
        </p:spPr>
        <p:txBody>
          <a:bodyPr wrap="none" lIns="0" rIns="0" tIns="0" bIns="0">
            <a:spAutoFit/>
          </a:bodyPr>
          <a:lstStyle/>
          <a:p>
            <a:r>
              <a:rPr sz="1100" b="0">
                <a:solidFill>
                  <a:srgbClr val="2E2E2E"/>
                </a:solidFill>
                <a:latin typeface="Calibri"/>
              </a:rPr>
              <a:t>Industrial air separation segment is projected to</a:t>
            </a:r>
          </a:p>
        </p:txBody>
      </p:sp>
      <p:sp>
        <p:nvSpPr>
          <p:cNvPr id="124" name="TextBox 123"/>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25" name="Picture 124" descr="lock.png"/>
          <p:cNvPicPr>
            <a:picLocks noChangeAspect="1"/>
          </p:cNvPicPr>
          <p:nvPr/>
        </p:nvPicPr>
        <p:blipFill>
          <a:blip r:embed="rId24"/>
          <a:stretch>
            <a:fillRect/>
          </a:stretch>
        </p:blipFill>
        <p:spPr>
          <a:xfrm>
            <a:off x="946316" y="5611070"/>
            <a:ext cx="128699" cy="187198"/>
          </a:xfrm>
          <a:prstGeom prst="rect">
            <a:avLst/>
          </a:prstGeom>
        </p:spPr>
      </p:pic>
      <p:sp>
        <p:nvSpPr>
          <p:cNvPr id="126" name="TextBox 125"/>
          <p:cNvSpPr txBox="1"/>
          <p:nvPr/>
        </p:nvSpPr>
        <p:spPr>
          <a:xfrm>
            <a:off x="1113812" y="5620849"/>
            <a:ext cx="1516583" cy="186689"/>
          </a:xfrm>
          <a:prstGeom prst="rect">
            <a:avLst/>
          </a:prstGeom>
          <a:noFill/>
        </p:spPr>
        <p:txBody>
          <a:bodyPr wrap="none" lIns="0" rIns="0" tIns="0" bIns="0">
            <a:spAutoFit/>
          </a:bodyPr>
          <a:lstStyle/>
          <a:p>
            <a:r>
              <a:rPr sz="1100" b="0">
                <a:solidFill>
                  <a:srgbClr val="2E2E2E"/>
                </a:solidFill>
                <a:latin typeface="Calibri"/>
              </a:rPr>
              <a:t>X higher value than other</a:t>
            </a:r>
          </a:p>
        </p:txBody>
      </p:sp>
      <p:sp>
        <p:nvSpPr>
          <p:cNvPr id="127" name="TextBox 126"/>
          <p:cNvSpPr txBox="1"/>
          <p:nvPr/>
        </p:nvSpPr>
        <p:spPr>
          <a:xfrm>
            <a:off x="485775" y="5788489"/>
            <a:ext cx="1921495" cy="186689"/>
          </a:xfrm>
          <a:prstGeom prst="rect">
            <a:avLst/>
          </a:prstGeom>
          <a:noFill/>
        </p:spPr>
        <p:txBody>
          <a:bodyPr wrap="none" lIns="0" rIns="0" tIns="0" bIns="0">
            <a:spAutoFit/>
          </a:bodyPr>
          <a:lstStyle/>
          <a:p>
            <a:r>
              <a:rPr sz="1100" b="0">
                <a:solidFill>
                  <a:srgbClr val="2E2E2E"/>
                </a:solidFill>
                <a:latin typeface="Calibri"/>
              </a:rPr>
              <a:t>manufacturing segment in 2036.</a:t>
            </a:r>
          </a:p>
        </p:txBody>
      </p:sp>
      <p:sp>
        <p:nvSpPr>
          <p:cNvPr id="128" name="TextBox 127"/>
          <p:cNvSpPr txBox="1"/>
          <p:nvPr/>
        </p:nvSpPr>
        <p:spPr>
          <a:xfrm>
            <a:off x="3838575" y="4229437"/>
            <a:ext cx="1607442" cy="186689"/>
          </a:xfrm>
          <a:prstGeom prst="rect">
            <a:avLst/>
          </a:prstGeom>
          <a:noFill/>
        </p:spPr>
        <p:txBody>
          <a:bodyPr wrap="none" lIns="0" rIns="0" tIns="0" bIns="0">
            <a:spAutoFit/>
          </a:bodyPr>
          <a:lstStyle/>
          <a:p>
            <a:r>
              <a:rPr sz="1100" b="0">
                <a:solidFill>
                  <a:srgbClr val="2E2E2E"/>
                </a:solidFill>
                <a:latin typeface="Calibri"/>
              </a:rPr>
              <a:t>● Industrial Air Separation:</a:t>
            </a:r>
          </a:p>
        </p:txBody>
      </p:sp>
      <p:pic>
        <p:nvPicPr>
          <p:cNvPr id="129" name="Picture 128" descr="lock.png"/>
          <p:cNvPicPr>
            <a:picLocks noChangeAspect="1"/>
          </p:cNvPicPr>
          <p:nvPr/>
        </p:nvPicPr>
        <p:blipFill>
          <a:blip r:embed="rId24"/>
          <a:stretch>
            <a:fillRect/>
          </a:stretch>
        </p:blipFill>
        <p:spPr>
          <a:xfrm>
            <a:off x="5394069" y="4219658"/>
            <a:ext cx="128699" cy="187198"/>
          </a:xfrm>
          <a:prstGeom prst="rect">
            <a:avLst/>
          </a:prstGeom>
        </p:spPr>
      </p:pic>
      <p:sp>
        <p:nvSpPr>
          <p:cNvPr id="130" name="TextBox 129"/>
          <p:cNvSpPr txBox="1"/>
          <p:nvPr/>
        </p:nvSpPr>
        <p:spPr>
          <a:xfrm>
            <a:off x="5561565"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1" name="Picture 130" descr="lock.png"/>
          <p:cNvPicPr>
            <a:picLocks noChangeAspect="1"/>
          </p:cNvPicPr>
          <p:nvPr/>
        </p:nvPicPr>
        <p:blipFill>
          <a:blip r:embed="rId24"/>
          <a:stretch>
            <a:fillRect/>
          </a:stretch>
        </p:blipFill>
        <p:spPr>
          <a:xfrm>
            <a:off x="6421015" y="4219658"/>
            <a:ext cx="128699" cy="187198"/>
          </a:xfrm>
          <a:prstGeom prst="rect">
            <a:avLst/>
          </a:prstGeom>
        </p:spPr>
      </p:pic>
      <p:sp>
        <p:nvSpPr>
          <p:cNvPr id="132" name="TextBox 131"/>
          <p:cNvSpPr txBox="1"/>
          <p:nvPr/>
        </p:nvSpPr>
        <p:spPr>
          <a:xfrm>
            <a:off x="6588511"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33" name="TextBox 132"/>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34" name="TextBox 133"/>
          <p:cNvSpPr txBox="1"/>
          <p:nvPr/>
        </p:nvSpPr>
        <p:spPr>
          <a:xfrm>
            <a:off x="3838575" y="4615009"/>
            <a:ext cx="1292572" cy="186689"/>
          </a:xfrm>
          <a:prstGeom prst="rect">
            <a:avLst/>
          </a:prstGeom>
          <a:noFill/>
        </p:spPr>
        <p:txBody>
          <a:bodyPr wrap="none" lIns="0" rIns="0" tIns="0" bIns="0">
            <a:spAutoFit/>
          </a:bodyPr>
          <a:lstStyle/>
          <a:p>
            <a:r>
              <a:rPr sz="1100" b="0">
                <a:solidFill>
                  <a:srgbClr val="2E2E2E"/>
                </a:solidFill>
                <a:latin typeface="Calibri"/>
              </a:rPr>
              <a:t>● Mining and Metals:</a:t>
            </a:r>
          </a:p>
        </p:txBody>
      </p:sp>
      <p:pic>
        <p:nvPicPr>
          <p:cNvPr id="135" name="Picture 134" descr="lock.png"/>
          <p:cNvPicPr>
            <a:picLocks noChangeAspect="1"/>
          </p:cNvPicPr>
          <p:nvPr/>
        </p:nvPicPr>
        <p:blipFill>
          <a:blip r:embed="rId24"/>
          <a:stretch>
            <a:fillRect/>
          </a:stretch>
        </p:blipFill>
        <p:spPr>
          <a:xfrm>
            <a:off x="5079198" y="4605230"/>
            <a:ext cx="128699" cy="187198"/>
          </a:xfrm>
          <a:prstGeom prst="rect">
            <a:avLst/>
          </a:prstGeom>
        </p:spPr>
      </p:pic>
      <p:sp>
        <p:nvSpPr>
          <p:cNvPr id="136" name="TextBox 135"/>
          <p:cNvSpPr txBox="1"/>
          <p:nvPr/>
        </p:nvSpPr>
        <p:spPr>
          <a:xfrm>
            <a:off x="5246694"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7" name="Picture 136" descr="lock.png"/>
          <p:cNvPicPr>
            <a:picLocks noChangeAspect="1"/>
          </p:cNvPicPr>
          <p:nvPr/>
        </p:nvPicPr>
        <p:blipFill>
          <a:blip r:embed="rId24"/>
          <a:stretch>
            <a:fillRect/>
          </a:stretch>
        </p:blipFill>
        <p:spPr>
          <a:xfrm>
            <a:off x="6106144" y="4605230"/>
            <a:ext cx="128699" cy="187198"/>
          </a:xfrm>
          <a:prstGeom prst="rect">
            <a:avLst/>
          </a:prstGeom>
        </p:spPr>
      </p:pic>
      <p:sp>
        <p:nvSpPr>
          <p:cNvPr id="138" name="TextBox 137"/>
          <p:cNvSpPr txBox="1"/>
          <p:nvPr/>
        </p:nvSpPr>
        <p:spPr>
          <a:xfrm>
            <a:off x="6273640"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9" name="TextBox 138"/>
          <p:cNvSpPr txBox="1"/>
          <p:nvPr/>
        </p:nvSpPr>
        <p:spPr>
          <a:xfrm>
            <a:off x="3838575" y="4832941"/>
            <a:ext cx="1434727" cy="186689"/>
          </a:xfrm>
          <a:prstGeom prst="rect">
            <a:avLst/>
          </a:prstGeom>
          <a:noFill/>
        </p:spPr>
        <p:txBody>
          <a:bodyPr wrap="none" lIns="0" rIns="0" tIns="0" bIns="0">
            <a:spAutoFit/>
          </a:bodyPr>
          <a:lstStyle/>
          <a:p>
            <a:r>
              <a:rPr sz="1100" b="0">
                <a:solidFill>
                  <a:srgbClr val="2E2E2E"/>
                </a:solidFill>
                <a:latin typeface="Calibri"/>
              </a:rPr>
              <a:t>● Other Manufacturing:</a:t>
            </a:r>
          </a:p>
        </p:txBody>
      </p:sp>
      <p:pic>
        <p:nvPicPr>
          <p:cNvPr id="140" name="Picture 139" descr="lock.png"/>
          <p:cNvPicPr>
            <a:picLocks noChangeAspect="1"/>
          </p:cNvPicPr>
          <p:nvPr/>
        </p:nvPicPr>
        <p:blipFill>
          <a:blip r:embed="rId24"/>
          <a:stretch>
            <a:fillRect/>
          </a:stretch>
        </p:blipFill>
        <p:spPr>
          <a:xfrm>
            <a:off x="5221354" y="4823162"/>
            <a:ext cx="128699" cy="187198"/>
          </a:xfrm>
          <a:prstGeom prst="rect">
            <a:avLst/>
          </a:prstGeom>
        </p:spPr>
      </p:pic>
      <p:sp>
        <p:nvSpPr>
          <p:cNvPr id="141" name="TextBox 140"/>
          <p:cNvSpPr txBox="1"/>
          <p:nvPr/>
        </p:nvSpPr>
        <p:spPr>
          <a:xfrm>
            <a:off x="5388850"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2" name="Picture 141" descr="lock.png"/>
          <p:cNvPicPr>
            <a:picLocks noChangeAspect="1"/>
          </p:cNvPicPr>
          <p:nvPr/>
        </p:nvPicPr>
        <p:blipFill>
          <a:blip r:embed="rId24"/>
          <a:stretch>
            <a:fillRect/>
          </a:stretch>
        </p:blipFill>
        <p:spPr>
          <a:xfrm>
            <a:off x="6248300" y="4823162"/>
            <a:ext cx="128699" cy="187198"/>
          </a:xfrm>
          <a:prstGeom prst="rect">
            <a:avLst/>
          </a:prstGeom>
        </p:spPr>
      </p:pic>
      <p:sp>
        <p:nvSpPr>
          <p:cNvPr id="143" name="TextBox 142"/>
          <p:cNvSpPr txBox="1"/>
          <p:nvPr/>
        </p:nvSpPr>
        <p:spPr>
          <a:xfrm>
            <a:off x="6415796" y="483294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4" name="TextBox 143"/>
          <p:cNvSpPr txBox="1"/>
          <p:nvPr/>
        </p:nvSpPr>
        <p:spPr>
          <a:xfrm>
            <a:off x="3838575" y="5050872"/>
            <a:ext cx="2025997" cy="186689"/>
          </a:xfrm>
          <a:prstGeom prst="rect">
            <a:avLst/>
          </a:prstGeom>
          <a:noFill/>
        </p:spPr>
        <p:txBody>
          <a:bodyPr wrap="none" lIns="0" rIns="0" tIns="0" bIns="0">
            <a:spAutoFit/>
          </a:bodyPr>
          <a:lstStyle/>
          <a:p>
            <a:r>
              <a:rPr sz="1100" b="0">
                <a:solidFill>
                  <a:srgbClr val="2E2E2E"/>
                </a:solidFill>
                <a:latin typeface="Calibri"/>
              </a:rPr>
              <a:t>● Automotive and Transportation:</a:t>
            </a:r>
          </a:p>
        </p:txBody>
      </p:sp>
      <p:pic>
        <p:nvPicPr>
          <p:cNvPr id="145" name="Picture 144" descr="lock.png"/>
          <p:cNvPicPr>
            <a:picLocks noChangeAspect="1"/>
          </p:cNvPicPr>
          <p:nvPr/>
        </p:nvPicPr>
        <p:blipFill>
          <a:blip r:embed="rId24"/>
          <a:stretch>
            <a:fillRect/>
          </a:stretch>
        </p:blipFill>
        <p:spPr>
          <a:xfrm>
            <a:off x="5812623" y="5041093"/>
            <a:ext cx="128699" cy="187198"/>
          </a:xfrm>
          <a:prstGeom prst="rect">
            <a:avLst/>
          </a:prstGeom>
        </p:spPr>
      </p:pic>
      <p:sp>
        <p:nvSpPr>
          <p:cNvPr id="146" name="TextBox 145"/>
          <p:cNvSpPr txBox="1"/>
          <p:nvPr/>
        </p:nvSpPr>
        <p:spPr>
          <a:xfrm>
            <a:off x="5980119"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7" name="Picture 146" descr="lock.png"/>
          <p:cNvPicPr>
            <a:picLocks noChangeAspect="1"/>
          </p:cNvPicPr>
          <p:nvPr/>
        </p:nvPicPr>
        <p:blipFill>
          <a:blip r:embed="rId24"/>
          <a:stretch>
            <a:fillRect/>
          </a:stretch>
        </p:blipFill>
        <p:spPr>
          <a:xfrm>
            <a:off x="6839569" y="5041093"/>
            <a:ext cx="128699" cy="187198"/>
          </a:xfrm>
          <a:prstGeom prst="rect">
            <a:avLst/>
          </a:prstGeom>
        </p:spPr>
      </p:pic>
      <p:sp>
        <p:nvSpPr>
          <p:cNvPr id="148" name="TextBox 147"/>
          <p:cNvSpPr txBox="1"/>
          <p:nvPr/>
        </p:nvSpPr>
        <p:spPr>
          <a:xfrm>
            <a:off x="7007065" y="5050872"/>
            <a:ext cx="787234" cy="186689"/>
          </a:xfrm>
          <a:prstGeom prst="rect">
            <a:avLst/>
          </a:prstGeom>
          <a:noFill/>
        </p:spPr>
        <p:txBody>
          <a:bodyPr wrap="none" lIns="0" rIns="0" tIns="0" bIns="0">
            <a:spAutoFit/>
          </a:bodyPr>
          <a:lstStyle/>
          <a:p>
            <a:r>
              <a:rPr sz="1100" b="0">
                <a:solidFill>
                  <a:srgbClr val="2E2E2E"/>
                </a:solidFill>
                <a:latin typeface="Calibri"/>
              </a:rPr>
              <a:t>CAGR serves</a:t>
            </a:r>
          </a:p>
        </p:txBody>
      </p:sp>
      <p:sp>
        <p:nvSpPr>
          <p:cNvPr id="149" name="TextBox 148"/>
          <p:cNvSpPr txBox="1"/>
          <p:nvPr/>
        </p:nvSpPr>
        <p:spPr>
          <a:xfrm>
            <a:off x="3838575" y="5218513"/>
            <a:ext cx="517673" cy="186689"/>
          </a:xfrm>
          <a:prstGeom prst="rect">
            <a:avLst/>
          </a:prstGeom>
          <a:noFill/>
        </p:spPr>
        <p:txBody>
          <a:bodyPr wrap="none" lIns="0" rIns="0" tIns="0" bIns="0">
            <a:spAutoFit/>
          </a:bodyPr>
          <a:lstStyle/>
          <a:p>
            <a:r>
              <a:rPr sz="1100" b="0">
                <a:solidFill>
                  <a:srgbClr val="2E2E2E"/>
                </a:solidFill>
                <a:latin typeface="Calibri"/>
              </a:rPr>
              <a:t>a niche.</a:t>
            </a:r>
          </a:p>
        </p:txBody>
      </p:sp>
      <p:sp>
        <p:nvSpPr>
          <p:cNvPr id="150" name="TextBox 149"/>
          <p:cNvSpPr txBox="1"/>
          <p:nvPr/>
        </p:nvSpPr>
        <p:spPr>
          <a:xfrm>
            <a:off x="3838575" y="5436445"/>
            <a:ext cx="872926" cy="186689"/>
          </a:xfrm>
          <a:prstGeom prst="rect">
            <a:avLst/>
          </a:prstGeom>
          <a:noFill/>
        </p:spPr>
        <p:txBody>
          <a:bodyPr wrap="none" lIns="0" rIns="0" tIns="0" bIns="0">
            <a:spAutoFit/>
          </a:bodyPr>
          <a:lstStyle/>
          <a:p>
            <a:r>
              <a:rPr sz="1100" b="0">
                <a:solidFill>
                  <a:srgbClr val="2E2E2E"/>
                </a:solidFill>
                <a:latin typeface="Calibri"/>
              </a:rPr>
              <a:t>● Oil and Gas:</a:t>
            </a:r>
          </a:p>
        </p:txBody>
      </p:sp>
      <p:pic>
        <p:nvPicPr>
          <p:cNvPr id="151" name="Picture 150" descr="lock.png"/>
          <p:cNvPicPr>
            <a:picLocks noChangeAspect="1"/>
          </p:cNvPicPr>
          <p:nvPr/>
        </p:nvPicPr>
        <p:blipFill>
          <a:blip r:embed="rId24"/>
          <a:stretch>
            <a:fillRect/>
          </a:stretch>
        </p:blipFill>
        <p:spPr>
          <a:xfrm>
            <a:off x="4659553" y="5426665"/>
            <a:ext cx="128699" cy="187198"/>
          </a:xfrm>
          <a:prstGeom prst="rect">
            <a:avLst/>
          </a:prstGeom>
        </p:spPr>
      </p:pic>
      <p:sp>
        <p:nvSpPr>
          <p:cNvPr id="152" name="TextBox 151"/>
          <p:cNvSpPr txBox="1"/>
          <p:nvPr/>
        </p:nvSpPr>
        <p:spPr>
          <a:xfrm>
            <a:off x="4827048" y="543644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3" name="Picture 152" descr="lock.png"/>
          <p:cNvPicPr>
            <a:picLocks noChangeAspect="1"/>
          </p:cNvPicPr>
          <p:nvPr/>
        </p:nvPicPr>
        <p:blipFill>
          <a:blip r:embed="rId24"/>
          <a:stretch>
            <a:fillRect/>
          </a:stretch>
        </p:blipFill>
        <p:spPr>
          <a:xfrm>
            <a:off x="5686499" y="5426665"/>
            <a:ext cx="128699" cy="187198"/>
          </a:xfrm>
          <a:prstGeom prst="rect">
            <a:avLst/>
          </a:prstGeom>
        </p:spPr>
      </p:pic>
      <p:sp>
        <p:nvSpPr>
          <p:cNvPr id="154" name="TextBox 153"/>
          <p:cNvSpPr txBox="1"/>
          <p:nvPr/>
        </p:nvSpPr>
        <p:spPr>
          <a:xfrm>
            <a:off x="5853995" y="543644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55" name="TextBox 154"/>
          <p:cNvSpPr txBox="1"/>
          <p:nvPr/>
        </p:nvSpPr>
        <p:spPr>
          <a:xfrm>
            <a:off x="3838575" y="5654377"/>
            <a:ext cx="1163513" cy="186689"/>
          </a:xfrm>
          <a:prstGeom prst="rect">
            <a:avLst/>
          </a:prstGeom>
          <a:noFill/>
        </p:spPr>
        <p:txBody>
          <a:bodyPr wrap="none" lIns="0" rIns="0" tIns="0" bIns="0">
            <a:spAutoFit/>
          </a:bodyPr>
          <a:lstStyle/>
          <a:p>
            <a:r>
              <a:rPr sz="1100" b="0">
                <a:solidFill>
                  <a:srgbClr val="2E2E2E"/>
                </a:solidFill>
                <a:latin typeface="Calibri"/>
              </a:rPr>
              <a:t>● Pharmaceuticals:</a:t>
            </a:r>
          </a:p>
        </p:txBody>
      </p:sp>
      <p:pic>
        <p:nvPicPr>
          <p:cNvPr id="156" name="Picture 155" descr="lock.png"/>
          <p:cNvPicPr>
            <a:picLocks noChangeAspect="1"/>
          </p:cNvPicPr>
          <p:nvPr/>
        </p:nvPicPr>
        <p:blipFill>
          <a:blip r:embed="rId24"/>
          <a:stretch>
            <a:fillRect/>
          </a:stretch>
        </p:blipFill>
        <p:spPr>
          <a:xfrm>
            <a:off x="4950140" y="5644597"/>
            <a:ext cx="128699" cy="187198"/>
          </a:xfrm>
          <a:prstGeom prst="rect">
            <a:avLst/>
          </a:prstGeom>
        </p:spPr>
      </p:pic>
      <p:sp>
        <p:nvSpPr>
          <p:cNvPr id="157" name="TextBox 156"/>
          <p:cNvSpPr txBox="1"/>
          <p:nvPr/>
        </p:nvSpPr>
        <p:spPr>
          <a:xfrm>
            <a:off x="5117635" y="565437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8" name="Picture 157" descr="lock.png"/>
          <p:cNvPicPr>
            <a:picLocks noChangeAspect="1"/>
          </p:cNvPicPr>
          <p:nvPr/>
        </p:nvPicPr>
        <p:blipFill>
          <a:blip r:embed="rId24"/>
          <a:stretch>
            <a:fillRect/>
          </a:stretch>
        </p:blipFill>
        <p:spPr>
          <a:xfrm>
            <a:off x="5977086" y="5644597"/>
            <a:ext cx="128699" cy="187198"/>
          </a:xfrm>
          <a:prstGeom prst="rect">
            <a:avLst/>
          </a:prstGeom>
        </p:spPr>
      </p:pic>
      <p:sp>
        <p:nvSpPr>
          <p:cNvPr id="159" name="TextBox 158"/>
          <p:cNvSpPr txBox="1"/>
          <p:nvPr/>
        </p:nvSpPr>
        <p:spPr>
          <a:xfrm>
            <a:off x="6144581" y="565437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60" name="TextBox 159"/>
          <p:cNvSpPr txBox="1"/>
          <p:nvPr/>
        </p:nvSpPr>
        <p:spPr>
          <a:xfrm>
            <a:off x="3838575" y="5872309"/>
            <a:ext cx="1375216" cy="186689"/>
          </a:xfrm>
          <a:prstGeom prst="rect">
            <a:avLst/>
          </a:prstGeom>
          <a:noFill/>
        </p:spPr>
        <p:txBody>
          <a:bodyPr wrap="none" lIns="0" rIns="0" tIns="0" bIns="0">
            <a:spAutoFit/>
          </a:bodyPr>
          <a:lstStyle/>
          <a:p>
            <a:r>
              <a:rPr sz="1100" b="0">
                <a:solidFill>
                  <a:srgbClr val="2E2E2E"/>
                </a:solidFill>
                <a:latin typeface="Calibri"/>
              </a:rPr>
              <a:t>● Food and Beverages:</a:t>
            </a:r>
          </a:p>
        </p:txBody>
      </p:sp>
      <p:pic>
        <p:nvPicPr>
          <p:cNvPr id="161" name="Picture 160" descr="lock.png"/>
          <p:cNvPicPr>
            <a:picLocks noChangeAspect="1"/>
          </p:cNvPicPr>
          <p:nvPr/>
        </p:nvPicPr>
        <p:blipFill>
          <a:blip r:embed="rId24"/>
          <a:stretch>
            <a:fillRect/>
          </a:stretch>
        </p:blipFill>
        <p:spPr>
          <a:xfrm>
            <a:off x="5161843" y="5862529"/>
            <a:ext cx="128699" cy="187198"/>
          </a:xfrm>
          <a:prstGeom prst="rect">
            <a:avLst/>
          </a:prstGeom>
        </p:spPr>
      </p:pic>
      <p:sp>
        <p:nvSpPr>
          <p:cNvPr id="162" name="TextBox 161"/>
          <p:cNvSpPr txBox="1"/>
          <p:nvPr/>
        </p:nvSpPr>
        <p:spPr>
          <a:xfrm>
            <a:off x="5329338" y="58723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63" name="Picture 162" descr="lock.png"/>
          <p:cNvPicPr>
            <a:picLocks noChangeAspect="1"/>
          </p:cNvPicPr>
          <p:nvPr/>
        </p:nvPicPr>
        <p:blipFill>
          <a:blip r:embed="rId24"/>
          <a:stretch>
            <a:fillRect/>
          </a:stretch>
        </p:blipFill>
        <p:spPr>
          <a:xfrm>
            <a:off x="6188789" y="5862529"/>
            <a:ext cx="128699" cy="187198"/>
          </a:xfrm>
          <a:prstGeom prst="rect">
            <a:avLst/>
          </a:prstGeom>
        </p:spPr>
      </p:pic>
      <p:sp>
        <p:nvSpPr>
          <p:cNvPr id="164" name="TextBox 163"/>
          <p:cNvSpPr txBox="1"/>
          <p:nvPr/>
        </p:nvSpPr>
        <p:spPr>
          <a:xfrm>
            <a:off x="6356284" y="58723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65" name="TextBox 164"/>
          <p:cNvSpPr txBox="1"/>
          <p:nvPr/>
        </p:nvSpPr>
        <p:spPr>
          <a:xfrm>
            <a:off x="8524875" y="5842641"/>
            <a:ext cx="2887377" cy="194310"/>
          </a:xfrm>
          <a:prstGeom prst="rect">
            <a:avLst/>
          </a:prstGeom>
          <a:noFill/>
        </p:spPr>
        <p:txBody>
          <a:bodyPr wrap="none" lIns="0" rIns="0" tIns="0" bIns="0">
            <a:spAutoFit/>
          </a:bodyPr>
          <a:lstStyle/>
          <a:p>
            <a:r>
              <a:rPr sz="1150" b="1">
                <a:solidFill>
                  <a:srgbClr val="0B2E4A"/>
                </a:solidFill>
                <a:latin typeface="Calibri"/>
              </a:rPr>
              <a:t>The End Use segment is projected to grow at a</a:t>
            </a:r>
          </a:p>
        </p:txBody>
      </p:sp>
      <p:sp>
        <p:nvSpPr>
          <p:cNvPr id="166" name="TextBox 165"/>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67" name="Picture 166" descr="lock.png"/>
          <p:cNvPicPr>
            <a:picLocks noChangeAspect="1"/>
          </p:cNvPicPr>
          <p:nvPr/>
        </p:nvPicPr>
        <p:blipFill>
          <a:blip r:embed="rId24"/>
          <a:stretch>
            <a:fillRect/>
          </a:stretch>
        </p:blipFill>
        <p:spPr>
          <a:xfrm>
            <a:off x="9048826" y="6007677"/>
            <a:ext cx="134549" cy="195707"/>
          </a:xfrm>
          <a:prstGeom prst="rect">
            <a:avLst/>
          </a:prstGeom>
        </p:spPr>
      </p:pic>
      <p:sp>
        <p:nvSpPr>
          <p:cNvPr id="168" name="TextBox 167"/>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End Use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End Use mix within each country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 Use mix within each country (share of 2036 value) · row label = country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End Use · Bubble size represents 2036 value</a:t>
            </a:r>
          </a:p>
        </p:txBody>
      </p:sp>
      <p:graphicFrame>
        <p:nvGraphicFramePr>
          <p:cNvPr id="12" name="Chart 11"/>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462841" cy="186689"/>
          </a:xfrm>
          <a:prstGeom prst="rect">
            <a:avLst/>
          </a:prstGeom>
          <a:noFill/>
        </p:spPr>
        <p:txBody>
          <a:bodyPr wrap="none" lIns="0" rIns="0" tIns="0" bIns="0">
            <a:spAutoFit/>
          </a:bodyPr>
          <a:lstStyle/>
          <a:p>
            <a:r>
              <a:rPr sz="1100" b="0">
                <a:solidFill>
                  <a:srgbClr val="2E2E2E"/>
                </a:solidFill>
                <a:latin typeface="Calibri"/>
              </a:rPr>
              <a:t>Industrial air separation followed by other manufacturing are expected to be the two most attractive end use segments in the North America industrial air compressor market in terms of value over the</a:t>
            </a:r>
          </a:p>
        </p:txBody>
      </p:sp>
      <p:sp>
        <p:nvSpPr>
          <p:cNvPr id="18" name="TextBox 17"/>
          <p:cNvSpPr txBox="1"/>
          <p:nvPr/>
        </p:nvSpPr>
        <p:spPr>
          <a:xfrm>
            <a:off x="257175" y="5861685"/>
            <a:ext cx="5175778" cy="186689"/>
          </a:xfrm>
          <a:prstGeom prst="rect">
            <a:avLst/>
          </a:prstGeom>
          <a:noFill/>
        </p:spPr>
        <p:txBody>
          <a:bodyPr wrap="none" lIns="0" rIns="0" tIns="0" bIns="0">
            <a:spAutoFit/>
          </a:bodyPr>
          <a:lstStyle/>
          <a:p>
            <a:r>
              <a:rPr sz="1100" b="0">
                <a:solidFill>
                  <a:srgbClr val="2E2E2E"/>
                </a:solidFill>
                <a:latin typeface="Calibri"/>
              </a:rPr>
              <a:t>forecast period. Industrial air separation and other manufacturing exhibit a CAGR index of</a:t>
            </a:r>
          </a:p>
        </p:txBody>
      </p:sp>
      <p:pic>
        <p:nvPicPr>
          <p:cNvPr id="19" name="Picture 18" descr="lock.png"/>
          <p:cNvPicPr>
            <a:picLocks noChangeAspect="1"/>
          </p:cNvPicPr>
          <p:nvPr/>
        </p:nvPicPr>
        <p:blipFill>
          <a:blip r:embed="rId6"/>
          <a:stretch>
            <a:fillRect/>
          </a:stretch>
        </p:blipFill>
        <p:spPr>
          <a:xfrm>
            <a:off x="5381005" y="5851905"/>
            <a:ext cx="128699" cy="187198"/>
          </a:xfrm>
          <a:prstGeom prst="rect">
            <a:avLst/>
          </a:prstGeom>
        </p:spPr>
      </p:pic>
      <p:sp>
        <p:nvSpPr>
          <p:cNvPr id="20" name="TextBox 19"/>
          <p:cNvSpPr txBox="1"/>
          <p:nvPr/>
        </p:nvSpPr>
        <p:spPr>
          <a:xfrm>
            <a:off x="554850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5786395" y="5851905"/>
            <a:ext cx="128699" cy="187198"/>
          </a:xfrm>
          <a:prstGeom prst="rect">
            <a:avLst/>
          </a:prstGeom>
        </p:spPr>
      </p:pic>
      <p:sp>
        <p:nvSpPr>
          <p:cNvPr id="22" name="TextBox 21"/>
          <p:cNvSpPr txBox="1"/>
          <p:nvPr/>
        </p:nvSpPr>
        <p:spPr>
          <a:xfrm>
            <a:off x="5953891"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7562864" y="5851905"/>
            <a:ext cx="128699" cy="187198"/>
          </a:xfrm>
          <a:prstGeom prst="rect">
            <a:avLst/>
          </a:prstGeom>
        </p:spPr>
      </p:pic>
      <p:sp>
        <p:nvSpPr>
          <p:cNvPr id="24" name="TextBox 23"/>
          <p:cNvSpPr txBox="1"/>
          <p:nvPr/>
        </p:nvSpPr>
        <p:spPr>
          <a:xfrm>
            <a:off x="7730360"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7968254" y="5851905"/>
            <a:ext cx="128699" cy="187198"/>
          </a:xfrm>
          <a:prstGeom prst="rect">
            <a:avLst/>
          </a:prstGeom>
        </p:spPr>
      </p:pic>
      <p:sp>
        <p:nvSpPr>
          <p:cNvPr id="26" name="TextBox 25"/>
          <p:cNvSpPr txBox="1"/>
          <p:nvPr/>
        </p:nvSpPr>
        <p:spPr>
          <a:xfrm>
            <a:off x="8135750"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10690154" y="5851905"/>
            <a:ext cx="128699" cy="187198"/>
          </a:xfrm>
          <a:prstGeom prst="rect">
            <a:avLst/>
          </a:prstGeom>
        </p:spPr>
      </p:pic>
      <p:sp>
        <p:nvSpPr>
          <p:cNvPr id="28" name="TextBox 27"/>
          <p:cNvSpPr txBox="1"/>
          <p:nvPr/>
        </p:nvSpPr>
        <p:spPr>
          <a:xfrm>
            <a:off x="10857650" y="5861685"/>
            <a:ext cx="354235" cy="186689"/>
          </a:xfrm>
          <a:prstGeom prst="rect">
            <a:avLst/>
          </a:prstGeom>
          <a:noFill/>
        </p:spPr>
        <p:txBody>
          <a:bodyPr wrap="none" lIns="0" rIns="0" tIns="0" bIns="0">
            <a:spAutoFit/>
          </a:bodyPr>
          <a:lstStyle/>
          <a:p>
            <a:r>
              <a:rPr sz="1100" b="0">
                <a:solidFill>
                  <a:srgbClr val="2E2E2E"/>
                </a:solidFill>
                <a:latin typeface="Calibri"/>
              </a:rPr>
              <a:t>. The</a:t>
            </a:r>
          </a:p>
        </p:txBody>
      </p:sp>
      <p:sp>
        <p:nvSpPr>
          <p:cNvPr id="29" name="TextBox 28"/>
          <p:cNvSpPr txBox="1"/>
          <p:nvPr/>
        </p:nvSpPr>
        <p:spPr>
          <a:xfrm>
            <a:off x="257175" y="6029325"/>
            <a:ext cx="11076466" cy="186689"/>
          </a:xfrm>
          <a:prstGeom prst="rect">
            <a:avLst/>
          </a:prstGeom>
          <a:noFill/>
        </p:spPr>
        <p:txBody>
          <a:bodyPr wrap="none" lIns="0" rIns="0" tIns="0" bIns="0">
            <a:spAutoFit/>
          </a:bodyPr>
          <a:lstStyle/>
          <a:p>
            <a:r>
              <a:rPr sz="1100" b="0">
                <a:solidFill>
                  <a:srgbClr val="2E2E2E"/>
                </a:solidFill>
                <a:latin typeface="Calibri"/>
              </a:rPr>
              <a:t>food and beverages segment is expected to be less attractive as compared to other segments over the forecast period, owing to its lower CAGR and incremental opportunity. Bubbles right of the</a:t>
            </a:r>
          </a:p>
        </p:txBody>
      </p:sp>
      <p:sp>
        <p:nvSpPr>
          <p:cNvPr id="30" name="TextBox 29"/>
          <p:cNvSpPr txBox="1"/>
          <p:nvPr/>
        </p:nvSpPr>
        <p:spPr>
          <a:xfrm>
            <a:off x="257175" y="6196965"/>
            <a:ext cx="3224344" cy="186689"/>
          </a:xfrm>
          <a:prstGeom prst="rect">
            <a:avLst/>
          </a:prstGeom>
          <a:noFill/>
        </p:spPr>
        <p:txBody>
          <a:bodyPr wrap="none" lIns="0" rIns="0" tIns="0" bIns="0">
            <a:spAutoFit/>
          </a:bodyPr>
          <a:lstStyle/>
          <a:p>
            <a:r>
              <a:rPr sz="1100" b="0">
                <a:solidFill>
                  <a:srgbClr val="2E2E2E"/>
                </a:solidFill>
                <a:latin typeface="Calibri"/>
              </a:rPr>
              <a:t>CAGR-Index 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End Use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 Use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Automotive and Transportation</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Oil and Gas</a:t>
            </a:r>
          </a:p>
        </p:txBody>
      </p:sp>
      <p:graphicFrame>
        <p:nvGraphicFramePr>
          <p:cNvPr id="12" name="Chart 11"/>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Food and Beverages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Pharmaceuticals</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4151" y="2237234"/>
            <a:ext cx="263506" cy="383281"/>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End Use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 Use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Mining and Metals</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Industrial Air Separation</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 Manufacturing</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E2A5C"/>
                </a:solidFill>
                <a:latin typeface="Calibri"/>
              </a:rPr>
              <a:t>Summary of North America Absolute $ Opportunity Analysis, By End Use</a:t>
            </a:r>
          </a:p>
        </p:txBody>
      </p:sp>
      <p:sp>
        <p:nvSpPr>
          <p:cNvPr id="18" name="Rectangle 17"/>
          <p:cNvSpPr/>
          <p:nvPr/>
        </p:nvSpPr>
        <p:spPr>
          <a:xfrm>
            <a:off x="6305550" y="419100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4276725"/>
            <a:ext cx="5610225" cy="22669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7"/>
          <a:stretch>
            <a:fillRect/>
          </a:stretch>
        </p:blipFill>
        <p:spPr>
          <a:xfrm>
            <a:off x="3100230" y="2330679"/>
            <a:ext cx="252890" cy="367840"/>
          </a:xfrm>
          <a:prstGeom prst="rect">
            <a:avLst/>
          </a:prstGeom>
        </p:spPr>
      </p:pic>
      <p:pic>
        <p:nvPicPr>
          <p:cNvPr id="23" name="Picture 22" descr="lock.png"/>
          <p:cNvPicPr>
            <a:picLocks noChangeAspect="1"/>
          </p:cNvPicPr>
          <p:nvPr/>
        </p:nvPicPr>
        <p:blipFill>
          <a:blip r:embed="rId7"/>
          <a:stretch>
            <a:fillRect/>
          </a:stretch>
        </p:blipFill>
        <p:spPr>
          <a:xfrm>
            <a:off x="9129555" y="2330679"/>
            <a:ext cx="252890" cy="367840"/>
          </a:xfrm>
          <a:prstGeom prst="rect">
            <a:avLst/>
          </a:prstGeom>
        </p:spPr>
      </p:pic>
      <p:pic>
        <p:nvPicPr>
          <p:cNvPr id="24" name="Picture 23" descr="lock.png"/>
          <p:cNvPicPr>
            <a:picLocks noChangeAspect="1"/>
          </p:cNvPicPr>
          <p:nvPr/>
        </p:nvPicPr>
        <p:blipFill>
          <a:blip r:embed="rId7"/>
          <a:stretch>
            <a:fillRect/>
          </a:stretch>
        </p:blipFill>
        <p:spPr>
          <a:xfrm>
            <a:off x="3100230" y="5216754"/>
            <a:ext cx="252890" cy="367840"/>
          </a:xfrm>
          <a:prstGeom prst="rect">
            <a:avLst/>
          </a:prstGeom>
        </p:spPr>
      </p:pic>
      <p:sp>
        <p:nvSpPr>
          <p:cNvPr id="25" name="TextBox 24"/>
          <p:cNvSpPr txBox="1"/>
          <p:nvPr/>
        </p:nvSpPr>
        <p:spPr>
          <a:xfrm>
            <a:off x="6305550" y="4286250"/>
            <a:ext cx="4914083" cy="194310"/>
          </a:xfrm>
          <a:prstGeom prst="rect">
            <a:avLst/>
          </a:prstGeom>
          <a:noFill/>
        </p:spPr>
        <p:txBody>
          <a:bodyPr wrap="none" lIns="0" rIns="0" tIns="0" bIns="0">
            <a:spAutoFit/>
          </a:bodyPr>
          <a:lstStyle/>
          <a:p>
            <a:r>
              <a:rPr sz="1150" b="0">
                <a:solidFill>
                  <a:srgbClr val="2E2E2E"/>
                </a:solidFill>
                <a:latin typeface="Calibri"/>
              </a:rPr>
              <a:t>By 2036, industrial air separation segment is anticipated to witness an increase of</a:t>
            </a:r>
          </a:p>
        </p:txBody>
      </p:sp>
      <p:pic>
        <p:nvPicPr>
          <p:cNvPr id="26" name="Picture 25" descr="lock.png"/>
          <p:cNvPicPr>
            <a:picLocks noChangeAspect="1"/>
          </p:cNvPicPr>
          <p:nvPr/>
        </p:nvPicPr>
        <p:blipFill>
          <a:blip r:embed="rId7"/>
          <a:stretch>
            <a:fillRect/>
          </a:stretch>
        </p:blipFill>
        <p:spPr>
          <a:xfrm>
            <a:off x="11168787" y="4276026"/>
            <a:ext cx="134549" cy="195707"/>
          </a:xfrm>
          <a:prstGeom prst="rect">
            <a:avLst/>
          </a:prstGeom>
        </p:spPr>
      </p:pic>
      <p:sp>
        <p:nvSpPr>
          <p:cNvPr id="27" name="TextBox 26"/>
          <p:cNvSpPr txBox="1"/>
          <p:nvPr/>
        </p:nvSpPr>
        <p:spPr>
          <a:xfrm>
            <a:off x="11343897" y="4286250"/>
            <a:ext cx="295560" cy="194310"/>
          </a:xfrm>
          <a:prstGeom prst="rect">
            <a:avLst/>
          </a:prstGeom>
          <a:noFill/>
        </p:spPr>
        <p:txBody>
          <a:bodyPr wrap="none" lIns="0" rIns="0" tIns="0" bIns="0">
            <a:spAutoFit/>
          </a:bodyPr>
          <a:lstStyle/>
          <a:p>
            <a:r>
              <a:rPr sz="1150" b="0">
                <a:solidFill>
                  <a:srgbClr val="2E2E2E"/>
                </a:solidFill>
                <a:latin typeface="Calibri"/>
              </a:rPr>
              <a:t>X in</a:t>
            </a:r>
          </a:p>
        </p:txBody>
      </p:sp>
      <p:sp>
        <p:nvSpPr>
          <p:cNvPr id="28" name="TextBox 27"/>
          <p:cNvSpPr txBox="1"/>
          <p:nvPr/>
        </p:nvSpPr>
        <p:spPr>
          <a:xfrm>
            <a:off x="6305550" y="4461510"/>
            <a:ext cx="5359672" cy="194310"/>
          </a:xfrm>
          <a:prstGeom prst="rect">
            <a:avLst/>
          </a:prstGeom>
          <a:noFill/>
        </p:spPr>
        <p:txBody>
          <a:bodyPr wrap="none" lIns="0" rIns="0" tIns="0" bIns="0">
            <a:spAutoFit/>
          </a:bodyPr>
          <a:lstStyle/>
          <a:p>
            <a:r>
              <a:rPr sz="1150" b="0">
                <a:solidFill>
                  <a:srgbClr val="2E2E2E"/>
                </a:solidFill>
                <a:latin typeface="Calibri"/>
              </a:rPr>
              <a:t>terms of value as compared to 2026. The industrial air separation segment is expected to</a:t>
            </a:r>
          </a:p>
        </p:txBody>
      </p:sp>
      <p:sp>
        <p:nvSpPr>
          <p:cNvPr id="29" name="TextBox 28"/>
          <p:cNvSpPr txBox="1"/>
          <p:nvPr/>
        </p:nvSpPr>
        <p:spPr>
          <a:xfrm>
            <a:off x="6305550" y="4636770"/>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30" name="Picture 29" descr="lock.png"/>
          <p:cNvPicPr>
            <a:picLocks noChangeAspect="1"/>
          </p:cNvPicPr>
          <p:nvPr/>
        </p:nvPicPr>
        <p:blipFill>
          <a:blip r:embed="rId7"/>
          <a:stretch>
            <a:fillRect/>
          </a:stretch>
        </p:blipFill>
        <p:spPr>
          <a:xfrm>
            <a:off x="8801773" y="4626546"/>
            <a:ext cx="134549" cy="195707"/>
          </a:xfrm>
          <a:prstGeom prst="rect">
            <a:avLst/>
          </a:prstGeom>
        </p:spPr>
      </p:pic>
      <p:sp>
        <p:nvSpPr>
          <p:cNvPr id="31" name="TextBox 30"/>
          <p:cNvSpPr txBox="1"/>
          <p:nvPr/>
        </p:nvSpPr>
        <p:spPr>
          <a:xfrm>
            <a:off x="8976882" y="4636770"/>
            <a:ext cx="2662597"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a:t>
            </a:r>
          </a:p>
        </p:txBody>
      </p:sp>
      <p:sp>
        <p:nvSpPr>
          <p:cNvPr id="32" name="TextBox 31"/>
          <p:cNvSpPr txBox="1"/>
          <p:nvPr/>
        </p:nvSpPr>
        <p:spPr>
          <a:xfrm>
            <a:off x="6305550" y="4812029"/>
            <a:ext cx="1679897" cy="194310"/>
          </a:xfrm>
          <a:prstGeom prst="rect">
            <a:avLst/>
          </a:prstGeom>
          <a:noFill/>
        </p:spPr>
        <p:txBody>
          <a:bodyPr wrap="none" lIns="0" rIns="0" tIns="0" bIns="0">
            <a:spAutoFit/>
          </a:bodyPr>
          <a:lstStyle/>
          <a:p>
            <a:r>
              <a:rPr sz="1150" b="0">
                <a:solidFill>
                  <a:srgbClr val="2E2E2E"/>
                </a:solidFill>
                <a:latin typeface="Calibri"/>
              </a:rPr>
              <a:t>market from 2026 to 2036.</a:t>
            </a:r>
          </a:p>
        </p:txBody>
      </p:sp>
      <p:sp>
        <p:nvSpPr>
          <p:cNvPr id="33" name="TextBox 32"/>
          <p:cNvSpPr txBox="1"/>
          <p:nvPr/>
        </p:nvSpPr>
        <p:spPr>
          <a:xfrm>
            <a:off x="6305550" y="5039867"/>
            <a:ext cx="5474915" cy="194310"/>
          </a:xfrm>
          <a:prstGeom prst="rect">
            <a:avLst/>
          </a:prstGeom>
          <a:noFill/>
        </p:spPr>
        <p:txBody>
          <a:bodyPr wrap="none" lIns="0" rIns="0" tIns="0" bIns="0">
            <a:spAutoFit/>
          </a:bodyPr>
          <a:lstStyle/>
          <a:p>
            <a:r>
              <a:rPr sz="1150" b="0">
                <a:solidFill>
                  <a:srgbClr val="2E2E2E"/>
                </a:solidFill>
                <a:latin typeface="Calibri"/>
              </a:rPr>
              <a:t>The other manufacturing segment is expected to create an incremental opportunity of US$</a:t>
            </a:r>
          </a:p>
        </p:txBody>
      </p:sp>
      <p:pic>
        <p:nvPicPr>
          <p:cNvPr id="34" name="Picture 33" descr="lock.png"/>
          <p:cNvPicPr>
            <a:picLocks noChangeAspect="1"/>
          </p:cNvPicPr>
          <p:nvPr/>
        </p:nvPicPr>
        <p:blipFill>
          <a:blip r:embed="rId7"/>
          <a:stretch>
            <a:fillRect/>
          </a:stretch>
        </p:blipFill>
        <p:spPr>
          <a:xfrm>
            <a:off x="6291470" y="5204904"/>
            <a:ext cx="134549" cy="195707"/>
          </a:xfrm>
          <a:prstGeom prst="rect">
            <a:avLst/>
          </a:prstGeom>
        </p:spPr>
      </p:pic>
      <p:sp>
        <p:nvSpPr>
          <p:cNvPr id="35" name="TextBox 34"/>
          <p:cNvSpPr txBox="1"/>
          <p:nvPr/>
        </p:nvSpPr>
        <p:spPr>
          <a:xfrm>
            <a:off x="6466579" y="5215127"/>
            <a:ext cx="5215904"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 2026 to 2036. The oil and gas</a:t>
            </a:r>
          </a:p>
        </p:txBody>
      </p:sp>
      <p:sp>
        <p:nvSpPr>
          <p:cNvPr id="36" name="TextBox 35"/>
          <p:cNvSpPr txBox="1"/>
          <p:nvPr/>
        </p:nvSpPr>
        <p:spPr>
          <a:xfrm>
            <a:off x="6305550" y="5390387"/>
            <a:ext cx="3955938" cy="194310"/>
          </a:xfrm>
          <a:prstGeom prst="rect">
            <a:avLst/>
          </a:prstGeom>
          <a:noFill/>
        </p:spPr>
        <p:txBody>
          <a:bodyPr wrap="none" lIns="0" rIns="0" tIns="0" bIns="0">
            <a:spAutoFit/>
          </a:bodyPr>
          <a:lstStyle/>
          <a:p>
            <a:r>
              <a:rPr sz="1150" b="0">
                <a:solidFill>
                  <a:srgbClr val="2E2E2E"/>
                </a:solidFill>
                <a:latin typeface="Calibri"/>
              </a:rPr>
              <a:t>segment is expected to create an incremental opportunity of US$</a:t>
            </a:r>
          </a:p>
        </p:txBody>
      </p:sp>
      <p:pic>
        <p:nvPicPr>
          <p:cNvPr id="37" name="Picture 36" descr="lock.png"/>
          <p:cNvPicPr>
            <a:picLocks noChangeAspect="1"/>
          </p:cNvPicPr>
          <p:nvPr/>
        </p:nvPicPr>
        <p:blipFill>
          <a:blip r:embed="rId7"/>
          <a:stretch>
            <a:fillRect/>
          </a:stretch>
        </p:blipFill>
        <p:spPr>
          <a:xfrm>
            <a:off x="10210642" y="5380164"/>
            <a:ext cx="134549" cy="195707"/>
          </a:xfrm>
          <a:prstGeom prst="rect">
            <a:avLst/>
          </a:prstGeom>
        </p:spPr>
      </p:pic>
      <p:sp>
        <p:nvSpPr>
          <p:cNvPr id="38" name="TextBox 37"/>
          <p:cNvSpPr txBox="1"/>
          <p:nvPr/>
        </p:nvSpPr>
        <p:spPr>
          <a:xfrm>
            <a:off x="10385751" y="5390387"/>
            <a:ext cx="1152177" cy="194310"/>
          </a:xfrm>
          <a:prstGeom prst="rect">
            <a:avLst/>
          </a:prstGeom>
          <a:noFill/>
        </p:spPr>
        <p:txBody>
          <a:bodyPr wrap="none" lIns="0" rIns="0" tIns="0" bIns="0">
            <a:spAutoFit/>
          </a:bodyPr>
          <a:lstStyle/>
          <a:p>
            <a:r>
              <a:rPr sz="1150" b="0">
                <a:solidFill>
                  <a:srgbClr val="2E2E2E"/>
                </a:solidFill>
                <a:latin typeface="Calibri"/>
              </a:rPr>
              <a:t>Mn for the overall</a:t>
            </a:r>
          </a:p>
        </p:txBody>
      </p:sp>
      <p:sp>
        <p:nvSpPr>
          <p:cNvPr id="39" name="TextBox 38"/>
          <p:cNvSpPr txBox="1"/>
          <p:nvPr/>
        </p:nvSpPr>
        <p:spPr>
          <a:xfrm>
            <a:off x="6305550" y="5565647"/>
            <a:ext cx="3190316" cy="194310"/>
          </a:xfrm>
          <a:prstGeom prst="rect">
            <a:avLst/>
          </a:prstGeom>
          <a:noFill/>
        </p:spPr>
        <p:txBody>
          <a:bodyPr wrap="none" lIns="0" rIns="0" tIns="0" bIns="0">
            <a:spAutoFit/>
          </a:bodyPr>
          <a:lstStyle/>
          <a:p>
            <a:r>
              <a:rPr sz="1150" b="0">
                <a:solidFill>
                  <a:srgbClr val="2E2E2E"/>
                </a:solidFill>
                <a:latin typeface="Calibri"/>
              </a:rPr>
              <a:t>industrial air compressor market from 2026 to 2036.</a:t>
            </a:r>
          </a:p>
        </p:txBody>
      </p:sp>
      <p:sp>
        <p:nvSpPr>
          <p:cNvPr id="40"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End Use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End Use, 2021–2036, highlighting the sub-segments driving growth</a:t>
            </a:r>
          </a:p>
        </p:txBody>
      </p:sp>
      <p:sp>
        <p:nvSpPr>
          <p:cNvPr id="7" name="Rounded Rectangle 6"/>
          <p:cNvSpPr/>
          <p:nvPr/>
        </p:nvSpPr>
        <p:spPr>
          <a:xfrm>
            <a:off x="142875" y="981075"/>
            <a:ext cx="11906250" cy="2686050"/>
          </a:xfrm>
          <a:prstGeom prst="roundRect">
            <a:avLst>
              <a:gd name="adj" fmla="val 28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End Use (US$ Mn)</a:t>
            </a:r>
          </a:p>
        </p:txBody>
      </p:sp>
      <p:graphicFrame>
        <p:nvGraphicFramePr>
          <p:cNvPr id="9" name="Table 8"/>
          <p:cNvGraphicFramePr>
            <a:graphicFrameLocks noGrp="1"/>
          </p:cNvGraphicFramePr>
          <p:nvPr/>
        </p:nvGraphicFramePr>
        <p:xfrm>
          <a:off x="152400" y="1238250"/>
          <a:ext cx="11887199" cy="2219326"/>
        </p:xfrm>
        <a:graphic>
          <a:graphicData uri="http://schemas.openxmlformats.org/drawingml/2006/table">
            <a:tbl>
              <a:tblPr>
                <a:tableStyleId>{5C22544A-7EE6-4342-B048-85BDC9FD1C3A}</a:tableStyleId>
              </a:tblPr>
              <a:tblGrid>
                <a:gridCol w="2094621"/>
                <a:gridCol w="576034"/>
                <a:gridCol w="576034"/>
                <a:gridCol w="576034"/>
                <a:gridCol w="576034"/>
                <a:gridCol w="576034"/>
                <a:gridCol w="576034"/>
                <a:gridCol w="576034"/>
                <a:gridCol w="576034"/>
                <a:gridCol w="576034"/>
                <a:gridCol w="576034"/>
                <a:gridCol w="576034"/>
                <a:gridCol w="576034"/>
                <a:gridCol w="576034"/>
                <a:gridCol w="576034"/>
                <a:gridCol w="576034"/>
                <a:gridCol w="576034"/>
                <a:gridCol w="576034"/>
              </a:tblGrid>
              <a:tr h="246126">
                <a:tc>
                  <a:txBody>
                    <a:bodyPr wrap="none"/>
                    <a:lstStyle/>
                    <a:p>
                      <a:pPr algn="l"/>
                      <a:r>
                        <a:rPr sz="1100" b="1">
                          <a:solidFill>
                            <a:srgbClr val="0E2A5C"/>
                          </a:solidFill>
                          <a:latin typeface="Calibri"/>
                        </a:rPr>
                        <a:t>End Use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650">
                <a:tc>
                  <a:txBody>
                    <a:bodyPr wrap="none"/>
                    <a:lstStyle/>
                    <a:p>
                      <a:pPr algn="l"/>
                      <a:r>
                        <a:rPr sz="1100" b="1">
                          <a:solidFill>
                            <a:srgbClr val="2E2E2E"/>
                          </a:solidFill>
                          <a:latin typeface="Calibri"/>
                        </a:rPr>
                        <a:t>Automotive and Transportation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Oil and Gas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50">
                <a:tc>
                  <a:txBody>
                    <a:bodyPr wrap="none"/>
                    <a:lstStyle/>
                    <a:p>
                      <a:pPr algn="l"/>
                      <a:r>
                        <a:rPr sz="1100" b="1">
                          <a:solidFill>
                            <a:srgbClr val="2E2E2E"/>
                          </a:solidFill>
                          <a:latin typeface="Calibri"/>
                        </a:rPr>
                        <a:t>Food and Beverages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Pharmaceuticals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50">
                <a:tc>
                  <a:txBody>
                    <a:bodyPr wrap="none"/>
                    <a:lstStyle/>
                    <a:p>
                      <a:pPr algn="l"/>
                      <a:r>
                        <a:rPr sz="1100" b="1">
                          <a:solidFill>
                            <a:srgbClr val="2E2E2E"/>
                          </a:solidFill>
                          <a:latin typeface="Calibri"/>
                        </a:rPr>
                        <a:t>Mining and Metals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Industrial Air Separation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50">
                <a:tc>
                  <a:txBody>
                    <a:bodyPr wrap="none"/>
                    <a:lstStyle/>
                    <a:p>
                      <a:pPr algn="l"/>
                      <a:r>
                        <a:rPr sz="1100" b="1">
                          <a:solidFill>
                            <a:srgbClr val="2E2E2E"/>
                          </a:solidFill>
                          <a:latin typeface="Calibri"/>
                        </a:rPr>
                        <a:t>Other Manufacturing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800475"/>
            <a:ext cx="11906250" cy="2828925"/>
          </a:xfrm>
          <a:prstGeom prst="roundRect">
            <a:avLst>
              <a:gd name="adj" fmla="val 269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Analysis, By End Use</a:t>
            </a:r>
          </a:p>
        </p:txBody>
      </p:sp>
      <p:sp>
        <p:nvSpPr>
          <p:cNvPr id="13" name="Rectangle 12"/>
          <p:cNvSpPr/>
          <p:nvPr/>
        </p:nvSpPr>
        <p:spPr>
          <a:xfrm>
            <a:off x="276225" y="41243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956619" y="2204276"/>
            <a:ext cx="366712" cy="533399"/>
          </a:xfrm>
          <a:prstGeom prst="rect">
            <a:avLst/>
          </a:prstGeom>
        </p:spPr>
      </p:pic>
      <p:sp>
        <p:nvSpPr>
          <p:cNvPr id="18" name="TextBox 17"/>
          <p:cNvSpPr txBox="1"/>
          <p:nvPr/>
        </p:nvSpPr>
        <p:spPr>
          <a:xfrm>
            <a:off x="276225" y="4219575"/>
            <a:ext cx="3417379" cy="194310"/>
          </a:xfrm>
          <a:prstGeom prst="rect">
            <a:avLst/>
          </a:prstGeom>
          <a:noFill/>
        </p:spPr>
        <p:txBody>
          <a:bodyPr wrap="none" lIns="0" rIns="0" tIns="0" bIns="0">
            <a:spAutoFit/>
          </a:bodyPr>
          <a:lstStyle/>
          <a:p>
            <a:r>
              <a:rPr sz="1150" b="0">
                <a:solidFill>
                  <a:srgbClr val="2E2E2E"/>
                </a:solidFill>
                <a:latin typeface="Calibri"/>
              </a:rPr>
              <a:t>Industrial air separation segment is projected to register</a:t>
            </a:r>
          </a:p>
        </p:txBody>
      </p:sp>
      <p:pic>
        <p:nvPicPr>
          <p:cNvPr id="19" name="Picture 18" descr="lock.png"/>
          <p:cNvPicPr>
            <a:picLocks noChangeAspect="1"/>
          </p:cNvPicPr>
          <p:nvPr/>
        </p:nvPicPr>
        <p:blipFill>
          <a:blip r:embed="rId4"/>
          <a:stretch>
            <a:fillRect/>
          </a:stretch>
        </p:blipFill>
        <p:spPr>
          <a:xfrm>
            <a:off x="3642757" y="4209351"/>
            <a:ext cx="134549" cy="195707"/>
          </a:xfrm>
          <a:prstGeom prst="rect">
            <a:avLst/>
          </a:prstGeom>
        </p:spPr>
      </p:pic>
      <p:sp>
        <p:nvSpPr>
          <p:cNvPr id="20" name="TextBox 19"/>
          <p:cNvSpPr txBox="1"/>
          <p:nvPr/>
        </p:nvSpPr>
        <p:spPr>
          <a:xfrm>
            <a:off x="3817867" y="4219575"/>
            <a:ext cx="7668803" cy="194310"/>
          </a:xfrm>
          <a:prstGeom prst="rect">
            <a:avLst/>
          </a:prstGeom>
          <a:noFill/>
        </p:spPr>
        <p:txBody>
          <a:bodyPr wrap="none" lIns="0" rIns="0" tIns="0" bIns="0">
            <a:spAutoFit/>
          </a:bodyPr>
          <a:lstStyle/>
          <a:p>
            <a:r>
              <a:rPr sz="1150" b="0">
                <a:solidFill>
                  <a:srgbClr val="2E2E2E"/>
                </a:solidFill>
                <a:latin typeface="Calibri"/>
              </a:rPr>
              <a:t>X higher value than other manufacturing segment in 2036. Among industrial air compressor by end use, industrial air separation</a:t>
            </a:r>
          </a:p>
        </p:txBody>
      </p:sp>
      <p:sp>
        <p:nvSpPr>
          <p:cNvPr id="21" name="TextBox 20"/>
          <p:cNvSpPr txBox="1"/>
          <p:nvPr/>
        </p:nvSpPr>
        <p:spPr>
          <a:xfrm>
            <a:off x="276225" y="43948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2" name="Picture 21" descr="lock.png"/>
          <p:cNvPicPr>
            <a:picLocks noChangeAspect="1"/>
          </p:cNvPicPr>
          <p:nvPr/>
        </p:nvPicPr>
        <p:blipFill>
          <a:blip r:embed="rId4"/>
          <a:stretch>
            <a:fillRect/>
          </a:stretch>
        </p:blipFill>
        <p:spPr>
          <a:xfrm>
            <a:off x="3382018" y="4384611"/>
            <a:ext cx="134549" cy="195707"/>
          </a:xfrm>
          <a:prstGeom prst="rect">
            <a:avLst/>
          </a:prstGeom>
        </p:spPr>
      </p:pic>
      <p:sp>
        <p:nvSpPr>
          <p:cNvPr id="23" name="TextBox 22"/>
          <p:cNvSpPr txBox="1"/>
          <p:nvPr/>
        </p:nvSpPr>
        <p:spPr>
          <a:xfrm>
            <a:off x="3557127" y="43948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622672"/>
            <a:ext cx="7028408" cy="194310"/>
          </a:xfrm>
          <a:prstGeom prst="rect">
            <a:avLst/>
          </a:prstGeom>
          <a:noFill/>
        </p:spPr>
        <p:txBody>
          <a:bodyPr wrap="none" lIns="0" rIns="0" tIns="0" bIns="0">
            <a:spAutoFit/>
          </a:bodyPr>
          <a:lstStyle/>
          <a:p>
            <a:r>
              <a:rPr sz="1150" b="0">
                <a:solidFill>
                  <a:srgbClr val="2E2E2E"/>
                </a:solidFill>
                <a:latin typeface="Calibri"/>
              </a:rPr>
              <a:t>In terms of value share by end use, the industrial air separation segment is expected to dominate the market, gaining</a:t>
            </a:r>
          </a:p>
        </p:txBody>
      </p:sp>
      <p:pic>
        <p:nvPicPr>
          <p:cNvPr id="25" name="Picture 24" descr="lock.png"/>
          <p:cNvPicPr>
            <a:picLocks noChangeAspect="1"/>
          </p:cNvPicPr>
          <p:nvPr/>
        </p:nvPicPr>
        <p:blipFill>
          <a:blip r:embed="rId4"/>
          <a:stretch>
            <a:fillRect/>
          </a:stretch>
        </p:blipFill>
        <p:spPr>
          <a:xfrm>
            <a:off x="7253787" y="4612449"/>
            <a:ext cx="134549" cy="195707"/>
          </a:xfrm>
          <a:prstGeom prst="rect">
            <a:avLst/>
          </a:prstGeom>
        </p:spPr>
      </p:pic>
      <p:sp>
        <p:nvSpPr>
          <p:cNvPr id="26" name="TextBox 25"/>
          <p:cNvSpPr txBox="1"/>
          <p:nvPr/>
        </p:nvSpPr>
        <p:spPr>
          <a:xfrm>
            <a:off x="7428896" y="46226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8824039" y="4612449"/>
            <a:ext cx="134549" cy="195707"/>
          </a:xfrm>
          <a:prstGeom prst="rect">
            <a:avLst/>
          </a:prstGeom>
        </p:spPr>
      </p:pic>
      <p:sp>
        <p:nvSpPr>
          <p:cNvPr id="28" name="TextBox 27"/>
          <p:cNvSpPr txBox="1"/>
          <p:nvPr/>
        </p:nvSpPr>
        <p:spPr>
          <a:xfrm>
            <a:off x="8999148" y="4622672"/>
            <a:ext cx="2177380" cy="194310"/>
          </a:xfrm>
          <a:prstGeom prst="rect">
            <a:avLst/>
          </a:prstGeom>
          <a:noFill/>
        </p:spPr>
        <p:txBody>
          <a:bodyPr wrap="none" lIns="0" rIns="0" tIns="0" bIns="0">
            <a:spAutoFit/>
          </a:bodyPr>
          <a:lstStyle/>
          <a:p>
            <a:r>
              <a:rPr sz="1150" b="0">
                <a:solidFill>
                  <a:srgbClr val="2E2E2E"/>
                </a:solidFill>
                <a:latin typeface="Calibri"/>
              </a:rPr>
              <a:t>share by 2036. The automotive and</a:t>
            </a:r>
          </a:p>
        </p:txBody>
      </p:sp>
      <p:sp>
        <p:nvSpPr>
          <p:cNvPr id="29" name="TextBox 28"/>
          <p:cNvSpPr txBox="1"/>
          <p:nvPr/>
        </p:nvSpPr>
        <p:spPr>
          <a:xfrm>
            <a:off x="276225" y="4797932"/>
            <a:ext cx="2622661" cy="194310"/>
          </a:xfrm>
          <a:prstGeom prst="rect">
            <a:avLst/>
          </a:prstGeom>
          <a:noFill/>
        </p:spPr>
        <p:txBody>
          <a:bodyPr wrap="none" lIns="0" rIns="0" tIns="0" bIns="0">
            <a:spAutoFit/>
          </a:bodyPr>
          <a:lstStyle/>
          <a:p>
            <a:r>
              <a:rPr sz="1150" b="0">
                <a:solidFill>
                  <a:srgbClr val="2E2E2E"/>
                </a:solidFill>
                <a:latin typeface="Calibri"/>
              </a:rPr>
              <a:t>transportation segment is expected to lose</a:t>
            </a:r>
          </a:p>
        </p:txBody>
      </p:sp>
      <p:pic>
        <p:nvPicPr>
          <p:cNvPr id="30" name="Picture 29" descr="lock.png"/>
          <p:cNvPicPr>
            <a:picLocks noChangeAspect="1"/>
          </p:cNvPicPr>
          <p:nvPr/>
        </p:nvPicPr>
        <p:blipFill>
          <a:blip r:embed="rId4"/>
          <a:stretch>
            <a:fillRect/>
          </a:stretch>
        </p:blipFill>
        <p:spPr>
          <a:xfrm>
            <a:off x="2848040" y="4787709"/>
            <a:ext cx="134549" cy="195707"/>
          </a:xfrm>
          <a:prstGeom prst="rect">
            <a:avLst/>
          </a:prstGeom>
        </p:spPr>
      </p:pic>
      <p:sp>
        <p:nvSpPr>
          <p:cNvPr id="31" name="TextBox 30"/>
          <p:cNvSpPr txBox="1"/>
          <p:nvPr/>
        </p:nvSpPr>
        <p:spPr>
          <a:xfrm>
            <a:off x="3023149" y="47979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5610654" y="4787709"/>
            <a:ext cx="134549" cy="195707"/>
          </a:xfrm>
          <a:prstGeom prst="rect">
            <a:avLst/>
          </a:prstGeom>
        </p:spPr>
      </p:pic>
      <p:sp>
        <p:nvSpPr>
          <p:cNvPr id="33" name="TextBox 32"/>
          <p:cNvSpPr txBox="1"/>
          <p:nvPr/>
        </p:nvSpPr>
        <p:spPr>
          <a:xfrm>
            <a:off x="5785763" y="47979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End Use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End Use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End Use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FMI Lock Anchor"/>
          <p:cNvSpPr txBox="1"/>
          <p:nvPr/>
        </p:nvSpPr>
        <p:spPr>
          <a:xfrm>
            <a:off x="2678811" y="4014597"/>
            <a:ext cx="38100" cy="38100"/>
          </a:xfrm>
          <a:prstGeom prst="rect">
            <a:avLst/>
          </a:prstGeom>
          <a:noFill/>
        </p:spPr>
        <p:txBody>
          <a:bodyPr wrap="none">
            <a:spAutoFit/>
          </a:bodyPr>
          <a:lstStyle/>
          <a:p/>
        </p:txBody>
      </p:sp>
      <p:sp>
        <p:nvSpPr>
          <p:cNvPr id="12" name="FMI Legend Chip"/>
          <p:cNvSpPr/>
          <p:nvPr/>
        </p:nvSpPr>
        <p:spPr>
          <a:xfrm>
            <a:off x="4928997" y="1786254"/>
            <a:ext cx="85725" cy="85725"/>
          </a:xfrm>
          <a:prstGeom prst="rect">
            <a:avLst/>
          </a:prstGeom>
          <a:solidFill>
            <a:srgbClr val="5862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78149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70529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Food and Beverages</a:t>
            </a:r>
          </a:p>
        </p:txBody>
      </p:sp>
      <p:sp>
        <p:nvSpPr>
          <p:cNvPr id="15" name="BPS Value 1"/>
          <p:cNvSpPr txBox="1"/>
          <p:nvPr/>
        </p:nvSpPr>
        <p:spPr>
          <a:xfrm>
            <a:off x="6896100" y="176720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FMI Legend Chip"/>
          <p:cNvSpPr/>
          <p:nvPr/>
        </p:nvSpPr>
        <p:spPr>
          <a:xfrm>
            <a:off x="4928997" y="2097043"/>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09228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01608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Pharmaceuticals</a:t>
            </a:r>
          </a:p>
        </p:txBody>
      </p:sp>
      <p:sp>
        <p:nvSpPr>
          <p:cNvPr id="19" name="BPS Value 2"/>
          <p:cNvSpPr txBox="1"/>
          <p:nvPr/>
        </p:nvSpPr>
        <p:spPr>
          <a:xfrm>
            <a:off x="6896100" y="207799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2506233"/>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50147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242527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Automotive and Transportation</a:t>
            </a:r>
          </a:p>
        </p:txBody>
      </p:sp>
      <p:sp>
        <p:nvSpPr>
          <p:cNvPr id="23" name="BPS Value 3"/>
          <p:cNvSpPr txBox="1"/>
          <p:nvPr/>
        </p:nvSpPr>
        <p:spPr>
          <a:xfrm>
            <a:off x="6896100" y="248718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3041803"/>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303704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296084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Oil and Gas</a:t>
            </a:r>
          </a:p>
        </p:txBody>
      </p:sp>
      <p:sp>
        <p:nvSpPr>
          <p:cNvPr id="27" name="BPS Value 4"/>
          <p:cNvSpPr txBox="1"/>
          <p:nvPr/>
        </p:nvSpPr>
        <p:spPr>
          <a:xfrm>
            <a:off x="6896100" y="302275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928997" y="3774389"/>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376962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5233797" y="369342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Mining and Metals</a:t>
            </a:r>
          </a:p>
        </p:txBody>
      </p:sp>
      <p:sp>
        <p:nvSpPr>
          <p:cNvPr id="31" name="BPS Value 5"/>
          <p:cNvSpPr txBox="1"/>
          <p:nvPr/>
        </p:nvSpPr>
        <p:spPr>
          <a:xfrm>
            <a:off x="6896100" y="375533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928997" y="4615422"/>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461066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5233797" y="453446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Manufacturing</a:t>
            </a:r>
          </a:p>
        </p:txBody>
      </p:sp>
      <p:sp>
        <p:nvSpPr>
          <p:cNvPr id="35" name="BPS Value 6"/>
          <p:cNvSpPr txBox="1"/>
          <p:nvPr/>
        </p:nvSpPr>
        <p:spPr>
          <a:xfrm>
            <a:off x="6896100" y="459637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FMI Legend Chip"/>
          <p:cNvSpPr/>
          <p:nvPr/>
        </p:nvSpPr>
        <p:spPr>
          <a:xfrm>
            <a:off x="4928997" y="5644839"/>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a:off x="5090922" y="564007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7"/>
          <p:cNvSpPr txBox="1"/>
          <p:nvPr/>
        </p:nvSpPr>
        <p:spPr>
          <a:xfrm>
            <a:off x="5233797" y="556387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Industrial Air Separation</a:t>
            </a:r>
          </a:p>
        </p:txBody>
      </p:sp>
      <p:sp>
        <p:nvSpPr>
          <p:cNvPr id="39" name="BPS Value 7"/>
          <p:cNvSpPr txBox="1"/>
          <p:nvPr/>
        </p:nvSpPr>
        <p:spPr>
          <a:xfrm>
            <a:off x="6896100" y="562578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0" name="Rounded Rectangle 39"/>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North America Read-out, By End Use</a:t>
            </a:r>
          </a:p>
        </p:txBody>
      </p:sp>
      <p:sp>
        <p:nvSpPr>
          <p:cNvPr id="42" name="Rectangle 41"/>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4" name="Rectangle 4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6" name="Picture 45" descr="lock.png"/>
          <p:cNvPicPr>
            <a:picLocks noChangeAspect="1"/>
          </p:cNvPicPr>
          <p:nvPr/>
        </p:nvPicPr>
        <p:blipFill>
          <a:blip r:embed="rId5"/>
          <a:stretch>
            <a:fillRect/>
          </a:stretch>
        </p:blipFill>
        <p:spPr>
          <a:xfrm>
            <a:off x="2557843" y="3833622"/>
            <a:ext cx="275034" cy="400050"/>
          </a:xfrm>
          <a:prstGeom prst="rect">
            <a:avLst/>
          </a:prstGeom>
        </p:spPr>
      </p:pic>
      <p:sp>
        <p:nvSpPr>
          <p:cNvPr id="47" name="TextBox 46"/>
          <p:cNvSpPr txBox="1"/>
          <p:nvPr/>
        </p:nvSpPr>
        <p:spPr>
          <a:xfrm>
            <a:off x="7829550" y="1400175"/>
            <a:ext cx="3500673" cy="194310"/>
          </a:xfrm>
          <a:prstGeom prst="rect">
            <a:avLst/>
          </a:prstGeom>
          <a:noFill/>
        </p:spPr>
        <p:txBody>
          <a:bodyPr wrap="none" lIns="0" rIns="0" tIns="0" bIns="0">
            <a:spAutoFit/>
          </a:bodyPr>
          <a:lstStyle/>
          <a:p>
            <a:r>
              <a:rPr sz="1150" b="0">
                <a:solidFill>
                  <a:srgbClr val="2E2E2E"/>
                </a:solidFill>
                <a:latin typeface="Calibri"/>
              </a:rPr>
              <a:t>Among industrial air compressor by end use, industrial air</a:t>
            </a:r>
          </a:p>
        </p:txBody>
      </p:sp>
      <p:sp>
        <p:nvSpPr>
          <p:cNvPr id="48" name="TextBox 47"/>
          <p:cNvSpPr txBox="1"/>
          <p:nvPr/>
        </p:nvSpPr>
        <p:spPr>
          <a:xfrm>
            <a:off x="7829550" y="1575435"/>
            <a:ext cx="3823562" cy="194310"/>
          </a:xfrm>
          <a:prstGeom prst="rect">
            <a:avLst/>
          </a:prstGeom>
          <a:noFill/>
        </p:spPr>
        <p:txBody>
          <a:bodyPr wrap="none" lIns="0" rIns="0" tIns="0" bIns="0">
            <a:spAutoFit/>
          </a:bodyPr>
          <a:lstStyle/>
          <a:p>
            <a:r>
              <a:rPr sz="1150" b="0">
                <a:solidFill>
                  <a:srgbClr val="2E2E2E"/>
                </a:solidFill>
                <a:latin typeface="Calibri"/>
              </a:rPr>
              <a:t>separation segment is expected to witness the highest CAGR of</a:t>
            </a:r>
          </a:p>
        </p:txBody>
      </p:sp>
      <p:pic>
        <p:nvPicPr>
          <p:cNvPr id="49" name="Picture 48" descr="lock.png"/>
          <p:cNvPicPr>
            <a:picLocks noChangeAspect="1"/>
          </p:cNvPicPr>
          <p:nvPr/>
        </p:nvPicPr>
        <p:blipFill>
          <a:blip r:embed="rId5"/>
          <a:stretch>
            <a:fillRect/>
          </a:stretch>
        </p:blipFill>
        <p:spPr>
          <a:xfrm>
            <a:off x="11602266" y="1565211"/>
            <a:ext cx="134549" cy="195707"/>
          </a:xfrm>
          <a:prstGeom prst="rect">
            <a:avLst/>
          </a:prstGeom>
        </p:spPr>
      </p:pic>
      <p:sp>
        <p:nvSpPr>
          <p:cNvPr id="50" name="TextBox 49"/>
          <p:cNvSpPr txBox="1"/>
          <p:nvPr/>
        </p:nvSpPr>
        <p:spPr>
          <a:xfrm>
            <a:off x="7829550" y="1750695"/>
            <a:ext cx="3885195"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end use, the</a:t>
            </a:r>
          </a:p>
        </p:txBody>
      </p:sp>
      <p:sp>
        <p:nvSpPr>
          <p:cNvPr id="51" name="TextBox 50"/>
          <p:cNvSpPr txBox="1"/>
          <p:nvPr/>
        </p:nvSpPr>
        <p:spPr>
          <a:xfrm>
            <a:off x="7829550" y="1925955"/>
            <a:ext cx="3735151" cy="194310"/>
          </a:xfrm>
          <a:prstGeom prst="rect">
            <a:avLst/>
          </a:prstGeom>
          <a:noFill/>
        </p:spPr>
        <p:txBody>
          <a:bodyPr wrap="none" lIns="0" rIns="0" tIns="0" bIns="0">
            <a:spAutoFit/>
          </a:bodyPr>
          <a:lstStyle/>
          <a:p>
            <a:r>
              <a:rPr sz="1150" b="0">
                <a:solidFill>
                  <a:srgbClr val="2E2E2E"/>
                </a:solidFill>
                <a:latin typeface="Calibri"/>
              </a:rPr>
              <a:t>industrial air separation segment is expected to dominate the</a:t>
            </a:r>
          </a:p>
        </p:txBody>
      </p:sp>
      <p:sp>
        <p:nvSpPr>
          <p:cNvPr id="52" name="TextBox 51"/>
          <p:cNvSpPr txBox="1"/>
          <p:nvPr/>
        </p:nvSpPr>
        <p:spPr>
          <a:xfrm>
            <a:off x="7829550" y="2101215"/>
            <a:ext cx="999852" cy="194310"/>
          </a:xfrm>
          <a:prstGeom prst="rect">
            <a:avLst/>
          </a:prstGeom>
          <a:noFill/>
        </p:spPr>
        <p:txBody>
          <a:bodyPr wrap="none" lIns="0" rIns="0" tIns="0" bIns="0">
            <a:spAutoFit/>
          </a:bodyPr>
          <a:lstStyle/>
          <a:p>
            <a:r>
              <a:rPr sz="1150" b="0">
                <a:solidFill>
                  <a:srgbClr val="2E2E2E"/>
                </a:solidFill>
                <a:latin typeface="Calibri"/>
              </a:rPr>
              <a:t>market, gaining</a:t>
            </a:r>
          </a:p>
        </p:txBody>
      </p:sp>
      <p:pic>
        <p:nvPicPr>
          <p:cNvPr id="53" name="Picture 52" descr="lock.png"/>
          <p:cNvPicPr>
            <a:picLocks noChangeAspect="1"/>
          </p:cNvPicPr>
          <p:nvPr/>
        </p:nvPicPr>
        <p:blipFill>
          <a:blip r:embed="rId5"/>
          <a:stretch>
            <a:fillRect/>
          </a:stretch>
        </p:blipFill>
        <p:spPr>
          <a:xfrm>
            <a:off x="8778556" y="2090991"/>
            <a:ext cx="134549" cy="195707"/>
          </a:xfrm>
          <a:prstGeom prst="rect">
            <a:avLst/>
          </a:prstGeom>
        </p:spPr>
      </p:pic>
      <p:sp>
        <p:nvSpPr>
          <p:cNvPr id="54" name="TextBox 53"/>
          <p:cNvSpPr txBox="1"/>
          <p:nvPr/>
        </p:nvSpPr>
        <p:spPr>
          <a:xfrm>
            <a:off x="895366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5" name="Picture 54" descr="lock.png"/>
          <p:cNvPicPr>
            <a:picLocks noChangeAspect="1"/>
          </p:cNvPicPr>
          <p:nvPr/>
        </p:nvPicPr>
        <p:blipFill>
          <a:blip r:embed="rId5"/>
          <a:stretch>
            <a:fillRect/>
          </a:stretch>
        </p:blipFill>
        <p:spPr>
          <a:xfrm>
            <a:off x="10348808" y="2090991"/>
            <a:ext cx="134549" cy="195707"/>
          </a:xfrm>
          <a:prstGeom prst="rect">
            <a:avLst/>
          </a:prstGeom>
        </p:spPr>
      </p:pic>
      <p:sp>
        <p:nvSpPr>
          <p:cNvPr id="56" name="TextBox 55"/>
          <p:cNvSpPr txBox="1"/>
          <p:nvPr/>
        </p:nvSpPr>
        <p:spPr>
          <a:xfrm>
            <a:off x="10523917"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7" name="TextBox 56"/>
          <p:cNvSpPr txBox="1"/>
          <p:nvPr/>
        </p:nvSpPr>
        <p:spPr>
          <a:xfrm>
            <a:off x="7829550" y="2329053"/>
            <a:ext cx="3853817" cy="194310"/>
          </a:xfrm>
          <a:prstGeom prst="rect">
            <a:avLst/>
          </a:prstGeom>
          <a:noFill/>
        </p:spPr>
        <p:txBody>
          <a:bodyPr wrap="none" lIns="0" rIns="0" tIns="0" bIns="0">
            <a:spAutoFit/>
          </a:bodyPr>
          <a:lstStyle/>
          <a:p>
            <a:r>
              <a:rPr sz="1150" b="0">
                <a:solidFill>
                  <a:srgbClr val="2E2E2E"/>
                </a:solidFill>
                <a:latin typeface="Calibri"/>
              </a:rPr>
              <a:t>The automotive and transportation segment is expected to lose</a:t>
            </a:r>
          </a:p>
        </p:txBody>
      </p:sp>
      <p:pic>
        <p:nvPicPr>
          <p:cNvPr id="58" name="Picture 57" descr="lock.png"/>
          <p:cNvPicPr>
            <a:picLocks noChangeAspect="1"/>
          </p:cNvPicPr>
          <p:nvPr/>
        </p:nvPicPr>
        <p:blipFill>
          <a:blip r:embed="rId5"/>
          <a:stretch>
            <a:fillRect/>
          </a:stretch>
        </p:blipFill>
        <p:spPr>
          <a:xfrm>
            <a:off x="7815470" y="2494089"/>
            <a:ext cx="134549" cy="195707"/>
          </a:xfrm>
          <a:prstGeom prst="rect">
            <a:avLst/>
          </a:prstGeom>
        </p:spPr>
      </p:pic>
      <p:sp>
        <p:nvSpPr>
          <p:cNvPr id="59" name="TextBox 58"/>
          <p:cNvSpPr txBox="1"/>
          <p:nvPr/>
        </p:nvSpPr>
        <p:spPr>
          <a:xfrm>
            <a:off x="7990579" y="250431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60" name="Picture 59" descr="lock.png"/>
          <p:cNvPicPr>
            <a:picLocks noChangeAspect="1"/>
          </p:cNvPicPr>
          <p:nvPr/>
        </p:nvPicPr>
        <p:blipFill>
          <a:blip r:embed="rId5"/>
          <a:stretch>
            <a:fillRect/>
          </a:stretch>
        </p:blipFill>
        <p:spPr>
          <a:xfrm>
            <a:off x="10578084" y="2494089"/>
            <a:ext cx="134549" cy="195707"/>
          </a:xfrm>
          <a:prstGeom prst="rect">
            <a:avLst/>
          </a:prstGeom>
        </p:spPr>
      </p:pic>
      <p:sp>
        <p:nvSpPr>
          <p:cNvPr id="61" name="TextBox 60"/>
          <p:cNvSpPr txBox="1"/>
          <p:nvPr/>
        </p:nvSpPr>
        <p:spPr>
          <a:xfrm>
            <a:off x="1075319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2"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10.5</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Driver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Driver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Driver Type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Driver Type,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Driver Type segment categorizes the market by driver type.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Diesel Engine-Driven</a:t>
            </a:r>
          </a:p>
        </p:txBody>
      </p:sp>
      <p:sp>
        <p:nvSpPr>
          <p:cNvPr id="19" name="Rectangle 18"/>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Natural Gas Engine-Driven</a:t>
            </a:r>
          </a:p>
        </p:txBody>
      </p:sp>
      <p:sp>
        <p:nvSpPr>
          <p:cNvPr id="26" name="Rectangle 25"/>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Steam Turbine-Driven</a:t>
            </a:r>
          </a:p>
        </p:txBody>
      </p:sp>
      <p:sp>
        <p:nvSpPr>
          <p:cNvPr id="33" name="Rectangle 32"/>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Gas Turbine-Driven</a:t>
            </a:r>
          </a:p>
        </p:txBody>
      </p:sp>
      <p:sp>
        <p:nvSpPr>
          <p:cNvPr id="40" name="Rectangle 39"/>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Drive Types</a:t>
            </a:r>
          </a:p>
        </p:txBody>
      </p:sp>
      <p:sp>
        <p:nvSpPr>
          <p:cNvPr id="47" name="Rectangle 46"/>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Electric Motor-Driven</a:t>
            </a:r>
          </a:p>
        </p:txBody>
      </p:sp>
      <p:sp>
        <p:nvSpPr>
          <p:cNvPr id="54" name="Rectangle 53"/>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5" name="Rectangle 54"/>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6" name="Rectangle 55"/>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7" name="Oval 56"/>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58" name="Rounded Rectangle 5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0" name="Rectangle 59"/>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2" name="Rounded Rectangle 6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4" name="Rectangle 63"/>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6" name="Rounded Rectangle 6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8" name="Rectangle 67"/>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Driver Type split shows how demand is distributed across driver type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70" name="Rectangle 6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2" name="TextBox 7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73" name="Rectangle 7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5" name="Picture 74" descr="1_686_605E5C.png"/>
          <p:cNvPicPr>
            <a:picLocks noChangeAspect="1"/>
          </p:cNvPicPr>
          <p:nvPr/>
        </p:nvPicPr>
        <p:blipFill>
          <a:blip r:embed="rId4"/>
          <a:stretch>
            <a:fillRect/>
          </a:stretch>
        </p:blipFill>
        <p:spPr>
          <a:xfrm>
            <a:off x="2054848" y="2286582"/>
            <a:ext cx="1195728" cy="361950"/>
          </a:xfrm>
          <a:prstGeom prst="rect">
            <a:avLst/>
          </a:prstGeom>
        </p:spPr>
      </p:pic>
      <p:pic>
        <p:nvPicPr>
          <p:cNvPr id="76" name="Picture 75" descr="2_706_605E5C.png"/>
          <p:cNvPicPr>
            <a:picLocks noChangeAspect="1"/>
          </p:cNvPicPr>
          <p:nvPr/>
        </p:nvPicPr>
        <p:blipFill>
          <a:blip r:embed="rId5"/>
          <a:stretch>
            <a:fillRect/>
          </a:stretch>
        </p:blipFill>
        <p:spPr>
          <a:xfrm>
            <a:off x="2054848" y="2779432"/>
            <a:ext cx="1195728" cy="361950"/>
          </a:xfrm>
          <a:prstGeom prst="rect">
            <a:avLst/>
          </a:prstGeom>
        </p:spPr>
      </p:pic>
      <p:pic>
        <p:nvPicPr>
          <p:cNvPr id="77" name="Picture 76" descr="4_8__605E5C.png"/>
          <p:cNvPicPr>
            <a:picLocks noChangeAspect="1"/>
          </p:cNvPicPr>
          <p:nvPr/>
        </p:nvPicPr>
        <p:blipFill>
          <a:blip r:embed="rId6"/>
          <a:stretch>
            <a:fillRect/>
          </a:stretch>
        </p:blipFill>
        <p:spPr>
          <a:xfrm>
            <a:off x="2161494" y="3272281"/>
            <a:ext cx="982436" cy="361950"/>
          </a:xfrm>
          <a:prstGeom prst="rect">
            <a:avLst/>
          </a:prstGeom>
        </p:spPr>
      </p:pic>
      <p:pic>
        <p:nvPicPr>
          <p:cNvPr id="78" name="Picture 77" descr="1_160_605E5C.png"/>
          <p:cNvPicPr>
            <a:picLocks noChangeAspect="1"/>
          </p:cNvPicPr>
          <p:nvPr/>
        </p:nvPicPr>
        <p:blipFill>
          <a:blip r:embed="rId7"/>
          <a:stretch>
            <a:fillRect/>
          </a:stretch>
        </p:blipFill>
        <p:spPr>
          <a:xfrm>
            <a:off x="3740773" y="2286582"/>
            <a:ext cx="1195728" cy="361950"/>
          </a:xfrm>
          <a:prstGeom prst="rect">
            <a:avLst/>
          </a:prstGeom>
        </p:spPr>
      </p:pic>
      <p:pic>
        <p:nvPicPr>
          <p:cNvPr id="79" name="Picture 78" descr="1_434_605E5C.png"/>
          <p:cNvPicPr>
            <a:picLocks noChangeAspect="1"/>
          </p:cNvPicPr>
          <p:nvPr/>
        </p:nvPicPr>
        <p:blipFill>
          <a:blip r:embed="rId8"/>
          <a:stretch>
            <a:fillRect/>
          </a:stretch>
        </p:blipFill>
        <p:spPr>
          <a:xfrm>
            <a:off x="3740773" y="2779432"/>
            <a:ext cx="1195728" cy="361950"/>
          </a:xfrm>
          <a:prstGeom prst="rect">
            <a:avLst/>
          </a:prstGeom>
        </p:spPr>
      </p:pic>
      <p:pic>
        <p:nvPicPr>
          <p:cNvPr id="80" name="Picture 79" descr="2_1__605E5C.png"/>
          <p:cNvPicPr>
            <a:picLocks noChangeAspect="1"/>
          </p:cNvPicPr>
          <p:nvPr/>
        </p:nvPicPr>
        <p:blipFill>
          <a:blip r:embed="rId9"/>
          <a:stretch>
            <a:fillRect/>
          </a:stretch>
        </p:blipFill>
        <p:spPr>
          <a:xfrm>
            <a:off x="3847419" y="3272281"/>
            <a:ext cx="982436" cy="361950"/>
          </a:xfrm>
          <a:prstGeom prst="rect">
            <a:avLst/>
          </a:prstGeom>
        </p:spPr>
      </p:pic>
      <p:pic>
        <p:nvPicPr>
          <p:cNvPr id="81" name="Picture 80" descr="676_7_605E5C.png"/>
          <p:cNvPicPr>
            <a:picLocks noChangeAspect="1"/>
          </p:cNvPicPr>
          <p:nvPr/>
        </p:nvPicPr>
        <p:blipFill>
          <a:blip r:embed="rId10"/>
          <a:stretch>
            <a:fillRect/>
          </a:stretch>
        </p:blipFill>
        <p:spPr>
          <a:xfrm>
            <a:off x="5426698" y="2286582"/>
            <a:ext cx="1195728" cy="361950"/>
          </a:xfrm>
          <a:prstGeom prst="rect">
            <a:avLst/>
          </a:prstGeom>
        </p:spPr>
      </p:pic>
      <p:pic>
        <p:nvPicPr>
          <p:cNvPr id="82" name="Picture 81" descr="1_240_605E5C.png"/>
          <p:cNvPicPr>
            <a:picLocks noChangeAspect="1"/>
          </p:cNvPicPr>
          <p:nvPr/>
        </p:nvPicPr>
        <p:blipFill>
          <a:blip r:embed="rId11"/>
          <a:stretch>
            <a:fillRect/>
          </a:stretch>
        </p:blipFill>
        <p:spPr>
          <a:xfrm>
            <a:off x="5426698" y="2779432"/>
            <a:ext cx="1195728" cy="361950"/>
          </a:xfrm>
          <a:prstGeom prst="rect">
            <a:avLst/>
          </a:prstGeom>
        </p:spPr>
      </p:pic>
      <p:pic>
        <p:nvPicPr>
          <p:cNvPr id="83" name="Picture 82" descr="6_2__605E5C.png"/>
          <p:cNvPicPr>
            <a:picLocks noChangeAspect="1"/>
          </p:cNvPicPr>
          <p:nvPr/>
        </p:nvPicPr>
        <p:blipFill>
          <a:blip r:embed="rId12"/>
          <a:stretch>
            <a:fillRect/>
          </a:stretch>
        </p:blipFill>
        <p:spPr>
          <a:xfrm>
            <a:off x="5533344" y="3272281"/>
            <a:ext cx="982436" cy="361950"/>
          </a:xfrm>
          <a:prstGeom prst="rect">
            <a:avLst/>
          </a:prstGeom>
        </p:spPr>
      </p:pic>
      <p:pic>
        <p:nvPicPr>
          <p:cNvPr id="84" name="Picture 83" descr="384_4_605E5C.png"/>
          <p:cNvPicPr>
            <a:picLocks noChangeAspect="1"/>
          </p:cNvPicPr>
          <p:nvPr/>
        </p:nvPicPr>
        <p:blipFill>
          <a:blip r:embed="rId13"/>
          <a:stretch>
            <a:fillRect/>
          </a:stretch>
        </p:blipFill>
        <p:spPr>
          <a:xfrm>
            <a:off x="7112623" y="2286582"/>
            <a:ext cx="1195728" cy="361950"/>
          </a:xfrm>
          <a:prstGeom prst="rect">
            <a:avLst/>
          </a:prstGeom>
        </p:spPr>
      </p:pic>
      <p:pic>
        <p:nvPicPr>
          <p:cNvPr id="85" name="Picture 84" descr="590_3_605E5C.png"/>
          <p:cNvPicPr>
            <a:picLocks noChangeAspect="1"/>
          </p:cNvPicPr>
          <p:nvPr/>
        </p:nvPicPr>
        <p:blipFill>
          <a:blip r:embed="rId14"/>
          <a:stretch>
            <a:fillRect/>
          </a:stretch>
        </p:blipFill>
        <p:spPr>
          <a:xfrm>
            <a:off x="7112623" y="2779432"/>
            <a:ext cx="1195728" cy="361950"/>
          </a:xfrm>
          <a:prstGeom prst="rect">
            <a:avLst/>
          </a:prstGeom>
        </p:spPr>
      </p:pic>
      <p:pic>
        <p:nvPicPr>
          <p:cNvPr id="86" name="Picture 85" descr="4_4__605E5C.png"/>
          <p:cNvPicPr>
            <a:picLocks noChangeAspect="1"/>
          </p:cNvPicPr>
          <p:nvPr/>
        </p:nvPicPr>
        <p:blipFill>
          <a:blip r:embed="rId15"/>
          <a:stretch>
            <a:fillRect/>
          </a:stretch>
        </p:blipFill>
        <p:spPr>
          <a:xfrm>
            <a:off x="7219269" y="3272281"/>
            <a:ext cx="982436" cy="361950"/>
          </a:xfrm>
          <a:prstGeom prst="rect">
            <a:avLst/>
          </a:prstGeom>
        </p:spPr>
      </p:pic>
      <p:pic>
        <p:nvPicPr>
          <p:cNvPr id="87" name="Picture 86" descr="208_6_605E5C.png"/>
          <p:cNvPicPr>
            <a:picLocks noChangeAspect="1"/>
          </p:cNvPicPr>
          <p:nvPr/>
        </p:nvPicPr>
        <p:blipFill>
          <a:blip r:embed="rId16"/>
          <a:stretch>
            <a:fillRect/>
          </a:stretch>
        </p:blipFill>
        <p:spPr>
          <a:xfrm>
            <a:off x="8798548" y="2286582"/>
            <a:ext cx="1195728" cy="361950"/>
          </a:xfrm>
          <a:prstGeom prst="rect">
            <a:avLst/>
          </a:prstGeom>
        </p:spPr>
      </p:pic>
      <p:pic>
        <p:nvPicPr>
          <p:cNvPr id="88" name="Picture 87" descr="241_1_605E5C.png"/>
          <p:cNvPicPr>
            <a:picLocks noChangeAspect="1"/>
          </p:cNvPicPr>
          <p:nvPr/>
        </p:nvPicPr>
        <p:blipFill>
          <a:blip r:embed="rId17"/>
          <a:stretch>
            <a:fillRect/>
          </a:stretch>
        </p:blipFill>
        <p:spPr>
          <a:xfrm>
            <a:off x="8798548" y="2779432"/>
            <a:ext cx="1195728" cy="361950"/>
          </a:xfrm>
          <a:prstGeom prst="rect">
            <a:avLst/>
          </a:prstGeom>
        </p:spPr>
      </p:pic>
      <p:pic>
        <p:nvPicPr>
          <p:cNvPr id="89" name="Picture 88" descr="1_5__605E5C.png"/>
          <p:cNvPicPr>
            <a:picLocks noChangeAspect="1"/>
          </p:cNvPicPr>
          <p:nvPr/>
        </p:nvPicPr>
        <p:blipFill>
          <a:blip r:embed="rId18"/>
          <a:stretch>
            <a:fillRect/>
          </a:stretch>
        </p:blipFill>
        <p:spPr>
          <a:xfrm>
            <a:off x="8905194" y="3272281"/>
            <a:ext cx="982436" cy="361950"/>
          </a:xfrm>
          <a:prstGeom prst="rect">
            <a:avLst/>
          </a:prstGeom>
        </p:spPr>
      </p:pic>
      <p:pic>
        <p:nvPicPr>
          <p:cNvPr id="90" name="Picture 89" descr="200_8_605E5C.png"/>
          <p:cNvPicPr>
            <a:picLocks noChangeAspect="1"/>
          </p:cNvPicPr>
          <p:nvPr/>
        </p:nvPicPr>
        <p:blipFill>
          <a:blip r:embed="rId19"/>
          <a:stretch>
            <a:fillRect/>
          </a:stretch>
        </p:blipFill>
        <p:spPr>
          <a:xfrm>
            <a:off x="10484473" y="2286582"/>
            <a:ext cx="1195728" cy="361950"/>
          </a:xfrm>
          <a:prstGeom prst="rect">
            <a:avLst/>
          </a:prstGeom>
        </p:spPr>
      </p:pic>
      <p:pic>
        <p:nvPicPr>
          <p:cNvPr id="91" name="Picture 90" descr="318_1_605E5C.png"/>
          <p:cNvPicPr>
            <a:picLocks noChangeAspect="1"/>
          </p:cNvPicPr>
          <p:nvPr/>
        </p:nvPicPr>
        <p:blipFill>
          <a:blip r:embed="rId20"/>
          <a:stretch>
            <a:fillRect/>
          </a:stretch>
        </p:blipFill>
        <p:spPr>
          <a:xfrm>
            <a:off x="10484473" y="2779432"/>
            <a:ext cx="1195728" cy="361950"/>
          </a:xfrm>
          <a:prstGeom prst="rect">
            <a:avLst/>
          </a:prstGeom>
        </p:spPr>
      </p:pic>
      <p:pic>
        <p:nvPicPr>
          <p:cNvPr id="92" name="Picture 91" descr="4_7__605E5C.png"/>
          <p:cNvPicPr>
            <a:picLocks noChangeAspect="1"/>
          </p:cNvPicPr>
          <p:nvPr/>
        </p:nvPicPr>
        <p:blipFill>
          <a:blip r:embed="rId21"/>
          <a:stretch>
            <a:fillRect/>
          </a:stretch>
        </p:blipFill>
        <p:spPr>
          <a:xfrm>
            <a:off x="10591119" y="3272281"/>
            <a:ext cx="982436" cy="361950"/>
          </a:xfrm>
          <a:prstGeom prst="rect">
            <a:avLst/>
          </a:prstGeom>
        </p:spPr>
      </p:pic>
      <p:pic>
        <p:nvPicPr>
          <p:cNvPr id="93" name="Picture 92" descr="lock.png"/>
          <p:cNvPicPr>
            <a:picLocks noChangeAspect="1"/>
          </p:cNvPicPr>
          <p:nvPr/>
        </p:nvPicPr>
        <p:blipFill>
          <a:blip r:embed="rId22"/>
          <a:stretch>
            <a:fillRect/>
          </a:stretch>
        </p:blipFill>
        <p:spPr>
          <a:xfrm>
            <a:off x="2559367" y="2827057"/>
            <a:ext cx="183356" cy="266700"/>
          </a:xfrm>
          <a:prstGeom prst="rect">
            <a:avLst/>
          </a:prstGeom>
        </p:spPr>
      </p:pic>
      <p:pic>
        <p:nvPicPr>
          <p:cNvPr id="94" name="Picture 93" descr="lock.png"/>
          <p:cNvPicPr>
            <a:picLocks noChangeAspect="1"/>
          </p:cNvPicPr>
          <p:nvPr/>
        </p:nvPicPr>
        <p:blipFill>
          <a:blip r:embed="rId22"/>
          <a:stretch>
            <a:fillRect/>
          </a:stretch>
        </p:blipFill>
        <p:spPr>
          <a:xfrm>
            <a:off x="4245292" y="2827057"/>
            <a:ext cx="183356" cy="266700"/>
          </a:xfrm>
          <a:prstGeom prst="rect">
            <a:avLst/>
          </a:prstGeom>
        </p:spPr>
      </p:pic>
      <p:pic>
        <p:nvPicPr>
          <p:cNvPr id="95" name="Picture 94" descr="lock.png"/>
          <p:cNvPicPr>
            <a:picLocks noChangeAspect="1"/>
          </p:cNvPicPr>
          <p:nvPr/>
        </p:nvPicPr>
        <p:blipFill>
          <a:blip r:embed="rId22"/>
          <a:stretch>
            <a:fillRect/>
          </a:stretch>
        </p:blipFill>
        <p:spPr>
          <a:xfrm>
            <a:off x="593121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761714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930306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10988992" y="2827057"/>
            <a:ext cx="183356" cy="266700"/>
          </a:xfrm>
          <a:prstGeom prst="rect">
            <a:avLst/>
          </a:prstGeom>
        </p:spPr>
      </p:pic>
      <p:sp>
        <p:nvSpPr>
          <p:cNvPr id="99" name="TextBox 98"/>
          <p:cNvSpPr txBox="1"/>
          <p:nvPr/>
        </p:nvSpPr>
        <p:spPr>
          <a:xfrm>
            <a:off x="485775" y="4229437"/>
            <a:ext cx="2781796" cy="186689"/>
          </a:xfrm>
          <a:prstGeom prst="rect">
            <a:avLst/>
          </a:prstGeom>
          <a:noFill/>
        </p:spPr>
        <p:txBody>
          <a:bodyPr wrap="none" lIns="0" rIns="0" tIns="0" bIns="0">
            <a:spAutoFit/>
          </a:bodyPr>
          <a:lstStyle/>
          <a:p>
            <a:r>
              <a:rPr sz="1100" b="0">
                <a:solidFill>
                  <a:srgbClr val="2E2E2E"/>
                </a:solidFill>
                <a:latin typeface="Calibri"/>
              </a:rPr>
              <a:t>Among industrial air compressor by driver type,</a:t>
            </a:r>
          </a:p>
        </p:txBody>
      </p:sp>
      <p:sp>
        <p:nvSpPr>
          <p:cNvPr id="100" name="TextBox 99"/>
          <p:cNvSpPr txBox="1"/>
          <p:nvPr/>
        </p:nvSpPr>
        <p:spPr>
          <a:xfrm>
            <a:off x="485775" y="4397077"/>
            <a:ext cx="2625997" cy="186689"/>
          </a:xfrm>
          <a:prstGeom prst="rect">
            <a:avLst/>
          </a:prstGeom>
          <a:noFill/>
        </p:spPr>
        <p:txBody>
          <a:bodyPr wrap="none" lIns="0" rIns="0" tIns="0" bIns="0">
            <a:spAutoFit/>
          </a:bodyPr>
          <a:lstStyle/>
          <a:p>
            <a:r>
              <a:rPr sz="1100" b="0">
                <a:solidFill>
                  <a:srgbClr val="2E2E2E"/>
                </a:solidFill>
                <a:latin typeface="Calibri"/>
              </a:rPr>
              <a:t>steam turbine-driven segment is expected to</a:t>
            </a:r>
          </a:p>
        </p:txBody>
      </p:sp>
      <p:sp>
        <p:nvSpPr>
          <p:cNvPr id="101" name="TextBox 100"/>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102" name="Picture 101" descr="lock.png"/>
          <p:cNvPicPr>
            <a:picLocks noChangeAspect="1"/>
          </p:cNvPicPr>
          <p:nvPr/>
        </p:nvPicPr>
        <p:blipFill>
          <a:blip r:embed="rId22"/>
          <a:stretch>
            <a:fillRect/>
          </a:stretch>
        </p:blipFill>
        <p:spPr>
          <a:xfrm>
            <a:off x="2108919" y="4554938"/>
            <a:ext cx="128699" cy="187198"/>
          </a:xfrm>
          <a:prstGeom prst="rect">
            <a:avLst/>
          </a:prstGeom>
        </p:spPr>
      </p:pic>
      <p:sp>
        <p:nvSpPr>
          <p:cNvPr id="103" name="TextBox 102"/>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104" name="TextBox 103"/>
          <p:cNvSpPr txBox="1"/>
          <p:nvPr/>
        </p:nvSpPr>
        <p:spPr>
          <a:xfrm>
            <a:off x="485775" y="4732357"/>
            <a:ext cx="2892573" cy="186689"/>
          </a:xfrm>
          <a:prstGeom prst="rect">
            <a:avLst/>
          </a:prstGeom>
          <a:noFill/>
        </p:spPr>
        <p:txBody>
          <a:bodyPr wrap="none" lIns="0" rIns="0" tIns="0" bIns="0">
            <a:spAutoFit/>
          </a:bodyPr>
          <a:lstStyle/>
          <a:p>
            <a:r>
              <a:rPr sz="1100" b="0">
                <a:solidFill>
                  <a:srgbClr val="2E2E2E"/>
                </a:solidFill>
                <a:latin typeface="Calibri"/>
              </a:rPr>
              <a:t>period. In terms of value share by driver type, the</a:t>
            </a:r>
          </a:p>
        </p:txBody>
      </p:sp>
      <p:sp>
        <p:nvSpPr>
          <p:cNvPr id="105" name="TextBox 104"/>
          <p:cNvSpPr txBox="1"/>
          <p:nvPr/>
        </p:nvSpPr>
        <p:spPr>
          <a:xfrm>
            <a:off x="485775" y="4899997"/>
            <a:ext cx="2574156" cy="186689"/>
          </a:xfrm>
          <a:prstGeom prst="rect">
            <a:avLst/>
          </a:prstGeom>
          <a:noFill/>
        </p:spPr>
        <p:txBody>
          <a:bodyPr wrap="none" lIns="0" rIns="0" tIns="0" bIns="0">
            <a:spAutoFit/>
          </a:bodyPr>
          <a:lstStyle/>
          <a:p>
            <a:r>
              <a:rPr sz="1100" b="0">
                <a:solidFill>
                  <a:srgbClr val="2E2E2E"/>
                </a:solidFill>
                <a:latin typeface="Calibri"/>
              </a:rPr>
              <a:t>diesel engine-driven segment is expected to</a:t>
            </a:r>
          </a:p>
        </p:txBody>
      </p:sp>
      <p:sp>
        <p:nvSpPr>
          <p:cNvPr id="106" name="TextBox 105"/>
          <p:cNvSpPr txBox="1"/>
          <p:nvPr/>
        </p:nvSpPr>
        <p:spPr>
          <a:xfrm>
            <a:off x="485775" y="506763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107" name="Picture 106" descr="lock.png"/>
          <p:cNvPicPr>
            <a:picLocks noChangeAspect="1"/>
          </p:cNvPicPr>
          <p:nvPr/>
        </p:nvPicPr>
        <p:blipFill>
          <a:blip r:embed="rId22"/>
          <a:stretch>
            <a:fillRect/>
          </a:stretch>
        </p:blipFill>
        <p:spPr>
          <a:xfrm>
            <a:off x="2194339" y="5057858"/>
            <a:ext cx="128699" cy="187198"/>
          </a:xfrm>
          <a:prstGeom prst="rect">
            <a:avLst/>
          </a:prstGeom>
        </p:spPr>
      </p:pic>
      <p:sp>
        <p:nvSpPr>
          <p:cNvPr id="108" name="TextBox 107"/>
          <p:cNvSpPr txBox="1"/>
          <p:nvPr/>
        </p:nvSpPr>
        <p:spPr>
          <a:xfrm>
            <a:off x="2361835"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09" name="TextBox 108"/>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10" name="Picture 109" descr="lock.png"/>
          <p:cNvPicPr>
            <a:picLocks noChangeAspect="1"/>
          </p:cNvPicPr>
          <p:nvPr/>
        </p:nvPicPr>
        <p:blipFill>
          <a:blip r:embed="rId22"/>
          <a:stretch>
            <a:fillRect/>
          </a:stretch>
        </p:blipFill>
        <p:spPr>
          <a:xfrm>
            <a:off x="1330764" y="5225498"/>
            <a:ext cx="128699" cy="187198"/>
          </a:xfrm>
          <a:prstGeom prst="rect">
            <a:avLst/>
          </a:prstGeom>
        </p:spPr>
      </p:pic>
      <p:sp>
        <p:nvSpPr>
          <p:cNvPr id="111" name="TextBox 110"/>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2" name="TextBox 111"/>
          <p:cNvSpPr txBox="1"/>
          <p:nvPr/>
        </p:nvSpPr>
        <p:spPr>
          <a:xfrm>
            <a:off x="485775" y="5453209"/>
            <a:ext cx="2612628" cy="186689"/>
          </a:xfrm>
          <a:prstGeom prst="rect">
            <a:avLst/>
          </a:prstGeom>
          <a:noFill/>
        </p:spPr>
        <p:txBody>
          <a:bodyPr wrap="none" lIns="0" rIns="0" tIns="0" bIns="0">
            <a:spAutoFit/>
          </a:bodyPr>
          <a:lstStyle/>
          <a:p>
            <a:r>
              <a:rPr sz="1100" b="0">
                <a:solidFill>
                  <a:srgbClr val="2E2E2E"/>
                </a:solidFill>
                <a:latin typeface="Calibri"/>
              </a:rPr>
              <a:t>Diesel engine-driven segment is projected to</a:t>
            </a:r>
          </a:p>
        </p:txBody>
      </p:sp>
      <p:sp>
        <p:nvSpPr>
          <p:cNvPr id="113" name="TextBox 112"/>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14" name="Picture 113" descr="lock.png"/>
          <p:cNvPicPr>
            <a:picLocks noChangeAspect="1"/>
          </p:cNvPicPr>
          <p:nvPr/>
        </p:nvPicPr>
        <p:blipFill>
          <a:blip r:embed="rId22"/>
          <a:stretch>
            <a:fillRect/>
          </a:stretch>
        </p:blipFill>
        <p:spPr>
          <a:xfrm>
            <a:off x="946316" y="5611070"/>
            <a:ext cx="128699" cy="187198"/>
          </a:xfrm>
          <a:prstGeom prst="rect">
            <a:avLst/>
          </a:prstGeom>
        </p:spPr>
      </p:pic>
      <p:sp>
        <p:nvSpPr>
          <p:cNvPr id="115" name="TextBox 114"/>
          <p:cNvSpPr txBox="1"/>
          <p:nvPr/>
        </p:nvSpPr>
        <p:spPr>
          <a:xfrm>
            <a:off x="1113812" y="5620849"/>
            <a:ext cx="1831454" cy="186689"/>
          </a:xfrm>
          <a:prstGeom prst="rect">
            <a:avLst/>
          </a:prstGeom>
          <a:noFill/>
        </p:spPr>
        <p:txBody>
          <a:bodyPr wrap="none" lIns="0" rIns="0" tIns="0" bIns="0">
            <a:spAutoFit/>
          </a:bodyPr>
          <a:lstStyle/>
          <a:p>
            <a:r>
              <a:rPr sz="1100" b="0">
                <a:solidFill>
                  <a:srgbClr val="2E2E2E"/>
                </a:solidFill>
                <a:latin typeface="Calibri"/>
              </a:rPr>
              <a:t>X higher value than natural gas</a:t>
            </a:r>
          </a:p>
        </p:txBody>
      </p:sp>
      <p:sp>
        <p:nvSpPr>
          <p:cNvPr id="116" name="TextBox 115"/>
          <p:cNvSpPr txBox="1"/>
          <p:nvPr/>
        </p:nvSpPr>
        <p:spPr>
          <a:xfrm>
            <a:off x="485775" y="5788489"/>
            <a:ext cx="1874291" cy="186689"/>
          </a:xfrm>
          <a:prstGeom prst="rect">
            <a:avLst/>
          </a:prstGeom>
          <a:noFill/>
        </p:spPr>
        <p:txBody>
          <a:bodyPr wrap="none" lIns="0" rIns="0" tIns="0" bIns="0">
            <a:spAutoFit/>
          </a:bodyPr>
          <a:lstStyle/>
          <a:p>
            <a:r>
              <a:rPr sz="1100" b="0">
                <a:solidFill>
                  <a:srgbClr val="2E2E2E"/>
                </a:solidFill>
                <a:latin typeface="Calibri"/>
              </a:rPr>
              <a:t>engine-driven segment in 2036.</a:t>
            </a:r>
          </a:p>
        </p:txBody>
      </p:sp>
      <p:sp>
        <p:nvSpPr>
          <p:cNvPr id="117" name="TextBox 116"/>
          <p:cNvSpPr txBox="1"/>
          <p:nvPr/>
        </p:nvSpPr>
        <p:spPr>
          <a:xfrm>
            <a:off x="3838575" y="4229437"/>
            <a:ext cx="1403622" cy="186689"/>
          </a:xfrm>
          <a:prstGeom prst="rect">
            <a:avLst/>
          </a:prstGeom>
          <a:noFill/>
        </p:spPr>
        <p:txBody>
          <a:bodyPr wrap="none" lIns="0" rIns="0" tIns="0" bIns="0">
            <a:spAutoFit/>
          </a:bodyPr>
          <a:lstStyle/>
          <a:p>
            <a:r>
              <a:rPr sz="1100" b="0">
                <a:solidFill>
                  <a:srgbClr val="2E2E2E"/>
                </a:solidFill>
                <a:latin typeface="Calibri"/>
              </a:rPr>
              <a:t>● Diesel Engine-Driven:</a:t>
            </a:r>
          </a:p>
        </p:txBody>
      </p:sp>
      <p:pic>
        <p:nvPicPr>
          <p:cNvPr id="118" name="Picture 117" descr="lock.png"/>
          <p:cNvPicPr>
            <a:picLocks noChangeAspect="1"/>
          </p:cNvPicPr>
          <p:nvPr/>
        </p:nvPicPr>
        <p:blipFill>
          <a:blip r:embed="rId22"/>
          <a:stretch>
            <a:fillRect/>
          </a:stretch>
        </p:blipFill>
        <p:spPr>
          <a:xfrm>
            <a:off x="5190249" y="4219658"/>
            <a:ext cx="128699" cy="187198"/>
          </a:xfrm>
          <a:prstGeom prst="rect">
            <a:avLst/>
          </a:prstGeom>
        </p:spPr>
      </p:pic>
      <p:sp>
        <p:nvSpPr>
          <p:cNvPr id="119" name="TextBox 118"/>
          <p:cNvSpPr txBox="1"/>
          <p:nvPr/>
        </p:nvSpPr>
        <p:spPr>
          <a:xfrm>
            <a:off x="5357745"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0" name="Picture 119" descr="lock.png"/>
          <p:cNvPicPr>
            <a:picLocks noChangeAspect="1"/>
          </p:cNvPicPr>
          <p:nvPr/>
        </p:nvPicPr>
        <p:blipFill>
          <a:blip r:embed="rId22"/>
          <a:stretch>
            <a:fillRect/>
          </a:stretch>
        </p:blipFill>
        <p:spPr>
          <a:xfrm>
            <a:off x="6217195" y="4219658"/>
            <a:ext cx="128699" cy="187198"/>
          </a:xfrm>
          <a:prstGeom prst="rect">
            <a:avLst/>
          </a:prstGeom>
        </p:spPr>
      </p:pic>
      <p:sp>
        <p:nvSpPr>
          <p:cNvPr id="121" name="TextBox 120"/>
          <p:cNvSpPr txBox="1"/>
          <p:nvPr/>
        </p:nvSpPr>
        <p:spPr>
          <a:xfrm>
            <a:off x="6384691"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22" name="TextBox 121"/>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23" name="TextBox 122"/>
          <p:cNvSpPr txBox="1"/>
          <p:nvPr/>
        </p:nvSpPr>
        <p:spPr>
          <a:xfrm>
            <a:off x="3838575" y="4615009"/>
            <a:ext cx="1726133" cy="186689"/>
          </a:xfrm>
          <a:prstGeom prst="rect">
            <a:avLst/>
          </a:prstGeom>
          <a:noFill/>
        </p:spPr>
        <p:txBody>
          <a:bodyPr wrap="none" lIns="0" rIns="0" tIns="0" bIns="0">
            <a:spAutoFit/>
          </a:bodyPr>
          <a:lstStyle/>
          <a:p>
            <a:r>
              <a:rPr sz="1100" b="0">
                <a:solidFill>
                  <a:srgbClr val="2E2E2E"/>
                </a:solidFill>
                <a:latin typeface="Calibri"/>
              </a:rPr>
              <a:t>● Natural Gas Engine-Driven:</a:t>
            </a:r>
          </a:p>
        </p:txBody>
      </p:sp>
      <p:pic>
        <p:nvPicPr>
          <p:cNvPr id="124" name="Picture 123" descr="lock.png"/>
          <p:cNvPicPr>
            <a:picLocks noChangeAspect="1"/>
          </p:cNvPicPr>
          <p:nvPr/>
        </p:nvPicPr>
        <p:blipFill>
          <a:blip r:embed="rId22"/>
          <a:stretch>
            <a:fillRect/>
          </a:stretch>
        </p:blipFill>
        <p:spPr>
          <a:xfrm>
            <a:off x="5512759" y="4605230"/>
            <a:ext cx="128699" cy="187198"/>
          </a:xfrm>
          <a:prstGeom prst="rect">
            <a:avLst/>
          </a:prstGeom>
        </p:spPr>
      </p:pic>
      <p:sp>
        <p:nvSpPr>
          <p:cNvPr id="125" name="TextBox 124"/>
          <p:cNvSpPr txBox="1"/>
          <p:nvPr/>
        </p:nvSpPr>
        <p:spPr>
          <a:xfrm>
            <a:off x="5680255"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22"/>
          <a:stretch>
            <a:fillRect/>
          </a:stretch>
        </p:blipFill>
        <p:spPr>
          <a:xfrm>
            <a:off x="6539706" y="4605230"/>
            <a:ext cx="128699" cy="187198"/>
          </a:xfrm>
          <a:prstGeom prst="rect">
            <a:avLst/>
          </a:prstGeom>
        </p:spPr>
      </p:pic>
      <p:sp>
        <p:nvSpPr>
          <p:cNvPr id="127" name="TextBox 126"/>
          <p:cNvSpPr txBox="1"/>
          <p:nvPr/>
        </p:nvSpPr>
        <p:spPr>
          <a:xfrm>
            <a:off x="6707201"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28" name="TextBox 127"/>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29" name="TextBox 128"/>
          <p:cNvSpPr txBox="1"/>
          <p:nvPr/>
        </p:nvSpPr>
        <p:spPr>
          <a:xfrm>
            <a:off x="3838575" y="5000581"/>
            <a:ext cx="1475109" cy="186689"/>
          </a:xfrm>
          <a:prstGeom prst="rect">
            <a:avLst/>
          </a:prstGeom>
          <a:noFill/>
        </p:spPr>
        <p:txBody>
          <a:bodyPr wrap="none" lIns="0" rIns="0" tIns="0" bIns="0">
            <a:spAutoFit/>
          </a:bodyPr>
          <a:lstStyle/>
          <a:p>
            <a:r>
              <a:rPr sz="1100" b="0">
                <a:solidFill>
                  <a:srgbClr val="2E2E2E"/>
                </a:solidFill>
                <a:latin typeface="Calibri"/>
              </a:rPr>
              <a:t>● Steam Turbine-Driven:</a:t>
            </a:r>
          </a:p>
        </p:txBody>
      </p:sp>
      <p:pic>
        <p:nvPicPr>
          <p:cNvPr id="130" name="Picture 129" descr="lock.png"/>
          <p:cNvPicPr>
            <a:picLocks noChangeAspect="1"/>
          </p:cNvPicPr>
          <p:nvPr/>
        </p:nvPicPr>
        <p:blipFill>
          <a:blip r:embed="rId22"/>
          <a:stretch>
            <a:fillRect/>
          </a:stretch>
        </p:blipFill>
        <p:spPr>
          <a:xfrm>
            <a:off x="5261736" y="4990801"/>
            <a:ext cx="128699" cy="187198"/>
          </a:xfrm>
          <a:prstGeom prst="rect">
            <a:avLst/>
          </a:prstGeom>
        </p:spPr>
      </p:pic>
      <p:sp>
        <p:nvSpPr>
          <p:cNvPr id="131" name="TextBox 130"/>
          <p:cNvSpPr txBox="1"/>
          <p:nvPr/>
        </p:nvSpPr>
        <p:spPr>
          <a:xfrm>
            <a:off x="5429232"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2" name="Picture 131" descr="lock.png"/>
          <p:cNvPicPr>
            <a:picLocks noChangeAspect="1"/>
          </p:cNvPicPr>
          <p:nvPr/>
        </p:nvPicPr>
        <p:blipFill>
          <a:blip r:embed="rId22"/>
          <a:stretch>
            <a:fillRect/>
          </a:stretch>
        </p:blipFill>
        <p:spPr>
          <a:xfrm>
            <a:off x="6288682" y="4990801"/>
            <a:ext cx="128699" cy="187198"/>
          </a:xfrm>
          <a:prstGeom prst="rect">
            <a:avLst/>
          </a:prstGeom>
        </p:spPr>
      </p:pic>
      <p:sp>
        <p:nvSpPr>
          <p:cNvPr id="133" name="TextBox 132"/>
          <p:cNvSpPr txBox="1"/>
          <p:nvPr/>
        </p:nvSpPr>
        <p:spPr>
          <a:xfrm>
            <a:off x="6456178" y="500058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4" name="TextBox 133"/>
          <p:cNvSpPr txBox="1"/>
          <p:nvPr/>
        </p:nvSpPr>
        <p:spPr>
          <a:xfrm>
            <a:off x="3838575" y="5218513"/>
            <a:ext cx="1325587" cy="186689"/>
          </a:xfrm>
          <a:prstGeom prst="rect">
            <a:avLst/>
          </a:prstGeom>
          <a:noFill/>
        </p:spPr>
        <p:txBody>
          <a:bodyPr wrap="none" lIns="0" rIns="0" tIns="0" bIns="0">
            <a:spAutoFit/>
          </a:bodyPr>
          <a:lstStyle/>
          <a:p>
            <a:r>
              <a:rPr sz="1100" b="0">
                <a:solidFill>
                  <a:srgbClr val="2E2E2E"/>
                </a:solidFill>
                <a:latin typeface="Calibri"/>
              </a:rPr>
              <a:t>● Gas Turbine-Driven:</a:t>
            </a:r>
          </a:p>
        </p:txBody>
      </p:sp>
      <p:pic>
        <p:nvPicPr>
          <p:cNvPr id="135" name="Picture 134" descr="lock.png"/>
          <p:cNvPicPr>
            <a:picLocks noChangeAspect="1"/>
          </p:cNvPicPr>
          <p:nvPr/>
        </p:nvPicPr>
        <p:blipFill>
          <a:blip r:embed="rId22"/>
          <a:stretch>
            <a:fillRect/>
          </a:stretch>
        </p:blipFill>
        <p:spPr>
          <a:xfrm>
            <a:off x="5112213" y="5208733"/>
            <a:ext cx="128699" cy="187198"/>
          </a:xfrm>
          <a:prstGeom prst="rect">
            <a:avLst/>
          </a:prstGeom>
        </p:spPr>
      </p:pic>
      <p:sp>
        <p:nvSpPr>
          <p:cNvPr id="136" name="TextBox 135"/>
          <p:cNvSpPr txBox="1"/>
          <p:nvPr/>
        </p:nvSpPr>
        <p:spPr>
          <a:xfrm>
            <a:off x="5279709"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7" name="Picture 136" descr="lock.png"/>
          <p:cNvPicPr>
            <a:picLocks noChangeAspect="1"/>
          </p:cNvPicPr>
          <p:nvPr/>
        </p:nvPicPr>
        <p:blipFill>
          <a:blip r:embed="rId22"/>
          <a:stretch>
            <a:fillRect/>
          </a:stretch>
        </p:blipFill>
        <p:spPr>
          <a:xfrm>
            <a:off x="6139159" y="5208733"/>
            <a:ext cx="128699" cy="187198"/>
          </a:xfrm>
          <a:prstGeom prst="rect">
            <a:avLst/>
          </a:prstGeom>
        </p:spPr>
      </p:pic>
      <p:sp>
        <p:nvSpPr>
          <p:cNvPr id="138" name="TextBox 137"/>
          <p:cNvSpPr txBox="1"/>
          <p:nvPr/>
        </p:nvSpPr>
        <p:spPr>
          <a:xfrm>
            <a:off x="6306655" y="521851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9" name="TextBox 138"/>
          <p:cNvSpPr txBox="1"/>
          <p:nvPr/>
        </p:nvSpPr>
        <p:spPr>
          <a:xfrm>
            <a:off x="3838575" y="5436445"/>
            <a:ext cx="1252735" cy="186689"/>
          </a:xfrm>
          <a:prstGeom prst="rect">
            <a:avLst/>
          </a:prstGeom>
          <a:noFill/>
        </p:spPr>
        <p:txBody>
          <a:bodyPr wrap="none" lIns="0" rIns="0" tIns="0" bIns="0">
            <a:spAutoFit/>
          </a:bodyPr>
          <a:lstStyle/>
          <a:p>
            <a:r>
              <a:rPr sz="1100" b="0">
                <a:solidFill>
                  <a:srgbClr val="2E2E2E"/>
                </a:solidFill>
                <a:latin typeface="Calibri"/>
              </a:rPr>
              <a:t>● Other Drive Types:</a:t>
            </a:r>
          </a:p>
        </p:txBody>
      </p:sp>
      <p:pic>
        <p:nvPicPr>
          <p:cNvPr id="140" name="Picture 139" descr="lock.png"/>
          <p:cNvPicPr>
            <a:picLocks noChangeAspect="1"/>
          </p:cNvPicPr>
          <p:nvPr/>
        </p:nvPicPr>
        <p:blipFill>
          <a:blip r:embed="rId22"/>
          <a:stretch>
            <a:fillRect/>
          </a:stretch>
        </p:blipFill>
        <p:spPr>
          <a:xfrm>
            <a:off x="5039362" y="5426665"/>
            <a:ext cx="128699" cy="187198"/>
          </a:xfrm>
          <a:prstGeom prst="rect">
            <a:avLst/>
          </a:prstGeom>
        </p:spPr>
      </p:pic>
      <p:sp>
        <p:nvSpPr>
          <p:cNvPr id="141" name="TextBox 140"/>
          <p:cNvSpPr txBox="1"/>
          <p:nvPr/>
        </p:nvSpPr>
        <p:spPr>
          <a:xfrm>
            <a:off x="5206858" y="543644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2" name="Picture 141" descr="lock.png"/>
          <p:cNvPicPr>
            <a:picLocks noChangeAspect="1"/>
          </p:cNvPicPr>
          <p:nvPr/>
        </p:nvPicPr>
        <p:blipFill>
          <a:blip r:embed="rId22"/>
          <a:stretch>
            <a:fillRect/>
          </a:stretch>
        </p:blipFill>
        <p:spPr>
          <a:xfrm>
            <a:off x="6066308" y="5426665"/>
            <a:ext cx="128699" cy="187198"/>
          </a:xfrm>
          <a:prstGeom prst="rect">
            <a:avLst/>
          </a:prstGeom>
        </p:spPr>
      </p:pic>
      <p:sp>
        <p:nvSpPr>
          <p:cNvPr id="143" name="TextBox 142"/>
          <p:cNvSpPr txBox="1"/>
          <p:nvPr/>
        </p:nvSpPr>
        <p:spPr>
          <a:xfrm>
            <a:off x="6233804" y="543644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4" name="TextBox 143"/>
          <p:cNvSpPr txBox="1"/>
          <p:nvPr/>
        </p:nvSpPr>
        <p:spPr>
          <a:xfrm>
            <a:off x="3838575" y="5654377"/>
            <a:ext cx="1456010" cy="186689"/>
          </a:xfrm>
          <a:prstGeom prst="rect">
            <a:avLst/>
          </a:prstGeom>
          <a:noFill/>
        </p:spPr>
        <p:txBody>
          <a:bodyPr wrap="none" lIns="0" rIns="0" tIns="0" bIns="0">
            <a:spAutoFit/>
          </a:bodyPr>
          <a:lstStyle/>
          <a:p>
            <a:r>
              <a:rPr sz="1100" b="0">
                <a:solidFill>
                  <a:srgbClr val="2E2E2E"/>
                </a:solidFill>
                <a:latin typeface="Calibri"/>
              </a:rPr>
              <a:t>● Electric Motor-Driven:</a:t>
            </a:r>
          </a:p>
        </p:txBody>
      </p:sp>
      <p:pic>
        <p:nvPicPr>
          <p:cNvPr id="145" name="Picture 144" descr="lock.png"/>
          <p:cNvPicPr>
            <a:picLocks noChangeAspect="1"/>
          </p:cNvPicPr>
          <p:nvPr/>
        </p:nvPicPr>
        <p:blipFill>
          <a:blip r:embed="rId22"/>
          <a:stretch>
            <a:fillRect/>
          </a:stretch>
        </p:blipFill>
        <p:spPr>
          <a:xfrm>
            <a:off x="5242636" y="5644597"/>
            <a:ext cx="128699" cy="187198"/>
          </a:xfrm>
          <a:prstGeom prst="rect">
            <a:avLst/>
          </a:prstGeom>
        </p:spPr>
      </p:pic>
      <p:sp>
        <p:nvSpPr>
          <p:cNvPr id="146" name="TextBox 145"/>
          <p:cNvSpPr txBox="1"/>
          <p:nvPr/>
        </p:nvSpPr>
        <p:spPr>
          <a:xfrm>
            <a:off x="5410132" y="565437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7" name="Picture 146" descr="lock.png"/>
          <p:cNvPicPr>
            <a:picLocks noChangeAspect="1"/>
          </p:cNvPicPr>
          <p:nvPr/>
        </p:nvPicPr>
        <p:blipFill>
          <a:blip r:embed="rId22"/>
          <a:stretch>
            <a:fillRect/>
          </a:stretch>
        </p:blipFill>
        <p:spPr>
          <a:xfrm>
            <a:off x="6269582" y="5644597"/>
            <a:ext cx="128699" cy="187198"/>
          </a:xfrm>
          <a:prstGeom prst="rect">
            <a:avLst/>
          </a:prstGeom>
        </p:spPr>
      </p:pic>
      <p:sp>
        <p:nvSpPr>
          <p:cNvPr id="148" name="TextBox 147"/>
          <p:cNvSpPr txBox="1"/>
          <p:nvPr/>
        </p:nvSpPr>
        <p:spPr>
          <a:xfrm>
            <a:off x="6437078" y="565437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9" name="TextBox 148"/>
          <p:cNvSpPr txBox="1"/>
          <p:nvPr/>
        </p:nvSpPr>
        <p:spPr>
          <a:xfrm>
            <a:off x="8524875" y="5842641"/>
            <a:ext cx="3100461" cy="194310"/>
          </a:xfrm>
          <a:prstGeom prst="rect">
            <a:avLst/>
          </a:prstGeom>
          <a:noFill/>
        </p:spPr>
        <p:txBody>
          <a:bodyPr wrap="none" lIns="0" rIns="0" tIns="0" bIns="0">
            <a:spAutoFit/>
          </a:bodyPr>
          <a:lstStyle/>
          <a:p>
            <a:r>
              <a:rPr sz="1150" b="1">
                <a:solidFill>
                  <a:srgbClr val="0B2E4A"/>
                </a:solidFill>
                <a:latin typeface="Calibri"/>
              </a:rPr>
              <a:t>The Driver Type segment is projected to grow at a</a:t>
            </a:r>
          </a:p>
        </p:txBody>
      </p:sp>
      <p:sp>
        <p:nvSpPr>
          <p:cNvPr id="150" name="TextBox 149"/>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51" name="Picture 150" descr="lock.png"/>
          <p:cNvPicPr>
            <a:picLocks noChangeAspect="1"/>
          </p:cNvPicPr>
          <p:nvPr/>
        </p:nvPicPr>
        <p:blipFill>
          <a:blip r:embed="rId22"/>
          <a:stretch>
            <a:fillRect/>
          </a:stretch>
        </p:blipFill>
        <p:spPr>
          <a:xfrm>
            <a:off x="9048826" y="6007677"/>
            <a:ext cx="134549" cy="195707"/>
          </a:xfrm>
          <a:prstGeom prst="rect">
            <a:avLst/>
          </a:prstGeom>
        </p:spPr>
      </p:pic>
      <p:sp>
        <p:nvSpPr>
          <p:cNvPr id="152" name="TextBox 151"/>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Driver Type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Driver Type mix within each country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Driver Type mix within each country (share of 2036 value) · row label = country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Driver Type · Bubble size represents 2036 value</a:t>
            </a:r>
          </a:p>
        </p:txBody>
      </p:sp>
      <p:graphicFrame>
        <p:nvGraphicFramePr>
          <p:cNvPr id="12" name="Chart 11"/>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470208" cy="186689"/>
          </a:xfrm>
          <a:prstGeom prst="rect">
            <a:avLst/>
          </a:prstGeom>
          <a:noFill/>
        </p:spPr>
        <p:txBody>
          <a:bodyPr wrap="none" lIns="0" rIns="0" tIns="0" bIns="0">
            <a:spAutoFit/>
          </a:bodyPr>
          <a:lstStyle/>
          <a:p>
            <a:r>
              <a:rPr sz="1100" b="0">
                <a:solidFill>
                  <a:srgbClr val="2E2E2E"/>
                </a:solidFill>
                <a:latin typeface="Calibri"/>
              </a:rPr>
              <a:t>Diesel engine-driven followed by steam turbine-driven are expected to be the two most attractive driver type segments in the North America industrial air compressor market in terms of value over the</a:t>
            </a:r>
          </a:p>
        </p:txBody>
      </p:sp>
      <p:sp>
        <p:nvSpPr>
          <p:cNvPr id="18" name="TextBox 17"/>
          <p:cNvSpPr txBox="1"/>
          <p:nvPr/>
        </p:nvSpPr>
        <p:spPr>
          <a:xfrm>
            <a:off x="257175" y="5861685"/>
            <a:ext cx="5052995" cy="186689"/>
          </a:xfrm>
          <a:prstGeom prst="rect">
            <a:avLst/>
          </a:prstGeom>
          <a:noFill/>
        </p:spPr>
        <p:txBody>
          <a:bodyPr wrap="none" lIns="0" rIns="0" tIns="0" bIns="0">
            <a:spAutoFit/>
          </a:bodyPr>
          <a:lstStyle/>
          <a:p>
            <a:r>
              <a:rPr sz="1100" b="0">
                <a:solidFill>
                  <a:srgbClr val="2E2E2E"/>
                </a:solidFill>
                <a:latin typeface="Calibri"/>
              </a:rPr>
              <a:t>forecast period. Diesel Engine-Driven and steam Turbine-Driven exhibit a CAGR index of</a:t>
            </a:r>
          </a:p>
        </p:txBody>
      </p:sp>
      <p:pic>
        <p:nvPicPr>
          <p:cNvPr id="19" name="Picture 18" descr="lock.png"/>
          <p:cNvPicPr>
            <a:picLocks noChangeAspect="1"/>
          </p:cNvPicPr>
          <p:nvPr/>
        </p:nvPicPr>
        <p:blipFill>
          <a:blip r:embed="rId6"/>
          <a:stretch>
            <a:fillRect/>
          </a:stretch>
        </p:blipFill>
        <p:spPr>
          <a:xfrm>
            <a:off x="5258222" y="5851905"/>
            <a:ext cx="128699" cy="187198"/>
          </a:xfrm>
          <a:prstGeom prst="rect">
            <a:avLst/>
          </a:prstGeom>
        </p:spPr>
      </p:pic>
      <p:sp>
        <p:nvSpPr>
          <p:cNvPr id="20" name="TextBox 19"/>
          <p:cNvSpPr txBox="1"/>
          <p:nvPr/>
        </p:nvSpPr>
        <p:spPr>
          <a:xfrm>
            <a:off x="5425717"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5663612" y="5851905"/>
            <a:ext cx="128699" cy="187198"/>
          </a:xfrm>
          <a:prstGeom prst="rect">
            <a:avLst/>
          </a:prstGeom>
        </p:spPr>
      </p:pic>
      <p:sp>
        <p:nvSpPr>
          <p:cNvPr id="22" name="TextBox 21"/>
          <p:cNvSpPr txBox="1"/>
          <p:nvPr/>
        </p:nvSpPr>
        <p:spPr>
          <a:xfrm>
            <a:off x="5831108"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7440081" y="5851905"/>
            <a:ext cx="128699" cy="187198"/>
          </a:xfrm>
          <a:prstGeom prst="rect">
            <a:avLst/>
          </a:prstGeom>
        </p:spPr>
      </p:pic>
      <p:sp>
        <p:nvSpPr>
          <p:cNvPr id="24" name="TextBox 23"/>
          <p:cNvSpPr txBox="1"/>
          <p:nvPr/>
        </p:nvSpPr>
        <p:spPr>
          <a:xfrm>
            <a:off x="7607577"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7845471" y="5851905"/>
            <a:ext cx="128699" cy="187198"/>
          </a:xfrm>
          <a:prstGeom prst="rect">
            <a:avLst/>
          </a:prstGeom>
        </p:spPr>
      </p:pic>
      <p:sp>
        <p:nvSpPr>
          <p:cNvPr id="26" name="TextBox 25"/>
          <p:cNvSpPr txBox="1"/>
          <p:nvPr/>
        </p:nvSpPr>
        <p:spPr>
          <a:xfrm>
            <a:off x="8012967"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10567371" y="5851905"/>
            <a:ext cx="128699" cy="187198"/>
          </a:xfrm>
          <a:prstGeom prst="rect">
            <a:avLst/>
          </a:prstGeom>
        </p:spPr>
      </p:pic>
      <p:sp>
        <p:nvSpPr>
          <p:cNvPr id="28" name="TextBox 27"/>
          <p:cNvSpPr txBox="1"/>
          <p:nvPr/>
        </p:nvSpPr>
        <p:spPr>
          <a:xfrm>
            <a:off x="10734867" y="5861685"/>
            <a:ext cx="698301" cy="186689"/>
          </a:xfrm>
          <a:prstGeom prst="rect">
            <a:avLst/>
          </a:prstGeom>
          <a:noFill/>
        </p:spPr>
        <p:txBody>
          <a:bodyPr wrap="none" lIns="0" rIns="0" tIns="0" bIns="0">
            <a:spAutoFit/>
          </a:bodyPr>
          <a:lstStyle/>
          <a:p>
            <a:r>
              <a:rPr sz="1100" b="0">
                <a:solidFill>
                  <a:srgbClr val="2E2E2E"/>
                </a:solidFill>
                <a:latin typeface="Calibri"/>
              </a:rPr>
              <a:t>. The other</a:t>
            </a:r>
          </a:p>
        </p:txBody>
      </p:sp>
      <p:sp>
        <p:nvSpPr>
          <p:cNvPr id="29" name="TextBox 28"/>
          <p:cNvSpPr txBox="1"/>
          <p:nvPr/>
        </p:nvSpPr>
        <p:spPr>
          <a:xfrm>
            <a:off x="257175" y="6029325"/>
            <a:ext cx="11526381" cy="186689"/>
          </a:xfrm>
          <a:prstGeom prst="rect">
            <a:avLst/>
          </a:prstGeom>
          <a:noFill/>
        </p:spPr>
        <p:txBody>
          <a:bodyPr wrap="none" lIns="0" rIns="0" tIns="0" bIns="0">
            <a:spAutoFit/>
          </a:bodyPr>
          <a:lstStyle/>
          <a:p>
            <a:r>
              <a:rPr sz="1100" b="0">
                <a:solidFill>
                  <a:srgbClr val="2E2E2E"/>
                </a:solidFill>
                <a:latin typeface="Calibri"/>
              </a:rPr>
              <a:t>drive types segment is expected to be less attractive as compared to other segments over the forecast period, owing to its lower CAGR and incremental opportunity. Bubbles right of the CAGR-Index line</a:t>
            </a:r>
          </a:p>
        </p:txBody>
      </p:sp>
      <p:sp>
        <p:nvSpPr>
          <p:cNvPr id="30" name="TextBox 29"/>
          <p:cNvSpPr txBox="1"/>
          <p:nvPr/>
        </p:nvSpPr>
        <p:spPr>
          <a:xfrm>
            <a:off x="257175" y="6196965"/>
            <a:ext cx="2279476" cy="186689"/>
          </a:xfrm>
          <a:prstGeom prst="rect">
            <a:avLst/>
          </a:prstGeom>
          <a:noFill/>
        </p:spPr>
        <p:txBody>
          <a:bodyPr wrap="none" lIns="0" rIns="0" tIns="0" bIns="0">
            <a:spAutoFit/>
          </a:bodyPr>
          <a:lstStyle/>
          <a:p>
            <a:r>
              <a:rPr sz="1100" b="0">
                <a:solidFill>
                  <a:srgbClr val="2E2E2E"/>
                </a:solidFill>
                <a:latin typeface="Calibri"/>
              </a:rPr>
              <a:t>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Driver Type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Driver Type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Electric Motor-Driven</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Natural Gas Engine-Driven</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Diesel Engine-Driven</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Steam Turbine-Driven</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Driver Type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Driver Type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Gas Turbine-Driven</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 Drive Types</a:t>
            </a:r>
          </a:p>
        </p:txBody>
      </p:sp>
      <p:graphicFrame>
        <p:nvGraphicFramePr>
          <p:cNvPr id="12" name="Chart 11"/>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E2A5C"/>
                </a:solidFill>
                <a:latin typeface="Calibri"/>
              </a:rPr>
              <a:t>Summary of North America Absolute $ Opportunity Analysis, By Driver Type</a:t>
            </a:r>
          </a:p>
        </p:txBody>
      </p:sp>
      <p:sp>
        <p:nvSpPr>
          <p:cNvPr id="15" name="Rectangle 14"/>
          <p:cNvSpPr/>
          <p:nvPr/>
        </p:nvSpPr>
        <p:spPr>
          <a:xfrm>
            <a:off x="6305550" y="150299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Rectangle 1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9" name="Picture 18" descr="lock.png"/>
          <p:cNvPicPr>
            <a:picLocks noChangeAspect="1"/>
          </p:cNvPicPr>
          <p:nvPr/>
        </p:nvPicPr>
        <p:blipFill>
          <a:blip r:embed="rId6"/>
          <a:stretch>
            <a:fillRect/>
          </a:stretch>
        </p:blipFill>
        <p:spPr>
          <a:xfrm>
            <a:off x="3100230" y="2330679"/>
            <a:ext cx="252890" cy="367840"/>
          </a:xfrm>
          <a:prstGeom prst="rect">
            <a:avLst/>
          </a:prstGeom>
        </p:spPr>
      </p:pic>
      <p:pic>
        <p:nvPicPr>
          <p:cNvPr id="20" name="Picture 19" descr="lock.png"/>
          <p:cNvPicPr>
            <a:picLocks noChangeAspect="1"/>
          </p:cNvPicPr>
          <p:nvPr/>
        </p:nvPicPr>
        <p:blipFill>
          <a:blip r:embed="rId6"/>
          <a:stretch>
            <a:fillRect/>
          </a:stretch>
        </p:blipFill>
        <p:spPr>
          <a:xfrm>
            <a:off x="3100230" y="5216754"/>
            <a:ext cx="252890" cy="367840"/>
          </a:xfrm>
          <a:prstGeom prst="rect">
            <a:avLst/>
          </a:prstGeom>
        </p:spPr>
      </p:pic>
      <p:sp>
        <p:nvSpPr>
          <p:cNvPr id="21" name="TextBox 20"/>
          <p:cNvSpPr txBox="1"/>
          <p:nvPr/>
        </p:nvSpPr>
        <p:spPr>
          <a:xfrm>
            <a:off x="6305550" y="1598245"/>
            <a:ext cx="4703851" cy="194310"/>
          </a:xfrm>
          <a:prstGeom prst="rect">
            <a:avLst/>
          </a:prstGeom>
          <a:noFill/>
        </p:spPr>
        <p:txBody>
          <a:bodyPr wrap="none" lIns="0" rIns="0" tIns="0" bIns="0">
            <a:spAutoFit/>
          </a:bodyPr>
          <a:lstStyle/>
          <a:p>
            <a:r>
              <a:rPr sz="1150" b="0">
                <a:solidFill>
                  <a:srgbClr val="2E2E2E"/>
                </a:solidFill>
                <a:latin typeface="Calibri"/>
              </a:rPr>
              <a:t>By 2036, diesel engine-driven segment is anticipated to witness an increase of</a:t>
            </a:r>
          </a:p>
        </p:txBody>
      </p:sp>
      <p:pic>
        <p:nvPicPr>
          <p:cNvPr id="22" name="Picture 21" descr="lock.png"/>
          <p:cNvPicPr>
            <a:picLocks noChangeAspect="1"/>
          </p:cNvPicPr>
          <p:nvPr/>
        </p:nvPicPr>
        <p:blipFill>
          <a:blip r:embed="rId6"/>
          <a:stretch>
            <a:fillRect/>
          </a:stretch>
        </p:blipFill>
        <p:spPr>
          <a:xfrm>
            <a:off x="10958555" y="1588021"/>
            <a:ext cx="134549" cy="195707"/>
          </a:xfrm>
          <a:prstGeom prst="rect">
            <a:avLst/>
          </a:prstGeom>
        </p:spPr>
      </p:pic>
      <p:sp>
        <p:nvSpPr>
          <p:cNvPr id="23" name="TextBox 22"/>
          <p:cNvSpPr txBox="1"/>
          <p:nvPr/>
        </p:nvSpPr>
        <p:spPr>
          <a:xfrm>
            <a:off x="11133665" y="1598245"/>
            <a:ext cx="675233" cy="194310"/>
          </a:xfrm>
          <a:prstGeom prst="rect">
            <a:avLst/>
          </a:prstGeom>
          <a:noFill/>
        </p:spPr>
        <p:txBody>
          <a:bodyPr wrap="none" lIns="0" rIns="0" tIns="0" bIns="0">
            <a:spAutoFit/>
          </a:bodyPr>
          <a:lstStyle/>
          <a:p>
            <a:r>
              <a:rPr sz="1150" b="0">
                <a:solidFill>
                  <a:srgbClr val="2E2E2E"/>
                </a:solidFill>
                <a:latin typeface="Calibri"/>
              </a:rPr>
              <a:t>X in terms</a:t>
            </a:r>
          </a:p>
        </p:txBody>
      </p:sp>
      <p:sp>
        <p:nvSpPr>
          <p:cNvPr id="24" name="TextBox 23"/>
          <p:cNvSpPr txBox="1"/>
          <p:nvPr/>
        </p:nvSpPr>
        <p:spPr>
          <a:xfrm>
            <a:off x="6305550" y="1773505"/>
            <a:ext cx="5371653" cy="194310"/>
          </a:xfrm>
          <a:prstGeom prst="rect">
            <a:avLst/>
          </a:prstGeom>
          <a:noFill/>
        </p:spPr>
        <p:txBody>
          <a:bodyPr wrap="none" lIns="0" rIns="0" tIns="0" bIns="0">
            <a:spAutoFit/>
          </a:bodyPr>
          <a:lstStyle/>
          <a:p>
            <a:r>
              <a:rPr sz="1150" b="0">
                <a:solidFill>
                  <a:srgbClr val="2E2E2E"/>
                </a:solidFill>
                <a:latin typeface="Calibri"/>
              </a:rPr>
              <a:t>of value as compared to 2026. The diesel Engine-Driven segment is expected to create an</a:t>
            </a:r>
          </a:p>
        </p:txBody>
      </p:sp>
      <p:sp>
        <p:nvSpPr>
          <p:cNvPr id="25" name="TextBox 24"/>
          <p:cNvSpPr txBox="1"/>
          <p:nvPr/>
        </p:nvSpPr>
        <p:spPr>
          <a:xfrm>
            <a:off x="6305550" y="1948765"/>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26" name="Picture 25" descr="lock.png"/>
          <p:cNvPicPr>
            <a:picLocks noChangeAspect="1"/>
          </p:cNvPicPr>
          <p:nvPr/>
        </p:nvPicPr>
        <p:blipFill>
          <a:blip r:embed="rId6"/>
          <a:stretch>
            <a:fillRect/>
          </a:stretch>
        </p:blipFill>
        <p:spPr>
          <a:xfrm>
            <a:off x="8211582" y="1938541"/>
            <a:ext cx="134549" cy="195707"/>
          </a:xfrm>
          <a:prstGeom prst="rect">
            <a:avLst/>
          </a:prstGeom>
        </p:spPr>
      </p:pic>
      <p:sp>
        <p:nvSpPr>
          <p:cNvPr id="27" name="TextBox 26"/>
          <p:cNvSpPr txBox="1"/>
          <p:nvPr/>
        </p:nvSpPr>
        <p:spPr>
          <a:xfrm>
            <a:off x="8386692" y="1948765"/>
            <a:ext cx="3443907"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a:t>
            </a:r>
          </a:p>
        </p:txBody>
      </p:sp>
      <p:sp>
        <p:nvSpPr>
          <p:cNvPr id="28" name="TextBox 27"/>
          <p:cNvSpPr txBox="1"/>
          <p:nvPr/>
        </p:nvSpPr>
        <p:spPr>
          <a:xfrm>
            <a:off x="6305550" y="2124025"/>
            <a:ext cx="898587" cy="194310"/>
          </a:xfrm>
          <a:prstGeom prst="rect">
            <a:avLst/>
          </a:prstGeom>
          <a:noFill/>
        </p:spPr>
        <p:txBody>
          <a:bodyPr wrap="none" lIns="0" rIns="0" tIns="0" bIns="0">
            <a:spAutoFit/>
          </a:bodyPr>
          <a:lstStyle/>
          <a:p>
            <a:r>
              <a:rPr sz="1150" b="0">
                <a:solidFill>
                  <a:srgbClr val="2E2E2E"/>
                </a:solidFill>
                <a:latin typeface="Calibri"/>
              </a:rPr>
              <a:t>2026 to 2036.</a:t>
            </a:r>
          </a:p>
        </p:txBody>
      </p:sp>
      <p:sp>
        <p:nvSpPr>
          <p:cNvPr id="29" name="TextBox 28"/>
          <p:cNvSpPr txBox="1"/>
          <p:nvPr/>
        </p:nvSpPr>
        <p:spPr>
          <a:xfrm>
            <a:off x="6305550" y="2351863"/>
            <a:ext cx="5535104" cy="194310"/>
          </a:xfrm>
          <a:prstGeom prst="rect">
            <a:avLst/>
          </a:prstGeom>
          <a:noFill/>
        </p:spPr>
        <p:txBody>
          <a:bodyPr wrap="none" lIns="0" rIns="0" tIns="0" bIns="0">
            <a:spAutoFit/>
          </a:bodyPr>
          <a:lstStyle/>
          <a:p>
            <a:r>
              <a:rPr sz="1150" b="0">
                <a:solidFill>
                  <a:srgbClr val="2E2E2E"/>
                </a:solidFill>
                <a:latin typeface="Calibri"/>
              </a:rPr>
              <a:t>The steam Turbine-Driven segment is expected to create an incremental opportunity of US$</a:t>
            </a:r>
          </a:p>
        </p:txBody>
      </p:sp>
      <p:pic>
        <p:nvPicPr>
          <p:cNvPr id="30" name="Picture 29" descr="lock.png"/>
          <p:cNvPicPr>
            <a:picLocks noChangeAspect="1"/>
          </p:cNvPicPr>
          <p:nvPr/>
        </p:nvPicPr>
        <p:blipFill>
          <a:blip r:embed="rId6"/>
          <a:stretch>
            <a:fillRect/>
          </a:stretch>
        </p:blipFill>
        <p:spPr>
          <a:xfrm>
            <a:off x="6291470" y="2516899"/>
            <a:ext cx="134549" cy="195707"/>
          </a:xfrm>
          <a:prstGeom prst="rect">
            <a:avLst/>
          </a:prstGeom>
        </p:spPr>
      </p:pic>
      <p:sp>
        <p:nvSpPr>
          <p:cNvPr id="31" name="TextBox 30"/>
          <p:cNvSpPr txBox="1"/>
          <p:nvPr/>
        </p:nvSpPr>
        <p:spPr>
          <a:xfrm>
            <a:off x="6466579" y="2527123"/>
            <a:ext cx="5242148" cy="194310"/>
          </a:xfrm>
          <a:prstGeom prst="rect">
            <a:avLst/>
          </a:prstGeom>
          <a:noFill/>
        </p:spPr>
        <p:txBody>
          <a:bodyPr wrap="none" lIns="0" rIns="0" tIns="0" bIns="0">
            <a:spAutoFit/>
          </a:bodyPr>
          <a:lstStyle/>
          <a:p>
            <a:r>
              <a:rPr sz="1150" b="0">
                <a:solidFill>
                  <a:srgbClr val="2E2E2E"/>
                </a:solidFill>
                <a:latin typeface="Calibri"/>
              </a:rPr>
              <a:t>Mn for the overall industrial air compressor market from 2026 to 2036. The natural gas</a:t>
            </a:r>
          </a:p>
        </p:txBody>
      </p:sp>
      <p:sp>
        <p:nvSpPr>
          <p:cNvPr id="32" name="TextBox 31"/>
          <p:cNvSpPr txBox="1"/>
          <p:nvPr/>
        </p:nvSpPr>
        <p:spPr>
          <a:xfrm>
            <a:off x="6305550" y="2702383"/>
            <a:ext cx="4823680" cy="194310"/>
          </a:xfrm>
          <a:prstGeom prst="rect">
            <a:avLst/>
          </a:prstGeom>
          <a:noFill/>
        </p:spPr>
        <p:txBody>
          <a:bodyPr wrap="none" lIns="0" rIns="0" tIns="0" bIns="0">
            <a:spAutoFit/>
          </a:bodyPr>
          <a:lstStyle/>
          <a:p>
            <a:r>
              <a:rPr sz="1150" b="0">
                <a:solidFill>
                  <a:srgbClr val="2E2E2E"/>
                </a:solidFill>
                <a:latin typeface="Calibri"/>
              </a:rPr>
              <a:t>Engine-Driven segment is expected to create an incremental opportunity of US$</a:t>
            </a:r>
          </a:p>
        </p:txBody>
      </p:sp>
      <p:pic>
        <p:nvPicPr>
          <p:cNvPr id="33" name="Picture 32" descr="lock.png"/>
          <p:cNvPicPr>
            <a:picLocks noChangeAspect="1"/>
          </p:cNvPicPr>
          <p:nvPr/>
        </p:nvPicPr>
        <p:blipFill>
          <a:blip r:embed="rId6"/>
          <a:stretch>
            <a:fillRect/>
          </a:stretch>
        </p:blipFill>
        <p:spPr>
          <a:xfrm>
            <a:off x="11078384" y="2692159"/>
            <a:ext cx="134549" cy="195707"/>
          </a:xfrm>
          <a:prstGeom prst="rect">
            <a:avLst/>
          </a:prstGeom>
        </p:spPr>
      </p:pic>
      <p:sp>
        <p:nvSpPr>
          <p:cNvPr id="34" name="TextBox 33"/>
          <p:cNvSpPr txBox="1"/>
          <p:nvPr/>
        </p:nvSpPr>
        <p:spPr>
          <a:xfrm>
            <a:off x="11253493" y="2702383"/>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35" name="TextBox 34"/>
          <p:cNvSpPr txBox="1"/>
          <p:nvPr/>
        </p:nvSpPr>
        <p:spPr>
          <a:xfrm>
            <a:off x="6305550" y="2877643"/>
            <a:ext cx="3858952" cy="194310"/>
          </a:xfrm>
          <a:prstGeom prst="rect">
            <a:avLst/>
          </a:prstGeom>
          <a:noFill/>
        </p:spPr>
        <p:txBody>
          <a:bodyPr wrap="none" lIns="0" rIns="0" tIns="0" bIns="0">
            <a:spAutoFit/>
          </a:bodyPr>
          <a:lstStyle/>
          <a:p>
            <a:r>
              <a:rPr sz="1150" b="0">
                <a:solidFill>
                  <a:srgbClr val="2E2E2E"/>
                </a:solidFill>
                <a:latin typeface="Calibri"/>
              </a:rPr>
              <a:t>the overall industrial air compressor market from 2026 to 2036.</a:t>
            </a:r>
          </a:p>
        </p:txBody>
      </p:sp>
      <p:sp>
        <p:nvSpPr>
          <p:cNvPr id="36"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ockshield_12"/>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Driver Type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Driver Type, 2021–2036, highlighting the sub-segments driving growth</a:t>
            </a:r>
          </a:p>
        </p:txBody>
      </p:sp>
      <p:sp>
        <p:nvSpPr>
          <p:cNvPr id="7" name="Rounded Rectangle 6"/>
          <p:cNvSpPr/>
          <p:nvPr/>
        </p:nvSpPr>
        <p:spPr>
          <a:xfrm>
            <a:off x="142875" y="981075"/>
            <a:ext cx="11906250" cy="2438400"/>
          </a:xfrm>
          <a:prstGeom prst="roundRect">
            <a:avLst>
              <a:gd name="adj" fmla="val 312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Driver Type (US$ Mn)</a:t>
            </a:r>
          </a:p>
        </p:txBody>
      </p:sp>
      <p:graphicFrame>
        <p:nvGraphicFramePr>
          <p:cNvPr id="9" name="Table 8"/>
          <p:cNvGraphicFramePr>
            <a:graphicFrameLocks noGrp="1"/>
          </p:cNvGraphicFramePr>
          <p:nvPr/>
        </p:nvGraphicFramePr>
        <p:xfrm>
          <a:off x="152400" y="1238250"/>
          <a:ext cx="11887196" cy="1971675"/>
        </p:xfrm>
        <a:graphic>
          <a:graphicData uri="http://schemas.openxmlformats.org/drawingml/2006/table">
            <a:tbl>
              <a:tblPr>
                <a:tableStyleId>{5C22544A-7EE6-4342-B048-85BDC9FD1C3A}</a:tableStyleId>
              </a:tblPr>
              <a:tblGrid>
                <a:gridCol w="1809001"/>
                <a:gridCol w="592835"/>
                <a:gridCol w="592835"/>
                <a:gridCol w="592835"/>
                <a:gridCol w="592835"/>
                <a:gridCol w="592835"/>
                <a:gridCol w="592835"/>
                <a:gridCol w="592835"/>
                <a:gridCol w="592835"/>
                <a:gridCol w="592835"/>
                <a:gridCol w="592835"/>
                <a:gridCol w="592835"/>
                <a:gridCol w="592835"/>
                <a:gridCol w="592835"/>
                <a:gridCol w="592835"/>
                <a:gridCol w="592835"/>
                <a:gridCol w="592835"/>
                <a:gridCol w="592835"/>
              </a:tblGrid>
              <a:tr h="246126">
                <a:tc>
                  <a:txBody>
                    <a:bodyPr wrap="none"/>
                    <a:lstStyle/>
                    <a:p>
                      <a:pPr algn="l"/>
                      <a:r>
                        <a:rPr sz="1100" b="1">
                          <a:solidFill>
                            <a:srgbClr val="0E2A5C"/>
                          </a:solidFill>
                          <a:latin typeface="Calibri"/>
                        </a:rPr>
                        <a:t>Driver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507">
                <a:tc>
                  <a:txBody>
                    <a:bodyPr wrap="none"/>
                    <a:lstStyle/>
                    <a:p>
                      <a:pPr algn="l"/>
                      <a:r>
                        <a:rPr sz="1100" b="1">
                          <a:solidFill>
                            <a:srgbClr val="2E2E2E"/>
                          </a:solidFill>
                          <a:latin typeface="Calibri"/>
                        </a:rPr>
                        <a:t>Electric Motor-Driven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Natural Gas Engine-Driven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Diesel Engine-Driven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Steam Turbine-Driven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Gas Turbine-Driven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Other Drive Types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552825"/>
            <a:ext cx="11906250" cy="3076575"/>
          </a:xfrm>
          <a:prstGeom prst="roundRect">
            <a:avLst>
              <a:gd name="adj" fmla="val 247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Analysis, By Driver Type</a:t>
            </a:r>
          </a:p>
        </p:txBody>
      </p:sp>
      <p:sp>
        <p:nvSpPr>
          <p:cNvPr id="13" name="Rectangle 12"/>
          <p:cNvSpPr/>
          <p:nvPr/>
        </p:nvSpPr>
        <p:spPr>
          <a:xfrm>
            <a:off x="276225" y="387667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813808" y="2080450"/>
            <a:ext cx="366712" cy="533399"/>
          </a:xfrm>
          <a:prstGeom prst="rect">
            <a:avLst/>
          </a:prstGeom>
        </p:spPr>
      </p:pic>
      <p:sp>
        <p:nvSpPr>
          <p:cNvPr id="18" name="TextBox 17"/>
          <p:cNvSpPr txBox="1"/>
          <p:nvPr/>
        </p:nvSpPr>
        <p:spPr>
          <a:xfrm>
            <a:off x="276225" y="3971925"/>
            <a:ext cx="3217130" cy="194310"/>
          </a:xfrm>
          <a:prstGeom prst="rect">
            <a:avLst/>
          </a:prstGeom>
          <a:noFill/>
        </p:spPr>
        <p:txBody>
          <a:bodyPr wrap="none" lIns="0" rIns="0" tIns="0" bIns="0">
            <a:spAutoFit/>
          </a:bodyPr>
          <a:lstStyle/>
          <a:p>
            <a:r>
              <a:rPr sz="1150" b="0">
                <a:solidFill>
                  <a:srgbClr val="2E2E2E"/>
                </a:solidFill>
                <a:latin typeface="Calibri"/>
              </a:rPr>
              <a:t>Diesel engine-driven segment is projected to register</a:t>
            </a:r>
          </a:p>
        </p:txBody>
      </p:sp>
      <p:pic>
        <p:nvPicPr>
          <p:cNvPr id="19" name="Picture 18" descr="lock.png"/>
          <p:cNvPicPr>
            <a:picLocks noChangeAspect="1"/>
          </p:cNvPicPr>
          <p:nvPr/>
        </p:nvPicPr>
        <p:blipFill>
          <a:blip r:embed="rId4"/>
          <a:stretch>
            <a:fillRect/>
          </a:stretch>
        </p:blipFill>
        <p:spPr>
          <a:xfrm>
            <a:off x="3442509" y="3961701"/>
            <a:ext cx="134549" cy="195707"/>
          </a:xfrm>
          <a:prstGeom prst="rect">
            <a:avLst/>
          </a:prstGeom>
        </p:spPr>
      </p:pic>
      <p:sp>
        <p:nvSpPr>
          <p:cNvPr id="20" name="TextBox 19"/>
          <p:cNvSpPr txBox="1"/>
          <p:nvPr/>
        </p:nvSpPr>
        <p:spPr>
          <a:xfrm>
            <a:off x="3617618" y="3971925"/>
            <a:ext cx="7975736" cy="194310"/>
          </a:xfrm>
          <a:prstGeom prst="rect">
            <a:avLst/>
          </a:prstGeom>
          <a:noFill/>
        </p:spPr>
        <p:txBody>
          <a:bodyPr wrap="none" lIns="0" rIns="0" tIns="0" bIns="0">
            <a:spAutoFit/>
          </a:bodyPr>
          <a:lstStyle/>
          <a:p>
            <a:r>
              <a:rPr sz="1150" b="0">
                <a:solidFill>
                  <a:srgbClr val="2E2E2E"/>
                </a:solidFill>
                <a:latin typeface="Calibri"/>
              </a:rPr>
              <a:t>X higher value than natural gas engine-driven segment in 2036. Among industrial air compressor by driver type, steam turbine-driven</a:t>
            </a:r>
          </a:p>
        </p:txBody>
      </p:sp>
      <p:sp>
        <p:nvSpPr>
          <p:cNvPr id="21" name="TextBox 20"/>
          <p:cNvSpPr txBox="1"/>
          <p:nvPr/>
        </p:nvSpPr>
        <p:spPr>
          <a:xfrm>
            <a:off x="276225" y="414718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2" name="Picture 21" descr="lock.png"/>
          <p:cNvPicPr>
            <a:picLocks noChangeAspect="1"/>
          </p:cNvPicPr>
          <p:nvPr/>
        </p:nvPicPr>
        <p:blipFill>
          <a:blip r:embed="rId4"/>
          <a:stretch>
            <a:fillRect/>
          </a:stretch>
        </p:blipFill>
        <p:spPr>
          <a:xfrm>
            <a:off x="3382018" y="4136961"/>
            <a:ext cx="134549" cy="195707"/>
          </a:xfrm>
          <a:prstGeom prst="rect">
            <a:avLst/>
          </a:prstGeom>
        </p:spPr>
      </p:pic>
      <p:sp>
        <p:nvSpPr>
          <p:cNvPr id="23" name="TextBox 22"/>
          <p:cNvSpPr txBox="1"/>
          <p:nvPr/>
        </p:nvSpPr>
        <p:spPr>
          <a:xfrm>
            <a:off x="3557127"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375022"/>
            <a:ext cx="7001309" cy="194310"/>
          </a:xfrm>
          <a:prstGeom prst="rect">
            <a:avLst/>
          </a:prstGeom>
          <a:noFill/>
        </p:spPr>
        <p:txBody>
          <a:bodyPr wrap="none" lIns="0" rIns="0" tIns="0" bIns="0">
            <a:spAutoFit/>
          </a:bodyPr>
          <a:lstStyle/>
          <a:p>
            <a:r>
              <a:rPr sz="1150" b="0">
                <a:solidFill>
                  <a:srgbClr val="2E2E2E"/>
                </a:solidFill>
                <a:latin typeface="Calibri"/>
              </a:rPr>
              <a:t>In terms of value share by driver type, the diesel engine-driven segment is expected to dominate the market, gaining</a:t>
            </a:r>
          </a:p>
        </p:txBody>
      </p:sp>
      <p:pic>
        <p:nvPicPr>
          <p:cNvPr id="25" name="Picture 24" descr="lock.png"/>
          <p:cNvPicPr>
            <a:picLocks noChangeAspect="1"/>
          </p:cNvPicPr>
          <p:nvPr/>
        </p:nvPicPr>
        <p:blipFill>
          <a:blip r:embed="rId4"/>
          <a:stretch>
            <a:fillRect/>
          </a:stretch>
        </p:blipFill>
        <p:spPr>
          <a:xfrm>
            <a:off x="7226688" y="4364799"/>
            <a:ext cx="134549" cy="195707"/>
          </a:xfrm>
          <a:prstGeom prst="rect">
            <a:avLst/>
          </a:prstGeom>
        </p:spPr>
      </p:pic>
      <p:sp>
        <p:nvSpPr>
          <p:cNvPr id="26" name="TextBox 25"/>
          <p:cNvSpPr txBox="1"/>
          <p:nvPr/>
        </p:nvSpPr>
        <p:spPr>
          <a:xfrm>
            <a:off x="7401797"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8796940" y="4364799"/>
            <a:ext cx="134549" cy="195707"/>
          </a:xfrm>
          <a:prstGeom prst="rect">
            <a:avLst/>
          </a:prstGeom>
        </p:spPr>
      </p:pic>
      <p:sp>
        <p:nvSpPr>
          <p:cNvPr id="28" name="TextBox 27"/>
          <p:cNvSpPr txBox="1"/>
          <p:nvPr/>
        </p:nvSpPr>
        <p:spPr>
          <a:xfrm>
            <a:off x="8972049" y="4375022"/>
            <a:ext cx="2745035" cy="194310"/>
          </a:xfrm>
          <a:prstGeom prst="rect">
            <a:avLst/>
          </a:prstGeom>
          <a:noFill/>
        </p:spPr>
        <p:txBody>
          <a:bodyPr wrap="none" lIns="0" rIns="0" tIns="0" bIns="0">
            <a:spAutoFit/>
          </a:bodyPr>
          <a:lstStyle/>
          <a:p>
            <a:r>
              <a:rPr sz="1150" b="0">
                <a:solidFill>
                  <a:srgbClr val="2E2E2E"/>
                </a:solidFill>
                <a:latin typeface="Calibri"/>
              </a:rPr>
              <a:t>share by 2036. The natural gas engine-driven</a:t>
            </a:r>
          </a:p>
        </p:txBody>
      </p:sp>
      <p:sp>
        <p:nvSpPr>
          <p:cNvPr id="29" name="TextBox 28"/>
          <p:cNvSpPr txBox="1"/>
          <p:nvPr/>
        </p:nvSpPr>
        <p:spPr>
          <a:xfrm>
            <a:off x="276225" y="4550282"/>
            <a:ext cx="1725538" cy="194310"/>
          </a:xfrm>
          <a:prstGeom prst="rect">
            <a:avLst/>
          </a:prstGeom>
          <a:noFill/>
        </p:spPr>
        <p:txBody>
          <a:bodyPr wrap="none" lIns="0" rIns="0" tIns="0" bIns="0">
            <a:spAutoFit/>
          </a:bodyPr>
          <a:lstStyle/>
          <a:p>
            <a:r>
              <a:rPr sz="1150" b="0">
                <a:solidFill>
                  <a:srgbClr val="2E2E2E"/>
                </a:solidFill>
                <a:latin typeface="Calibri"/>
              </a:rPr>
              <a:t>segment is expected to lose</a:t>
            </a:r>
          </a:p>
        </p:txBody>
      </p:sp>
      <p:pic>
        <p:nvPicPr>
          <p:cNvPr id="30" name="Picture 29" descr="lock.png"/>
          <p:cNvPicPr>
            <a:picLocks noChangeAspect="1"/>
          </p:cNvPicPr>
          <p:nvPr/>
        </p:nvPicPr>
        <p:blipFill>
          <a:blip r:embed="rId4"/>
          <a:stretch>
            <a:fillRect/>
          </a:stretch>
        </p:blipFill>
        <p:spPr>
          <a:xfrm>
            <a:off x="1950917" y="4540059"/>
            <a:ext cx="134549" cy="195707"/>
          </a:xfrm>
          <a:prstGeom prst="rect">
            <a:avLst/>
          </a:prstGeom>
        </p:spPr>
      </p:pic>
      <p:sp>
        <p:nvSpPr>
          <p:cNvPr id="31" name="TextBox 30"/>
          <p:cNvSpPr txBox="1"/>
          <p:nvPr/>
        </p:nvSpPr>
        <p:spPr>
          <a:xfrm>
            <a:off x="2126026"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4713530" y="4540059"/>
            <a:ext cx="134549" cy="195707"/>
          </a:xfrm>
          <a:prstGeom prst="rect">
            <a:avLst/>
          </a:prstGeom>
        </p:spPr>
      </p:pic>
      <p:sp>
        <p:nvSpPr>
          <p:cNvPr id="33" name="TextBox 32"/>
          <p:cNvSpPr txBox="1"/>
          <p:nvPr/>
        </p:nvSpPr>
        <p:spPr>
          <a:xfrm>
            <a:off x="4888640"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Driver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Driver Type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Driver Type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FMI Lock Anchor"/>
          <p:cNvSpPr txBox="1"/>
          <p:nvPr/>
        </p:nvSpPr>
        <p:spPr>
          <a:xfrm>
            <a:off x="2678811" y="4014597"/>
            <a:ext cx="38100" cy="38100"/>
          </a:xfrm>
          <a:prstGeom prst="rect">
            <a:avLst/>
          </a:prstGeom>
          <a:noFill/>
        </p:spPr>
        <p:txBody>
          <a:bodyPr wrap="none">
            <a:spAutoFit/>
          </a:bodyPr>
          <a:lstStyle/>
          <a:p/>
        </p:txBody>
      </p:sp>
      <p:sp>
        <p:nvSpPr>
          <p:cNvPr id="12" name="FMI Legend Chip"/>
          <p:cNvSpPr/>
          <p:nvPr/>
        </p:nvSpPr>
        <p:spPr>
          <a:xfrm>
            <a:off x="4928997" y="1755681"/>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75091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67471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Drive Types</a:t>
            </a:r>
          </a:p>
        </p:txBody>
      </p:sp>
      <p:sp>
        <p:nvSpPr>
          <p:cNvPr id="15" name="BPS Value 1"/>
          <p:cNvSpPr txBox="1"/>
          <p:nvPr/>
        </p:nvSpPr>
        <p:spPr>
          <a:xfrm>
            <a:off x="6896100" y="173663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FMI Legend Chip"/>
          <p:cNvSpPr/>
          <p:nvPr/>
        </p:nvSpPr>
        <p:spPr>
          <a:xfrm>
            <a:off x="4928997" y="1951482"/>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194672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187052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Electric Motor-Driven</a:t>
            </a:r>
          </a:p>
        </p:txBody>
      </p:sp>
      <p:sp>
        <p:nvSpPr>
          <p:cNvPr id="19" name="BPS Value 2"/>
          <p:cNvSpPr txBox="1"/>
          <p:nvPr/>
        </p:nvSpPr>
        <p:spPr>
          <a:xfrm>
            <a:off x="6896100" y="193243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928997" y="2269551"/>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226478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218858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Gas Turbine-Driven</a:t>
            </a:r>
          </a:p>
        </p:txBody>
      </p:sp>
      <p:sp>
        <p:nvSpPr>
          <p:cNvPr id="23" name="BPS Value 3"/>
          <p:cNvSpPr txBox="1"/>
          <p:nvPr/>
        </p:nvSpPr>
        <p:spPr>
          <a:xfrm>
            <a:off x="6896100" y="225050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FMI Legend Chip"/>
          <p:cNvSpPr/>
          <p:nvPr/>
        </p:nvSpPr>
        <p:spPr>
          <a:xfrm>
            <a:off x="4928997" y="2910512"/>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290574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282954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Steam Turbine-Driven</a:t>
            </a:r>
          </a:p>
        </p:txBody>
      </p:sp>
      <p:sp>
        <p:nvSpPr>
          <p:cNvPr id="27" name="BPS Value 4"/>
          <p:cNvSpPr txBox="1"/>
          <p:nvPr/>
        </p:nvSpPr>
        <p:spPr>
          <a:xfrm>
            <a:off x="6896100" y="289146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928997" y="3846752"/>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384198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5233797" y="376578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Natural Gas Engine-Driven</a:t>
            </a:r>
          </a:p>
        </p:txBody>
      </p:sp>
      <p:sp>
        <p:nvSpPr>
          <p:cNvPr id="31" name="BPS Value 5"/>
          <p:cNvSpPr txBox="1"/>
          <p:nvPr/>
        </p:nvSpPr>
        <p:spPr>
          <a:xfrm>
            <a:off x="6896100" y="382770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928997" y="5296180"/>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529141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5233797" y="521521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Diesel Engine-Driven</a:t>
            </a:r>
          </a:p>
        </p:txBody>
      </p:sp>
      <p:sp>
        <p:nvSpPr>
          <p:cNvPr id="35" name="BPS Value 6"/>
          <p:cNvSpPr txBox="1"/>
          <p:nvPr/>
        </p:nvSpPr>
        <p:spPr>
          <a:xfrm>
            <a:off x="6896100" y="527713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Rounded Rectangle 35"/>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North America Read-out, By Driver Type</a:t>
            </a:r>
          </a:p>
        </p:txBody>
      </p:sp>
      <p:sp>
        <p:nvSpPr>
          <p:cNvPr id="38" name="Rectangle 37"/>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Rectangle 3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2" name="Picture 41" descr="lock.png"/>
          <p:cNvPicPr>
            <a:picLocks noChangeAspect="1"/>
          </p:cNvPicPr>
          <p:nvPr/>
        </p:nvPicPr>
        <p:blipFill>
          <a:blip r:embed="rId5"/>
          <a:stretch>
            <a:fillRect/>
          </a:stretch>
        </p:blipFill>
        <p:spPr>
          <a:xfrm>
            <a:off x="2557843" y="3833622"/>
            <a:ext cx="275034" cy="400050"/>
          </a:xfrm>
          <a:prstGeom prst="rect">
            <a:avLst/>
          </a:prstGeom>
        </p:spPr>
      </p:pic>
      <p:sp>
        <p:nvSpPr>
          <p:cNvPr id="43" name="TextBox 42"/>
          <p:cNvSpPr txBox="1"/>
          <p:nvPr/>
        </p:nvSpPr>
        <p:spPr>
          <a:xfrm>
            <a:off x="7829550" y="1400175"/>
            <a:ext cx="3303277" cy="194310"/>
          </a:xfrm>
          <a:prstGeom prst="rect">
            <a:avLst/>
          </a:prstGeom>
          <a:noFill/>
        </p:spPr>
        <p:txBody>
          <a:bodyPr wrap="none" lIns="0" rIns="0" tIns="0" bIns="0">
            <a:spAutoFit/>
          </a:bodyPr>
          <a:lstStyle/>
          <a:p>
            <a:r>
              <a:rPr sz="1150" b="0">
                <a:solidFill>
                  <a:srgbClr val="2E2E2E"/>
                </a:solidFill>
                <a:latin typeface="Calibri"/>
              </a:rPr>
              <a:t>Among industrial air compressor by driver type, steam</a:t>
            </a:r>
          </a:p>
        </p:txBody>
      </p:sp>
      <p:sp>
        <p:nvSpPr>
          <p:cNvPr id="44" name="TextBox 43"/>
          <p:cNvSpPr txBox="1"/>
          <p:nvPr/>
        </p:nvSpPr>
        <p:spPr>
          <a:xfrm>
            <a:off x="7829550" y="1575435"/>
            <a:ext cx="4048057" cy="194310"/>
          </a:xfrm>
          <a:prstGeom prst="rect">
            <a:avLst/>
          </a:prstGeom>
          <a:noFill/>
        </p:spPr>
        <p:txBody>
          <a:bodyPr wrap="none" lIns="0" rIns="0" tIns="0" bIns="0">
            <a:spAutoFit/>
          </a:bodyPr>
          <a:lstStyle/>
          <a:p>
            <a:r>
              <a:rPr sz="1150" b="0">
                <a:solidFill>
                  <a:srgbClr val="2E2E2E"/>
                </a:solidFill>
                <a:latin typeface="Calibri"/>
              </a:rPr>
              <a:t>turbine-driven segment is expected to witness the highest CAGR of</a:t>
            </a:r>
          </a:p>
        </p:txBody>
      </p:sp>
      <p:pic>
        <p:nvPicPr>
          <p:cNvPr id="45" name="Picture 44" descr="lock.png"/>
          <p:cNvPicPr>
            <a:picLocks noChangeAspect="1"/>
          </p:cNvPicPr>
          <p:nvPr/>
        </p:nvPicPr>
        <p:blipFill>
          <a:blip r:embed="rId5"/>
          <a:stretch>
            <a:fillRect/>
          </a:stretch>
        </p:blipFill>
        <p:spPr>
          <a:xfrm>
            <a:off x="7815470" y="1740471"/>
            <a:ext cx="134549" cy="195707"/>
          </a:xfrm>
          <a:prstGeom prst="rect">
            <a:avLst/>
          </a:prstGeom>
        </p:spPr>
      </p:pic>
      <p:sp>
        <p:nvSpPr>
          <p:cNvPr id="46" name="TextBox 45"/>
          <p:cNvSpPr txBox="1"/>
          <p:nvPr/>
        </p:nvSpPr>
        <p:spPr>
          <a:xfrm>
            <a:off x="7990579" y="1750695"/>
            <a:ext cx="3836702"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driver type,</a:t>
            </a:r>
          </a:p>
        </p:txBody>
      </p:sp>
      <p:sp>
        <p:nvSpPr>
          <p:cNvPr id="47" name="TextBox 46"/>
          <p:cNvSpPr txBox="1"/>
          <p:nvPr/>
        </p:nvSpPr>
        <p:spPr>
          <a:xfrm>
            <a:off x="7829550" y="1925955"/>
            <a:ext cx="3756545" cy="194310"/>
          </a:xfrm>
          <a:prstGeom prst="rect">
            <a:avLst/>
          </a:prstGeom>
          <a:noFill/>
        </p:spPr>
        <p:txBody>
          <a:bodyPr wrap="none" lIns="0" rIns="0" tIns="0" bIns="0">
            <a:spAutoFit/>
          </a:bodyPr>
          <a:lstStyle/>
          <a:p>
            <a:r>
              <a:rPr sz="1150" b="0">
                <a:solidFill>
                  <a:srgbClr val="2E2E2E"/>
                </a:solidFill>
                <a:latin typeface="Calibri"/>
              </a:rPr>
              <a:t>the diesel engine-driven segment is expected to dominate the</a:t>
            </a:r>
          </a:p>
        </p:txBody>
      </p:sp>
      <p:sp>
        <p:nvSpPr>
          <p:cNvPr id="48" name="TextBox 47"/>
          <p:cNvSpPr txBox="1"/>
          <p:nvPr/>
        </p:nvSpPr>
        <p:spPr>
          <a:xfrm>
            <a:off x="7829550" y="2101215"/>
            <a:ext cx="999852" cy="194310"/>
          </a:xfrm>
          <a:prstGeom prst="rect">
            <a:avLst/>
          </a:prstGeom>
          <a:noFill/>
        </p:spPr>
        <p:txBody>
          <a:bodyPr wrap="none" lIns="0" rIns="0" tIns="0" bIns="0">
            <a:spAutoFit/>
          </a:bodyPr>
          <a:lstStyle/>
          <a:p>
            <a:r>
              <a:rPr sz="1150" b="0">
                <a:solidFill>
                  <a:srgbClr val="2E2E2E"/>
                </a:solidFill>
                <a:latin typeface="Calibri"/>
              </a:rPr>
              <a:t>market, gaining</a:t>
            </a:r>
          </a:p>
        </p:txBody>
      </p:sp>
      <p:pic>
        <p:nvPicPr>
          <p:cNvPr id="49" name="Picture 48" descr="lock.png"/>
          <p:cNvPicPr>
            <a:picLocks noChangeAspect="1"/>
          </p:cNvPicPr>
          <p:nvPr/>
        </p:nvPicPr>
        <p:blipFill>
          <a:blip r:embed="rId5"/>
          <a:stretch>
            <a:fillRect/>
          </a:stretch>
        </p:blipFill>
        <p:spPr>
          <a:xfrm>
            <a:off x="8778556" y="2090991"/>
            <a:ext cx="134549" cy="195707"/>
          </a:xfrm>
          <a:prstGeom prst="rect">
            <a:avLst/>
          </a:prstGeom>
        </p:spPr>
      </p:pic>
      <p:sp>
        <p:nvSpPr>
          <p:cNvPr id="50" name="TextBox 49"/>
          <p:cNvSpPr txBox="1"/>
          <p:nvPr/>
        </p:nvSpPr>
        <p:spPr>
          <a:xfrm>
            <a:off x="895366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1" name="Picture 50" descr="lock.png"/>
          <p:cNvPicPr>
            <a:picLocks noChangeAspect="1"/>
          </p:cNvPicPr>
          <p:nvPr/>
        </p:nvPicPr>
        <p:blipFill>
          <a:blip r:embed="rId5"/>
          <a:stretch>
            <a:fillRect/>
          </a:stretch>
        </p:blipFill>
        <p:spPr>
          <a:xfrm>
            <a:off x="10348808" y="2090991"/>
            <a:ext cx="134549" cy="195707"/>
          </a:xfrm>
          <a:prstGeom prst="rect">
            <a:avLst/>
          </a:prstGeom>
        </p:spPr>
      </p:pic>
      <p:sp>
        <p:nvSpPr>
          <p:cNvPr id="52" name="TextBox 51"/>
          <p:cNvSpPr txBox="1"/>
          <p:nvPr/>
        </p:nvSpPr>
        <p:spPr>
          <a:xfrm>
            <a:off x="10523917"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3" name="TextBox 52"/>
          <p:cNvSpPr txBox="1"/>
          <p:nvPr/>
        </p:nvSpPr>
        <p:spPr>
          <a:xfrm>
            <a:off x="7829550" y="2329053"/>
            <a:ext cx="3524349" cy="194310"/>
          </a:xfrm>
          <a:prstGeom prst="rect">
            <a:avLst/>
          </a:prstGeom>
          <a:noFill/>
        </p:spPr>
        <p:txBody>
          <a:bodyPr wrap="none" lIns="0" rIns="0" tIns="0" bIns="0">
            <a:spAutoFit/>
          </a:bodyPr>
          <a:lstStyle/>
          <a:p>
            <a:r>
              <a:rPr sz="1150" b="0">
                <a:solidFill>
                  <a:srgbClr val="2E2E2E"/>
                </a:solidFill>
                <a:latin typeface="Calibri"/>
              </a:rPr>
              <a:t>The natural gas engine-driven segment is expected to lose</a:t>
            </a:r>
          </a:p>
        </p:txBody>
      </p:sp>
      <p:pic>
        <p:nvPicPr>
          <p:cNvPr id="54" name="Picture 53" descr="lock.png"/>
          <p:cNvPicPr>
            <a:picLocks noChangeAspect="1"/>
          </p:cNvPicPr>
          <p:nvPr/>
        </p:nvPicPr>
        <p:blipFill>
          <a:blip r:embed="rId5"/>
          <a:stretch>
            <a:fillRect/>
          </a:stretch>
        </p:blipFill>
        <p:spPr>
          <a:xfrm>
            <a:off x="11303053" y="2318829"/>
            <a:ext cx="134549" cy="195707"/>
          </a:xfrm>
          <a:prstGeom prst="rect">
            <a:avLst/>
          </a:prstGeom>
        </p:spPr>
      </p:pic>
      <p:sp>
        <p:nvSpPr>
          <p:cNvPr id="55" name="TextBox 54"/>
          <p:cNvSpPr txBox="1"/>
          <p:nvPr/>
        </p:nvSpPr>
        <p:spPr>
          <a:xfrm>
            <a:off x="11478162" y="232905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56" name="TextBox 55"/>
          <p:cNvSpPr txBox="1"/>
          <p:nvPr/>
        </p:nvSpPr>
        <p:spPr>
          <a:xfrm>
            <a:off x="7829550" y="250431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57" name="Picture 56" descr="lock.png"/>
          <p:cNvPicPr>
            <a:picLocks noChangeAspect="1"/>
          </p:cNvPicPr>
          <p:nvPr/>
        </p:nvPicPr>
        <p:blipFill>
          <a:blip r:embed="rId5"/>
          <a:stretch>
            <a:fillRect/>
          </a:stretch>
        </p:blipFill>
        <p:spPr>
          <a:xfrm>
            <a:off x="10161752" y="2494089"/>
            <a:ext cx="134549" cy="195707"/>
          </a:xfrm>
          <a:prstGeom prst="rect">
            <a:avLst/>
          </a:prstGeom>
        </p:spPr>
      </p:pic>
      <p:sp>
        <p:nvSpPr>
          <p:cNvPr id="58" name="TextBox 57"/>
          <p:cNvSpPr txBox="1"/>
          <p:nvPr/>
        </p:nvSpPr>
        <p:spPr>
          <a:xfrm>
            <a:off x="10336861"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9"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2508250"/>
            <a:ext cx="7239000" cy="247650"/>
          </a:xfrm>
          <a:prstGeom prst="rect">
            <a:avLst/>
          </a:prstGeom>
          <a:noFill/>
        </p:spPr>
        <p:txBody>
          <a:bodyPr wrap="none" lIns="0" tIns="0">
            <a:spAutoFit/>
          </a:bodyPr>
          <a:lstStyle/>
          <a:p>
            <a:r>
              <a:rPr sz="1400" b="0">
                <a:solidFill>
                  <a:srgbClr val="8FC8F2"/>
                </a:solidFill>
                <a:latin typeface="Calibri"/>
              </a:rPr>
              <a:t>Industrial Air Compressor Market</a:t>
            </a:r>
          </a:p>
        </p:txBody>
      </p:sp>
      <p:sp>
        <p:nvSpPr>
          <p:cNvPr id="6" name="FMI Breaker Title"/>
          <p:cNvSpPr txBox="1"/>
          <p:nvPr/>
        </p:nvSpPr>
        <p:spPr>
          <a:xfrm>
            <a:off x="914400" y="2813050"/>
            <a:ext cx="7239000" cy="514350"/>
          </a:xfrm>
          <a:prstGeom prst="rect">
            <a:avLst/>
          </a:prstGeom>
          <a:noFill/>
        </p:spPr>
        <p:txBody>
          <a:bodyPr wrap="square" lIns="0" rIns="0" tIns="0">
            <a:spAutoFit/>
          </a:bodyPr>
          <a:lstStyle/>
          <a:p>
            <a:r>
              <a:rPr sz="3000" b="1" cap="all" spc="400">
                <a:solidFill>
                  <a:srgbClr val="FFFFFF"/>
                </a:solidFill>
                <a:latin typeface="Calibri"/>
              </a:rPr>
              <a:t>Country Market Outlook</a:t>
            </a:r>
          </a:p>
        </p:txBody>
      </p:sp>
      <p:sp>
        <p:nvSpPr>
          <p:cNvPr id="7" name="TextBox 6"/>
          <p:cNvSpPr txBox="1"/>
          <p:nvPr/>
        </p:nvSpPr>
        <p:spPr>
          <a:xfrm>
            <a:off x="914400" y="3517900"/>
            <a:ext cx="7124700" cy="226060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Overview (Volume &amp; Value)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Segment Overview (Volume &amp; Value)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Technology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Capacity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Compression Stage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End Use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Driver Type</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Overview (Volume &amp; Value)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Segments (Value)</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Industrial Air Compressor Market Volume Overview (Units)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volume: size, growth, YoY momentum and gap to the Global benchmark</a:t>
            </a:r>
          </a:p>
        </p:txBody>
      </p:sp>
      <p:sp>
        <p:nvSpPr>
          <p:cNvPr id="7" name="Rounded Rectangle 6"/>
          <p:cNvSpPr/>
          <p:nvPr/>
        </p:nvSpPr>
        <p:spPr>
          <a:xfrm>
            <a:off x="1428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(UNITS)</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estimate year</a:t>
            </a:r>
          </a:p>
        </p:txBody>
      </p:sp>
      <p:sp>
        <p:nvSpPr>
          <p:cNvPr id="8" name="Rounded Rectangle 7"/>
          <p:cNvSpPr/>
          <p:nvPr/>
        </p:nvSpPr>
        <p:spPr>
          <a:xfrm>
            <a:off x="31527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(UNITS)</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forecast horizon</a:t>
            </a:r>
          </a:p>
        </p:txBody>
      </p:sp>
      <p:sp>
        <p:nvSpPr>
          <p:cNvPr id="9" name="Rounded Rectangle 8"/>
          <p:cNvSpPr/>
          <p:nvPr/>
        </p:nvSpPr>
        <p:spPr>
          <a:xfrm>
            <a:off x="61626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2A5F8F"/>
                </a:solidFill>
                <a:latin typeface="Calibri"/>
              </a:rPr>
              <a:t> </a:t>
            </a:r>
          </a:p>
        </p:txBody>
      </p:sp>
      <p:sp>
        <p:nvSpPr>
          <p:cNvPr id="10" name="Rounded Rectangle 9"/>
          <p:cNvSpPr/>
          <p:nvPr/>
        </p:nvSpPr>
        <p:spPr>
          <a:xfrm>
            <a:off x="91725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819275"/>
            <a:ext cx="46958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Volume (Units), 2021–2036</a:t>
            </a:r>
          </a:p>
        </p:txBody>
      </p:sp>
      <p:graphicFrame>
        <p:nvGraphicFramePr>
          <p:cNvPr id="13" name="Chart 12"/>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4" name="Rounded Rectangle 13"/>
          <p:cNvSpPr/>
          <p:nvPr/>
        </p:nvSpPr>
        <p:spPr>
          <a:xfrm>
            <a:off x="4991100" y="1819275"/>
            <a:ext cx="7048500"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6" name="Chart 15"/>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7" name="TextBox 16"/>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F47620"/>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18" name="TextBox 17"/>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19" name="Rounded Rectangle 18"/>
          <p:cNvSpPr/>
          <p:nvPr/>
        </p:nvSpPr>
        <p:spPr>
          <a:xfrm>
            <a:off x="142875" y="3733800"/>
            <a:ext cx="46958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(Units)</a:t>
            </a:r>
          </a:p>
        </p:txBody>
      </p:sp>
      <p:graphicFrame>
        <p:nvGraphicFramePr>
          <p:cNvPr id="21" name="Chart 20"/>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2" name="Rounded Rectangle 21"/>
          <p:cNvSpPr/>
          <p:nvPr/>
        </p:nvSpPr>
        <p:spPr>
          <a:xfrm>
            <a:off x="4991100" y="3733800"/>
            <a:ext cx="7048500"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4" name="Chart 23"/>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5" name="Rounded Rectangle 24"/>
          <p:cNvSpPr/>
          <p:nvPr/>
        </p:nvSpPr>
        <p:spPr>
          <a:xfrm>
            <a:off x="142875" y="5648325"/>
            <a:ext cx="5876925" cy="971550"/>
          </a:xfrm>
          <a:prstGeom prst="roundRect">
            <a:avLst>
              <a:gd name="adj" fmla="val 7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6" name="Rounded Rectangle 25"/>
          <p:cNvSpPr/>
          <p:nvPr/>
        </p:nvSpPr>
        <p:spPr>
          <a:xfrm>
            <a:off x="6172200" y="5648325"/>
            <a:ext cx="5876925" cy="971550"/>
          </a:xfrm>
          <a:prstGeom prst="roundRect">
            <a:avLst>
              <a:gd name="adj" fmla="val 7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8"/>
          <a:stretch>
            <a:fillRect/>
          </a:stretch>
        </p:blipFill>
        <p:spPr>
          <a:xfrm>
            <a:off x="1493044" y="1219200"/>
            <a:ext cx="157162" cy="228600"/>
          </a:xfrm>
          <a:prstGeom prst="rect">
            <a:avLst/>
          </a:prstGeom>
        </p:spPr>
      </p:pic>
      <p:pic>
        <p:nvPicPr>
          <p:cNvPr id="30" name="Picture 29" descr="lock.png"/>
          <p:cNvPicPr>
            <a:picLocks noChangeAspect="1"/>
          </p:cNvPicPr>
          <p:nvPr/>
        </p:nvPicPr>
        <p:blipFill>
          <a:blip r:embed="rId8"/>
          <a:stretch>
            <a:fillRect/>
          </a:stretch>
        </p:blipFill>
        <p:spPr>
          <a:xfrm>
            <a:off x="4502944" y="1219200"/>
            <a:ext cx="157162" cy="228600"/>
          </a:xfrm>
          <a:prstGeom prst="rect">
            <a:avLst/>
          </a:prstGeom>
        </p:spPr>
      </p:pic>
      <p:pic>
        <p:nvPicPr>
          <p:cNvPr id="31" name="Picture 30" descr="lock.png"/>
          <p:cNvPicPr>
            <a:picLocks noChangeAspect="1"/>
          </p:cNvPicPr>
          <p:nvPr/>
        </p:nvPicPr>
        <p:blipFill>
          <a:blip r:embed="rId8"/>
          <a:stretch>
            <a:fillRect/>
          </a:stretch>
        </p:blipFill>
        <p:spPr>
          <a:xfrm>
            <a:off x="7512844" y="1303020"/>
            <a:ext cx="157162" cy="228600"/>
          </a:xfrm>
          <a:prstGeom prst="rect">
            <a:avLst/>
          </a:prstGeom>
        </p:spPr>
      </p:pic>
      <p:pic>
        <p:nvPicPr>
          <p:cNvPr id="32" name="Picture 31" descr="lock.png"/>
          <p:cNvPicPr>
            <a:picLocks noChangeAspect="1"/>
          </p:cNvPicPr>
          <p:nvPr/>
        </p:nvPicPr>
        <p:blipFill>
          <a:blip r:embed="rId8"/>
          <a:stretch>
            <a:fillRect/>
          </a:stretch>
        </p:blipFill>
        <p:spPr>
          <a:xfrm>
            <a:off x="10522744" y="1303020"/>
            <a:ext cx="157162" cy="228600"/>
          </a:xfrm>
          <a:prstGeom prst="rect">
            <a:avLst/>
          </a:prstGeom>
        </p:spPr>
      </p:pic>
      <p:pic>
        <p:nvPicPr>
          <p:cNvPr id="33" name="Picture 32" descr="lock.png"/>
          <p:cNvPicPr>
            <a:picLocks noChangeAspect="1"/>
          </p:cNvPicPr>
          <p:nvPr/>
        </p:nvPicPr>
        <p:blipFill>
          <a:blip r:embed="rId8"/>
          <a:stretch>
            <a:fillRect/>
          </a:stretch>
        </p:blipFill>
        <p:spPr>
          <a:xfrm>
            <a:off x="2554414" y="2661285"/>
            <a:ext cx="165021" cy="240030"/>
          </a:xfrm>
          <a:prstGeom prst="rect">
            <a:avLst/>
          </a:prstGeom>
        </p:spPr>
      </p:pic>
      <p:pic>
        <p:nvPicPr>
          <p:cNvPr id="34" name="Picture 33" descr="lock.png"/>
          <p:cNvPicPr>
            <a:picLocks noChangeAspect="1"/>
          </p:cNvPicPr>
          <p:nvPr/>
        </p:nvPicPr>
        <p:blipFill>
          <a:blip r:embed="rId8"/>
          <a:stretch>
            <a:fillRect/>
          </a:stretch>
        </p:blipFill>
        <p:spPr>
          <a:xfrm>
            <a:off x="6762365" y="2599095"/>
            <a:ext cx="191595" cy="278683"/>
          </a:xfrm>
          <a:prstGeom prst="rect">
            <a:avLst/>
          </a:prstGeom>
        </p:spPr>
      </p:pic>
      <p:pic>
        <p:nvPicPr>
          <p:cNvPr id="35" name="Picture 34" descr="lock.png"/>
          <p:cNvPicPr>
            <a:picLocks noChangeAspect="1"/>
          </p:cNvPicPr>
          <p:nvPr/>
        </p:nvPicPr>
        <p:blipFill>
          <a:blip r:embed="rId8"/>
          <a:stretch>
            <a:fillRect/>
          </a:stretch>
        </p:blipFill>
        <p:spPr>
          <a:xfrm>
            <a:off x="9878378" y="2141220"/>
            <a:ext cx="230504" cy="335279"/>
          </a:xfrm>
          <a:prstGeom prst="rect">
            <a:avLst/>
          </a:prstGeom>
        </p:spPr>
      </p:pic>
      <p:pic>
        <p:nvPicPr>
          <p:cNvPr id="36" name="Picture 35" descr="lock.png"/>
          <p:cNvPicPr>
            <a:picLocks noChangeAspect="1"/>
          </p:cNvPicPr>
          <p:nvPr/>
        </p:nvPicPr>
        <p:blipFill>
          <a:blip r:embed="rId8"/>
          <a:stretch>
            <a:fillRect/>
          </a:stretch>
        </p:blipFill>
        <p:spPr>
          <a:xfrm>
            <a:off x="2554414" y="4575810"/>
            <a:ext cx="165021" cy="240030"/>
          </a:xfrm>
          <a:prstGeom prst="rect">
            <a:avLst/>
          </a:prstGeom>
        </p:spPr>
      </p:pic>
      <p:pic>
        <p:nvPicPr>
          <p:cNvPr id="37" name="Picture 36" descr="lock.png"/>
          <p:cNvPicPr>
            <a:picLocks noChangeAspect="1"/>
          </p:cNvPicPr>
          <p:nvPr/>
        </p:nvPicPr>
        <p:blipFill>
          <a:blip r:embed="rId8"/>
          <a:stretch>
            <a:fillRect/>
          </a:stretch>
        </p:blipFill>
        <p:spPr>
          <a:xfrm>
            <a:off x="8715708" y="4462938"/>
            <a:ext cx="261282" cy="380047"/>
          </a:xfrm>
          <a:prstGeom prst="rect">
            <a:avLst/>
          </a:prstGeom>
        </p:spPr>
      </p:pic>
      <p:sp>
        <p:nvSpPr>
          <p:cNvPr id="38" name="TextBox 37"/>
          <p:cNvSpPr txBox="1"/>
          <p:nvPr/>
        </p:nvSpPr>
        <p:spPr>
          <a:xfrm>
            <a:off x="8071485" y="2876550"/>
            <a:ext cx="2918494" cy="186689"/>
          </a:xfrm>
          <a:prstGeom prst="rect">
            <a:avLst/>
          </a:prstGeom>
          <a:noFill/>
        </p:spPr>
        <p:txBody>
          <a:bodyPr wrap="none" lIns="0" rIns="0" tIns="0" bIns="0">
            <a:spAutoFit/>
          </a:bodyPr>
          <a:lstStyle/>
          <a:p>
            <a:r>
              <a:rPr sz="1100" b="0">
                <a:solidFill>
                  <a:srgbClr val="2E2E2E"/>
                </a:solidFill>
                <a:latin typeface="Calibri"/>
              </a:rPr>
              <a:t>U.S.'s industrial air compressor market expands at</a:t>
            </a:r>
          </a:p>
        </p:txBody>
      </p:sp>
      <p:pic>
        <p:nvPicPr>
          <p:cNvPr id="39" name="Picture 38" descr="lock.png"/>
          <p:cNvPicPr>
            <a:picLocks noChangeAspect="1"/>
          </p:cNvPicPr>
          <p:nvPr/>
        </p:nvPicPr>
        <p:blipFill>
          <a:blip r:embed="rId8"/>
          <a:stretch>
            <a:fillRect/>
          </a:stretch>
        </p:blipFill>
        <p:spPr>
          <a:xfrm>
            <a:off x="10938031" y="2866771"/>
            <a:ext cx="128699" cy="187198"/>
          </a:xfrm>
          <a:prstGeom prst="rect">
            <a:avLst/>
          </a:prstGeom>
        </p:spPr>
      </p:pic>
      <p:sp>
        <p:nvSpPr>
          <p:cNvPr id="40" name="TextBox 39"/>
          <p:cNvSpPr txBox="1"/>
          <p:nvPr/>
        </p:nvSpPr>
        <p:spPr>
          <a:xfrm>
            <a:off x="11105527" y="2876550"/>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41" name="TextBox 40"/>
          <p:cNvSpPr txBox="1"/>
          <p:nvPr/>
        </p:nvSpPr>
        <p:spPr>
          <a:xfrm>
            <a:off x="8071485" y="3044190"/>
            <a:ext cx="3218358" cy="186689"/>
          </a:xfrm>
          <a:prstGeom prst="rect">
            <a:avLst/>
          </a:prstGeom>
          <a:noFill/>
        </p:spPr>
        <p:txBody>
          <a:bodyPr wrap="none" lIns="0" rIns="0" tIns="0" bIns="0">
            <a:spAutoFit/>
          </a:bodyPr>
          <a:lstStyle/>
          <a:p>
            <a:r>
              <a:rPr sz="1100" b="0">
                <a:solidFill>
                  <a:srgbClr val="2E2E2E"/>
                </a:solidFill>
                <a:latin typeface="Calibri"/>
              </a:rPr>
              <a:t>through 2036, trailing the North America benchmark of</a:t>
            </a:r>
          </a:p>
        </p:txBody>
      </p:sp>
      <p:pic>
        <p:nvPicPr>
          <p:cNvPr id="42" name="Picture 41" descr="lock.png"/>
          <p:cNvPicPr>
            <a:picLocks noChangeAspect="1"/>
          </p:cNvPicPr>
          <p:nvPr/>
        </p:nvPicPr>
        <p:blipFill>
          <a:blip r:embed="rId8"/>
          <a:stretch>
            <a:fillRect/>
          </a:stretch>
        </p:blipFill>
        <p:spPr>
          <a:xfrm>
            <a:off x="11237895" y="3034411"/>
            <a:ext cx="128699" cy="187198"/>
          </a:xfrm>
          <a:prstGeom prst="rect">
            <a:avLst/>
          </a:prstGeom>
        </p:spPr>
      </p:pic>
      <p:sp>
        <p:nvSpPr>
          <p:cNvPr id="43" name="TextBox 42"/>
          <p:cNvSpPr txBox="1"/>
          <p:nvPr/>
        </p:nvSpPr>
        <p:spPr>
          <a:xfrm>
            <a:off x="11405391"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4" name="Picture 43" descr="lock.png"/>
          <p:cNvPicPr>
            <a:picLocks noChangeAspect="1"/>
          </p:cNvPicPr>
          <p:nvPr/>
        </p:nvPicPr>
        <p:blipFill>
          <a:blip r:embed="rId8"/>
          <a:stretch>
            <a:fillRect/>
          </a:stretch>
        </p:blipFill>
        <p:spPr>
          <a:xfrm>
            <a:off x="8058017" y="3202051"/>
            <a:ext cx="128699" cy="187198"/>
          </a:xfrm>
          <a:prstGeom prst="rect">
            <a:avLst/>
          </a:prstGeom>
        </p:spPr>
      </p:pic>
      <p:sp>
        <p:nvSpPr>
          <p:cNvPr id="45" name="TextBox 44"/>
          <p:cNvSpPr txBox="1"/>
          <p:nvPr/>
        </p:nvSpPr>
        <p:spPr>
          <a:xfrm>
            <a:off x="8225513" y="321183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6" name="TextBox 45"/>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7" name="Picture 46" descr="lock.png"/>
          <p:cNvPicPr>
            <a:picLocks noChangeAspect="1"/>
          </p:cNvPicPr>
          <p:nvPr/>
        </p:nvPicPr>
        <p:blipFill>
          <a:blip r:embed="rId8"/>
          <a:stretch>
            <a:fillRect/>
          </a:stretch>
        </p:blipFill>
        <p:spPr>
          <a:xfrm>
            <a:off x="844592" y="5956680"/>
            <a:ext cx="128699" cy="187198"/>
          </a:xfrm>
          <a:prstGeom prst="rect">
            <a:avLst/>
          </a:prstGeom>
        </p:spPr>
      </p:pic>
      <p:sp>
        <p:nvSpPr>
          <p:cNvPr id="48" name="TextBox 47"/>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49" name="Picture 48" descr="lock.png"/>
          <p:cNvPicPr>
            <a:picLocks noChangeAspect="1"/>
          </p:cNvPicPr>
          <p:nvPr/>
        </p:nvPicPr>
        <p:blipFill>
          <a:blip r:embed="rId8"/>
          <a:stretch>
            <a:fillRect/>
          </a:stretch>
        </p:blipFill>
        <p:spPr>
          <a:xfrm>
            <a:off x="1995140" y="5956680"/>
            <a:ext cx="128699" cy="187198"/>
          </a:xfrm>
          <a:prstGeom prst="rect">
            <a:avLst/>
          </a:prstGeom>
        </p:spPr>
      </p:pic>
      <p:sp>
        <p:nvSpPr>
          <p:cNvPr id="50" name="TextBox 49"/>
          <p:cNvSpPr txBox="1"/>
          <p:nvPr/>
        </p:nvSpPr>
        <p:spPr>
          <a:xfrm>
            <a:off x="2162635" y="5966460"/>
            <a:ext cx="3300486" cy="186689"/>
          </a:xfrm>
          <a:prstGeom prst="rect">
            <a:avLst/>
          </a:prstGeom>
          <a:noFill/>
        </p:spPr>
        <p:txBody>
          <a:bodyPr wrap="none" lIns="0" rIns="0" tIns="0" bIns="0">
            <a:spAutoFit/>
          </a:bodyPr>
          <a:lstStyle/>
          <a:p>
            <a:r>
              <a:rPr sz="1100" b="0">
                <a:solidFill>
                  <a:srgbClr val="2E2E2E"/>
                </a:solidFill>
                <a:latin typeface="Calibri"/>
              </a:rPr>
              <a:t>of the North America industrial air compressor market in</a:t>
            </a:r>
          </a:p>
        </p:txBody>
      </p:sp>
      <p:sp>
        <p:nvSpPr>
          <p:cNvPr id="51" name="TextBox 50"/>
          <p:cNvSpPr txBox="1"/>
          <p:nvPr/>
        </p:nvSpPr>
        <p:spPr>
          <a:xfrm>
            <a:off x="257175" y="6134100"/>
            <a:ext cx="2132136" cy="186689"/>
          </a:xfrm>
          <a:prstGeom prst="rect">
            <a:avLst/>
          </a:prstGeom>
          <a:noFill/>
        </p:spPr>
        <p:txBody>
          <a:bodyPr wrap="none" lIns="0" rIns="0" tIns="0" bIns="0">
            <a:spAutoFit/>
          </a:bodyPr>
          <a:lstStyle/>
          <a:p>
            <a:r>
              <a:rPr sz="1100" b="0">
                <a:solidFill>
                  <a:srgbClr val="2E2E2E"/>
                </a:solidFill>
                <a:latin typeface="Calibri"/>
              </a:rPr>
              <a:t>2026; by 2036 those shares move to</a:t>
            </a:r>
          </a:p>
        </p:txBody>
      </p:sp>
      <p:pic>
        <p:nvPicPr>
          <p:cNvPr id="52" name="Picture 51" descr="lock.png"/>
          <p:cNvPicPr>
            <a:picLocks noChangeAspect="1"/>
          </p:cNvPicPr>
          <p:nvPr/>
        </p:nvPicPr>
        <p:blipFill>
          <a:blip r:embed="rId8"/>
          <a:stretch>
            <a:fillRect/>
          </a:stretch>
        </p:blipFill>
        <p:spPr>
          <a:xfrm>
            <a:off x="2337363" y="6124320"/>
            <a:ext cx="128699" cy="187198"/>
          </a:xfrm>
          <a:prstGeom prst="rect">
            <a:avLst/>
          </a:prstGeom>
        </p:spPr>
      </p:pic>
      <p:sp>
        <p:nvSpPr>
          <p:cNvPr id="53" name="TextBox 52"/>
          <p:cNvSpPr txBox="1"/>
          <p:nvPr/>
        </p:nvSpPr>
        <p:spPr>
          <a:xfrm>
            <a:off x="2504858"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4" name="Picture 53" descr="lock.png"/>
          <p:cNvPicPr>
            <a:picLocks noChangeAspect="1"/>
          </p:cNvPicPr>
          <p:nvPr/>
        </p:nvPicPr>
        <p:blipFill>
          <a:blip r:embed="rId8"/>
          <a:stretch>
            <a:fillRect/>
          </a:stretch>
        </p:blipFill>
        <p:spPr>
          <a:xfrm>
            <a:off x="2742753" y="6124320"/>
            <a:ext cx="128699" cy="187198"/>
          </a:xfrm>
          <a:prstGeom prst="rect">
            <a:avLst/>
          </a:prstGeom>
        </p:spPr>
      </p:pic>
      <p:sp>
        <p:nvSpPr>
          <p:cNvPr id="55" name="TextBox 54"/>
          <p:cNvSpPr txBox="1"/>
          <p:nvPr/>
        </p:nvSpPr>
        <p:spPr>
          <a:xfrm>
            <a:off x="2910249"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6" name="TextBox 55"/>
          <p:cNvSpPr txBox="1"/>
          <p:nvPr/>
        </p:nvSpPr>
        <p:spPr>
          <a:xfrm>
            <a:off x="6286500" y="5966460"/>
            <a:ext cx="1586979" cy="186689"/>
          </a:xfrm>
          <a:prstGeom prst="rect">
            <a:avLst/>
          </a:prstGeom>
          <a:noFill/>
        </p:spPr>
        <p:txBody>
          <a:bodyPr wrap="none" lIns="0" rIns="0" tIns="0" bIns="0">
            <a:spAutoFit/>
          </a:bodyPr>
          <a:lstStyle/>
          <a:p>
            <a:r>
              <a:rPr sz="1100" b="0">
                <a:solidFill>
                  <a:srgbClr val="2E2E2E"/>
                </a:solidFill>
                <a:latin typeface="Calibri"/>
              </a:rPr>
              <a:t>The forecast build-up adds</a:t>
            </a:r>
          </a:p>
        </p:txBody>
      </p:sp>
      <p:pic>
        <p:nvPicPr>
          <p:cNvPr id="57" name="Picture 56" descr="lock.png"/>
          <p:cNvPicPr>
            <a:picLocks noChangeAspect="1"/>
          </p:cNvPicPr>
          <p:nvPr/>
        </p:nvPicPr>
        <p:blipFill>
          <a:blip r:embed="rId8"/>
          <a:stretch>
            <a:fillRect/>
          </a:stretch>
        </p:blipFill>
        <p:spPr>
          <a:xfrm>
            <a:off x="7821530" y="5956680"/>
            <a:ext cx="128699" cy="187198"/>
          </a:xfrm>
          <a:prstGeom prst="rect">
            <a:avLst/>
          </a:prstGeom>
        </p:spPr>
      </p:pic>
      <p:sp>
        <p:nvSpPr>
          <p:cNvPr id="58" name="TextBox 57"/>
          <p:cNvSpPr txBox="1"/>
          <p:nvPr/>
        </p:nvSpPr>
        <p:spPr>
          <a:xfrm>
            <a:off x="7989026" y="5966460"/>
            <a:ext cx="3226271" cy="186689"/>
          </a:xfrm>
          <a:prstGeom prst="rect">
            <a:avLst/>
          </a:prstGeom>
          <a:noFill/>
        </p:spPr>
        <p:txBody>
          <a:bodyPr wrap="none" lIns="0" rIns="0" tIns="0" bIns="0">
            <a:spAutoFit/>
          </a:bodyPr>
          <a:lstStyle/>
          <a:p>
            <a:r>
              <a:rPr sz="1100" b="0">
                <a:solidFill>
                  <a:srgbClr val="2E2E2E"/>
                </a:solidFill>
                <a:latin typeface="Calibri"/>
              </a:rPr>
              <a:t>Units between 2026 and 2036 the U.S. market grows to</a:t>
            </a:r>
          </a:p>
        </p:txBody>
      </p:sp>
      <p:pic>
        <p:nvPicPr>
          <p:cNvPr id="59" name="Picture 58" descr="lock.png"/>
          <p:cNvPicPr>
            <a:picLocks noChangeAspect="1"/>
          </p:cNvPicPr>
          <p:nvPr/>
        </p:nvPicPr>
        <p:blipFill>
          <a:blip r:embed="rId8"/>
          <a:stretch>
            <a:fillRect/>
          </a:stretch>
        </p:blipFill>
        <p:spPr>
          <a:xfrm>
            <a:off x="11163349" y="5956680"/>
            <a:ext cx="128699" cy="187198"/>
          </a:xfrm>
          <a:prstGeom prst="rect">
            <a:avLst/>
          </a:prstGeom>
        </p:spPr>
      </p:pic>
      <p:sp>
        <p:nvSpPr>
          <p:cNvPr id="60" name="TextBox 59"/>
          <p:cNvSpPr txBox="1"/>
          <p:nvPr/>
        </p:nvSpPr>
        <p:spPr>
          <a:xfrm>
            <a:off x="11330845" y="5966460"/>
            <a:ext cx="311125" cy="186689"/>
          </a:xfrm>
          <a:prstGeom prst="rect">
            <a:avLst/>
          </a:prstGeom>
          <a:noFill/>
        </p:spPr>
        <p:txBody>
          <a:bodyPr wrap="none" lIns="0" rIns="0" tIns="0" bIns="0">
            <a:spAutoFit/>
          </a:bodyPr>
          <a:lstStyle/>
          <a:p>
            <a:r>
              <a:rPr sz="1100" b="0">
                <a:solidFill>
                  <a:srgbClr val="2E2E2E"/>
                </a:solidFill>
                <a:latin typeface="Calibri"/>
              </a:rPr>
              <a:t>× its</a:t>
            </a:r>
          </a:p>
        </p:txBody>
      </p:sp>
      <p:sp>
        <p:nvSpPr>
          <p:cNvPr id="61" name="TextBox 60"/>
          <p:cNvSpPr txBox="1"/>
          <p:nvPr/>
        </p:nvSpPr>
        <p:spPr>
          <a:xfrm>
            <a:off x="6286500" y="6134100"/>
            <a:ext cx="1590253" cy="186689"/>
          </a:xfrm>
          <a:prstGeom prst="rect">
            <a:avLst/>
          </a:prstGeom>
          <a:noFill/>
        </p:spPr>
        <p:txBody>
          <a:bodyPr wrap="none" lIns="0" rIns="0" tIns="0" bIns="0">
            <a:spAutoFit/>
          </a:bodyPr>
          <a:lstStyle/>
          <a:p>
            <a:r>
              <a:rPr sz="1100" b="0">
                <a:solidFill>
                  <a:srgbClr val="2E2E2E"/>
                </a:solidFill>
                <a:latin typeface="Calibri"/>
              </a:rPr>
              <a:t>2026 size over the decade.</a:t>
            </a:r>
          </a:p>
        </p:txBody>
      </p:sp>
      <p:sp>
        <p:nvSpPr>
          <p:cNvPr id="62" name="lockshield_13"/>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16"/>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lockshield_21"/>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24"/>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Industrial Air Compressor Market Value Overview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value: size, growth, YoY momentum and gap to the Global benchmark</a:t>
            </a:r>
          </a:p>
        </p:txBody>
      </p:sp>
      <p:sp>
        <p:nvSpPr>
          <p:cNvPr id="7" name="Rounded Rectangle 6"/>
          <p:cNvSpPr/>
          <p:nvPr/>
        </p:nvSpPr>
        <p:spPr>
          <a:xfrm>
            <a:off x="1428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(US$ MN)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estimate year</a:t>
            </a:r>
          </a:p>
        </p:txBody>
      </p:sp>
      <p:sp>
        <p:nvSpPr>
          <p:cNvPr id="8" name="Rounded Rectangle 7"/>
          <p:cNvSpPr/>
          <p:nvPr/>
        </p:nvSpPr>
        <p:spPr>
          <a:xfrm>
            <a:off x="31527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forecast horizon</a:t>
            </a:r>
          </a:p>
        </p:txBody>
      </p:sp>
      <p:sp>
        <p:nvSpPr>
          <p:cNvPr id="9" name="Rounded Rectangle 8"/>
          <p:cNvSpPr/>
          <p:nvPr/>
        </p:nvSpPr>
        <p:spPr>
          <a:xfrm>
            <a:off x="61626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2A5F8F"/>
                </a:solidFill>
                <a:latin typeface="Calibri"/>
              </a:rPr>
              <a:t> </a:t>
            </a:r>
          </a:p>
        </p:txBody>
      </p:sp>
      <p:sp>
        <p:nvSpPr>
          <p:cNvPr id="10" name="Rounded Rectangle 9"/>
          <p:cNvSpPr/>
          <p:nvPr/>
        </p:nvSpPr>
        <p:spPr>
          <a:xfrm>
            <a:off x="91725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819275"/>
            <a:ext cx="46958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(US$ Mn), 2021–2036</a:t>
            </a:r>
          </a:p>
        </p:txBody>
      </p:sp>
      <p:graphicFrame>
        <p:nvGraphicFramePr>
          <p:cNvPr id="13" name="Chart 12"/>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4" name="Rounded Rectangle 13"/>
          <p:cNvSpPr/>
          <p:nvPr/>
        </p:nvSpPr>
        <p:spPr>
          <a:xfrm>
            <a:off x="4991100" y="1819275"/>
            <a:ext cx="7048500"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6" name="Chart 15"/>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7" name="TextBox 16"/>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F47620"/>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18" name="TextBox 17"/>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19" name="Rounded Rectangle 18"/>
          <p:cNvSpPr/>
          <p:nvPr/>
        </p:nvSpPr>
        <p:spPr>
          <a:xfrm>
            <a:off x="142875" y="3733800"/>
            <a:ext cx="46958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(US$ Mn)</a:t>
            </a:r>
          </a:p>
        </p:txBody>
      </p:sp>
      <p:graphicFrame>
        <p:nvGraphicFramePr>
          <p:cNvPr id="21" name="Chart 20"/>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2" name="Rounded Rectangle 21"/>
          <p:cNvSpPr/>
          <p:nvPr/>
        </p:nvSpPr>
        <p:spPr>
          <a:xfrm>
            <a:off x="4991100" y="3733800"/>
            <a:ext cx="7048500"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4" name="Chart 23"/>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5" name="Rounded Rectangle 24"/>
          <p:cNvSpPr/>
          <p:nvPr/>
        </p:nvSpPr>
        <p:spPr>
          <a:xfrm>
            <a:off x="142875" y="5648325"/>
            <a:ext cx="5876925" cy="971550"/>
          </a:xfrm>
          <a:prstGeom prst="roundRect">
            <a:avLst>
              <a:gd name="adj" fmla="val 7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6" name="Rounded Rectangle 25"/>
          <p:cNvSpPr/>
          <p:nvPr/>
        </p:nvSpPr>
        <p:spPr>
          <a:xfrm>
            <a:off x="6172200" y="5648325"/>
            <a:ext cx="5876925" cy="971550"/>
          </a:xfrm>
          <a:prstGeom prst="roundRect">
            <a:avLst>
              <a:gd name="adj" fmla="val 7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8"/>
          <a:stretch>
            <a:fillRect/>
          </a:stretch>
        </p:blipFill>
        <p:spPr>
          <a:xfrm>
            <a:off x="1493044" y="1219200"/>
            <a:ext cx="157162" cy="228600"/>
          </a:xfrm>
          <a:prstGeom prst="rect">
            <a:avLst/>
          </a:prstGeom>
        </p:spPr>
      </p:pic>
      <p:pic>
        <p:nvPicPr>
          <p:cNvPr id="30" name="Picture 29" descr="lock.png"/>
          <p:cNvPicPr>
            <a:picLocks noChangeAspect="1"/>
          </p:cNvPicPr>
          <p:nvPr/>
        </p:nvPicPr>
        <p:blipFill>
          <a:blip r:embed="rId8"/>
          <a:stretch>
            <a:fillRect/>
          </a:stretch>
        </p:blipFill>
        <p:spPr>
          <a:xfrm>
            <a:off x="4502944" y="1219200"/>
            <a:ext cx="157162" cy="228600"/>
          </a:xfrm>
          <a:prstGeom prst="rect">
            <a:avLst/>
          </a:prstGeom>
        </p:spPr>
      </p:pic>
      <p:pic>
        <p:nvPicPr>
          <p:cNvPr id="31" name="Picture 30" descr="lock.png"/>
          <p:cNvPicPr>
            <a:picLocks noChangeAspect="1"/>
          </p:cNvPicPr>
          <p:nvPr/>
        </p:nvPicPr>
        <p:blipFill>
          <a:blip r:embed="rId8"/>
          <a:stretch>
            <a:fillRect/>
          </a:stretch>
        </p:blipFill>
        <p:spPr>
          <a:xfrm>
            <a:off x="7512844" y="1303020"/>
            <a:ext cx="157162" cy="228600"/>
          </a:xfrm>
          <a:prstGeom prst="rect">
            <a:avLst/>
          </a:prstGeom>
        </p:spPr>
      </p:pic>
      <p:pic>
        <p:nvPicPr>
          <p:cNvPr id="32" name="Picture 31" descr="lock.png"/>
          <p:cNvPicPr>
            <a:picLocks noChangeAspect="1"/>
          </p:cNvPicPr>
          <p:nvPr/>
        </p:nvPicPr>
        <p:blipFill>
          <a:blip r:embed="rId8"/>
          <a:stretch>
            <a:fillRect/>
          </a:stretch>
        </p:blipFill>
        <p:spPr>
          <a:xfrm>
            <a:off x="10522744" y="1303020"/>
            <a:ext cx="157162" cy="228600"/>
          </a:xfrm>
          <a:prstGeom prst="rect">
            <a:avLst/>
          </a:prstGeom>
        </p:spPr>
      </p:pic>
      <p:pic>
        <p:nvPicPr>
          <p:cNvPr id="33" name="Picture 32" descr="lock.png"/>
          <p:cNvPicPr>
            <a:picLocks noChangeAspect="1"/>
          </p:cNvPicPr>
          <p:nvPr/>
        </p:nvPicPr>
        <p:blipFill>
          <a:blip r:embed="rId8"/>
          <a:stretch>
            <a:fillRect/>
          </a:stretch>
        </p:blipFill>
        <p:spPr>
          <a:xfrm>
            <a:off x="2554414" y="2661285"/>
            <a:ext cx="165021" cy="240030"/>
          </a:xfrm>
          <a:prstGeom prst="rect">
            <a:avLst/>
          </a:prstGeom>
        </p:spPr>
      </p:pic>
      <p:pic>
        <p:nvPicPr>
          <p:cNvPr id="34" name="Picture 33" descr="lock.png"/>
          <p:cNvPicPr>
            <a:picLocks noChangeAspect="1"/>
          </p:cNvPicPr>
          <p:nvPr/>
        </p:nvPicPr>
        <p:blipFill>
          <a:blip r:embed="rId8"/>
          <a:stretch>
            <a:fillRect/>
          </a:stretch>
        </p:blipFill>
        <p:spPr>
          <a:xfrm>
            <a:off x="6762365" y="2599095"/>
            <a:ext cx="191595" cy="278683"/>
          </a:xfrm>
          <a:prstGeom prst="rect">
            <a:avLst/>
          </a:prstGeom>
        </p:spPr>
      </p:pic>
      <p:pic>
        <p:nvPicPr>
          <p:cNvPr id="35" name="Picture 34" descr="lock.png"/>
          <p:cNvPicPr>
            <a:picLocks noChangeAspect="1"/>
          </p:cNvPicPr>
          <p:nvPr/>
        </p:nvPicPr>
        <p:blipFill>
          <a:blip r:embed="rId8"/>
          <a:stretch>
            <a:fillRect/>
          </a:stretch>
        </p:blipFill>
        <p:spPr>
          <a:xfrm>
            <a:off x="9878378" y="2141220"/>
            <a:ext cx="230504" cy="335279"/>
          </a:xfrm>
          <a:prstGeom prst="rect">
            <a:avLst/>
          </a:prstGeom>
        </p:spPr>
      </p:pic>
      <p:pic>
        <p:nvPicPr>
          <p:cNvPr id="36" name="Picture 35" descr="lock.png"/>
          <p:cNvPicPr>
            <a:picLocks noChangeAspect="1"/>
          </p:cNvPicPr>
          <p:nvPr/>
        </p:nvPicPr>
        <p:blipFill>
          <a:blip r:embed="rId8"/>
          <a:stretch>
            <a:fillRect/>
          </a:stretch>
        </p:blipFill>
        <p:spPr>
          <a:xfrm>
            <a:off x="2554414" y="4575810"/>
            <a:ext cx="165021" cy="240030"/>
          </a:xfrm>
          <a:prstGeom prst="rect">
            <a:avLst/>
          </a:prstGeom>
        </p:spPr>
      </p:pic>
      <p:pic>
        <p:nvPicPr>
          <p:cNvPr id="37" name="Picture 36" descr="lock.png"/>
          <p:cNvPicPr>
            <a:picLocks noChangeAspect="1"/>
          </p:cNvPicPr>
          <p:nvPr/>
        </p:nvPicPr>
        <p:blipFill>
          <a:blip r:embed="rId8"/>
          <a:stretch>
            <a:fillRect/>
          </a:stretch>
        </p:blipFill>
        <p:spPr>
          <a:xfrm>
            <a:off x="8715708" y="4462938"/>
            <a:ext cx="261282" cy="380047"/>
          </a:xfrm>
          <a:prstGeom prst="rect">
            <a:avLst/>
          </a:prstGeom>
        </p:spPr>
      </p:pic>
      <p:sp>
        <p:nvSpPr>
          <p:cNvPr id="38" name="TextBox 37"/>
          <p:cNvSpPr txBox="1"/>
          <p:nvPr/>
        </p:nvSpPr>
        <p:spPr>
          <a:xfrm>
            <a:off x="8071485" y="2876550"/>
            <a:ext cx="2918494" cy="186689"/>
          </a:xfrm>
          <a:prstGeom prst="rect">
            <a:avLst/>
          </a:prstGeom>
          <a:noFill/>
        </p:spPr>
        <p:txBody>
          <a:bodyPr wrap="none" lIns="0" rIns="0" tIns="0" bIns="0">
            <a:spAutoFit/>
          </a:bodyPr>
          <a:lstStyle/>
          <a:p>
            <a:r>
              <a:rPr sz="1100" b="0">
                <a:solidFill>
                  <a:srgbClr val="2E2E2E"/>
                </a:solidFill>
                <a:latin typeface="Calibri"/>
              </a:rPr>
              <a:t>U.S.'s industrial air compressor market expands at</a:t>
            </a:r>
          </a:p>
        </p:txBody>
      </p:sp>
      <p:pic>
        <p:nvPicPr>
          <p:cNvPr id="39" name="Picture 38" descr="lock.png"/>
          <p:cNvPicPr>
            <a:picLocks noChangeAspect="1"/>
          </p:cNvPicPr>
          <p:nvPr/>
        </p:nvPicPr>
        <p:blipFill>
          <a:blip r:embed="rId8"/>
          <a:stretch>
            <a:fillRect/>
          </a:stretch>
        </p:blipFill>
        <p:spPr>
          <a:xfrm>
            <a:off x="10938031" y="2866771"/>
            <a:ext cx="128699" cy="187198"/>
          </a:xfrm>
          <a:prstGeom prst="rect">
            <a:avLst/>
          </a:prstGeom>
        </p:spPr>
      </p:pic>
      <p:sp>
        <p:nvSpPr>
          <p:cNvPr id="40" name="TextBox 39"/>
          <p:cNvSpPr txBox="1"/>
          <p:nvPr/>
        </p:nvSpPr>
        <p:spPr>
          <a:xfrm>
            <a:off x="11105527" y="2876550"/>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41" name="TextBox 40"/>
          <p:cNvSpPr txBox="1"/>
          <p:nvPr/>
        </p:nvSpPr>
        <p:spPr>
          <a:xfrm>
            <a:off x="8071485" y="3044190"/>
            <a:ext cx="3218358" cy="186689"/>
          </a:xfrm>
          <a:prstGeom prst="rect">
            <a:avLst/>
          </a:prstGeom>
          <a:noFill/>
        </p:spPr>
        <p:txBody>
          <a:bodyPr wrap="none" lIns="0" rIns="0" tIns="0" bIns="0">
            <a:spAutoFit/>
          </a:bodyPr>
          <a:lstStyle/>
          <a:p>
            <a:r>
              <a:rPr sz="1100" b="0">
                <a:solidFill>
                  <a:srgbClr val="2E2E2E"/>
                </a:solidFill>
                <a:latin typeface="Calibri"/>
              </a:rPr>
              <a:t>through 2036, trailing the North America benchmark of</a:t>
            </a:r>
          </a:p>
        </p:txBody>
      </p:sp>
      <p:pic>
        <p:nvPicPr>
          <p:cNvPr id="42" name="Picture 41" descr="lock.png"/>
          <p:cNvPicPr>
            <a:picLocks noChangeAspect="1"/>
          </p:cNvPicPr>
          <p:nvPr/>
        </p:nvPicPr>
        <p:blipFill>
          <a:blip r:embed="rId8"/>
          <a:stretch>
            <a:fillRect/>
          </a:stretch>
        </p:blipFill>
        <p:spPr>
          <a:xfrm>
            <a:off x="11237895" y="3034411"/>
            <a:ext cx="128699" cy="187198"/>
          </a:xfrm>
          <a:prstGeom prst="rect">
            <a:avLst/>
          </a:prstGeom>
        </p:spPr>
      </p:pic>
      <p:sp>
        <p:nvSpPr>
          <p:cNvPr id="43" name="TextBox 42"/>
          <p:cNvSpPr txBox="1"/>
          <p:nvPr/>
        </p:nvSpPr>
        <p:spPr>
          <a:xfrm>
            <a:off x="11405391"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4" name="Picture 43" descr="lock.png"/>
          <p:cNvPicPr>
            <a:picLocks noChangeAspect="1"/>
          </p:cNvPicPr>
          <p:nvPr/>
        </p:nvPicPr>
        <p:blipFill>
          <a:blip r:embed="rId8"/>
          <a:stretch>
            <a:fillRect/>
          </a:stretch>
        </p:blipFill>
        <p:spPr>
          <a:xfrm>
            <a:off x="8058017" y="3202051"/>
            <a:ext cx="128699" cy="187198"/>
          </a:xfrm>
          <a:prstGeom prst="rect">
            <a:avLst/>
          </a:prstGeom>
        </p:spPr>
      </p:pic>
      <p:sp>
        <p:nvSpPr>
          <p:cNvPr id="45" name="TextBox 44"/>
          <p:cNvSpPr txBox="1"/>
          <p:nvPr/>
        </p:nvSpPr>
        <p:spPr>
          <a:xfrm>
            <a:off x="8225513" y="321183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6" name="TextBox 45"/>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7" name="Picture 46" descr="lock.png"/>
          <p:cNvPicPr>
            <a:picLocks noChangeAspect="1"/>
          </p:cNvPicPr>
          <p:nvPr/>
        </p:nvPicPr>
        <p:blipFill>
          <a:blip r:embed="rId8"/>
          <a:stretch>
            <a:fillRect/>
          </a:stretch>
        </p:blipFill>
        <p:spPr>
          <a:xfrm>
            <a:off x="844592" y="5956680"/>
            <a:ext cx="128699" cy="187198"/>
          </a:xfrm>
          <a:prstGeom prst="rect">
            <a:avLst/>
          </a:prstGeom>
        </p:spPr>
      </p:pic>
      <p:sp>
        <p:nvSpPr>
          <p:cNvPr id="48" name="TextBox 47"/>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49" name="Picture 48" descr="lock.png"/>
          <p:cNvPicPr>
            <a:picLocks noChangeAspect="1"/>
          </p:cNvPicPr>
          <p:nvPr/>
        </p:nvPicPr>
        <p:blipFill>
          <a:blip r:embed="rId8"/>
          <a:stretch>
            <a:fillRect/>
          </a:stretch>
        </p:blipFill>
        <p:spPr>
          <a:xfrm>
            <a:off x="1995140" y="5956680"/>
            <a:ext cx="128699" cy="187198"/>
          </a:xfrm>
          <a:prstGeom prst="rect">
            <a:avLst/>
          </a:prstGeom>
        </p:spPr>
      </p:pic>
      <p:sp>
        <p:nvSpPr>
          <p:cNvPr id="50" name="TextBox 49"/>
          <p:cNvSpPr txBox="1"/>
          <p:nvPr/>
        </p:nvSpPr>
        <p:spPr>
          <a:xfrm>
            <a:off x="2162635" y="5966460"/>
            <a:ext cx="3300486" cy="186689"/>
          </a:xfrm>
          <a:prstGeom prst="rect">
            <a:avLst/>
          </a:prstGeom>
          <a:noFill/>
        </p:spPr>
        <p:txBody>
          <a:bodyPr wrap="none" lIns="0" rIns="0" tIns="0" bIns="0">
            <a:spAutoFit/>
          </a:bodyPr>
          <a:lstStyle/>
          <a:p>
            <a:r>
              <a:rPr sz="1100" b="0">
                <a:solidFill>
                  <a:srgbClr val="2E2E2E"/>
                </a:solidFill>
                <a:latin typeface="Calibri"/>
              </a:rPr>
              <a:t>of the North America industrial air compressor market in</a:t>
            </a:r>
          </a:p>
        </p:txBody>
      </p:sp>
      <p:sp>
        <p:nvSpPr>
          <p:cNvPr id="51" name="TextBox 50"/>
          <p:cNvSpPr txBox="1"/>
          <p:nvPr/>
        </p:nvSpPr>
        <p:spPr>
          <a:xfrm>
            <a:off x="257175" y="6134100"/>
            <a:ext cx="2132136" cy="186689"/>
          </a:xfrm>
          <a:prstGeom prst="rect">
            <a:avLst/>
          </a:prstGeom>
          <a:noFill/>
        </p:spPr>
        <p:txBody>
          <a:bodyPr wrap="none" lIns="0" rIns="0" tIns="0" bIns="0">
            <a:spAutoFit/>
          </a:bodyPr>
          <a:lstStyle/>
          <a:p>
            <a:r>
              <a:rPr sz="1100" b="0">
                <a:solidFill>
                  <a:srgbClr val="2E2E2E"/>
                </a:solidFill>
                <a:latin typeface="Calibri"/>
              </a:rPr>
              <a:t>2026; by 2036 those shares move to</a:t>
            </a:r>
          </a:p>
        </p:txBody>
      </p:sp>
      <p:pic>
        <p:nvPicPr>
          <p:cNvPr id="52" name="Picture 51" descr="lock.png"/>
          <p:cNvPicPr>
            <a:picLocks noChangeAspect="1"/>
          </p:cNvPicPr>
          <p:nvPr/>
        </p:nvPicPr>
        <p:blipFill>
          <a:blip r:embed="rId8"/>
          <a:stretch>
            <a:fillRect/>
          </a:stretch>
        </p:blipFill>
        <p:spPr>
          <a:xfrm>
            <a:off x="2337363" y="6124320"/>
            <a:ext cx="128699" cy="187198"/>
          </a:xfrm>
          <a:prstGeom prst="rect">
            <a:avLst/>
          </a:prstGeom>
        </p:spPr>
      </p:pic>
      <p:sp>
        <p:nvSpPr>
          <p:cNvPr id="53" name="TextBox 52"/>
          <p:cNvSpPr txBox="1"/>
          <p:nvPr/>
        </p:nvSpPr>
        <p:spPr>
          <a:xfrm>
            <a:off x="2504858"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4" name="Picture 53" descr="lock.png"/>
          <p:cNvPicPr>
            <a:picLocks noChangeAspect="1"/>
          </p:cNvPicPr>
          <p:nvPr/>
        </p:nvPicPr>
        <p:blipFill>
          <a:blip r:embed="rId8"/>
          <a:stretch>
            <a:fillRect/>
          </a:stretch>
        </p:blipFill>
        <p:spPr>
          <a:xfrm>
            <a:off x="2742753" y="6124320"/>
            <a:ext cx="128699" cy="187198"/>
          </a:xfrm>
          <a:prstGeom prst="rect">
            <a:avLst/>
          </a:prstGeom>
        </p:spPr>
      </p:pic>
      <p:sp>
        <p:nvSpPr>
          <p:cNvPr id="55" name="TextBox 54"/>
          <p:cNvSpPr txBox="1"/>
          <p:nvPr/>
        </p:nvSpPr>
        <p:spPr>
          <a:xfrm>
            <a:off x="2910249"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6" name="TextBox 55"/>
          <p:cNvSpPr txBox="1"/>
          <p:nvPr/>
        </p:nvSpPr>
        <p:spPr>
          <a:xfrm>
            <a:off x="6286500" y="5882640"/>
            <a:ext cx="3103215" cy="186689"/>
          </a:xfrm>
          <a:prstGeom prst="rect">
            <a:avLst/>
          </a:prstGeom>
          <a:noFill/>
        </p:spPr>
        <p:txBody>
          <a:bodyPr wrap="none" lIns="0" rIns="0" tIns="0" bIns="0">
            <a:spAutoFit/>
          </a:bodyPr>
          <a:lstStyle/>
          <a:p>
            <a:r>
              <a:rPr sz="1100" b="0">
                <a:solidFill>
                  <a:srgbClr val="2E2E2E"/>
                </a:solidFill>
                <a:latin typeface="Calibri"/>
              </a:rPr>
              <a:t>The market in the U.S. is expected to account for US$</a:t>
            </a:r>
          </a:p>
        </p:txBody>
      </p:sp>
      <p:pic>
        <p:nvPicPr>
          <p:cNvPr id="57" name="Picture 56" descr="lock.png"/>
          <p:cNvPicPr>
            <a:picLocks noChangeAspect="1"/>
          </p:cNvPicPr>
          <p:nvPr/>
        </p:nvPicPr>
        <p:blipFill>
          <a:blip r:embed="rId8"/>
          <a:stretch>
            <a:fillRect/>
          </a:stretch>
        </p:blipFill>
        <p:spPr>
          <a:xfrm>
            <a:off x="9337766" y="5872860"/>
            <a:ext cx="128699" cy="187198"/>
          </a:xfrm>
          <a:prstGeom prst="rect">
            <a:avLst/>
          </a:prstGeom>
        </p:spPr>
      </p:pic>
      <p:sp>
        <p:nvSpPr>
          <p:cNvPr id="58" name="TextBox 57"/>
          <p:cNvSpPr txBox="1"/>
          <p:nvPr/>
        </p:nvSpPr>
        <p:spPr>
          <a:xfrm>
            <a:off x="9505262" y="5882640"/>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59" name="Picture 58" descr="lock.png"/>
          <p:cNvPicPr>
            <a:picLocks noChangeAspect="1"/>
          </p:cNvPicPr>
          <p:nvPr/>
        </p:nvPicPr>
        <p:blipFill>
          <a:blip r:embed="rId8"/>
          <a:stretch>
            <a:fillRect/>
          </a:stretch>
        </p:blipFill>
        <p:spPr>
          <a:xfrm>
            <a:off x="10948871" y="5872860"/>
            <a:ext cx="128699" cy="187198"/>
          </a:xfrm>
          <a:prstGeom prst="rect">
            <a:avLst/>
          </a:prstGeom>
        </p:spPr>
      </p:pic>
      <p:sp>
        <p:nvSpPr>
          <p:cNvPr id="60" name="TextBox 59"/>
          <p:cNvSpPr txBox="1"/>
          <p:nvPr/>
        </p:nvSpPr>
        <p:spPr>
          <a:xfrm>
            <a:off x="11116366" y="5882640"/>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61" name="TextBox 60"/>
          <p:cNvSpPr txBox="1"/>
          <p:nvPr/>
        </p:nvSpPr>
        <p:spPr>
          <a:xfrm>
            <a:off x="6286500" y="6050280"/>
            <a:ext cx="4694758" cy="186689"/>
          </a:xfrm>
          <a:prstGeom prst="rect">
            <a:avLst/>
          </a:prstGeom>
          <a:noFill/>
        </p:spPr>
        <p:txBody>
          <a:bodyPr wrap="none" lIns="0" rIns="0" tIns="0" bIns="0">
            <a:spAutoFit/>
          </a:bodyPr>
          <a:lstStyle/>
          <a:p>
            <a:r>
              <a:rPr sz="1100" b="0">
                <a:solidFill>
                  <a:srgbClr val="2E2E2E"/>
                </a:solidFill>
                <a:latin typeface="Calibri"/>
              </a:rPr>
              <a:t>forecast period. The U.S. is expected to create an incremental opportunity of US$</a:t>
            </a:r>
          </a:p>
        </p:txBody>
      </p:sp>
      <p:pic>
        <p:nvPicPr>
          <p:cNvPr id="62" name="Picture 61" descr="lock.png"/>
          <p:cNvPicPr>
            <a:picLocks noChangeAspect="1"/>
          </p:cNvPicPr>
          <p:nvPr/>
        </p:nvPicPr>
        <p:blipFill>
          <a:blip r:embed="rId8"/>
          <a:stretch>
            <a:fillRect/>
          </a:stretch>
        </p:blipFill>
        <p:spPr>
          <a:xfrm>
            <a:off x="10929309" y="6040501"/>
            <a:ext cx="128699" cy="187198"/>
          </a:xfrm>
          <a:prstGeom prst="rect">
            <a:avLst/>
          </a:prstGeom>
        </p:spPr>
      </p:pic>
      <p:sp>
        <p:nvSpPr>
          <p:cNvPr id="63" name="TextBox 62"/>
          <p:cNvSpPr txBox="1"/>
          <p:nvPr/>
        </p:nvSpPr>
        <p:spPr>
          <a:xfrm>
            <a:off x="11096805" y="6050280"/>
            <a:ext cx="687387" cy="186689"/>
          </a:xfrm>
          <a:prstGeom prst="rect">
            <a:avLst/>
          </a:prstGeom>
          <a:noFill/>
        </p:spPr>
        <p:txBody>
          <a:bodyPr wrap="none" lIns="0" rIns="0" tIns="0" bIns="0">
            <a:spAutoFit/>
          </a:bodyPr>
          <a:lstStyle/>
          <a:p>
            <a:r>
              <a:rPr sz="1100" b="0">
                <a:solidFill>
                  <a:srgbClr val="2E2E2E"/>
                </a:solidFill>
                <a:latin typeface="Calibri"/>
              </a:rPr>
              <a:t>Mn for the</a:t>
            </a:r>
          </a:p>
        </p:txBody>
      </p:sp>
      <p:sp>
        <p:nvSpPr>
          <p:cNvPr id="64" name="TextBox 63"/>
          <p:cNvSpPr txBox="1"/>
          <p:nvPr/>
        </p:nvSpPr>
        <p:spPr>
          <a:xfrm>
            <a:off x="6286500" y="6217920"/>
            <a:ext cx="3472929" cy="186689"/>
          </a:xfrm>
          <a:prstGeom prst="rect">
            <a:avLst/>
          </a:prstGeom>
          <a:noFill/>
        </p:spPr>
        <p:txBody>
          <a:bodyPr wrap="none" lIns="0" rIns="0" tIns="0" bIns="0">
            <a:spAutoFit/>
          </a:bodyPr>
          <a:lstStyle/>
          <a:p>
            <a:r>
              <a:rPr sz="1100" b="0">
                <a:solidFill>
                  <a:srgbClr val="2E2E2E"/>
                </a:solidFill>
                <a:latin typeface="Calibri"/>
              </a:rPr>
              <a:t>overall industrial air compressor market from 2025 to 2036.</a:t>
            </a:r>
          </a:p>
        </p:txBody>
      </p:sp>
      <p:sp>
        <p:nvSpPr>
          <p:cNvPr id="65" name="lockshield_13"/>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16"/>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21"/>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ockshield_24"/>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Industrial Air Compressor Market Key Segments Overview, By Value (2026)</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U.S.'s key segments by value, highlighting the leading sub-segment of every segmentation</a:t>
            </a:r>
          </a:p>
        </p:txBody>
      </p:sp>
      <p:sp>
        <p:nvSpPr>
          <p:cNvPr id="7" name="Rounded Rectangle 6"/>
          <p:cNvSpPr/>
          <p:nvPr/>
        </p:nvSpPr>
        <p:spPr>
          <a:xfrm>
            <a:off x="142875" y="981075"/>
            <a:ext cx="2857500" cy="1771650"/>
          </a:xfrm>
          <a:prstGeom prst="roundRect">
            <a:avLst>
              <a:gd name="adj" fmla="val 430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Technology  (US$ Mn)</a:t>
            </a:r>
          </a:p>
        </p:txBody>
      </p:sp>
      <p:graphicFrame>
        <p:nvGraphicFramePr>
          <p:cNvPr id="9" name="Chart 8"/>
          <p:cNvGraphicFramePr>
            <a:graphicFrameLocks noGrp="1"/>
          </p:cNvGraphicFramePr>
          <p:nvPr/>
        </p:nvGraphicFramePr>
        <p:xfrm>
          <a:off x="238125" y="1266825"/>
          <a:ext cx="2667000" cy="1428750"/>
        </p:xfrm>
        <a:graphic>
          <a:graphicData uri="http://schemas.openxmlformats.org/drawingml/2006/chart">
            <c:chart xmlns:c="http://schemas.openxmlformats.org/drawingml/2006/chart" r:id="rId3"/>
          </a:graphicData>
        </a:graphic>
      </p:graphicFrame>
      <p:sp>
        <p:nvSpPr>
          <p:cNvPr id="10" name="Rounded Rectangle 9"/>
          <p:cNvSpPr/>
          <p:nvPr/>
        </p:nvSpPr>
        <p:spPr>
          <a:xfrm>
            <a:off x="3152775" y="981075"/>
            <a:ext cx="2857500" cy="1771650"/>
          </a:xfrm>
          <a:prstGeom prst="roundRect">
            <a:avLst>
              <a:gd name="adj" fmla="val 430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480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Capacity  (US$ Mn)</a:t>
            </a:r>
          </a:p>
        </p:txBody>
      </p:sp>
      <p:graphicFrame>
        <p:nvGraphicFramePr>
          <p:cNvPr id="12" name="Chart 11"/>
          <p:cNvGraphicFramePr>
            <a:graphicFrameLocks noGrp="1"/>
          </p:cNvGraphicFramePr>
          <p:nvPr/>
        </p:nvGraphicFramePr>
        <p:xfrm>
          <a:off x="3248025" y="1266825"/>
          <a:ext cx="2667000" cy="1428750"/>
        </p:xfrm>
        <a:graphic>
          <a:graphicData uri="http://schemas.openxmlformats.org/drawingml/2006/chart">
            <c:chart xmlns:c="http://schemas.openxmlformats.org/drawingml/2006/chart" r:id="rId4"/>
          </a:graphicData>
        </a:graphic>
      </p:graphicFrame>
      <p:sp>
        <p:nvSpPr>
          <p:cNvPr id="13" name="Rounded Rectangle 12"/>
          <p:cNvSpPr/>
          <p:nvPr/>
        </p:nvSpPr>
        <p:spPr>
          <a:xfrm>
            <a:off x="6162675" y="981075"/>
            <a:ext cx="2857500" cy="1771650"/>
          </a:xfrm>
          <a:prstGeom prst="roundRect">
            <a:avLst>
              <a:gd name="adj" fmla="val 430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79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Compression Stage  (US$ Mn)</a:t>
            </a:r>
          </a:p>
        </p:txBody>
      </p:sp>
      <p:graphicFrame>
        <p:nvGraphicFramePr>
          <p:cNvPr id="15" name="Chart 14"/>
          <p:cNvGraphicFramePr>
            <a:graphicFrameLocks noGrp="1"/>
          </p:cNvGraphicFramePr>
          <p:nvPr/>
        </p:nvGraphicFramePr>
        <p:xfrm>
          <a:off x="6257925" y="1266825"/>
          <a:ext cx="2667000" cy="1428750"/>
        </p:xfrm>
        <a:graphic>
          <a:graphicData uri="http://schemas.openxmlformats.org/drawingml/2006/chart">
            <c:chart xmlns:c="http://schemas.openxmlformats.org/drawingml/2006/chart" r:id="rId5"/>
          </a:graphicData>
        </a:graphic>
      </p:graphicFrame>
      <p:sp>
        <p:nvSpPr>
          <p:cNvPr id="16" name="Rounded Rectangle 15"/>
          <p:cNvSpPr/>
          <p:nvPr/>
        </p:nvSpPr>
        <p:spPr>
          <a:xfrm>
            <a:off x="9172575" y="981075"/>
            <a:ext cx="2857500" cy="1771650"/>
          </a:xfrm>
          <a:prstGeom prst="roundRect">
            <a:avLst>
              <a:gd name="adj" fmla="val 430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78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 Use  (US$ Mn)</a:t>
            </a:r>
          </a:p>
        </p:txBody>
      </p:sp>
      <p:graphicFrame>
        <p:nvGraphicFramePr>
          <p:cNvPr id="18" name="Chart 17"/>
          <p:cNvGraphicFramePr>
            <a:graphicFrameLocks noGrp="1"/>
          </p:cNvGraphicFramePr>
          <p:nvPr/>
        </p:nvGraphicFramePr>
        <p:xfrm>
          <a:off x="9267825" y="1266825"/>
          <a:ext cx="2667000" cy="1428750"/>
        </p:xfrm>
        <a:graphic>
          <a:graphicData uri="http://schemas.openxmlformats.org/drawingml/2006/chart">
            <c:chart xmlns:c="http://schemas.openxmlformats.org/drawingml/2006/chart" r:id="rId6"/>
          </a:graphicData>
        </a:graphic>
      </p:graphicFrame>
      <p:sp>
        <p:nvSpPr>
          <p:cNvPr id="19" name="Rounded Rectangle 18"/>
          <p:cNvSpPr/>
          <p:nvPr/>
        </p:nvSpPr>
        <p:spPr>
          <a:xfrm>
            <a:off x="142875" y="2886075"/>
            <a:ext cx="2971800" cy="1771650"/>
          </a:xfrm>
          <a:prstGeom prst="roundRect">
            <a:avLst>
              <a:gd name="adj" fmla="val 430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125" y="2943225"/>
            <a:ext cx="2781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Driver Type  (US$ Mn)</a:t>
            </a:r>
          </a:p>
        </p:txBody>
      </p:sp>
      <p:graphicFrame>
        <p:nvGraphicFramePr>
          <p:cNvPr id="21" name="Chart 20"/>
          <p:cNvGraphicFramePr>
            <a:graphicFrameLocks noGrp="1"/>
          </p:cNvGraphicFramePr>
          <p:nvPr/>
        </p:nvGraphicFramePr>
        <p:xfrm>
          <a:off x="238125" y="3171825"/>
          <a:ext cx="2781300" cy="1428750"/>
        </p:xfrm>
        <a:graphic>
          <a:graphicData uri="http://schemas.openxmlformats.org/drawingml/2006/chart">
            <c:chart xmlns:c="http://schemas.openxmlformats.org/drawingml/2006/chart" r:id="rId7"/>
          </a:graphicData>
        </a:graphic>
      </p:graphicFrame>
      <p:sp>
        <p:nvSpPr>
          <p:cNvPr id="22" name="Rounded Rectangle 21"/>
          <p:cNvSpPr/>
          <p:nvPr/>
        </p:nvSpPr>
        <p:spPr>
          <a:xfrm>
            <a:off x="142875" y="4791075"/>
            <a:ext cx="11906250" cy="1828800"/>
          </a:xfrm>
          <a:prstGeom prst="roundRect">
            <a:avLst>
              <a:gd name="adj" fmla="val 416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876800"/>
            <a:ext cx="11639550" cy="209550"/>
          </a:xfrm>
          <a:prstGeom prst="rect">
            <a:avLst/>
          </a:prstGeom>
          <a:noFill/>
        </p:spPr>
        <p:txBody>
          <a:bodyPr wrap="square" lIns="0" rIns="19050" tIns="9525" bIns="9525">
            <a:spAutoFit/>
          </a:bodyPr>
          <a:lstStyle/>
          <a:p>
            <a:pPr algn="l"/>
            <a:r>
              <a:rPr sz="1300" b="1">
                <a:solidFill>
                  <a:srgbClr val="0E2A5C"/>
                </a:solidFill>
                <a:latin typeface="Calibri"/>
              </a:rPr>
              <a:t/>
            </a:r>
          </a:p>
        </p:txBody>
      </p:sp>
      <p:sp>
        <p:nvSpPr>
          <p:cNvPr id="24" name="Rectangle 23"/>
          <p:cNvSpPr/>
          <p:nvPr/>
        </p:nvSpPr>
        <p:spPr>
          <a:xfrm>
            <a:off x="276225" y="51149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5200650"/>
            <a:ext cx="11639550" cy="13430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26" name="Rectangle 2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8" name="Picture 27" descr="lock.png"/>
          <p:cNvPicPr>
            <a:picLocks noChangeAspect="1"/>
          </p:cNvPicPr>
          <p:nvPr/>
        </p:nvPicPr>
        <p:blipFill>
          <a:blip r:embed="rId9"/>
          <a:stretch>
            <a:fillRect/>
          </a:stretch>
        </p:blipFill>
        <p:spPr>
          <a:xfrm>
            <a:off x="1811655" y="1762125"/>
            <a:ext cx="183356" cy="266700"/>
          </a:xfrm>
          <a:prstGeom prst="rect">
            <a:avLst/>
          </a:prstGeom>
        </p:spPr>
      </p:pic>
      <p:pic>
        <p:nvPicPr>
          <p:cNvPr id="29" name="Picture 28" descr="lock.png"/>
          <p:cNvPicPr>
            <a:picLocks noChangeAspect="1"/>
          </p:cNvPicPr>
          <p:nvPr/>
        </p:nvPicPr>
        <p:blipFill>
          <a:blip r:embed="rId9"/>
          <a:stretch>
            <a:fillRect/>
          </a:stretch>
        </p:blipFill>
        <p:spPr>
          <a:xfrm>
            <a:off x="4821555" y="1762125"/>
            <a:ext cx="183356" cy="266700"/>
          </a:xfrm>
          <a:prstGeom prst="rect">
            <a:avLst/>
          </a:prstGeom>
        </p:spPr>
      </p:pic>
      <p:pic>
        <p:nvPicPr>
          <p:cNvPr id="30" name="Picture 29" descr="lock.png"/>
          <p:cNvPicPr>
            <a:picLocks noChangeAspect="1"/>
          </p:cNvPicPr>
          <p:nvPr/>
        </p:nvPicPr>
        <p:blipFill>
          <a:blip r:embed="rId9"/>
          <a:stretch>
            <a:fillRect/>
          </a:stretch>
        </p:blipFill>
        <p:spPr>
          <a:xfrm>
            <a:off x="7831455" y="1762125"/>
            <a:ext cx="183356" cy="266700"/>
          </a:xfrm>
          <a:prstGeom prst="rect">
            <a:avLst/>
          </a:prstGeom>
        </p:spPr>
      </p:pic>
      <p:pic>
        <p:nvPicPr>
          <p:cNvPr id="31" name="Picture 30" descr="lock.png"/>
          <p:cNvPicPr>
            <a:picLocks noChangeAspect="1"/>
          </p:cNvPicPr>
          <p:nvPr/>
        </p:nvPicPr>
        <p:blipFill>
          <a:blip r:embed="rId9"/>
          <a:stretch>
            <a:fillRect/>
          </a:stretch>
        </p:blipFill>
        <p:spPr>
          <a:xfrm>
            <a:off x="10841355" y="1762125"/>
            <a:ext cx="183356" cy="266700"/>
          </a:xfrm>
          <a:prstGeom prst="rect">
            <a:avLst/>
          </a:prstGeom>
        </p:spPr>
      </p:pic>
      <p:pic>
        <p:nvPicPr>
          <p:cNvPr id="32" name="Picture 31" descr="lock.png"/>
          <p:cNvPicPr>
            <a:picLocks noChangeAspect="1"/>
          </p:cNvPicPr>
          <p:nvPr/>
        </p:nvPicPr>
        <p:blipFill>
          <a:blip r:embed="rId9"/>
          <a:stretch>
            <a:fillRect/>
          </a:stretch>
        </p:blipFill>
        <p:spPr>
          <a:xfrm>
            <a:off x="1868805" y="3667125"/>
            <a:ext cx="183356" cy="266700"/>
          </a:xfrm>
          <a:prstGeom prst="rect">
            <a:avLst/>
          </a:prstGeom>
        </p:spPr>
      </p:pic>
      <p:sp>
        <p:nvSpPr>
          <p:cNvPr id="33" name="TextBox 32"/>
          <p:cNvSpPr txBox="1"/>
          <p:nvPr/>
        </p:nvSpPr>
        <p:spPr>
          <a:xfrm>
            <a:off x="276225" y="4886325"/>
            <a:ext cx="1468037" cy="161696"/>
          </a:xfrm>
          <a:prstGeom prst="rect">
            <a:avLst/>
          </a:prstGeom>
          <a:noFill/>
        </p:spPr>
        <p:txBody>
          <a:bodyPr wrap="none" lIns="0" rIns="0" tIns="0" bIns="0">
            <a:spAutoFit/>
          </a:bodyPr>
          <a:lstStyle/>
          <a:p>
            <a:r>
              <a:rPr sz="935" b="1">
                <a:solidFill>
                  <a:srgbClr val="0E2A5C"/>
                </a:solidFill>
                <a:latin typeface="Calibri"/>
              </a:rPr>
              <a:t>Key Takeaways · 2026 Total:</a:t>
            </a:r>
          </a:p>
        </p:txBody>
      </p:sp>
      <p:pic>
        <p:nvPicPr>
          <p:cNvPr id="34" name="Picture 33" descr="lock.png"/>
          <p:cNvPicPr>
            <a:picLocks noChangeAspect="1"/>
          </p:cNvPicPr>
          <p:nvPr/>
        </p:nvPicPr>
        <p:blipFill>
          <a:blip r:embed="rId9"/>
          <a:stretch>
            <a:fillRect/>
          </a:stretch>
        </p:blipFill>
        <p:spPr>
          <a:xfrm>
            <a:off x="1688698" y="4878003"/>
            <a:ext cx="109510" cy="159288"/>
          </a:xfrm>
          <a:prstGeom prst="rect">
            <a:avLst/>
          </a:prstGeom>
        </p:spPr>
      </p:pic>
      <p:sp>
        <p:nvSpPr>
          <p:cNvPr id="35" name="TextBox 34"/>
          <p:cNvSpPr txBox="1"/>
          <p:nvPr/>
        </p:nvSpPr>
        <p:spPr>
          <a:xfrm>
            <a:off x="1831222" y="4886325"/>
            <a:ext cx="465087" cy="161696"/>
          </a:xfrm>
          <a:prstGeom prst="rect">
            <a:avLst/>
          </a:prstGeom>
          <a:noFill/>
        </p:spPr>
        <p:txBody>
          <a:bodyPr wrap="none" lIns="0" rIns="0" tIns="0" bIns="0">
            <a:spAutoFit/>
          </a:bodyPr>
          <a:lstStyle/>
          <a:p>
            <a:r>
              <a:rPr sz="935" b="1">
                <a:solidFill>
                  <a:srgbClr val="0E2A5C"/>
                </a:solidFill>
                <a:latin typeface="Calibri"/>
              </a:rPr>
              <a:t>US$ Mn</a:t>
            </a:r>
          </a:p>
        </p:txBody>
      </p:sp>
      <p:sp>
        <p:nvSpPr>
          <p:cNvPr id="36" name="TextBox 35"/>
          <p:cNvSpPr txBox="1"/>
          <p:nvPr/>
        </p:nvSpPr>
        <p:spPr>
          <a:xfrm>
            <a:off x="276225" y="5210175"/>
            <a:ext cx="3239619" cy="186689"/>
          </a:xfrm>
          <a:prstGeom prst="rect">
            <a:avLst/>
          </a:prstGeom>
          <a:noFill/>
        </p:spPr>
        <p:txBody>
          <a:bodyPr wrap="none" lIns="0" rIns="0" tIns="0" bIns="0">
            <a:spAutoFit/>
          </a:bodyPr>
          <a:lstStyle/>
          <a:p>
            <a:r>
              <a:rPr sz="1100" b="0">
                <a:solidFill>
                  <a:srgbClr val="2E2E2E"/>
                </a:solidFill>
                <a:latin typeface="Calibri"/>
              </a:rPr>
              <a:t>▪ By Technology, 'Rotary Screw Air Compressor' leads at</a:t>
            </a:r>
          </a:p>
        </p:txBody>
      </p:sp>
      <p:pic>
        <p:nvPicPr>
          <p:cNvPr id="37" name="Picture 36" descr="lock.png"/>
          <p:cNvPicPr>
            <a:picLocks noChangeAspect="1"/>
          </p:cNvPicPr>
          <p:nvPr/>
        </p:nvPicPr>
        <p:blipFill>
          <a:blip r:embed="rId9"/>
          <a:stretch>
            <a:fillRect/>
          </a:stretch>
        </p:blipFill>
        <p:spPr>
          <a:xfrm>
            <a:off x="3463896" y="5200395"/>
            <a:ext cx="128699" cy="187198"/>
          </a:xfrm>
          <a:prstGeom prst="rect">
            <a:avLst/>
          </a:prstGeom>
        </p:spPr>
      </p:pic>
      <p:sp>
        <p:nvSpPr>
          <p:cNvPr id="38" name="TextBox 37"/>
          <p:cNvSpPr txBox="1"/>
          <p:nvPr/>
        </p:nvSpPr>
        <p:spPr>
          <a:xfrm>
            <a:off x="3631392" y="5210175"/>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39" name="Picture 38" descr="lock.png"/>
          <p:cNvPicPr>
            <a:picLocks noChangeAspect="1"/>
          </p:cNvPicPr>
          <p:nvPr/>
        </p:nvPicPr>
        <p:blipFill>
          <a:blip r:embed="rId9"/>
          <a:stretch>
            <a:fillRect/>
          </a:stretch>
        </p:blipFill>
        <p:spPr>
          <a:xfrm>
            <a:off x="4178973" y="5200395"/>
            <a:ext cx="128699" cy="187198"/>
          </a:xfrm>
          <a:prstGeom prst="rect">
            <a:avLst/>
          </a:prstGeom>
        </p:spPr>
      </p:pic>
      <p:sp>
        <p:nvSpPr>
          <p:cNvPr id="40" name="TextBox 39"/>
          <p:cNvSpPr txBox="1"/>
          <p:nvPr/>
        </p:nvSpPr>
        <p:spPr>
          <a:xfrm>
            <a:off x="4346468" y="5210175"/>
            <a:ext cx="3318222" cy="186689"/>
          </a:xfrm>
          <a:prstGeom prst="rect">
            <a:avLst/>
          </a:prstGeom>
          <a:noFill/>
        </p:spPr>
        <p:txBody>
          <a:bodyPr wrap="none" lIns="0" rIns="0" tIns="0" bIns="0">
            <a:spAutoFit/>
          </a:bodyPr>
          <a:lstStyle/>
          <a:p>
            <a:r>
              <a:rPr sz="1100" b="0">
                <a:solidFill>
                  <a:srgbClr val="2E2E2E"/>
                </a:solidFill>
                <a:latin typeface="Calibri"/>
              </a:rPr>
              <a:t>share), ahead of 'Reciprocating (Piston) Air Compressor' (</a:t>
            </a:r>
          </a:p>
        </p:txBody>
      </p:sp>
      <p:pic>
        <p:nvPicPr>
          <p:cNvPr id="41" name="Picture 40" descr="lock.png"/>
          <p:cNvPicPr>
            <a:picLocks noChangeAspect="1"/>
          </p:cNvPicPr>
          <p:nvPr/>
        </p:nvPicPr>
        <p:blipFill>
          <a:blip r:embed="rId9"/>
          <a:stretch>
            <a:fillRect/>
          </a:stretch>
        </p:blipFill>
        <p:spPr>
          <a:xfrm>
            <a:off x="7612742" y="5200395"/>
            <a:ext cx="128699" cy="187198"/>
          </a:xfrm>
          <a:prstGeom prst="rect">
            <a:avLst/>
          </a:prstGeom>
        </p:spPr>
      </p:pic>
      <p:sp>
        <p:nvSpPr>
          <p:cNvPr id="42" name="TextBox 41"/>
          <p:cNvSpPr txBox="1"/>
          <p:nvPr/>
        </p:nvSpPr>
        <p:spPr>
          <a:xfrm>
            <a:off x="7780238" y="5210175"/>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3" name="TextBox 42"/>
          <p:cNvSpPr txBox="1"/>
          <p:nvPr/>
        </p:nvSpPr>
        <p:spPr>
          <a:xfrm>
            <a:off x="276225" y="5428107"/>
            <a:ext cx="2817791" cy="186689"/>
          </a:xfrm>
          <a:prstGeom prst="rect">
            <a:avLst/>
          </a:prstGeom>
          <a:noFill/>
        </p:spPr>
        <p:txBody>
          <a:bodyPr wrap="none" lIns="0" rIns="0" tIns="0" bIns="0">
            <a:spAutoFit/>
          </a:bodyPr>
          <a:lstStyle/>
          <a:p>
            <a:r>
              <a:rPr sz="1100" b="0">
                <a:solidFill>
                  <a:srgbClr val="2E2E2E"/>
                </a:solidFill>
                <a:latin typeface="Calibri"/>
              </a:rPr>
              <a:t>▪ By Capacity, 'Above 2,000 to 5,000 HP' leads at</a:t>
            </a:r>
          </a:p>
        </p:txBody>
      </p:sp>
      <p:pic>
        <p:nvPicPr>
          <p:cNvPr id="44" name="Picture 43" descr="lock.png"/>
          <p:cNvPicPr>
            <a:picLocks noChangeAspect="1"/>
          </p:cNvPicPr>
          <p:nvPr/>
        </p:nvPicPr>
        <p:blipFill>
          <a:blip r:embed="rId9"/>
          <a:stretch>
            <a:fillRect/>
          </a:stretch>
        </p:blipFill>
        <p:spPr>
          <a:xfrm>
            <a:off x="3042067" y="5418327"/>
            <a:ext cx="128699" cy="187198"/>
          </a:xfrm>
          <a:prstGeom prst="rect">
            <a:avLst/>
          </a:prstGeom>
        </p:spPr>
      </p:pic>
      <p:sp>
        <p:nvSpPr>
          <p:cNvPr id="45" name="TextBox 44"/>
          <p:cNvSpPr txBox="1"/>
          <p:nvPr/>
        </p:nvSpPr>
        <p:spPr>
          <a:xfrm>
            <a:off x="3209563" y="5428107"/>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46" name="Picture 45" descr="lock.png"/>
          <p:cNvPicPr>
            <a:picLocks noChangeAspect="1"/>
          </p:cNvPicPr>
          <p:nvPr/>
        </p:nvPicPr>
        <p:blipFill>
          <a:blip r:embed="rId9"/>
          <a:stretch>
            <a:fillRect/>
          </a:stretch>
        </p:blipFill>
        <p:spPr>
          <a:xfrm>
            <a:off x="3757144" y="5418327"/>
            <a:ext cx="128699" cy="187198"/>
          </a:xfrm>
          <a:prstGeom prst="rect">
            <a:avLst/>
          </a:prstGeom>
        </p:spPr>
      </p:pic>
      <p:sp>
        <p:nvSpPr>
          <p:cNvPr id="47" name="TextBox 46"/>
          <p:cNvSpPr txBox="1"/>
          <p:nvPr/>
        </p:nvSpPr>
        <p:spPr>
          <a:xfrm>
            <a:off x="3924640" y="5428107"/>
            <a:ext cx="1914400" cy="186689"/>
          </a:xfrm>
          <a:prstGeom prst="rect">
            <a:avLst/>
          </a:prstGeom>
          <a:noFill/>
        </p:spPr>
        <p:txBody>
          <a:bodyPr wrap="none" lIns="0" rIns="0" tIns="0" bIns="0">
            <a:spAutoFit/>
          </a:bodyPr>
          <a:lstStyle/>
          <a:p>
            <a:r>
              <a:rPr sz="1100" b="0">
                <a:solidFill>
                  <a:srgbClr val="2E2E2E"/>
                </a:solidFill>
                <a:latin typeface="Calibri"/>
              </a:rPr>
              <a:t>share), ahead of 'Up to 500 HP' (</a:t>
            </a:r>
          </a:p>
        </p:txBody>
      </p:sp>
      <p:pic>
        <p:nvPicPr>
          <p:cNvPr id="48" name="Picture 47" descr="lock.png"/>
          <p:cNvPicPr>
            <a:picLocks noChangeAspect="1"/>
          </p:cNvPicPr>
          <p:nvPr/>
        </p:nvPicPr>
        <p:blipFill>
          <a:blip r:embed="rId9"/>
          <a:stretch>
            <a:fillRect/>
          </a:stretch>
        </p:blipFill>
        <p:spPr>
          <a:xfrm>
            <a:off x="5787092" y="5418327"/>
            <a:ext cx="128699" cy="187198"/>
          </a:xfrm>
          <a:prstGeom prst="rect">
            <a:avLst/>
          </a:prstGeom>
        </p:spPr>
      </p:pic>
      <p:sp>
        <p:nvSpPr>
          <p:cNvPr id="49" name="TextBox 48"/>
          <p:cNvSpPr txBox="1"/>
          <p:nvPr/>
        </p:nvSpPr>
        <p:spPr>
          <a:xfrm>
            <a:off x="5954588" y="5428107"/>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50" name="TextBox 49"/>
          <p:cNvSpPr txBox="1"/>
          <p:nvPr/>
        </p:nvSpPr>
        <p:spPr>
          <a:xfrm>
            <a:off x="276225" y="5646039"/>
            <a:ext cx="2612879" cy="186689"/>
          </a:xfrm>
          <a:prstGeom prst="rect">
            <a:avLst/>
          </a:prstGeom>
          <a:noFill/>
        </p:spPr>
        <p:txBody>
          <a:bodyPr wrap="none" lIns="0" rIns="0" tIns="0" bIns="0">
            <a:spAutoFit/>
          </a:bodyPr>
          <a:lstStyle/>
          <a:p>
            <a:r>
              <a:rPr sz="1100" b="0">
                <a:solidFill>
                  <a:srgbClr val="2E2E2E"/>
                </a:solidFill>
                <a:latin typeface="Calibri"/>
              </a:rPr>
              <a:t>▪ By Compression Stage, 'Two-Stage' leads at</a:t>
            </a:r>
          </a:p>
        </p:txBody>
      </p:sp>
      <p:pic>
        <p:nvPicPr>
          <p:cNvPr id="51" name="Picture 50" descr="lock.png"/>
          <p:cNvPicPr>
            <a:picLocks noChangeAspect="1"/>
          </p:cNvPicPr>
          <p:nvPr/>
        </p:nvPicPr>
        <p:blipFill>
          <a:blip r:embed="rId9"/>
          <a:stretch>
            <a:fillRect/>
          </a:stretch>
        </p:blipFill>
        <p:spPr>
          <a:xfrm>
            <a:off x="2837156" y="5636259"/>
            <a:ext cx="128699" cy="187198"/>
          </a:xfrm>
          <a:prstGeom prst="rect">
            <a:avLst/>
          </a:prstGeom>
        </p:spPr>
      </p:pic>
      <p:sp>
        <p:nvSpPr>
          <p:cNvPr id="52" name="TextBox 51"/>
          <p:cNvSpPr txBox="1"/>
          <p:nvPr/>
        </p:nvSpPr>
        <p:spPr>
          <a:xfrm>
            <a:off x="3004652" y="5646039"/>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53" name="Picture 52" descr="lock.png"/>
          <p:cNvPicPr>
            <a:picLocks noChangeAspect="1"/>
          </p:cNvPicPr>
          <p:nvPr/>
        </p:nvPicPr>
        <p:blipFill>
          <a:blip r:embed="rId9"/>
          <a:stretch>
            <a:fillRect/>
          </a:stretch>
        </p:blipFill>
        <p:spPr>
          <a:xfrm>
            <a:off x="3552232" y="5636259"/>
            <a:ext cx="128699" cy="187198"/>
          </a:xfrm>
          <a:prstGeom prst="rect">
            <a:avLst/>
          </a:prstGeom>
        </p:spPr>
      </p:pic>
      <p:sp>
        <p:nvSpPr>
          <p:cNvPr id="54" name="TextBox 53"/>
          <p:cNvSpPr txBox="1"/>
          <p:nvPr/>
        </p:nvSpPr>
        <p:spPr>
          <a:xfrm>
            <a:off x="3719728" y="5646039"/>
            <a:ext cx="1856829" cy="186689"/>
          </a:xfrm>
          <a:prstGeom prst="rect">
            <a:avLst/>
          </a:prstGeom>
          <a:noFill/>
        </p:spPr>
        <p:txBody>
          <a:bodyPr wrap="none" lIns="0" rIns="0" tIns="0" bIns="0">
            <a:spAutoFit/>
          </a:bodyPr>
          <a:lstStyle/>
          <a:p>
            <a:r>
              <a:rPr sz="1100" b="0">
                <a:solidFill>
                  <a:srgbClr val="2E2E2E"/>
                </a:solidFill>
                <a:latin typeface="Calibri"/>
              </a:rPr>
              <a:t>share), ahead of 'Single-Stage' (</a:t>
            </a:r>
          </a:p>
        </p:txBody>
      </p:sp>
      <p:pic>
        <p:nvPicPr>
          <p:cNvPr id="55" name="Picture 54" descr="lock.png"/>
          <p:cNvPicPr>
            <a:picLocks noChangeAspect="1"/>
          </p:cNvPicPr>
          <p:nvPr/>
        </p:nvPicPr>
        <p:blipFill>
          <a:blip r:embed="rId9"/>
          <a:stretch>
            <a:fillRect/>
          </a:stretch>
        </p:blipFill>
        <p:spPr>
          <a:xfrm>
            <a:off x="5524609" y="5636259"/>
            <a:ext cx="128699" cy="187198"/>
          </a:xfrm>
          <a:prstGeom prst="rect">
            <a:avLst/>
          </a:prstGeom>
        </p:spPr>
      </p:pic>
      <p:sp>
        <p:nvSpPr>
          <p:cNvPr id="56" name="TextBox 55"/>
          <p:cNvSpPr txBox="1"/>
          <p:nvPr/>
        </p:nvSpPr>
        <p:spPr>
          <a:xfrm>
            <a:off x="5692105" y="5646039"/>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57" name="TextBox 56"/>
          <p:cNvSpPr txBox="1"/>
          <p:nvPr/>
        </p:nvSpPr>
        <p:spPr>
          <a:xfrm>
            <a:off x="276225" y="5863971"/>
            <a:ext cx="2768677" cy="186689"/>
          </a:xfrm>
          <a:prstGeom prst="rect">
            <a:avLst/>
          </a:prstGeom>
          <a:noFill/>
        </p:spPr>
        <p:txBody>
          <a:bodyPr wrap="none" lIns="0" rIns="0" tIns="0" bIns="0">
            <a:spAutoFit/>
          </a:bodyPr>
          <a:lstStyle/>
          <a:p>
            <a:r>
              <a:rPr sz="1100" b="0">
                <a:solidFill>
                  <a:srgbClr val="2E2E2E"/>
                </a:solidFill>
                <a:latin typeface="Calibri"/>
              </a:rPr>
              <a:t>▪ By End Use, 'Industrial Air Separation' leads at</a:t>
            </a:r>
          </a:p>
        </p:txBody>
      </p:sp>
      <p:pic>
        <p:nvPicPr>
          <p:cNvPr id="58" name="Picture 57" descr="lock.png"/>
          <p:cNvPicPr>
            <a:picLocks noChangeAspect="1"/>
          </p:cNvPicPr>
          <p:nvPr/>
        </p:nvPicPr>
        <p:blipFill>
          <a:blip r:embed="rId9"/>
          <a:stretch>
            <a:fillRect/>
          </a:stretch>
        </p:blipFill>
        <p:spPr>
          <a:xfrm>
            <a:off x="2992954" y="5854191"/>
            <a:ext cx="128699" cy="187198"/>
          </a:xfrm>
          <a:prstGeom prst="rect">
            <a:avLst/>
          </a:prstGeom>
        </p:spPr>
      </p:pic>
      <p:sp>
        <p:nvSpPr>
          <p:cNvPr id="59" name="TextBox 58"/>
          <p:cNvSpPr txBox="1"/>
          <p:nvPr/>
        </p:nvSpPr>
        <p:spPr>
          <a:xfrm>
            <a:off x="3160450" y="5863971"/>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60" name="Picture 59" descr="lock.png"/>
          <p:cNvPicPr>
            <a:picLocks noChangeAspect="1"/>
          </p:cNvPicPr>
          <p:nvPr/>
        </p:nvPicPr>
        <p:blipFill>
          <a:blip r:embed="rId9"/>
          <a:stretch>
            <a:fillRect/>
          </a:stretch>
        </p:blipFill>
        <p:spPr>
          <a:xfrm>
            <a:off x="3708031" y="5854191"/>
            <a:ext cx="128699" cy="187198"/>
          </a:xfrm>
          <a:prstGeom prst="rect">
            <a:avLst/>
          </a:prstGeom>
        </p:spPr>
      </p:pic>
      <p:sp>
        <p:nvSpPr>
          <p:cNvPr id="61" name="TextBox 60"/>
          <p:cNvSpPr txBox="1"/>
          <p:nvPr/>
        </p:nvSpPr>
        <p:spPr>
          <a:xfrm>
            <a:off x="3875527" y="5863971"/>
            <a:ext cx="2226543" cy="186689"/>
          </a:xfrm>
          <a:prstGeom prst="rect">
            <a:avLst/>
          </a:prstGeom>
          <a:noFill/>
        </p:spPr>
        <p:txBody>
          <a:bodyPr wrap="none" lIns="0" rIns="0" tIns="0" bIns="0">
            <a:spAutoFit/>
          </a:bodyPr>
          <a:lstStyle/>
          <a:p>
            <a:r>
              <a:rPr sz="1100" b="0">
                <a:solidFill>
                  <a:srgbClr val="2E2E2E"/>
                </a:solidFill>
                <a:latin typeface="Calibri"/>
              </a:rPr>
              <a:t>share), ahead of 'Mining and Metals' (</a:t>
            </a:r>
          </a:p>
        </p:txBody>
      </p:sp>
      <p:pic>
        <p:nvPicPr>
          <p:cNvPr id="62" name="Picture 61" descr="lock.png"/>
          <p:cNvPicPr>
            <a:picLocks noChangeAspect="1"/>
          </p:cNvPicPr>
          <p:nvPr/>
        </p:nvPicPr>
        <p:blipFill>
          <a:blip r:embed="rId9"/>
          <a:stretch>
            <a:fillRect/>
          </a:stretch>
        </p:blipFill>
        <p:spPr>
          <a:xfrm>
            <a:off x="6050121" y="5854191"/>
            <a:ext cx="128699" cy="187198"/>
          </a:xfrm>
          <a:prstGeom prst="rect">
            <a:avLst/>
          </a:prstGeom>
        </p:spPr>
      </p:pic>
      <p:sp>
        <p:nvSpPr>
          <p:cNvPr id="63" name="TextBox 62"/>
          <p:cNvSpPr txBox="1"/>
          <p:nvPr/>
        </p:nvSpPr>
        <p:spPr>
          <a:xfrm>
            <a:off x="6217617" y="5863971"/>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64" name="TextBox 63"/>
          <p:cNvSpPr txBox="1"/>
          <p:nvPr/>
        </p:nvSpPr>
        <p:spPr>
          <a:xfrm>
            <a:off x="276225" y="6081903"/>
            <a:ext cx="2758855" cy="186689"/>
          </a:xfrm>
          <a:prstGeom prst="rect">
            <a:avLst/>
          </a:prstGeom>
          <a:noFill/>
        </p:spPr>
        <p:txBody>
          <a:bodyPr wrap="none" lIns="0" rIns="0" tIns="0" bIns="0">
            <a:spAutoFit/>
          </a:bodyPr>
          <a:lstStyle/>
          <a:p>
            <a:r>
              <a:rPr sz="1100" b="0">
                <a:solidFill>
                  <a:srgbClr val="2E2E2E"/>
                </a:solidFill>
                <a:latin typeface="Calibri"/>
              </a:rPr>
              <a:t>▪ By Driver Type, 'Diesel Engine-Driven' leads at</a:t>
            </a:r>
          </a:p>
        </p:txBody>
      </p:sp>
      <p:pic>
        <p:nvPicPr>
          <p:cNvPr id="65" name="Picture 64" descr="lock.png"/>
          <p:cNvPicPr>
            <a:picLocks noChangeAspect="1"/>
          </p:cNvPicPr>
          <p:nvPr/>
        </p:nvPicPr>
        <p:blipFill>
          <a:blip r:embed="rId9"/>
          <a:stretch>
            <a:fillRect/>
          </a:stretch>
        </p:blipFill>
        <p:spPr>
          <a:xfrm>
            <a:off x="2983131" y="6072123"/>
            <a:ext cx="128699" cy="187198"/>
          </a:xfrm>
          <a:prstGeom prst="rect">
            <a:avLst/>
          </a:prstGeom>
        </p:spPr>
      </p:pic>
      <p:sp>
        <p:nvSpPr>
          <p:cNvPr id="66" name="TextBox 65"/>
          <p:cNvSpPr txBox="1"/>
          <p:nvPr/>
        </p:nvSpPr>
        <p:spPr>
          <a:xfrm>
            <a:off x="3150627" y="6081903"/>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67" name="Picture 66" descr="lock.png"/>
          <p:cNvPicPr>
            <a:picLocks noChangeAspect="1"/>
          </p:cNvPicPr>
          <p:nvPr/>
        </p:nvPicPr>
        <p:blipFill>
          <a:blip r:embed="rId9"/>
          <a:stretch>
            <a:fillRect/>
          </a:stretch>
        </p:blipFill>
        <p:spPr>
          <a:xfrm>
            <a:off x="3698208" y="6072123"/>
            <a:ext cx="128699" cy="187198"/>
          </a:xfrm>
          <a:prstGeom prst="rect">
            <a:avLst/>
          </a:prstGeom>
        </p:spPr>
      </p:pic>
      <p:sp>
        <p:nvSpPr>
          <p:cNvPr id="68" name="TextBox 67"/>
          <p:cNvSpPr txBox="1"/>
          <p:nvPr/>
        </p:nvSpPr>
        <p:spPr>
          <a:xfrm>
            <a:off x="3865704" y="6081903"/>
            <a:ext cx="2660104" cy="186689"/>
          </a:xfrm>
          <a:prstGeom prst="rect">
            <a:avLst/>
          </a:prstGeom>
          <a:noFill/>
        </p:spPr>
        <p:txBody>
          <a:bodyPr wrap="none" lIns="0" rIns="0" tIns="0" bIns="0">
            <a:spAutoFit/>
          </a:bodyPr>
          <a:lstStyle/>
          <a:p>
            <a:r>
              <a:rPr sz="1100" b="0">
                <a:solidFill>
                  <a:srgbClr val="2E2E2E"/>
                </a:solidFill>
                <a:latin typeface="Calibri"/>
              </a:rPr>
              <a:t>share), ahead of 'Natural Gas Engine-Driven' (</a:t>
            </a:r>
          </a:p>
        </p:txBody>
      </p:sp>
      <p:pic>
        <p:nvPicPr>
          <p:cNvPr id="69" name="Picture 68" descr="lock.png"/>
          <p:cNvPicPr>
            <a:picLocks noChangeAspect="1"/>
          </p:cNvPicPr>
          <p:nvPr/>
        </p:nvPicPr>
        <p:blipFill>
          <a:blip r:embed="rId9"/>
          <a:stretch>
            <a:fillRect/>
          </a:stretch>
        </p:blipFill>
        <p:spPr>
          <a:xfrm>
            <a:off x="6473860" y="6072123"/>
            <a:ext cx="128699" cy="187198"/>
          </a:xfrm>
          <a:prstGeom prst="rect">
            <a:avLst/>
          </a:prstGeom>
        </p:spPr>
      </p:pic>
      <p:sp>
        <p:nvSpPr>
          <p:cNvPr id="70" name="TextBox 69"/>
          <p:cNvSpPr txBox="1"/>
          <p:nvPr/>
        </p:nvSpPr>
        <p:spPr>
          <a:xfrm>
            <a:off x="6641356" y="6081903"/>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71" name="TextBox 70"/>
          <p:cNvSpPr txBox="1"/>
          <p:nvPr/>
        </p:nvSpPr>
        <p:spPr>
          <a:xfrm>
            <a:off x="276225" y="6299835"/>
            <a:ext cx="6677843" cy="186689"/>
          </a:xfrm>
          <a:prstGeom prst="rect">
            <a:avLst/>
          </a:prstGeom>
          <a:noFill/>
        </p:spPr>
        <p:txBody>
          <a:bodyPr wrap="none" lIns="0" rIns="0" tIns="0" bIns="0">
            <a:spAutoFit/>
          </a:bodyPr>
          <a:lstStyle/>
          <a:p>
            <a:r>
              <a:rPr sz="1100" b="0">
                <a:solidFill>
                  <a:srgbClr val="2E2E2E"/>
                </a:solidFill>
                <a:latin typeface="Calibri"/>
              </a:rPr>
              <a:t>▪ Use the Country slicer in the top band to switch country the selection stays synced across every page of the report.</a:t>
            </a:r>
          </a:p>
        </p:txBody>
      </p:sp>
      <p:sp>
        <p:nvSpPr>
          <p:cNvPr id="72" name="lockshield_9"/>
          <p:cNvSpPr/>
          <p:nvPr/>
        </p:nvSpPr>
        <p:spPr>
          <a:xfrm>
            <a:off x="2381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lockshield_12"/>
          <p:cNvSpPr/>
          <p:nvPr/>
        </p:nvSpPr>
        <p:spPr>
          <a:xfrm>
            <a:off x="32480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lockshield_15"/>
          <p:cNvSpPr/>
          <p:nvPr/>
        </p:nvSpPr>
        <p:spPr>
          <a:xfrm>
            <a:off x="62579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lockshield_18"/>
          <p:cNvSpPr/>
          <p:nvPr/>
        </p:nvSpPr>
        <p:spPr>
          <a:xfrm>
            <a:off x="9267825" y="1266825"/>
            <a:ext cx="26670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lockshield_21"/>
          <p:cNvSpPr/>
          <p:nvPr/>
        </p:nvSpPr>
        <p:spPr>
          <a:xfrm>
            <a:off x="238125" y="3171825"/>
            <a:ext cx="2781300" cy="1428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Segment Overview (Volume &amp; Value)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Technology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Capacity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Compression Stage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End Use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Driver Type</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Technology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Industrial Air Compressor Market Segmental Analysis Technology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Technology: growth contribution, share variance and absolute $ opportunity</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Technology (US$ Mn)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Technology</a:t>
            </a:r>
          </a:p>
        </p:txBody>
      </p:sp>
      <p:graphicFrame>
        <p:nvGraphicFramePr>
          <p:cNvPr id="12" name="Table 11"/>
          <p:cNvGraphicFramePr>
            <a:graphicFrameLocks noGrp="1"/>
          </p:cNvGraphicFramePr>
          <p:nvPr/>
        </p:nvGraphicFramePr>
        <p:xfrm>
          <a:off x="6181725" y="1238250"/>
          <a:ext cx="5857874" cy="2286000"/>
        </p:xfrm>
        <a:graphic>
          <a:graphicData uri="http://schemas.openxmlformats.org/drawingml/2006/table">
            <a:tbl>
              <a:tblPr>
                <a:tableStyleId>{5C22544A-7EE6-4342-B048-85BDC9FD1C3A}</a:tableStyleId>
              </a:tblPr>
              <a:tblGrid>
                <a:gridCol w="2555335"/>
                <a:gridCol w="830247"/>
                <a:gridCol w="830247"/>
                <a:gridCol w="1048513"/>
                <a:gridCol w="593532"/>
              </a:tblGrid>
              <a:tr h="246126">
                <a:tc>
                  <a:txBody>
                    <a:bodyPr wrap="none"/>
                    <a:lstStyle/>
                    <a:p>
                      <a:pPr algn="l"/>
                      <a:r>
                        <a:rPr sz="1100" b="1">
                          <a:solidFill>
                            <a:srgbClr val="0E2A5C"/>
                          </a:solidFill>
                          <a:latin typeface="Calibri"/>
                        </a:rPr>
                        <a:t>Technology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2026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2036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Variance (BPS)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339979">
                <a:tc>
                  <a:txBody>
                    <a:bodyPr wrap="none"/>
                    <a:lstStyle/>
                    <a:p>
                      <a:pPr algn="l"/>
                      <a:r>
                        <a:rPr sz="1100" b="1">
                          <a:solidFill>
                            <a:srgbClr val="2E2E2E"/>
                          </a:solidFill>
                          <a:latin typeface="Calibri"/>
                        </a:rPr>
                        <a:t>Rotary Screw Air Compressor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Reciprocating (Piston) Air Compressor</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39979">
                <a:tc>
                  <a:txBody>
                    <a:bodyPr wrap="none"/>
                    <a:lstStyle/>
                    <a:p>
                      <a:pPr algn="l"/>
                      <a:r>
                        <a:rPr sz="1100" b="1">
                          <a:solidFill>
                            <a:srgbClr val="2E2E2E"/>
                          </a:solidFill>
                          <a:latin typeface="Calibri"/>
                        </a:rPr>
                        <a:t>Centrifugal Air Compressor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Axial Air Compressor</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39979">
                <a:tc>
                  <a:txBody>
                    <a:bodyPr wrap="none"/>
                    <a:lstStyle/>
                    <a:p>
                      <a:pPr algn="l"/>
                      <a:r>
                        <a:rPr sz="1100" b="1">
                          <a:solidFill>
                            <a:srgbClr val="2E2E2E"/>
                          </a:solidFill>
                          <a:latin typeface="Calibri"/>
                        </a:rPr>
                        <a:t>Rotary Vane Air Compressor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Scroll Air Compressor</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3" name="TextBox 12"/>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Technology (US$ Mn), between 2026–2036</a:t>
            </a:r>
          </a:p>
        </p:txBody>
      </p:sp>
      <p:graphicFrame>
        <p:nvGraphicFramePr>
          <p:cNvPr id="16" name="Chart 15"/>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10201639" y="2237613"/>
            <a:ext cx="366712" cy="533400"/>
          </a:xfrm>
          <a:prstGeom prst="rect">
            <a:avLst/>
          </a:prstGeom>
        </p:spPr>
      </p:pic>
      <p:pic>
        <p:nvPicPr>
          <p:cNvPr id="25" name="Picture 24" descr="lock.png"/>
          <p:cNvPicPr>
            <a:picLocks noChangeAspect="1"/>
          </p:cNvPicPr>
          <p:nvPr/>
        </p:nvPicPr>
        <p:blipFill>
          <a:blip r:embed="rId6"/>
          <a:stretch>
            <a:fillRect/>
          </a:stretch>
        </p:blipFill>
        <p:spPr>
          <a:xfrm>
            <a:off x="5964247" y="5123309"/>
            <a:ext cx="263506" cy="383281"/>
          </a:xfrm>
          <a:prstGeom prst="rect">
            <a:avLst/>
          </a:prstGeom>
        </p:spPr>
      </p:pic>
      <p:sp>
        <p:nvSpPr>
          <p:cNvPr id="27"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6"/>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Industrial Air Compressor Market Tables Technology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Technology, 2021–2036</a:t>
            </a:r>
          </a:p>
        </p:txBody>
      </p:sp>
      <p:sp>
        <p:nvSpPr>
          <p:cNvPr id="11" name="Rounded Rectangle 10"/>
          <p:cNvSpPr/>
          <p:nvPr/>
        </p:nvSpPr>
        <p:spPr>
          <a:xfrm>
            <a:off x="142875" y="981075"/>
            <a:ext cx="11906250" cy="2438400"/>
          </a:xfrm>
          <a:prstGeom prst="roundRect">
            <a:avLst>
              <a:gd name="adj" fmla="val 312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Technology (US$ Mn)</a:t>
            </a:r>
          </a:p>
        </p:txBody>
      </p:sp>
      <p:graphicFrame>
        <p:nvGraphicFramePr>
          <p:cNvPr id="13" name="Table 12"/>
          <p:cNvGraphicFramePr>
            <a:graphicFrameLocks noGrp="1"/>
          </p:cNvGraphicFramePr>
          <p:nvPr/>
        </p:nvGraphicFramePr>
        <p:xfrm>
          <a:off x="152400" y="1238250"/>
          <a:ext cx="11887206" cy="1971675"/>
        </p:xfrm>
        <a:graphic>
          <a:graphicData uri="http://schemas.openxmlformats.org/drawingml/2006/table">
            <a:tbl>
              <a:tblPr>
                <a:tableStyleId>{5C22544A-7EE6-4342-B048-85BDC9FD1C3A}</a:tableStyleId>
              </a:tblPr>
              <a:tblGrid>
                <a:gridCol w="2402124"/>
                <a:gridCol w="557946"/>
                <a:gridCol w="557946"/>
                <a:gridCol w="557946"/>
                <a:gridCol w="557946"/>
                <a:gridCol w="557946"/>
                <a:gridCol w="557946"/>
                <a:gridCol w="557946"/>
                <a:gridCol w="557946"/>
                <a:gridCol w="557946"/>
                <a:gridCol w="557946"/>
                <a:gridCol w="557946"/>
                <a:gridCol w="557946"/>
                <a:gridCol w="557946"/>
                <a:gridCol w="557946"/>
                <a:gridCol w="557946"/>
                <a:gridCol w="557946"/>
                <a:gridCol w="557946"/>
              </a:tblGrid>
              <a:tr h="246126">
                <a:tc>
                  <a:txBody>
                    <a:bodyPr wrap="none"/>
                    <a:lstStyle/>
                    <a:p>
                      <a:pPr algn="l"/>
                      <a:r>
                        <a:rPr sz="1100" b="1">
                          <a:solidFill>
                            <a:srgbClr val="0E2A5C"/>
                          </a:solidFill>
                          <a:latin typeface="Calibri"/>
                        </a:rPr>
                        <a:t>Technology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507">
                <a:tc>
                  <a:txBody>
                    <a:bodyPr wrap="none"/>
                    <a:lstStyle/>
                    <a:p>
                      <a:pPr algn="l"/>
                      <a:r>
                        <a:rPr sz="1100" b="1">
                          <a:solidFill>
                            <a:srgbClr val="2E2E2E"/>
                          </a:solidFill>
                          <a:latin typeface="Calibri"/>
                        </a:rPr>
                        <a:t>Rotary Screw Air Compressor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Reciprocating (Piston) Air Compressor</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Centrifugal Air Compressor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Axial Air Compressor</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Rotary Vane Air Compressor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Scroll Air Compressor</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4" name="TextBox 13"/>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7110375" y="2080450"/>
            <a:ext cx="366712" cy="533400"/>
          </a:xfrm>
          <a:prstGeom prst="rect">
            <a:avLst/>
          </a:prstGeom>
        </p:spPr>
      </p:pic>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Capacity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Industrial Air Compressor Market Segmental Analysis Capacity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Capacity: growth contribution, share variance and absolute $ opportunity</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Capacity (US$ Mn)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Capacity</a:t>
            </a:r>
          </a:p>
        </p:txBody>
      </p:sp>
      <p:graphicFrame>
        <p:nvGraphicFramePr>
          <p:cNvPr id="12" name="Table 11"/>
          <p:cNvGraphicFramePr>
            <a:graphicFrameLocks noGrp="1"/>
          </p:cNvGraphicFramePr>
          <p:nvPr/>
        </p:nvGraphicFramePr>
        <p:xfrm>
          <a:off x="6181725" y="1238250"/>
          <a:ext cx="5857875" cy="2286000"/>
        </p:xfrm>
        <a:graphic>
          <a:graphicData uri="http://schemas.openxmlformats.org/drawingml/2006/table">
            <a:tbl>
              <a:tblPr>
                <a:tableStyleId>{5C22544A-7EE6-4342-B048-85BDC9FD1C3A}</a:tableStyleId>
              </a:tblPr>
              <a:tblGrid>
                <a:gridCol w="1791631"/>
                <a:gridCol w="1016561"/>
                <a:gridCol w="1016561"/>
                <a:gridCol w="1016561"/>
                <a:gridCol w="1016561"/>
              </a:tblGrid>
              <a:tr h="246126">
                <a:tc>
                  <a:txBody>
                    <a:bodyPr wrap="none"/>
                    <a:lstStyle/>
                    <a:p>
                      <a:pPr algn="l"/>
                      <a:r>
                        <a:rPr sz="1100" b="1">
                          <a:solidFill>
                            <a:srgbClr val="0E2A5C"/>
                          </a:solidFill>
                          <a:latin typeface="Calibri"/>
                        </a:rPr>
                        <a:t>Capacity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2026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2036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Variance (BPS)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339979">
                <a:tc>
                  <a:txBody>
                    <a:bodyPr wrap="none"/>
                    <a:lstStyle/>
                    <a:p>
                      <a:pPr algn="l"/>
                      <a:r>
                        <a:rPr sz="1100" b="1">
                          <a:solidFill>
                            <a:srgbClr val="2E2E2E"/>
                          </a:solidFill>
                          <a:latin typeface="Calibri"/>
                        </a:rPr>
                        <a:t>Up to 500 HP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Above 500 to 2,000 HP</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39979">
                <a:tc>
                  <a:txBody>
                    <a:bodyPr wrap="none"/>
                    <a:lstStyle/>
                    <a:p>
                      <a:pPr algn="l"/>
                      <a:r>
                        <a:rPr sz="1100" b="1">
                          <a:solidFill>
                            <a:srgbClr val="2E2E2E"/>
                          </a:solidFill>
                          <a:latin typeface="Calibri"/>
                        </a:rPr>
                        <a:t>Above 2,000 to 5,000 HP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Above 5,000 to 12,000 HP</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39979">
                <a:tc>
                  <a:txBody>
                    <a:bodyPr wrap="none"/>
                    <a:lstStyle/>
                    <a:p>
                      <a:pPr algn="l"/>
                      <a:r>
                        <a:rPr sz="1100" b="1">
                          <a:solidFill>
                            <a:srgbClr val="2E2E2E"/>
                          </a:solidFill>
                          <a:latin typeface="Calibri"/>
                        </a:rPr>
                        <a:t>Above 12,000 to 20,000 HP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Above 20,000 HP</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3" name="TextBox 12"/>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Capacity (US$ Mn), between 2026–2036</a:t>
            </a:r>
          </a:p>
        </p:txBody>
      </p:sp>
      <p:graphicFrame>
        <p:nvGraphicFramePr>
          <p:cNvPr id="16" name="Chart 15"/>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9819788" y="2237613"/>
            <a:ext cx="366712" cy="533400"/>
          </a:xfrm>
          <a:prstGeom prst="rect">
            <a:avLst/>
          </a:prstGeom>
        </p:spPr>
      </p:pic>
      <p:pic>
        <p:nvPicPr>
          <p:cNvPr id="25" name="Picture 24" descr="lock.png"/>
          <p:cNvPicPr>
            <a:picLocks noChangeAspect="1"/>
          </p:cNvPicPr>
          <p:nvPr/>
        </p:nvPicPr>
        <p:blipFill>
          <a:blip r:embed="rId6"/>
          <a:stretch>
            <a:fillRect/>
          </a:stretch>
        </p:blipFill>
        <p:spPr>
          <a:xfrm>
            <a:off x="5964247" y="5123309"/>
            <a:ext cx="263506" cy="383281"/>
          </a:xfrm>
          <a:prstGeom prst="rect">
            <a:avLst/>
          </a:prstGeom>
        </p:spPr>
      </p:pic>
      <p:sp>
        <p:nvSpPr>
          <p:cNvPr id="27"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6"/>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Industrial Air Compressor Market Tables Capacity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Capacity, 2021–2036</a:t>
            </a:r>
          </a:p>
        </p:txBody>
      </p:sp>
      <p:sp>
        <p:nvSpPr>
          <p:cNvPr id="11" name="Rounded Rectangle 10"/>
          <p:cNvSpPr/>
          <p:nvPr/>
        </p:nvSpPr>
        <p:spPr>
          <a:xfrm>
            <a:off x="142875" y="981075"/>
            <a:ext cx="11906250" cy="2438400"/>
          </a:xfrm>
          <a:prstGeom prst="roundRect">
            <a:avLst>
              <a:gd name="adj" fmla="val 312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Capacity (US$ Mn)</a:t>
            </a:r>
          </a:p>
        </p:txBody>
      </p:sp>
      <p:graphicFrame>
        <p:nvGraphicFramePr>
          <p:cNvPr id="13" name="Table 12"/>
          <p:cNvGraphicFramePr>
            <a:graphicFrameLocks noGrp="1"/>
          </p:cNvGraphicFramePr>
          <p:nvPr/>
        </p:nvGraphicFramePr>
        <p:xfrm>
          <a:off x="152400" y="1238250"/>
          <a:ext cx="11887200" cy="1971675"/>
        </p:xfrm>
        <a:graphic>
          <a:graphicData uri="http://schemas.openxmlformats.org/drawingml/2006/table">
            <a:tbl>
              <a:tblPr>
                <a:tableStyleId>{5C22544A-7EE6-4342-B048-85BDC9FD1C3A}</a:tableStyleId>
              </a:tblPr>
              <a:tblGrid>
                <a:gridCol w="1840081"/>
                <a:gridCol w="591007"/>
                <a:gridCol w="591007"/>
                <a:gridCol w="591007"/>
                <a:gridCol w="591007"/>
                <a:gridCol w="591007"/>
                <a:gridCol w="591007"/>
                <a:gridCol w="591007"/>
                <a:gridCol w="591007"/>
                <a:gridCol w="591007"/>
                <a:gridCol w="591007"/>
                <a:gridCol w="591007"/>
                <a:gridCol w="591007"/>
                <a:gridCol w="591007"/>
                <a:gridCol w="591007"/>
                <a:gridCol w="591007"/>
                <a:gridCol w="591007"/>
                <a:gridCol w="591007"/>
              </a:tblGrid>
              <a:tr h="246126">
                <a:tc>
                  <a:txBody>
                    <a:bodyPr wrap="none"/>
                    <a:lstStyle/>
                    <a:p>
                      <a:pPr algn="l"/>
                      <a:r>
                        <a:rPr sz="1100" b="1">
                          <a:solidFill>
                            <a:srgbClr val="0E2A5C"/>
                          </a:solidFill>
                          <a:latin typeface="Calibri"/>
                        </a:rPr>
                        <a:t>Capacity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507">
                <a:tc>
                  <a:txBody>
                    <a:bodyPr wrap="none"/>
                    <a:lstStyle/>
                    <a:p>
                      <a:pPr algn="l"/>
                      <a:r>
                        <a:rPr sz="1100" b="1">
                          <a:solidFill>
                            <a:srgbClr val="2E2E2E"/>
                          </a:solidFill>
                          <a:latin typeface="Calibri"/>
                        </a:rPr>
                        <a:t>Up to 500 HP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Above 500 to 2,000 HP</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Above 2,000 to 5,000 HP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Above 5,000 to 12,000 HP</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Above 12,000 to 20,000 HP</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Above 20,000 HP</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4" name="TextBox 13"/>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6829350" y="2080450"/>
            <a:ext cx="366712" cy="533400"/>
          </a:xfrm>
          <a:prstGeom prst="rect">
            <a:avLst/>
          </a:prstGeom>
        </p:spPr>
      </p:pic>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Compression Stage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Industrial Air Compressor Market Segmental Analysis Compression Stage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Compression Stage: growth contribution, share variance and absolute $ opportunity</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Compression Stage (US$ Mn)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Compression Stage</a:t>
            </a:r>
          </a:p>
        </p:txBody>
      </p:sp>
      <p:graphicFrame>
        <p:nvGraphicFramePr>
          <p:cNvPr id="12" name="Table 11"/>
          <p:cNvGraphicFramePr>
            <a:graphicFrameLocks noGrp="1"/>
          </p:cNvGraphicFramePr>
          <p:nvPr/>
        </p:nvGraphicFramePr>
        <p:xfrm>
          <a:off x="6181725" y="1238250"/>
          <a:ext cx="5857875" cy="2286000"/>
        </p:xfrm>
        <a:graphic>
          <a:graphicData uri="http://schemas.openxmlformats.org/drawingml/2006/table">
            <a:tbl>
              <a:tblPr>
                <a:tableStyleId>{5C22544A-7EE6-4342-B048-85BDC9FD1C3A}</a:tableStyleId>
              </a:tblPr>
              <a:tblGrid>
                <a:gridCol w="1420847"/>
                <a:gridCol w="1109257"/>
                <a:gridCol w="1109257"/>
                <a:gridCol w="1109257"/>
                <a:gridCol w="1109257"/>
              </a:tblGrid>
              <a:tr h="246126">
                <a:tc>
                  <a:txBody>
                    <a:bodyPr wrap="none"/>
                    <a:lstStyle/>
                    <a:p>
                      <a:pPr algn="l"/>
                      <a:r>
                        <a:rPr sz="1100" b="1">
                          <a:solidFill>
                            <a:srgbClr val="0E2A5C"/>
                          </a:solidFill>
                          <a:latin typeface="Calibri"/>
                        </a:rPr>
                        <a:t>Compression Stage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2026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2036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Variance (BPS)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679958">
                <a:tc>
                  <a:txBody>
                    <a:bodyPr wrap="none"/>
                    <a:lstStyle/>
                    <a:p>
                      <a:pPr algn="l"/>
                      <a:r>
                        <a:rPr sz="1100" b="1">
                          <a:solidFill>
                            <a:srgbClr val="2E2E2E"/>
                          </a:solidFill>
                          <a:latin typeface="Calibri"/>
                        </a:rPr>
                        <a:t>Single-Stage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79958">
                <a:tc>
                  <a:txBody>
                    <a:bodyPr wrap="none"/>
                    <a:lstStyle/>
                    <a:p>
                      <a:pPr algn="l"/>
                      <a:r>
                        <a:rPr sz="1100" b="1">
                          <a:solidFill>
                            <a:srgbClr val="2E2E2E"/>
                          </a:solidFill>
                          <a:latin typeface="Calibri"/>
                        </a:rPr>
                        <a:t>Two-Stage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679958">
                <a:tc>
                  <a:txBody>
                    <a:bodyPr wrap="none"/>
                    <a:lstStyle/>
                    <a:p>
                      <a:pPr algn="l"/>
                      <a:r>
                        <a:rPr sz="1100" b="1">
                          <a:solidFill>
                            <a:srgbClr val="2E2E2E"/>
                          </a:solidFill>
                          <a:latin typeface="Calibri"/>
                        </a:rPr>
                        <a:t>Multistage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3" name="TextBox 12"/>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Compression Stage (US$ Mn), between 2026–2036</a:t>
            </a:r>
          </a:p>
        </p:txBody>
      </p:sp>
      <p:graphicFrame>
        <p:nvGraphicFramePr>
          <p:cNvPr id="16" name="Chart 15"/>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9634396" y="2237613"/>
            <a:ext cx="366712" cy="533400"/>
          </a:xfrm>
          <a:prstGeom prst="rect">
            <a:avLst/>
          </a:prstGeom>
        </p:spPr>
      </p:pic>
      <p:pic>
        <p:nvPicPr>
          <p:cNvPr id="25" name="Picture 24" descr="lock.png"/>
          <p:cNvPicPr>
            <a:picLocks noChangeAspect="1"/>
          </p:cNvPicPr>
          <p:nvPr/>
        </p:nvPicPr>
        <p:blipFill>
          <a:blip r:embed="rId6"/>
          <a:stretch>
            <a:fillRect/>
          </a:stretch>
        </p:blipFill>
        <p:spPr>
          <a:xfrm>
            <a:off x="5964247" y="5123309"/>
            <a:ext cx="263506" cy="383281"/>
          </a:xfrm>
          <a:prstGeom prst="rect">
            <a:avLst/>
          </a:prstGeom>
        </p:spPr>
      </p:pic>
      <p:sp>
        <p:nvSpPr>
          <p:cNvPr id="27"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6"/>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Industrial Air Compressor Market Tables Compression Stage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Compression Stage, 2021–2036</a:t>
            </a:r>
          </a:p>
        </p:txBody>
      </p:sp>
      <p:sp>
        <p:nvSpPr>
          <p:cNvPr id="11" name="Rounded Rectangle 10"/>
          <p:cNvSpPr/>
          <p:nvPr/>
        </p:nvSpPr>
        <p:spPr>
          <a:xfrm>
            <a:off x="142875" y="981075"/>
            <a:ext cx="11906250" cy="1704975"/>
          </a:xfrm>
          <a:prstGeom prst="roundRect">
            <a:avLst>
              <a:gd name="adj" fmla="val 446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Compression Stage (US$ Mn)</a:t>
            </a:r>
          </a:p>
        </p:txBody>
      </p:sp>
      <p:graphicFrame>
        <p:nvGraphicFramePr>
          <p:cNvPr id="13" name="Table 12"/>
          <p:cNvGraphicFramePr>
            <a:graphicFrameLocks noGrp="1"/>
          </p:cNvGraphicFramePr>
          <p:nvPr/>
        </p:nvGraphicFramePr>
        <p:xfrm>
          <a:off x="152400" y="1238250"/>
          <a:ext cx="11887203" cy="1238250"/>
        </p:xfrm>
        <a:graphic>
          <a:graphicData uri="http://schemas.openxmlformats.org/drawingml/2006/table">
            <a:tbl>
              <a:tblPr>
                <a:tableStyleId>{5C22544A-7EE6-4342-B048-85BDC9FD1C3A}</a:tableStyleId>
              </a:tblPr>
              <a:tblGrid>
                <a:gridCol w="1396384"/>
                <a:gridCol w="617107"/>
                <a:gridCol w="617107"/>
                <a:gridCol w="617107"/>
                <a:gridCol w="617107"/>
                <a:gridCol w="617107"/>
                <a:gridCol w="617107"/>
                <a:gridCol w="617107"/>
                <a:gridCol w="617107"/>
                <a:gridCol w="617107"/>
                <a:gridCol w="617107"/>
                <a:gridCol w="617107"/>
                <a:gridCol w="617107"/>
                <a:gridCol w="617107"/>
                <a:gridCol w="617107"/>
                <a:gridCol w="617107"/>
                <a:gridCol w="617107"/>
                <a:gridCol w="617107"/>
              </a:tblGrid>
              <a:tr h="246126">
                <a:tc>
                  <a:txBody>
                    <a:bodyPr wrap="none"/>
                    <a:lstStyle/>
                    <a:p>
                      <a:pPr algn="l"/>
                      <a:r>
                        <a:rPr sz="1100" b="1">
                          <a:solidFill>
                            <a:srgbClr val="0E2A5C"/>
                          </a:solidFill>
                          <a:latin typeface="Calibri"/>
                        </a:rPr>
                        <a:t>Compression Stage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031">
                <a:tc>
                  <a:txBody>
                    <a:bodyPr wrap="none"/>
                    <a:lstStyle/>
                    <a:p>
                      <a:pPr algn="l"/>
                      <a:r>
                        <a:rPr sz="1100" b="1">
                          <a:solidFill>
                            <a:srgbClr val="2E2E2E"/>
                          </a:solidFill>
                          <a:latin typeface="Calibri"/>
                        </a:rPr>
                        <a:t>Single-Stage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Two-Stage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031">
                <a:tc>
                  <a:txBody>
                    <a:bodyPr wrap="none"/>
                    <a:lstStyle/>
                    <a:p>
                      <a:pPr algn="l"/>
                      <a:r>
                        <a:rPr sz="1100" b="1">
                          <a:solidFill>
                            <a:srgbClr val="2E2E2E"/>
                          </a:solidFill>
                          <a:latin typeface="Calibri"/>
                        </a:rPr>
                        <a:t>Multistage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4" name="TextBox 13"/>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6607503" y="1713737"/>
            <a:ext cx="366712" cy="533400"/>
          </a:xfrm>
          <a:prstGeom prst="rect">
            <a:avLst/>
          </a:prstGeom>
        </p:spPr>
      </p:pic>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12.4</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End Use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Industrial Air Compressor Market Segmental Analysis End Use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End Use: growth contribution, share variance and absolute $ opportunity</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End Use (US$ Mn)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End Use</a:t>
            </a:r>
          </a:p>
        </p:txBody>
      </p:sp>
      <p:graphicFrame>
        <p:nvGraphicFramePr>
          <p:cNvPr id="12" name="Table 11"/>
          <p:cNvGraphicFramePr>
            <a:graphicFrameLocks noGrp="1"/>
          </p:cNvGraphicFramePr>
          <p:nvPr/>
        </p:nvGraphicFramePr>
        <p:xfrm>
          <a:off x="6181725" y="1238250"/>
          <a:ext cx="5857874" cy="2286003"/>
        </p:xfrm>
        <a:graphic>
          <a:graphicData uri="http://schemas.openxmlformats.org/drawingml/2006/table">
            <a:tbl>
              <a:tblPr>
                <a:tableStyleId>{5C22544A-7EE6-4342-B048-85BDC9FD1C3A}</a:tableStyleId>
              </a:tblPr>
              <a:tblGrid>
                <a:gridCol w="2315188"/>
                <a:gridCol w="890619"/>
                <a:gridCol w="890619"/>
                <a:gridCol w="1124756"/>
                <a:gridCol w="636692"/>
              </a:tblGrid>
              <a:tr h="246126">
                <a:tc>
                  <a:txBody>
                    <a:bodyPr wrap="none"/>
                    <a:lstStyle/>
                    <a:p>
                      <a:pPr algn="l"/>
                      <a:r>
                        <a:rPr sz="1100" b="1">
                          <a:solidFill>
                            <a:srgbClr val="0E2A5C"/>
                          </a:solidFill>
                          <a:latin typeface="Calibri"/>
                        </a:rPr>
                        <a:t>End Use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2026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2036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Variance (BPS)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91411">
                <a:tc>
                  <a:txBody>
                    <a:bodyPr wrap="none"/>
                    <a:lstStyle/>
                    <a:p>
                      <a:pPr algn="l"/>
                      <a:r>
                        <a:rPr sz="1100" b="1">
                          <a:solidFill>
                            <a:srgbClr val="2E2E2E"/>
                          </a:solidFill>
                          <a:latin typeface="Calibri"/>
                        </a:rPr>
                        <a:t>Automotive and Transportation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91411">
                <a:tc>
                  <a:txBody>
                    <a:bodyPr wrap="none"/>
                    <a:lstStyle/>
                    <a:p>
                      <a:pPr algn="l"/>
                      <a:r>
                        <a:rPr sz="1100" b="1">
                          <a:solidFill>
                            <a:srgbClr val="2E2E2E"/>
                          </a:solidFill>
                          <a:latin typeface="Calibri"/>
                        </a:rPr>
                        <a:t>Oil and Gas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91411">
                <a:tc>
                  <a:txBody>
                    <a:bodyPr wrap="none"/>
                    <a:lstStyle/>
                    <a:p>
                      <a:pPr algn="l"/>
                      <a:r>
                        <a:rPr sz="1100" b="1">
                          <a:solidFill>
                            <a:srgbClr val="2E2E2E"/>
                          </a:solidFill>
                          <a:latin typeface="Calibri"/>
                        </a:rPr>
                        <a:t>Food and Beverages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91411">
                <a:tc>
                  <a:txBody>
                    <a:bodyPr wrap="none"/>
                    <a:lstStyle/>
                    <a:p>
                      <a:pPr algn="l"/>
                      <a:r>
                        <a:rPr sz="1100" b="1">
                          <a:solidFill>
                            <a:srgbClr val="2E2E2E"/>
                          </a:solidFill>
                          <a:latin typeface="Calibri"/>
                        </a:rPr>
                        <a:t>Pharmaceuticals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91411">
                <a:tc>
                  <a:txBody>
                    <a:bodyPr wrap="none"/>
                    <a:lstStyle/>
                    <a:p>
                      <a:pPr algn="l"/>
                      <a:r>
                        <a:rPr sz="1100" b="1">
                          <a:solidFill>
                            <a:srgbClr val="2E2E2E"/>
                          </a:solidFill>
                          <a:latin typeface="Calibri"/>
                        </a:rPr>
                        <a:t>Mining and Metals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91411">
                <a:tc>
                  <a:txBody>
                    <a:bodyPr wrap="none"/>
                    <a:lstStyle/>
                    <a:p>
                      <a:pPr algn="l"/>
                      <a:r>
                        <a:rPr sz="1100" b="1">
                          <a:solidFill>
                            <a:srgbClr val="2E2E2E"/>
                          </a:solidFill>
                          <a:latin typeface="Calibri"/>
                        </a:rPr>
                        <a:t>Industrial Air Separation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91411">
                <a:tc>
                  <a:txBody>
                    <a:bodyPr wrap="none"/>
                    <a:lstStyle/>
                    <a:p>
                      <a:pPr algn="l"/>
                      <a:r>
                        <a:rPr sz="1100" b="1">
                          <a:solidFill>
                            <a:srgbClr val="2E2E2E"/>
                          </a:solidFill>
                          <a:latin typeface="Calibri"/>
                        </a:rPr>
                        <a:t>Other Manufacturing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3" name="TextBox 12"/>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End Use (US$ Mn), between 2026–2036</a:t>
            </a:r>
          </a:p>
        </p:txBody>
      </p:sp>
      <p:graphicFrame>
        <p:nvGraphicFramePr>
          <p:cNvPr id="16" name="Chart 15"/>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10081566" y="2237614"/>
            <a:ext cx="366712" cy="533400"/>
          </a:xfrm>
          <a:prstGeom prst="rect">
            <a:avLst/>
          </a:prstGeom>
        </p:spPr>
      </p:pic>
      <p:pic>
        <p:nvPicPr>
          <p:cNvPr id="25" name="Picture 24" descr="lock.png"/>
          <p:cNvPicPr>
            <a:picLocks noChangeAspect="1"/>
          </p:cNvPicPr>
          <p:nvPr/>
        </p:nvPicPr>
        <p:blipFill>
          <a:blip r:embed="rId6"/>
          <a:stretch>
            <a:fillRect/>
          </a:stretch>
        </p:blipFill>
        <p:spPr>
          <a:xfrm>
            <a:off x="5964247" y="5123309"/>
            <a:ext cx="263506" cy="383281"/>
          </a:xfrm>
          <a:prstGeom prst="rect">
            <a:avLst/>
          </a:prstGeom>
        </p:spPr>
      </p:pic>
      <p:sp>
        <p:nvSpPr>
          <p:cNvPr id="27"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6"/>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Industrial Air Compressor Market Tables End Use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End Use, 2021–2036</a:t>
            </a:r>
          </a:p>
        </p:txBody>
      </p:sp>
      <p:sp>
        <p:nvSpPr>
          <p:cNvPr id="11" name="Rounded Rectangle 10"/>
          <p:cNvSpPr/>
          <p:nvPr/>
        </p:nvSpPr>
        <p:spPr>
          <a:xfrm>
            <a:off x="142875" y="981075"/>
            <a:ext cx="11906250" cy="2686050"/>
          </a:xfrm>
          <a:prstGeom prst="roundRect">
            <a:avLst>
              <a:gd name="adj" fmla="val 28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End Use (US$ Mn)</a:t>
            </a:r>
          </a:p>
        </p:txBody>
      </p:sp>
      <p:graphicFrame>
        <p:nvGraphicFramePr>
          <p:cNvPr id="13" name="Table 12"/>
          <p:cNvGraphicFramePr>
            <a:graphicFrameLocks noGrp="1"/>
          </p:cNvGraphicFramePr>
          <p:nvPr/>
        </p:nvGraphicFramePr>
        <p:xfrm>
          <a:off x="152400" y="1238250"/>
          <a:ext cx="11887199" cy="2219326"/>
        </p:xfrm>
        <a:graphic>
          <a:graphicData uri="http://schemas.openxmlformats.org/drawingml/2006/table">
            <a:tbl>
              <a:tblPr>
                <a:tableStyleId>{5C22544A-7EE6-4342-B048-85BDC9FD1C3A}</a:tableStyleId>
              </a:tblPr>
              <a:tblGrid>
                <a:gridCol w="2094621"/>
                <a:gridCol w="576034"/>
                <a:gridCol w="576034"/>
                <a:gridCol w="576034"/>
                <a:gridCol w="576034"/>
                <a:gridCol w="576034"/>
                <a:gridCol w="576034"/>
                <a:gridCol w="576034"/>
                <a:gridCol w="576034"/>
                <a:gridCol w="576034"/>
                <a:gridCol w="576034"/>
                <a:gridCol w="576034"/>
                <a:gridCol w="576034"/>
                <a:gridCol w="576034"/>
                <a:gridCol w="576034"/>
                <a:gridCol w="576034"/>
                <a:gridCol w="576034"/>
                <a:gridCol w="576034"/>
              </a:tblGrid>
              <a:tr h="246126">
                <a:tc>
                  <a:txBody>
                    <a:bodyPr wrap="none"/>
                    <a:lstStyle/>
                    <a:p>
                      <a:pPr algn="l"/>
                      <a:r>
                        <a:rPr sz="1100" b="1">
                          <a:solidFill>
                            <a:srgbClr val="0E2A5C"/>
                          </a:solidFill>
                          <a:latin typeface="Calibri"/>
                        </a:rPr>
                        <a:t>End Use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650">
                <a:tc>
                  <a:txBody>
                    <a:bodyPr wrap="none"/>
                    <a:lstStyle/>
                    <a:p>
                      <a:pPr algn="l"/>
                      <a:r>
                        <a:rPr sz="1100" b="1">
                          <a:solidFill>
                            <a:srgbClr val="2E2E2E"/>
                          </a:solidFill>
                          <a:latin typeface="Calibri"/>
                        </a:rPr>
                        <a:t>Automotive and Transportation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Oil and Gas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50">
                <a:tc>
                  <a:txBody>
                    <a:bodyPr wrap="none"/>
                    <a:lstStyle/>
                    <a:p>
                      <a:pPr algn="l"/>
                      <a:r>
                        <a:rPr sz="1100" b="1">
                          <a:solidFill>
                            <a:srgbClr val="2E2E2E"/>
                          </a:solidFill>
                          <a:latin typeface="Calibri"/>
                        </a:rPr>
                        <a:t>Food and Beverages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Pharmaceuticals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50">
                <a:tc>
                  <a:txBody>
                    <a:bodyPr wrap="none"/>
                    <a:lstStyle/>
                    <a:p>
                      <a:pPr algn="l"/>
                      <a:r>
                        <a:rPr sz="1100" b="1">
                          <a:solidFill>
                            <a:srgbClr val="2E2E2E"/>
                          </a:solidFill>
                          <a:latin typeface="Calibri"/>
                        </a:rPr>
                        <a:t>Mining and Metals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Industrial Air Separation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50">
                <a:tc>
                  <a:txBody>
                    <a:bodyPr wrap="none"/>
                    <a:lstStyle/>
                    <a:p>
                      <a:pPr algn="l"/>
                      <a:r>
                        <a:rPr sz="1100" b="1">
                          <a:solidFill>
                            <a:srgbClr val="2E2E2E"/>
                          </a:solidFill>
                          <a:latin typeface="Calibri"/>
                        </a:rPr>
                        <a:t>Other Manufacturing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4" name="TextBox 13"/>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6956619" y="2204276"/>
            <a:ext cx="366712" cy="533399"/>
          </a:xfrm>
          <a:prstGeom prst="rect">
            <a:avLst/>
          </a:prstGeom>
        </p:spPr>
      </p:pic>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12.5</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Driver Type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Industrial Air Compressor Market Segmental Analysis Driver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Driver Type: growth contribution, share variance and absolute $ opportunity</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Driver Type (US$ Mn)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Driver Type</a:t>
            </a:r>
          </a:p>
        </p:txBody>
      </p:sp>
      <p:graphicFrame>
        <p:nvGraphicFramePr>
          <p:cNvPr id="12" name="Table 11"/>
          <p:cNvGraphicFramePr>
            <a:graphicFrameLocks noGrp="1"/>
          </p:cNvGraphicFramePr>
          <p:nvPr/>
        </p:nvGraphicFramePr>
        <p:xfrm>
          <a:off x="6181725" y="1238250"/>
          <a:ext cx="5857874" cy="2286000"/>
        </p:xfrm>
        <a:graphic>
          <a:graphicData uri="http://schemas.openxmlformats.org/drawingml/2006/table">
            <a:tbl>
              <a:tblPr>
                <a:tableStyleId>{5C22544A-7EE6-4342-B048-85BDC9FD1C3A}</a:tableStyleId>
              </a:tblPr>
              <a:tblGrid>
                <a:gridCol w="1766702"/>
                <a:gridCol w="1022793"/>
                <a:gridCol w="1022793"/>
                <a:gridCol w="1022793"/>
                <a:gridCol w="1022793"/>
              </a:tblGrid>
              <a:tr h="246126">
                <a:tc>
                  <a:txBody>
                    <a:bodyPr wrap="none"/>
                    <a:lstStyle/>
                    <a:p>
                      <a:pPr algn="l"/>
                      <a:r>
                        <a:rPr sz="1100" b="1">
                          <a:solidFill>
                            <a:srgbClr val="0E2A5C"/>
                          </a:solidFill>
                          <a:latin typeface="Calibri"/>
                        </a:rPr>
                        <a:t>Driver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2026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2036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Variance (BPS)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339979">
                <a:tc>
                  <a:txBody>
                    <a:bodyPr wrap="none"/>
                    <a:lstStyle/>
                    <a:p>
                      <a:pPr algn="l"/>
                      <a:r>
                        <a:rPr sz="1100" b="1">
                          <a:solidFill>
                            <a:srgbClr val="2E2E2E"/>
                          </a:solidFill>
                          <a:latin typeface="Calibri"/>
                        </a:rPr>
                        <a:t>Electric Motor-Driven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Natural Gas Engine-Driven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39979">
                <a:tc>
                  <a:txBody>
                    <a:bodyPr wrap="none"/>
                    <a:lstStyle/>
                    <a:p>
                      <a:pPr algn="l"/>
                      <a:r>
                        <a:rPr sz="1100" b="1">
                          <a:solidFill>
                            <a:srgbClr val="2E2E2E"/>
                          </a:solidFill>
                          <a:latin typeface="Calibri"/>
                        </a:rPr>
                        <a:t>Diesel Engine-Driven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Steam Turbine-Driven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39979">
                <a:tc>
                  <a:txBody>
                    <a:bodyPr wrap="none"/>
                    <a:lstStyle/>
                    <a:p>
                      <a:pPr algn="l"/>
                      <a:r>
                        <a:rPr sz="1100" b="1">
                          <a:solidFill>
                            <a:srgbClr val="2E2E2E"/>
                          </a:solidFill>
                          <a:latin typeface="Calibri"/>
                        </a:rPr>
                        <a:t>Gas Turbine-Driven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Other Drive Types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3" name="TextBox 12"/>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Driver Type (US$ Mn), between 2026–2036</a:t>
            </a:r>
          </a:p>
        </p:txBody>
      </p:sp>
      <p:graphicFrame>
        <p:nvGraphicFramePr>
          <p:cNvPr id="16" name="Chart 15"/>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9807323" y="2237613"/>
            <a:ext cx="366712" cy="533400"/>
          </a:xfrm>
          <a:prstGeom prst="rect">
            <a:avLst/>
          </a:prstGeom>
        </p:spPr>
      </p:pic>
      <p:pic>
        <p:nvPicPr>
          <p:cNvPr id="25" name="Picture 24" descr="lock.png"/>
          <p:cNvPicPr>
            <a:picLocks noChangeAspect="1"/>
          </p:cNvPicPr>
          <p:nvPr/>
        </p:nvPicPr>
        <p:blipFill>
          <a:blip r:embed="rId6"/>
          <a:stretch>
            <a:fillRect/>
          </a:stretch>
        </p:blipFill>
        <p:spPr>
          <a:xfrm>
            <a:off x="5964247" y="5123309"/>
            <a:ext cx="263506" cy="383281"/>
          </a:xfrm>
          <a:prstGeom prst="rect">
            <a:avLst/>
          </a:prstGeom>
        </p:spPr>
      </p:pic>
      <p:sp>
        <p:nvSpPr>
          <p:cNvPr id="27"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6"/>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Industrial Air Compressor Market Tables Driver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Driver Type, 2021–2036</a:t>
            </a:r>
          </a:p>
        </p:txBody>
      </p:sp>
      <p:sp>
        <p:nvSpPr>
          <p:cNvPr id="11" name="Rounded Rectangle 10"/>
          <p:cNvSpPr/>
          <p:nvPr/>
        </p:nvSpPr>
        <p:spPr>
          <a:xfrm>
            <a:off x="142875" y="981075"/>
            <a:ext cx="11906250" cy="2438400"/>
          </a:xfrm>
          <a:prstGeom prst="roundRect">
            <a:avLst>
              <a:gd name="adj" fmla="val 312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Driver Type (US$ Mn)</a:t>
            </a:r>
          </a:p>
        </p:txBody>
      </p:sp>
      <p:graphicFrame>
        <p:nvGraphicFramePr>
          <p:cNvPr id="13" name="Table 12"/>
          <p:cNvGraphicFramePr>
            <a:graphicFrameLocks noGrp="1"/>
          </p:cNvGraphicFramePr>
          <p:nvPr/>
        </p:nvGraphicFramePr>
        <p:xfrm>
          <a:off x="152400" y="1238250"/>
          <a:ext cx="11887196" cy="1971675"/>
        </p:xfrm>
        <a:graphic>
          <a:graphicData uri="http://schemas.openxmlformats.org/drawingml/2006/table">
            <a:tbl>
              <a:tblPr>
                <a:tableStyleId>{5C22544A-7EE6-4342-B048-85BDC9FD1C3A}</a:tableStyleId>
              </a:tblPr>
              <a:tblGrid>
                <a:gridCol w="1809001"/>
                <a:gridCol w="592835"/>
                <a:gridCol w="592835"/>
                <a:gridCol w="592835"/>
                <a:gridCol w="592835"/>
                <a:gridCol w="592835"/>
                <a:gridCol w="592835"/>
                <a:gridCol w="592835"/>
                <a:gridCol w="592835"/>
                <a:gridCol w="592835"/>
                <a:gridCol w="592835"/>
                <a:gridCol w="592835"/>
                <a:gridCol w="592835"/>
                <a:gridCol w="592835"/>
                <a:gridCol w="592835"/>
                <a:gridCol w="592835"/>
                <a:gridCol w="592835"/>
                <a:gridCol w="592835"/>
              </a:tblGrid>
              <a:tr h="246126">
                <a:tc>
                  <a:txBody>
                    <a:bodyPr wrap="none"/>
                    <a:lstStyle/>
                    <a:p>
                      <a:pPr algn="l"/>
                      <a:r>
                        <a:rPr sz="1100" b="1">
                          <a:solidFill>
                            <a:srgbClr val="0E2A5C"/>
                          </a:solidFill>
                          <a:latin typeface="Calibri"/>
                        </a:rPr>
                        <a:t>Driver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507">
                <a:tc>
                  <a:txBody>
                    <a:bodyPr wrap="none"/>
                    <a:lstStyle/>
                    <a:p>
                      <a:pPr algn="l"/>
                      <a:r>
                        <a:rPr sz="1100" b="1">
                          <a:solidFill>
                            <a:srgbClr val="2E2E2E"/>
                          </a:solidFill>
                          <a:latin typeface="Calibri"/>
                        </a:rPr>
                        <a:t>Electric Motor-Driven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Natural Gas Engine-Driven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Diesel Engine-Driven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Steam Turbine-Driven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Gas Turbine-Driven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Other Drive Types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4" name="TextBox 13"/>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6813808" y="2080450"/>
            <a:ext cx="366712" cy="533399"/>
          </a:xfrm>
          <a:prstGeom prst="rect">
            <a:avLst/>
          </a:prstGeom>
        </p:spPr>
      </p:pic>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Industrial Air Compressor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Pricing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Pricing &amp; Regional Price Index Trends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Pricing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Price Positioning &amp; Key Findings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Pricing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Factors Impacting Pricing</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Product Pricing &amp; Regional Price Index Trends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Price range by sub-segment and indexed regional price movement, highlighting dispersion and structural shifts</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average USD pricing by product type and indexed regional price movement with base-year inflation adjustments.</a:t>
            </a:r>
          </a:p>
        </p:txBody>
      </p:sp>
      <p:sp>
        <p:nvSpPr>
          <p:cNvPr id="8" name="Rounded Rectangle 7"/>
          <p:cNvSpPr/>
          <p:nvPr/>
        </p:nvSpPr>
        <p:spPr>
          <a:xfrm>
            <a:off x="142875" y="1317574"/>
            <a:ext cx="7696200" cy="2601152"/>
          </a:xfrm>
          <a:prstGeom prst="roundRect">
            <a:avLst>
              <a:gd name="adj" fmla="val 29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Pricing by Product Type</a:t>
            </a:r>
          </a:p>
        </p:txBody>
      </p:sp>
      <p:sp>
        <p:nvSpPr>
          <p:cNvPr id="10" name="TextBox 9"/>
          <p:cNvSpPr txBox="1"/>
          <p:nvPr/>
        </p:nvSpPr>
        <p:spPr>
          <a:xfrm>
            <a:off x="111919" y="3471051"/>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2937.2</a:t>
            </a:r>
          </a:p>
        </p:txBody>
      </p:sp>
      <p:sp>
        <p:nvSpPr>
          <p:cNvPr id="11" name="TextBox 10"/>
          <p:cNvSpPr txBox="1"/>
          <p:nvPr/>
        </p:nvSpPr>
        <p:spPr>
          <a:xfrm>
            <a:off x="111919" y="2561000"/>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4122.2</a:t>
            </a:r>
          </a:p>
        </p:txBody>
      </p:sp>
      <p:sp>
        <p:nvSpPr>
          <p:cNvPr id="12" name="TextBox 11"/>
          <p:cNvSpPr txBox="1"/>
          <p:nvPr/>
        </p:nvSpPr>
        <p:spPr>
          <a:xfrm>
            <a:off x="111919" y="1650949"/>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5307.2</a:t>
            </a:r>
          </a:p>
        </p:txBody>
      </p:sp>
      <p:cxnSp>
        <p:nvCxnSpPr>
          <p:cNvPr id="13" name="Connector 12"/>
          <p:cNvCxnSpPr/>
          <p:nvPr/>
        </p:nvCxnSpPr>
        <p:spPr>
          <a:xfrm>
            <a:off x="1241425" y="1927636"/>
            <a:ext cx="0" cy="86859"/>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022350" y="1927636"/>
            <a:ext cx="438150" cy="86859"/>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7225" y="1775236"/>
            <a:ext cx="11684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16" name="TextBox 15"/>
          <p:cNvSpPr txBox="1"/>
          <p:nvPr/>
        </p:nvSpPr>
        <p:spPr>
          <a:xfrm>
            <a:off x="657225" y="3566301"/>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Screw Air Compressor</a:t>
            </a:r>
          </a:p>
        </p:txBody>
      </p:sp>
      <p:cxnSp>
        <p:nvCxnSpPr>
          <p:cNvPr id="17" name="Connector 16"/>
          <p:cNvCxnSpPr/>
          <p:nvPr/>
        </p:nvCxnSpPr>
        <p:spPr>
          <a:xfrm>
            <a:off x="2409825" y="3232836"/>
            <a:ext cx="0" cy="94878"/>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2190750" y="3232836"/>
            <a:ext cx="438150" cy="94878"/>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25625" y="3080436"/>
            <a:ext cx="11684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20" name="TextBox 19"/>
          <p:cNvSpPr txBox="1"/>
          <p:nvPr/>
        </p:nvSpPr>
        <p:spPr>
          <a:xfrm>
            <a:off x="1825625" y="3566301"/>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Reciprocating (Piston…</a:t>
            </a:r>
          </a:p>
        </p:txBody>
      </p:sp>
      <p:cxnSp>
        <p:nvCxnSpPr>
          <p:cNvPr id="21" name="Connector 20"/>
          <p:cNvCxnSpPr/>
          <p:nvPr/>
        </p:nvCxnSpPr>
        <p:spPr>
          <a:xfrm>
            <a:off x="3578225" y="2087816"/>
            <a:ext cx="0" cy="84363"/>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3359150" y="2087816"/>
            <a:ext cx="438150" cy="84363"/>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94025" y="1935416"/>
            <a:ext cx="11684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24" name="TextBox 23"/>
          <p:cNvSpPr txBox="1"/>
          <p:nvPr/>
        </p:nvSpPr>
        <p:spPr>
          <a:xfrm>
            <a:off x="2994025" y="3566301"/>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Centrifugal Air Compr…</a:t>
            </a:r>
          </a:p>
        </p:txBody>
      </p:sp>
      <p:cxnSp>
        <p:nvCxnSpPr>
          <p:cNvPr id="25" name="Connector 24"/>
          <p:cNvCxnSpPr/>
          <p:nvPr/>
        </p:nvCxnSpPr>
        <p:spPr>
          <a:xfrm>
            <a:off x="4746625" y="3163847"/>
            <a:ext cx="0" cy="81432"/>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527550" y="3163847"/>
            <a:ext cx="438150" cy="81432"/>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62425" y="3011447"/>
            <a:ext cx="11684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28" name="TextBox 27"/>
          <p:cNvSpPr txBox="1"/>
          <p:nvPr/>
        </p:nvSpPr>
        <p:spPr>
          <a:xfrm>
            <a:off x="4162425" y="3566301"/>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Axial Air Compressor</a:t>
            </a:r>
          </a:p>
        </p:txBody>
      </p:sp>
      <p:cxnSp>
        <p:nvCxnSpPr>
          <p:cNvPr id="29" name="Connector 28"/>
          <p:cNvCxnSpPr/>
          <p:nvPr/>
        </p:nvCxnSpPr>
        <p:spPr>
          <a:xfrm>
            <a:off x="5915025" y="3130776"/>
            <a:ext cx="0" cy="72466"/>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695950" y="3130776"/>
            <a:ext cx="438150" cy="72466"/>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30825" y="2978376"/>
            <a:ext cx="11684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32" name="TextBox 31"/>
          <p:cNvSpPr txBox="1"/>
          <p:nvPr/>
        </p:nvSpPr>
        <p:spPr>
          <a:xfrm>
            <a:off x="5330825" y="3566301"/>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Vane Air Compressor</a:t>
            </a:r>
          </a:p>
        </p:txBody>
      </p:sp>
      <p:cxnSp>
        <p:nvCxnSpPr>
          <p:cNvPr id="33" name="Connector 32"/>
          <p:cNvCxnSpPr/>
          <p:nvPr/>
        </p:nvCxnSpPr>
        <p:spPr>
          <a:xfrm>
            <a:off x="7083425" y="2341250"/>
            <a:ext cx="0" cy="91865"/>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864350" y="2341250"/>
            <a:ext cx="438150" cy="91864"/>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99225" y="2188850"/>
            <a:ext cx="116840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36" name="TextBox 35"/>
          <p:cNvSpPr txBox="1"/>
          <p:nvPr/>
        </p:nvSpPr>
        <p:spPr>
          <a:xfrm>
            <a:off x="6499225" y="3566301"/>
            <a:ext cx="1168400" cy="285750"/>
          </a:xfrm>
          <a:prstGeom prst="rect">
            <a:avLst/>
          </a:prstGeom>
          <a:noFill/>
        </p:spPr>
        <p:txBody>
          <a:bodyPr wrap="square" lIns="28575" rIns="28575" tIns="9525" bIns="9525">
            <a:spAutoFit/>
          </a:bodyPr>
          <a:lstStyle/>
          <a:p>
            <a:pPr algn="ctr"/>
            <a:r>
              <a:rPr sz="1100" b="0">
                <a:solidFill>
                  <a:srgbClr val="2E2E2E"/>
                </a:solidFill>
                <a:latin typeface="Calibri"/>
              </a:rPr>
              <a:t>Scroll Air Compressor</a:t>
            </a:r>
          </a:p>
        </p:txBody>
      </p:sp>
      <p:sp>
        <p:nvSpPr>
          <p:cNvPr id="37" name="Rounded Rectangle 36"/>
          <p:cNvSpPr/>
          <p:nvPr/>
        </p:nvSpPr>
        <p:spPr>
          <a:xfrm>
            <a:off x="142875" y="3991741"/>
            <a:ext cx="7696200" cy="2564645"/>
          </a:xfrm>
          <a:prstGeom prst="roundRect">
            <a:avLst>
              <a:gd name="adj" fmla="val 29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8125" y="4048891"/>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Price Trend (2026–2036)</a:t>
            </a:r>
          </a:p>
        </p:txBody>
      </p:sp>
      <p:cxnSp>
        <p:nvCxnSpPr>
          <p:cNvPr id="39" name="Connector 38"/>
          <p:cNvCxnSpPr/>
          <p:nvPr/>
        </p:nvCxnSpPr>
        <p:spPr>
          <a:xfrm>
            <a:off x="619125" y="451848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19125" y="488389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19125" y="52492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19125" y="561470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9125" y="598011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9125" y="4518482"/>
            <a:ext cx="0" cy="1461632"/>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90550" y="4518482"/>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90550" y="488389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90550" y="52492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0550" y="561470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90550" y="598011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50" name="FMI Scale tick"/>
          <p:cNvSpPr txBox="1"/>
          <p:nvPr/>
        </p:nvSpPr>
        <p:spPr>
          <a:xfrm>
            <a:off x="219075" y="4451807"/>
            <a:ext cx="361950" cy="133350"/>
          </a:xfrm>
          <a:prstGeom prst="rect">
            <a:avLst/>
          </a:prstGeom>
          <a:noFill/>
        </p:spPr>
        <p:txBody>
          <a:bodyPr wrap="none" lIns="0" rIns="0" tIns="0" bIns="0" anchor="ctr">
            <a:spAutoFit/>
          </a:bodyPr>
          <a:lstStyle/>
          <a:p>
            <a:pPr algn="r"/>
            <a:r>
              <a:rPr sz="1100" b="0">
                <a:solidFill>
                  <a:srgbClr val="6C7A89"/>
                </a:solidFill>
                <a:latin typeface="Calibri"/>
              </a:rPr>
              <a:t>+13%</a:t>
            </a:r>
          </a:p>
        </p:txBody>
      </p:sp>
      <p:sp>
        <p:nvSpPr>
          <p:cNvPr id="51" name="FMI Scale tick"/>
          <p:cNvSpPr txBox="1"/>
          <p:nvPr/>
        </p:nvSpPr>
        <p:spPr>
          <a:xfrm>
            <a:off x="219075" y="4817215"/>
            <a:ext cx="361950" cy="133350"/>
          </a:xfrm>
          <a:prstGeom prst="rect">
            <a:avLst/>
          </a:prstGeom>
          <a:noFill/>
        </p:spPr>
        <p:txBody>
          <a:bodyPr wrap="none" lIns="0" rIns="0" tIns="0" bIns="0" anchor="ctr">
            <a:spAutoFit/>
          </a:bodyPr>
          <a:lstStyle/>
          <a:p>
            <a:pPr algn="r"/>
            <a:r>
              <a:rPr sz="1100" b="0">
                <a:solidFill>
                  <a:srgbClr val="6C7A89"/>
                </a:solidFill>
                <a:latin typeface="Calibri"/>
              </a:rPr>
              <a:t>+6%</a:t>
            </a:r>
          </a:p>
        </p:txBody>
      </p:sp>
      <p:sp>
        <p:nvSpPr>
          <p:cNvPr id="52" name="FMI Scale tick"/>
          <p:cNvSpPr txBox="1"/>
          <p:nvPr/>
        </p:nvSpPr>
        <p:spPr>
          <a:xfrm>
            <a:off x="219075" y="5182623"/>
            <a:ext cx="361950" cy="13335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53" name="FMI Scale tick"/>
          <p:cNvSpPr txBox="1"/>
          <p:nvPr/>
        </p:nvSpPr>
        <p:spPr>
          <a:xfrm>
            <a:off x="219075" y="5548031"/>
            <a:ext cx="361950" cy="133350"/>
          </a:xfrm>
          <a:prstGeom prst="rect">
            <a:avLst/>
          </a:prstGeom>
          <a:noFill/>
        </p:spPr>
        <p:txBody>
          <a:bodyPr wrap="none" lIns="0" rIns="0" tIns="0" bIns="0" anchor="ctr">
            <a:spAutoFit/>
          </a:bodyPr>
          <a:lstStyle/>
          <a:p>
            <a:pPr algn="r"/>
            <a:r>
              <a:rPr sz="1100" b="0">
                <a:solidFill>
                  <a:srgbClr val="6C7A89"/>
                </a:solidFill>
                <a:latin typeface="Calibri"/>
              </a:rPr>
              <a:t>-6%</a:t>
            </a:r>
          </a:p>
        </p:txBody>
      </p:sp>
      <p:sp>
        <p:nvSpPr>
          <p:cNvPr id="54" name="FMI Scale tick"/>
          <p:cNvSpPr txBox="1"/>
          <p:nvPr/>
        </p:nvSpPr>
        <p:spPr>
          <a:xfrm>
            <a:off x="219075" y="5913439"/>
            <a:ext cx="361950" cy="133350"/>
          </a:xfrm>
          <a:prstGeom prst="rect">
            <a:avLst/>
          </a:prstGeom>
          <a:noFill/>
        </p:spPr>
        <p:txBody>
          <a:bodyPr wrap="none" lIns="0" rIns="0" tIns="0" bIns="0" anchor="ctr">
            <a:spAutoFit/>
          </a:bodyPr>
          <a:lstStyle/>
          <a:p>
            <a:pPr algn="r"/>
            <a:r>
              <a:rPr sz="1100" b="0">
                <a:solidFill>
                  <a:srgbClr val="6C7A89"/>
                </a:solidFill>
                <a:latin typeface="Calibri"/>
              </a:rPr>
              <a:t>-13%</a:t>
            </a:r>
          </a:p>
        </p:txBody>
      </p:sp>
      <p:cxnSp>
        <p:nvCxnSpPr>
          <p:cNvPr id="55" name="Connector 54"/>
          <p:cNvCxnSpPr/>
          <p:nvPr/>
        </p:nvCxnSpPr>
        <p:spPr>
          <a:xfrm>
            <a:off x="619125" y="5249298"/>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893989" y="4614107"/>
            <a:ext cx="457200" cy="63519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MI Data Label"/>
          <p:cNvSpPr txBox="1"/>
          <p:nvPr/>
        </p:nvSpPr>
        <p:spPr>
          <a:xfrm>
            <a:off x="619125" y="4471232"/>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8" name="Rectangle 57"/>
          <p:cNvSpPr/>
          <p:nvPr/>
        </p:nvSpPr>
        <p:spPr>
          <a:xfrm>
            <a:off x="1900918" y="5105130"/>
            <a:ext cx="457200" cy="144167"/>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Data Label"/>
          <p:cNvSpPr txBox="1"/>
          <p:nvPr/>
        </p:nvSpPr>
        <p:spPr>
          <a:xfrm>
            <a:off x="1626054" y="4962255"/>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0" name="Rectangle 59"/>
          <p:cNvSpPr/>
          <p:nvPr/>
        </p:nvSpPr>
        <p:spPr>
          <a:xfrm>
            <a:off x="2907846" y="5249298"/>
            <a:ext cx="457200" cy="243560"/>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MI Data Label"/>
          <p:cNvSpPr txBox="1"/>
          <p:nvPr/>
        </p:nvSpPr>
        <p:spPr>
          <a:xfrm>
            <a:off x="2632982" y="5502383"/>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2" name="Rectangle 61"/>
          <p:cNvSpPr/>
          <p:nvPr/>
        </p:nvSpPr>
        <p:spPr>
          <a:xfrm>
            <a:off x="3914775" y="5249298"/>
            <a:ext cx="457200" cy="307007"/>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MI Data Label"/>
          <p:cNvSpPr txBox="1"/>
          <p:nvPr/>
        </p:nvSpPr>
        <p:spPr>
          <a:xfrm>
            <a:off x="3639911" y="5565830"/>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4" name="Rectangle 63"/>
          <p:cNvSpPr/>
          <p:nvPr/>
        </p:nvSpPr>
        <p:spPr>
          <a:xfrm>
            <a:off x="4921704" y="4710856"/>
            <a:ext cx="457200" cy="53844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MI Data Label"/>
          <p:cNvSpPr txBox="1"/>
          <p:nvPr/>
        </p:nvSpPr>
        <p:spPr>
          <a:xfrm>
            <a:off x="4646839" y="4567981"/>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6" name="Rectangle 65"/>
          <p:cNvSpPr/>
          <p:nvPr/>
        </p:nvSpPr>
        <p:spPr>
          <a:xfrm>
            <a:off x="5928632" y="4816972"/>
            <a:ext cx="457200" cy="432326"/>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MI Data Label"/>
          <p:cNvSpPr txBox="1"/>
          <p:nvPr/>
        </p:nvSpPr>
        <p:spPr>
          <a:xfrm>
            <a:off x="5653768" y="4674097"/>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8" name="FMI Data Label"/>
          <p:cNvSpPr txBox="1"/>
          <p:nvPr/>
        </p:nvSpPr>
        <p:spPr>
          <a:xfrm>
            <a:off x="6660696" y="5097812"/>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9" name="TextBox 68"/>
          <p:cNvSpPr txBox="1"/>
          <p:nvPr/>
        </p:nvSpPr>
        <p:spPr>
          <a:xfrm>
            <a:off x="619125"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70" name="TextBox 69"/>
          <p:cNvSpPr txBox="1"/>
          <p:nvPr/>
        </p:nvSpPr>
        <p:spPr>
          <a:xfrm>
            <a:off x="1626054"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71" name="TextBox 70"/>
          <p:cNvSpPr txBox="1"/>
          <p:nvPr/>
        </p:nvSpPr>
        <p:spPr>
          <a:xfrm>
            <a:off x="2632982"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72" name="TextBox 71"/>
          <p:cNvSpPr txBox="1"/>
          <p:nvPr/>
        </p:nvSpPr>
        <p:spPr>
          <a:xfrm>
            <a:off x="3639911"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73" name="TextBox 72"/>
          <p:cNvSpPr txBox="1"/>
          <p:nvPr/>
        </p:nvSpPr>
        <p:spPr>
          <a:xfrm>
            <a:off x="4646839"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Western Europe</a:t>
            </a:r>
          </a:p>
        </p:txBody>
      </p:sp>
      <p:sp>
        <p:nvSpPr>
          <p:cNvPr id="74" name="TextBox 73"/>
          <p:cNvSpPr txBox="1"/>
          <p:nvPr/>
        </p:nvSpPr>
        <p:spPr>
          <a:xfrm>
            <a:off x="5653768"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Eastern Europe</a:t>
            </a:r>
          </a:p>
        </p:txBody>
      </p:sp>
      <p:sp>
        <p:nvSpPr>
          <p:cNvPr id="75" name="TextBox 74"/>
          <p:cNvSpPr txBox="1"/>
          <p:nvPr/>
        </p:nvSpPr>
        <p:spPr>
          <a:xfrm>
            <a:off x="6660696"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76" name="Rounded Rectangle 75"/>
          <p:cNvSpPr/>
          <p:nvPr/>
        </p:nvSpPr>
        <p:spPr>
          <a:xfrm>
            <a:off x="7915275" y="1317574"/>
            <a:ext cx="4133850" cy="5238811"/>
          </a:xfrm>
          <a:prstGeom prst="roundRect">
            <a:avLst>
              <a:gd name="adj" fmla="val 1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78" name="Rectangle 77"/>
          <p:cNvSpPr/>
          <p:nvPr/>
        </p:nvSpPr>
        <p:spPr>
          <a:xfrm>
            <a:off x="8048625" y="1641424"/>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80" name="Rectangle 7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82" name="Picture 81" descr="lock.png"/>
          <p:cNvPicPr>
            <a:picLocks noChangeAspect="1"/>
          </p:cNvPicPr>
          <p:nvPr/>
        </p:nvPicPr>
        <p:blipFill>
          <a:blip r:embed="rId4"/>
          <a:stretch>
            <a:fillRect/>
          </a:stretch>
        </p:blipFill>
        <p:spPr>
          <a:xfrm>
            <a:off x="1177075" y="1748312"/>
            <a:ext cx="128699" cy="187198"/>
          </a:xfrm>
          <a:prstGeom prst="rect">
            <a:avLst/>
          </a:prstGeom>
        </p:spPr>
      </p:pic>
      <p:pic>
        <p:nvPicPr>
          <p:cNvPr id="83" name="Picture 82" descr="lock.png"/>
          <p:cNvPicPr>
            <a:picLocks noChangeAspect="1"/>
          </p:cNvPicPr>
          <p:nvPr/>
        </p:nvPicPr>
        <p:blipFill>
          <a:blip r:embed="rId4"/>
          <a:stretch>
            <a:fillRect/>
          </a:stretch>
        </p:blipFill>
        <p:spPr>
          <a:xfrm>
            <a:off x="2345475" y="3053512"/>
            <a:ext cx="128699" cy="187198"/>
          </a:xfrm>
          <a:prstGeom prst="rect">
            <a:avLst/>
          </a:prstGeom>
        </p:spPr>
      </p:pic>
      <p:pic>
        <p:nvPicPr>
          <p:cNvPr id="84" name="Picture 83" descr="lock.png"/>
          <p:cNvPicPr>
            <a:picLocks noChangeAspect="1"/>
          </p:cNvPicPr>
          <p:nvPr/>
        </p:nvPicPr>
        <p:blipFill>
          <a:blip r:embed="rId4"/>
          <a:stretch>
            <a:fillRect/>
          </a:stretch>
        </p:blipFill>
        <p:spPr>
          <a:xfrm>
            <a:off x="3513875" y="1908492"/>
            <a:ext cx="128699" cy="187198"/>
          </a:xfrm>
          <a:prstGeom prst="rect">
            <a:avLst/>
          </a:prstGeom>
        </p:spPr>
      </p:pic>
      <p:pic>
        <p:nvPicPr>
          <p:cNvPr id="85" name="Picture 84" descr="lock.png"/>
          <p:cNvPicPr>
            <a:picLocks noChangeAspect="1"/>
          </p:cNvPicPr>
          <p:nvPr/>
        </p:nvPicPr>
        <p:blipFill>
          <a:blip r:embed="rId4"/>
          <a:stretch>
            <a:fillRect/>
          </a:stretch>
        </p:blipFill>
        <p:spPr>
          <a:xfrm>
            <a:off x="4682275" y="2984523"/>
            <a:ext cx="128699" cy="187198"/>
          </a:xfrm>
          <a:prstGeom prst="rect">
            <a:avLst/>
          </a:prstGeom>
        </p:spPr>
      </p:pic>
      <p:pic>
        <p:nvPicPr>
          <p:cNvPr id="86" name="Picture 85" descr="lock.png"/>
          <p:cNvPicPr>
            <a:picLocks noChangeAspect="1"/>
          </p:cNvPicPr>
          <p:nvPr/>
        </p:nvPicPr>
        <p:blipFill>
          <a:blip r:embed="rId4"/>
          <a:stretch>
            <a:fillRect/>
          </a:stretch>
        </p:blipFill>
        <p:spPr>
          <a:xfrm>
            <a:off x="5850675" y="2951452"/>
            <a:ext cx="128699" cy="187198"/>
          </a:xfrm>
          <a:prstGeom prst="rect">
            <a:avLst/>
          </a:prstGeom>
        </p:spPr>
      </p:pic>
      <p:pic>
        <p:nvPicPr>
          <p:cNvPr id="87" name="Picture 86" descr="lock.png"/>
          <p:cNvPicPr>
            <a:picLocks noChangeAspect="1"/>
          </p:cNvPicPr>
          <p:nvPr/>
        </p:nvPicPr>
        <p:blipFill>
          <a:blip r:embed="rId4"/>
          <a:stretch>
            <a:fillRect/>
          </a:stretch>
        </p:blipFill>
        <p:spPr>
          <a:xfrm>
            <a:off x="7019075" y="2161926"/>
            <a:ext cx="128699" cy="187198"/>
          </a:xfrm>
          <a:prstGeom prst="rect">
            <a:avLst/>
          </a:prstGeom>
        </p:spPr>
      </p:pic>
      <p:pic>
        <p:nvPicPr>
          <p:cNvPr id="88" name="Picture 87" descr="lock.png"/>
          <p:cNvPicPr>
            <a:picLocks noChangeAspect="1"/>
          </p:cNvPicPr>
          <p:nvPr/>
        </p:nvPicPr>
        <p:blipFill>
          <a:blip r:embed="rId4"/>
          <a:stretch>
            <a:fillRect/>
          </a:stretch>
        </p:blipFill>
        <p:spPr>
          <a:xfrm>
            <a:off x="1058240" y="4444308"/>
            <a:ext cx="128699" cy="187198"/>
          </a:xfrm>
          <a:prstGeom prst="rect">
            <a:avLst/>
          </a:prstGeom>
        </p:spPr>
      </p:pic>
      <p:pic>
        <p:nvPicPr>
          <p:cNvPr id="89" name="Picture 88" descr="lock.png"/>
          <p:cNvPicPr>
            <a:picLocks noChangeAspect="1"/>
          </p:cNvPicPr>
          <p:nvPr/>
        </p:nvPicPr>
        <p:blipFill>
          <a:blip r:embed="rId4"/>
          <a:stretch>
            <a:fillRect/>
          </a:stretch>
        </p:blipFill>
        <p:spPr>
          <a:xfrm>
            <a:off x="2065168" y="4935330"/>
            <a:ext cx="128699" cy="187198"/>
          </a:xfrm>
          <a:prstGeom prst="rect">
            <a:avLst/>
          </a:prstGeom>
        </p:spPr>
      </p:pic>
      <p:pic>
        <p:nvPicPr>
          <p:cNvPr id="90" name="Picture 89" descr="lock.png"/>
          <p:cNvPicPr>
            <a:picLocks noChangeAspect="1"/>
          </p:cNvPicPr>
          <p:nvPr/>
        </p:nvPicPr>
        <p:blipFill>
          <a:blip r:embed="rId4"/>
          <a:stretch>
            <a:fillRect/>
          </a:stretch>
        </p:blipFill>
        <p:spPr>
          <a:xfrm>
            <a:off x="3072097" y="5475459"/>
            <a:ext cx="128699" cy="187198"/>
          </a:xfrm>
          <a:prstGeom prst="rect">
            <a:avLst/>
          </a:prstGeom>
        </p:spPr>
      </p:pic>
      <p:pic>
        <p:nvPicPr>
          <p:cNvPr id="91" name="Picture 90" descr="lock.png"/>
          <p:cNvPicPr>
            <a:picLocks noChangeAspect="1"/>
          </p:cNvPicPr>
          <p:nvPr/>
        </p:nvPicPr>
        <p:blipFill>
          <a:blip r:embed="rId4"/>
          <a:stretch>
            <a:fillRect/>
          </a:stretch>
        </p:blipFill>
        <p:spPr>
          <a:xfrm>
            <a:off x="4079026" y="5538906"/>
            <a:ext cx="128699" cy="187198"/>
          </a:xfrm>
          <a:prstGeom prst="rect">
            <a:avLst/>
          </a:prstGeom>
        </p:spPr>
      </p:pic>
      <p:pic>
        <p:nvPicPr>
          <p:cNvPr id="92" name="Picture 91" descr="lock.png"/>
          <p:cNvPicPr>
            <a:picLocks noChangeAspect="1"/>
          </p:cNvPicPr>
          <p:nvPr/>
        </p:nvPicPr>
        <p:blipFill>
          <a:blip r:embed="rId4"/>
          <a:stretch>
            <a:fillRect/>
          </a:stretch>
        </p:blipFill>
        <p:spPr>
          <a:xfrm>
            <a:off x="5085954" y="4541057"/>
            <a:ext cx="128699" cy="187198"/>
          </a:xfrm>
          <a:prstGeom prst="rect">
            <a:avLst/>
          </a:prstGeom>
        </p:spPr>
      </p:pic>
      <p:pic>
        <p:nvPicPr>
          <p:cNvPr id="93" name="Picture 92" descr="lock.png"/>
          <p:cNvPicPr>
            <a:picLocks noChangeAspect="1"/>
          </p:cNvPicPr>
          <p:nvPr/>
        </p:nvPicPr>
        <p:blipFill>
          <a:blip r:embed="rId4"/>
          <a:stretch>
            <a:fillRect/>
          </a:stretch>
        </p:blipFill>
        <p:spPr>
          <a:xfrm>
            <a:off x="6092883" y="4647173"/>
            <a:ext cx="128699" cy="187198"/>
          </a:xfrm>
          <a:prstGeom prst="rect">
            <a:avLst/>
          </a:prstGeom>
        </p:spPr>
      </p:pic>
      <p:pic>
        <p:nvPicPr>
          <p:cNvPr id="94" name="Picture 93" descr="lock.png"/>
          <p:cNvPicPr>
            <a:picLocks noChangeAspect="1"/>
          </p:cNvPicPr>
          <p:nvPr/>
        </p:nvPicPr>
        <p:blipFill>
          <a:blip r:embed="rId4"/>
          <a:stretch>
            <a:fillRect/>
          </a:stretch>
        </p:blipFill>
        <p:spPr>
          <a:xfrm>
            <a:off x="7099811" y="5070888"/>
            <a:ext cx="128699" cy="187198"/>
          </a:xfrm>
          <a:prstGeom prst="rect">
            <a:avLst/>
          </a:prstGeom>
        </p:spPr>
      </p:pic>
      <p:sp>
        <p:nvSpPr>
          <p:cNvPr id="95" name="TextBox 94"/>
          <p:cNvSpPr txBox="1"/>
          <p:nvPr/>
        </p:nvSpPr>
        <p:spPr>
          <a:xfrm>
            <a:off x="8048625" y="1736673"/>
            <a:ext cx="3848100" cy="194310"/>
          </a:xfrm>
          <a:prstGeom prst="rect">
            <a:avLst/>
          </a:prstGeom>
          <a:noFill/>
        </p:spPr>
        <p:txBody>
          <a:bodyPr wrap="none" lIns="0" rIns="0" tIns="0" bIns="0">
            <a:spAutoFit/>
          </a:bodyPr>
          <a:lstStyle/>
          <a:p>
            <a:r>
              <a:rPr sz="1150" b="0">
                <a:solidFill>
                  <a:srgbClr val="2E2E2E"/>
                </a:solidFill>
                <a:latin typeface="Calibri"/>
              </a:rPr>
              <a:t>▪ The chart shows global average pricing of key technology types</a:t>
            </a:r>
          </a:p>
        </p:txBody>
      </p:sp>
      <p:sp>
        <p:nvSpPr>
          <p:cNvPr id="96" name="TextBox 95"/>
          <p:cNvSpPr txBox="1"/>
          <p:nvPr/>
        </p:nvSpPr>
        <p:spPr>
          <a:xfrm>
            <a:off x="8048625" y="1911934"/>
            <a:ext cx="3770140" cy="194310"/>
          </a:xfrm>
          <a:prstGeom prst="rect">
            <a:avLst/>
          </a:prstGeom>
          <a:noFill/>
        </p:spPr>
        <p:txBody>
          <a:bodyPr wrap="none" lIns="0" rIns="0" tIns="0" bIns="0">
            <a:spAutoFit/>
          </a:bodyPr>
          <a:lstStyle/>
          <a:p>
            <a:r>
              <a:rPr sz="1150" b="0">
                <a:solidFill>
                  <a:srgbClr val="2E2E2E"/>
                </a:solidFill>
                <a:latin typeface="Calibri"/>
              </a:rPr>
              <a:t>in USD, harmonised across regions. Each candlestick spans the</a:t>
            </a:r>
          </a:p>
        </p:txBody>
      </p:sp>
      <p:sp>
        <p:nvSpPr>
          <p:cNvPr id="97" name="TextBox 96"/>
          <p:cNvSpPr txBox="1"/>
          <p:nvPr/>
        </p:nvSpPr>
        <p:spPr>
          <a:xfrm>
            <a:off x="8048625" y="2087194"/>
            <a:ext cx="3646437" cy="194310"/>
          </a:xfrm>
          <a:prstGeom prst="rect">
            <a:avLst/>
          </a:prstGeom>
          <a:noFill/>
        </p:spPr>
        <p:txBody>
          <a:bodyPr wrap="none" lIns="0" rIns="0" tIns="0" bIns="0">
            <a:spAutoFit/>
          </a:bodyPr>
          <a:lstStyle/>
          <a:p>
            <a:r>
              <a:rPr sz="1150" b="0">
                <a:solidFill>
                  <a:srgbClr val="2E2E2E"/>
                </a:solidFill>
                <a:latin typeface="Calibri"/>
              </a:rPr>
              <a:t>minimum-to-maximum observed price within the base year,</a:t>
            </a:r>
          </a:p>
        </p:txBody>
      </p:sp>
      <p:sp>
        <p:nvSpPr>
          <p:cNvPr id="98" name="TextBox 97"/>
          <p:cNvSpPr txBox="1"/>
          <p:nvPr/>
        </p:nvSpPr>
        <p:spPr>
          <a:xfrm>
            <a:off x="8048625" y="2262454"/>
            <a:ext cx="3406254" cy="194310"/>
          </a:xfrm>
          <a:prstGeom prst="rect">
            <a:avLst/>
          </a:prstGeom>
          <a:noFill/>
        </p:spPr>
        <p:txBody>
          <a:bodyPr wrap="none" lIns="0" rIns="0" tIns="0" bIns="0">
            <a:spAutoFit/>
          </a:bodyPr>
          <a:lstStyle/>
          <a:p>
            <a:r>
              <a:rPr sz="1150" b="0">
                <a:solidFill>
                  <a:srgbClr val="2E2E2E"/>
                </a:solidFill>
                <a:latin typeface="Calibri"/>
              </a:rPr>
              <a:t>giving a clear read of price range and market dispersion.</a:t>
            </a:r>
          </a:p>
        </p:txBody>
      </p:sp>
      <p:sp>
        <p:nvSpPr>
          <p:cNvPr id="99" name="TextBox 98"/>
          <p:cNvSpPr txBox="1"/>
          <p:nvPr/>
        </p:nvSpPr>
        <p:spPr>
          <a:xfrm>
            <a:off x="8048625" y="2490292"/>
            <a:ext cx="3793058" cy="194310"/>
          </a:xfrm>
          <a:prstGeom prst="rect">
            <a:avLst/>
          </a:prstGeom>
          <a:noFill/>
        </p:spPr>
        <p:txBody>
          <a:bodyPr wrap="none" lIns="0" rIns="0" tIns="0" bIns="0">
            <a:spAutoFit/>
          </a:bodyPr>
          <a:lstStyle/>
          <a:p>
            <a:r>
              <a:rPr sz="1150" b="0">
                <a:solidFill>
                  <a:srgbClr val="2E2E2E"/>
                </a:solidFill>
                <a:latin typeface="Calibri"/>
              </a:rPr>
              <a:t>▪ Wider bodies mark a larger gap between opening and closing</a:t>
            </a:r>
          </a:p>
        </p:txBody>
      </p:sp>
      <p:sp>
        <p:nvSpPr>
          <p:cNvPr id="100" name="TextBox 99"/>
          <p:cNvSpPr txBox="1"/>
          <p:nvPr/>
        </p:nvSpPr>
        <p:spPr>
          <a:xfrm>
            <a:off x="8048625" y="2665551"/>
            <a:ext cx="3728305" cy="194310"/>
          </a:xfrm>
          <a:prstGeom prst="rect">
            <a:avLst/>
          </a:prstGeom>
          <a:noFill/>
        </p:spPr>
        <p:txBody>
          <a:bodyPr wrap="none" lIns="0" rIns="0" tIns="0" bIns="0">
            <a:spAutoFit/>
          </a:bodyPr>
          <a:lstStyle/>
          <a:p>
            <a:r>
              <a:rPr sz="1150" b="0">
                <a:solidFill>
                  <a:srgbClr val="2E2E2E"/>
                </a:solidFill>
                <a:latin typeface="Calibri"/>
              </a:rPr>
              <a:t>price levels 'Reciprocating (Piston) Air Compressor' shows the</a:t>
            </a:r>
          </a:p>
        </p:txBody>
      </p:sp>
      <p:sp>
        <p:nvSpPr>
          <p:cNvPr id="101" name="TextBox 100"/>
          <p:cNvSpPr txBox="1"/>
          <p:nvPr/>
        </p:nvSpPr>
        <p:spPr>
          <a:xfrm>
            <a:off x="8048625" y="2840811"/>
            <a:ext cx="1206661" cy="194310"/>
          </a:xfrm>
          <a:prstGeom prst="rect">
            <a:avLst/>
          </a:prstGeom>
          <a:noFill/>
        </p:spPr>
        <p:txBody>
          <a:bodyPr wrap="none" lIns="0" rIns="0" tIns="0" bIns="0">
            <a:spAutoFit/>
          </a:bodyPr>
          <a:lstStyle/>
          <a:p>
            <a:r>
              <a:rPr sz="1150" b="0">
                <a:solidFill>
                  <a:srgbClr val="2E2E2E"/>
                </a:solidFill>
                <a:latin typeface="Calibri"/>
              </a:rPr>
              <a:t>most movement (+</a:t>
            </a:r>
          </a:p>
        </p:txBody>
      </p:sp>
      <p:pic>
        <p:nvPicPr>
          <p:cNvPr id="102" name="Picture 101" descr="lock.png"/>
          <p:cNvPicPr>
            <a:picLocks noChangeAspect="1"/>
          </p:cNvPicPr>
          <p:nvPr/>
        </p:nvPicPr>
        <p:blipFill>
          <a:blip r:embed="rId4"/>
          <a:stretch>
            <a:fillRect/>
          </a:stretch>
        </p:blipFill>
        <p:spPr>
          <a:xfrm>
            <a:off x="9204440" y="2830588"/>
            <a:ext cx="134549" cy="195707"/>
          </a:xfrm>
          <a:prstGeom prst="rect">
            <a:avLst/>
          </a:prstGeom>
        </p:spPr>
      </p:pic>
      <p:sp>
        <p:nvSpPr>
          <p:cNvPr id="103" name="TextBox 102"/>
          <p:cNvSpPr txBox="1"/>
          <p:nvPr/>
        </p:nvSpPr>
        <p:spPr>
          <a:xfrm>
            <a:off x="9379549" y="2840811"/>
            <a:ext cx="2438387" cy="194310"/>
          </a:xfrm>
          <a:prstGeom prst="rect">
            <a:avLst/>
          </a:prstGeom>
          <a:noFill/>
        </p:spPr>
        <p:txBody>
          <a:bodyPr wrap="none" lIns="0" rIns="0" tIns="0" bIns="0">
            <a:spAutoFit/>
          </a:bodyPr>
          <a:lstStyle/>
          <a:p>
            <a:r>
              <a:rPr sz="1150" b="0">
                <a:solidFill>
                  <a:srgbClr val="2E2E2E"/>
                </a:solidFill>
                <a:latin typeface="Calibri"/>
              </a:rPr>
              <a:t>) and 'Rotary Screw Air Compressor' the</a:t>
            </a:r>
          </a:p>
        </p:txBody>
      </p:sp>
      <p:sp>
        <p:nvSpPr>
          <p:cNvPr id="104" name="TextBox 103"/>
          <p:cNvSpPr txBox="1"/>
          <p:nvPr/>
        </p:nvSpPr>
        <p:spPr>
          <a:xfrm>
            <a:off x="8048625" y="3016071"/>
            <a:ext cx="508644" cy="194310"/>
          </a:xfrm>
          <a:prstGeom prst="rect">
            <a:avLst/>
          </a:prstGeom>
          <a:noFill/>
        </p:spPr>
        <p:txBody>
          <a:bodyPr wrap="none" lIns="0" rIns="0" tIns="0" bIns="0">
            <a:spAutoFit/>
          </a:bodyPr>
          <a:lstStyle/>
          <a:p>
            <a:r>
              <a:rPr sz="1150" b="0">
                <a:solidFill>
                  <a:srgbClr val="2E2E2E"/>
                </a:solidFill>
                <a:latin typeface="Calibri"/>
              </a:rPr>
              <a:t>least (+</a:t>
            </a:r>
          </a:p>
        </p:txBody>
      </p:sp>
      <p:pic>
        <p:nvPicPr>
          <p:cNvPr id="105" name="Picture 104" descr="lock.png"/>
          <p:cNvPicPr>
            <a:picLocks noChangeAspect="1"/>
          </p:cNvPicPr>
          <p:nvPr/>
        </p:nvPicPr>
        <p:blipFill>
          <a:blip r:embed="rId4"/>
          <a:stretch>
            <a:fillRect/>
          </a:stretch>
        </p:blipFill>
        <p:spPr>
          <a:xfrm>
            <a:off x="8506423" y="3005848"/>
            <a:ext cx="134549" cy="195707"/>
          </a:xfrm>
          <a:prstGeom prst="rect">
            <a:avLst/>
          </a:prstGeom>
        </p:spPr>
      </p:pic>
      <p:sp>
        <p:nvSpPr>
          <p:cNvPr id="106" name="TextBox 105"/>
          <p:cNvSpPr txBox="1"/>
          <p:nvPr/>
        </p:nvSpPr>
        <p:spPr>
          <a:xfrm>
            <a:off x="8681533" y="3016071"/>
            <a:ext cx="2839169" cy="194310"/>
          </a:xfrm>
          <a:prstGeom prst="rect">
            <a:avLst/>
          </a:prstGeom>
          <a:noFill/>
        </p:spPr>
        <p:txBody>
          <a:bodyPr wrap="none" lIns="0" rIns="0" tIns="0" bIns="0">
            <a:spAutoFit/>
          </a:bodyPr>
          <a:lstStyle/>
          <a:p>
            <a:r>
              <a:rPr sz="1150" b="0">
                <a:solidFill>
                  <a:srgbClr val="2E2E2E"/>
                </a:solidFill>
                <a:latin typeface="Calibri"/>
              </a:rPr>
              <a:t>) variability stakeholders should monitor when</a:t>
            </a:r>
          </a:p>
        </p:txBody>
      </p:sp>
      <p:sp>
        <p:nvSpPr>
          <p:cNvPr id="107" name="TextBox 106"/>
          <p:cNvSpPr txBox="1"/>
          <p:nvPr/>
        </p:nvSpPr>
        <p:spPr>
          <a:xfrm>
            <a:off x="8048625" y="3191331"/>
            <a:ext cx="2038176" cy="194310"/>
          </a:xfrm>
          <a:prstGeom prst="rect">
            <a:avLst/>
          </a:prstGeom>
          <a:noFill/>
        </p:spPr>
        <p:txBody>
          <a:bodyPr wrap="none" lIns="0" rIns="0" tIns="0" bIns="0">
            <a:spAutoFit/>
          </a:bodyPr>
          <a:lstStyle/>
          <a:p>
            <a:r>
              <a:rPr sz="1150" b="0">
                <a:solidFill>
                  <a:srgbClr val="2E2E2E"/>
                </a:solidFill>
                <a:latin typeface="Calibri"/>
              </a:rPr>
              <a:t>planning procurement or pricing.</a:t>
            </a:r>
          </a:p>
        </p:txBody>
      </p:sp>
      <p:sp>
        <p:nvSpPr>
          <p:cNvPr id="108" name="TextBox 107"/>
          <p:cNvSpPr txBox="1"/>
          <p:nvPr/>
        </p:nvSpPr>
        <p:spPr>
          <a:xfrm>
            <a:off x="8048625" y="3419169"/>
            <a:ext cx="3718607" cy="194310"/>
          </a:xfrm>
          <a:prstGeom prst="rect">
            <a:avLst/>
          </a:prstGeom>
          <a:noFill/>
        </p:spPr>
        <p:txBody>
          <a:bodyPr wrap="none" lIns="0" rIns="0" tIns="0" bIns="0">
            <a:spAutoFit/>
          </a:bodyPr>
          <a:lstStyle/>
          <a:p>
            <a:r>
              <a:rPr sz="1150" b="0">
                <a:solidFill>
                  <a:srgbClr val="2E2E2E"/>
                </a:solidFill>
                <a:latin typeface="Calibri"/>
              </a:rPr>
              <a:t>▪ The lower chart indexes region-level price movement to the</a:t>
            </a:r>
          </a:p>
        </p:txBody>
      </p:sp>
      <p:sp>
        <p:nvSpPr>
          <p:cNvPr id="109" name="TextBox 108"/>
          <p:cNvSpPr txBox="1"/>
          <p:nvPr/>
        </p:nvSpPr>
        <p:spPr>
          <a:xfrm>
            <a:off x="8048625" y="3594429"/>
            <a:ext cx="3716610" cy="194310"/>
          </a:xfrm>
          <a:prstGeom prst="rect">
            <a:avLst/>
          </a:prstGeom>
          <a:noFill/>
        </p:spPr>
        <p:txBody>
          <a:bodyPr wrap="none" lIns="0" rIns="0" tIns="0" bIns="0">
            <a:spAutoFit/>
          </a:bodyPr>
          <a:lstStyle/>
          <a:p>
            <a:r>
              <a:rPr sz="1150" b="0">
                <a:solidFill>
                  <a:srgbClr val="2E2E2E"/>
                </a:solidFill>
                <a:latin typeface="Calibri"/>
              </a:rPr>
              <a:t>base year, applied consistently across the horizon to strip out</a:t>
            </a:r>
          </a:p>
        </p:txBody>
      </p:sp>
      <p:sp>
        <p:nvSpPr>
          <p:cNvPr id="110" name="TextBox 109"/>
          <p:cNvSpPr txBox="1"/>
          <p:nvPr/>
        </p:nvSpPr>
        <p:spPr>
          <a:xfrm>
            <a:off x="8048625" y="3769689"/>
            <a:ext cx="3693219" cy="194310"/>
          </a:xfrm>
          <a:prstGeom prst="rect">
            <a:avLst/>
          </a:prstGeom>
          <a:noFill/>
        </p:spPr>
        <p:txBody>
          <a:bodyPr wrap="none" lIns="0" rIns="0" tIns="0" bIns="0">
            <a:spAutoFit/>
          </a:bodyPr>
          <a:lstStyle/>
          <a:p>
            <a:r>
              <a:rPr sz="1150" b="0">
                <a:solidFill>
                  <a:srgbClr val="2E2E2E"/>
                </a:solidFill>
                <a:latin typeface="Calibri"/>
              </a:rPr>
              <a:t>year-on-year inflationary volatility and reveal structural price</a:t>
            </a:r>
          </a:p>
        </p:txBody>
      </p:sp>
      <p:sp>
        <p:nvSpPr>
          <p:cNvPr id="111" name="TextBox 110"/>
          <p:cNvSpPr txBox="1"/>
          <p:nvPr/>
        </p:nvSpPr>
        <p:spPr>
          <a:xfrm>
            <a:off x="8048625" y="3944949"/>
            <a:ext cx="431055" cy="194310"/>
          </a:xfrm>
          <a:prstGeom prst="rect">
            <a:avLst/>
          </a:prstGeom>
          <a:noFill/>
        </p:spPr>
        <p:txBody>
          <a:bodyPr wrap="none" lIns="0" rIns="0" tIns="0" bIns="0">
            <a:spAutoFit/>
          </a:bodyPr>
          <a:lstStyle/>
          <a:p>
            <a:r>
              <a:rPr sz="1150" b="0">
                <a:solidFill>
                  <a:srgbClr val="2E2E2E"/>
                </a:solidFill>
                <a:latin typeface="Calibri"/>
              </a:rPr>
              <a:t>shifts.</a:t>
            </a:r>
          </a:p>
        </p:txBody>
      </p:sp>
      <p:sp>
        <p:nvSpPr>
          <p:cNvPr id="112" name="TextBox 111"/>
          <p:cNvSpPr txBox="1"/>
          <p:nvPr/>
        </p:nvSpPr>
        <p:spPr>
          <a:xfrm>
            <a:off x="8048625" y="4172787"/>
            <a:ext cx="2340260" cy="194310"/>
          </a:xfrm>
          <a:prstGeom prst="rect">
            <a:avLst/>
          </a:prstGeom>
          <a:noFill/>
        </p:spPr>
        <p:txBody>
          <a:bodyPr wrap="none" lIns="0" rIns="0" tIns="0" bIns="0">
            <a:spAutoFit/>
          </a:bodyPr>
          <a:lstStyle/>
          <a:p>
            <a:r>
              <a:rPr sz="1150" b="0">
                <a:solidFill>
                  <a:srgbClr val="2E2E2E"/>
                </a:solidFill>
                <a:latin typeface="Calibri"/>
              </a:rPr>
              <a:t>▪ Region price indices diverge by up to</a:t>
            </a:r>
          </a:p>
        </p:txBody>
      </p:sp>
      <p:pic>
        <p:nvPicPr>
          <p:cNvPr id="113" name="Picture 112" descr="lock.png"/>
          <p:cNvPicPr>
            <a:picLocks noChangeAspect="1"/>
          </p:cNvPicPr>
          <p:nvPr/>
        </p:nvPicPr>
        <p:blipFill>
          <a:blip r:embed="rId4"/>
          <a:stretch>
            <a:fillRect/>
          </a:stretch>
        </p:blipFill>
        <p:spPr>
          <a:xfrm>
            <a:off x="10338039" y="4162564"/>
            <a:ext cx="134549" cy="195707"/>
          </a:xfrm>
          <a:prstGeom prst="rect">
            <a:avLst/>
          </a:prstGeom>
        </p:spPr>
      </p:pic>
      <p:sp>
        <p:nvSpPr>
          <p:cNvPr id="114" name="TextBox 113"/>
          <p:cNvSpPr txBox="1"/>
          <p:nvPr/>
        </p:nvSpPr>
        <p:spPr>
          <a:xfrm>
            <a:off x="10513148" y="4172787"/>
            <a:ext cx="1187549" cy="194310"/>
          </a:xfrm>
          <a:prstGeom prst="rect">
            <a:avLst/>
          </a:prstGeom>
          <a:noFill/>
        </p:spPr>
        <p:txBody>
          <a:bodyPr wrap="none" lIns="0" rIns="0" tIns="0" bIns="0">
            <a:spAutoFit/>
          </a:bodyPr>
          <a:lstStyle/>
          <a:p>
            <a:r>
              <a:rPr sz="1150" b="0">
                <a:solidFill>
                  <a:srgbClr val="2E2E2E"/>
                </a:solidFill>
                <a:latin typeface="Calibri"/>
              </a:rPr>
              <a:t>between 2026 and</a:t>
            </a:r>
          </a:p>
        </p:txBody>
      </p:sp>
      <p:sp>
        <p:nvSpPr>
          <p:cNvPr id="115" name="TextBox 114"/>
          <p:cNvSpPr txBox="1"/>
          <p:nvPr/>
        </p:nvSpPr>
        <p:spPr>
          <a:xfrm>
            <a:off x="8048625" y="4348047"/>
            <a:ext cx="3848100" cy="194310"/>
          </a:xfrm>
          <a:prstGeom prst="rect">
            <a:avLst/>
          </a:prstGeom>
          <a:noFill/>
        </p:spPr>
        <p:txBody>
          <a:bodyPr wrap="none" lIns="0" rIns="0" tIns="0" bIns="0">
            <a:spAutoFit/>
          </a:bodyPr>
          <a:lstStyle/>
          <a:p>
            <a:r>
              <a:rPr sz="1150" b="0">
                <a:solidFill>
                  <a:srgbClr val="2E2E2E"/>
                </a:solidFill>
                <a:latin typeface="Calibri"/>
              </a:rPr>
              <a:t>2036: higher-priced regions start higher and grow steadily, while</a:t>
            </a:r>
          </a:p>
        </p:txBody>
      </p:sp>
      <p:sp>
        <p:nvSpPr>
          <p:cNvPr id="116" name="TextBox 115"/>
          <p:cNvSpPr txBox="1"/>
          <p:nvPr/>
        </p:nvSpPr>
        <p:spPr>
          <a:xfrm>
            <a:off x="8048625" y="4523307"/>
            <a:ext cx="3454747" cy="194310"/>
          </a:xfrm>
          <a:prstGeom prst="rect">
            <a:avLst/>
          </a:prstGeom>
          <a:noFill/>
        </p:spPr>
        <p:txBody>
          <a:bodyPr wrap="none" lIns="0" rIns="0" tIns="0" bIns="0">
            <a:spAutoFit/>
          </a:bodyPr>
          <a:lstStyle/>
          <a:p>
            <a:r>
              <a:rPr sz="1150" b="0">
                <a:solidFill>
                  <a:srgbClr val="2E2E2E"/>
                </a:solidFill>
                <a:latin typeface="Calibri"/>
              </a:rPr>
              <a:t>lower-priced regions start lower and converge, reflecting</a:t>
            </a:r>
          </a:p>
        </p:txBody>
      </p:sp>
      <p:sp>
        <p:nvSpPr>
          <p:cNvPr id="117" name="TextBox 116"/>
          <p:cNvSpPr txBox="1"/>
          <p:nvPr/>
        </p:nvSpPr>
        <p:spPr>
          <a:xfrm>
            <a:off x="8048625" y="4698567"/>
            <a:ext cx="1090848" cy="194310"/>
          </a:xfrm>
          <a:prstGeom prst="rect">
            <a:avLst/>
          </a:prstGeom>
          <a:noFill/>
        </p:spPr>
        <p:txBody>
          <a:bodyPr wrap="none" lIns="0" rIns="0" tIns="0" bIns="0">
            <a:spAutoFit/>
          </a:bodyPr>
          <a:lstStyle/>
          <a:p>
            <a:r>
              <a:rPr sz="1150" b="0">
                <a:solidFill>
                  <a:srgbClr val="2E2E2E"/>
                </a:solidFill>
                <a:latin typeface="Calibri"/>
              </a:rPr>
              <a:t>catch-up growth.</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Pricing Assessment: By Technology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(US$/Units) by technology, 2021 to 2036, with 2026 price index and growth outlook</a:t>
            </a:r>
          </a:p>
        </p:txBody>
      </p:sp>
      <p:sp>
        <p:nvSpPr>
          <p:cNvPr id="7" name="Rectangle 6"/>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8" name="Rectangle 7"/>
          <p:cNvSpPr/>
          <p:nvPr/>
        </p:nvSpPr>
        <p:spPr>
          <a:xfrm>
            <a:off x="274320" y="1529715"/>
            <a:ext cx="6446520" cy="3520440"/>
          </a:xfrm>
          <a:prstGeom prst="rect">
            <a:avLst/>
          </a:prstGeom>
          <a:solidFill>
            <a:srgbClr val="F3F6F9"/>
          </a:solidFill>
          <a:ln>
            <a:noFill/>
          </a:ln>
          <a:effectLst/>
        </p:spPr>
        <p:txBody>
          <a:bodyPr rtlCol="0" anchor="ctr"/>
          <a:lstStyle/>
          <a:p>
            <a:pPr algn="ctr"/>
          </a:p>
        </p:txBody>
      </p:sp>
      <p:sp>
        <p:nvSpPr>
          <p:cNvPr id="9" name="TextBox 8"/>
          <p:cNvSpPr txBox="1"/>
          <p:nvPr/>
        </p:nvSpPr>
        <p:spPr>
          <a:xfrm>
            <a:off x="384048" y="1575435"/>
            <a:ext cx="621792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Trend by Technology, 2021 to 2036 (US$/Units)</a:t>
            </a:r>
          </a:p>
        </p:txBody>
      </p:sp>
      <p:graphicFrame>
        <p:nvGraphicFramePr>
          <p:cNvPr id="10" name="FMI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r:id="rId3"/>
          </a:graphicData>
        </a:graphic>
      </p:graphicFrame>
      <p:sp>
        <p:nvSpPr>
          <p:cNvPr id="11" name="TextBox 10"/>
          <p:cNvSpPr txBox="1"/>
          <p:nvPr/>
        </p:nvSpPr>
        <p:spPr>
          <a:xfrm>
            <a:off x="4572000" y="1593723"/>
            <a:ext cx="2103120" cy="228600"/>
          </a:xfrm>
          <a:prstGeom prst="rect">
            <a:avLst/>
          </a:prstGeom>
          <a:noFill/>
        </p:spPr>
        <p:txBody>
          <a:bodyPr wrap="square" anchor="t" lIns="27432" rIns="27432" tIns="27432" bIns="27432">
            <a:spAutoFit/>
          </a:bodyPr>
          <a:lstStyle/>
          <a:p>
            <a:pPr algn="r"/>
            <a:r>
              <a:rPr sz="850" b="0" i="1">
                <a:solidFill>
                  <a:srgbClr val="59636E"/>
                </a:solidFill>
                <a:latin typeface="Calibri"/>
              </a:rPr>
              <a:t>Forecast period: 2026 to 2036</a:t>
            </a:r>
          </a:p>
        </p:txBody>
      </p:sp>
      <p:sp>
        <p:nvSpPr>
          <p:cNvPr id="12" name="Rectangle 11"/>
          <p:cNvSpPr/>
          <p:nvPr/>
        </p:nvSpPr>
        <p:spPr>
          <a:xfrm>
            <a:off x="6858000" y="1529715"/>
            <a:ext cx="5056632" cy="1600200"/>
          </a:xfrm>
          <a:prstGeom prst="rect">
            <a:avLst/>
          </a:prstGeom>
          <a:solidFill>
            <a:srgbClr val="F3F6F9"/>
          </a:solidFill>
          <a:ln>
            <a:noFill/>
          </a:ln>
          <a:effectLst/>
        </p:spPr>
        <p:txBody>
          <a:bodyPr rtlCol="0" anchor="ctr"/>
          <a:lstStyle/>
          <a:p>
            <a:pPr algn="ctr"/>
          </a:p>
        </p:txBody>
      </p:sp>
      <p:sp>
        <p:nvSpPr>
          <p:cNvPr id="13" name="TextBox 12"/>
          <p:cNvSpPr txBox="1"/>
          <p:nvPr/>
        </p:nvSpPr>
        <p:spPr>
          <a:xfrm>
            <a:off x="6967728" y="1575435"/>
            <a:ext cx="4846320" cy="257175"/>
          </a:xfrm>
          <a:prstGeom prst="rect">
            <a:avLst/>
          </a:prstGeom>
          <a:noFill/>
        </p:spPr>
        <p:txBody>
          <a:bodyPr wrap="square" anchor="t" lIns="27432" rIns="27432" tIns="27432" bIns="27432">
            <a:spAutoFit/>
          </a:bodyPr>
          <a:lstStyle/>
          <a:p>
            <a:pPr algn="l"/>
            <a:r>
              <a:rPr sz="1150" b="1" i="0">
                <a:solidFill>
                  <a:srgbClr val="0B2E4A"/>
                </a:solidFill>
                <a:latin typeface="Calibri"/>
              </a:rPr>
              <a:t/>
            </a:r>
          </a:p>
        </p:txBody>
      </p:sp>
      <p:graphicFrame>
        <p:nvGraphicFramePr>
          <p:cNvPr id="14" name="FMI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r:id="rId4"/>
          </a:graphicData>
        </a:graphic>
      </p:graphicFrame>
      <p:graphicFrame>
        <p:nvGraphicFramePr>
          <p:cNvPr id="15" name="Table 14"/>
          <p:cNvGraphicFramePr>
            <a:graphicFrameLocks noGrp="1"/>
          </p:cNvGraphicFramePr>
          <p:nvPr/>
        </p:nvGraphicFramePr>
        <p:xfrm>
          <a:off x="6858000" y="3203067"/>
          <a:ext cx="5056632" cy="1847088"/>
        </p:xfrm>
        <a:graphic>
          <a:graphicData uri="http://schemas.openxmlformats.org/drawingml/2006/table">
            <a:tbl>
              <a:tblPr firstRow="1" bandRow="1">
                <a:tableStyleId>{5C22544A-7EE6-4342-B048-85BDC9FD1C3A}</a:tableStyleId>
              </a:tblPr>
              <a:tblGrid>
                <a:gridCol w="2130552"/>
                <a:gridCol w="548640"/>
                <a:gridCol w="548640"/>
                <a:gridCol w="548640"/>
                <a:gridCol w="777240"/>
                <a:gridCol w="502920"/>
              </a:tblGrid>
              <a:tr h="230886">
                <a:tc>
                  <a:txBody>
                    <a:bodyPr wrap="square"/>
                    <a:lstStyle/>
                    <a:p>
                      <a:pPr algn="l"/>
                      <a:r>
                        <a:rPr sz="850" b="1">
                          <a:solidFill>
                            <a:srgbClr val="FFFFFF"/>
                          </a:solidFill>
                          <a:latin typeface="Calibri"/>
                        </a:rPr>
                        <a:t>Technology</a:t>
                      </a:r>
                    </a:p>
                  </a:txBody>
                  <a:tcPr marL="36576" marR="36576" marT="9144" marB="9144" anchor="ctr">
                    <a:solidFill>
                      <a:srgbClr val="0B2E4A"/>
                    </a:solidFill>
                  </a:tcPr>
                </a:tc>
                <a:tc>
                  <a:txBody>
                    <a:bodyPr wrap="square"/>
                    <a:lstStyle/>
                    <a:p>
                      <a:pPr algn="ctr"/>
                      <a:r>
                        <a:rPr sz="850" b="1">
                          <a:solidFill>
                            <a:srgbClr val="FFFFFF"/>
                          </a:solidFill>
                          <a:latin typeface="Calibri"/>
                        </a:rPr>
                        <a:t>2021</a:t>
                      </a:r>
                    </a:p>
                  </a:txBody>
                  <a:tcPr marL="36576" marR="36576" marT="9144" marB="9144" anchor="ctr">
                    <a:solidFill>
                      <a:srgbClr val="0B2E4A"/>
                    </a:solidFill>
                  </a:tcPr>
                </a:tc>
                <a:tc>
                  <a:txBody>
                    <a:bodyPr wrap="square"/>
                    <a:lstStyle/>
                    <a:p>
                      <a:pPr algn="ctr"/>
                      <a:r>
                        <a:rPr sz="850" b="1">
                          <a:solidFill>
                            <a:srgbClr val="FFFFFF"/>
                          </a:solidFill>
                          <a:latin typeface="Calibri"/>
                        </a:rPr>
                        <a:t>2026</a:t>
                      </a:r>
                    </a:p>
                  </a:txBody>
                  <a:tcPr marL="36576" marR="36576" marT="9144" marB="9144" anchor="ctr">
                    <a:solidFill>
                      <a:srgbClr val="0B2E4A"/>
                    </a:solidFill>
                  </a:tcPr>
                </a:tc>
                <a:tc>
                  <a:txBody>
                    <a:bodyPr wrap="square"/>
                    <a:lstStyle/>
                    <a:p>
                      <a:pPr algn="ctr"/>
                      <a:r>
                        <a:rPr sz="850" b="1">
                          <a:solidFill>
                            <a:srgbClr val="FFFFFF"/>
                          </a:solidFill>
                          <a:latin typeface="Calibri"/>
                        </a:rPr>
                        <a:t>2036</a:t>
                      </a:r>
                    </a:p>
                  </a:txBody>
                  <a:tcPr marL="36576" marR="36576" marT="9144" marB="9144" anchor="ctr">
                    <a:solidFill>
                      <a:srgbClr val="0B2E4A"/>
                    </a:solidFill>
                  </a:tcPr>
                </a:tc>
                <a:tc>
                  <a:txBody>
                    <a:bodyPr wrap="square"/>
                    <a:lstStyle/>
                    <a:p>
                      <a:pPr algn="ctr"/>
                      <a:r>
                        <a:rPr sz="850" b="1">
                          <a:solidFill>
                            <a:srgbClr val="FFFFFF"/>
                          </a:solidFill>
                          <a:latin typeface="Calibri"/>
                        </a:rPr>
                        <a:t>CAGR 2026 to 2036</a:t>
                      </a:r>
                    </a:p>
                  </a:txBody>
                  <a:tcPr marL="36576" marR="36576" marT="9144" marB="9144" anchor="ctr">
                    <a:solidFill>
                      <a:srgbClr val="0B2E4A"/>
                    </a:solidFill>
                  </a:tcPr>
                </a:tc>
                <a:tc>
                  <a:txBody>
                    <a:bodyPr wrap="square"/>
                    <a:lstStyle/>
                    <a:p>
                      <a:pPr algn="ctr"/>
                      <a:r>
                        <a:rPr sz="850" b="1">
                          <a:solidFill>
                            <a:srgbClr val="FFFFFF"/>
                          </a:solidFill>
                          <a:latin typeface="Calibri"/>
                        </a:rPr>
                        <a:t>Index</a:t>
                      </a:r>
                    </a:p>
                  </a:txBody>
                  <a:tcPr marL="36576" marR="36576" marT="9144" marB="9144" anchor="ctr">
                    <a:solidFill>
                      <a:srgbClr val="0B2E4A"/>
                    </a:solidFill>
                  </a:tcPr>
                </a:tc>
              </a:tr>
              <a:tr h="230886">
                <a:tc>
                  <a:txBody>
                    <a:bodyPr wrap="square"/>
                    <a:lstStyle/>
                    <a:p>
                      <a:pPr algn="l"/>
                      <a:r>
                        <a:rPr sz="850" b="1">
                          <a:solidFill>
                            <a:srgbClr val="1F1F1F"/>
                          </a:solidFill>
                          <a:latin typeface="Calibri"/>
                        </a:rPr>
                        <a:t>Rotary Screw Air Compressor</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230886">
                <a:tc>
                  <a:txBody>
                    <a:bodyPr wrap="square"/>
                    <a:lstStyle/>
                    <a:p>
                      <a:pPr algn="l"/>
                      <a:r>
                        <a:rPr sz="850" b="1">
                          <a:solidFill>
                            <a:srgbClr val="1F1F1F"/>
                          </a:solidFill>
                          <a:latin typeface="Calibri"/>
                        </a:rPr>
                        <a:t>Centrifugal Air Compressor</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4B183"/>
                    </a:solidFill>
                  </a:tcPr>
                </a:tc>
              </a:tr>
              <a:tr h="230886">
                <a:tc>
                  <a:txBody>
                    <a:bodyPr wrap="square"/>
                    <a:lstStyle/>
                    <a:p>
                      <a:pPr algn="l"/>
                      <a:r>
                        <a:rPr sz="850" b="1">
                          <a:solidFill>
                            <a:srgbClr val="1F1F1F"/>
                          </a:solidFill>
                          <a:latin typeface="Calibri"/>
                        </a:rPr>
                        <a:t>Scroll Air Compressor</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230886">
                <a:tc>
                  <a:txBody>
                    <a:bodyPr wrap="square"/>
                    <a:lstStyle/>
                    <a:p>
                      <a:pPr algn="l"/>
                      <a:r>
                        <a:rPr sz="850" b="1">
                          <a:solidFill>
                            <a:srgbClr val="1F1F1F"/>
                          </a:solidFill>
                          <a:latin typeface="Calibri"/>
                        </a:rPr>
                        <a:t>Rotary Vane Air Compressor</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9DC0E0"/>
                    </a:solidFill>
                  </a:tcPr>
                </a:tc>
              </a:tr>
              <a:tr h="230886">
                <a:tc>
                  <a:txBody>
                    <a:bodyPr wrap="square"/>
                    <a:lstStyle/>
                    <a:p>
                      <a:pPr algn="l"/>
                      <a:r>
                        <a:rPr sz="850" b="1">
                          <a:solidFill>
                            <a:srgbClr val="1F1F1F"/>
                          </a:solidFill>
                          <a:latin typeface="Calibri"/>
                        </a:rPr>
                        <a:t>Axial Air Compressor</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9DC0E0"/>
                    </a:solidFill>
                  </a:tcPr>
                </a:tc>
              </a:tr>
              <a:tr h="230886">
                <a:tc>
                  <a:txBody>
                    <a:bodyPr wrap="square"/>
                    <a:lstStyle/>
                    <a:p>
                      <a:pPr algn="l"/>
                      <a:r>
                        <a:rPr sz="850" b="1">
                          <a:solidFill>
                            <a:srgbClr val="1F1F1F"/>
                          </a:solidFill>
                          <a:latin typeface="Calibri"/>
                        </a:rPr>
                        <a:t>Reciprocating (Piston) Air Compressor</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9DC0E0"/>
                    </a:solidFill>
                  </a:tcPr>
                </a:tc>
              </a:tr>
              <a:tr h="230886">
                <a:tc>
                  <a:txBody>
                    <a:bodyPr wrap="square"/>
                    <a:lstStyle/>
                    <a:p>
                      <a:pPr algn="l"/>
                      <a:r>
                        <a:rPr sz="850" b="1">
                          <a:solidFill>
                            <a:srgbClr val="1F1F1F"/>
                          </a:solidFill>
                          <a:latin typeface="Calibri"/>
                        </a:rPr>
                        <a:t>Global Average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r>
            </a:tbl>
          </a:graphicData>
        </a:graphic>
      </p:graphicFrame>
      <p:sp>
        <p:nvSpPr>
          <p:cNvPr id="16" name="Rectangle 15"/>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7" name="Oval 16"/>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18" name="TextBox 17"/>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Hierarchy</a:t>
            </a:r>
          </a:p>
        </p:txBody>
      </p:sp>
      <p:sp>
        <p:nvSpPr>
          <p:cNvPr id="19" name="TextBox 18"/>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0" name="Rectangle 19"/>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1" name="Oval 20"/>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2" name="TextBox 21"/>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Momentum</a:t>
            </a:r>
          </a:p>
        </p:txBody>
      </p:sp>
      <p:sp>
        <p:nvSpPr>
          <p:cNvPr id="23" name="TextBox 22"/>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4" name="Rectangle 23"/>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5" name="Oval 24"/>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6" name="TextBox 25"/>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Outlook</a:t>
            </a:r>
          </a:p>
        </p:txBody>
      </p:sp>
      <p:sp>
        <p:nvSpPr>
          <p:cNvPr id="27" name="TextBox 26"/>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8" name="TextBox 27"/>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TMR analysis. Average price = market value (US$) / market volume (Units). 2021 to 2025 historical, 2026 to 2036 forecast.</a:t>
            </a:r>
          </a:p>
        </p:txBody>
      </p:sp>
      <p:sp>
        <p:nvSpPr>
          <p:cNvPr id="29" name="Rectangle 2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1" name="Picture 30" descr="lock.png"/>
          <p:cNvPicPr>
            <a:picLocks noChangeAspect="1"/>
          </p:cNvPicPr>
          <p:nvPr/>
        </p:nvPicPr>
        <p:blipFill>
          <a:blip r:embed="rId6"/>
          <a:stretch>
            <a:fillRect/>
          </a:stretch>
        </p:blipFill>
        <p:spPr>
          <a:xfrm>
            <a:off x="10283571" y="4002023"/>
            <a:ext cx="330041" cy="480060"/>
          </a:xfrm>
          <a:prstGeom prst="rect">
            <a:avLst/>
          </a:prstGeom>
        </p:spPr>
      </p:pic>
      <p:sp>
        <p:nvSpPr>
          <p:cNvPr id="32" name="TextBox 31"/>
          <p:cNvSpPr txBox="1"/>
          <p:nvPr/>
        </p:nvSpPr>
        <p:spPr>
          <a:xfrm>
            <a:off x="411480" y="1110615"/>
            <a:ext cx="5308128" cy="217169"/>
          </a:xfrm>
          <a:prstGeom prst="rect">
            <a:avLst/>
          </a:prstGeom>
          <a:noFill/>
        </p:spPr>
        <p:txBody>
          <a:bodyPr wrap="none" lIns="0" rIns="0" tIns="0" bIns="0">
            <a:spAutoFit/>
          </a:bodyPr>
          <a:lstStyle/>
          <a:p>
            <a:r>
              <a:rPr sz="1300" b="1">
                <a:solidFill>
                  <a:srgbClr val="FFFFFF"/>
                </a:solidFill>
                <a:latin typeface="Calibri"/>
              </a:rPr>
              <a:t>Rotary Screw Air Compressor commands the highest 2026 price point at US$</a:t>
            </a:r>
          </a:p>
        </p:txBody>
      </p:sp>
      <p:pic>
        <p:nvPicPr>
          <p:cNvPr id="33" name="Picture 32" descr="lock.png"/>
          <p:cNvPicPr>
            <a:picLocks noChangeAspect="1"/>
          </p:cNvPicPr>
          <p:nvPr/>
        </p:nvPicPr>
        <p:blipFill>
          <a:blip r:embed="rId6"/>
          <a:stretch>
            <a:fillRect/>
          </a:stretch>
        </p:blipFill>
        <p:spPr>
          <a:xfrm>
            <a:off x="5672069" y="1099058"/>
            <a:ext cx="152098" cy="221234"/>
          </a:xfrm>
          <a:prstGeom prst="rect">
            <a:avLst/>
          </a:prstGeom>
        </p:spPr>
      </p:pic>
      <p:sp>
        <p:nvSpPr>
          <p:cNvPr id="34" name="TextBox 33"/>
          <p:cNvSpPr txBox="1"/>
          <p:nvPr/>
        </p:nvSpPr>
        <p:spPr>
          <a:xfrm>
            <a:off x="5870019" y="1110615"/>
            <a:ext cx="668883" cy="217169"/>
          </a:xfrm>
          <a:prstGeom prst="rect">
            <a:avLst/>
          </a:prstGeom>
          <a:noFill/>
        </p:spPr>
        <p:txBody>
          <a:bodyPr wrap="none" lIns="0" rIns="0" tIns="0" bIns="0">
            <a:spAutoFit/>
          </a:bodyPr>
          <a:lstStyle/>
          <a:p>
            <a:r>
              <a:rPr sz="1300" b="1">
                <a:solidFill>
                  <a:srgbClr val="FFFFFF"/>
                </a:solidFill>
                <a:latin typeface="Calibri"/>
              </a:rPr>
              <a:t>/Units, a</a:t>
            </a:r>
          </a:p>
        </p:txBody>
      </p:sp>
      <p:pic>
        <p:nvPicPr>
          <p:cNvPr id="35" name="Picture 34" descr="lock.png"/>
          <p:cNvPicPr>
            <a:picLocks noChangeAspect="1"/>
          </p:cNvPicPr>
          <p:nvPr/>
        </p:nvPicPr>
        <p:blipFill>
          <a:blip r:embed="rId6"/>
          <a:stretch>
            <a:fillRect/>
          </a:stretch>
        </p:blipFill>
        <p:spPr>
          <a:xfrm>
            <a:off x="6491363" y="1099058"/>
            <a:ext cx="152098" cy="221234"/>
          </a:xfrm>
          <a:prstGeom prst="rect">
            <a:avLst/>
          </a:prstGeom>
        </p:spPr>
      </p:pic>
      <p:sp>
        <p:nvSpPr>
          <p:cNvPr id="36" name="TextBox 35"/>
          <p:cNvSpPr txBox="1"/>
          <p:nvPr/>
        </p:nvSpPr>
        <p:spPr>
          <a:xfrm>
            <a:off x="6689313" y="1110615"/>
            <a:ext cx="3733874" cy="217169"/>
          </a:xfrm>
          <a:prstGeom prst="rect">
            <a:avLst/>
          </a:prstGeom>
          <a:noFill/>
        </p:spPr>
        <p:txBody>
          <a:bodyPr wrap="none" lIns="0" rIns="0" tIns="0" bIns="0">
            <a:spAutoFit/>
          </a:bodyPr>
          <a:lstStyle/>
          <a:p>
            <a:r>
              <a:rPr sz="1300" b="1">
                <a:solidFill>
                  <a:srgbClr val="FFFFFF"/>
                </a:solidFill>
                <a:latin typeface="Calibri"/>
              </a:rPr>
              <a:t>premium over Reciprocating (Piston) Air Compressor.</a:t>
            </a:r>
          </a:p>
        </p:txBody>
      </p:sp>
      <p:sp>
        <p:nvSpPr>
          <p:cNvPr id="37" name="TextBox 36"/>
          <p:cNvSpPr txBox="1"/>
          <p:nvPr/>
        </p:nvSpPr>
        <p:spPr>
          <a:xfrm>
            <a:off x="6995160" y="1602867"/>
            <a:ext cx="2164334" cy="180289"/>
          </a:xfrm>
          <a:prstGeom prst="rect">
            <a:avLst/>
          </a:prstGeom>
          <a:noFill/>
        </p:spPr>
        <p:txBody>
          <a:bodyPr wrap="none" lIns="0" rIns="0" tIns="0" bIns="0">
            <a:spAutoFit/>
          </a:bodyPr>
          <a:lstStyle/>
          <a:p>
            <a:r>
              <a:rPr sz="1057" b="1">
                <a:solidFill>
                  <a:srgbClr val="0B2E4A"/>
                </a:solidFill>
                <a:latin typeface="Calibri"/>
              </a:rPr>
              <a:t>2026 Price Index vs Global Average (=</a:t>
            </a:r>
          </a:p>
        </p:txBody>
      </p:sp>
      <p:pic>
        <p:nvPicPr>
          <p:cNvPr id="38" name="Picture 37" descr="lock.png"/>
          <p:cNvPicPr>
            <a:picLocks noChangeAspect="1"/>
          </p:cNvPicPr>
          <p:nvPr/>
        </p:nvPicPr>
        <p:blipFill>
          <a:blip r:embed="rId6"/>
          <a:stretch>
            <a:fillRect/>
          </a:stretch>
        </p:blipFill>
        <p:spPr>
          <a:xfrm>
            <a:off x="9106620" y="1593461"/>
            <a:ext cx="123784" cy="180050"/>
          </a:xfrm>
          <a:prstGeom prst="rect">
            <a:avLst/>
          </a:prstGeom>
        </p:spPr>
      </p:pic>
      <p:sp>
        <p:nvSpPr>
          <p:cNvPr id="39" name="TextBox 38"/>
          <p:cNvSpPr txBox="1"/>
          <p:nvPr/>
        </p:nvSpPr>
        <p:spPr>
          <a:xfrm>
            <a:off x="9267721" y="1602867"/>
            <a:ext cx="118189" cy="180289"/>
          </a:xfrm>
          <a:prstGeom prst="rect">
            <a:avLst/>
          </a:prstGeom>
          <a:noFill/>
        </p:spPr>
        <p:txBody>
          <a:bodyPr wrap="none" lIns="0" rIns="0" tIns="0" bIns="0">
            <a:spAutoFit/>
          </a:bodyPr>
          <a:lstStyle/>
          <a:p>
            <a:r>
              <a:rPr sz="1057" b="1">
                <a:solidFill>
                  <a:srgbClr val="0B2E4A"/>
                </a:solidFill>
                <a:latin typeface="Calibri"/>
              </a:rPr>
              <a:t>)</a:t>
            </a:r>
          </a:p>
        </p:txBody>
      </p:sp>
      <p:sp>
        <p:nvSpPr>
          <p:cNvPr id="40" name="TextBox 39"/>
          <p:cNvSpPr txBox="1"/>
          <p:nvPr/>
        </p:nvSpPr>
        <p:spPr>
          <a:xfrm>
            <a:off x="806576" y="5530976"/>
            <a:ext cx="3087253" cy="179069"/>
          </a:xfrm>
          <a:prstGeom prst="rect">
            <a:avLst/>
          </a:prstGeom>
          <a:noFill/>
        </p:spPr>
        <p:txBody>
          <a:bodyPr wrap="none" lIns="0" rIns="0" tIns="0" bIns="0">
            <a:spAutoFit/>
          </a:bodyPr>
          <a:lstStyle/>
          <a:p>
            <a:r>
              <a:rPr sz="1050" b="0">
                <a:solidFill>
                  <a:srgbClr val="1F1F1F"/>
                </a:solidFill>
                <a:latin typeface="Calibri"/>
              </a:rPr>
              <a:t>Rotary Screw Air Compressor sits at the top of the 2026</a:t>
            </a:r>
          </a:p>
        </p:txBody>
      </p:sp>
      <p:sp>
        <p:nvSpPr>
          <p:cNvPr id="41" name="TextBox 40"/>
          <p:cNvSpPr txBox="1"/>
          <p:nvPr/>
        </p:nvSpPr>
        <p:spPr>
          <a:xfrm>
            <a:off x="806576" y="5690996"/>
            <a:ext cx="1493825" cy="179069"/>
          </a:xfrm>
          <a:prstGeom prst="rect">
            <a:avLst/>
          </a:prstGeom>
          <a:noFill/>
        </p:spPr>
        <p:txBody>
          <a:bodyPr wrap="none" lIns="0" rIns="0" tIns="0" bIns="0">
            <a:spAutoFit/>
          </a:bodyPr>
          <a:lstStyle/>
          <a:p>
            <a:r>
              <a:rPr sz="1050" b="0">
                <a:solidFill>
                  <a:srgbClr val="1F1F1F"/>
                </a:solidFill>
                <a:latin typeface="Calibri"/>
              </a:rPr>
              <a:t>price ladder at an index of</a:t>
            </a:r>
          </a:p>
        </p:txBody>
      </p:sp>
      <p:pic>
        <p:nvPicPr>
          <p:cNvPr id="42" name="Picture 41" descr="lock.png"/>
          <p:cNvPicPr>
            <a:picLocks noChangeAspect="1"/>
          </p:cNvPicPr>
          <p:nvPr/>
        </p:nvPicPr>
        <p:blipFill>
          <a:blip r:embed="rId6"/>
          <a:stretch>
            <a:fillRect/>
          </a:stretch>
        </p:blipFill>
        <p:spPr>
          <a:xfrm>
            <a:off x="2247351" y="5681662"/>
            <a:ext cx="122849" cy="178689"/>
          </a:xfrm>
          <a:prstGeom prst="rect">
            <a:avLst/>
          </a:prstGeom>
        </p:spPr>
      </p:pic>
      <p:sp>
        <p:nvSpPr>
          <p:cNvPr id="43" name="TextBox 42"/>
          <p:cNvSpPr txBox="1"/>
          <p:nvPr/>
        </p:nvSpPr>
        <p:spPr>
          <a:xfrm>
            <a:off x="2407233" y="5690996"/>
            <a:ext cx="1204986" cy="179069"/>
          </a:xfrm>
          <a:prstGeom prst="rect">
            <a:avLst/>
          </a:prstGeom>
          <a:noFill/>
        </p:spPr>
        <p:txBody>
          <a:bodyPr wrap="none" lIns="0" rIns="0" tIns="0" bIns="0">
            <a:spAutoFit/>
          </a:bodyPr>
          <a:lstStyle/>
          <a:p>
            <a:r>
              <a:rPr sz="1050" b="0">
                <a:solidFill>
                  <a:srgbClr val="1F1F1F"/>
                </a:solidFill>
                <a:latin typeface="Calibri"/>
              </a:rPr>
              <a:t>, while Reciprocating</a:t>
            </a:r>
          </a:p>
        </p:txBody>
      </p:sp>
      <p:sp>
        <p:nvSpPr>
          <p:cNvPr id="44" name="TextBox 43"/>
          <p:cNvSpPr txBox="1"/>
          <p:nvPr/>
        </p:nvSpPr>
        <p:spPr>
          <a:xfrm>
            <a:off x="806576" y="5851016"/>
            <a:ext cx="1873820" cy="179069"/>
          </a:xfrm>
          <a:prstGeom prst="rect">
            <a:avLst/>
          </a:prstGeom>
          <a:noFill/>
        </p:spPr>
        <p:txBody>
          <a:bodyPr wrap="none" lIns="0" rIns="0" tIns="0" bIns="0">
            <a:spAutoFit/>
          </a:bodyPr>
          <a:lstStyle/>
          <a:p>
            <a:r>
              <a:rPr sz="1050" b="0">
                <a:solidFill>
                  <a:srgbClr val="1F1F1F"/>
                </a:solidFill>
                <a:latin typeface="Calibri"/>
              </a:rPr>
              <a:t>(Piston) Air Compressor trades at</a:t>
            </a:r>
          </a:p>
        </p:txBody>
      </p:sp>
      <p:pic>
        <p:nvPicPr>
          <p:cNvPr id="45" name="Picture 44" descr="lock.png"/>
          <p:cNvPicPr>
            <a:picLocks noChangeAspect="1"/>
          </p:cNvPicPr>
          <p:nvPr/>
        </p:nvPicPr>
        <p:blipFill>
          <a:blip r:embed="rId6"/>
          <a:stretch>
            <a:fillRect/>
          </a:stretch>
        </p:blipFill>
        <p:spPr>
          <a:xfrm>
            <a:off x="2627346" y="5841682"/>
            <a:ext cx="122849" cy="178689"/>
          </a:xfrm>
          <a:prstGeom prst="rect">
            <a:avLst/>
          </a:prstGeom>
        </p:spPr>
      </p:pic>
      <p:sp>
        <p:nvSpPr>
          <p:cNvPr id="46" name="TextBox 45"/>
          <p:cNvSpPr txBox="1"/>
          <p:nvPr/>
        </p:nvSpPr>
        <p:spPr>
          <a:xfrm>
            <a:off x="2787229" y="5851016"/>
            <a:ext cx="1019807" cy="179069"/>
          </a:xfrm>
          <a:prstGeom prst="rect">
            <a:avLst/>
          </a:prstGeom>
          <a:noFill/>
        </p:spPr>
        <p:txBody>
          <a:bodyPr wrap="none" lIns="0" rIns="0" tIns="0" bIns="0">
            <a:spAutoFit/>
          </a:bodyPr>
          <a:lstStyle/>
          <a:p>
            <a:r>
              <a:rPr sz="1050" b="0">
                <a:solidFill>
                  <a:srgbClr val="1F1F1F"/>
                </a:solidFill>
                <a:latin typeface="Calibri"/>
              </a:rPr>
              <a:t>, which keeps the</a:t>
            </a:r>
          </a:p>
        </p:txBody>
      </p:sp>
      <p:sp>
        <p:nvSpPr>
          <p:cNvPr id="47" name="TextBox 46"/>
          <p:cNvSpPr txBox="1"/>
          <p:nvPr/>
        </p:nvSpPr>
        <p:spPr>
          <a:xfrm>
            <a:off x="806576" y="6011036"/>
            <a:ext cx="1652178" cy="179069"/>
          </a:xfrm>
          <a:prstGeom prst="rect">
            <a:avLst/>
          </a:prstGeom>
          <a:noFill/>
        </p:spPr>
        <p:txBody>
          <a:bodyPr wrap="none" lIns="0" rIns="0" tIns="0" bIns="0">
            <a:spAutoFit/>
          </a:bodyPr>
          <a:lstStyle/>
          <a:p>
            <a:r>
              <a:rPr sz="1050" b="0">
                <a:solidFill>
                  <a:srgbClr val="1F1F1F"/>
                </a:solidFill>
                <a:latin typeface="Calibri"/>
              </a:rPr>
              <a:t>full technology spread within</a:t>
            </a:r>
          </a:p>
        </p:txBody>
      </p:sp>
      <p:pic>
        <p:nvPicPr>
          <p:cNvPr id="48" name="Picture 47" descr="lock.png"/>
          <p:cNvPicPr>
            <a:picLocks noChangeAspect="1"/>
          </p:cNvPicPr>
          <p:nvPr/>
        </p:nvPicPr>
        <p:blipFill>
          <a:blip r:embed="rId6"/>
          <a:stretch>
            <a:fillRect/>
          </a:stretch>
        </p:blipFill>
        <p:spPr>
          <a:xfrm>
            <a:off x="2405704" y="6001702"/>
            <a:ext cx="122849" cy="178689"/>
          </a:xfrm>
          <a:prstGeom prst="rect">
            <a:avLst/>
          </a:prstGeom>
        </p:spPr>
      </p:pic>
      <p:sp>
        <p:nvSpPr>
          <p:cNvPr id="49" name="TextBox 48"/>
          <p:cNvSpPr txBox="1"/>
          <p:nvPr/>
        </p:nvSpPr>
        <p:spPr>
          <a:xfrm>
            <a:off x="2565586" y="6011036"/>
            <a:ext cx="109797" cy="179069"/>
          </a:xfrm>
          <a:prstGeom prst="rect">
            <a:avLst/>
          </a:prstGeom>
          <a:noFill/>
        </p:spPr>
        <p:txBody>
          <a:bodyPr wrap="none" lIns="0" rIns="0" tIns="0" bIns="0">
            <a:spAutoFit/>
          </a:bodyPr>
          <a:lstStyle/>
          <a:p>
            <a:r>
              <a:rPr sz="1050" b="0">
                <a:solidFill>
                  <a:srgbClr val="1F1F1F"/>
                </a:solidFill>
                <a:latin typeface="Calibri"/>
              </a:rPr>
              <a:t>.</a:t>
            </a:r>
          </a:p>
        </p:txBody>
      </p:sp>
      <p:sp>
        <p:nvSpPr>
          <p:cNvPr id="50" name="TextBox 49"/>
          <p:cNvSpPr txBox="1"/>
          <p:nvPr/>
        </p:nvSpPr>
        <p:spPr>
          <a:xfrm>
            <a:off x="4732401" y="5530976"/>
            <a:ext cx="3058864" cy="179069"/>
          </a:xfrm>
          <a:prstGeom prst="rect">
            <a:avLst/>
          </a:prstGeom>
          <a:noFill/>
        </p:spPr>
        <p:txBody>
          <a:bodyPr wrap="none" lIns="0" rIns="0" tIns="0" bIns="0">
            <a:spAutoFit/>
          </a:bodyPr>
          <a:lstStyle/>
          <a:p>
            <a:r>
              <a:rPr sz="1050" b="0">
                <a:solidFill>
                  <a:srgbClr val="1F1F1F"/>
                </a:solidFill>
                <a:latin typeface="Calibri"/>
              </a:rPr>
              <a:t>Reciprocating (Piston) Air Compressor posts the fastest</a:t>
            </a:r>
          </a:p>
        </p:txBody>
      </p:sp>
      <p:sp>
        <p:nvSpPr>
          <p:cNvPr id="51" name="TextBox 50"/>
          <p:cNvSpPr txBox="1"/>
          <p:nvPr/>
        </p:nvSpPr>
        <p:spPr>
          <a:xfrm>
            <a:off x="4732401" y="5690996"/>
            <a:ext cx="999492" cy="179069"/>
          </a:xfrm>
          <a:prstGeom prst="rect">
            <a:avLst/>
          </a:prstGeom>
          <a:noFill/>
        </p:spPr>
        <p:txBody>
          <a:bodyPr wrap="none" lIns="0" rIns="0" tIns="0" bIns="0">
            <a:spAutoFit/>
          </a:bodyPr>
          <a:lstStyle/>
          <a:p>
            <a:r>
              <a:rPr sz="1050" b="0">
                <a:solidFill>
                  <a:srgbClr val="1F1F1F"/>
                </a:solidFill>
                <a:latin typeface="Calibri"/>
              </a:rPr>
              <a:t>price growth at a</a:t>
            </a:r>
          </a:p>
        </p:txBody>
      </p:sp>
      <p:pic>
        <p:nvPicPr>
          <p:cNvPr id="52" name="Picture 51" descr="lock.png"/>
          <p:cNvPicPr>
            <a:picLocks noChangeAspect="1"/>
          </p:cNvPicPr>
          <p:nvPr/>
        </p:nvPicPr>
        <p:blipFill>
          <a:blip r:embed="rId6"/>
          <a:stretch>
            <a:fillRect/>
          </a:stretch>
        </p:blipFill>
        <p:spPr>
          <a:xfrm>
            <a:off x="5678842" y="5681662"/>
            <a:ext cx="122849" cy="178689"/>
          </a:xfrm>
          <a:prstGeom prst="rect">
            <a:avLst/>
          </a:prstGeom>
        </p:spPr>
      </p:pic>
      <p:sp>
        <p:nvSpPr>
          <p:cNvPr id="53" name="TextBox 52"/>
          <p:cNvSpPr txBox="1"/>
          <p:nvPr/>
        </p:nvSpPr>
        <p:spPr>
          <a:xfrm>
            <a:off x="5838725" y="5690996"/>
            <a:ext cx="1760248" cy="179069"/>
          </a:xfrm>
          <a:prstGeom prst="rect">
            <a:avLst/>
          </a:prstGeom>
          <a:noFill/>
        </p:spPr>
        <p:txBody>
          <a:bodyPr wrap="none" lIns="0" rIns="0" tIns="0" bIns="0">
            <a:spAutoFit/>
          </a:bodyPr>
          <a:lstStyle/>
          <a:p>
            <a:r>
              <a:rPr sz="1050" b="0">
                <a:solidFill>
                  <a:srgbClr val="1F1F1F"/>
                </a:solidFill>
                <a:latin typeface="Calibri"/>
              </a:rPr>
              <a:t>CAGR between 2026 and 2036,</a:t>
            </a:r>
          </a:p>
        </p:txBody>
      </p:sp>
      <p:sp>
        <p:nvSpPr>
          <p:cNvPr id="54" name="TextBox 53"/>
          <p:cNvSpPr txBox="1"/>
          <p:nvPr/>
        </p:nvSpPr>
        <p:spPr>
          <a:xfrm>
            <a:off x="4732401" y="5851016"/>
            <a:ext cx="897656" cy="179069"/>
          </a:xfrm>
          <a:prstGeom prst="rect">
            <a:avLst/>
          </a:prstGeom>
          <a:noFill/>
        </p:spPr>
        <p:txBody>
          <a:bodyPr wrap="none" lIns="0" rIns="0" tIns="0" bIns="0">
            <a:spAutoFit/>
          </a:bodyPr>
          <a:lstStyle/>
          <a:p>
            <a:r>
              <a:rPr sz="1050" b="0">
                <a:solidFill>
                  <a:srgbClr val="1F1F1F"/>
                </a:solidFill>
                <a:latin typeface="Calibri"/>
              </a:rPr>
              <a:t>compared with</a:t>
            </a:r>
          </a:p>
        </p:txBody>
      </p:sp>
      <p:pic>
        <p:nvPicPr>
          <p:cNvPr id="55" name="Picture 54" descr="lock.png"/>
          <p:cNvPicPr>
            <a:picLocks noChangeAspect="1"/>
          </p:cNvPicPr>
          <p:nvPr/>
        </p:nvPicPr>
        <p:blipFill>
          <a:blip r:embed="rId6"/>
          <a:stretch>
            <a:fillRect/>
          </a:stretch>
        </p:blipFill>
        <p:spPr>
          <a:xfrm>
            <a:off x="5577007" y="5841682"/>
            <a:ext cx="122849" cy="178689"/>
          </a:xfrm>
          <a:prstGeom prst="rect">
            <a:avLst/>
          </a:prstGeom>
        </p:spPr>
      </p:pic>
      <p:sp>
        <p:nvSpPr>
          <p:cNvPr id="56" name="TextBox 55"/>
          <p:cNvSpPr txBox="1"/>
          <p:nvPr/>
        </p:nvSpPr>
        <p:spPr>
          <a:xfrm>
            <a:off x="5736889" y="5851016"/>
            <a:ext cx="1879289" cy="179069"/>
          </a:xfrm>
          <a:prstGeom prst="rect">
            <a:avLst/>
          </a:prstGeom>
          <a:noFill/>
        </p:spPr>
        <p:txBody>
          <a:bodyPr wrap="none" lIns="0" rIns="0" tIns="0" bIns="0">
            <a:spAutoFit/>
          </a:bodyPr>
          <a:lstStyle/>
          <a:p>
            <a:r>
              <a:rPr sz="1050" b="0">
                <a:solidFill>
                  <a:srgbClr val="1F1F1F"/>
                </a:solidFill>
                <a:latin typeface="Calibri"/>
              </a:rPr>
              <a:t>for Rotary Screw Air Compressor.</a:t>
            </a:r>
          </a:p>
        </p:txBody>
      </p:sp>
      <p:sp>
        <p:nvSpPr>
          <p:cNvPr id="57" name="TextBox 56"/>
          <p:cNvSpPr txBox="1"/>
          <p:nvPr/>
        </p:nvSpPr>
        <p:spPr>
          <a:xfrm>
            <a:off x="8658225" y="5530976"/>
            <a:ext cx="2235844" cy="179069"/>
          </a:xfrm>
          <a:prstGeom prst="rect">
            <a:avLst/>
          </a:prstGeom>
          <a:noFill/>
        </p:spPr>
        <p:txBody>
          <a:bodyPr wrap="none" lIns="0" rIns="0" tIns="0" bIns="0">
            <a:spAutoFit/>
          </a:bodyPr>
          <a:lstStyle/>
          <a:p>
            <a:r>
              <a:rPr sz="1050" b="0">
                <a:solidFill>
                  <a:srgbClr val="1F1F1F"/>
                </a:solidFill>
                <a:latin typeface="Calibri"/>
              </a:rPr>
              <a:t>The Global average price rises from US$</a:t>
            </a:r>
          </a:p>
        </p:txBody>
      </p:sp>
      <p:pic>
        <p:nvPicPr>
          <p:cNvPr id="58" name="Picture 57" descr="lock.png"/>
          <p:cNvPicPr>
            <a:picLocks noChangeAspect="1"/>
          </p:cNvPicPr>
          <p:nvPr/>
        </p:nvPicPr>
        <p:blipFill>
          <a:blip r:embed="rId6"/>
          <a:stretch>
            <a:fillRect/>
          </a:stretch>
        </p:blipFill>
        <p:spPr>
          <a:xfrm>
            <a:off x="10841019" y="5521642"/>
            <a:ext cx="122849" cy="178689"/>
          </a:xfrm>
          <a:prstGeom prst="rect">
            <a:avLst/>
          </a:prstGeom>
        </p:spPr>
      </p:pic>
      <p:sp>
        <p:nvSpPr>
          <p:cNvPr id="59" name="TextBox 58"/>
          <p:cNvSpPr txBox="1"/>
          <p:nvPr/>
        </p:nvSpPr>
        <p:spPr>
          <a:xfrm>
            <a:off x="11000901" y="5530976"/>
            <a:ext cx="542143" cy="179069"/>
          </a:xfrm>
          <a:prstGeom prst="rect">
            <a:avLst/>
          </a:prstGeom>
          <a:noFill/>
        </p:spPr>
        <p:txBody>
          <a:bodyPr wrap="none" lIns="0" rIns="0" tIns="0" bIns="0">
            <a:spAutoFit/>
          </a:bodyPr>
          <a:lstStyle/>
          <a:p>
            <a:r>
              <a:rPr sz="1050" b="0">
                <a:solidFill>
                  <a:srgbClr val="1F1F1F"/>
                </a:solidFill>
                <a:latin typeface="Calibri"/>
              </a:rPr>
              <a:t>/Units in</a:t>
            </a:r>
          </a:p>
        </p:txBody>
      </p:sp>
      <p:sp>
        <p:nvSpPr>
          <p:cNvPr id="60" name="TextBox 59"/>
          <p:cNvSpPr txBox="1"/>
          <p:nvPr/>
        </p:nvSpPr>
        <p:spPr>
          <a:xfrm>
            <a:off x="8658225" y="5690996"/>
            <a:ext cx="737220" cy="179069"/>
          </a:xfrm>
          <a:prstGeom prst="rect">
            <a:avLst/>
          </a:prstGeom>
          <a:noFill/>
        </p:spPr>
        <p:txBody>
          <a:bodyPr wrap="none" lIns="0" rIns="0" tIns="0" bIns="0">
            <a:spAutoFit/>
          </a:bodyPr>
          <a:lstStyle/>
          <a:p>
            <a:r>
              <a:rPr sz="1050" b="0">
                <a:solidFill>
                  <a:srgbClr val="1F1F1F"/>
                </a:solidFill>
                <a:latin typeface="Calibri"/>
              </a:rPr>
              <a:t>2026 to US$</a:t>
            </a:r>
          </a:p>
        </p:txBody>
      </p:sp>
      <p:pic>
        <p:nvPicPr>
          <p:cNvPr id="61" name="Picture 60" descr="lock.png"/>
          <p:cNvPicPr>
            <a:picLocks noChangeAspect="1"/>
          </p:cNvPicPr>
          <p:nvPr/>
        </p:nvPicPr>
        <p:blipFill>
          <a:blip r:embed="rId6"/>
          <a:stretch>
            <a:fillRect/>
          </a:stretch>
        </p:blipFill>
        <p:spPr>
          <a:xfrm>
            <a:off x="9342394" y="5681662"/>
            <a:ext cx="122849" cy="178689"/>
          </a:xfrm>
          <a:prstGeom prst="rect">
            <a:avLst/>
          </a:prstGeom>
        </p:spPr>
      </p:pic>
      <p:sp>
        <p:nvSpPr>
          <p:cNvPr id="62" name="TextBox 61"/>
          <p:cNvSpPr txBox="1"/>
          <p:nvPr/>
        </p:nvSpPr>
        <p:spPr>
          <a:xfrm>
            <a:off x="9502276" y="5690996"/>
            <a:ext cx="2270224" cy="179069"/>
          </a:xfrm>
          <a:prstGeom prst="rect">
            <a:avLst/>
          </a:prstGeom>
          <a:noFill/>
        </p:spPr>
        <p:txBody>
          <a:bodyPr wrap="none" lIns="0" rIns="0" tIns="0" bIns="0">
            <a:spAutoFit/>
          </a:bodyPr>
          <a:lstStyle/>
          <a:p>
            <a:r>
              <a:rPr sz="1050" b="0">
                <a:solidFill>
                  <a:srgbClr val="1F1F1F"/>
                </a:solidFill>
                <a:latin typeface="Calibri"/>
              </a:rPr>
              <a:t>/Units in 2036, and the gap between the</a:t>
            </a:r>
          </a:p>
        </p:txBody>
      </p:sp>
      <p:sp>
        <p:nvSpPr>
          <p:cNvPr id="63" name="TextBox 62"/>
          <p:cNvSpPr txBox="1"/>
          <p:nvPr/>
        </p:nvSpPr>
        <p:spPr>
          <a:xfrm>
            <a:off x="8658225" y="5851016"/>
            <a:ext cx="2780444" cy="179069"/>
          </a:xfrm>
          <a:prstGeom prst="rect">
            <a:avLst/>
          </a:prstGeom>
          <a:noFill/>
        </p:spPr>
        <p:txBody>
          <a:bodyPr wrap="none" lIns="0" rIns="0" tIns="0" bIns="0">
            <a:spAutoFit/>
          </a:bodyPr>
          <a:lstStyle/>
          <a:p>
            <a:r>
              <a:rPr sz="1050" b="0">
                <a:solidFill>
                  <a:srgbClr val="1F1F1F"/>
                </a:solidFill>
                <a:latin typeface="Calibri"/>
              </a:rPr>
              <a:t>highest and lowest priced technology moves from</a:t>
            </a:r>
          </a:p>
        </p:txBody>
      </p:sp>
      <p:pic>
        <p:nvPicPr>
          <p:cNvPr id="64" name="Picture 63" descr="lock.png"/>
          <p:cNvPicPr>
            <a:picLocks noChangeAspect="1"/>
          </p:cNvPicPr>
          <p:nvPr/>
        </p:nvPicPr>
        <p:blipFill>
          <a:blip r:embed="rId6"/>
          <a:stretch>
            <a:fillRect/>
          </a:stretch>
        </p:blipFill>
        <p:spPr>
          <a:xfrm>
            <a:off x="11385618" y="5841682"/>
            <a:ext cx="122849" cy="178689"/>
          </a:xfrm>
          <a:prstGeom prst="rect">
            <a:avLst/>
          </a:prstGeom>
        </p:spPr>
      </p:pic>
      <p:sp>
        <p:nvSpPr>
          <p:cNvPr id="65" name="TextBox 64"/>
          <p:cNvSpPr txBox="1"/>
          <p:nvPr/>
        </p:nvSpPr>
        <p:spPr>
          <a:xfrm>
            <a:off x="11545500" y="5851016"/>
            <a:ext cx="176993" cy="179069"/>
          </a:xfrm>
          <a:prstGeom prst="rect">
            <a:avLst/>
          </a:prstGeom>
          <a:noFill/>
        </p:spPr>
        <p:txBody>
          <a:bodyPr wrap="none" lIns="0" rIns="0" tIns="0" bIns="0">
            <a:spAutoFit/>
          </a:bodyPr>
          <a:lstStyle/>
          <a:p>
            <a:r>
              <a:rPr sz="1050" b="0">
                <a:solidFill>
                  <a:srgbClr val="1F1F1F"/>
                </a:solidFill>
                <a:latin typeface="Calibri"/>
              </a:rPr>
              <a:t>in</a:t>
            </a:r>
          </a:p>
        </p:txBody>
      </p:sp>
      <p:sp>
        <p:nvSpPr>
          <p:cNvPr id="66" name="TextBox 65"/>
          <p:cNvSpPr txBox="1"/>
          <p:nvPr/>
        </p:nvSpPr>
        <p:spPr>
          <a:xfrm>
            <a:off x="8658225" y="6011036"/>
            <a:ext cx="492397" cy="179069"/>
          </a:xfrm>
          <a:prstGeom prst="rect">
            <a:avLst/>
          </a:prstGeom>
          <a:noFill/>
        </p:spPr>
        <p:txBody>
          <a:bodyPr wrap="none" lIns="0" rIns="0" tIns="0" bIns="0">
            <a:spAutoFit/>
          </a:bodyPr>
          <a:lstStyle/>
          <a:p>
            <a:r>
              <a:rPr sz="1050" b="0">
                <a:solidFill>
                  <a:srgbClr val="1F1F1F"/>
                </a:solidFill>
                <a:latin typeface="Calibri"/>
              </a:rPr>
              <a:t>2021 to</a:t>
            </a:r>
          </a:p>
        </p:txBody>
      </p:sp>
      <p:pic>
        <p:nvPicPr>
          <p:cNvPr id="67" name="Picture 66" descr="lock.png"/>
          <p:cNvPicPr>
            <a:picLocks noChangeAspect="1"/>
          </p:cNvPicPr>
          <p:nvPr/>
        </p:nvPicPr>
        <p:blipFill>
          <a:blip r:embed="rId6"/>
          <a:stretch>
            <a:fillRect/>
          </a:stretch>
        </p:blipFill>
        <p:spPr>
          <a:xfrm>
            <a:off x="9097572" y="6001702"/>
            <a:ext cx="122849" cy="178689"/>
          </a:xfrm>
          <a:prstGeom prst="rect">
            <a:avLst/>
          </a:prstGeom>
        </p:spPr>
      </p:pic>
      <p:sp>
        <p:nvSpPr>
          <p:cNvPr id="68" name="TextBox 67"/>
          <p:cNvSpPr txBox="1"/>
          <p:nvPr/>
        </p:nvSpPr>
        <p:spPr>
          <a:xfrm>
            <a:off x="9257454" y="6011036"/>
            <a:ext cx="511671" cy="179069"/>
          </a:xfrm>
          <a:prstGeom prst="rect">
            <a:avLst/>
          </a:prstGeom>
          <a:noFill/>
        </p:spPr>
        <p:txBody>
          <a:bodyPr wrap="none" lIns="0" rIns="0" tIns="0" bIns="0">
            <a:spAutoFit/>
          </a:bodyPr>
          <a:lstStyle/>
          <a:p>
            <a:r>
              <a:rPr sz="1050" b="0">
                <a:solidFill>
                  <a:srgbClr val="1F1F1F"/>
                </a:solidFill>
                <a:latin typeface="Calibri"/>
              </a:rPr>
              <a:t>in 2036.</a:t>
            </a:r>
          </a:p>
        </p:txBody>
      </p:sp>
      <p:pic>
        <p:nvPicPr>
          <p:cNvPr id="69" name="Picture 68" descr="lock.png"/>
          <p:cNvPicPr>
            <a:picLocks noChangeAspect="1"/>
          </p:cNvPicPr>
          <p:nvPr/>
        </p:nvPicPr>
        <p:blipFill>
          <a:blip r:embed="rId6"/>
          <a:stretch>
            <a:fillRect/>
          </a:stretch>
        </p:blipFill>
        <p:spPr>
          <a:xfrm>
            <a:off x="3418190" y="3048804"/>
            <a:ext cx="454926" cy="661711"/>
          </a:xfrm>
          <a:prstGeom prst="rect">
            <a:avLst/>
          </a:prstGeom>
        </p:spPr>
      </p:pic>
      <p:pic>
        <p:nvPicPr>
          <p:cNvPr id="70" name="Picture 69" descr="lock.png"/>
          <p:cNvPicPr>
            <a:picLocks noChangeAspect="1"/>
          </p:cNvPicPr>
          <p:nvPr/>
        </p:nvPicPr>
        <p:blipFill>
          <a:blip r:embed="rId6"/>
          <a:stretch>
            <a:fillRect/>
          </a:stretch>
        </p:blipFill>
        <p:spPr>
          <a:xfrm>
            <a:off x="9403270" y="2219134"/>
            <a:ext cx="256698" cy="373379"/>
          </a:xfrm>
          <a:prstGeom prst="rect">
            <a:avLst/>
          </a:prstGeom>
        </p:spPr>
      </p:pic>
      <p:sp>
        <p:nvSpPr>
          <p:cNvPr id="71" name="lockshield_10"/>
          <p:cNvSpPr/>
          <p:nvPr/>
        </p:nvSpPr>
        <p:spPr>
          <a:xfrm>
            <a:off x="347472" y="1831467"/>
            <a:ext cx="6309360" cy="3182112"/>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lockshield_14"/>
          <p:cNvSpPr/>
          <p:nvPr/>
        </p:nvSpPr>
        <p:spPr>
          <a:xfrm>
            <a:off x="6903720" y="1785747"/>
            <a:ext cx="4965192" cy="132588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Pricing Assessment: Region Benchmarking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 average price and price range across technologys, 2026 (US$/Units)</a:t>
            </a:r>
          </a:p>
        </p:txBody>
      </p:sp>
      <p:sp>
        <p:nvSpPr>
          <p:cNvPr id="7" name="Rectangle 6"/>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8" name="Rectangle 7"/>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9" name="TextBox 8"/>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Range Across Technologys by Region (US$/Units), Ranked by Average</a:t>
            </a:r>
          </a:p>
        </p:txBody>
      </p:sp>
      <p:graphicFrame>
        <p:nvGraphicFramePr>
          <p:cNvPr id="10" name="FMI Open Chart"/>
          <p:cNvGraphicFramePr>
            <a:graphicFrameLocks noGrp="1"/>
          </p:cNvGraphicFramePr>
          <p:nvPr/>
        </p:nvGraphicFramePr>
        <p:xfrm>
          <a:off x="347472" y="2014347"/>
          <a:ext cx="7406640" cy="3017520"/>
        </p:xfrm>
        <a:graphic>
          <a:graphicData uri="http://schemas.openxmlformats.org/drawingml/2006/chart">
            <c:chart xmlns:c="http://schemas.openxmlformats.org/drawingml/2006/chart" r:id="rId3"/>
          </a:graphicData>
        </a:graphic>
      </p:graphicFrame>
      <p:sp>
        <p:nvSpPr>
          <p:cNvPr id="11" name="TextBox 10"/>
          <p:cNvSpPr txBox="1"/>
          <p:nvPr/>
        </p:nvSpPr>
        <p:spPr>
          <a:xfrm>
            <a:off x="384048" y="1804035"/>
            <a:ext cx="7223760" cy="219075"/>
          </a:xfrm>
          <a:prstGeom prst="rect">
            <a:avLst/>
          </a:prstGeom>
          <a:noFill/>
        </p:spPr>
        <p:txBody>
          <a:bodyPr wrap="square" anchor="t" lIns="27432" rIns="27432" tIns="27432" bIns="27432">
            <a:spAutoFit/>
          </a:bodyPr>
          <a:lstStyle/>
          <a:p>
            <a:pPr algn="l"/>
            <a:r>
              <a:rPr sz="850" b="0" i="1">
                <a:solidFill>
                  <a:srgbClr val="59636E"/>
                </a:solidFill>
                <a:latin typeface="Calibri"/>
              </a:rPr>
              <a:t/>
            </a:r>
          </a:p>
        </p:txBody>
      </p:sp>
      <p:sp>
        <p:nvSpPr>
          <p:cNvPr id="12" name="Rectangle 11"/>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13" name="TextBox 12"/>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Premium and Discount Markets</a:t>
            </a:r>
          </a:p>
        </p:txBody>
      </p:sp>
      <p:graphicFrame>
        <p:nvGraphicFramePr>
          <p:cNvPr id="14" name="Table 13"/>
          <p:cNvGraphicFramePr>
            <a:graphicFrameLocks noGrp="1"/>
          </p:cNvGraphicFramePr>
          <p:nvPr/>
        </p:nvGraphicFramePr>
        <p:xfrm>
          <a:off x="8046720" y="1868043"/>
          <a:ext cx="3776472" cy="3090675"/>
        </p:xfrm>
        <a:graphic>
          <a:graphicData uri="http://schemas.openxmlformats.org/drawingml/2006/table">
            <a:tbl>
              <a:tblPr firstRow="1" bandRow="1">
                <a:tableStyleId>{5C22544A-7EE6-4342-B048-85BDC9FD1C3A}</a:tableStyleId>
              </a:tblPr>
              <a:tblGrid>
                <a:gridCol w="1417320"/>
                <a:gridCol w="786384"/>
                <a:gridCol w="658368"/>
                <a:gridCol w="914400"/>
              </a:tblGrid>
              <a:tr h="441525">
                <a:tc>
                  <a:txBody>
                    <a:bodyPr wrap="square"/>
                    <a:lstStyle/>
                    <a:p>
                      <a:pPr algn="l"/>
                      <a:r>
                        <a:rPr sz="900" b="1">
                          <a:solidFill>
                            <a:srgbClr val="FFFFFF"/>
                          </a:solidFill>
                          <a:latin typeface="Calibri"/>
                        </a:rPr>
                        <a:t>Region</a:t>
                      </a:r>
                    </a:p>
                  </a:txBody>
                  <a:tcPr marL="36576" marR="36576" marT="9144" marB="9144" anchor="ctr">
                    <a:solidFill>
                      <a:srgbClr val="0B2E4A"/>
                    </a:solidFill>
                  </a:tcPr>
                </a:tc>
                <a:tc>
                  <a:txBody>
                    <a:bodyPr wrap="square"/>
                    <a:lstStyle/>
                    <a:p>
                      <a:pPr algn="ctr"/>
                      <a:r>
                        <a:rPr sz="900" b="1">
                          <a:solidFill>
                            <a:srgbClr val="FFFFFF"/>
                          </a:solidFill>
                          <a:latin typeface="Calibri"/>
                        </a:rPr>
                        <a:t>Avg. 2026</a:t>
                      </a:r>
                    </a:p>
                  </a:txBody>
                  <a:tcPr marL="36576" marR="36576" marT="9144" marB="9144" anchor="ctr">
                    <a:solidFill>
                      <a:srgbClr val="0B2E4A"/>
                    </a:solidFill>
                  </a:tcPr>
                </a:tc>
                <a:tc>
                  <a:txBody>
                    <a:bodyPr wrap="square"/>
                    <a:lstStyle/>
                    <a:p>
                      <a:pPr algn="ctr"/>
                      <a:r>
                        <a:rPr sz="900" b="1">
                          <a:solidFill>
                            <a:srgbClr val="FFFFFF"/>
                          </a:solidFill>
                          <a:latin typeface="Calibri"/>
                        </a:rPr>
                        <a:t>Index</a:t>
                      </a:r>
                    </a:p>
                  </a:txBody>
                  <a:tcPr marL="36576" marR="36576" marT="9144" marB="9144" anchor="ctr">
                    <a:solidFill>
                      <a:srgbClr val="0B2E4A"/>
                    </a:solidFill>
                  </a:tcPr>
                </a:tc>
                <a:tc>
                  <a:txBody>
                    <a:bodyPr wrap="square"/>
                    <a:lstStyle/>
                    <a:p>
                      <a:pPr algn="ctr"/>
                      <a:r>
                        <a:rPr sz="900" b="1">
                          <a:solidFill>
                            <a:srgbClr val="FFFFFF"/>
                          </a:solidFill>
                          <a:latin typeface="Calibri"/>
                        </a:rPr>
                        <a:t>CAGR 2026 to 2036</a:t>
                      </a:r>
                    </a:p>
                  </a:txBody>
                  <a:tcPr marL="36576" marR="36576" marT="9144" marB="9144" anchor="ctr">
                    <a:solidFill>
                      <a:srgbClr val="0B2E4A"/>
                    </a:solidFill>
                  </a:tcPr>
                </a:tc>
              </a:tr>
              <a:tr h="441525">
                <a:tc>
                  <a:txBody>
                    <a:bodyPr wrap="square"/>
                    <a:lstStyle/>
                    <a:p>
                      <a:pPr algn="l"/>
                      <a:r>
                        <a:rPr sz="900" b="1">
                          <a:solidFill>
                            <a:srgbClr val="1F1F1F"/>
                          </a:solidFill>
                          <a:latin typeface="Calibri"/>
                        </a:rPr>
                        <a:t>North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Western Europe</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Eastern Europe</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Middle East &amp; Africa</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 Asia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South Asia &amp; Pacific</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5" name="Rectangle 14"/>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6" name="Oval 15"/>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17" name="TextBox 16"/>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Region Spread</a:t>
            </a:r>
          </a:p>
        </p:txBody>
      </p:sp>
      <p:sp>
        <p:nvSpPr>
          <p:cNvPr id="18" name="TextBox 17"/>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19" name="Rectangle 18"/>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0" name="Oval 19"/>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1" name="TextBox 20"/>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Growth Leader</a:t>
            </a:r>
          </a:p>
        </p:txBody>
      </p:sp>
      <p:sp>
        <p:nvSpPr>
          <p:cNvPr id="22" name="TextBox 21"/>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3" name="Rectangle 22"/>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4" name="Oval 23"/>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5" name="TextBox 24"/>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Mix Exposure</a:t>
            </a:r>
          </a:p>
        </p:txBody>
      </p:sp>
      <p:sp>
        <p:nvSpPr>
          <p:cNvPr id="26" name="TextBox 25"/>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7" name="TextBox 26"/>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TMR analysis. Range = lowest to highest technology price in each region; ranked by average price. Other geographies grouped as 'Other' are excluded from the ranking.</a:t>
            </a:r>
          </a:p>
        </p:txBody>
      </p:sp>
      <p:sp>
        <p:nvSpPr>
          <p:cNvPr id="28" name="Rectangle 2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0" name="Picture 29" descr="lock.png"/>
          <p:cNvPicPr>
            <a:picLocks noChangeAspect="1"/>
          </p:cNvPicPr>
          <p:nvPr/>
        </p:nvPicPr>
        <p:blipFill>
          <a:blip r:embed="rId5"/>
          <a:stretch>
            <a:fillRect/>
          </a:stretch>
        </p:blipFill>
        <p:spPr>
          <a:xfrm>
            <a:off x="10462494" y="3375398"/>
            <a:ext cx="355774" cy="517489"/>
          </a:xfrm>
          <a:prstGeom prst="rect">
            <a:avLst/>
          </a:prstGeom>
        </p:spPr>
      </p:pic>
      <p:sp>
        <p:nvSpPr>
          <p:cNvPr id="31" name="TextBox 30"/>
          <p:cNvSpPr txBox="1"/>
          <p:nvPr/>
        </p:nvSpPr>
        <p:spPr>
          <a:xfrm>
            <a:off x="411480" y="1110615"/>
            <a:ext cx="3985393" cy="217169"/>
          </a:xfrm>
          <a:prstGeom prst="rect">
            <a:avLst/>
          </a:prstGeom>
          <a:noFill/>
        </p:spPr>
        <p:txBody>
          <a:bodyPr wrap="none" lIns="0" rIns="0" tIns="0" bIns="0">
            <a:spAutoFit/>
          </a:bodyPr>
          <a:lstStyle/>
          <a:p>
            <a:r>
              <a:rPr sz="1300" b="1">
                <a:solidFill>
                  <a:srgbClr val="FFFFFF"/>
                </a:solidFill>
                <a:latin typeface="Calibri"/>
              </a:rPr>
              <a:t>North America is the most premium Global region at US$</a:t>
            </a:r>
          </a:p>
        </p:txBody>
      </p:sp>
      <p:pic>
        <p:nvPicPr>
          <p:cNvPr id="32" name="Picture 31" descr="lock.png"/>
          <p:cNvPicPr>
            <a:picLocks noChangeAspect="1"/>
          </p:cNvPicPr>
          <p:nvPr/>
        </p:nvPicPr>
        <p:blipFill>
          <a:blip r:embed="rId5"/>
          <a:stretch>
            <a:fillRect/>
          </a:stretch>
        </p:blipFill>
        <p:spPr>
          <a:xfrm>
            <a:off x="4349334" y="1099058"/>
            <a:ext cx="152098" cy="221234"/>
          </a:xfrm>
          <a:prstGeom prst="rect">
            <a:avLst/>
          </a:prstGeom>
        </p:spPr>
      </p:pic>
      <p:sp>
        <p:nvSpPr>
          <p:cNvPr id="33" name="TextBox 32"/>
          <p:cNvSpPr txBox="1"/>
          <p:nvPr/>
        </p:nvSpPr>
        <p:spPr>
          <a:xfrm>
            <a:off x="4547284" y="1110615"/>
            <a:ext cx="1209005" cy="217169"/>
          </a:xfrm>
          <a:prstGeom prst="rect">
            <a:avLst/>
          </a:prstGeom>
          <a:noFill/>
        </p:spPr>
        <p:txBody>
          <a:bodyPr wrap="none" lIns="0" rIns="0" tIns="0" bIns="0">
            <a:spAutoFit/>
          </a:bodyPr>
          <a:lstStyle/>
          <a:p>
            <a:r>
              <a:rPr sz="1300" b="1">
                <a:solidFill>
                  <a:srgbClr val="FFFFFF"/>
                </a:solidFill>
                <a:latin typeface="Calibri"/>
              </a:rPr>
              <a:t>/Units in 2026, +</a:t>
            </a:r>
          </a:p>
        </p:txBody>
      </p:sp>
      <p:pic>
        <p:nvPicPr>
          <p:cNvPr id="34" name="Picture 33" descr="lock.png"/>
          <p:cNvPicPr>
            <a:picLocks noChangeAspect="1"/>
          </p:cNvPicPr>
          <p:nvPr/>
        </p:nvPicPr>
        <p:blipFill>
          <a:blip r:embed="rId5"/>
          <a:stretch>
            <a:fillRect/>
          </a:stretch>
        </p:blipFill>
        <p:spPr>
          <a:xfrm>
            <a:off x="5708750" y="1099058"/>
            <a:ext cx="152098" cy="221234"/>
          </a:xfrm>
          <a:prstGeom prst="rect">
            <a:avLst/>
          </a:prstGeom>
        </p:spPr>
      </p:pic>
      <p:sp>
        <p:nvSpPr>
          <p:cNvPr id="35" name="TextBox 34"/>
          <p:cNvSpPr txBox="1"/>
          <p:nvPr/>
        </p:nvSpPr>
        <p:spPr>
          <a:xfrm>
            <a:off x="5906700" y="1110615"/>
            <a:ext cx="5071119" cy="217169"/>
          </a:xfrm>
          <a:prstGeom prst="rect">
            <a:avLst/>
          </a:prstGeom>
          <a:noFill/>
        </p:spPr>
        <p:txBody>
          <a:bodyPr wrap="none" lIns="0" rIns="0" tIns="0" bIns="0">
            <a:spAutoFit/>
          </a:bodyPr>
          <a:lstStyle/>
          <a:p>
            <a:r>
              <a:rPr sz="1300" b="1">
                <a:solidFill>
                  <a:srgbClr val="FFFFFF"/>
                </a:solidFill>
                <a:latin typeface="Calibri"/>
              </a:rPr>
              <a:t>above the global average, while South Asia &amp; Pacific is the lowest priced.</a:t>
            </a:r>
          </a:p>
        </p:txBody>
      </p:sp>
      <p:sp>
        <p:nvSpPr>
          <p:cNvPr id="36" name="TextBox 35"/>
          <p:cNvSpPr txBox="1"/>
          <p:nvPr/>
        </p:nvSpPr>
        <p:spPr>
          <a:xfrm>
            <a:off x="411480" y="1831467"/>
            <a:ext cx="4895998" cy="148589"/>
          </a:xfrm>
          <a:prstGeom prst="rect">
            <a:avLst/>
          </a:prstGeom>
          <a:noFill/>
        </p:spPr>
        <p:txBody>
          <a:bodyPr wrap="none" lIns="0" rIns="0" tIns="0" bIns="0">
            <a:spAutoFit/>
          </a:bodyPr>
          <a:lstStyle/>
          <a:p>
            <a:r>
              <a:rPr sz="850" b="0">
                <a:solidFill>
                  <a:srgbClr val="59636E"/>
                </a:solidFill>
                <a:latin typeface="Calibri"/>
              </a:rPr>
              <a:t>Bar spans the lowest to highest technology price in each region, read on the price index axis (Global average =</a:t>
            </a:r>
          </a:p>
        </p:txBody>
      </p:sp>
      <p:pic>
        <p:nvPicPr>
          <p:cNvPr id="37" name="Picture 36" descr="lock.png"/>
          <p:cNvPicPr>
            <a:picLocks noChangeAspect="1"/>
          </p:cNvPicPr>
          <p:nvPr/>
        </p:nvPicPr>
        <p:blipFill>
          <a:blip r:embed="rId5"/>
          <a:stretch>
            <a:fillRect/>
          </a:stretch>
        </p:blipFill>
        <p:spPr>
          <a:xfrm>
            <a:off x="5250018" y="1823910"/>
            <a:ext cx="99449" cy="144653"/>
          </a:xfrm>
          <a:prstGeom prst="rect">
            <a:avLst/>
          </a:prstGeom>
        </p:spPr>
      </p:pic>
      <p:sp>
        <p:nvSpPr>
          <p:cNvPr id="38" name="TextBox 37"/>
          <p:cNvSpPr txBox="1"/>
          <p:nvPr/>
        </p:nvSpPr>
        <p:spPr>
          <a:xfrm>
            <a:off x="5379447" y="1831467"/>
            <a:ext cx="2037010" cy="148589"/>
          </a:xfrm>
          <a:prstGeom prst="rect">
            <a:avLst/>
          </a:prstGeom>
          <a:noFill/>
        </p:spPr>
        <p:txBody>
          <a:bodyPr wrap="none" lIns="0" rIns="0" tIns="0" bIns="0">
            <a:spAutoFit/>
          </a:bodyPr>
          <a:lstStyle/>
          <a:p>
            <a:r>
              <a:rPr sz="850" b="0">
                <a:solidFill>
                  <a:srgbClr val="59636E"/>
                </a:solidFill>
                <a:latin typeface="Calibri"/>
              </a:rPr>
              <a:t>). Teal = above Global average, blue = below.</a:t>
            </a:r>
          </a:p>
        </p:txBody>
      </p:sp>
      <p:sp>
        <p:nvSpPr>
          <p:cNvPr id="39" name="TextBox 38"/>
          <p:cNvSpPr txBox="1"/>
          <p:nvPr/>
        </p:nvSpPr>
        <p:spPr>
          <a:xfrm>
            <a:off x="806576" y="5530976"/>
            <a:ext cx="2778324" cy="179069"/>
          </a:xfrm>
          <a:prstGeom prst="rect">
            <a:avLst/>
          </a:prstGeom>
          <a:noFill/>
        </p:spPr>
        <p:txBody>
          <a:bodyPr wrap="none" lIns="0" rIns="0" tIns="0" bIns="0">
            <a:spAutoFit/>
          </a:bodyPr>
          <a:lstStyle/>
          <a:p>
            <a:r>
              <a:rPr sz="1050" b="0">
                <a:solidFill>
                  <a:srgbClr val="1F1F1F"/>
                </a:solidFill>
                <a:latin typeface="Calibri"/>
              </a:rPr>
              <a:t>Average prices across the ranked regions differ by</a:t>
            </a:r>
          </a:p>
        </p:txBody>
      </p:sp>
      <p:pic>
        <p:nvPicPr>
          <p:cNvPr id="40" name="Picture 39" descr="lock.png"/>
          <p:cNvPicPr>
            <a:picLocks noChangeAspect="1"/>
          </p:cNvPicPr>
          <p:nvPr/>
        </p:nvPicPr>
        <p:blipFill>
          <a:blip r:embed="rId5"/>
          <a:stretch>
            <a:fillRect/>
          </a:stretch>
        </p:blipFill>
        <p:spPr>
          <a:xfrm>
            <a:off x="3531850" y="5521642"/>
            <a:ext cx="122849" cy="178689"/>
          </a:xfrm>
          <a:prstGeom prst="rect">
            <a:avLst/>
          </a:prstGeom>
        </p:spPr>
      </p:pic>
      <p:sp>
        <p:nvSpPr>
          <p:cNvPr id="41" name="TextBox 40"/>
          <p:cNvSpPr txBox="1"/>
          <p:nvPr/>
        </p:nvSpPr>
        <p:spPr>
          <a:xfrm>
            <a:off x="3691732" y="5530976"/>
            <a:ext cx="176993" cy="179069"/>
          </a:xfrm>
          <a:prstGeom prst="rect">
            <a:avLst/>
          </a:prstGeom>
          <a:noFill/>
        </p:spPr>
        <p:txBody>
          <a:bodyPr wrap="none" lIns="0" rIns="0" tIns="0" bIns="0">
            <a:spAutoFit/>
          </a:bodyPr>
          <a:lstStyle/>
          <a:p>
            <a:r>
              <a:rPr sz="1050" b="0">
                <a:solidFill>
                  <a:srgbClr val="1F1F1F"/>
                </a:solidFill>
                <a:latin typeface="Calibri"/>
              </a:rPr>
              <a:t>in</a:t>
            </a:r>
          </a:p>
        </p:txBody>
      </p:sp>
      <p:sp>
        <p:nvSpPr>
          <p:cNvPr id="42" name="TextBox 41"/>
          <p:cNvSpPr txBox="1"/>
          <p:nvPr/>
        </p:nvSpPr>
        <p:spPr>
          <a:xfrm>
            <a:off x="806576" y="5690996"/>
            <a:ext cx="919534" cy="179069"/>
          </a:xfrm>
          <a:prstGeom prst="rect">
            <a:avLst/>
          </a:prstGeom>
          <a:noFill/>
        </p:spPr>
        <p:txBody>
          <a:bodyPr wrap="none" lIns="0" rIns="0" tIns="0" bIns="0">
            <a:spAutoFit/>
          </a:bodyPr>
          <a:lstStyle/>
          <a:p>
            <a:r>
              <a:rPr sz="1050" b="0">
                <a:solidFill>
                  <a:srgbClr val="1F1F1F"/>
                </a:solidFill>
                <a:latin typeface="Calibri"/>
              </a:rPr>
              <a:t>2026, from US$</a:t>
            </a:r>
          </a:p>
        </p:txBody>
      </p:sp>
      <p:pic>
        <p:nvPicPr>
          <p:cNvPr id="43" name="Picture 42" descr="lock.png"/>
          <p:cNvPicPr>
            <a:picLocks noChangeAspect="1"/>
          </p:cNvPicPr>
          <p:nvPr/>
        </p:nvPicPr>
        <p:blipFill>
          <a:blip r:embed="rId5"/>
          <a:stretch>
            <a:fillRect/>
          </a:stretch>
        </p:blipFill>
        <p:spPr>
          <a:xfrm>
            <a:off x="1673060" y="5681662"/>
            <a:ext cx="122849" cy="178689"/>
          </a:xfrm>
          <a:prstGeom prst="rect">
            <a:avLst/>
          </a:prstGeom>
        </p:spPr>
      </p:pic>
      <p:sp>
        <p:nvSpPr>
          <p:cNvPr id="44" name="TextBox 43"/>
          <p:cNvSpPr txBox="1"/>
          <p:nvPr/>
        </p:nvSpPr>
        <p:spPr>
          <a:xfrm>
            <a:off x="1832943" y="5690996"/>
            <a:ext cx="2032173" cy="179069"/>
          </a:xfrm>
          <a:prstGeom prst="rect">
            <a:avLst/>
          </a:prstGeom>
          <a:noFill/>
        </p:spPr>
        <p:txBody>
          <a:bodyPr wrap="none" lIns="0" rIns="0" tIns="0" bIns="0">
            <a:spAutoFit/>
          </a:bodyPr>
          <a:lstStyle/>
          <a:p>
            <a:r>
              <a:rPr sz="1050" b="0">
                <a:solidFill>
                  <a:srgbClr val="1F1F1F"/>
                </a:solidFill>
                <a:latin typeface="Calibri"/>
              </a:rPr>
              <a:t>/Units in South Asia &amp; Pacific to US$</a:t>
            </a:r>
          </a:p>
        </p:txBody>
      </p:sp>
      <p:pic>
        <p:nvPicPr>
          <p:cNvPr id="45" name="Picture 44" descr="lock.png"/>
          <p:cNvPicPr>
            <a:picLocks noChangeAspect="1"/>
          </p:cNvPicPr>
          <p:nvPr/>
        </p:nvPicPr>
        <p:blipFill>
          <a:blip r:embed="rId5"/>
          <a:stretch>
            <a:fillRect/>
          </a:stretch>
        </p:blipFill>
        <p:spPr>
          <a:xfrm>
            <a:off x="793721" y="5841682"/>
            <a:ext cx="122849" cy="178689"/>
          </a:xfrm>
          <a:prstGeom prst="rect">
            <a:avLst/>
          </a:prstGeom>
        </p:spPr>
      </p:pic>
      <p:sp>
        <p:nvSpPr>
          <p:cNvPr id="46" name="TextBox 45"/>
          <p:cNvSpPr txBox="1"/>
          <p:nvPr/>
        </p:nvSpPr>
        <p:spPr>
          <a:xfrm>
            <a:off x="953604" y="5851016"/>
            <a:ext cx="1401886" cy="179069"/>
          </a:xfrm>
          <a:prstGeom prst="rect">
            <a:avLst/>
          </a:prstGeom>
          <a:noFill/>
        </p:spPr>
        <p:txBody>
          <a:bodyPr wrap="none" lIns="0" rIns="0" tIns="0" bIns="0">
            <a:spAutoFit/>
          </a:bodyPr>
          <a:lstStyle/>
          <a:p>
            <a:r>
              <a:rPr sz="1050" b="0">
                <a:solidFill>
                  <a:srgbClr val="1F1F1F"/>
                </a:solidFill>
                <a:latin typeface="Calibri"/>
              </a:rPr>
              <a:t>/Units in North America.</a:t>
            </a:r>
          </a:p>
        </p:txBody>
      </p:sp>
      <p:sp>
        <p:nvSpPr>
          <p:cNvPr id="47" name="TextBox 46"/>
          <p:cNvSpPr txBox="1"/>
          <p:nvPr/>
        </p:nvSpPr>
        <p:spPr>
          <a:xfrm>
            <a:off x="4732401" y="5530976"/>
            <a:ext cx="3098192" cy="179069"/>
          </a:xfrm>
          <a:prstGeom prst="rect">
            <a:avLst/>
          </a:prstGeom>
          <a:noFill/>
        </p:spPr>
        <p:txBody>
          <a:bodyPr wrap="none" lIns="0" rIns="0" tIns="0" bIns="0">
            <a:spAutoFit/>
          </a:bodyPr>
          <a:lstStyle/>
          <a:p>
            <a:r>
              <a:rPr sz="1050" b="0">
                <a:solidFill>
                  <a:srgbClr val="1F1F1F"/>
                </a:solidFill>
                <a:latin typeface="Calibri"/>
              </a:rPr>
              <a:t>North America records the fastest average price growth</a:t>
            </a:r>
          </a:p>
        </p:txBody>
      </p:sp>
      <p:sp>
        <p:nvSpPr>
          <p:cNvPr id="48" name="TextBox 47"/>
          <p:cNvSpPr txBox="1"/>
          <p:nvPr/>
        </p:nvSpPr>
        <p:spPr>
          <a:xfrm>
            <a:off x="4732401" y="5690996"/>
            <a:ext cx="278829" cy="179069"/>
          </a:xfrm>
          <a:prstGeom prst="rect">
            <a:avLst/>
          </a:prstGeom>
          <a:noFill/>
        </p:spPr>
        <p:txBody>
          <a:bodyPr wrap="none" lIns="0" rIns="0" tIns="0" bIns="0">
            <a:spAutoFit/>
          </a:bodyPr>
          <a:lstStyle/>
          <a:p>
            <a:r>
              <a:rPr sz="1050" b="0">
                <a:solidFill>
                  <a:srgbClr val="1F1F1F"/>
                </a:solidFill>
                <a:latin typeface="Calibri"/>
              </a:rPr>
              <a:t>at a</a:t>
            </a:r>
          </a:p>
        </p:txBody>
      </p:sp>
      <p:pic>
        <p:nvPicPr>
          <p:cNvPr id="49" name="Picture 48" descr="lock.png"/>
          <p:cNvPicPr>
            <a:picLocks noChangeAspect="1"/>
          </p:cNvPicPr>
          <p:nvPr/>
        </p:nvPicPr>
        <p:blipFill>
          <a:blip r:embed="rId5"/>
          <a:stretch>
            <a:fillRect/>
          </a:stretch>
        </p:blipFill>
        <p:spPr>
          <a:xfrm>
            <a:off x="4958179" y="5681662"/>
            <a:ext cx="122849" cy="178689"/>
          </a:xfrm>
          <a:prstGeom prst="rect">
            <a:avLst/>
          </a:prstGeom>
        </p:spPr>
      </p:pic>
      <p:sp>
        <p:nvSpPr>
          <p:cNvPr id="50" name="TextBox 49"/>
          <p:cNvSpPr txBox="1"/>
          <p:nvPr/>
        </p:nvSpPr>
        <p:spPr>
          <a:xfrm>
            <a:off x="5118062" y="5690996"/>
            <a:ext cx="2178529" cy="179069"/>
          </a:xfrm>
          <a:prstGeom prst="rect">
            <a:avLst/>
          </a:prstGeom>
          <a:noFill/>
        </p:spPr>
        <p:txBody>
          <a:bodyPr wrap="none" lIns="0" rIns="0" tIns="0" bIns="0">
            <a:spAutoFit/>
          </a:bodyPr>
          <a:lstStyle/>
          <a:p>
            <a:r>
              <a:rPr sz="1050" b="0">
                <a:solidFill>
                  <a:srgbClr val="1F1F1F"/>
                </a:solidFill>
                <a:latin typeface="Calibri"/>
              </a:rPr>
              <a:t>CAGR between 2026 and 2036, against</a:t>
            </a:r>
          </a:p>
        </p:txBody>
      </p:sp>
      <p:pic>
        <p:nvPicPr>
          <p:cNvPr id="51" name="Picture 50" descr="lock.png"/>
          <p:cNvPicPr>
            <a:picLocks noChangeAspect="1"/>
          </p:cNvPicPr>
          <p:nvPr/>
        </p:nvPicPr>
        <p:blipFill>
          <a:blip r:embed="rId5"/>
          <a:stretch>
            <a:fillRect/>
          </a:stretch>
        </p:blipFill>
        <p:spPr>
          <a:xfrm>
            <a:off x="7243541" y="5681662"/>
            <a:ext cx="122849" cy="178689"/>
          </a:xfrm>
          <a:prstGeom prst="rect">
            <a:avLst/>
          </a:prstGeom>
        </p:spPr>
      </p:pic>
      <p:sp>
        <p:nvSpPr>
          <p:cNvPr id="52" name="TextBox 51"/>
          <p:cNvSpPr txBox="1"/>
          <p:nvPr/>
        </p:nvSpPr>
        <p:spPr>
          <a:xfrm>
            <a:off x="7403423" y="5690996"/>
            <a:ext cx="233771" cy="179069"/>
          </a:xfrm>
          <a:prstGeom prst="rect">
            <a:avLst/>
          </a:prstGeom>
          <a:noFill/>
        </p:spPr>
        <p:txBody>
          <a:bodyPr wrap="none" lIns="0" rIns="0" tIns="0" bIns="0">
            <a:spAutoFit/>
          </a:bodyPr>
          <a:lstStyle/>
          <a:p>
            <a:r>
              <a:rPr sz="1050" b="0">
                <a:solidFill>
                  <a:srgbClr val="1F1F1F"/>
                </a:solidFill>
                <a:latin typeface="Calibri"/>
              </a:rPr>
              <a:t>for</a:t>
            </a:r>
          </a:p>
        </p:txBody>
      </p:sp>
      <p:sp>
        <p:nvSpPr>
          <p:cNvPr id="53" name="TextBox 52"/>
          <p:cNvSpPr txBox="1"/>
          <p:nvPr/>
        </p:nvSpPr>
        <p:spPr>
          <a:xfrm>
            <a:off x="4732401" y="5851016"/>
            <a:ext cx="1062781" cy="179069"/>
          </a:xfrm>
          <a:prstGeom prst="rect">
            <a:avLst/>
          </a:prstGeom>
          <a:noFill/>
        </p:spPr>
        <p:txBody>
          <a:bodyPr wrap="none" lIns="0" rIns="0" tIns="0" bIns="0">
            <a:spAutoFit/>
          </a:bodyPr>
          <a:lstStyle/>
          <a:p>
            <a:r>
              <a:rPr sz="1050" b="0">
                <a:solidFill>
                  <a:srgbClr val="1F1F1F"/>
                </a:solidFill>
                <a:latin typeface="Calibri"/>
              </a:rPr>
              <a:t>Global as a whole.</a:t>
            </a:r>
          </a:p>
        </p:txBody>
      </p:sp>
      <p:sp>
        <p:nvSpPr>
          <p:cNvPr id="54" name="TextBox 53"/>
          <p:cNvSpPr txBox="1"/>
          <p:nvPr/>
        </p:nvSpPr>
        <p:spPr>
          <a:xfrm>
            <a:off x="8658225" y="5530976"/>
            <a:ext cx="2737730" cy="179069"/>
          </a:xfrm>
          <a:prstGeom prst="rect">
            <a:avLst/>
          </a:prstGeom>
          <a:noFill/>
        </p:spPr>
        <p:txBody>
          <a:bodyPr wrap="none" lIns="0" rIns="0" tIns="0" bIns="0">
            <a:spAutoFit/>
          </a:bodyPr>
          <a:lstStyle/>
          <a:p>
            <a:r>
              <a:rPr sz="1050" b="0">
                <a:solidFill>
                  <a:srgbClr val="1F1F1F"/>
                </a:solidFill>
                <a:latin typeface="Calibri"/>
              </a:rPr>
              <a:t>North America shows the widest gap between its</a:t>
            </a:r>
          </a:p>
        </p:txBody>
      </p:sp>
      <p:sp>
        <p:nvSpPr>
          <p:cNvPr id="55" name="TextBox 54"/>
          <p:cNvSpPr txBox="1"/>
          <p:nvPr/>
        </p:nvSpPr>
        <p:spPr>
          <a:xfrm>
            <a:off x="8658225" y="5690996"/>
            <a:ext cx="2446287" cy="179069"/>
          </a:xfrm>
          <a:prstGeom prst="rect">
            <a:avLst/>
          </a:prstGeom>
          <a:noFill/>
        </p:spPr>
        <p:txBody>
          <a:bodyPr wrap="none" lIns="0" rIns="0" tIns="0" bIns="0">
            <a:spAutoFit/>
          </a:bodyPr>
          <a:lstStyle/>
          <a:p>
            <a:r>
              <a:rPr sz="1050" b="0">
                <a:solidFill>
                  <a:srgbClr val="1F1F1F"/>
                </a:solidFill>
                <a:latin typeface="Calibri"/>
              </a:rPr>
              <a:t>cheapest and most expensive technology at</a:t>
            </a:r>
          </a:p>
        </p:txBody>
      </p:sp>
      <p:pic>
        <p:nvPicPr>
          <p:cNvPr id="56" name="Picture 55" descr="lock.png"/>
          <p:cNvPicPr>
            <a:picLocks noChangeAspect="1"/>
          </p:cNvPicPr>
          <p:nvPr/>
        </p:nvPicPr>
        <p:blipFill>
          <a:blip r:embed="rId5"/>
          <a:stretch>
            <a:fillRect/>
          </a:stretch>
        </p:blipFill>
        <p:spPr>
          <a:xfrm>
            <a:off x="11051462" y="5681662"/>
            <a:ext cx="122849" cy="178689"/>
          </a:xfrm>
          <a:prstGeom prst="rect">
            <a:avLst/>
          </a:prstGeom>
        </p:spPr>
      </p:pic>
      <p:sp>
        <p:nvSpPr>
          <p:cNvPr id="57" name="TextBox 56"/>
          <p:cNvSpPr txBox="1"/>
          <p:nvPr/>
        </p:nvSpPr>
        <p:spPr>
          <a:xfrm>
            <a:off x="11211344" y="5690996"/>
            <a:ext cx="262160" cy="179069"/>
          </a:xfrm>
          <a:prstGeom prst="rect">
            <a:avLst/>
          </a:prstGeom>
          <a:noFill/>
        </p:spPr>
        <p:txBody>
          <a:bodyPr wrap="none" lIns="0" rIns="0" tIns="0" bIns="0">
            <a:spAutoFit/>
          </a:bodyPr>
          <a:lstStyle/>
          <a:p>
            <a:r>
              <a:rPr sz="1050" b="0">
                <a:solidFill>
                  <a:srgbClr val="1F1F1F"/>
                </a:solidFill>
                <a:latin typeface="Calibri"/>
              </a:rPr>
              <a:t>, so</a:t>
            </a:r>
          </a:p>
        </p:txBody>
      </p:sp>
      <p:sp>
        <p:nvSpPr>
          <p:cNvPr id="58" name="TextBox 57"/>
          <p:cNvSpPr txBox="1"/>
          <p:nvPr/>
        </p:nvSpPr>
        <p:spPr>
          <a:xfrm>
            <a:off x="8658225" y="5851016"/>
            <a:ext cx="2851807" cy="179069"/>
          </a:xfrm>
          <a:prstGeom prst="rect">
            <a:avLst/>
          </a:prstGeom>
          <a:noFill/>
        </p:spPr>
        <p:txBody>
          <a:bodyPr wrap="none" lIns="0" rIns="0" tIns="0" bIns="0">
            <a:spAutoFit/>
          </a:bodyPr>
          <a:lstStyle/>
          <a:p>
            <a:r>
              <a:rPr sz="1050" b="0">
                <a:solidFill>
                  <a:srgbClr val="1F1F1F"/>
                </a:solidFill>
                <a:latin typeface="Calibri"/>
              </a:rPr>
              <a:t>product mix shifts move its average price the most.</a:t>
            </a:r>
          </a:p>
        </p:txBody>
      </p:sp>
      <p:pic>
        <p:nvPicPr>
          <p:cNvPr id="59" name="Picture 58" descr="lock.png"/>
          <p:cNvPicPr>
            <a:picLocks noChangeAspect="1"/>
          </p:cNvPicPr>
          <p:nvPr/>
        </p:nvPicPr>
        <p:blipFill>
          <a:blip r:embed="rId5"/>
          <a:stretch>
            <a:fillRect/>
          </a:stretch>
        </p:blipFill>
        <p:spPr>
          <a:xfrm>
            <a:off x="3952821" y="3129375"/>
            <a:ext cx="482444" cy="701737"/>
          </a:xfrm>
          <a:prstGeom prst="rect">
            <a:avLst/>
          </a:prstGeom>
        </p:spPr>
      </p:pic>
      <p:sp>
        <p:nvSpPr>
          <p:cNvPr id="60" name="lockshield_10"/>
          <p:cNvSpPr/>
          <p:nvPr/>
        </p:nvSpPr>
        <p:spPr>
          <a:xfrm>
            <a:off x="347472" y="2014347"/>
            <a:ext cx="7406640" cy="301752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Price Positioning &amp; Key Findings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Price positioning of each region on a common axis with TMR's key findings on where premiums and discounts sit</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Average selling price and price range by region on a shared price scale (US$/Units).</a:t>
            </a:r>
          </a:p>
        </p:txBody>
      </p:sp>
      <p:sp>
        <p:nvSpPr>
          <p:cNvPr id="8" name="Rounded Rectangle 7"/>
          <p:cNvSpPr/>
          <p:nvPr/>
        </p:nvSpPr>
        <p:spPr>
          <a:xfrm>
            <a:off x="142875" y="1317574"/>
            <a:ext cx="7696200" cy="5238811"/>
          </a:xfrm>
          <a:prstGeom prst="roundRect">
            <a:avLst>
              <a:gd name="adj" fmla="val 14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&amp; Range by Region</a:t>
            </a:r>
          </a:p>
        </p:txBody>
      </p:sp>
      <p:cxnSp>
        <p:nvCxnSpPr>
          <p:cNvPr id="10" name="Connector 9"/>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1144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1,314</a:t>
            </a:r>
          </a:p>
        </p:txBody>
      </p:sp>
      <p:cxnSp>
        <p:nvCxnSpPr>
          <p:cNvPr id="12" name="Connector 11"/>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36410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2,631</a:t>
            </a:r>
          </a:p>
        </p:txBody>
      </p:sp>
      <p:cxnSp>
        <p:nvCxnSpPr>
          <p:cNvPr id="14" name="Connector 13"/>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61378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3,948</a:t>
            </a:r>
          </a:p>
        </p:txBody>
      </p:sp>
      <p:cxnSp>
        <p:nvCxnSpPr>
          <p:cNvPr id="16" name="Connector 15"/>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86346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5,265</a:t>
            </a:r>
          </a:p>
        </p:txBody>
      </p:sp>
      <p:cxnSp>
        <p:nvCxnSpPr>
          <p:cNvPr id="18" name="Connector 17"/>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11314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6,582</a:t>
            </a:r>
          </a:p>
        </p:txBody>
      </p:sp>
      <p:cxnSp>
        <p:nvCxnSpPr>
          <p:cNvPr id="20" name="Connector 19"/>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628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7,899</a:t>
            </a:r>
          </a:p>
        </p:txBody>
      </p:sp>
      <p:sp>
        <p:nvSpPr>
          <p:cNvPr id="22" name="TextBox 21"/>
          <p:cNvSpPr txBox="1"/>
          <p:nvPr/>
        </p:nvSpPr>
        <p:spPr>
          <a:xfrm>
            <a:off x="238125" y="2151696"/>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North America</a:t>
            </a:r>
          </a:p>
        </p:txBody>
      </p:sp>
      <p:sp>
        <p:nvSpPr>
          <p:cNvPr id="23" name="Rectangle 22"/>
          <p:cNvSpPr/>
          <p:nvPr/>
        </p:nvSpPr>
        <p:spPr>
          <a:xfrm>
            <a:off x="4373331" y="2076093"/>
            <a:ext cx="2553726"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537643" y="2175509"/>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2772191"/>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Latin America</a:t>
            </a:r>
          </a:p>
        </p:txBody>
      </p:sp>
      <p:sp>
        <p:nvSpPr>
          <p:cNvPr id="26" name="Rectangle 25"/>
          <p:cNvSpPr/>
          <p:nvPr/>
        </p:nvSpPr>
        <p:spPr>
          <a:xfrm>
            <a:off x="3162691" y="2696587"/>
            <a:ext cx="1825597"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975850" y="2796003"/>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3392685"/>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East Asia</a:t>
            </a:r>
          </a:p>
        </p:txBody>
      </p:sp>
      <p:sp>
        <p:nvSpPr>
          <p:cNvPr id="29" name="Rectangle 28"/>
          <p:cNvSpPr/>
          <p:nvPr/>
        </p:nvSpPr>
        <p:spPr>
          <a:xfrm>
            <a:off x="2282490" y="3317082"/>
            <a:ext cx="1226810"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826370" y="341649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4013180"/>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South Asia &amp; Pacific</a:t>
            </a:r>
          </a:p>
        </p:txBody>
      </p:sp>
      <p:sp>
        <p:nvSpPr>
          <p:cNvPr id="32" name="Rectangle 31"/>
          <p:cNvSpPr/>
          <p:nvPr/>
        </p:nvSpPr>
        <p:spPr>
          <a:xfrm>
            <a:off x="2045494" y="3937576"/>
            <a:ext cx="1136604"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533463" y="4036992"/>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4633674"/>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Western Europe</a:t>
            </a:r>
          </a:p>
        </p:txBody>
      </p:sp>
      <p:sp>
        <p:nvSpPr>
          <p:cNvPr id="35" name="Rectangle 34"/>
          <p:cNvSpPr/>
          <p:nvPr/>
        </p:nvSpPr>
        <p:spPr>
          <a:xfrm>
            <a:off x="4035711" y="4558070"/>
            <a:ext cx="2327389"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095733" y="465748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8125" y="5254169"/>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Eastern Europe</a:t>
            </a:r>
          </a:p>
        </p:txBody>
      </p:sp>
      <p:sp>
        <p:nvSpPr>
          <p:cNvPr id="38" name="Rectangle 37"/>
          <p:cNvSpPr/>
          <p:nvPr/>
        </p:nvSpPr>
        <p:spPr>
          <a:xfrm>
            <a:off x="3341852" y="5178565"/>
            <a:ext cx="1928655"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206706" y="5277981"/>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5874663"/>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Middle East &amp; Africa</a:t>
            </a:r>
          </a:p>
        </p:txBody>
      </p:sp>
      <p:sp>
        <p:nvSpPr>
          <p:cNvPr id="41" name="Rectangle 40"/>
          <p:cNvSpPr/>
          <p:nvPr/>
        </p:nvSpPr>
        <p:spPr>
          <a:xfrm>
            <a:off x="2966833" y="5799059"/>
            <a:ext cx="1703328"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718037" y="5898475"/>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95425" y="1717624"/>
            <a:ext cx="838200" cy="133350"/>
          </a:xfrm>
          <a:prstGeom prst="rect">
            <a:avLst/>
          </a:prstGeom>
          <a:noFill/>
        </p:spPr>
        <p:txBody>
          <a:bodyPr wrap="square" lIns="28575" rIns="28575" tIns="9525" bIns="9525">
            <a:spAutoFit/>
          </a:bodyPr>
          <a:lstStyle/>
          <a:p>
            <a:pPr algn="l"/>
            <a:r>
              <a:rPr sz="1100" b="0">
                <a:solidFill>
                  <a:srgbClr val="2E2E2E"/>
                </a:solidFill>
                <a:latin typeface="Calibri"/>
              </a:rPr>
              <a:t>Average Price</a:t>
            </a:r>
          </a:p>
        </p:txBody>
      </p:sp>
      <p:sp>
        <p:nvSpPr>
          <p:cNvPr id="45" name="Rectangle 44"/>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19375" y="1717624"/>
            <a:ext cx="800100" cy="133350"/>
          </a:xfrm>
          <a:prstGeom prst="rect">
            <a:avLst/>
          </a:prstGeom>
          <a:noFill/>
        </p:spPr>
        <p:txBody>
          <a:bodyPr wrap="square" lIns="28575" rIns="28575" tIns="9525" bIns="9525">
            <a:spAutoFit/>
          </a:bodyPr>
          <a:lstStyle/>
          <a:p>
            <a:pPr algn="l"/>
            <a:r>
              <a:rPr sz="1100" b="0">
                <a:solidFill>
                  <a:srgbClr val="2E2E2E"/>
                </a:solidFill>
                <a:latin typeface="Calibri"/>
              </a:rPr>
              <a:t>Price Range</a:t>
            </a:r>
          </a:p>
        </p:txBody>
      </p:sp>
      <p:sp>
        <p:nvSpPr>
          <p:cNvPr id="47" name="Rounded Rectangle 46"/>
          <p:cNvSpPr/>
          <p:nvPr/>
        </p:nvSpPr>
        <p:spPr>
          <a:xfrm>
            <a:off x="7915275" y="1317574"/>
            <a:ext cx="4133850" cy="3924545"/>
          </a:xfrm>
          <a:prstGeom prst="roundRect">
            <a:avLst>
              <a:gd name="adj" fmla="val 194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E2A5C"/>
                </a:solidFill>
                <a:latin typeface="Calibri"/>
              </a:rPr>
              <a:t>Key Findings</a:t>
            </a:r>
          </a:p>
        </p:txBody>
      </p:sp>
      <p:sp>
        <p:nvSpPr>
          <p:cNvPr id="49" name="Rectangle 48"/>
          <p:cNvSpPr/>
          <p:nvPr/>
        </p:nvSpPr>
        <p:spPr>
          <a:xfrm>
            <a:off x="8048625" y="1641424"/>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48625" y="1727149"/>
            <a:ext cx="3867150" cy="343877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1" name="Rounded Rectangle 50"/>
          <p:cNvSpPr/>
          <p:nvPr/>
        </p:nvSpPr>
        <p:spPr>
          <a:xfrm>
            <a:off x="7915275" y="5351641"/>
            <a:ext cx="4133850" cy="1204744"/>
          </a:xfrm>
          <a:prstGeom prst="roundRect">
            <a:avLst>
              <a:gd name="adj" fmla="val 63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the above information is indicative in nature and does not constitute any form of analysis.</a:t>
            </a:r>
          </a:p>
        </p:txBody>
      </p:sp>
      <p:sp>
        <p:nvSpPr>
          <p:cNvPr id="52" name="Rectangle 5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54" name="TextBox 53"/>
          <p:cNvSpPr txBox="1"/>
          <p:nvPr/>
        </p:nvSpPr>
        <p:spPr>
          <a:xfrm>
            <a:off x="8048625" y="1736673"/>
            <a:ext cx="3805609" cy="194310"/>
          </a:xfrm>
          <a:prstGeom prst="rect">
            <a:avLst/>
          </a:prstGeom>
          <a:noFill/>
        </p:spPr>
        <p:txBody>
          <a:bodyPr wrap="none" lIns="0" rIns="0" tIns="0" bIns="0">
            <a:spAutoFit/>
          </a:bodyPr>
          <a:lstStyle/>
          <a:p>
            <a:r>
              <a:rPr sz="1150" b="0">
                <a:solidFill>
                  <a:srgbClr val="2E2E2E"/>
                </a:solidFill>
                <a:latin typeface="Calibri"/>
              </a:rPr>
              <a:t>Rotary screw air compressor segment is expected to command</a:t>
            </a:r>
          </a:p>
        </p:txBody>
      </p:sp>
      <p:sp>
        <p:nvSpPr>
          <p:cNvPr id="55" name="TextBox 54"/>
          <p:cNvSpPr txBox="1"/>
          <p:nvPr/>
        </p:nvSpPr>
        <p:spPr>
          <a:xfrm>
            <a:off x="8048625" y="1911934"/>
            <a:ext cx="1998526" cy="194310"/>
          </a:xfrm>
          <a:prstGeom prst="rect">
            <a:avLst/>
          </a:prstGeom>
          <a:noFill/>
        </p:spPr>
        <p:txBody>
          <a:bodyPr wrap="none" lIns="0" rIns="0" tIns="0" bIns="0">
            <a:spAutoFit/>
          </a:bodyPr>
          <a:lstStyle/>
          <a:p>
            <a:r>
              <a:rPr sz="1150" b="0">
                <a:solidFill>
                  <a:srgbClr val="2E2E2E"/>
                </a:solidFill>
                <a:latin typeface="Calibri"/>
              </a:rPr>
              <a:t>the highest average price of US$</a:t>
            </a:r>
          </a:p>
        </p:txBody>
      </p:sp>
      <p:pic>
        <p:nvPicPr>
          <p:cNvPr id="56" name="Picture 55" descr="lock.png"/>
          <p:cNvPicPr>
            <a:picLocks noChangeAspect="1"/>
          </p:cNvPicPr>
          <p:nvPr/>
        </p:nvPicPr>
        <p:blipFill>
          <a:blip r:embed="rId4"/>
          <a:stretch>
            <a:fillRect/>
          </a:stretch>
        </p:blipFill>
        <p:spPr>
          <a:xfrm>
            <a:off x="9996305" y="1901710"/>
            <a:ext cx="134549" cy="195707"/>
          </a:xfrm>
          <a:prstGeom prst="rect">
            <a:avLst/>
          </a:prstGeom>
        </p:spPr>
      </p:pic>
      <p:sp>
        <p:nvSpPr>
          <p:cNvPr id="57" name="TextBox 56"/>
          <p:cNvSpPr txBox="1"/>
          <p:nvPr/>
        </p:nvSpPr>
        <p:spPr>
          <a:xfrm>
            <a:off x="10171414" y="1911934"/>
            <a:ext cx="1591713" cy="194310"/>
          </a:xfrm>
          <a:prstGeom prst="rect">
            <a:avLst/>
          </a:prstGeom>
          <a:noFill/>
        </p:spPr>
        <p:txBody>
          <a:bodyPr wrap="none" lIns="0" rIns="0" tIns="0" bIns="0">
            <a:spAutoFit/>
          </a:bodyPr>
          <a:lstStyle/>
          <a:p>
            <a:r>
              <a:rPr sz="1150" b="0">
                <a:solidFill>
                  <a:srgbClr val="2E2E2E"/>
                </a:solidFill>
                <a:latin typeface="Calibri"/>
              </a:rPr>
              <a:t>per Unit in 2036. Average</a:t>
            </a:r>
          </a:p>
        </p:txBody>
      </p:sp>
      <p:sp>
        <p:nvSpPr>
          <p:cNvPr id="58" name="TextBox 57"/>
          <p:cNvSpPr txBox="1"/>
          <p:nvPr/>
        </p:nvSpPr>
        <p:spPr>
          <a:xfrm>
            <a:off x="8048625" y="2087194"/>
            <a:ext cx="3621335" cy="194310"/>
          </a:xfrm>
          <a:prstGeom prst="rect">
            <a:avLst/>
          </a:prstGeom>
          <a:noFill/>
        </p:spPr>
        <p:txBody>
          <a:bodyPr wrap="none" lIns="0" rIns="0" tIns="0" bIns="0">
            <a:spAutoFit/>
          </a:bodyPr>
          <a:lstStyle/>
          <a:p>
            <a:r>
              <a:rPr sz="1150" b="0">
                <a:solidFill>
                  <a:srgbClr val="2E2E2E"/>
                </a:solidFill>
                <a:latin typeface="Calibri"/>
              </a:rPr>
              <a:t>selling price of industrial air compressor is estimated at US$</a:t>
            </a:r>
          </a:p>
        </p:txBody>
      </p:sp>
      <p:pic>
        <p:nvPicPr>
          <p:cNvPr id="59" name="Picture 58" descr="lock.png"/>
          <p:cNvPicPr>
            <a:picLocks noChangeAspect="1"/>
          </p:cNvPicPr>
          <p:nvPr/>
        </p:nvPicPr>
        <p:blipFill>
          <a:blip r:embed="rId4"/>
          <a:stretch>
            <a:fillRect/>
          </a:stretch>
        </p:blipFill>
        <p:spPr>
          <a:xfrm>
            <a:off x="11619114" y="2076970"/>
            <a:ext cx="134549" cy="195707"/>
          </a:xfrm>
          <a:prstGeom prst="rect">
            <a:avLst/>
          </a:prstGeom>
        </p:spPr>
      </p:pic>
      <p:sp>
        <p:nvSpPr>
          <p:cNvPr id="60" name="TextBox 59"/>
          <p:cNvSpPr txBox="1"/>
          <p:nvPr/>
        </p:nvSpPr>
        <p:spPr>
          <a:xfrm>
            <a:off x="8048625" y="2262454"/>
            <a:ext cx="3664408" cy="194310"/>
          </a:xfrm>
          <a:prstGeom prst="rect">
            <a:avLst/>
          </a:prstGeom>
          <a:noFill/>
        </p:spPr>
        <p:txBody>
          <a:bodyPr wrap="none" lIns="0" rIns="0" tIns="0" bIns="0">
            <a:spAutoFit/>
          </a:bodyPr>
          <a:lstStyle/>
          <a:p>
            <a:r>
              <a:rPr sz="1150" b="0">
                <a:solidFill>
                  <a:srgbClr val="2E2E2E"/>
                </a:solidFill>
                <a:latin typeface="Calibri"/>
              </a:rPr>
              <a:t>per Unit in 2025 and is projected to remain broadly stable at</a:t>
            </a:r>
          </a:p>
        </p:txBody>
      </p:sp>
      <p:sp>
        <p:nvSpPr>
          <p:cNvPr id="61" name="TextBox 60"/>
          <p:cNvSpPr txBox="1"/>
          <p:nvPr/>
        </p:nvSpPr>
        <p:spPr>
          <a:xfrm>
            <a:off x="8048625" y="2437714"/>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62" name="Picture 61" descr="lock.png"/>
          <p:cNvPicPr>
            <a:picLocks noChangeAspect="1"/>
          </p:cNvPicPr>
          <p:nvPr/>
        </p:nvPicPr>
        <p:blipFill>
          <a:blip r:embed="rId4"/>
          <a:stretch>
            <a:fillRect/>
          </a:stretch>
        </p:blipFill>
        <p:spPr>
          <a:xfrm>
            <a:off x="8309028" y="2427490"/>
            <a:ext cx="134549" cy="195707"/>
          </a:xfrm>
          <a:prstGeom prst="rect">
            <a:avLst/>
          </a:prstGeom>
        </p:spPr>
      </p:pic>
      <p:sp>
        <p:nvSpPr>
          <p:cNvPr id="63" name="TextBox 62"/>
          <p:cNvSpPr txBox="1"/>
          <p:nvPr/>
        </p:nvSpPr>
        <p:spPr>
          <a:xfrm>
            <a:off x="8484137" y="2437714"/>
            <a:ext cx="1105681" cy="194310"/>
          </a:xfrm>
          <a:prstGeom prst="rect">
            <a:avLst/>
          </a:prstGeom>
          <a:noFill/>
        </p:spPr>
        <p:txBody>
          <a:bodyPr wrap="none" lIns="0" rIns="0" tIns="0" bIns="0">
            <a:spAutoFit/>
          </a:bodyPr>
          <a:lstStyle/>
          <a:p>
            <a:r>
              <a:rPr sz="1150" b="0">
                <a:solidFill>
                  <a:srgbClr val="2E2E2E"/>
                </a:solidFill>
                <a:latin typeface="Calibri"/>
              </a:rPr>
              <a:t>per Unit by 2036.</a:t>
            </a:r>
          </a:p>
        </p:txBody>
      </p:sp>
      <p:sp>
        <p:nvSpPr>
          <p:cNvPr id="64" name="TextBox 63"/>
          <p:cNvSpPr txBox="1"/>
          <p:nvPr/>
        </p:nvSpPr>
        <p:spPr>
          <a:xfrm>
            <a:off x="8048625" y="2665551"/>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65" name="TextBox 64"/>
          <p:cNvSpPr txBox="1"/>
          <p:nvPr/>
        </p:nvSpPr>
        <p:spPr>
          <a:xfrm>
            <a:off x="8048625" y="2840811"/>
            <a:ext cx="378735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The orange dot is</a:t>
            </a:r>
          </a:p>
        </p:txBody>
      </p:sp>
      <p:sp>
        <p:nvSpPr>
          <p:cNvPr id="66" name="TextBox 65"/>
          <p:cNvSpPr txBox="1"/>
          <p:nvPr/>
        </p:nvSpPr>
        <p:spPr>
          <a:xfrm>
            <a:off x="8048625" y="3016071"/>
            <a:ext cx="3517503" cy="194310"/>
          </a:xfrm>
          <a:prstGeom prst="rect">
            <a:avLst/>
          </a:prstGeom>
          <a:noFill/>
        </p:spPr>
        <p:txBody>
          <a:bodyPr wrap="none" lIns="0" rIns="0" tIns="0" bIns="0">
            <a:spAutoFit/>
          </a:bodyPr>
          <a:lstStyle/>
          <a:p>
            <a:r>
              <a:rPr sz="1150" b="0">
                <a:solidFill>
                  <a:srgbClr val="2E2E2E"/>
                </a:solidFill>
                <a:latin typeface="Calibri"/>
              </a:rPr>
              <a:t>each region's average selling price; the blue band is its full</a:t>
            </a:r>
          </a:p>
        </p:txBody>
      </p:sp>
      <p:sp>
        <p:nvSpPr>
          <p:cNvPr id="67" name="TextBox 66"/>
          <p:cNvSpPr txBox="1"/>
          <p:nvPr/>
        </p:nvSpPr>
        <p:spPr>
          <a:xfrm>
            <a:off x="8048625" y="3191331"/>
            <a:ext cx="3318395" cy="194310"/>
          </a:xfrm>
          <a:prstGeom prst="rect">
            <a:avLst/>
          </a:prstGeom>
          <a:noFill/>
        </p:spPr>
        <p:txBody>
          <a:bodyPr wrap="none" lIns="0" rIns="0" tIns="0" bIns="0">
            <a:spAutoFit/>
          </a:bodyPr>
          <a:lstStyle/>
          <a:p>
            <a:r>
              <a:rPr sz="1150" b="0">
                <a:solidFill>
                  <a:srgbClr val="2E2E2E"/>
                </a:solidFill>
                <a:latin typeface="Calibri"/>
              </a:rPr>
              <a:t>low-to-high price range, all derived as Value ÷ Volume.</a:t>
            </a:r>
          </a:p>
        </p:txBody>
      </p:sp>
      <p:sp>
        <p:nvSpPr>
          <p:cNvPr id="68" name="TextBox 67"/>
          <p:cNvSpPr txBox="1"/>
          <p:nvPr/>
        </p:nvSpPr>
        <p:spPr>
          <a:xfrm>
            <a:off x="8048625" y="3419169"/>
            <a:ext cx="3691793" cy="194310"/>
          </a:xfrm>
          <a:prstGeom prst="rect">
            <a:avLst/>
          </a:prstGeom>
          <a:noFill/>
        </p:spPr>
        <p:txBody>
          <a:bodyPr wrap="none" lIns="0" rIns="0" tIns="0" bIns="0">
            <a:spAutoFit/>
          </a:bodyPr>
          <a:lstStyle/>
          <a:p>
            <a:r>
              <a:rPr sz="1150" b="0">
                <a:solidFill>
                  <a:srgbClr val="2E2E2E"/>
                </a:solidFill>
                <a:latin typeface="Calibri"/>
              </a:rPr>
              <a:t>Narrow bands point to commoditised, price-led competition;</a:t>
            </a:r>
          </a:p>
        </p:txBody>
      </p:sp>
      <p:sp>
        <p:nvSpPr>
          <p:cNvPr id="69" name="TextBox 68"/>
          <p:cNvSpPr txBox="1"/>
          <p:nvPr/>
        </p:nvSpPr>
        <p:spPr>
          <a:xfrm>
            <a:off x="8048625" y="3594429"/>
            <a:ext cx="3812170" cy="194310"/>
          </a:xfrm>
          <a:prstGeom prst="rect">
            <a:avLst/>
          </a:prstGeom>
          <a:noFill/>
        </p:spPr>
        <p:txBody>
          <a:bodyPr wrap="none" lIns="0" rIns="0" tIns="0" bIns="0">
            <a:spAutoFit/>
          </a:bodyPr>
          <a:lstStyle/>
          <a:p>
            <a:r>
              <a:rPr sz="1150" b="0">
                <a:solidFill>
                  <a:srgbClr val="2E2E2E"/>
                </a:solidFill>
                <a:latin typeface="Calibri"/>
              </a:rPr>
              <a:t>wider bands flag premiumisation headroom to trade buyers up</a:t>
            </a:r>
          </a:p>
        </p:txBody>
      </p:sp>
      <p:sp>
        <p:nvSpPr>
          <p:cNvPr id="70" name="TextBox 69"/>
          <p:cNvSpPr txBox="1"/>
          <p:nvPr/>
        </p:nvSpPr>
        <p:spPr>
          <a:xfrm>
            <a:off x="8048625" y="3769689"/>
            <a:ext cx="558279" cy="194310"/>
          </a:xfrm>
          <a:prstGeom prst="rect">
            <a:avLst/>
          </a:prstGeom>
          <a:noFill/>
        </p:spPr>
        <p:txBody>
          <a:bodyPr wrap="none" lIns="0" rIns="0" tIns="0" bIns="0">
            <a:spAutoFit/>
          </a:bodyPr>
          <a:lstStyle/>
          <a:p>
            <a:r>
              <a:rPr sz="1150" b="0">
                <a:solidFill>
                  <a:srgbClr val="2E2E2E"/>
                </a:solidFill>
                <a:latin typeface="Calibri"/>
              </a:rPr>
              <a:t>the mix.</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Key Pricing Drivers Influencing Industrial Air Compressor Market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input costs, market conditions and competitive forces shaping pricing strategies and profitability</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input costs, market conditions, and competitive forces shaping pricing strategies and profitability across the value chain</a:t>
            </a:r>
          </a:p>
        </p:txBody>
      </p:sp>
      <p:sp>
        <p:nvSpPr>
          <p:cNvPr id="8" name="Rounded Rectangle 7"/>
          <p:cNvSpPr/>
          <p:nvPr/>
        </p:nvSpPr>
        <p:spPr>
          <a:xfrm>
            <a:off x="142875" y="1354081"/>
            <a:ext cx="7029450" cy="5220558"/>
          </a:xfrm>
          <a:prstGeom prst="roundRect">
            <a:avLst>
              <a:gd name="adj" fmla="val 14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411231"/>
            <a:ext cx="6838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Impacting Factors</a:t>
            </a:r>
          </a:p>
        </p:txBody>
      </p:sp>
      <p:sp>
        <p:nvSpPr>
          <p:cNvPr id="10" name="Freeform 9"/>
          <p:cNvSpPr/>
          <p:nvPr/>
        </p:nvSpPr>
        <p:spPr>
          <a:xfrm>
            <a:off x="3295650"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2943225"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581275"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219325"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1866900"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V="1">
            <a:off x="3657600" y="2192281"/>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657600"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657600"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657600"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657600"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657600" y="4078660"/>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2548814"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863547"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1863547"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548814"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2495550"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624262"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400412"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90397"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969802"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566730"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624262"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958991"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637533"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458128"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125309"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86175" y="3634709"/>
            <a:ext cx="285750" cy="123825"/>
          </a:xfrm>
          <a:prstGeom prst="rect">
            <a:avLst/>
          </a:prstGeom>
          <a:noFill/>
        </p:spPr>
        <p:txBody>
          <a:bodyPr wrap="none" lIns="0" rIns="0" tIns="0" bIns="0" anchor="ctr">
            <a:spAutoFit/>
          </a:bodyPr>
          <a:lstStyle/>
          <a:p>
            <a:pPr algn="l"/>
            <a:r>
              <a:rPr sz="1100" b="0">
                <a:solidFill>
                  <a:srgbClr val="6C7A89"/>
                </a:solidFill>
                <a:latin typeface="Calibri"/>
              </a:rPr>
              <a:t>2</a:t>
            </a:r>
          </a:p>
        </p:txBody>
      </p:sp>
      <p:sp>
        <p:nvSpPr>
          <p:cNvPr id="37" name="TextBox 36"/>
          <p:cNvSpPr txBox="1"/>
          <p:nvPr/>
        </p:nvSpPr>
        <p:spPr>
          <a:xfrm>
            <a:off x="3686175" y="3257434"/>
            <a:ext cx="285750" cy="123825"/>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38" name="TextBox 37"/>
          <p:cNvSpPr txBox="1"/>
          <p:nvPr/>
        </p:nvSpPr>
        <p:spPr>
          <a:xfrm>
            <a:off x="3686175" y="2880158"/>
            <a:ext cx="285750" cy="123825"/>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39" name="TextBox 38"/>
          <p:cNvSpPr txBox="1"/>
          <p:nvPr/>
        </p:nvSpPr>
        <p:spPr>
          <a:xfrm>
            <a:off x="3686175" y="2502882"/>
            <a:ext cx="285750" cy="123825"/>
          </a:xfrm>
          <a:prstGeom prst="rect">
            <a:avLst/>
          </a:prstGeom>
          <a:noFill/>
        </p:spPr>
        <p:txBody>
          <a:bodyPr wrap="none" lIns="0" rIns="0" tIns="0" bIns="0" anchor="ctr">
            <a:spAutoFit/>
          </a:bodyPr>
          <a:lstStyle/>
          <a:p>
            <a:pPr algn="l"/>
            <a:r>
              <a:rPr sz="1100" b="0">
                <a:solidFill>
                  <a:srgbClr val="6C7A89"/>
                </a:solidFill>
                <a:latin typeface="Calibri"/>
              </a:rPr>
              <a:t>8</a:t>
            </a:r>
          </a:p>
        </p:txBody>
      </p:sp>
      <p:sp>
        <p:nvSpPr>
          <p:cNvPr id="40" name="TextBox 39"/>
          <p:cNvSpPr txBox="1"/>
          <p:nvPr/>
        </p:nvSpPr>
        <p:spPr>
          <a:xfrm>
            <a:off x="3686175" y="2125606"/>
            <a:ext cx="285750" cy="123825"/>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1" name="TextBox 40"/>
          <p:cNvSpPr txBox="1"/>
          <p:nvPr/>
        </p:nvSpPr>
        <p:spPr>
          <a:xfrm>
            <a:off x="3000375" y="1839856"/>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2" name="TextBox 41"/>
          <p:cNvSpPr txBox="1"/>
          <p:nvPr/>
        </p:nvSpPr>
        <p:spPr>
          <a:xfrm>
            <a:off x="4232331"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3" name="TextBox 42"/>
          <p:cNvSpPr txBox="1"/>
          <p:nvPr/>
        </p:nvSpPr>
        <p:spPr>
          <a:xfrm>
            <a:off x="4993722"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4" name="TextBox 43"/>
          <p:cNvSpPr txBox="1"/>
          <p:nvPr/>
        </p:nvSpPr>
        <p:spPr>
          <a:xfrm>
            <a:off x="4993722"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5" name="TextBox 44"/>
          <p:cNvSpPr txBox="1"/>
          <p:nvPr/>
        </p:nvSpPr>
        <p:spPr>
          <a:xfrm>
            <a:off x="4232331"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6" name="TextBox 45"/>
          <p:cNvSpPr txBox="1"/>
          <p:nvPr/>
        </p:nvSpPr>
        <p:spPr>
          <a:xfrm>
            <a:off x="3000375" y="6031714"/>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7" name="TextBox 46"/>
          <p:cNvSpPr txBox="1"/>
          <p:nvPr/>
        </p:nvSpPr>
        <p:spPr>
          <a:xfrm>
            <a:off x="1768419"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8" name="TextBox 47"/>
          <p:cNvSpPr txBox="1"/>
          <p:nvPr/>
        </p:nvSpPr>
        <p:spPr>
          <a:xfrm>
            <a:off x="1007028"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9" name="TextBox 48"/>
          <p:cNvSpPr txBox="1"/>
          <p:nvPr/>
        </p:nvSpPr>
        <p:spPr>
          <a:xfrm>
            <a:off x="1007028"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0" name="TextBox 49"/>
          <p:cNvSpPr txBox="1"/>
          <p:nvPr/>
        </p:nvSpPr>
        <p:spPr>
          <a:xfrm>
            <a:off x="1768419"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1" name="Rounded Rectangle 50"/>
          <p:cNvSpPr/>
          <p:nvPr/>
        </p:nvSpPr>
        <p:spPr>
          <a:xfrm>
            <a:off x="7248525" y="1354081"/>
            <a:ext cx="4800600" cy="3479443"/>
          </a:xfrm>
          <a:prstGeom prst="roundRect">
            <a:avLst>
              <a:gd name="adj" fmla="val 219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81875" y="1439806"/>
            <a:ext cx="453390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53" name="Rectangle 52"/>
          <p:cNvSpPr/>
          <p:nvPr/>
        </p:nvSpPr>
        <p:spPr>
          <a:xfrm>
            <a:off x="7381875" y="1677931"/>
            <a:ext cx="45339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381875" y="1763656"/>
            <a:ext cx="4533900" cy="2993668"/>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Pricing across the Industrial Air Compressor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Demand strength, competitive intensity and supply-chain reliability together define the ceiling on pricing power across the Industrial Air Compressor Market.</a:t>
            </a:r>
          </a:p>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55" name="Rounded Rectangle 54"/>
          <p:cNvSpPr/>
          <p:nvPr/>
        </p:nvSpPr>
        <p:spPr>
          <a:xfrm>
            <a:off x="7248525" y="4943046"/>
            <a:ext cx="4800600" cy="1686354"/>
          </a:xfrm>
          <a:prstGeom prst="roundRect">
            <a:avLst>
              <a:gd name="adj" fmla="val 451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81875" y="5028771"/>
            <a:ext cx="4533900" cy="209550"/>
          </a:xfrm>
          <a:prstGeom prst="rect">
            <a:avLst/>
          </a:prstGeom>
          <a:noFill/>
        </p:spPr>
        <p:txBody>
          <a:bodyPr wrap="square" lIns="0" rIns="19050" tIns="9525" bIns="9525">
            <a:spAutoFit/>
          </a:bodyPr>
          <a:lstStyle/>
          <a:p>
            <a:pPr algn="l"/>
            <a:r>
              <a:rPr sz="1300" b="1">
                <a:solidFill>
                  <a:srgbClr val="0E2A5C"/>
                </a:solidFill>
                <a:latin typeface="Calibri"/>
              </a:rPr>
              <a:t>Highest-Impact Drivers</a:t>
            </a:r>
          </a:p>
        </p:txBody>
      </p:sp>
      <p:sp>
        <p:nvSpPr>
          <p:cNvPr id="57" name="Rectangle 56"/>
          <p:cNvSpPr/>
          <p:nvPr/>
        </p:nvSpPr>
        <p:spPr>
          <a:xfrm>
            <a:off x="7381875" y="5266896"/>
            <a:ext cx="45339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381875" y="5352621"/>
            <a:ext cx="4533900" cy="1200579"/>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1" name="TextBox 60"/>
          <p:cNvSpPr txBox="1"/>
          <p:nvPr/>
        </p:nvSpPr>
        <p:spPr>
          <a:xfrm>
            <a:off x="3288771" y="1898910"/>
            <a:ext cx="659829" cy="186689"/>
          </a:xfrm>
          <a:prstGeom prst="rect">
            <a:avLst/>
          </a:prstGeom>
          <a:noFill/>
        </p:spPr>
        <p:txBody>
          <a:bodyPr wrap="none" lIns="0" rIns="0" tIns="0" bIns="0">
            <a:spAutoFit/>
          </a:bodyPr>
          <a:lstStyle/>
          <a:p>
            <a:r>
              <a:rPr sz="1100" b="0">
                <a:solidFill>
                  <a:srgbClr val="2E2E2E"/>
                </a:solidFill>
                <a:latin typeface="Calibri"/>
              </a:rPr>
              <a:t>Input Cost</a:t>
            </a:r>
          </a:p>
        </p:txBody>
      </p:sp>
      <p:pic>
        <p:nvPicPr>
          <p:cNvPr id="62" name="Picture 61" descr="lock.png"/>
          <p:cNvPicPr>
            <a:picLocks noChangeAspect="1"/>
          </p:cNvPicPr>
          <p:nvPr/>
        </p:nvPicPr>
        <p:blipFill>
          <a:blip r:embed="rId4"/>
          <a:stretch>
            <a:fillRect/>
          </a:stretch>
        </p:blipFill>
        <p:spPr>
          <a:xfrm>
            <a:off x="3896652" y="1889132"/>
            <a:ext cx="128699" cy="187198"/>
          </a:xfrm>
          <a:prstGeom prst="rect">
            <a:avLst/>
          </a:prstGeom>
        </p:spPr>
      </p:pic>
      <p:sp>
        <p:nvSpPr>
          <p:cNvPr id="63" name="TextBox 62"/>
          <p:cNvSpPr txBox="1"/>
          <p:nvPr/>
        </p:nvSpPr>
        <p:spPr>
          <a:xfrm>
            <a:off x="4314683" y="2322667"/>
            <a:ext cx="1115044" cy="139750"/>
          </a:xfrm>
          <a:prstGeom prst="rect">
            <a:avLst/>
          </a:prstGeom>
          <a:noFill/>
        </p:spPr>
        <p:txBody>
          <a:bodyPr wrap="none" lIns="0" rIns="0" tIns="0" bIns="0">
            <a:spAutoFit/>
          </a:bodyPr>
          <a:lstStyle/>
          <a:p>
            <a:r>
              <a:rPr sz="791" b="0">
                <a:solidFill>
                  <a:srgbClr val="2E2E2E"/>
                </a:solidFill>
                <a:latin typeface="Calibri"/>
              </a:rPr>
              <a:t>Labor &amp; Production Costs</a:t>
            </a:r>
          </a:p>
        </p:txBody>
      </p:sp>
      <p:pic>
        <p:nvPicPr>
          <p:cNvPr id="64" name="Picture 63" descr="lock.png"/>
          <p:cNvPicPr>
            <a:picLocks noChangeAspect="1"/>
          </p:cNvPicPr>
          <p:nvPr/>
        </p:nvPicPr>
        <p:blipFill>
          <a:blip r:embed="rId4"/>
          <a:stretch>
            <a:fillRect/>
          </a:stretch>
        </p:blipFill>
        <p:spPr>
          <a:xfrm>
            <a:off x="5370988" y="2315626"/>
            <a:ext cx="92663" cy="134782"/>
          </a:xfrm>
          <a:prstGeom prst="rect">
            <a:avLst/>
          </a:prstGeom>
        </p:spPr>
      </p:pic>
      <p:sp>
        <p:nvSpPr>
          <p:cNvPr id="65" name="TextBox 64"/>
          <p:cNvSpPr txBox="1"/>
          <p:nvPr/>
        </p:nvSpPr>
        <p:spPr>
          <a:xfrm>
            <a:off x="5083343" y="3370632"/>
            <a:ext cx="1100506" cy="139750"/>
          </a:xfrm>
          <a:prstGeom prst="rect">
            <a:avLst/>
          </a:prstGeom>
          <a:noFill/>
        </p:spPr>
        <p:txBody>
          <a:bodyPr wrap="none" lIns="0" rIns="0" tIns="0" bIns="0">
            <a:spAutoFit/>
          </a:bodyPr>
          <a:lstStyle/>
          <a:p>
            <a:r>
              <a:rPr sz="791" b="0">
                <a:solidFill>
                  <a:srgbClr val="2E2E2E"/>
                </a:solidFill>
                <a:latin typeface="Calibri"/>
              </a:rPr>
              <a:t>Technology &amp; Innovation</a:t>
            </a:r>
          </a:p>
        </p:txBody>
      </p:sp>
      <p:pic>
        <p:nvPicPr>
          <p:cNvPr id="66" name="Picture 65" descr="lock.png"/>
          <p:cNvPicPr>
            <a:picLocks noChangeAspect="1"/>
          </p:cNvPicPr>
          <p:nvPr/>
        </p:nvPicPr>
        <p:blipFill>
          <a:blip r:embed="rId4"/>
          <a:stretch>
            <a:fillRect/>
          </a:stretch>
        </p:blipFill>
        <p:spPr>
          <a:xfrm>
            <a:off x="6125111" y="3363591"/>
            <a:ext cx="92663" cy="134782"/>
          </a:xfrm>
          <a:prstGeom prst="rect">
            <a:avLst/>
          </a:prstGeom>
        </p:spPr>
      </p:pic>
      <p:sp>
        <p:nvSpPr>
          <p:cNvPr id="67" name="TextBox 66"/>
          <p:cNvSpPr txBox="1"/>
          <p:nvPr/>
        </p:nvSpPr>
        <p:spPr>
          <a:xfrm>
            <a:off x="5072546" y="4662634"/>
            <a:ext cx="1115939" cy="146456"/>
          </a:xfrm>
          <a:prstGeom prst="rect">
            <a:avLst/>
          </a:prstGeom>
          <a:noFill/>
        </p:spPr>
        <p:txBody>
          <a:bodyPr wrap="none" lIns="0" rIns="0" tIns="0" bIns="0">
            <a:spAutoFit/>
          </a:bodyPr>
          <a:lstStyle/>
          <a:p>
            <a:r>
              <a:rPr sz="835" b="0">
                <a:solidFill>
                  <a:srgbClr val="2E2E2E"/>
                </a:solidFill>
                <a:latin typeface="Calibri"/>
              </a:rPr>
              <a:t>Supply Chain &amp; Logistics</a:t>
            </a:r>
          </a:p>
        </p:txBody>
      </p:sp>
      <p:pic>
        <p:nvPicPr>
          <p:cNvPr id="68" name="Picture 67" descr="lock.png"/>
          <p:cNvPicPr>
            <a:picLocks noChangeAspect="1"/>
          </p:cNvPicPr>
          <p:nvPr/>
        </p:nvPicPr>
        <p:blipFill>
          <a:blip r:embed="rId4"/>
          <a:stretch>
            <a:fillRect/>
          </a:stretch>
        </p:blipFill>
        <p:spPr>
          <a:xfrm>
            <a:off x="6130716" y="4655202"/>
            <a:ext cx="97811" cy="142270"/>
          </a:xfrm>
          <a:prstGeom prst="rect">
            <a:avLst/>
          </a:prstGeom>
        </p:spPr>
      </p:pic>
      <p:sp>
        <p:nvSpPr>
          <p:cNvPr id="69" name="TextBox 68"/>
          <p:cNvSpPr txBox="1"/>
          <p:nvPr/>
        </p:nvSpPr>
        <p:spPr>
          <a:xfrm>
            <a:off x="4279667" y="5653601"/>
            <a:ext cx="1238538" cy="139750"/>
          </a:xfrm>
          <a:prstGeom prst="rect">
            <a:avLst/>
          </a:prstGeom>
          <a:noFill/>
        </p:spPr>
        <p:txBody>
          <a:bodyPr wrap="none" lIns="0" rIns="0" tIns="0" bIns="0">
            <a:spAutoFit/>
          </a:bodyPr>
          <a:lstStyle/>
          <a:p>
            <a:r>
              <a:rPr sz="791" b="0">
                <a:solidFill>
                  <a:srgbClr val="2E2E2E"/>
                </a:solidFill>
                <a:latin typeface="Calibri"/>
              </a:rPr>
              <a:t>Demand &amp; Market Conditions</a:t>
            </a:r>
          </a:p>
        </p:txBody>
      </p:sp>
      <p:pic>
        <p:nvPicPr>
          <p:cNvPr id="70" name="Picture 69" descr="lock.png"/>
          <p:cNvPicPr>
            <a:picLocks noChangeAspect="1"/>
          </p:cNvPicPr>
          <p:nvPr/>
        </p:nvPicPr>
        <p:blipFill>
          <a:blip r:embed="rId4"/>
          <a:stretch>
            <a:fillRect/>
          </a:stretch>
        </p:blipFill>
        <p:spPr>
          <a:xfrm>
            <a:off x="4837988" y="5767261"/>
            <a:ext cx="92663" cy="134782"/>
          </a:xfrm>
          <a:prstGeom prst="rect">
            <a:avLst/>
          </a:prstGeom>
        </p:spPr>
      </p:pic>
      <p:sp>
        <p:nvSpPr>
          <p:cNvPr id="71" name="TextBox 70"/>
          <p:cNvSpPr txBox="1"/>
          <p:nvPr/>
        </p:nvSpPr>
        <p:spPr>
          <a:xfrm>
            <a:off x="3097033" y="6110885"/>
            <a:ext cx="1080271" cy="146456"/>
          </a:xfrm>
          <a:prstGeom prst="rect">
            <a:avLst/>
          </a:prstGeom>
          <a:noFill/>
        </p:spPr>
        <p:txBody>
          <a:bodyPr wrap="none" lIns="0" rIns="0" tIns="0" bIns="0">
            <a:spAutoFit/>
          </a:bodyPr>
          <a:lstStyle/>
          <a:p>
            <a:r>
              <a:rPr sz="835" b="0">
                <a:solidFill>
                  <a:srgbClr val="2E2E2E"/>
                </a:solidFill>
                <a:latin typeface="Calibri"/>
              </a:rPr>
              <a:t>Competitive Landscape</a:t>
            </a:r>
          </a:p>
        </p:txBody>
      </p:sp>
      <p:pic>
        <p:nvPicPr>
          <p:cNvPr id="72" name="Picture 71" descr="lock.png"/>
          <p:cNvPicPr>
            <a:picLocks noChangeAspect="1"/>
          </p:cNvPicPr>
          <p:nvPr/>
        </p:nvPicPr>
        <p:blipFill>
          <a:blip r:embed="rId4"/>
          <a:stretch>
            <a:fillRect/>
          </a:stretch>
        </p:blipFill>
        <p:spPr>
          <a:xfrm>
            <a:off x="4119536" y="6103453"/>
            <a:ext cx="97811" cy="142270"/>
          </a:xfrm>
          <a:prstGeom prst="rect">
            <a:avLst/>
          </a:prstGeom>
        </p:spPr>
      </p:pic>
      <p:sp>
        <p:nvSpPr>
          <p:cNvPr id="73" name="TextBox 72"/>
          <p:cNvSpPr txBox="1"/>
          <p:nvPr/>
        </p:nvSpPr>
        <p:spPr>
          <a:xfrm>
            <a:off x="1906713" y="5653601"/>
            <a:ext cx="1114061" cy="139750"/>
          </a:xfrm>
          <a:prstGeom prst="rect">
            <a:avLst/>
          </a:prstGeom>
          <a:noFill/>
        </p:spPr>
        <p:txBody>
          <a:bodyPr wrap="none" lIns="0" rIns="0" tIns="0" bIns="0">
            <a:spAutoFit/>
          </a:bodyPr>
          <a:lstStyle/>
          <a:p>
            <a:r>
              <a:rPr sz="791" b="0">
                <a:solidFill>
                  <a:srgbClr val="2E2E2E"/>
                </a:solidFill>
                <a:latin typeface="Calibri"/>
              </a:rPr>
              <a:t>Regulatory &amp; Compliance</a:t>
            </a:r>
          </a:p>
        </p:txBody>
      </p:sp>
      <p:sp>
        <p:nvSpPr>
          <p:cNvPr id="74" name="TextBox 73"/>
          <p:cNvSpPr txBox="1"/>
          <p:nvPr/>
        </p:nvSpPr>
        <p:spPr>
          <a:xfrm>
            <a:off x="2260671" y="5774302"/>
            <a:ext cx="295245" cy="139750"/>
          </a:xfrm>
          <a:prstGeom prst="rect">
            <a:avLst/>
          </a:prstGeom>
          <a:noFill/>
        </p:spPr>
        <p:txBody>
          <a:bodyPr wrap="none" lIns="0" rIns="0" tIns="0" bIns="0">
            <a:spAutoFit/>
          </a:bodyPr>
          <a:lstStyle/>
          <a:p>
            <a:r>
              <a:rPr sz="791" b="0">
                <a:solidFill>
                  <a:srgbClr val="2E2E2E"/>
                </a:solidFill>
                <a:latin typeface="Calibri"/>
              </a:rPr>
              <a:t>Costs</a:t>
            </a:r>
          </a:p>
        </p:txBody>
      </p:sp>
      <p:pic>
        <p:nvPicPr>
          <p:cNvPr id="75" name="Picture 74" descr="lock.png"/>
          <p:cNvPicPr>
            <a:picLocks noChangeAspect="1"/>
          </p:cNvPicPr>
          <p:nvPr/>
        </p:nvPicPr>
        <p:blipFill>
          <a:blip r:embed="rId4"/>
          <a:stretch>
            <a:fillRect/>
          </a:stretch>
        </p:blipFill>
        <p:spPr>
          <a:xfrm>
            <a:off x="2497177" y="5767261"/>
            <a:ext cx="92663" cy="134782"/>
          </a:xfrm>
          <a:prstGeom prst="rect">
            <a:avLst/>
          </a:prstGeom>
        </p:spPr>
      </p:pic>
      <p:sp>
        <p:nvSpPr>
          <p:cNvPr id="76" name="TextBox 75"/>
          <p:cNvSpPr txBox="1"/>
          <p:nvPr/>
        </p:nvSpPr>
        <p:spPr>
          <a:xfrm>
            <a:off x="1097191" y="4605637"/>
            <a:ext cx="1195711" cy="139750"/>
          </a:xfrm>
          <a:prstGeom prst="rect">
            <a:avLst/>
          </a:prstGeom>
          <a:noFill/>
        </p:spPr>
        <p:txBody>
          <a:bodyPr wrap="none" lIns="0" rIns="0" tIns="0" bIns="0">
            <a:spAutoFit/>
          </a:bodyPr>
          <a:lstStyle/>
          <a:p>
            <a:r>
              <a:rPr sz="791" b="0">
                <a:solidFill>
                  <a:srgbClr val="2E2E2E"/>
                </a:solidFill>
                <a:latin typeface="Calibri"/>
              </a:rPr>
              <a:t>Currency &amp; Trade Dynamics</a:t>
            </a:r>
          </a:p>
        </p:txBody>
      </p:sp>
      <p:pic>
        <p:nvPicPr>
          <p:cNvPr id="77" name="Picture 76" descr="lock.png"/>
          <p:cNvPicPr>
            <a:picLocks noChangeAspect="1"/>
          </p:cNvPicPr>
          <p:nvPr/>
        </p:nvPicPr>
        <p:blipFill>
          <a:blip r:embed="rId4"/>
          <a:stretch>
            <a:fillRect/>
          </a:stretch>
        </p:blipFill>
        <p:spPr>
          <a:xfrm>
            <a:off x="1612685" y="4719297"/>
            <a:ext cx="92663" cy="134782"/>
          </a:xfrm>
          <a:prstGeom prst="rect">
            <a:avLst/>
          </a:prstGeom>
        </p:spPr>
      </p:pic>
      <p:sp>
        <p:nvSpPr>
          <p:cNvPr id="78" name="TextBox 77"/>
          <p:cNvSpPr txBox="1"/>
          <p:nvPr/>
        </p:nvSpPr>
        <p:spPr>
          <a:xfrm>
            <a:off x="1079852" y="3370632"/>
            <a:ext cx="1134100" cy="139750"/>
          </a:xfrm>
          <a:prstGeom prst="rect">
            <a:avLst/>
          </a:prstGeom>
          <a:noFill/>
        </p:spPr>
        <p:txBody>
          <a:bodyPr wrap="none" lIns="0" rIns="0" tIns="0" bIns="0">
            <a:spAutoFit/>
          </a:bodyPr>
          <a:lstStyle/>
          <a:p>
            <a:r>
              <a:rPr sz="791" b="0">
                <a:solidFill>
                  <a:srgbClr val="2E2E2E"/>
                </a:solidFill>
                <a:latin typeface="Calibri"/>
              </a:rPr>
              <a:t>Brand &amp; Value Perception</a:t>
            </a:r>
          </a:p>
        </p:txBody>
      </p:sp>
      <p:pic>
        <p:nvPicPr>
          <p:cNvPr id="79" name="Picture 78" descr="lock.png"/>
          <p:cNvPicPr>
            <a:picLocks noChangeAspect="1"/>
          </p:cNvPicPr>
          <p:nvPr/>
        </p:nvPicPr>
        <p:blipFill>
          <a:blip r:embed="rId4"/>
          <a:stretch>
            <a:fillRect/>
          </a:stretch>
        </p:blipFill>
        <p:spPr>
          <a:xfrm>
            <a:off x="2155213" y="3363591"/>
            <a:ext cx="92663" cy="134782"/>
          </a:xfrm>
          <a:prstGeom prst="rect">
            <a:avLst/>
          </a:prstGeom>
        </p:spPr>
      </p:pic>
      <p:sp>
        <p:nvSpPr>
          <p:cNvPr id="80" name="TextBox 79"/>
          <p:cNvSpPr txBox="1"/>
          <p:nvPr/>
        </p:nvSpPr>
        <p:spPr>
          <a:xfrm>
            <a:off x="1850723" y="2262317"/>
            <a:ext cx="1203570" cy="139750"/>
          </a:xfrm>
          <a:prstGeom prst="rect">
            <a:avLst/>
          </a:prstGeom>
          <a:noFill/>
        </p:spPr>
        <p:txBody>
          <a:bodyPr wrap="none" lIns="0" rIns="0" tIns="0" bIns="0">
            <a:spAutoFit/>
          </a:bodyPr>
          <a:lstStyle/>
          <a:p>
            <a:r>
              <a:rPr sz="791" b="0">
                <a:solidFill>
                  <a:srgbClr val="2E2E2E"/>
                </a:solidFill>
                <a:latin typeface="Calibri"/>
              </a:rPr>
              <a:t>Aftermarket &amp; Service Costs</a:t>
            </a:r>
          </a:p>
        </p:txBody>
      </p:sp>
      <p:pic>
        <p:nvPicPr>
          <p:cNvPr id="81" name="Picture 80" descr="lock.png"/>
          <p:cNvPicPr>
            <a:picLocks noChangeAspect="1"/>
          </p:cNvPicPr>
          <p:nvPr/>
        </p:nvPicPr>
        <p:blipFill>
          <a:blip r:embed="rId4"/>
          <a:stretch>
            <a:fillRect/>
          </a:stretch>
        </p:blipFill>
        <p:spPr>
          <a:xfrm>
            <a:off x="2374076" y="2375977"/>
            <a:ext cx="92663" cy="134782"/>
          </a:xfrm>
          <a:prstGeom prst="rect">
            <a:avLst/>
          </a:prstGeom>
        </p:spPr>
      </p:pic>
      <p:sp>
        <p:nvSpPr>
          <p:cNvPr id="82" name="TextBox 81"/>
          <p:cNvSpPr txBox="1"/>
          <p:nvPr/>
        </p:nvSpPr>
        <p:spPr>
          <a:xfrm>
            <a:off x="7381875" y="5362146"/>
            <a:ext cx="740866" cy="186689"/>
          </a:xfrm>
          <a:prstGeom prst="rect">
            <a:avLst/>
          </a:prstGeom>
          <a:noFill/>
        </p:spPr>
        <p:txBody>
          <a:bodyPr wrap="none" lIns="0" rIns="0" tIns="0" bIns="0">
            <a:spAutoFit/>
          </a:bodyPr>
          <a:lstStyle/>
          <a:p>
            <a:r>
              <a:rPr sz="1100" b="0">
                <a:solidFill>
                  <a:srgbClr val="2E2E2E"/>
                </a:solidFill>
                <a:latin typeface="Calibri"/>
              </a:rPr>
              <a:t>▪ Input Cost</a:t>
            </a:r>
          </a:p>
        </p:txBody>
      </p:sp>
      <p:pic>
        <p:nvPicPr>
          <p:cNvPr id="83" name="Picture 82" descr="lock.png"/>
          <p:cNvPicPr>
            <a:picLocks noChangeAspect="1"/>
          </p:cNvPicPr>
          <p:nvPr/>
        </p:nvPicPr>
        <p:blipFill>
          <a:blip r:embed="rId4"/>
          <a:stretch>
            <a:fillRect/>
          </a:stretch>
        </p:blipFill>
        <p:spPr>
          <a:xfrm>
            <a:off x="8070793" y="5352366"/>
            <a:ext cx="128699" cy="187198"/>
          </a:xfrm>
          <a:prstGeom prst="rect">
            <a:avLst/>
          </a:prstGeom>
        </p:spPr>
      </p:pic>
      <p:sp>
        <p:nvSpPr>
          <p:cNvPr id="84" name="TextBox 83"/>
          <p:cNvSpPr txBox="1"/>
          <p:nvPr/>
        </p:nvSpPr>
        <p:spPr>
          <a:xfrm>
            <a:off x="8238288" y="5362146"/>
            <a:ext cx="1744141" cy="186689"/>
          </a:xfrm>
          <a:prstGeom prst="rect">
            <a:avLst/>
          </a:prstGeom>
          <a:noFill/>
        </p:spPr>
        <p:txBody>
          <a:bodyPr wrap="none" lIns="0" rIns="0" tIns="0" bIns="0">
            <a:spAutoFit/>
          </a:bodyPr>
          <a:lstStyle/>
          <a:p>
            <a:r>
              <a:rPr sz="1100" b="0">
                <a:solidFill>
                  <a:srgbClr val="2E2E2E"/>
                </a:solidFill>
                <a:latin typeface="Calibri"/>
              </a:rPr>
              <a:t>/ 10 · dominant cost pressure</a:t>
            </a:r>
          </a:p>
        </p:txBody>
      </p:sp>
      <p:sp>
        <p:nvSpPr>
          <p:cNvPr id="85" name="TextBox 84"/>
          <p:cNvSpPr txBox="1"/>
          <p:nvPr/>
        </p:nvSpPr>
        <p:spPr>
          <a:xfrm>
            <a:off x="7381875" y="5580078"/>
            <a:ext cx="1851372" cy="186689"/>
          </a:xfrm>
          <a:prstGeom prst="rect">
            <a:avLst/>
          </a:prstGeom>
          <a:noFill/>
        </p:spPr>
        <p:txBody>
          <a:bodyPr wrap="none" lIns="0" rIns="0" tIns="0" bIns="0">
            <a:spAutoFit/>
          </a:bodyPr>
          <a:lstStyle/>
          <a:p>
            <a:r>
              <a:rPr sz="1100" b="0">
                <a:solidFill>
                  <a:srgbClr val="2E2E2E"/>
                </a:solidFill>
                <a:latin typeface="Calibri"/>
              </a:rPr>
              <a:t>▪ Demand &amp; Market Conditions</a:t>
            </a:r>
          </a:p>
        </p:txBody>
      </p:sp>
      <p:pic>
        <p:nvPicPr>
          <p:cNvPr id="86" name="Picture 85" descr="lock.png"/>
          <p:cNvPicPr>
            <a:picLocks noChangeAspect="1"/>
          </p:cNvPicPr>
          <p:nvPr/>
        </p:nvPicPr>
        <p:blipFill>
          <a:blip r:embed="rId4"/>
          <a:stretch>
            <a:fillRect/>
          </a:stretch>
        </p:blipFill>
        <p:spPr>
          <a:xfrm>
            <a:off x="9181298" y="5570298"/>
            <a:ext cx="128699" cy="187198"/>
          </a:xfrm>
          <a:prstGeom prst="rect">
            <a:avLst/>
          </a:prstGeom>
        </p:spPr>
      </p:pic>
      <p:sp>
        <p:nvSpPr>
          <p:cNvPr id="87" name="TextBox 86"/>
          <p:cNvSpPr txBox="1"/>
          <p:nvPr/>
        </p:nvSpPr>
        <p:spPr>
          <a:xfrm>
            <a:off x="9348794" y="5580078"/>
            <a:ext cx="1527224" cy="186689"/>
          </a:xfrm>
          <a:prstGeom prst="rect">
            <a:avLst/>
          </a:prstGeom>
          <a:noFill/>
        </p:spPr>
        <p:txBody>
          <a:bodyPr wrap="none" lIns="0" rIns="0" tIns="0" bIns="0">
            <a:spAutoFit/>
          </a:bodyPr>
          <a:lstStyle/>
          <a:p>
            <a:r>
              <a:rPr sz="1100" b="0">
                <a:solidFill>
                  <a:srgbClr val="2E2E2E"/>
                </a:solidFill>
                <a:latin typeface="Calibri"/>
              </a:rPr>
              <a:t>/ 10 · major cost pressure</a:t>
            </a:r>
          </a:p>
        </p:txBody>
      </p:sp>
      <p:sp>
        <p:nvSpPr>
          <p:cNvPr id="88" name="TextBox 87"/>
          <p:cNvSpPr txBox="1"/>
          <p:nvPr/>
        </p:nvSpPr>
        <p:spPr>
          <a:xfrm>
            <a:off x="7381875" y="5798010"/>
            <a:ext cx="1478384" cy="186689"/>
          </a:xfrm>
          <a:prstGeom prst="rect">
            <a:avLst/>
          </a:prstGeom>
          <a:noFill/>
        </p:spPr>
        <p:txBody>
          <a:bodyPr wrap="none" lIns="0" rIns="0" tIns="0" bIns="0">
            <a:spAutoFit/>
          </a:bodyPr>
          <a:lstStyle/>
          <a:p>
            <a:r>
              <a:rPr sz="1100" b="0">
                <a:solidFill>
                  <a:srgbClr val="2E2E2E"/>
                </a:solidFill>
                <a:latin typeface="Calibri"/>
              </a:rPr>
              <a:t>▪ Competitive Landscape</a:t>
            </a:r>
          </a:p>
        </p:txBody>
      </p:sp>
      <p:pic>
        <p:nvPicPr>
          <p:cNvPr id="89" name="Picture 88" descr="lock.png"/>
          <p:cNvPicPr>
            <a:picLocks noChangeAspect="1"/>
          </p:cNvPicPr>
          <p:nvPr/>
        </p:nvPicPr>
        <p:blipFill>
          <a:blip r:embed="rId4"/>
          <a:stretch>
            <a:fillRect/>
          </a:stretch>
        </p:blipFill>
        <p:spPr>
          <a:xfrm>
            <a:off x="8808310" y="5788230"/>
            <a:ext cx="128699" cy="187198"/>
          </a:xfrm>
          <a:prstGeom prst="rect">
            <a:avLst/>
          </a:prstGeom>
        </p:spPr>
      </p:pic>
      <p:sp>
        <p:nvSpPr>
          <p:cNvPr id="90" name="TextBox 89"/>
          <p:cNvSpPr txBox="1"/>
          <p:nvPr/>
        </p:nvSpPr>
        <p:spPr>
          <a:xfrm>
            <a:off x="8975806" y="5798010"/>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1" name="TextBox 90"/>
          <p:cNvSpPr txBox="1"/>
          <p:nvPr/>
        </p:nvSpPr>
        <p:spPr>
          <a:xfrm>
            <a:off x="7381875" y="6015942"/>
            <a:ext cx="1525314" cy="186689"/>
          </a:xfrm>
          <a:prstGeom prst="rect">
            <a:avLst/>
          </a:prstGeom>
          <a:noFill/>
        </p:spPr>
        <p:txBody>
          <a:bodyPr wrap="none" lIns="0" rIns="0" tIns="0" bIns="0">
            <a:spAutoFit/>
          </a:bodyPr>
          <a:lstStyle/>
          <a:p>
            <a:r>
              <a:rPr sz="1100" b="0">
                <a:solidFill>
                  <a:srgbClr val="2E2E2E"/>
                </a:solidFill>
                <a:latin typeface="Calibri"/>
              </a:rPr>
              <a:t>▪ Supply Chain &amp; Logistics</a:t>
            </a:r>
          </a:p>
        </p:txBody>
      </p:sp>
      <p:pic>
        <p:nvPicPr>
          <p:cNvPr id="92" name="Picture 91" descr="lock.png"/>
          <p:cNvPicPr>
            <a:picLocks noChangeAspect="1"/>
          </p:cNvPicPr>
          <p:nvPr/>
        </p:nvPicPr>
        <p:blipFill>
          <a:blip r:embed="rId4"/>
          <a:stretch>
            <a:fillRect/>
          </a:stretch>
        </p:blipFill>
        <p:spPr>
          <a:xfrm>
            <a:off x="8855241" y="6006162"/>
            <a:ext cx="128699" cy="187198"/>
          </a:xfrm>
          <a:prstGeom prst="rect">
            <a:avLst/>
          </a:prstGeom>
        </p:spPr>
      </p:pic>
      <p:sp>
        <p:nvSpPr>
          <p:cNvPr id="93" name="TextBox 92"/>
          <p:cNvSpPr txBox="1"/>
          <p:nvPr/>
        </p:nvSpPr>
        <p:spPr>
          <a:xfrm>
            <a:off x="9022737" y="6015942"/>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4" name="TextBox 93"/>
          <p:cNvSpPr txBox="1"/>
          <p:nvPr/>
        </p:nvSpPr>
        <p:spPr>
          <a:xfrm>
            <a:off x="7381875" y="6233874"/>
            <a:ext cx="1600075" cy="186689"/>
          </a:xfrm>
          <a:prstGeom prst="rect">
            <a:avLst/>
          </a:prstGeom>
          <a:noFill/>
        </p:spPr>
        <p:txBody>
          <a:bodyPr wrap="none" lIns="0" rIns="0" tIns="0" bIns="0">
            <a:spAutoFit/>
          </a:bodyPr>
          <a:lstStyle/>
          <a:p>
            <a:r>
              <a:rPr sz="1100" b="0">
                <a:solidFill>
                  <a:srgbClr val="2E2E2E"/>
                </a:solidFill>
                <a:latin typeface="Calibri"/>
              </a:rPr>
              <a:t>▪ Labor &amp; Production Costs</a:t>
            </a:r>
          </a:p>
        </p:txBody>
      </p:sp>
      <p:pic>
        <p:nvPicPr>
          <p:cNvPr id="95" name="Picture 94" descr="lock.png"/>
          <p:cNvPicPr>
            <a:picLocks noChangeAspect="1"/>
          </p:cNvPicPr>
          <p:nvPr/>
        </p:nvPicPr>
        <p:blipFill>
          <a:blip r:embed="rId4"/>
          <a:stretch>
            <a:fillRect/>
          </a:stretch>
        </p:blipFill>
        <p:spPr>
          <a:xfrm>
            <a:off x="8930002" y="6224094"/>
            <a:ext cx="128699" cy="187198"/>
          </a:xfrm>
          <a:prstGeom prst="rect">
            <a:avLst/>
          </a:prstGeom>
        </p:spPr>
      </p:pic>
      <p:sp>
        <p:nvSpPr>
          <p:cNvPr id="96" name="TextBox 95"/>
          <p:cNvSpPr txBox="1"/>
          <p:nvPr/>
        </p:nvSpPr>
        <p:spPr>
          <a:xfrm>
            <a:off x="9097498" y="6233874"/>
            <a:ext cx="1387524" cy="186689"/>
          </a:xfrm>
          <a:prstGeom prst="rect">
            <a:avLst/>
          </a:prstGeom>
          <a:noFill/>
        </p:spPr>
        <p:txBody>
          <a:bodyPr wrap="none" lIns="0" rIns="0" tIns="0" bIns="0">
            <a:spAutoFit/>
          </a:bodyPr>
          <a:lstStyle/>
          <a:p>
            <a:r>
              <a:rPr sz="1100" b="0">
                <a:solidFill>
                  <a:srgbClr val="2E2E2E"/>
                </a:solidFill>
                <a:latin typeface="Calibri"/>
              </a:rPr>
              <a:t>/ 10 · supporting factor</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Factors Impacting Pricing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Factors affecting the pricing decision of the product: category, price impact, direction of pressure and rationale</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The cost, demand, efficiency and regulatory forces shaping and impacting achievable selling prices grouped by category, with each factor's direction, impact and score.</a:t>
            </a:r>
          </a:p>
        </p:txBody>
      </p:sp>
      <p:sp>
        <p:nvSpPr>
          <p:cNvPr id="8" name="Rounded Rectangle 7"/>
          <p:cNvSpPr/>
          <p:nvPr/>
        </p:nvSpPr>
        <p:spPr>
          <a:xfrm>
            <a:off x="142875" y="1314450"/>
            <a:ext cx="11906250" cy="3286125"/>
          </a:xfrm>
          <a:prstGeom prst="roundRect">
            <a:avLst>
              <a:gd name="adj" fmla="val 231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152400" y="1390650"/>
          <a:ext cx="11887199" cy="2981326"/>
        </p:xfrm>
        <a:graphic>
          <a:graphicData uri="http://schemas.openxmlformats.org/drawingml/2006/table">
            <a:tbl>
              <a:tblPr>
                <a:tableStyleId>{5C22544A-7EE6-4342-B048-85BDC9FD1C3A}</a:tableStyleId>
              </a:tblPr>
              <a:tblGrid>
                <a:gridCol w="2561515"/>
                <a:gridCol w="2697613"/>
                <a:gridCol w="1098187"/>
                <a:gridCol w="1211368"/>
                <a:gridCol w="1098187"/>
                <a:gridCol w="3220329"/>
              </a:tblGrid>
              <a:tr h="246126">
                <a:tc>
                  <a:txBody>
                    <a:bodyPr wrap="none"/>
                    <a:lstStyle/>
                    <a:p>
                      <a:pPr algn="l"/>
                      <a:r>
                        <a:rPr sz="1100" b="1">
                          <a:solidFill>
                            <a:srgbClr val="0E2A5C"/>
                          </a:solidFill>
                          <a:latin typeface="Calibri"/>
                        </a:rPr>
                        <a:t>Factor</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Category</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Price Impact</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Direction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Score (0–10)</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How It Shapes Price</a:t>
                      </a:r>
                      <a:endParaRPr sz="1100"/>
                    </a:p>
                  </a:txBody>
                  <a:tcPr marL="47625" marR="38100" marT="19050" marB="19050" anchor="ctr">
                    <a:solidFill>
                      <a:srgbClr val="EBF2F9"/>
                    </a:solidFill>
                  </a:tcPr>
                </a:tc>
              </a:tr>
              <a:tr h="27352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Raw-material and input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Labour and production expenses.</a:t>
                      </a:r>
                      <a:endParaRPr sz="1100"/>
                    </a:p>
                  </a:txBody>
                  <a:tcPr marL="47625" marR="38100" marT="19050" marB="19050" anchor="ctr">
                    <a:solidFill>
                      <a:srgbClr val="F5F9FD"/>
                    </a:solidFill>
                  </a:tcPr>
                </a:tc>
              </a:tr>
              <a:tr h="27352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Supply-chain and logistics conditions.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Demand and broader market conditions.</a:t>
                      </a:r>
                      <a:endParaRPr sz="1100"/>
                    </a:p>
                  </a:txBody>
                  <a:tcPr marL="47625" marR="38100" marT="19050" marB="19050" anchor="ctr">
                    <a:solidFill>
                      <a:srgbClr val="F5F9FD"/>
                    </a:solidFill>
                  </a:tcPr>
                </a:tc>
              </a:tr>
              <a:tr h="27352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Competitive intensity.</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Brand strength and value perception.</a:t>
                      </a:r>
                      <a:endParaRPr sz="1100"/>
                    </a:p>
                  </a:txBody>
                  <a:tcPr marL="47625" marR="38100" marT="19050" marB="19050" anchor="ctr">
                    <a:solidFill>
                      <a:srgbClr val="F5F9FD"/>
                    </a:solidFill>
                  </a:tcPr>
                </a:tc>
              </a:tr>
              <a:tr h="27352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Technology and process innovation.</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Aftermarket and service costs.</a:t>
                      </a:r>
                      <a:endParaRPr sz="1100"/>
                    </a:p>
                  </a:txBody>
                  <a:tcPr marL="47625" marR="38100" marT="19050" marB="19050" anchor="ctr">
                    <a:solidFill>
                      <a:srgbClr val="F5F9FD"/>
                    </a:solidFill>
                  </a:tcPr>
                </a:tc>
              </a:tr>
              <a:tr h="27352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and compliance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Currency and trade dynamics.</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4381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752975"/>
            <a:ext cx="11906250" cy="1790700"/>
          </a:xfrm>
          <a:prstGeom prst="roundRect">
            <a:avLst>
              <a:gd name="adj" fmla="val 42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838700"/>
            <a:ext cx="11639550" cy="209550"/>
          </a:xfrm>
          <a:prstGeom prst="rect">
            <a:avLst/>
          </a:prstGeom>
          <a:noFill/>
        </p:spPr>
        <p:txBody>
          <a:bodyPr wrap="square" lIns="0" rIns="19050" tIns="9525" bIns="9525">
            <a:spAutoFit/>
          </a:bodyPr>
          <a:lstStyle/>
          <a:p>
            <a:pPr algn="l"/>
            <a:r>
              <a:rPr sz="1300" b="1">
                <a:solidFill>
                  <a:srgbClr val="0E2A5C"/>
                </a:solidFill>
                <a:latin typeface="Calibri"/>
              </a:rPr>
              <a:t>What the Factors Imply</a:t>
            </a:r>
          </a:p>
        </p:txBody>
      </p:sp>
      <p:sp>
        <p:nvSpPr>
          <p:cNvPr id="13" name="Rectangle 12"/>
          <p:cNvSpPr/>
          <p:nvPr/>
        </p:nvSpPr>
        <p:spPr>
          <a:xfrm>
            <a:off x="276225" y="50768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5162550"/>
            <a:ext cx="11639550" cy="1304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8102155" y="2764346"/>
            <a:ext cx="330041" cy="480060"/>
          </a:xfrm>
          <a:prstGeom prst="rect">
            <a:avLst/>
          </a:prstGeom>
        </p:spPr>
      </p:pic>
      <p:sp>
        <p:nvSpPr>
          <p:cNvPr id="18" name="TextBox 17"/>
          <p:cNvSpPr txBox="1"/>
          <p:nvPr/>
        </p:nvSpPr>
        <p:spPr>
          <a:xfrm>
            <a:off x="276225" y="5172075"/>
            <a:ext cx="5425566" cy="194310"/>
          </a:xfrm>
          <a:prstGeom prst="rect">
            <a:avLst/>
          </a:prstGeom>
          <a:noFill/>
        </p:spPr>
        <p:txBody>
          <a:bodyPr wrap="none" lIns="0" rIns="0" tIns="0" bIns="0">
            <a:spAutoFit/>
          </a:bodyPr>
          <a:lstStyle/>
          <a:p>
            <a:r>
              <a:rPr sz="1150" b="0">
                <a:solidFill>
                  <a:srgbClr val="2E2E2E"/>
                </a:solidFill>
                <a:latin typeface="Calibri"/>
              </a:rPr>
              <a:t>▪ Input Cost and Demand &amp; Market Conditions carry the heaviest weight on selling prices (</a:t>
            </a:r>
          </a:p>
        </p:txBody>
      </p:sp>
      <p:pic>
        <p:nvPicPr>
          <p:cNvPr id="19" name="Picture 18" descr="lock.png"/>
          <p:cNvPicPr>
            <a:picLocks noChangeAspect="1"/>
          </p:cNvPicPr>
          <p:nvPr/>
        </p:nvPicPr>
        <p:blipFill>
          <a:blip r:embed="rId4"/>
          <a:stretch>
            <a:fillRect/>
          </a:stretch>
        </p:blipFill>
        <p:spPr>
          <a:xfrm>
            <a:off x="5650945" y="5161851"/>
            <a:ext cx="134549" cy="195707"/>
          </a:xfrm>
          <a:prstGeom prst="rect">
            <a:avLst/>
          </a:prstGeom>
        </p:spPr>
      </p:pic>
      <p:sp>
        <p:nvSpPr>
          <p:cNvPr id="20" name="TextBox 19"/>
          <p:cNvSpPr txBox="1"/>
          <p:nvPr/>
        </p:nvSpPr>
        <p:spPr>
          <a:xfrm>
            <a:off x="5826054" y="5172075"/>
            <a:ext cx="299553" cy="194310"/>
          </a:xfrm>
          <a:prstGeom prst="rect">
            <a:avLst/>
          </a:prstGeom>
          <a:noFill/>
        </p:spPr>
        <p:txBody>
          <a:bodyPr wrap="none" lIns="0" rIns="0" tIns="0" bIns="0">
            <a:spAutoFit/>
          </a:bodyPr>
          <a:lstStyle/>
          <a:p>
            <a:r>
              <a:rPr sz="1150" b="0">
                <a:solidFill>
                  <a:srgbClr val="2E2E2E"/>
                </a:solidFill>
                <a:latin typeface="Calibri"/>
              </a:rPr>
              <a:t>and</a:t>
            </a:r>
          </a:p>
        </p:txBody>
      </p:sp>
      <p:pic>
        <p:nvPicPr>
          <p:cNvPr id="21" name="Picture 20" descr="lock.png"/>
          <p:cNvPicPr>
            <a:picLocks noChangeAspect="1"/>
          </p:cNvPicPr>
          <p:nvPr/>
        </p:nvPicPr>
        <p:blipFill>
          <a:blip r:embed="rId4"/>
          <a:stretch>
            <a:fillRect/>
          </a:stretch>
        </p:blipFill>
        <p:spPr>
          <a:xfrm>
            <a:off x="6074762" y="5161851"/>
            <a:ext cx="134549" cy="195707"/>
          </a:xfrm>
          <a:prstGeom prst="rect">
            <a:avLst/>
          </a:prstGeom>
        </p:spPr>
      </p:pic>
      <p:sp>
        <p:nvSpPr>
          <p:cNvPr id="22" name="TextBox 21"/>
          <p:cNvSpPr txBox="1"/>
          <p:nvPr/>
        </p:nvSpPr>
        <p:spPr>
          <a:xfrm>
            <a:off x="6249871" y="5172075"/>
            <a:ext cx="395113" cy="194310"/>
          </a:xfrm>
          <a:prstGeom prst="rect">
            <a:avLst/>
          </a:prstGeom>
          <a:noFill/>
        </p:spPr>
        <p:txBody>
          <a:bodyPr wrap="none" lIns="0" rIns="0" tIns="0" bIns="0">
            <a:spAutoFit/>
          </a:bodyPr>
          <a:lstStyle/>
          <a:p>
            <a:r>
              <a:rPr sz="1150" b="0">
                <a:solidFill>
                  <a:srgbClr val="2E2E2E"/>
                </a:solidFill>
                <a:latin typeface="Calibri"/>
              </a:rPr>
              <a:t>/ 10).</a:t>
            </a:r>
          </a:p>
        </p:txBody>
      </p:sp>
      <p:sp>
        <p:nvSpPr>
          <p:cNvPr id="23" name="TextBox 22"/>
          <p:cNvSpPr txBox="1"/>
          <p:nvPr/>
        </p:nvSpPr>
        <p:spPr>
          <a:xfrm>
            <a:off x="276225" y="5399913"/>
            <a:ext cx="8333444" cy="194310"/>
          </a:xfrm>
          <a:prstGeom prst="rect">
            <a:avLst/>
          </a:prstGeom>
          <a:noFill/>
        </p:spPr>
        <p:txBody>
          <a:bodyPr wrap="none" lIns="0" rIns="0" tIns="0" bIns="0">
            <a:spAutoFit/>
          </a:bodyPr>
          <a:lstStyle/>
          <a:p>
            <a:r>
              <a:rPr sz="1150" b="0">
                <a:solidFill>
                  <a:srgbClr val="2E2E2E"/>
                </a:solidFill>
                <a:latin typeface="Calibri"/>
              </a:rPr>
              <a:t>▪ 8 of 10 factors exert upward pressure on price; the rest pull prices down chiefly Technology &amp; Innovation and the Competitive Landscape.</a:t>
            </a:r>
          </a:p>
        </p:txBody>
      </p:sp>
      <p:sp>
        <p:nvSpPr>
          <p:cNvPr id="24" name="TextBox 23"/>
          <p:cNvSpPr txBox="1"/>
          <p:nvPr/>
        </p:nvSpPr>
        <p:spPr>
          <a:xfrm>
            <a:off x="276225" y="5627750"/>
            <a:ext cx="8053610" cy="194310"/>
          </a:xfrm>
          <a:prstGeom prst="rect">
            <a:avLst/>
          </a:prstGeom>
          <a:noFill/>
        </p:spPr>
        <p:txBody>
          <a:bodyPr wrap="none" lIns="0" rIns="0" tIns="0" bIns="0">
            <a:spAutoFit/>
          </a:bodyPr>
          <a:lstStyle/>
          <a:p>
            <a:r>
              <a:rPr sz="1150" b="0">
                <a:solidFill>
                  <a:srgbClr val="2E2E2E"/>
                </a:solidFill>
                <a:latin typeface="Calibri"/>
              </a:rPr>
              <a:t>▪ Cost-side factors set the price floor; demand, brand and competitive forces determine how much of that cost can be passed through.</a:t>
            </a:r>
          </a:p>
        </p:txBody>
      </p:sp>
      <p:sp>
        <p:nvSpPr>
          <p:cNvPr id="25" name="TextBox 24"/>
          <p:cNvSpPr txBox="1"/>
          <p:nvPr/>
        </p:nvSpPr>
        <p:spPr>
          <a:xfrm>
            <a:off x="276225" y="5855588"/>
            <a:ext cx="7048375" cy="194310"/>
          </a:xfrm>
          <a:prstGeom prst="rect">
            <a:avLst/>
          </a:prstGeom>
          <a:noFill/>
        </p:spPr>
        <p:txBody>
          <a:bodyPr wrap="none" lIns="0" rIns="0" tIns="0" bIns="0">
            <a:spAutoFit/>
          </a:bodyPr>
          <a:lstStyle/>
          <a:p>
            <a:r>
              <a:rPr sz="1150" b="0">
                <a:solidFill>
                  <a:srgbClr val="2E2E2E"/>
                </a:solidFill>
                <a:latin typeface="Calibri"/>
              </a:rPr>
              <a:t>▪ Aftermarket &amp; Service Costs exerts the least pressure a second-order effect to monitor rather than actively manage.</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Regional Price Assessment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Regional price assessment across the value chain, from manufacturer to retail, and average price by geography, 2026–2036</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price assessment across the value chain (US$/Units) and price trajectory to 2036.</a:t>
            </a:r>
          </a:p>
        </p:txBody>
      </p:sp>
      <p:sp>
        <p:nvSpPr>
          <p:cNvPr id="8" name="Rounded Rectangle 7"/>
          <p:cNvSpPr/>
          <p:nvPr/>
        </p:nvSpPr>
        <p:spPr>
          <a:xfrm>
            <a:off x="142875" y="1317574"/>
            <a:ext cx="5905500" cy="2738055"/>
          </a:xfrm>
          <a:prstGeom prst="roundRect">
            <a:avLst>
              <a:gd name="adj" fmla="val 278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472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Regional Price by Value-Chain Level (US$/Units)</a:t>
            </a:r>
          </a:p>
        </p:txBody>
      </p:sp>
      <p:graphicFrame>
        <p:nvGraphicFramePr>
          <p:cNvPr id="10" name="Table 9"/>
          <p:cNvGraphicFramePr>
            <a:graphicFrameLocks noGrp="1"/>
          </p:cNvGraphicFramePr>
          <p:nvPr/>
        </p:nvGraphicFramePr>
        <p:xfrm>
          <a:off x="152400" y="1574749"/>
          <a:ext cx="5886452" cy="2271331"/>
        </p:xfrm>
        <a:graphic>
          <a:graphicData uri="http://schemas.openxmlformats.org/drawingml/2006/table">
            <a:tbl>
              <a:tblPr>
                <a:tableStyleId>{5C22544A-7EE6-4342-B048-85BDC9FD1C3A}</a:tableStyleId>
              </a:tblPr>
              <a:tblGrid>
                <a:gridCol w="1370904"/>
                <a:gridCol w="1128887"/>
                <a:gridCol w="1128887"/>
                <a:gridCol w="1128887"/>
                <a:gridCol w="1128887"/>
              </a:tblGrid>
              <a:tr h="246126">
                <a:tc>
                  <a:txBody>
                    <a:bodyPr wrap="none"/>
                    <a:lstStyle/>
                    <a:p>
                      <a:pPr algn="l"/>
                      <a:r>
                        <a:rPr sz="1100" b="1">
                          <a:solidFill>
                            <a:srgbClr val="0E2A5C"/>
                          </a:solidFill>
                          <a:latin typeface="Calibri"/>
                        </a:rPr>
                        <a:t>Geography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Manufacturer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Distribution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Retail</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Total Margin (%)</a:t>
                      </a:r>
                      <a:endParaRPr sz="1100"/>
                    </a:p>
                  </a:txBody>
                  <a:tcPr marL="47625" marR="38100" marT="19050" marB="19050" anchor="ctr">
                    <a:solidFill>
                      <a:srgbClr val="EBF2F9"/>
                    </a:solidFill>
                  </a:tcPr>
                </a:tc>
              </a:tr>
              <a:tr h="289315">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Latin America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89315">
                <a:tc>
                  <a:txBody>
                    <a:bodyPr wrap="none"/>
                    <a:lstStyle/>
                    <a:p>
                      <a:pPr algn="l"/>
                      <a:r>
                        <a:rPr sz="1100" b="1">
                          <a:solidFill>
                            <a:srgbClr val="2E2E2E"/>
                          </a:solidFill>
                          <a:latin typeface="Calibr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89315">
                <a:tc>
                  <a:txBody>
                    <a:bodyPr wrap="none"/>
                    <a:lstStyle/>
                    <a:p>
                      <a:pPr algn="l"/>
                      <a:r>
                        <a:rPr sz="1100" b="1">
                          <a:solidFill>
                            <a:srgbClr val="2E2E2E"/>
                          </a:solidFill>
                          <a:latin typeface="Calibr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Eastern Europe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89315">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1" name="TextBox 10"/>
          <p:cNvSpPr txBox="1"/>
          <p:nvPr/>
        </p:nvSpPr>
        <p:spPr>
          <a:xfrm>
            <a:off x="219075" y="3855604"/>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2" name="Rounded Rectangle 11"/>
          <p:cNvSpPr/>
          <p:nvPr/>
        </p:nvSpPr>
        <p:spPr>
          <a:xfrm>
            <a:off x="6200775" y="1317574"/>
            <a:ext cx="5848350" cy="2738055"/>
          </a:xfrm>
          <a:prstGeom prst="roundRect">
            <a:avLst>
              <a:gd name="adj" fmla="val 278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6025" y="1374724"/>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by Geography (US$/Units)</a:t>
            </a:r>
          </a:p>
        </p:txBody>
      </p:sp>
      <p:graphicFrame>
        <p:nvGraphicFramePr>
          <p:cNvPr id="14" name="Table 13"/>
          <p:cNvGraphicFramePr>
            <a:graphicFrameLocks noGrp="1"/>
          </p:cNvGraphicFramePr>
          <p:nvPr/>
        </p:nvGraphicFramePr>
        <p:xfrm>
          <a:off x="6210300" y="1574749"/>
          <a:ext cx="5829299" cy="2271331"/>
        </p:xfrm>
        <a:graphic>
          <a:graphicData uri="http://schemas.openxmlformats.org/drawingml/2006/table">
            <a:tbl>
              <a:tblPr>
                <a:tableStyleId>{5C22544A-7EE6-4342-B048-85BDC9FD1C3A}</a:tableStyleId>
              </a:tblPr>
              <a:tblGrid>
                <a:gridCol w="2038759"/>
                <a:gridCol w="947635"/>
                <a:gridCol w="947635"/>
                <a:gridCol w="947635"/>
                <a:gridCol w="947635"/>
              </a:tblGrid>
              <a:tr h="246126">
                <a:tc>
                  <a:txBody>
                    <a:bodyPr wrap="none"/>
                    <a:lstStyle/>
                    <a:p>
                      <a:pPr algn="l"/>
                      <a:r>
                        <a:rPr sz="1100" b="1">
                          <a:solidFill>
                            <a:srgbClr val="0E2A5C"/>
                          </a:solidFill>
                          <a:latin typeface="Calibri"/>
                        </a:rPr>
                        <a:t>Geography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r>
              <a:tr h="289315">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Latin America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89315">
                <a:tc>
                  <a:txBody>
                    <a:bodyPr wrap="none"/>
                    <a:lstStyle/>
                    <a:p>
                      <a:pPr algn="l"/>
                      <a:r>
                        <a:rPr sz="1100" b="1">
                          <a:solidFill>
                            <a:srgbClr val="2E2E2E"/>
                          </a:solidFill>
                          <a:latin typeface="Calibr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89315">
                <a:tc>
                  <a:txBody>
                    <a:bodyPr wrap="none"/>
                    <a:lstStyle/>
                    <a:p>
                      <a:pPr algn="l"/>
                      <a:r>
                        <a:rPr sz="1100" b="1">
                          <a:solidFill>
                            <a:srgbClr val="2E2E2E"/>
                          </a:solidFill>
                          <a:latin typeface="Calibr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Eastern Europe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89315">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6276975" y="3855604"/>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6" name="Rounded Rectangle 15"/>
          <p:cNvSpPr/>
          <p:nvPr/>
        </p:nvSpPr>
        <p:spPr>
          <a:xfrm>
            <a:off x="142875" y="4201658"/>
            <a:ext cx="1190625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87383"/>
            <a:ext cx="11639550" cy="209550"/>
          </a:xfrm>
          <a:prstGeom prst="rect">
            <a:avLst/>
          </a:prstGeom>
          <a:noFill/>
        </p:spPr>
        <p:txBody>
          <a:bodyPr wrap="square" lIns="0" rIns="19050" tIns="9525" bIns="9525">
            <a:spAutoFit/>
          </a:bodyPr>
          <a:lstStyle/>
          <a:p>
            <a:pPr algn="l"/>
            <a:r>
              <a:rPr sz="1300" b="1">
                <a:solidFill>
                  <a:srgbClr val="0E2A5C"/>
                </a:solidFill>
                <a:latin typeface="Calibri"/>
              </a:rPr>
              <a:t>What This Section Covers</a:t>
            </a:r>
          </a:p>
        </p:txBody>
      </p:sp>
      <p:sp>
        <p:nvSpPr>
          <p:cNvPr id="18" name="Rectangle 17"/>
          <p:cNvSpPr/>
          <p:nvPr/>
        </p:nvSpPr>
        <p:spPr>
          <a:xfrm>
            <a:off x="276225" y="4525508"/>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611233"/>
            <a:ext cx="116395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4"/>
          <a:stretch>
            <a:fillRect/>
          </a:stretch>
        </p:blipFill>
        <p:spPr>
          <a:xfrm>
            <a:off x="3594387" y="2566777"/>
            <a:ext cx="366712" cy="533400"/>
          </a:xfrm>
          <a:prstGeom prst="rect">
            <a:avLst/>
          </a:prstGeom>
        </p:spPr>
      </p:pic>
      <p:pic>
        <p:nvPicPr>
          <p:cNvPr id="23" name="Picture 22" descr="lock.png"/>
          <p:cNvPicPr>
            <a:picLocks noChangeAspect="1"/>
          </p:cNvPicPr>
          <p:nvPr/>
        </p:nvPicPr>
        <p:blipFill>
          <a:blip r:embed="rId4"/>
          <a:stretch>
            <a:fillRect/>
          </a:stretch>
        </p:blipFill>
        <p:spPr>
          <a:xfrm>
            <a:off x="9957639" y="2566777"/>
            <a:ext cx="366712" cy="533400"/>
          </a:xfrm>
          <a:prstGeom prst="rect">
            <a:avLst/>
          </a:prstGeom>
        </p:spPr>
      </p:pic>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Global Pricing Benchmarking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price range by region and sub-segment against the weighted average price of each region</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Development-stage price assumptions and manufacturer benchmarking price range by technology type and region (US$/Units).</a:t>
            </a:r>
          </a:p>
        </p:txBody>
      </p:sp>
      <p:sp>
        <p:nvSpPr>
          <p:cNvPr id="8" name="Rounded Rectangle 7"/>
          <p:cNvSpPr/>
          <p:nvPr/>
        </p:nvSpPr>
        <p:spPr>
          <a:xfrm>
            <a:off x="142875" y="1314450"/>
            <a:ext cx="11906250" cy="3095625"/>
          </a:xfrm>
          <a:prstGeom prst="roundRect">
            <a:avLst>
              <a:gd name="adj" fmla="val 246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16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Benchmarking by Region &amp; Technology (US$/Units)</a:t>
            </a:r>
          </a:p>
        </p:txBody>
      </p:sp>
      <p:graphicFrame>
        <p:nvGraphicFramePr>
          <p:cNvPr id="10" name="Table 9"/>
          <p:cNvGraphicFramePr>
            <a:graphicFrameLocks noGrp="1"/>
          </p:cNvGraphicFramePr>
          <p:nvPr/>
        </p:nvGraphicFramePr>
        <p:xfrm>
          <a:off x="152400" y="1571625"/>
          <a:ext cx="11888484" cy="2628897"/>
        </p:xfrm>
        <a:graphic>
          <a:graphicData uri="http://schemas.openxmlformats.org/drawingml/2006/table">
            <a:tbl>
              <a:tblPr>
                <a:tableStyleId>{5C22544A-7EE6-4342-B048-85BDC9FD1C3A}</a:tableStyleId>
              </a:tblPr>
              <a:tblGrid>
                <a:gridCol w="1348921"/>
                <a:gridCol w="1687213"/>
                <a:gridCol w="2072480"/>
                <a:gridCol w="1589540"/>
                <a:gridCol w="1318225"/>
                <a:gridCol w="1647420"/>
                <a:gridCol w="1343548"/>
                <a:gridCol w="881137"/>
              </a:tblGrid>
              <a:tr h="438912">
                <a:tc>
                  <a:txBody>
                    <a:bodyPr wrap="none"/>
                    <a:lstStyle/>
                    <a:p>
                      <a:pPr algn="l"/>
                      <a:r>
                        <a:rPr sz="1100" b="1">
                          <a:solidFill>
                            <a:srgbClr val="0E2A5C"/>
                          </a:solidFill>
                          <a:latin typeface="Calibri"/>
                        </a:rPr>
                        <a:t>Region</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Rotary Screw Air Compressor</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Reciprocating (Piston) Air Compressor</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Centrifugal Air Compressor</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Axial Air Compressor</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Rotary Vane Air Compressor</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Scroll Air Compressor</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Weighted Avg</a:t>
                      </a:r>
                      <a:endParaRPr sz="1100"/>
                    </a:p>
                  </a:txBody>
                  <a:tcPr marL="47625" marR="38100" marT="19050" marB="19050" anchor="ctr">
                    <a:solidFill>
                      <a:srgbClr val="EBF2F9"/>
                    </a:solidFill>
                  </a:tcPr>
                </a:tc>
              </a:tr>
              <a:tr h="312855">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12855">
                <a:tc>
                  <a:txBody>
                    <a:bodyPr wrap="none"/>
                    <a:lstStyle/>
                    <a:p>
                      <a:pPr algn="l"/>
                      <a:r>
                        <a:rPr sz="1100" b="1">
                          <a:solidFill>
                            <a:srgbClr val="2E2E2E"/>
                          </a:solidFill>
                          <a:latin typeface="Calibri"/>
                        </a:rPr>
                        <a:t>Latin America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12855">
                <a:tc>
                  <a:txBody>
                    <a:bodyPr wrap="none"/>
                    <a:lstStyle/>
                    <a:p>
                      <a:pPr algn="l"/>
                      <a:r>
                        <a:rPr sz="1100" b="1">
                          <a:solidFill>
                            <a:srgbClr val="2E2E2E"/>
                          </a:solidFill>
                          <a:latin typeface="Calibr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12855">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12855">
                <a:tc>
                  <a:txBody>
                    <a:bodyPr wrap="none"/>
                    <a:lstStyle/>
                    <a:p>
                      <a:pPr algn="l"/>
                      <a:r>
                        <a:rPr sz="1100" b="1">
                          <a:solidFill>
                            <a:srgbClr val="2E2E2E"/>
                          </a:solidFill>
                          <a:latin typeface="Calibr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12855">
                <a:tc>
                  <a:txBody>
                    <a:bodyPr wrap="none"/>
                    <a:lstStyle/>
                    <a:p>
                      <a:pPr algn="l"/>
                      <a:r>
                        <a:rPr sz="1100" b="1">
                          <a:solidFill>
                            <a:srgbClr val="2E2E2E"/>
                          </a:solidFill>
                          <a:latin typeface="Calibri"/>
                        </a:rPr>
                        <a:t>Eastern Europe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12855">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1" name="TextBox 10"/>
          <p:cNvSpPr txBox="1"/>
          <p:nvPr/>
        </p:nvSpPr>
        <p:spPr>
          <a:xfrm>
            <a:off x="219075" y="42100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2" name="Rounded Rectangle 11"/>
          <p:cNvSpPr/>
          <p:nvPr/>
        </p:nvSpPr>
        <p:spPr>
          <a:xfrm>
            <a:off x="142875" y="4552950"/>
            <a:ext cx="11906250" cy="1990725"/>
          </a:xfrm>
          <a:prstGeom prst="roundRect">
            <a:avLst>
              <a:gd name="adj" fmla="val 382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E2A5C"/>
                </a:solidFill>
                <a:latin typeface="Calibri"/>
              </a:rPr>
              <a:t>Benchmarking Insights</a:t>
            </a:r>
          </a:p>
        </p:txBody>
      </p:sp>
      <p:sp>
        <p:nvSpPr>
          <p:cNvPr id="14" name="Rectangle 13"/>
          <p:cNvSpPr/>
          <p:nvPr/>
        </p:nvSpPr>
        <p:spPr>
          <a:xfrm>
            <a:off x="276225" y="48768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962525"/>
            <a:ext cx="11639550"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6" name="Rectangle 1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6576076" y="2838829"/>
            <a:ext cx="366712" cy="533400"/>
          </a:xfrm>
          <a:prstGeom prst="rect">
            <a:avLst/>
          </a:prstGeom>
        </p:spPr>
      </p:pic>
      <p:sp>
        <p:nvSpPr>
          <p:cNvPr id="19" name="TextBox 18"/>
          <p:cNvSpPr txBox="1"/>
          <p:nvPr/>
        </p:nvSpPr>
        <p:spPr>
          <a:xfrm>
            <a:off x="276225" y="4972050"/>
            <a:ext cx="4641688" cy="194310"/>
          </a:xfrm>
          <a:prstGeom prst="rect">
            <a:avLst/>
          </a:prstGeom>
          <a:noFill/>
        </p:spPr>
        <p:txBody>
          <a:bodyPr wrap="none" lIns="0" rIns="0" tIns="0" bIns="0">
            <a:spAutoFit/>
          </a:bodyPr>
          <a:lstStyle/>
          <a:p>
            <a:r>
              <a:rPr sz="1150" b="0">
                <a:solidFill>
                  <a:srgbClr val="2E2E2E"/>
                </a:solidFill>
                <a:latin typeface="Calibri"/>
              </a:rPr>
              <a:t>▪ On a weighted-average basis 'North America' is the highest-priced region (~</a:t>
            </a:r>
          </a:p>
        </p:txBody>
      </p:sp>
      <p:pic>
        <p:nvPicPr>
          <p:cNvPr id="20" name="Picture 19" descr="lock.png"/>
          <p:cNvPicPr>
            <a:picLocks noChangeAspect="1"/>
          </p:cNvPicPr>
          <p:nvPr/>
        </p:nvPicPr>
        <p:blipFill>
          <a:blip r:embed="rId4"/>
          <a:stretch>
            <a:fillRect/>
          </a:stretch>
        </p:blipFill>
        <p:spPr>
          <a:xfrm>
            <a:off x="4867067" y="4961826"/>
            <a:ext cx="134549" cy="195707"/>
          </a:xfrm>
          <a:prstGeom prst="rect">
            <a:avLst/>
          </a:prstGeom>
        </p:spPr>
      </p:pic>
      <p:sp>
        <p:nvSpPr>
          <p:cNvPr id="21" name="TextBox 20"/>
          <p:cNvSpPr txBox="1"/>
          <p:nvPr/>
        </p:nvSpPr>
        <p:spPr>
          <a:xfrm>
            <a:off x="5042176" y="4972050"/>
            <a:ext cx="3704629" cy="194310"/>
          </a:xfrm>
          <a:prstGeom prst="rect">
            <a:avLst/>
          </a:prstGeom>
          <a:noFill/>
        </p:spPr>
        <p:txBody>
          <a:bodyPr wrap="none" lIns="0" rIns="0" tIns="0" bIns="0">
            <a:spAutoFit/>
          </a:bodyPr>
          <a:lstStyle/>
          <a:p>
            <a:r>
              <a:rPr sz="1150" b="0">
                <a:solidFill>
                  <a:srgbClr val="2E2E2E"/>
                </a:solidFill>
                <a:latin typeface="Calibri"/>
              </a:rPr>
              <a:t>US$/Units) and 'South Asia &amp; Pacific' the most competitive (~</a:t>
            </a:r>
          </a:p>
        </p:txBody>
      </p:sp>
      <p:pic>
        <p:nvPicPr>
          <p:cNvPr id="22" name="Picture 21" descr="lock.png"/>
          <p:cNvPicPr>
            <a:picLocks noChangeAspect="1"/>
          </p:cNvPicPr>
          <p:nvPr/>
        </p:nvPicPr>
        <p:blipFill>
          <a:blip r:embed="rId4"/>
          <a:stretch>
            <a:fillRect/>
          </a:stretch>
        </p:blipFill>
        <p:spPr>
          <a:xfrm>
            <a:off x="8695960" y="4961826"/>
            <a:ext cx="134549" cy="195707"/>
          </a:xfrm>
          <a:prstGeom prst="rect">
            <a:avLst/>
          </a:prstGeom>
        </p:spPr>
      </p:pic>
      <p:sp>
        <p:nvSpPr>
          <p:cNvPr id="23" name="TextBox 22"/>
          <p:cNvSpPr txBox="1"/>
          <p:nvPr/>
        </p:nvSpPr>
        <p:spPr>
          <a:xfrm>
            <a:off x="8871069" y="4972050"/>
            <a:ext cx="759097" cy="194310"/>
          </a:xfrm>
          <a:prstGeom prst="rect">
            <a:avLst/>
          </a:prstGeom>
          <a:noFill/>
        </p:spPr>
        <p:txBody>
          <a:bodyPr wrap="none" lIns="0" rIns="0" tIns="0" bIns="0">
            <a:spAutoFit/>
          </a:bodyPr>
          <a:lstStyle/>
          <a:p>
            <a:r>
              <a:rPr sz="1150" b="0">
                <a:solidFill>
                  <a:srgbClr val="2E2E2E"/>
                </a:solidFill>
                <a:latin typeface="Calibri"/>
              </a:rPr>
              <a:t>US$/Units).</a:t>
            </a:r>
          </a:p>
        </p:txBody>
      </p:sp>
      <p:sp>
        <p:nvSpPr>
          <p:cNvPr id="24" name="TextBox 23"/>
          <p:cNvSpPr txBox="1"/>
          <p:nvPr/>
        </p:nvSpPr>
        <p:spPr>
          <a:xfrm>
            <a:off x="276225" y="5199888"/>
            <a:ext cx="5822354" cy="194310"/>
          </a:xfrm>
          <a:prstGeom prst="rect">
            <a:avLst/>
          </a:prstGeom>
          <a:noFill/>
        </p:spPr>
        <p:txBody>
          <a:bodyPr wrap="none" lIns="0" rIns="0" tIns="0" bIns="0">
            <a:spAutoFit/>
          </a:bodyPr>
          <a:lstStyle/>
          <a:p>
            <a:r>
              <a:rPr sz="1150" b="0">
                <a:solidFill>
                  <a:srgbClr val="2E2E2E"/>
                </a:solidFill>
                <a:latin typeface="Calibri"/>
              </a:rPr>
              <a:t>▪ Price ranges are benchmarked per technology type at 2026, derived as Value ÷ Volume with a ±</a:t>
            </a:r>
          </a:p>
        </p:txBody>
      </p:sp>
      <p:pic>
        <p:nvPicPr>
          <p:cNvPr id="25" name="Picture 24" descr="lock.png"/>
          <p:cNvPicPr>
            <a:picLocks noChangeAspect="1"/>
          </p:cNvPicPr>
          <p:nvPr/>
        </p:nvPicPr>
        <p:blipFill>
          <a:blip r:embed="rId4"/>
          <a:stretch>
            <a:fillRect/>
          </a:stretch>
        </p:blipFill>
        <p:spPr>
          <a:xfrm>
            <a:off x="6047733" y="5189664"/>
            <a:ext cx="134549" cy="195707"/>
          </a:xfrm>
          <a:prstGeom prst="rect">
            <a:avLst/>
          </a:prstGeom>
        </p:spPr>
      </p:pic>
      <p:sp>
        <p:nvSpPr>
          <p:cNvPr id="26" name="TextBox 25"/>
          <p:cNvSpPr txBox="1"/>
          <p:nvPr/>
        </p:nvSpPr>
        <p:spPr>
          <a:xfrm>
            <a:off x="6222842" y="5199888"/>
            <a:ext cx="1455117" cy="194310"/>
          </a:xfrm>
          <a:prstGeom prst="rect">
            <a:avLst/>
          </a:prstGeom>
          <a:noFill/>
        </p:spPr>
        <p:txBody>
          <a:bodyPr wrap="none" lIns="0" rIns="0" tIns="0" bIns="0">
            <a:spAutoFit/>
          </a:bodyPr>
          <a:lstStyle/>
          <a:p>
            <a:r>
              <a:rPr sz="1150" b="0">
                <a:solidFill>
                  <a:srgbClr val="2E2E2E"/>
                </a:solidFill>
                <a:latin typeface="Calibri"/>
              </a:rPr>
              <a:t>observed trading band.</a:t>
            </a:r>
          </a:p>
        </p:txBody>
      </p:sp>
      <p:sp>
        <p:nvSpPr>
          <p:cNvPr id="27" name="TextBox 26"/>
          <p:cNvSpPr txBox="1"/>
          <p:nvPr/>
        </p:nvSpPr>
        <p:spPr>
          <a:xfrm>
            <a:off x="276225" y="5427725"/>
            <a:ext cx="2140867" cy="194310"/>
          </a:xfrm>
          <a:prstGeom prst="rect">
            <a:avLst/>
          </a:prstGeom>
          <a:noFill/>
        </p:spPr>
        <p:txBody>
          <a:bodyPr wrap="none" lIns="0" rIns="0" tIns="0" bIns="0">
            <a:spAutoFit/>
          </a:bodyPr>
          <a:lstStyle/>
          <a:p>
            <a:r>
              <a:rPr sz="1150" b="0">
                <a:solidFill>
                  <a:srgbClr val="2E2E2E"/>
                </a:solidFill>
                <a:latin typeface="Calibri"/>
              </a:rPr>
              <a:t>▪ Cross-region price dispersion of ~</a:t>
            </a:r>
          </a:p>
        </p:txBody>
      </p:sp>
      <p:pic>
        <p:nvPicPr>
          <p:cNvPr id="28" name="Picture 27" descr="lock.png"/>
          <p:cNvPicPr>
            <a:picLocks noChangeAspect="1"/>
          </p:cNvPicPr>
          <p:nvPr/>
        </p:nvPicPr>
        <p:blipFill>
          <a:blip r:embed="rId4"/>
          <a:stretch>
            <a:fillRect/>
          </a:stretch>
        </p:blipFill>
        <p:spPr>
          <a:xfrm>
            <a:off x="2366246" y="5417502"/>
            <a:ext cx="134549" cy="195707"/>
          </a:xfrm>
          <a:prstGeom prst="rect">
            <a:avLst/>
          </a:prstGeom>
        </p:spPr>
      </p:pic>
      <p:sp>
        <p:nvSpPr>
          <p:cNvPr id="29" name="TextBox 28"/>
          <p:cNvSpPr txBox="1"/>
          <p:nvPr/>
        </p:nvSpPr>
        <p:spPr>
          <a:xfrm>
            <a:off x="2541355" y="5427725"/>
            <a:ext cx="3627040" cy="194310"/>
          </a:xfrm>
          <a:prstGeom prst="rect">
            <a:avLst/>
          </a:prstGeom>
          <a:noFill/>
        </p:spPr>
        <p:txBody>
          <a:bodyPr wrap="none" lIns="0" rIns="0" tIns="0" bIns="0">
            <a:spAutoFit/>
          </a:bodyPr>
          <a:lstStyle/>
          <a:p>
            <a:r>
              <a:rPr sz="1150" b="0">
                <a:solidFill>
                  <a:srgbClr val="2E2E2E"/>
                </a:solidFill>
                <a:latin typeface="Calibri"/>
              </a:rPr>
              <a:t>× reflects differences in mix, logistics and channel structure.</a:t>
            </a:r>
          </a:p>
        </p:txBody>
      </p:sp>
      <p:sp>
        <p:nvSpPr>
          <p:cNvPr id="30" name="TextBox 29"/>
          <p:cNvSpPr txBox="1"/>
          <p:nvPr/>
        </p:nvSpPr>
        <p:spPr>
          <a:xfrm>
            <a:off x="276225" y="5655563"/>
            <a:ext cx="5691708" cy="194310"/>
          </a:xfrm>
          <a:prstGeom prst="rect">
            <a:avLst/>
          </a:prstGeom>
          <a:noFill/>
        </p:spPr>
        <p:txBody>
          <a:bodyPr wrap="none" lIns="0" rIns="0" tIns="0" bIns="0">
            <a:spAutoFit/>
          </a:bodyPr>
          <a:lstStyle/>
          <a:p>
            <a:r>
              <a:rPr sz="1150" b="0">
                <a:solidFill>
                  <a:srgbClr val="2E2E2E"/>
                </a:solidFill>
                <a:latin typeface="Calibri"/>
              </a:rPr>
              <a:t>▪ Benchmarks support price-corridor setting and margin-defence decisions across geographies.</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Price Forecast &amp; Dynamics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Forward price trajectory to 2036 by technology type and the structural factors shaping it (US$/Units).</a:t>
            </a:r>
          </a:p>
        </p:txBody>
      </p:sp>
      <p:sp>
        <p:nvSpPr>
          <p:cNvPr id="8" name="Rounded Rectangle 7"/>
          <p:cNvSpPr/>
          <p:nvPr/>
        </p:nvSpPr>
        <p:spPr>
          <a:xfrm>
            <a:off x="142875" y="1317574"/>
            <a:ext cx="11906250" cy="1971399"/>
          </a:xfrm>
          <a:prstGeom prst="roundRect">
            <a:avLst>
              <a:gd name="adj" fmla="val 386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4724"/>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Technology (US$/Units)</a:t>
            </a:r>
          </a:p>
        </p:txBody>
      </p:sp>
      <p:graphicFrame>
        <p:nvGraphicFramePr>
          <p:cNvPr id="10" name="Table 9"/>
          <p:cNvGraphicFramePr>
            <a:graphicFrameLocks noGrp="1"/>
          </p:cNvGraphicFramePr>
          <p:nvPr/>
        </p:nvGraphicFramePr>
        <p:xfrm>
          <a:off x="152400" y="1574749"/>
          <a:ext cx="11887197" cy="1504674"/>
        </p:xfrm>
        <a:graphic>
          <a:graphicData uri="http://schemas.openxmlformats.org/drawingml/2006/table">
            <a:tbl>
              <a:tblPr>
                <a:tableStyleId>{5C22544A-7EE6-4342-B048-85BDC9FD1C3A}</a:tableStyleId>
              </a:tblPr>
              <a:tblGrid>
                <a:gridCol w="3300045"/>
                <a:gridCol w="1431192"/>
                <a:gridCol w="1431192"/>
                <a:gridCol w="1431192"/>
                <a:gridCol w="1431192"/>
                <a:gridCol w="1431192"/>
                <a:gridCol w="1431192"/>
              </a:tblGrid>
              <a:tr h="246126">
                <a:tc>
                  <a:txBody>
                    <a:bodyPr wrap="none"/>
                    <a:lstStyle/>
                    <a:p>
                      <a:pPr algn="l"/>
                      <a:r>
                        <a:rPr sz="1100" b="1">
                          <a:solidFill>
                            <a:srgbClr val="0E2A5C"/>
                          </a:solidFill>
                          <a:latin typeface="Calibri"/>
                        </a:rPr>
                        <a:t>Technology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r>
              <a:tr h="1258548">
                <a:tc>
                  <a:txBody>
                    <a:bodyPr wrap="none"/>
                    <a:lstStyle/>
                    <a:p>
                      <a:pPr algn="l"/>
                      <a:r>
                        <a:rPr sz="1100" b="1">
                          <a:solidFill>
                            <a:srgbClr val="2E2E2E"/>
                          </a:solidFill>
                          <a:latin typeface="Calibri"/>
                        </a:rPr>
                        <a:t>Screw Air Compressor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1" name="TextBox 10"/>
          <p:cNvSpPr txBox="1"/>
          <p:nvPr/>
        </p:nvSpPr>
        <p:spPr>
          <a:xfrm>
            <a:off x="219075" y="3088948"/>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2" name="Rounded Rectangle 11"/>
          <p:cNvSpPr/>
          <p:nvPr/>
        </p:nvSpPr>
        <p:spPr>
          <a:xfrm>
            <a:off x="142875" y="3398495"/>
            <a:ext cx="5905500" cy="3181350"/>
          </a:xfrm>
          <a:prstGeom prst="roundRect">
            <a:avLst>
              <a:gd name="adj" fmla="val 2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Factors Impacting Pricing</a:t>
            </a:r>
          </a:p>
        </p:txBody>
      </p:sp>
      <p:graphicFrame>
        <p:nvGraphicFramePr>
          <p:cNvPr id="14" name="Table 13"/>
          <p:cNvGraphicFramePr>
            <a:graphicFrameLocks noGrp="1"/>
          </p:cNvGraphicFramePr>
          <p:nvPr/>
        </p:nvGraphicFramePr>
        <p:xfrm>
          <a:off x="152400" y="3655670"/>
          <a:ext cx="5886449" cy="2714626"/>
        </p:xfrm>
        <a:graphic>
          <a:graphicData uri="http://schemas.openxmlformats.org/drawingml/2006/table">
            <a:tbl>
              <a:tblPr>
                <a:tableStyleId>{5C22544A-7EE6-4342-B048-85BDC9FD1C3A}</a:tableStyleId>
              </a:tblPr>
              <a:tblGrid>
                <a:gridCol w="2867491"/>
                <a:gridCol w="1509479"/>
                <a:gridCol w="1509479"/>
              </a:tblGrid>
              <a:tr h="246126">
                <a:tc>
                  <a:txBody>
                    <a:bodyPr wrap="none"/>
                    <a:lstStyle/>
                    <a:p>
                      <a:pPr algn="l"/>
                      <a:r>
                        <a:rPr sz="1100" b="1">
                          <a:solidFill>
                            <a:srgbClr val="0E2A5C"/>
                          </a:solidFill>
                          <a:latin typeface="Calibri"/>
                        </a:rPr>
                        <a:t>Pricing Factor</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Direction</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Impact (H/M/L)</a:t>
                      </a:r>
                      <a:endParaRPr sz="1100"/>
                    </a:p>
                  </a:txBody>
                  <a:tcPr marL="47625" marR="38100" marT="19050" marB="19050" anchor="ctr">
                    <a:solidFill>
                      <a:srgbClr val="EBF2F9"/>
                    </a:solidFill>
                  </a:tcPr>
                </a:tc>
              </a:tr>
              <a:tr h="24685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5F9FD"/>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9FD"/>
                    </a:solidFill>
                  </a:tcPr>
                </a:tc>
              </a:tr>
            </a:tbl>
          </a:graphicData>
        </a:graphic>
      </p:graphicFrame>
      <p:sp>
        <p:nvSpPr>
          <p:cNvPr id="15" name="TextBox 14"/>
          <p:cNvSpPr txBox="1"/>
          <p:nvPr/>
        </p:nvSpPr>
        <p:spPr>
          <a:xfrm>
            <a:off x="219075" y="6379820"/>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6" name="Rounded Rectangle 15"/>
          <p:cNvSpPr/>
          <p:nvPr/>
        </p:nvSpPr>
        <p:spPr>
          <a:xfrm>
            <a:off x="6200775" y="3398495"/>
            <a:ext cx="5848350" cy="3157890"/>
          </a:xfrm>
          <a:prstGeom prst="roundRect">
            <a:avLst>
              <a:gd name="adj" fmla="val 241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4125" y="3484220"/>
            <a:ext cx="5581650" cy="209550"/>
          </a:xfrm>
          <a:prstGeom prst="rect">
            <a:avLst/>
          </a:prstGeom>
          <a:noFill/>
        </p:spPr>
        <p:txBody>
          <a:bodyPr wrap="square" lIns="0" rIns="19050" tIns="9525" bIns="9525">
            <a:spAutoFit/>
          </a:bodyPr>
          <a:lstStyle/>
          <a:p>
            <a:pPr algn="l"/>
            <a:r>
              <a:rPr sz="1300" b="1">
                <a:solidFill>
                  <a:srgbClr val="0E2A5C"/>
                </a:solidFill>
                <a:latin typeface="Calibri"/>
              </a:rPr>
              <a:t>Pricing Dynamics &amp; Outlook</a:t>
            </a:r>
          </a:p>
        </p:txBody>
      </p:sp>
      <p:sp>
        <p:nvSpPr>
          <p:cNvPr id="18" name="Rectangle 17"/>
          <p:cNvSpPr/>
          <p:nvPr/>
        </p:nvSpPr>
        <p:spPr>
          <a:xfrm>
            <a:off x="6334125" y="3722345"/>
            <a:ext cx="55816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4125" y="3808070"/>
            <a:ext cx="5581650" cy="267211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4"/>
          <a:stretch>
            <a:fillRect/>
          </a:stretch>
        </p:blipFill>
        <p:spPr>
          <a:xfrm>
            <a:off x="7559330" y="2183449"/>
            <a:ext cx="366712" cy="533400"/>
          </a:xfrm>
          <a:prstGeom prst="rect">
            <a:avLst/>
          </a:prstGeom>
        </p:spPr>
      </p:pic>
      <p:sp>
        <p:nvSpPr>
          <p:cNvPr id="23" name="TextBox 22"/>
          <p:cNvSpPr txBox="1"/>
          <p:nvPr/>
        </p:nvSpPr>
        <p:spPr>
          <a:xfrm>
            <a:off x="6334125" y="3817595"/>
            <a:ext cx="3233350" cy="194310"/>
          </a:xfrm>
          <a:prstGeom prst="rect">
            <a:avLst/>
          </a:prstGeom>
          <a:noFill/>
        </p:spPr>
        <p:txBody>
          <a:bodyPr wrap="none" lIns="0" rIns="0" tIns="0" bIns="0">
            <a:spAutoFit/>
          </a:bodyPr>
          <a:lstStyle/>
          <a:p>
            <a:r>
              <a:rPr sz="1150" b="0">
                <a:solidFill>
                  <a:srgbClr val="2E2E2E"/>
                </a:solidFill>
                <a:latin typeface="Calibri"/>
              </a:rPr>
              <a:t>▪ Average technology price is projected to rise from ~</a:t>
            </a:r>
          </a:p>
        </p:txBody>
      </p:sp>
      <p:pic>
        <p:nvPicPr>
          <p:cNvPr id="24" name="Picture 23" descr="lock.png"/>
          <p:cNvPicPr>
            <a:picLocks noChangeAspect="1"/>
          </p:cNvPicPr>
          <p:nvPr/>
        </p:nvPicPr>
        <p:blipFill>
          <a:blip r:embed="rId4"/>
          <a:stretch>
            <a:fillRect/>
          </a:stretch>
        </p:blipFill>
        <p:spPr>
          <a:xfrm>
            <a:off x="9516629" y="3807371"/>
            <a:ext cx="134549" cy="195707"/>
          </a:xfrm>
          <a:prstGeom prst="rect">
            <a:avLst/>
          </a:prstGeom>
        </p:spPr>
      </p:pic>
      <p:sp>
        <p:nvSpPr>
          <p:cNvPr id="25" name="TextBox 24"/>
          <p:cNvSpPr txBox="1"/>
          <p:nvPr/>
        </p:nvSpPr>
        <p:spPr>
          <a:xfrm>
            <a:off x="9691738" y="3817595"/>
            <a:ext cx="308111" cy="194310"/>
          </a:xfrm>
          <a:prstGeom prst="rect">
            <a:avLst/>
          </a:prstGeom>
          <a:noFill/>
        </p:spPr>
        <p:txBody>
          <a:bodyPr wrap="none" lIns="0" rIns="0" tIns="0" bIns="0">
            <a:spAutoFit/>
          </a:bodyPr>
          <a:lstStyle/>
          <a:p>
            <a:r>
              <a:rPr sz="1150" b="0">
                <a:solidFill>
                  <a:srgbClr val="2E2E2E"/>
                </a:solidFill>
                <a:latin typeface="Calibri"/>
              </a:rPr>
              <a:t>to ~</a:t>
            </a:r>
          </a:p>
        </p:txBody>
      </p:sp>
      <p:pic>
        <p:nvPicPr>
          <p:cNvPr id="26" name="Picture 25" descr="lock.png"/>
          <p:cNvPicPr>
            <a:picLocks noChangeAspect="1"/>
          </p:cNvPicPr>
          <p:nvPr/>
        </p:nvPicPr>
        <p:blipFill>
          <a:blip r:embed="rId4"/>
          <a:stretch>
            <a:fillRect/>
          </a:stretch>
        </p:blipFill>
        <p:spPr>
          <a:xfrm>
            <a:off x="9949003" y="3807371"/>
            <a:ext cx="134549" cy="195707"/>
          </a:xfrm>
          <a:prstGeom prst="rect">
            <a:avLst/>
          </a:prstGeom>
        </p:spPr>
      </p:pic>
      <p:sp>
        <p:nvSpPr>
          <p:cNvPr id="27" name="TextBox 26"/>
          <p:cNvSpPr txBox="1"/>
          <p:nvPr/>
        </p:nvSpPr>
        <p:spPr>
          <a:xfrm>
            <a:off x="10124112" y="3817595"/>
            <a:ext cx="1392646" cy="194310"/>
          </a:xfrm>
          <a:prstGeom prst="rect">
            <a:avLst/>
          </a:prstGeom>
          <a:noFill/>
        </p:spPr>
        <p:txBody>
          <a:bodyPr wrap="none" lIns="0" rIns="0" tIns="0" bIns="0">
            <a:spAutoFit/>
          </a:bodyPr>
          <a:lstStyle/>
          <a:p>
            <a:r>
              <a:rPr sz="1150" b="0">
                <a:solidFill>
                  <a:srgbClr val="2E2E2E"/>
                </a:solidFill>
                <a:latin typeface="Calibri"/>
              </a:rPr>
              <a:t>US$/Units by 2036 a +</a:t>
            </a:r>
          </a:p>
        </p:txBody>
      </p:sp>
      <p:pic>
        <p:nvPicPr>
          <p:cNvPr id="28" name="Picture 27" descr="lock.png"/>
          <p:cNvPicPr>
            <a:picLocks noChangeAspect="1"/>
          </p:cNvPicPr>
          <p:nvPr/>
        </p:nvPicPr>
        <p:blipFill>
          <a:blip r:embed="rId4"/>
          <a:stretch>
            <a:fillRect/>
          </a:stretch>
        </p:blipFill>
        <p:spPr>
          <a:xfrm>
            <a:off x="11465913" y="3807371"/>
            <a:ext cx="134549" cy="195707"/>
          </a:xfrm>
          <a:prstGeom prst="rect">
            <a:avLst/>
          </a:prstGeom>
        </p:spPr>
      </p:pic>
      <p:sp>
        <p:nvSpPr>
          <p:cNvPr id="29" name="TextBox 28"/>
          <p:cNvSpPr txBox="1"/>
          <p:nvPr/>
        </p:nvSpPr>
        <p:spPr>
          <a:xfrm>
            <a:off x="6334125" y="399285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30" name="TextBox 29"/>
          <p:cNvSpPr txBox="1"/>
          <p:nvPr/>
        </p:nvSpPr>
        <p:spPr>
          <a:xfrm>
            <a:off x="6334125" y="4220692"/>
            <a:ext cx="5025925" cy="194310"/>
          </a:xfrm>
          <a:prstGeom prst="rect">
            <a:avLst/>
          </a:prstGeom>
          <a:noFill/>
        </p:spPr>
        <p:txBody>
          <a:bodyPr wrap="none" lIns="0" rIns="0" tIns="0" bIns="0">
            <a:spAutoFit/>
          </a:bodyPr>
          <a:lstStyle/>
          <a:p>
            <a:r>
              <a:rPr sz="1150" b="0">
                <a:solidFill>
                  <a:srgbClr val="2E2E2E"/>
                </a:solidFill>
                <a:latin typeface="Calibri"/>
              </a:rPr>
              <a:t>▪ 'Reciprocating (Piston) Air Co…' shows the strongest forecast price appreciation (+</a:t>
            </a:r>
          </a:p>
        </p:txBody>
      </p:sp>
      <p:pic>
        <p:nvPicPr>
          <p:cNvPr id="31" name="Picture 30" descr="lock.png"/>
          <p:cNvPicPr>
            <a:picLocks noChangeAspect="1"/>
          </p:cNvPicPr>
          <p:nvPr/>
        </p:nvPicPr>
        <p:blipFill>
          <a:blip r:embed="rId4"/>
          <a:stretch>
            <a:fillRect/>
          </a:stretch>
        </p:blipFill>
        <p:spPr>
          <a:xfrm>
            <a:off x="11309204" y="4210469"/>
            <a:ext cx="134549" cy="195707"/>
          </a:xfrm>
          <a:prstGeom prst="rect">
            <a:avLst/>
          </a:prstGeom>
        </p:spPr>
      </p:pic>
      <p:sp>
        <p:nvSpPr>
          <p:cNvPr id="32" name="TextBox 31"/>
          <p:cNvSpPr txBox="1"/>
          <p:nvPr/>
        </p:nvSpPr>
        <p:spPr>
          <a:xfrm>
            <a:off x="11484313" y="4220692"/>
            <a:ext cx="412411" cy="194310"/>
          </a:xfrm>
          <a:prstGeom prst="rect">
            <a:avLst/>
          </a:prstGeom>
          <a:noFill/>
        </p:spPr>
        <p:txBody>
          <a:bodyPr wrap="none" lIns="0" rIns="0" tIns="0" bIns="0">
            <a:spAutoFit/>
          </a:bodyPr>
          <a:lstStyle/>
          <a:p>
            <a:r>
              <a:rPr sz="1150" b="0">
                <a:solidFill>
                  <a:srgbClr val="2E2E2E"/>
                </a:solidFill>
                <a:latin typeface="Calibri"/>
              </a:rPr>
              <a:t>) over</a:t>
            </a:r>
          </a:p>
        </p:txBody>
      </p:sp>
      <p:sp>
        <p:nvSpPr>
          <p:cNvPr id="33" name="TextBox 32"/>
          <p:cNvSpPr txBox="1"/>
          <p:nvPr/>
        </p:nvSpPr>
        <p:spPr>
          <a:xfrm>
            <a:off x="6334125" y="4395952"/>
            <a:ext cx="794469" cy="194310"/>
          </a:xfrm>
          <a:prstGeom prst="rect">
            <a:avLst/>
          </a:prstGeom>
          <a:noFill/>
        </p:spPr>
        <p:txBody>
          <a:bodyPr wrap="none" lIns="0" rIns="0" tIns="0" bIns="0">
            <a:spAutoFit/>
          </a:bodyPr>
          <a:lstStyle/>
          <a:p>
            <a:r>
              <a:rPr sz="1150" b="0">
                <a:solidFill>
                  <a:srgbClr val="2E2E2E"/>
                </a:solidFill>
                <a:latin typeface="Calibri"/>
              </a:rPr>
              <a:t>the horizon.</a:t>
            </a:r>
          </a:p>
        </p:txBody>
      </p:sp>
      <p:sp>
        <p:nvSpPr>
          <p:cNvPr id="34" name="TextBox 33"/>
          <p:cNvSpPr txBox="1"/>
          <p:nvPr/>
        </p:nvSpPr>
        <p:spPr>
          <a:xfrm>
            <a:off x="6334125" y="4623790"/>
            <a:ext cx="5242433" cy="194310"/>
          </a:xfrm>
          <a:prstGeom prst="rect">
            <a:avLst/>
          </a:prstGeom>
          <a:noFill/>
        </p:spPr>
        <p:txBody>
          <a:bodyPr wrap="none" lIns="0" rIns="0" tIns="0" bIns="0">
            <a:spAutoFit/>
          </a:bodyPr>
          <a:lstStyle/>
          <a:p>
            <a:r>
              <a:rPr sz="1150" b="0">
                <a:solidFill>
                  <a:srgbClr val="2E2E2E"/>
                </a:solidFill>
                <a:latin typeface="Calibri"/>
              </a:rPr>
              <a:t>▪ Upward pressure is led by input cost and demand &amp; market conditions; efficiency and</a:t>
            </a:r>
          </a:p>
        </p:txBody>
      </p:sp>
      <p:sp>
        <p:nvSpPr>
          <p:cNvPr id="35" name="TextBox 34"/>
          <p:cNvSpPr txBox="1"/>
          <p:nvPr/>
        </p:nvSpPr>
        <p:spPr>
          <a:xfrm>
            <a:off x="6334125" y="4799050"/>
            <a:ext cx="2567037" cy="194310"/>
          </a:xfrm>
          <a:prstGeom prst="rect">
            <a:avLst/>
          </a:prstGeom>
          <a:noFill/>
        </p:spPr>
        <p:txBody>
          <a:bodyPr wrap="none" lIns="0" rIns="0" tIns="0" bIns="0">
            <a:spAutoFit/>
          </a:bodyPr>
          <a:lstStyle/>
          <a:p>
            <a:r>
              <a:rPr sz="1150" b="0">
                <a:solidFill>
                  <a:srgbClr val="2E2E2E"/>
                </a:solidFill>
                <a:latin typeface="Calibri"/>
              </a:rPr>
              <a:t>competitive intensity work the other way.</a:t>
            </a:r>
          </a:p>
        </p:txBody>
      </p:sp>
      <p:sp>
        <p:nvSpPr>
          <p:cNvPr id="36" name="TextBox 35"/>
          <p:cNvSpPr txBox="1"/>
          <p:nvPr/>
        </p:nvSpPr>
        <p:spPr>
          <a:xfrm>
            <a:off x="6334125" y="5026888"/>
            <a:ext cx="5203638" cy="194310"/>
          </a:xfrm>
          <a:prstGeom prst="rect">
            <a:avLst/>
          </a:prstGeom>
          <a:noFill/>
        </p:spPr>
        <p:txBody>
          <a:bodyPr wrap="none" lIns="0" rIns="0" tIns="0" bIns="0">
            <a:spAutoFit/>
          </a:bodyPr>
          <a:lstStyle/>
          <a:p>
            <a:r>
              <a:rPr sz="1150" b="0">
                <a:solidFill>
                  <a:srgbClr val="2E2E2E"/>
                </a:solidFill>
                <a:latin typeface="Calibri"/>
              </a:rPr>
              <a:t>▪ Net outlook: modest, structural price appreciation mix and geography will determine</a:t>
            </a:r>
          </a:p>
        </p:txBody>
      </p:sp>
      <p:sp>
        <p:nvSpPr>
          <p:cNvPr id="37" name="TextBox 36"/>
          <p:cNvSpPr txBox="1"/>
          <p:nvPr/>
        </p:nvSpPr>
        <p:spPr>
          <a:xfrm>
            <a:off x="6334125" y="5202148"/>
            <a:ext cx="1016111" cy="194310"/>
          </a:xfrm>
          <a:prstGeom prst="rect">
            <a:avLst/>
          </a:prstGeom>
          <a:noFill/>
        </p:spPr>
        <p:txBody>
          <a:bodyPr wrap="none" lIns="0" rIns="0" tIns="0" bIns="0">
            <a:spAutoFit/>
          </a:bodyPr>
          <a:lstStyle/>
          <a:p>
            <a:r>
              <a:rPr sz="1150" b="0">
                <a:solidFill>
                  <a:srgbClr val="2E2E2E"/>
                </a:solidFill>
                <a:latin typeface="Calibri"/>
              </a:rPr>
              <a:t>realised pricing.</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Price Forecast &amp; Dynamics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7" name="Rounded Rectangle 6"/>
          <p:cNvSpPr/>
          <p:nvPr/>
        </p:nvSpPr>
        <p:spPr>
          <a:xfrm>
            <a:off x="142875" y="981075"/>
            <a:ext cx="11906250" cy="1952625"/>
          </a:xfrm>
          <a:prstGeom prst="roundRect">
            <a:avLst>
              <a:gd name="adj" fmla="val 390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Technology (US$/Units)</a:t>
            </a:r>
          </a:p>
        </p:txBody>
      </p:sp>
      <p:graphicFrame>
        <p:nvGraphicFramePr>
          <p:cNvPr id="9" name="Table 8"/>
          <p:cNvGraphicFramePr>
            <a:graphicFrameLocks noGrp="1"/>
          </p:cNvGraphicFramePr>
          <p:nvPr/>
        </p:nvGraphicFramePr>
        <p:xfrm>
          <a:off x="152400" y="1238250"/>
          <a:ext cx="11887200" cy="1485896"/>
        </p:xfrm>
        <a:graphic>
          <a:graphicData uri="http://schemas.openxmlformats.org/drawingml/2006/table">
            <a:tbl>
              <a:tblPr>
                <a:tableStyleId>{5C22544A-7EE6-4342-B048-85BDC9FD1C3A}</a:tableStyleId>
              </a:tblPr>
              <a:tblGrid>
                <a:gridCol w="4043658"/>
                <a:gridCol w="1307257"/>
                <a:gridCol w="1307257"/>
                <a:gridCol w="1307257"/>
                <a:gridCol w="1307257"/>
                <a:gridCol w="1307257"/>
                <a:gridCol w="1307257"/>
              </a:tblGrid>
              <a:tr h="246126">
                <a:tc>
                  <a:txBody>
                    <a:bodyPr wrap="none"/>
                    <a:lstStyle/>
                    <a:p>
                      <a:pPr algn="l"/>
                      <a:r>
                        <a:rPr sz="1100" b="1">
                          <a:solidFill>
                            <a:srgbClr val="0E2A5C"/>
                          </a:solidFill>
                          <a:latin typeface="Calibri"/>
                        </a:rPr>
                        <a:t>Technology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r>
              <a:tr h="247954">
                <a:tc>
                  <a:txBody>
                    <a:bodyPr wrap="none"/>
                    <a:lstStyle/>
                    <a:p>
                      <a:pPr algn="l"/>
                      <a:r>
                        <a:rPr sz="1100" b="1">
                          <a:solidFill>
                            <a:srgbClr val="2E2E2E"/>
                          </a:solidFill>
                          <a:latin typeface="Calibri"/>
                        </a:rPr>
                        <a:t>Reciprocating (Piston) Air 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Centrifugal Air Compressor</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Axial Air Compressor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Vane Air Compressor</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Scroll Air Compressor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0" name="TextBox 9"/>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7931138" y="1837563"/>
            <a:ext cx="366712" cy="533399"/>
          </a:xfrm>
          <a:prstGeom prst="rect">
            <a:avLst/>
          </a:prstGeom>
        </p:spPr>
      </p:pic>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Competitor Pricing Strategies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leading players position price: tier, price position versus peers and strategy focus</a:t>
            </a:r>
          </a:p>
        </p:txBody>
      </p:sp>
      <p:sp>
        <p:nvSpPr>
          <p:cNvPr id="7" name="Rounded Rectangle 6"/>
          <p:cNvSpPr/>
          <p:nvPr/>
        </p:nvSpPr>
        <p:spPr>
          <a:xfrm>
            <a:off x="142875" y="1007261"/>
            <a:ext cx="769620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Competitor pricing strategies how leading players position price and the levers they use to sustain it.</a:t>
            </a:r>
          </a:p>
        </p:txBody>
      </p:sp>
      <p:sp>
        <p:nvSpPr>
          <p:cNvPr id="8" name="Rounded Rectangle 7"/>
          <p:cNvSpPr/>
          <p:nvPr/>
        </p:nvSpPr>
        <p:spPr>
          <a:xfrm>
            <a:off x="142875" y="1317574"/>
            <a:ext cx="7696200" cy="3924545"/>
          </a:xfrm>
          <a:prstGeom prst="roundRect">
            <a:avLst>
              <a:gd name="adj" fmla="val 194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152400" y="1393774"/>
          <a:ext cx="7677150" cy="3619746"/>
        </p:xfrm>
        <a:graphic>
          <a:graphicData uri="http://schemas.openxmlformats.org/drawingml/2006/table">
            <a:tbl>
              <a:tblPr>
                <a:tableStyleId>{5C22544A-7EE6-4342-B048-85BDC9FD1C3A}</a:tableStyleId>
              </a:tblPr>
              <a:tblGrid>
                <a:gridCol w="2080948"/>
                <a:gridCol w="566374"/>
                <a:gridCol w="1190683"/>
                <a:gridCol w="1114625"/>
                <a:gridCol w="2724520"/>
              </a:tblGrid>
              <a:tr h="246126">
                <a:tc>
                  <a:txBody>
                    <a:bodyPr wrap="none"/>
                    <a:lstStyle/>
                    <a:p>
                      <a:pPr algn="l"/>
                      <a:r>
                        <a:rPr sz="1100" b="1">
                          <a:solidFill>
                            <a:srgbClr val="0E2A5C"/>
                          </a:solidFill>
                          <a:latin typeface="Calibri"/>
                        </a:rPr>
                        <a:t>Company</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Tier</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Price Position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ASP vs Peers</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Strategy Focus</a:t>
                      </a:r>
                      <a:endParaRPr sz="1100"/>
                    </a:p>
                  </a:txBody>
                  <a:tcPr marL="47625" marR="38100" marT="19050" marB="19050" anchor="ctr">
                    <a:solidFill>
                      <a:srgbClr val="EBF2F9"/>
                    </a:solidFill>
                  </a:tcPr>
                </a:tc>
              </a:tr>
              <a:tr h="562270">
                <a:tc>
                  <a:txBody>
                    <a:bodyPr wrap="none"/>
                    <a:lstStyle/>
                    <a:p>
                      <a:pPr algn="l"/>
                      <a:r>
                        <a:rPr sz="1100" b="1">
                          <a:solidFill>
                            <a:srgbClr val="2E2E2E"/>
                          </a:solidFill>
                          <a:latin typeface="Calibri"/>
                        </a:rPr>
                        <a:t>Atlas Copco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 brand-led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Ingersoll Rand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Value-based premium pricing</a:t>
                      </a:r>
                      <a:endParaRPr sz="1100"/>
                    </a:p>
                  </a:txBody>
                  <a:tcPr marL="47625" marR="38100" marT="19050" marB="19050" anchor="ctr">
                    <a:solidFill>
                      <a:srgbClr val="F5F9FD"/>
                    </a:solidFill>
                  </a:tcPr>
                </a:tc>
              </a:tr>
              <a:tr h="562270">
                <a:tc>
                  <a:txBody>
                    <a:bodyPr wrap="none"/>
                    <a:lstStyle/>
                    <a:p>
                      <a:pPr algn="l"/>
                      <a:r>
                        <a:rPr sz="1100" b="1">
                          <a:solidFill>
                            <a:srgbClr val="2E2E2E"/>
                          </a:solidFill>
                          <a:latin typeface="Calibri"/>
                        </a:rPr>
                        <a:t>Hitachi</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Innovation-led price leadership</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KAESER KOMPRESSOREN</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Parity pricing with mix upsell</a:t>
                      </a:r>
                      <a:endParaRPr sz="1100"/>
                    </a:p>
                  </a:txBody>
                  <a:tcPr marL="47625" marR="38100" marT="19050" marB="19050" anchor="ctr">
                    <a:solidFill>
                      <a:srgbClr val="F5F9FD"/>
                    </a:solidFill>
                  </a:tcPr>
                </a:tc>
              </a:tr>
              <a:tr h="562270">
                <a:tc>
                  <a:txBody>
                    <a:bodyPr wrap="none"/>
                    <a:lstStyle/>
                    <a:p>
                      <a:pPr algn="l"/>
                      <a:r>
                        <a:rPr sz="1100" b="1">
                          <a:solidFill>
                            <a:srgbClr val="2E2E2E"/>
                          </a:solidFill>
                          <a:latin typeface="Calibri"/>
                        </a:rPr>
                        <a:t>Gardner Denver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Penetration &amp; share-led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ELGi Equipments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Competitive / discount-led pricing</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5023044"/>
            <a:ext cx="75438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5351641"/>
            <a:ext cx="7696200" cy="365074"/>
          </a:xfrm>
          <a:prstGeom prst="roundRect">
            <a:avLst>
              <a:gd name="adj" fmla="val 2087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competitor figures are indicative derived from market modelling and expert validation, not company disclosures.</a:t>
            </a:r>
          </a:p>
        </p:txBody>
      </p:sp>
      <p:sp>
        <p:nvSpPr>
          <p:cNvPr id="12" name="Rounded Rectangle 11"/>
          <p:cNvSpPr/>
          <p:nvPr/>
        </p:nvSpPr>
        <p:spPr>
          <a:xfrm>
            <a:off x="7915275" y="1317574"/>
            <a:ext cx="4133850" cy="5238811"/>
          </a:xfrm>
          <a:prstGeom prst="roundRect">
            <a:avLst>
              <a:gd name="adj" fmla="val 1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E2A5C"/>
                </a:solidFill>
                <a:latin typeface="Calibri"/>
              </a:rPr>
              <a:t>Competitive Pricing Themes</a:t>
            </a:r>
          </a:p>
        </p:txBody>
      </p:sp>
      <p:sp>
        <p:nvSpPr>
          <p:cNvPr id="14" name="Rectangle 13"/>
          <p:cNvSpPr/>
          <p:nvPr/>
        </p:nvSpPr>
        <p:spPr>
          <a:xfrm>
            <a:off x="8048625" y="1641424"/>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Tier 1 players anchor premium pricing, defending ASP through brand, product development and certification rather than discounting.</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Mid-tier players price at or just below parity, using launches and expansion to win share in fast-growing segments.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Emerging players compete on value pricing, trading margin for access and volume in price-sensitive regions.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Across tiers, R&amp;D investment and selective M&amp;A are the primary levers to move up the price ladder over time.</a:t>
            </a:r>
          </a:p>
        </p:txBody>
      </p:sp>
      <p:sp>
        <p:nvSpPr>
          <p:cNvPr id="16" name="Rectangle 1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4379696" y="3086680"/>
            <a:ext cx="330041" cy="480060"/>
          </a:xfrm>
          <a:prstGeom prst="rect">
            <a:avLst/>
          </a:prstGeom>
        </p:spPr>
      </p:pic>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Industrial Air Compressor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Supply Chain Analysis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Chain &amp; Stakeholder Mapping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Operating Margin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Buyers Assessment</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Value Chain &amp; Stakeholder Mapping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Mapping of the value chain stages, the stakeholders at each stage and the value added along the chain</a:t>
            </a:r>
          </a:p>
        </p:txBody>
      </p:sp>
      <p:sp>
        <p:nvSpPr>
          <p:cNvPr id="7" name="TextBox 6"/>
          <p:cNvSpPr txBox="1"/>
          <p:nvPr/>
        </p:nvSpPr>
        <p:spPr>
          <a:xfrm>
            <a:off x="285750" y="970754"/>
            <a:ext cx="10668000" cy="164283"/>
          </a:xfrm>
          <a:prstGeom prst="rect">
            <a:avLst/>
          </a:prstGeom>
          <a:noFill/>
        </p:spPr>
        <p:txBody>
          <a:bodyPr wrap="square" lIns="0" rIns="19050" tIns="0" bIns="0">
            <a:spAutoFit/>
          </a:bodyPr>
          <a:lstStyle/>
          <a:p>
            <a:pPr algn="l"/>
            <a:r>
              <a:rPr sz="1100" b="0">
                <a:solidFill>
                  <a:srgbClr val="6C7A89"/>
                </a:solidFill>
                <a:latin typeface="Calibri"/>
              </a:rPr>
              <a:t>End-to-end value chain with the key stakeholders at each stage and their indicative contribution to value addition.</a:t>
            </a:r>
          </a:p>
        </p:txBody>
      </p:sp>
      <p:sp>
        <p:nvSpPr>
          <p:cNvPr id="8" name="Right Arrow 7"/>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9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3" name="Oval 12"/>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23950" y="1719155"/>
            <a:ext cx="800100" cy="766655"/>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00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19" name="Rounded Rectangle 18"/>
          <p:cNvSpPr/>
          <p:nvPr/>
        </p:nvSpPr>
        <p:spPr>
          <a:xfrm>
            <a:off x="457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2905646"/>
            <a:ext cx="2133600" cy="4563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2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Raw Material Suppliers</a:t>
            </a:r>
          </a:p>
        </p:txBody>
      </p:sp>
      <p:sp>
        <p:nvSpPr>
          <p:cNvPr id="22" name="TextBox 21"/>
          <p:cNvSpPr txBox="1"/>
          <p:nvPr/>
        </p:nvSpPr>
        <p:spPr>
          <a:xfrm>
            <a:off x="542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23" name="TextBox 22"/>
          <p:cNvSpPr txBox="1"/>
          <p:nvPr/>
        </p:nvSpPr>
        <p:spPr>
          <a:xfrm>
            <a:off x="542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Growers and primary producers supply core inputs; some forward-integrate into small-scale processing.</a:t>
            </a:r>
          </a:p>
        </p:txBody>
      </p:sp>
      <p:sp>
        <p:nvSpPr>
          <p:cNvPr id="24" name="TextBox 23"/>
          <p:cNvSpPr txBox="1"/>
          <p:nvPr/>
        </p:nvSpPr>
        <p:spPr>
          <a:xfrm>
            <a:off x="2705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Manufacturers</a:t>
            </a:r>
          </a:p>
        </p:txBody>
      </p:sp>
      <p:sp>
        <p:nvSpPr>
          <p:cNvPr id="25" name="Oval 24"/>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409950" y="1719155"/>
            <a:ext cx="800100" cy="766655"/>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286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32" name="Rounded Rectangle 31"/>
          <p:cNvSpPr/>
          <p:nvPr/>
        </p:nvSpPr>
        <p:spPr>
          <a:xfrm>
            <a:off x="2743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43200" y="2905646"/>
            <a:ext cx="2133600" cy="4563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28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Manufacturers / Processors</a:t>
            </a:r>
          </a:p>
        </p:txBody>
      </p:sp>
      <p:sp>
        <p:nvSpPr>
          <p:cNvPr id="35" name="TextBox 34"/>
          <p:cNvSpPr txBox="1"/>
          <p:nvPr/>
        </p:nvSpPr>
        <p:spPr>
          <a:xfrm>
            <a:off x="2828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36" name="TextBox 35"/>
          <p:cNvSpPr txBox="1"/>
          <p:nvPr/>
        </p:nvSpPr>
        <p:spPr>
          <a:xfrm>
            <a:off x="2828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Convert inputs into finished and semi-finished product the single largest value-addition stage.</a:t>
            </a:r>
          </a:p>
        </p:txBody>
      </p:sp>
      <p:sp>
        <p:nvSpPr>
          <p:cNvPr id="37" name="TextBox 36"/>
          <p:cNvSpPr txBox="1"/>
          <p:nvPr/>
        </p:nvSpPr>
        <p:spPr>
          <a:xfrm>
            <a:off x="4991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Distributors</a:t>
            </a:r>
          </a:p>
        </p:txBody>
      </p:sp>
      <p:sp>
        <p:nvSpPr>
          <p:cNvPr id="38" name="Oval 37"/>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695950" y="1719155"/>
            <a:ext cx="800100" cy="76665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972175"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153150"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572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45" name="Rounded Rectangle 44"/>
          <p:cNvSpPr/>
          <p:nvPr/>
        </p:nvSpPr>
        <p:spPr>
          <a:xfrm>
            <a:off x="5029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029200" y="2905646"/>
            <a:ext cx="2133600" cy="4563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14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Distributors &amp; Wholesalers</a:t>
            </a:r>
          </a:p>
        </p:txBody>
      </p:sp>
      <p:sp>
        <p:nvSpPr>
          <p:cNvPr id="48" name="TextBox 47"/>
          <p:cNvSpPr txBox="1"/>
          <p:nvPr/>
        </p:nvSpPr>
        <p:spPr>
          <a:xfrm>
            <a:off x="5114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49" name="TextBox 48"/>
          <p:cNvSpPr txBox="1"/>
          <p:nvPr/>
        </p:nvSpPr>
        <p:spPr>
          <a:xfrm>
            <a:off x="5114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Move product to market, hold inventory and provide logistics, reach and credit to downstream channels.</a:t>
            </a:r>
          </a:p>
        </p:txBody>
      </p:sp>
      <p:sp>
        <p:nvSpPr>
          <p:cNvPr id="50" name="TextBox 49"/>
          <p:cNvSpPr txBox="1"/>
          <p:nvPr/>
        </p:nvSpPr>
        <p:spPr>
          <a:xfrm>
            <a:off x="7277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Retailers</a:t>
            </a:r>
          </a:p>
        </p:txBody>
      </p:sp>
      <p:sp>
        <p:nvSpPr>
          <p:cNvPr id="51" name="Oval 50"/>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981950" y="1719155"/>
            <a:ext cx="800100" cy="766655"/>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Isosceles Triangle 52"/>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343900" y="2138990"/>
            <a:ext cx="76200" cy="109522"/>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7858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57" name="Rounded Rectangle 56"/>
          <p:cNvSpPr/>
          <p:nvPr/>
        </p:nvSpPr>
        <p:spPr>
          <a:xfrm>
            <a:off x="7315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315200" y="2905646"/>
            <a:ext cx="2133600" cy="4563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00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Retailers &amp; Channels</a:t>
            </a:r>
          </a:p>
        </p:txBody>
      </p:sp>
      <p:sp>
        <p:nvSpPr>
          <p:cNvPr id="60" name="TextBox 59"/>
          <p:cNvSpPr txBox="1"/>
          <p:nvPr/>
        </p:nvSpPr>
        <p:spPr>
          <a:xfrm>
            <a:off x="7400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61" name="TextBox 60"/>
          <p:cNvSpPr txBox="1"/>
          <p:nvPr/>
        </p:nvSpPr>
        <p:spPr>
          <a:xfrm>
            <a:off x="7400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Sell to end customers across offline and online channels, capturing point-of-sale margin and brand visibility.</a:t>
            </a:r>
          </a:p>
        </p:txBody>
      </p:sp>
      <p:sp>
        <p:nvSpPr>
          <p:cNvPr id="62" name="TextBox 61"/>
          <p:cNvSpPr txBox="1"/>
          <p:nvPr/>
        </p:nvSpPr>
        <p:spPr>
          <a:xfrm>
            <a:off x="9563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End Users</a:t>
            </a:r>
          </a:p>
        </p:txBody>
      </p:sp>
      <p:sp>
        <p:nvSpPr>
          <p:cNvPr id="63" name="Oval 62"/>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0267950" y="1719155"/>
            <a:ext cx="800100" cy="766655"/>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10144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68" name="Rounded Rectangle 67"/>
          <p:cNvSpPr/>
          <p:nvPr/>
        </p:nvSpPr>
        <p:spPr>
          <a:xfrm>
            <a:off x="9601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9601200" y="2905646"/>
            <a:ext cx="2133600" cy="4563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686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End Users</a:t>
            </a:r>
          </a:p>
        </p:txBody>
      </p:sp>
      <p:sp>
        <p:nvSpPr>
          <p:cNvPr id="71" name="TextBox 70"/>
          <p:cNvSpPr txBox="1"/>
          <p:nvPr/>
        </p:nvSpPr>
        <p:spPr>
          <a:xfrm>
            <a:off x="9686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72" name="TextBox 71"/>
          <p:cNvSpPr txBox="1"/>
          <p:nvPr/>
        </p:nvSpPr>
        <p:spPr>
          <a:xfrm>
            <a:off x="9686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Consumers and downstream industries; large end users sometimes backward-integrate to secure supply and cost.</a:t>
            </a:r>
          </a:p>
        </p:txBody>
      </p:sp>
      <p:sp>
        <p:nvSpPr>
          <p:cNvPr id="73" name="Rounded Rectangle 72"/>
          <p:cNvSpPr/>
          <p:nvPr/>
        </p:nvSpPr>
        <p:spPr>
          <a:xfrm>
            <a:off x="381000" y="5315134"/>
            <a:ext cx="11430000" cy="1204744"/>
          </a:xfrm>
          <a:prstGeom prst="roundRect">
            <a:avLst>
              <a:gd name="adj" fmla="val 606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14350" y="5397275"/>
            <a:ext cx="11163300" cy="200791"/>
          </a:xfrm>
          <a:prstGeom prst="rect">
            <a:avLst/>
          </a:prstGeom>
          <a:noFill/>
        </p:spPr>
        <p:txBody>
          <a:bodyPr wrap="square" lIns="0" rIns="19050" tIns="9525" bIns="9525">
            <a:spAutoFit/>
          </a:bodyPr>
          <a:lstStyle/>
          <a:p>
            <a:pPr algn="l"/>
            <a:r>
              <a:rPr sz="1300" b="1">
                <a:solidFill>
                  <a:srgbClr val="0E2A5C"/>
                </a:solidFill>
                <a:latin typeface="Calibri"/>
              </a:rPr>
              <a:t>Value-Added Read-out</a:t>
            </a:r>
          </a:p>
        </p:txBody>
      </p:sp>
      <p:sp>
        <p:nvSpPr>
          <p:cNvPr id="75" name="Rectangle 74"/>
          <p:cNvSpPr/>
          <p:nvPr/>
        </p:nvSpPr>
        <p:spPr>
          <a:xfrm>
            <a:off x="514350" y="5625447"/>
            <a:ext cx="111633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14350" y="5707588"/>
            <a:ext cx="11163300" cy="7392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77" name="Rectangle 7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9" name="Picture 78" descr="lock.png"/>
          <p:cNvPicPr>
            <a:picLocks noChangeAspect="1"/>
          </p:cNvPicPr>
          <p:nvPr/>
        </p:nvPicPr>
        <p:blipFill>
          <a:blip r:embed="rId4"/>
          <a:stretch>
            <a:fillRect/>
          </a:stretch>
        </p:blipFill>
        <p:spPr>
          <a:xfrm>
            <a:off x="1459650" y="2611256"/>
            <a:ext cx="128699" cy="187198"/>
          </a:xfrm>
          <a:prstGeom prst="rect">
            <a:avLst/>
          </a:prstGeom>
        </p:spPr>
      </p:pic>
      <p:pic>
        <p:nvPicPr>
          <p:cNvPr id="80" name="Picture 79" descr="lock.png"/>
          <p:cNvPicPr>
            <a:picLocks noChangeAspect="1"/>
          </p:cNvPicPr>
          <p:nvPr/>
        </p:nvPicPr>
        <p:blipFill>
          <a:blip r:embed="rId4"/>
          <a:stretch>
            <a:fillRect/>
          </a:stretch>
        </p:blipFill>
        <p:spPr>
          <a:xfrm>
            <a:off x="3745650" y="2611256"/>
            <a:ext cx="128699" cy="187198"/>
          </a:xfrm>
          <a:prstGeom prst="rect">
            <a:avLst/>
          </a:prstGeom>
        </p:spPr>
      </p:pic>
      <p:pic>
        <p:nvPicPr>
          <p:cNvPr id="81" name="Picture 80" descr="lock.png"/>
          <p:cNvPicPr>
            <a:picLocks noChangeAspect="1"/>
          </p:cNvPicPr>
          <p:nvPr/>
        </p:nvPicPr>
        <p:blipFill>
          <a:blip r:embed="rId4"/>
          <a:stretch>
            <a:fillRect/>
          </a:stretch>
        </p:blipFill>
        <p:spPr>
          <a:xfrm>
            <a:off x="6031650" y="2611256"/>
            <a:ext cx="128699" cy="187198"/>
          </a:xfrm>
          <a:prstGeom prst="rect">
            <a:avLst/>
          </a:prstGeom>
        </p:spPr>
      </p:pic>
      <p:pic>
        <p:nvPicPr>
          <p:cNvPr id="82" name="Picture 81" descr="lock.png"/>
          <p:cNvPicPr>
            <a:picLocks noChangeAspect="1"/>
          </p:cNvPicPr>
          <p:nvPr/>
        </p:nvPicPr>
        <p:blipFill>
          <a:blip r:embed="rId4"/>
          <a:stretch>
            <a:fillRect/>
          </a:stretch>
        </p:blipFill>
        <p:spPr>
          <a:xfrm>
            <a:off x="8317650" y="2611256"/>
            <a:ext cx="128699" cy="187198"/>
          </a:xfrm>
          <a:prstGeom prst="rect">
            <a:avLst/>
          </a:prstGeom>
        </p:spPr>
      </p:pic>
      <p:pic>
        <p:nvPicPr>
          <p:cNvPr id="83" name="Picture 82" descr="lock.png"/>
          <p:cNvPicPr>
            <a:picLocks noChangeAspect="1"/>
          </p:cNvPicPr>
          <p:nvPr/>
        </p:nvPicPr>
        <p:blipFill>
          <a:blip r:embed="rId4"/>
          <a:stretch>
            <a:fillRect/>
          </a:stretch>
        </p:blipFill>
        <p:spPr>
          <a:xfrm>
            <a:off x="10603650" y="2611256"/>
            <a:ext cx="128699" cy="187198"/>
          </a:xfrm>
          <a:prstGeom prst="rect">
            <a:avLst/>
          </a:prstGeom>
        </p:spPr>
      </p:pic>
      <p:sp>
        <p:nvSpPr>
          <p:cNvPr id="84" name="TextBox 83"/>
          <p:cNvSpPr txBox="1"/>
          <p:nvPr/>
        </p:nvSpPr>
        <p:spPr>
          <a:xfrm>
            <a:off x="514350" y="5717113"/>
            <a:ext cx="6782891" cy="153161"/>
          </a:xfrm>
          <a:prstGeom prst="rect">
            <a:avLst/>
          </a:prstGeom>
          <a:noFill/>
        </p:spPr>
        <p:txBody>
          <a:bodyPr wrap="none" lIns="0" rIns="0" tIns="0" bIns="0">
            <a:spAutoFit/>
          </a:bodyPr>
          <a:lstStyle/>
          <a:p>
            <a:r>
              <a:rPr sz="879" b="0">
                <a:solidFill>
                  <a:srgbClr val="2E2E2E"/>
                </a:solidFill>
                <a:latin typeface="Calibri"/>
              </a:rPr>
              <a:t>▪ The Industrial Air Compressor Market value chain runs from raw-material suppliers through manufacturers, distributors and retailers to end users.</a:t>
            </a:r>
          </a:p>
        </p:txBody>
      </p:sp>
      <p:sp>
        <p:nvSpPr>
          <p:cNvPr id="85" name="TextBox 84"/>
          <p:cNvSpPr txBox="1"/>
          <p:nvPr/>
        </p:nvSpPr>
        <p:spPr>
          <a:xfrm>
            <a:off x="514350" y="5891458"/>
            <a:ext cx="3108563" cy="153161"/>
          </a:xfrm>
          <a:prstGeom prst="rect">
            <a:avLst/>
          </a:prstGeom>
          <a:noFill/>
        </p:spPr>
        <p:txBody>
          <a:bodyPr wrap="none" lIns="0" rIns="0" tIns="0" bIns="0">
            <a:spAutoFit/>
          </a:bodyPr>
          <a:lstStyle/>
          <a:p>
            <a:r>
              <a:rPr sz="879" b="0">
                <a:solidFill>
                  <a:srgbClr val="2E2E2E"/>
                </a:solidFill>
                <a:latin typeface="Calibri"/>
              </a:rPr>
              <a:t>▪ 'Manufacturers / Processors' captures the largest value addition (</a:t>
            </a:r>
          </a:p>
        </p:txBody>
      </p:sp>
      <p:pic>
        <p:nvPicPr>
          <p:cNvPr id="86" name="Picture 85" descr="lock.png"/>
          <p:cNvPicPr>
            <a:picLocks noChangeAspect="1"/>
          </p:cNvPicPr>
          <p:nvPr/>
        </p:nvPicPr>
        <p:blipFill>
          <a:blip r:embed="rId4"/>
          <a:stretch>
            <a:fillRect/>
          </a:stretch>
        </p:blipFill>
        <p:spPr>
          <a:xfrm>
            <a:off x="3566114" y="5883635"/>
            <a:ext cx="102959" cy="149758"/>
          </a:xfrm>
          <a:prstGeom prst="rect">
            <a:avLst/>
          </a:prstGeom>
        </p:spPr>
      </p:pic>
      <p:sp>
        <p:nvSpPr>
          <p:cNvPr id="87" name="TextBox 86"/>
          <p:cNvSpPr txBox="1"/>
          <p:nvPr/>
        </p:nvSpPr>
        <p:spPr>
          <a:xfrm>
            <a:off x="3700111" y="5891458"/>
            <a:ext cx="2123678" cy="153161"/>
          </a:xfrm>
          <a:prstGeom prst="rect">
            <a:avLst/>
          </a:prstGeom>
          <a:noFill/>
        </p:spPr>
        <p:txBody>
          <a:bodyPr wrap="none" lIns="0" rIns="0" tIns="0" bIns="0">
            <a:spAutoFit/>
          </a:bodyPr>
          <a:lstStyle/>
          <a:p>
            <a:r>
              <a:rPr sz="879" b="0">
                <a:solidFill>
                  <a:srgbClr val="2E2E2E"/>
                </a:solidFill>
                <a:latin typeface="Calibri"/>
              </a:rPr>
              <a:t>), reflecting processing and scale advantages.</a:t>
            </a:r>
          </a:p>
        </p:txBody>
      </p:sp>
      <p:sp>
        <p:nvSpPr>
          <p:cNvPr id="88" name="TextBox 87"/>
          <p:cNvSpPr txBox="1"/>
          <p:nvPr/>
        </p:nvSpPr>
        <p:spPr>
          <a:xfrm>
            <a:off x="514350" y="6065804"/>
            <a:ext cx="5690369" cy="153161"/>
          </a:xfrm>
          <a:prstGeom prst="rect">
            <a:avLst/>
          </a:prstGeom>
          <a:noFill/>
        </p:spPr>
        <p:txBody>
          <a:bodyPr wrap="none" lIns="0" rIns="0" tIns="0" bIns="0">
            <a:spAutoFit/>
          </a:bodyPr>
          <a:lstStyle/>
          <a:p>
            <a:r>
              <a:rPr sz="879" b="0">
                <a:solidFill>
                  <a:srgbClr val="2E2E2E"/>
                </a:solidFill>
                <a:latin typeface="Calibri"/>
              </a:rPr>
              <a:t>▪ Forward and backward integration is common some suppliers process, and some large end users produce their own input.</a:t>
            </a:r>
          </a:p>
        </p:txBody>
      </p:sp>
      <p:sp>
        <p:nvSpPr>
          <p:cNvPr id="89" name="TextBox 88"/>
          <p:cNvSpPr txBox="1"/>
          <p:nvPr/>
        </p:nvSpPr>
        <p:spPr>
          <a:xfrm>
            <a:off x="514350" y="6240149"/>
            <a:ext cx="3730228" cy="153161"/>
          </a:xfrm>
          <a:prstGeom prst="rect">
            <a:avLst/>
          </a:prstGeom>
          <a:noFill/>
        </p:spPr>
        <p:txBody>
          <a:bodyPr wrap="none" lIns="0" rIns="0" tIns="0" bIns="0">
            <a:spAutoFit/>
          </a:bodyPr>
          <a:lstStyle/>
          <a:p>
            <a:r>
              <a:rPr sz="879" b="0">
                <a:solidFill>
                  <a:srgbClr val="2E2E2E"/>
                </a:solidFill>
                <a:latin typeface="Calibri"/>
              </a:rPr>
              <a:t>▪ Percentages show each stage's indicative share of value added along the chain.</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Industry-Wide Operating Margin Analysis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Operating margin by region and value chain node, highlighting where value concentrates along the chain</a:t>
            </a:r>
          </a:p>
        </p:txBody>
      </p:sp>
      <p:sp>
        <p:nvSpPr>
          <p:cNvPr id="7" name="Rounded Rectangle 6"/>
          <p:cNvSpPr/>
          <p:nvPr/>
        </p:nvSpPr>
        <p:spPr>
          <a:xfrm>
            <a:off x="142875" y="981075"/>
            <a:ext cx="11906250" cy="3667125"/>
          </a:xfrm>
          <a:prstGeom prst="roundRect">
            <a:avLst>
              <a:gd name="adj" fmla="val 20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Industrial Air Compressor Market Operating Margin by Region &amp; Node</a:t>
            </a:r>
          </a:p>
        </p:txBody>
      </p:sp>
      <p:graphicFrame>
        <p:nvGraphicFramePr>
          <p:cNvPr id="9" name="Table 8"/>
          <p:cNvGraphicFramePr>
            <a:graphicFrameLocks noGrp="1"/>
          </p:cNvGraphicFramePr>
          <p:nvPr/>
        </p:nvGraphicFramePr>
        <p:xfrm>
          <a:off x="152400" y="1238250"/>
          <a:ext cx="11887202" cy="3200406"/>
        </p:xfrm>
        <a:graphic>
          <a:graphicData uri="http://schemas.openxmlformats.org/drawingml/2006/table">
            <a:tbl>
              <a:tblPr>
                <a:tableStyleId>{5C22544A-7EE6-4342-B048-85BDC9FD1C3A}</a:tableStyleId>
              </a:tblPr>
              <a:tblGrid>
                <a:gridCol w="1208402"/>
                <a:gridCol w="2669700"/>
                <a:gridCol w="2669700"/>
                <a:gridCol w="2669700"/>
                <a:gridCol w="2669700"/>
              </a:tblGrid>
              <a:tr h="246126">
                <a:tc>
                  <a:txBody>
                    <a:bodyPr wrap="none"/>
                    <a:lstStyle/>
                    <a:p>
                      <a:pPr algn="l"/>
                      <a:r>
                        <a:rPr sz="1100" b="1">
                          <a:solidFill>
                            <a:srgbClr val="0E2A5C"/>
                          </a:solidFill>
                          <a:latin typeface="Calibri"/>
                        </a:rPr>
                        <a:t>Region</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Node of Supply Chain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Operating Margin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Comparison to Parent Market</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Notes</a:t>
                      </a:r>
                      <a:endParaRPr sz="1100"/>
                    </a:p>
                  </a:txBody>
                  <a:tcPr marL="47625" marR="38100" marT="19050" marB="19050" anchor="ctr">
                    <a:solidFill>
                      <a:srgbClr val="EBF2F9"/>
                    </a:solidFill>
                  </a:tcPr>
                </a:tc>
              </a:tr>
              <a:tr h="24619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9FD"/>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9FD"/>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East Asia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9FD"/>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781550"/>
            <a:ext cx="11906250" cy="1847850"/>
          </a:xfrm>
          <a:prstGeom prst="roundRect">
            <a:avLst>
              <a:gd name="adj" fmla="val 412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E2A5C"/>
                </a:solidFill>
                <a:latin typeface="Calibri"/>
              </a:rPr>
              <a:t>How to Read This</a:t>
            </a:r>
          </a:p>
        </p:txBody>
      </p:sp>
      <p:sp>
        <p:nvSpPr>
          <p:cNvPr id="13" name="Rectangle 12"/>
          <p:cNvSpPr/>
          <p:nvPr/>
        </p:nvSpPr>
        <p:spPr>
          <a:xfrm>
            <a:off x="276225" y="51054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5191125"/>
            <a:ext cx="1163955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513512" y="2694815"/>
            <a:ext cx="366712" cy="533400"/>
          </a:xfrm>
          <a:prstGeom prst="rect">
            <a:avLst/>
          </a:prstGeom>
        </p:spPr>
      </p:pic>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Buyers Assessment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Assessment of buyers and end users by volume, average price and revenue, highlighting purchasing power</a:t>
            </a:r>
          </a:p>
        </p:txBody>
      </p:sp>
      <p:sp>
        <p:nvSpPr>
          <p:cNvPr id="7" name="Rounded Rectangle 6"/>
          <p:cNvSpPr/>
          <p:nvPr/>
        </p:nvSpPr>
        <p:spPr>
          <a:xfrm>
            <a:off x="142875" y="981075"/>
            <a:ext cx="11906250" cy="3181350"/>
          </a:xfrm>
          <a:prstGeom prst="roundRect">
            <a:avLst>
              <a:gd name="adj" fmla="val 2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Industrial Air Compressor Market Buyers / End-User Assessment</a:t>
            </a:r>
          </a:p>
        </p:txBody>
      </p:sp>
      <p:graphicFrame>
        <p:nvGraphicFramePr>
          <p:cNvPr id="9" name="Table 8"/>
          <p:cNvGraphicFramePr>
            <a:graphicFrameLocks noGrp="1"/>
          </p:cNvGraphicFramePr>
          <p:nvPr/>
        </p:nvGraphicFramePr>
        <p:xfrm>
          <a:off x="152400" y="1238250"/>
          <a:ext cx="11889163" cy="2714626"/>
        </p:xfrm>
        <a:graphic>
          <a:graphicData uri="http://schemas.openxmlformats.org/drawingml/2006/table">
            <a:tbl>
              <a:tblPr>
                <a:tableStyleId>{5C22544A-7EE6-4342-B048-85BDC9FD1C3A}</a:tableStyleId>
              </a:tblPr>
              <a:tblGrid>
                <a:gridCol w="1628321"/>
                <a:gridCol w="1351379"/>
                <a:gridCol w="1263040"/>
                <a:gridCol w="1027471"/>
                <a:gridCol w="1459349"/>
                <a:gridCol w="1164887"/>
                <a:gridCol w="1395510"/>
                <a:gridCol w="1228687"/>
                <a:gridCol w="1370519"/>
              </a:tblGrid>
              <a:tr h="246126">
                <a:tc>
                  <a:txBody>
                    <a:bodyPr wrap="none"/>
                    <a:lstStyle/>
                    <a:p>
                      <a:pPr algn="l"/>
                      <a:r>
                        <a:rPr sz="1100" b="1">
                          <a:solidFill>
                            <a:srgbClr val="0E2A5C"/>
                          </a:solidFill>
                          <a:latin typeface="Calibri"/>
                        </a:rPr>
                        <a:t>Company</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Region</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Buyer Category</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Buyer / End-User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Procurement Vol.</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Avg Price (US$/Units)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Revenue (US$ Mn)</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Key Selection Factor</a:t>
                      </a:r>
                      <a:endParaRPr sz="1100"/>
                    </a:p>
                  </a:txBody>
                  <a:tcPr marL="47625" marR="38100" marT="19050" marB="19050" anchor="ctr">
                    <a:solidFill>
                      <a:srgbClr val="EBF2F9"/>
                    </a:solidFill>
                  </a:tcPr>
                </a:tc>
              </a:tr>
              <a:tr h="246850">
                <a:tc>
                  <a:txBody>
                    <a:bodyPr wrap="none"/>
                    <a:lstStyle/>
                    <a:p>
                      <a:pPr algn="l"/>
                      <a:r>
                        <a:rPr sz="1100" b="1">
                          <a:solidFill>
                            <a:srgbClr val="2E2E2E"/>
                          </a:solidFill>
                          <a:latin typeface="Calibri"/>
                        </a:rPr>
                        <a:t>Atlas Copco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U.S.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Ingersoll Rand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Canada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Hitachi</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Mexico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KAESER KOMPRESSOREN</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Brazil</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Gardner Denver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Chile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ELGi Equipments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Rest of Latin America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Kaishan Group</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China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East Asia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BOGE KOMPRESSOREN</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Japan</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East Asia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ANEST IWATA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South Korea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East Asia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Quincy Compressor</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India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South Asia &amp; Pacific</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295775"/>
            <a:ext cx="11906250" cy="2333625"/>
          </a:xfrm>
          <a:prstGeom prst="roundRect">
            <a:avLst>
              <a:gd name="adj" fmla="val 326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381500"/>
            <a:ext cx="11639550" cy="209550"/>
          </a:xfrm>
          <a:prstGeom prst="rect">
            <a:avLst/>
          </a:prstGeom>
          <a:noFill/>
        </p:spPr>
        <p:txBody>
          <a:bodyPr wrap="square" lIns="0" rIns="19050" tIns="9525" bIns="9525">
            <a:spAutoFit/>
          </a:bodyPr>
          <a:lstStyle/>
          <a:p>
            <a:pPr algn="l"/>
            <a:r>
              <a:rPr sz="1300" b="1">
                <a:solidFill>
                  <a:srgbClr val="0E2A5C"/>
                </a:solidFill>
                <a:latin typeface="Calibri"/>
              </a:rPr>
              <a:t>Notes</a:t>
            </a:r>
          </a:p>
        </p:txBody>
      </p:sp>
      <p:sp>
        <p:nvSpPr>
          <p:cNvPr id="13" name="Rectangle 12"/>
          <p:cNvSpPr/>
          <p:nvPr/>
        </p:nvSpPr>
        <p:spPr>
          <a:xfrm>
            <a:off x="276225" y="46196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4705350"/>
            <a:ext cx="11639550" cy="1847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8585131" y="2451926"/>
            <a:ext cx="366712" cy="533400"/>
          </a:xfrm>
          <a:prstGeom prst="rect">
            <a:avLst/>
          </a:prstGeom>
        </p:spPr>
      </p:pic>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Industrial Air Compressor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Dynamics &amp; Forces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Restraints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Opportunities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Recent Developments &amp; Milestones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Five Forces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Dynamics by Region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7" name="TextBox 6"/>
          <p:cNvSpPr txBox="1"/>
          <p:nvPr/>
        </p:nvSpPr>
        <p:spPr>
          <a:xfrm>
            <a:off x="180975" y="1025515"/>
            <a:ext cx="8572500" cy="219044"/>
          </a:xfrm>
          <a:prstGeom prst="rect">
            <a:avLst/>
          </a:prstGeom>
          <a:noFill/>
        </p:spPr>
        <p:txBody>
          <a:bodyPr wrap="square" lIns="28575" rIns="28575" tIns="9525" bIns="9525" anchor="ctr">
            <a:spAutoFit/>
          </a:bodyPr>
          <a:lstStyle/>
          <a:p>
            <a:pPr algn="l"/>
            <a:r>
              <a:rPr sz="1150" b="1">
                <a:solidFill>
                  <a:srgbClr val="2E2E2E"/>
                </a:solidFill>
                <a:latin typeface="Calibri"/>
              </a:rPr>
              <a:t>Demand Dynamics by Region  ·  ranked by 2036 value</a:t>
            </a:r>
          </a:p>
        </p:txBody>
      </p:sp>
      <p:sp>
        <p:nvSpPr>
          <p:cNvPr id="8" name="Rectangle 7"/>
          <p:cNvSpPr/>
          <p:nvPr/>
        </p:nvSpPr>
        <p:spPr>
          <a:xfrm>
            <a:off x="142875" y="1262813"/>
            <a:ext cx="11906250" cy="255552"/>
          </a:xfrm>
          <a:prstGeom prst="rect">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0025" y="1262813"/>
            <a:ext cx="1428750" cy="255552"/>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0" name="TextBox 9"/>
          <p:cNvSpPr txBox="1"/>
          <p:nvPr/>
        </p:nvSpPr>
        <p:spPr>
          <a:xfrm>
            <a:off x="1724025" y="1262813"/>
            <a:ext cx="3714750" cy="255552"/>
          </a:xfrm>
          <a:prstGeom prst="rect">
            <a:avLst/>
          </a:prstGeom>
          <a:noFill/>
        </p:spPr>
        <p:txBody>
          <a:bodyPr wrap="square" lIns="28575" rIns="28575" tIns="9525" bIns="9525" anchor="ctr">
            <a:spAutoFit/>
          </a:bodyPr>
          <a:lstStyle/>
          <a:p>
            <a:pPr algn="l"/>
            <a:r>
              <a:rPr sz="1100" b="1">
                <a:solidFill>
                  <a:srgbClr val="0B2E4A"/>
                </a:solidFill>
                <a:latin typeface="Calibri"/>
              </a:rPr>
              <a:t>Growth Drivers</a:t>
            </a:r>
          </a:p>
        </p:txBody>
      </p:sp>
      <p:sp>
        <p:nvSpPr>
          <p:cNvPr id="11" name="TextBox 10"/>
          <p:cNvSpPr txBox="1"/>
          <p:nvPr/>
        </p:nvSpPr>
        <p:spPr>
          <a:xfrm>
            <a:off x="5534025" y="1262813"/>
            <a:ext cx="2762250" cy="255552"/>
          </a:xfrm>
          <a:prstGeom prst="rect">
            <a:avLst/>
          </a:prstGeom>
          <a:noFill/>
        </p:spPr>
        <p:txBody>
          <a:bodyPr wrap="square" lIns="28575" rIns="28575" tIns="9525" bIns="9525" anchor="ctr">
            <a:spAutoFit/>
          </a:bodyPr>
          <a:lstStyle/>
          <a:p>
            <a:pPr algn="l"/>
            <a:r>
              <a:rPr sz="1100" b="1">
                <a:solidFill>
                  <a:srgbClr val="0B2E4A"/>
                </a:solidFill>
                <a:latin typeface="Calibri"/>
              </a:rPr>
              <a:t>Restraints</a:t>
            </a:r>
          </a:p>
        </p:txBody>
      </p:sp>
      <p:sp>
        <p:nvSpPr>
          <p:cNvPr id="12" name="TextBox 11"/>
          <p:cNvSpPr txBox="1"/>
          <p:nvPr/>
        </p:nvSpPr>
        <p:spPr>
          <a:xfrm>
            <a:off x="8391525" y="1262813"/>
            <a:ext cx="3619500" cy="255552"/>
          </a:xfrm>
          <a:prstGeom prst="rect">
            <a:avLst/>
          </a:prstGeom>
          <a:noFill/>
        </p:spPr>
        <p:txBody>
          <a:bodyPr wrap="square" lIns="28575" rIns="28575" tIns="9525" bIns="9525" anchor="ctr">
            <a:spAutoFit/>
          </a:bodyPr>
          <a:lstStyle/>
          <a:p>
            <a:pPr algn="l"/>
            <a:r>
              <a:rPr sz="1100" b="1">
                <a:solidFill>
                  <a:srgbClr val="0B2E4A"/>
                </a:solidFill>
                <a:latin typeface="Calibri"/>
              </a:rPr>
              <a:t>Priority Opportunities</a:t>
            </a:r>
          </a:p>
        </p:txBody>
      </p:sp>
      <p:sp>
        <p:nvSpPr>
          <p:cNvPr id="13" name="Rectangle 12"/>
          <p:cNvSpPr/>
          <p:nvPr/>
        </p:nvSpPr>
        <p:spPr>
          <a:xfrm>
            <a:off x="142875" y="1518365"/>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0025" y="1518365"/>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North America</a:t>
            </a:r>
          </a:p>
        </p:txBody>
      </p:sp>
      <p:sp>
        <p:nvSpPr>
          <p:cNvPr id="15" name="TextBox 14"/>
          <p:cNvSpPr txBox="1"/>
          <p:nvPr/>
        </p:nvSpPr>
        <p:spPr>
          <a:xfrm>
            <a:off x="1724025" y="1545745"/>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6" name="TextBox 15"/>
          <p:cNvSpPr txBox="1"/>
          <p:nvPr/>
        </p:nvSpPr>
        <p:spPr>
          <a:xfrm>
            <a:off x="5534025" y="1545745"/>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7" name="TextBox 16"/>
          <p:cNvSpPr txBox="1"/>
          <p:nvPr/>
        </p:nvSpPr>
        <p:spPr>
          <a:xfrm>
            <a:off x="8391525" y="1545745"/>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8" name="Rectangle 17"/>
          <p:cNvSpPr/>
          <p:nvPr/>
        </p:nvSpPr>
        <p:spPr>
          <a:xfrm>
            <a:off x="142875" y="2029468"/>
            <a:ext cx="11906250" cy="511104"/>
          </a:xfrm>
          <a:prstGeom prst="rect">
            <a:avLst/>
          </a:prstGeom>
          <a:solidFill>
            <a:srgbClr val="F5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0025" y="2029468"/>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South Asia &amp; Pacific</a:t>
            </a:r>
          </a:p>
        </p:txBody>
      </p:sp>
      <p:sp>
        <p:nvSpPr>
          <p:cNvPr id="20" name="TextBox 19"/>
          <p:cNvSpPr txBox="1"/>
          <p:nvPr/>
        </p:nvSpPr>
        <p:spPr>
          <a:xfrm>
            <a:off x="1724025" y="2056849"/>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TextBox 20"/>
          <p:cNvSpPr txBox="1"/>
          <p:nvPr/>
        </p:nvSpPr>
        <p:spPr>
          <a:xfrm>
            <a:off x="5534025" y="2056849"/>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Competitive intensity at scale.</a:t>
            </a:r>
          </a:p>
        </p:txBody>
      </p:sp>
      <p:sp>
        <p:nvSpPr>
          <p:cNvPr id="22" name="TextBox 21"/>
          <p:cNvSpPr txBox="1"/>
          <p:nvPr/>
        </p:nvSpPr>
        <p:spPr>
          <a:xfrm>
            <a:off x="8391525" y="2056849"/>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3" name="Rectangle 22"/>
          <p:cNvSpPr/>
          <p:nvPr/>
        </p:nvSpPr>
        <p:spPr>
          <a:xfrm>
            <a:off x="142875" y="2540572"/>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0025" y="2540572"/>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East Asia</a:t>
            </a:r>
          </a:p>
        </p:txBody>
      </p:sp>
      <p:sp>
        <p:nvSpPr>
          <p:cNvPr id="25" name="TextBox 24"/>
          <p:cNvSpPr txBox="1"/>
          <p:nvPr/>
        </p:nvSpPr>
        <p:spPr>
          <a:xfrm>
            <a:off x="1724025" y="2567952"/>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6" name="TextBox 25"/>
          <p:cNvSpPr txBox="1"/>
          <p:nvPr/>
        </p:nvSpPr>
        <p:spPr>
          <a:xfrm>
            <a:off x="5534025" y="2567952"/>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7" name="TextBox 26"/>
          <p:cNvSpPr txBox="1"/>
          <p:nvPr/>
        </p:nvSpPr>
        <p:spPr>
          <a:xfrm>
            <a:off x="8391525" y="2567952"/>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8" name="Rectangle 27"/>
          <p:cNvSpPr/>
          <p:nvPr/>
        </p:nvSpPr>
        <p:spPr>
          <a:xfrm>
            <a:off x="142875" y="3051675"/>
            <a:ext cx="11906250" cy="511104"/>
          </a:xfrm>
          <a:prstGeom prst="rect">
            <a:avLst/>
          </a:prstGeom>
          <a:solidFill>
            <a:srgbClr val="F5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0025" y="3051675"/>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Latin America</a:t>
            </a:r>
          </a:p>
        </p:txBody>
      </p:sp>
      <p:sp>
        <p:nvSpPr>
          <p:cNvPr id="30" name="TextBox 29"/>
          <p:cNvSpPr txBox="1"/>
          <p:nvPr/>
        </p:nvSpPr>
        <p:spPr>
          <a:xfrm>
            <a:off x="1724025" y="3079056"/>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1" name="TextBox 30"/>
          <p:cNvSpPr txBox="1"/>
          <p:nvPr/>
        </p:nvSpPr>
        <p:spPr>
          <a:xfrm>
            <a:off x="5534025" y="3079056"/>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8391525" y="3079056"/>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Rectangle 32"/>
          <p:cNvSpPr/>
          <p:nvPr/>
        </p:nvSpPr>
        <p:spPr>
          <a:xfrm>
            <a:off x="142875" y="3562779"/>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0025" y="3562779"/>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Middle East &amp; Africa</a:t>
            </a:r>
          </a:p>
        </p:txBody>
      </p:sp>
      <p:sp>
        <p:nvSpPr>
          <p:cNvPr id="35" name="TextBox 34"/>
          <p:cNvSpPr txBox="1"/>
          <p:nvPr/>
        </p:nvSpPr>
        <p:spPr>
          <a:xfrm>
            <a:off x="1724025" y="3590159"/>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TextBox 35"/>
          <p:cNvSpPr txBox="1"/>
          <p:nvPr/>
        </p:nvSpPr>
        <p:spPr>
          <a:xfrm>
            <a:off x="5534025" y="3590159"/>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TextBox 36"/>
          <p:cNvSpPr txBox="1"/>
          <p:nvPr/>
        </p:nvSpPr>
        <p:spPr>
          <a:xfrm>
            <a:off x="8391525" y="3590159"/>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8" name="Rectangle 37"/>
          <p:cNvSpPr/>
          <p:nvPr/>
        </p:nvSpPr>
        <p:spPr>
          <a:xfrm>
            <a:off x="142875" y="4073882"/>
            <a:ext cx="11906250" cy="511104"/>
          </a:xfrm>
          <a:prstGeom prst="rect">
            <a:avLst/>
          </a:prstGeom>
          <a:solidFill>
            <a:srgbClr val="F5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00025" y="4073882"/>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Eastern Europe</a:t>
            </a:r>
          </a:p>
        </p:txBody>
      </p:sp>
      <p:sp>
        <p:nvSpPr>
          <p:cNvPr id="40" name="TextBox 39"/>
          <p:cNvSpPr txBox="1"/>
          <p:nvPr/>
        </p:nvSpPr>
        <p:spPr>
          <a:xfrm>
            <a:off x="1724025" y="4101263"/>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TextBox 40"/>
          <p:cNvSpPr txBox="1"/>
          <p:nvPr/>
        </p:nvSpPr>
        <p:spPr>
          <a:xfrm>
            <a:off x="5534025" y="4101263"/>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2" name="TextBox 41"/>
          <p:cNvSpPr txBox="1"/>
          <p:nvPr/>
        </p:nvSpPr>
        <p:spPr>
          <a:xfrm>
            <a:off x="8391525" y="4101263"/>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3" name="Rectangle 42"/>
          <p:cNvSpPr/>
          <p:nvPr/>
        </p:nvSpPr>
        <p:spPr>
          <a:xfrm>
            <a:off x="142875" y="4584986"/>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00025" y="4584986"/>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Western Europe</a:t>
            </a:r>
          </a:p>
        </p:txBody>
      </p:sp>
      <p:sp>
        <p:nvSpPr>
          <p:cNvPr id="45" name="TextBox 44"/>
          <p:cNvSpPr txBox="1"/>
          <p:nvPr/>
        </p:nvSpPr>
        <p:spPr>
          <a:xfrm>
            <a:off x="1724025" y="4612366"/>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6" name="TextBox 45"/>
          <p:cNvSpPr txBox="1"/>
          <p:nvPr/>
        </p:nvSpPr>
        <p:spPr>
          <a:xfrm>
            <a:off x="5534025" y="4612366"/>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7" name="TextBox 46"/>
          <p:cNvSpPr txBox="1"/>
          <p:nvPr/>
        </p:nvSpPr>
        <p:spPr>
          <a:xfrm>
            <a:off x="8391525" y="4612366"/>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cxnSp>
        <p:nvCxnSpPr>
          <p:cNvPr id="48" name="Connector 47"/>
          <p:cNvCxnSpPr/>
          <p:nvPr/>
        </p:nvCxnSpPr>
        <p:spPr>
          <a:xfrm>
            <a:off x="142875" y="5096089"/>
            <a:ext cx="11906250" cy="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00025" y="5114343"/>
            <a:ext cx="3810000" cy="182537"/>
          </a:xfrm>
          <a:prstGeom prst="rect">
            <a:avLst/>
          </a:prstGeom>
          <a:noFill/>
        </p:spPr>
        <p:txBody>
          <a:bodyPr wrap="square" lIns="28575" rIns="28575" tIns="9525" bIns="9525" anchor="ctr">
            <a:spAutoFit/>
          </a:bodyPr>
          <a:lstStyle/>
          <a:p>
            <a:pPr algn="l"/>
            <a:r>
              <a:rPr sz="1100" b="0">
                <a:solidFill>
                  <a:srgbClr val="6C7A89"/>
                </a:solidFill>
                <a:latin typeface="Calibri"/>
              </a:rPr>
              <a:t>Source: TMR Analysis, 2026</a:t>
            </a:r>
          </a:p>
        </p:txBody>
      </p:sp>
      <p:sp>
        <p:nvSpPr>
          <p:cNvPr id="50" name="Rounded Rectangle 49"/>
          <p:cNvSpPr/>
          <p:nvPr/>
        </p:nvSpPr>
        <p:spPr>
          <a:xfrm>
            <a:off x="142875" y="5369895"/>
            <a:ext cx="11906250" cy="994827"/>
          </a:xfrm>
          <a:prstGeom prst="roundRect">
            <a:avLst>
              <a:gd name="adj" fmla="val 479"/>
            </a:avLst>
          </a:prstGeom>
          <a:solidFill>
            <a:srgbClr val="FFFFFF"/>
          </a:solidFill>
          <a:ln w="1270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6225" y="5406402"/>
            <a:ext cx="3810000" cy="219044"/>
          </a:xfrm>
          <a:prstGeom prst="rect">
            <a:avLst/>
          </a:prstGeom>
          <a:noFill/>
        </p:spPr>
        <p:txBody>
          <a:bodyPr wrap="square" lIns="28575" rIns="28575" tIns="9525" bIns="9525" anchor="ctr">
            <a:spAutoFit/>
          </a:bodyPr>
          <a:lstStyle/>
          <a:p>
            <a:pPr algn="l"/>
            <a:r>
              <a:rPr sz="1200" b="1">
                <a:solidFill>
                  <a:srgbClr val="0B2E4A"/>
                </a:solidFill>
                <a:latin typeface="Calibri"/>
              </a:rPr>
              <a:t>KEY TAKEAWAY</a:t>
            </a:r>
          </a:p>
        </p:txBody>
      </p:sp>
      <p:cxnSp>
        <p:nvCxnSpPr>
          <p:cNvPr id="52" name="Connector 51"/>
          <p:cNvCxnSpPr/>
          <p:nvPr/>
        </p:nvCxnSpPr>
        <p:spPr>
          <a:xfrm>
            <a:off x="276225" y="5643700"/>
            <a:ext cx="11639550" cy="0"/>
          </a:xfrm>
          <a:prstGeom prst="line">
            <a:avLst/>
          </a:prstGeom>
          <a:ln w="15875">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276225" y="5698461"/>
            <a:ext cx="1152525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4" name="Rectangle 5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56" name="TextBox 55"/>
          <p:cNvSpPr txBox="1"/>
          <p:nvPr/>
        </p:nvSpPr>
        <p:spPr>
          <a:xfrm>
            <a:off x="1752600" y="1606276"/>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57" name="Picture 56" descr="lock.png"/>
          <p:cNvPicPr>
            <a:picLocks noChangeAspect="1"/>
          </p:cNvPicPr>
          <p:nvPr/>
        </p:nvPicPr>
        <p:blipFill>
          <a:blip r:embed="rId4"/>
          <a:stretch>
            <a:fillRect/>
          </a:stretch>
        </p:blipFill>
        <p:spPr>
          <a:xfrm>
            <a:off x="2438789" y="1596497"/>
            <a:ext cx="128699" cy="187198"/>
          </a:xfrm>
          <a:prstGeom prst="rect">
            <a:avLst/>
          </a:prstGeom>
        </p:spPr>
      </p:pic>
      <p:sp>
        <p:nvSpPr>
          <p:cNvPr id="58" name="TextBox 57"/>
          <p:cNvSpPr txBox="1"/>
          <p:nvPr/>
        </p:nvSpPr>
        <p:spPr>
          <a:xfrm>
            <a:off x="2606285" y="1606276"/>
            <a:ext cx="1556419" cy="186689"/>
          </a:xfrm>
          <a:prstGeom prst="rect">
            <a:avLst/>
          </a:prstGeom>
          <a:noFill/>
        </p:spPr>
        <p:txBody>
          <a:bodyPr wrap="none" lIns="0" rIns="0" tIns="0" bIns="0">
            <a:spAutoFit/>
          </a:bodyPr>
          <a:lstStyle/>
          <a:p>
            <a:r>
              <a:rPr sz="1100" b="0">
                <a:solidFill>
                  <a:srgbClr val="2E2E2E"/>
                </a:solidFill>
                <a:latin typeface="Calibri"/>
              </a:rPr>
              <a:t>share), Installed demand (</a:t>
            </a:r>
          </a:p>
        </p:txBody>
      </p:sp>
      <p:pic>
        <p:nvPicPr>
          <p:cNvPr id="59" name="Picture 58" descr="lock.png"/>
          <p:cNvPicPr>
            <a:picLocks noChangeAspect="1"/>
          </p:cNvPicPr>
          <p:nvPr/>
        </p:nvPicPr>
        <p:blipFill>
          <a:blip r:embed="rId4"/>
          <a:stretch>
            <a:fillRect/>
          </a:stretch>
        </p:blipFill>
        <p:spPr>
          <a:xfrm>
            <a:off x="4110756" y="1596497"/>
            <a:ext cx="128699" cy="187198"/>
          </a:xfrm>
          <a:prstGeom prst="rect">
            <a:avLst/>
          </a:prstGeom>
        </p:spPr>
      </p:pic>
      <p:sp>
        <p:nvSpPr>
          <p:cNvPr id="60" name="TextBox 59"/>
          <p:cNvSpPr txBox="1"/>
          <p:nvPr/>
        </p:nvSpPr>
        <p:spPr>
          <a:xfrm>
            <a:off x="4278252" y="1606276"/>
            <a:ext cx="848352" cy="186689"/>
          </a:xfrm>
          <a:prstGeom prst="rect">
            <a:avLst/>
          </a:prstGeom>
          <a:noFill/>
        </p:spPr>
        <p:txBody>
          <a:bodyPr wrap="none" lIns="0" rIns="0" tIns="0" bIns="0">
            <a:spAutoFit/>
          </a:bodyPr>
          <a:lstStyle/>
          <a:p>
            <a:r>
              <a:rPr sz="1100" b="0">
                <a:solidFill>
                  <a:srgbClr val="2E2E2E"/>
                </a:solidFill>
                <a:latin typeface="Calibri"/>
              </a:rPr>
              <a:t>CAGR), Diesel</a:t>
            </a:r>
          </a:p>
        </p:txBody>
      </p:sp>
      <p:sp>
        <p:nvSpPr>
          <p:cNvPr id="61" name="TextBox 60"/>
          <p:cNvSpPr txBox="1"/>
          <p:nvPr/>
        </p:nvSpPr>
        <p:spPr>
          <a:xfrm>
            <a:off x="1752600" y="1773915"/>
            <a:ext cx="2754510" cy="186689"/>
          </a:xfrm>
          <a:prstGeom prst="rect">
            <a:avLst/>
          </a:prstGeom>
          <a:noFill/>
        </p:spPr>
        <p:txBody>
          <a:bodyPr wrap="none" lIns="0" rIns="0" tIns="0" bIns="0">
            <a:spAutoFit/>
          </a:bodyPr>
          <a:lstStyle/>
          <a:p>
            <a:r>
              <a:rPr sz="1100" b="0">
                <a:solidFill>
                  <a:srgbClr val="2E2E2E"/>
                </a:solidFill>
                <a:latin typeface="Calibri"/>
              </a:rPr>
              <a:t>Engine-Driven demand, Accelerating vs history.</a:t>
            </a:r>
          </a:p>
        </p:txBody>
      </p:sp>
      <p:sp>
        <p:nvSpPr>
          <p:cNvPr id="62" name="TextBox 61"/>
          <p:cNvSpPr txBox="1"/>
          <p:nvPr/>
        </p:nvSpPr>
        <p:spPr>
          <a:xfrm>
            <a:off x="5562600" y="1606276"/>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63" name="Picture 62" descr="lock.png"/>
          <p:cNvPicPr>
            <a:picLocks noChangeAspect="1"/>
          </p:cNvPicPr>
          <p:nvPr/>
        </p:nvPicPr>
        <p:blipFill>
          <a:blip r:embed="rId4"/>
          <a:stretch>
            <a:fillRect/>
          </a:stretch>
        </p:blipFill>
        <p:spPr>
          <a:xfrm>
            <a:off x="6797766" y="1596497"/>
            <a:ext cx="128699" cy="187198"/>
          </a:xfrm>
          <a:prstGeom prst="rect">
            <a:avLst/>
          </a:prstGeom>
        </p:spPr>
      </p:pic>
      <p:sp>
        <p:nvSpPr>
          <p:cNvPr id="64" name="TextBox 63"/>
          <p:cNvSpPr txBox="1"/>
          <p:nvPr/>
        </p:nvSpPr>
        <p:spPr>
          <a:xfrm>
            <a:off x="6965262" y="1606276"/>
            <a:ext cx="689297" cy="186689"/>
          </a:xfrm>
          <a:prstGeom prst="rect">
            <a:avLst/>
          </a:prstGeom>
          <a:noFill/>
        </p:spPr>
        <p:txBody>
          <a:bodyPr wrap="none" lIns="0" rIns="0" tIns="0" bIns="0">
            <a:spAutoFit/>
          </a:bodyPr>
          <a:lstStyle/>
          <a:p>
            <a:r>
              <a:rPr sz="1100" b="0">
                <a:solidFill>
                  <a:srgbClr val="2E2E2E"/>
                </a:solidFill>
                <a:latin typeface="Calibri"/>
              </a:rPr>
              <a:t>BPS, Rising</a:t>
            </a:r>
          </a:p>
        </p:txBody>
      </p:sp>
      <p:sp>
        <p:nvSpPr>
          <p:cNvPr id="65" name="TextBox 64"/>
          <p:cNvSpPr txBox="1"/>
          <p:nvPr/>
        </p:nvSpPr>
        <p:spPr>
          <a:xfrm>
            <a:off x="5562600" y="1773915"/>
            <a:ext cx="747414" cy="186689"/>
          </a:xfrm>
          <a:prstGeom prst="rect">
            <a:avLst/>
          </a:prstGeom>
          <a:noFill/>
        </p:spPr>
        <p:txBody>
          <a:bodyPr wrap="none" lIns="0" rIns="0" tIns="0" bIns="0">
            <a:spAutoFit/>
          </a:bodyPr>
          <a:lstStyle/>
          <a:p>
            <a:r>
              <a:rPr sz="1100" b="0">
                <a:solidFill>
                  <a:srgbClr val="2E2E2E"/>
                </a:solidFill>
                <a:latin typeface="Calibri"/>
              </a:rPr>
              <a:t>realisation (</a:t>
            </a:r>
          </a:p>
        </p:txBody>
      </p:sp>
      <p:pic>
        <p:nvPicPr>
          <p:cNvPr id="66" name="Picture 65" descr="lock.png"/>
          <p:cNvPicPr>
            <a:picLocks noChangeAspect="1"/>
          </p:cNvPicPr>
          <p:nvPr/>
        </p:nvPicPr>
        <p:blipFill>
          <a:blip r:embed="rId4"/>
          <a:stretch>
            <a:fillRect/>
          </a:stretch>
        </p:blipFill>
        <p:spPr>
          <a:xfrm>
            <a:off x="6258066" y="1764137"/>
            <a:ext cx="128699" cy="187198"/>
          </a:xfrm>
          <a:prstGeom prst="rect">
            <a:avLst/>
          </a:prstGeom>
        </p:spPr>
      </p:pic>
      <p:sp>
        <p:nvSpPr>
          <p:cNvPr id="67" name="TextBox 66"/>
          <p:cNvSpPr txBox="1"/>
          <p:nvPr/>
        </p:nvSpPr>
        <p:spPr>
          <a:xfrm>
            <a:off x="6425562" y="177391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68" name="TextBox 67"/>
          <p:cNvSpPr txBox="1"/>
          <p:nvPr/>
        </p:nvSpPr>
        <p:spPr>
          <a:xfrm>
            <a:off x="8420100" y="1690095"/>
            <a:ext cx="1719312" cy="186689"/>
          </a:xfrm>
          <a:prstGeom prst="rect">
            <a:avLst/>
          </a:prstGeom>
          <a:noFill/>
        </p:spPr>
        <p:txBody>
          <a:bodyPr wrap="none" lIns="0" rIns="0" tIns="0" bIns="0">
            <a:spAutoFit/>
          </a:bodyPr>
          <a:lstStyle/>
          <a:p>
            <a:r>
              <a:rPr sz="1100" b="0">
                <a:solidFill>
                  <a:srgbClr val="2E2E2E"/>
                </a:solidFill>
                <a:latin typeface="Calibri"/>
              </a:rPr>
              <a:t>Scale Steam Turbine-Driven (</a:t>
            </a:r>
          </a:p>
        </p:txBody>
      </p:sp>
      <p:pic>
        <p:nvPicPr>
          <p:cNvPr id="69" name="Picture 68" descr="lock.png"/>
          <p:cNvPicPr>
            <a:picLocks noChangeAspect="1"/>
          </p:cNvPicPr>
          <p:nvPr/>
        </p:nvPicPr>
        <p:blipFill>
          <a:blip r:embed="rId4"/>
          <a:stretch>
            <a:fillRect/>
          </a:stretch>
        </p:blipFill>
        <p:spPr>
          <a:xfrm>
            <a:off x="10087463" y="1680317"/>
            <a:ext cx="128699" cy="187198"/>
          </a:xfrm>
          <a:prstGeom prst="rect">
            <a:avLst/>
          </a:prstGeom>
        </p:spPr>
      </p:pic>
      <p:sp>
        <p:nvSpPr>
          <p:cNvPr id="70" name="TextBox 69"/>
          <p:cNvSpPr txBox="1"/>
          <p:nvPr/>
        </p:nvSpPr>
        <p:spPr>
          <a:xfrm>
            <a:off x="10254959" y="1690095"/>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71" name="Picture 70" descr="lock.png"/>
          <p:cNvPicPr>
            <a:picLocks noChangeAspect="1"/>
          </p:cNvPicPr>
          <p:nvPr/>
        </p:nvPicPr>
        <p:blipFill>
          <a:blip r:embed="rId4"/>
          <a:stretch>
            <a:fillRect/>
          </a:stretch>
        </p:blipFill>
        <p:spPr>
          <a:xfrm>
            <a:off x="10356428" y="1680317"/>
            <a:ext cx="128699" cy="187198"/>
          </a:xfrm>
          <a:prstGeom prst="rect">
            <a:avLst/>
          </a:prstGeom>
        </p:spPr>
      </p:pic>
      <p:sp>
        <p:nvSpPr>
          <p:cNvPr id="72" name="TextBox 71"/>
          <p:cNvSpPr txBox="1"/>
          <p:nvPr/>
        </p:nvSpPr>
        <p:spPr>
          <a:xfrm>
            <a:off x="10523923" y="1690095"/>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73" name="TextBox 72"/>
          <p:cNvSpPr txBox="1"/>
          <p:nvPr/>
        </p:nvSpPr>
        <p:spPr>
          <a:xfrm>
            <a:off x="1752600" y="2117380"/>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74" name="Picture 73" descr="lock.png"/>
          <p:cNvPicPr>
            <a:picLocks noChangeAspect="1"/>
          </p:cNvPicPr>
          <p:nvPr/>
        </p:nvPicPr>
        <p:blipFill>
          <a:blip r:embed="rId4"/>
          <a:stretch>
            <a:fillRect/>
          </a:stretch>
        </p:blipFill>
        <p:spPr>
          <a:xfrm>
            <a:off x="2438789" y="2107601"/>
            <a:ext cx="128699" cy="187198"/>
          </a:xfrm>
          <a:prstGeom prst="rect">
            <a:avLst/>
          </a:prstGeom>
        </p:spPr>
      </p:pic>
      <p:sp>
        <p:nvSpPr>
          <p:cNvPr id="75" name="TextBox 74"/>
          <p:cNvSpPr txBox="1"/>
          <p:nvPr/>
        </p:nvSpPr>
        <p:spPr>
          <a:xfrm>
            <a:off x="2606285" y="2117380"/>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76" name="Picture 75" descr="lock.png"/>
          <p:cNvPicPr>
            <a:picLocks noChangeAspect="1"/>
          </p:cNvPicPr>
          <p:nvPr/>
        </p:nvPicPr>
        <p:blipFill>
          <a:blip r:embed="rId4"/>
          <a:stretch>
            <a:fillRect/>
          </a:stretch>
        </p:blipFill>
        <p:spPr>
          <a:xfrm>
            <a:off x="4237905" y="2107601"/>
            <a:ext cx="128699" cy="187198"/>
          </a:xfrm>
          <a:prstGeom prst="rect">
            <a:avLst/>
          </a:prstGeom>
        </p:spPr>
      </p:pic>
      <p:sp>
        <p:nvSpPr>
          <p:cNvPr id="77" name="TextBox 76"/>
          <p:cNvSpPr txBox="1"/>
          <p:nvPr/>
        </p:nvSpPr>
        <p:spPr>
          <a:xfrm>
            <a:off x="4405401" y="2117380"/>
            <a:ext cx="529133" cy="186689"/>
          </a:xfrm>
          <a:prstGeom prst="rect">
            <a:avLst/>
          </a:prstGeom>
          <a:noFill/>
        </p:spPr>
        <p:txBody>
          <a:bodyPr wrap="none" lIns="0" rIns="0" tIns="0" bIns="0">
            <a:spAutoFit/>
          </a:bodyPr>
          <a:lstStyle/>
          <a:p>
            <a:r>
              <a:rPr sz="1100" b="0">
                <a:solidFill>
                  <a:srgbClr val="2E2E2E"/>
                </a:solidFill>
                <a:latin typeface="Calibri"/>
              </a:rPr>
              <a:t>), Diesel</a:t>
            </a:r>
          </a:p>
        </p:txBody>
      </p:sp>
      <p:sp>
        <p:nvSpPr>
          <p:cNvPr id="78" name="TextBox 77"/>
          <p:cNvSpPr txBox="1"/>
          <p:nvPr/>
        </p:nvSpPr>
        <p:spPr>
          <a:xfrm>
            <a:off x="1752600" y="2285020"/>
            <a:ext cx="2754510" cy="186689"/>
          </a:xfrm>
          <a:prstGeom prst="rect">
            <a:avLst/>
          </a:prstGeom>
          <a:noFill/>
        </p:spPr>
        <p:txBody>
          <a:bodyPr wrap="none" lIns="0" rIns="0" tIns="0" bIns="0">
            <a:spAutoFit/>
          </a:bodyPr>
          <a:lstStyle/>
          <a:p>
            <a:r>
              <a:rPr sz="1100" b="0">
                <a:solidFill>
                  <a:srgbClr val="2E2E2E"/>
                </a:solidFill>
                <a:latin typeface="Calibri"/>
              </a:rPr>
              <a:t>Engine-Driven demand, Accelerating vs history.</a:t>
            </a:r>
          </a:p>
        </p:txBody>
      </p:sp>
      <p:sp>
        <p:nvSpPr>
          <p:cNvPr id="79" name="TextBox 78"/>
          <p:cNvSpPr txBox="1"/>
          <p:nvPr/>
        </p:nvSpPr>
        <p:spPr>
          <a:xfrm>
            <a:off x="8420100" y="2201200"/>
            <a:ext cx="1719312" cy="186689"/>
          </a:xfrm>
          <a:prstGeom prst="rect">
            <a:avLst/>
          </a:prstGeom>
          <a:noFill/>
        </p:spPr>
        <p:txBody>
          <a:bodyPr wrap="none" lIns="0" rIns="0" tIns="0" bIns="0">
            <a:spAutoFit/>
          </a:bodyPr>
          <a:lstStyle/>
          <a:p>
            <a:r>
              <a:rPr sz="1100" b="0">
                <a:solidFill>
                  <a:srgbClr val="2E2E2E"/>
                </a:solidFill>
                <a:latin typeface="Calibri"/>
              </a:rPr>
              <a:t>Scale Steam Turbine-Driven (</a:t>
            </a:r>
          </a:p>
        </p:txBody>
      </p:sp>
      <p:pic>
        <p:nvPicPr>
          <p:cNvPr id="80" name="Picture 79" descr="lock.png"/>
          <p:cNvPicPr>
            <a:picLocks noChangeAspect="1"/>
          </p:cNvPicPr>
          <p:nvPr/>
        </p:nvPicPr>
        <p:blipFill>
          <a:blip r:embed="rId4"/>
          <a:stretch>
            <a:fillRect/>
          </a:stretch>
        </p:blipFill>
        <p:spPr>
          <a:xfrm>
            <a:off x="10087463" y="2191421"/>
            <a:ext cx="128699" cy="187198"/>
          </a:xfrm>
          <a:prstGeom prst="rect">
            <a:avLst/>
          </a:prstGeom>
        </p:spPr>
      </p:pic>
      <p:sp>
        <p:nvSpPr>
          <p:cNvPr id="81" name="TextBox 80"/>
          <p:cNvSpPr txBox="1"/>
          <p:nvPr/>
        </p:nvSpPr>
        <p:spPr>
          <a:xfrm>
            <a:off x="10254959" y="2201200"/>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82" name="Picture 81" descr="lock.png"/>
          <p:cNvPicPr>
            <a:picLocks noChangeAspect="1"/>
          </p:cNvPicPr>
          <p:nvPr/>
        </p:nvPicPr>
        <p:blipFill>
          <a:blip r:embed="rId4"/>
          <a:stretch>
            <a:fillRect/>
          </a:stretch>
        </p:blipFill>
        <p:spPr>
          <a:xfrm>
            <a:off x="10356428" y="2191421"/>
            <a:ext cx="128699" cy="187198"/>
          </a:xfrm>
          <a:prstGeom prst="rect">
            <a:avLst/>
          </a:prstGeom>
        </p:spPr>
      </p:pic>
      <p:sp>
        <p:nvSpPr>
          <p:cNvPr id="83" name="TextBox 82"/>
          <p:cNvSpPr txBox="1"/>
          <p:nvPr/>
        </p:nvSpPr>
        <p:spPr>
          <a:xfrm>
            <a:off x="10523923" y="2201200"/>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84" name="TextBox 83"/>
          <p:cNvSpPr txBox="1"/>
          <p:nvPr/>
        </p:nvSpPr>
        <p:spPr>
          <a:xfrm>
            <a:off x="1752600" y="2628483"/>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85" name="Picture 84" descr="lock.png"/>
          <p:cNvPicPr>
            <a:picLocks noChangeAspect="1"/>
          </p:cNvPicPr>
          <p:nvPr/>
        </p:nvPicPr>
        <p:blipFill>
          <a:blip r:embed="rId4"/>
          <a:stretch>
            <a:fillRect/>
          </a:stretch>
        </p:blipFill>
        <p:spPr>
          <a:xfrm>
            <a:off x="2438789" y="2618704"/>
            <a:ext cx="128699" cy="187198"/>
          </a:xfrm>
          <a:prstGeom prst="rect">
            <a:avLst/>
          </a:prstGeom>
        </p:spPr>
      </p:pic>
      <p:sp>
        <p:nvSpPr>
          <p:cNvPr id="86" name="TextBox 85"/>
          <p:cNvSpPr txBox="1"/>
          <p:nvPr/>
        </p:nvSpPr>
        <p:spPr>
          <a:xfrm>
            <a:off x="2606285" y="2628483"/>
            <a:ext cx="1556419" cy="186689"/>
          </a:xfrm>
          <a:prstGeom prst="rect">
            <a:avLst/>
          </a:prstGeom>
          <a:noFill/>
        </p:spPr>
        <p:txBody>
          <a:bodyPr wrap="none" lIns="0" rIns="0" tIns="0" bIns="0">
            <a:spAutoFit/>
          </a:bodyPr>
          <a:lstStyle/>
          <a:p>
            <a:r>
              <a:rPr sz="1100" b="0">
                <a:solidFill>
                  <a:srgbClr val="2E2E2E"/>
                </a:solidFill>
                <a:latin typeface="Calibri"/>
              </a:rPr>
              <a:t>share), Installed demand (</a:t>
            </a:r>
          </a:p>
        </p:txBody>
      </p:sp>
      <p:pic>
        <p:nvPicPr>
          <p:cNvPr id="87" name="Picture 86" descr="lock.png"/>
          <p:cNvPicPr>
            <a:picLocks noChangeAspect="1"/>
          </p:cNvPicPr>
          <p:nvPr/>
        </p:nvPicPr>
        <p:blipFill>
          <a:blip r:embed="rId4"/>
          <a:stretch>
            <a:fillRect/>
          </a:stretch>
        </p:blipFill>
        <p:spPr>
          <a:xfrm>
            <a:off x="4110756" y="2618704"/>
            <a:ext cx="128699" cy="187198"/>
          </a:xfrm>
          <a:prstGeom prst="rect">
            <a:avLst/>
          </a:prstGeom>
        </p:spPr>
      </p:pic>
      <p:sp>
        <p:nvSpPr>
          <p:cNvPr id="88" name="TextBox 87"/>
          <p:cNvSpPr txBox="1"/>
          <p:nvPr/>
        </p:nvSpPr>
        <p:spPr>
          <a:xfrm>
            <a:off x="4278252" y="2628483"/>
            <a:ext cx="848352" cy="186689"/>
          </a:xfrm>
          <a:prstGeom prst="rect">
            <a:avLst/>
          </a:prstGeom>
          <a:noFill/>
        </p:spPr>
        <p:txBody>
          <a:bodyPr wrap="none" lIns="0" rIns="0" tIns="0" bIns="0">
            <a:spAutoFit/>
          </a:bodyPr>
          <a:lstStyle/>
          <a:p>
            <a:r>
              <a:rPr sz="1100" b="0">
                <a:solidFill>
                  <a:srgbClr val="2E2E2E"/>
                </a:solidFill>
                <a:latin typeface="Calibri"/>
              </a:rPr>
              <a:t>CAGR), Diesel</a:t>
            </a:r>
          </a:p>
        </p:txBody>
      </p:sp>
      <p:sp>
        <p:nvSpPr>
          <p:cNvPr id="89" name="TextBox 88"/>
          <p:cNvSpPr txBox="1"/>
          <p:nvPr/>
        </p:nvSpPr>
        <p:spPr>
          <a:xfrm>
            <a:off x="1752600" y="2796123"/>
            <a:ext cx="2754510" cy="186689"/>
          </a:xfrm>
          <a:prstGeom prst="rect">
            <a:avLst/>
          </a:prstGeom>
          <a:noFill/>
        </p:spPr>
        <p:txBody>
          <a:bodyPr wrap="none" lIns="0" rIns="0" tIns="0" bIns="0">
            <a:spAutoFit/>
          </a:bodyPr>
          <a:lstStyle/>
          <a:p>
            <a:r>
              <a:rPr sz="1100" b="0">
                <a:solidFill>
                  <a:srgbClr val="2E2E2E"/>
                </a:solidFill>
                <a:latin typeface="Calibri"/>
              </a:rPr>
              <a:t>Engine-Driven demand, Accelerating vs history.</a:t>
            </a:r>
          </a:p>
        </p:txBody>
      </p:sp>
      <p:sp>
        <p:nvSpPr>
          <p:cNvPr id="90" name="TextBox 89"/>
          <p:cNvSpPr txBox="1"/>
          <p:nvPr/>
        </p:nvSpPr>
        <p:spPr>
          <a:xfrm>
            <a:off x="5562600" y="2712303"/>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91" name="Picture 90" descr="lock.png"/>
          <p:cNvPicPr>
            <a:picLocks noChangeAspect="1"/>
          </p:cNvPicPr>
          <p:nvPr/>
        </p:nvPicPr>
        <p:blipFill>
          <a:blip r:embed="rId4"/>
          <a:stretch>
            <a:fillRect/>
          </a:stretch>
        </p:blipFill>
        <p:spPr>
          <a:xfrm>
            <a:off x="6797766" y="2702524"/>
            <a:ext cx="128699" cy="187198"/>
          </a:xfrm>
          <a:prstGeom prst="rect">
            <a:avLst/>
          </a:prstGeom>
        </p:spPr>
      </p:pic>
      <p:sp>
        <p:nvSpPr>
          <p:cNvPr id="92" name="TextBox 91"/>
          <p:cNvSpPr txBox="1"/>
          <p:nvPr/>
        </p:nvSpPr>
        <p:spPr>
          <a:xfrm>
            <a:off x="6965262" y="2712303"/>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93" name="TextBox 92"/>
          <p:cNvSpPr txBox="1"/>
          <p:nvPr/>
        </p:nvSpPr>
        <p:spPr>
          <a:xfrm>
            <a:off x="8420100" y="2712303"/>
            <a:ext cx="1719312" cy="186689"/>
          </a:xfrm>
          <a:prstGeom prst="rect">
            <a:avLst/>
          </a:prstGeom>
          <a:noFill/>
        </p:spPr>
        <p:txBody>
          <a:bodyPr wrap="none" lIns="0" rIns="0" tIns="0" bIns="0">
            <a:spAutoFit/>
          </a:bodyPr>
          <a:lstStyle/>
          <a:p>
            <a:r>
              <a:rPr sz="1100" b="0">
                <a:solidFill>
                  <a:srgbClr val="2E2E2E"/>
                </a:solidFill>
                <a:latin typeface="Calibri"/>
              </a:rPr>
              <a:t>Scale Steam Turbine-Driven (</a:t>
            </a:r>
          </a:p>
        </p:txBody>
      </p:sp>
      <p:pic>
        <p:nvPicPr>
          <p:cNvPr id="94" name="Picture 93" descr="lock.png"/>
          <p:cNvPicPr>
            <a:picLocks noChangeAspect="1"/>
          </p:cNvPicPr>
          <p:nvPr/>
        </p:nvPicPr>
        <p:blipFill>
          <a:blip r:embed="rId4"/>
          <a:stretch>
            <a:fillRect/>
          </a:stretch>
        </p:blipFill>
        <p:spPr>
          <a:xfrm>
            <a:off x="10087463" y="2702524"/>
            <a:ext cx="128699" cy="187198"/>
          </a:xfrm>
          <a:prstGeom prst="rect">
            <a:avLst/>
          </a:prstGeom>
        </p:spPr>
      </p:pic>
      <p:sp>
        <p:nvSpPr>
          <p:cNvPr id="95" name="TextBox 94"/>
          <p:cNvSpPr txBox="1"/>
          <p:nvPr/>
        </p:nvSpPr>
        <p:spPr>
          <a:xfrm>
            <a:off x="10254959" y="2712303"/>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96" name="Picture 95" descr="lock.png"/>
          <p:cNvPicPr>
            <a:picLocks noChangeAspect="1"/>
          </p:cNvPicPr>
          <p:nvPr/>
        </p:nvPicPr>
        <p:blipFill>
          <a:blip r:embed="rId4"/>
          <a:stretch>
            <a:fillRect/>
          </a:stretch>
        </p:blipFill>
        <p:spPr>
          <a:xfrm>
            <a:off x="10356428" y="2702524"/>
            <a:ext cx="128699" cy="187198"/>
          </a:xfrm>
          <a:prstGeom prst="rect">
            <a:avLst/>
          </a:prstGeom>
        </p:spPr>
      </p:pic>
      <p:sp>
        <p:nvSpPr>
          <p:cNvPr id="97" name="TextBox 96"/>
          <p:cNvSpPr txBox="1"/>
          <p:nvPr/>
        </p:nvSpPr>
        <p:spPr>
          <a:xfrm>
            <a:off x="10523923" y="2712303"/>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98" name="TextBox 97"/>
          <p:cNvSpPr txBox="1"/>
          <p:nvPr/>
        </p:nvSpPr>
        <p:spPr>
          <a:xfrm>
            <a:off x="1752600" y="3139587"/>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99" name="Picture 98" descr="lock.png"/>
          <p:cNvPicPr>
            <a:picLocks noChangeAspect="1"/>
          </p:cNvPicPr>
          <p:nvPr/>
        </p:nvPicPr>
        <p:blipFill>
          <a:blip r:embed="rId4"/>
          <a:stretch>
            <a:fillRect/>
          </a:stretch>
        </p:blipFill>
        <p:spPr>
          <a:xfrm>
            <a:off x="2962118" y="3129808"/>
            <a:ext cx="128699" cy="187198"/>
          </a:xfrm>
          <a:prstGeom prst="rect">
            <a:avLst/>
          </a:prstGeom>
        </p:spPr>
      </p:pic>
      <p:sp>
        <p:nvSpPr>
          <p:cNvPr id="100" name="TextBox 99"/>
          <p:cNvSpPr txBox="1"/>
          <p:nvPr/>
        </p:nvSpPr>
        <p:spPr>
          <a:xfrm>
            <a:off x="3129614" y="3139587"/>
            <a:ext cx="1893937" cy="186689"/>
          </a:xfrm>
          <a:prstGeom prst="rect">
            <a:avLst/>
          </a:prstGeom>
          <a:noFill/>
        </p:spPr>
        <p:txBody>
          <a:bodyPr wrap="none" lIns="0" rIns="0" tIns="0" bIns="0">
            <a:spAutoFit/>
          </a:bodyPr>
          <a:lstStyle/>
          <a:p>
            <a:r>
              <a:rPr sz="1100" b="0">
                <a:solidFill>
                  <a:srgbClr val="2E2E2E"/>
                </a:solidFill>
                <a:latin typeface="Calibri"/>
              </a:rPr>
              <a:t>), Diesel Engine-Driven demand,</a:t>
            </a:r>
          </a:p>
        </p:txBody>
      </p:sp>
      <p:sp>
        <p:nvSpPr>
          <p:cNvPr id="101" name="TextBox 100"/>
          <p:cNvSpPr txBox="1"/>
          <p:nvPr/>
        </p:nvSpPr>
        <p:spPr>
          <a:xfrm>
            <a:off x="1752600" y="3307227"/>
            <a:ext cx="1389707" cy="186689"/>
          </a:xfrm>
          <a:prstGeom prst="rect">
            <a:avLst/>
          </a:prstGeom>
          <a:noFill/>
        </p:spPr>
        <p:txBody>
          <a:bodyPr wrap="none" lIns="0" rIns="0" tIns="0" bIns="0">
            <a:spAutoFit/>
          </a:bodyPr>
          <a:lstStyle/>
          <a:p>
            <a:r>
              <a:rPr sz="1100" b="0">
                <a:solidFill>
                  <a:srgbClr val="2E2E2E"/>
                </a:solidFill>
                <a:latin typeface="Calibri"/>
              </a:rPr>
              <a:t>Accelerating vs history.</a:t>
            </a:r>
          </a:p>
        </p:txBody>
      </p:sp>
      <p:sp>
        <p:nvSpPr>
          <p:cNvPr id="102" name="TextBox 101"/>
          <p:cNvSpPr txBox="1"/>
          <p:nvPr/>
        </p:nvSpPr>
        <p:spPr>
          <a:xfrm>
            <a:off x="5562600" y="3223407"/>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103" name="Picture 102" descr="lock.png"/>
          <p:cNvPicPr>
            <a:picLocks noChangeAspect="1"/>
          </p:cNvPicPr>
          <p:nvPr/>
        </p:nvPicPr>
        <p:blipFill>
          <a:blip r:embed="rId4"/>
          <a:stretch>
            <a:fillRect/>
          </a:stretch>
        </p:blipFill>
        <p:spPr>
          <a:xfrm>
            <a:off x="6623687" y="3213628"/>
            <a:ext cx="128699" cy="187198"/>
          </a:xfrm>
          <a:prstGeom prst="rect">
            <a:avLst/>
          </a:prstGeom>
        </p:spPr>
      </p:pic>
      <p:sp>
        <p:nvSpPr>
          <p:cNvPr id="104" name="TextBox 103"/>
          <p:cNvSpPr txBox="1"/>
          <p:nvPr/>
        </p:nvSpPr>
        <p:spPr>
          <a:xfrm>
            <a:off x="6791183" y="3223407"/>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105" name="TextBox 104"/>
          <p:cNvSpPr txBox="1"/>
          <p:nvPr/>
        </p:nvSpPr>
        <p:spPr>
          <a:xfrm>
            <a:off x="8420100" y="3223407"/>
            <a:ext cx="1719312" cy="186689"/>
          </a:xfrm>
          <a:prstGeom prst="rect">
            <a:avLst/>
          </a:prstGeom>
          <a:noFill/>
        </p:spPr>
        <p:txBody>
          <a:bodyPr wrap="none" lIns="0" rIns="0" tIns="0" bIns="0">
            <a:spAutoFit/>
          </a:bodyPr>
          <a:lstStyle/>
          <a:p>
            <a:r>
              <a:rPr sz="1100" b="0">
                <a:solidFill>
                  <a:srgbClr val="2E2E2E"/>
                </a:solidFill>
                <a:latin typeface="Calibri"/>
              </a:rPr>
              <a:t>Scale Steam Turbine-Driven (</a:t>
            </a:r>
          </a:p>
        </p:txBody>
      </p:sp>
      <p:pic>
        <p:nvPicPr>
          <p:cNvPr id="106" name="Picture 105" descr="lock.png"/>
          <p:cNvPicPr>
            <a:picLocks noChangeAspect="1"/>
          </p:cNvPicPr>
          <p:nvPr/>
        </p:nvPicPr>
        <p:blipFill>
          <a:blip r:embed="rId4"/>
          <a:stretch>
            <a:fillRect/>
          </a:stretch>
        </p:blipFill>
        <p:spPr>
          <a:xfrm>
            <a:off x="10087463" y="3213628"/>
            <a:ext cx="128699" cy="187198"/>
          </a:xfrm>
          <a:prstGeom prst="rect">
            <a:avLst/>
          </a:prstGeom>
        </p:spPr>
      </p:pic>
      <p:sp>
        <p:nvSpPr>
          <p:cNvPr id="107" name="TextBox 106"/>
          <p:cNvSpPr txBox="1"/>
          <p:nvPr/>
        </p:nvSpPr>
        <p:spPr>
          <a:xfrm>
            <a:off x="10254959" y="3223407"/>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08" name="Picture 107" descr="lock.png"/>
          <p:cNvPicPr>
            <a:picLocks noChangeAspect="1"/>
          </p:cNvPicPr>
          <p:nvPr/>
        </p:nvPicPr>
        <p:blipFill>
          <a:blip r:embed="rId4"/>
          <a:stretch>
            <a:fillRect/>
          </a:stretch>
        </p:blipFill>
        <p:spPr>
          <a:xfrm>
            <a:off x="10356428" y="3213628"/>
            <a:ext cx="128699" cy="187198"/>
          </a:xfrm>
          <a:prstGeom prst="rect">
            <a:avLst/>
          </a:prstGeom>
        </p:spPr>
      </p:pic>
      <p:sp>
        <p:nvSpPr>
          <p:cNvPr id="109" name="TextBox 108"/>
          <p:cNvSpPr txBox="1"/>
          <p:nvPr/>
        </p:nvSpPr>
        <p:spPr>
          <a:xfrm>
            <a:off x="10523923" y="3223407"/>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10" name="TextBox 109"/>
          <p:cNvSpPr txBox="1"/>
          <p:nvPr/>
        </p:nvSpPr>
        <p:spPr>
          <a:xfrm>
            <a:off x="1752600" y="3650690"/>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111" name="Picture 110" descr="lock.png"/>
          <p:cNvPicPr>
            <a:picLocks noChangeAspect="1"/>
          </p:cNvPicPr>
          <p:nvPr/>
        </p:nvPicPr>
        <p:blipFill>
          <a:blip r:embed="rId4"/>
          <a:stretch>
            <a:fillRect/>
          </a:stretch>
        </p:blipFill>
        <p:spPr>
          <a:xfrm>
            <a:off x="2834969" y="3640911"/>
            <a:ext cx="128699" cy="187198"/>
          </a:xfrm>
          <a:prstGeom prst="rect">
            <a:avLst/>
          </a:prstGeom>
        </p:spPr>
      </p:pic>
      <p:sp>
        <p:nvSpPr>
          <p:cNvPr id="112" name="TextBox 111"/>
          <p:cNvSpPr txBox="1"/>
          <p:nvPr/>
        </p:nvSpPr>
        <p:spPr>
          <a:xfrm>
            <a:off x="3002465" y="3650690"/>
            <a:ext cx="2213156" cy="186689"/>
          </a:xfrm>
          <a:prstGeom prst="rect">
            <a:avLst/>
          </a:prstGeom>
          <a:noFill/>
        </p:spPr>
        <p:txBody>
          <a:bodyPr wrap="none" lIns="0" rIns="0" tIns="0" bIns="0">
            <a:spAutoFit/>
          </a:bodyPr>
          <a:lstStyle/>
          <a:p>
            <a:r>
              <a:rPr sz="1100" b="0">
                <a:solidFill>
                  <a:srgbClr val="2E2E2E"/>
                </a:solidFill>
                <a:latin typeface="Calibri"/>
              </a:rPr>
              <a:t>CAGR), Diesel Engine-Driven demand,</a:t>
            </a:r>
          </a:p>
        </p:txBody>
      </p:sp>
      <p:sp>
        <p:nvSpPr>
          <p:cNvPr id="113" name="TextBox 112"/>
          <p:cNvSpPr txBox="1"/>
          <p:nvPr/>
        </p:nvSpPr>
        <p:spPr>
          <a:xfrm>
            <a:off x="1752600" y="3818330"/>
            <a:ext cx="1389707" cy="186689"/>
          </a:xfrm>
          <a:prstGeom prst="rect">
            <a:avLst/>
          </a:prstGeom>
          <a:noFill/>
        </p:spPr>
        <p:txBody>
          <a:bodyPr wrap="none" lIns="0" rIns="0" tIns="0" bIns="0">
            <a:spAutoFit/>
          </a:bodyPr>
          <a:lstStyle/>
          <a:p>
            <a:r>
              <a:rPr sz="1100" b="0">
                <a:solidFill>
                  <a:srgbClr val="2E2E2E"/>
                </a:solidFill>
                <a:latin typeface="Calibri"/>
              </a:rPr>
              <a:t>Accelerating vs history.</a:t>
            </a:r>
          </a:p>
        </p:txBody>
      </p:sp>
      <p:sp>
        <p:nvSpPr>
          <p:cNvPr id="114" name="TextBox 113"/>
          <p:cNvSpPr txBox="1"/>
          <p:nvPr/>
        </p:nvSpPr>
        <p:spPr>
          <a:xfrm>
            <a:off x="5562600" y="3734510"/>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15" name="Picture 114" descr="lock.png"/>
          <p:cNvPicPr>
            <a:picLocks noChangeAspect="1"/>
          </p:cNvPicPr>
          <p:nvPr/>
        </p:nvPicPr>
        <p:blipFill>
          <a:blip r:embed="rId4"/>
          <a:stretch>
            <a:fillRect/>
          </a:stretch>
        </p:blipFill>
        <p:spPr>
          <a:xfrm>
            <a:off x="6797766" y="3724731"/>
            <a:ext cx="128699" cy="187198"/>
          </a:xfrm>
          <a:prstGeom prst="rect">
            <a:avLst/>
          </a:prstGeom>
        </p:spPr>
      </p:pic>
      <p:sp>
        <p:nvSpPr>
          <p:cNvPr id="116" name="TextBox 115"/>
          <p:cNvSpPr txBox="1"/>
          <p:nvPr/>
        </p:nvSpPr>
        <p:spPr>
          <a:xfrm>
            <a:off x="6965262" y="373451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7" name="TextBox 116"/>
          <p:cNvSpPr txBox="1"/>
          <p:nvPr/>
        </p:nvSpPr>
        <p:spPr>
          <a:xfrm>
            <a:off x="8420100" y="3734510"/>
            <a:ext cx="1719312" cy="186689"/>
          </a:xfrm>
          <a:prstGeom prst="rect">
            <a:avLst/>
          </a:prstGeom>
          <a:noFill/>
        </p:spPr>
        <p:txBody>
          <a:bodyPr wrap="none" lIns="0" rIns="0" tIns="0" bIns="0">
            <a:spAutoFit/>
          </a:bodyPr>
          <a:lstStyle/>
          <a:p>
            <a:r>
              <a:rPr sz="1100" b="0">
                <a:solidFill>
                  <a:srgbClr val="2E2E2E"/>
                </a:solidFill>
                <a:latin typeface="Calibri"/>
              </a:rPr>
              <a:t>Scale Steam Turbine-Driven (</a:t>
            </a:r>
          </a:p>
        </p:txBody>
      </p:sp>
      <p:pic>
        <p:nvPicPr>
          <p:cNvPr id="118" name="Picture 117" descr="lock.png"/>
          <p:cNvPicPr>
            <a:picLocks noChangeAspect="1"/>
          </p:cNvPicPr>
          <p:nvPr/>
        </p:nvPicPr>
        <p:blipFill>
          <a:blip r:embed="rId4"/>
          <a:stretch>
            <a:fillRect/>
          </a:stretch>
        </p:blipFill>
        <p:spPr>
          <a:xfrm>
            <a:off x="10087463" y="3724731"/>
            <a:ext cx="128699" cy="187198"/>
          </a:xfrm>
          <a:prstGeom prst="rect">
            <a:avLst/>
          </a:prstGeom>
        </p:spPr>
      </p:pic>
      <p:sp>
        <p:nvSpPr>
          <p:cNvPr id="119" name="TextBox 118"/>
          <p:cNvSpPr txBox="1"/>
          <p:nvPr/>
        </p:nvSpPr>
        <p:spPr>
          <a:xfrm>
            <a:off x="10254959" y="3734510"/>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20" name="Picture 119" descr="lock.png"/>
          <p:cNvPicPr>
            <a:picLocks noChangeAspect="1"/>
          </p:cNvPicPr>
          <p:nvPr/>
        </p:nvPicPr>
        <p:blipFill>
          <a:blip r:embed="rId4"/>
          <a:stretch>
            <a:fillRect/>
          </a:stretch>
        </p:blipFill>
        <p:spPr>
          <a:xfrm>
            <a:off x="10356428" y="3724731"/>
            <a:ext cx="128699" cy="187198"/>
          </a:xfrm>
          <a:prstGeom prst="rect">
            <a:avLst/>
          </a:prstGeom>
        </p:spPr>
      </p:pic>
      <p:sp>
        <p:nvSpPr>
          <p:cNvPr id="121" name="TextBox 120"/>
          <p:cNvSpPr txBox="1"/>
          <p:nvPr/>
        </p:nvSpPr>
        <p:spPr>
          <a:xfrm>
            <a:off x="10523923" y="3734510"/>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22" name="TextBox 121"/>
          <p:cNvSpPr txBox="1"/>
          <p:nvPr/>
        </p:nvSpPr>
        <p:spPr>
          <a:xfrm>
            <a:off x="1752600" y="4161794"/>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23" name="Picture 122" descr="lock.png"/>
          <p:cNvPicPr>
            <a:picLocks noChangeAspect="1"/>
          </p:cNvPicPr>
          <p:nvPr/>
        </p:nvPicPr>
        <p:blipFill>
          <a:blip r:embed="rId4"/>
          <a:stretch>
            <a:fillRect/>
          </a:stretch>
        </p:blipFill>
        <p:spPr>
          <a:xfrm>
            <a:off x="2962118" y="4152015"/>
            <a:ext cx="128699" cy="187198"/>
          </a:xfrm>
          <a:prstGeom prst="rect">
            <a:avLst/>
          </a:prstGeom>
        </p:spPr>
      </p:pic>
      <p:sp>
        <p:nvSpPr>
          <p:cNvPr id="124" name="TextBox 123"/>
          <p:cNvSpPr txBox="1"/>
          <p:nvPr/>
        </p:nvSpPr>
        <p:spPr>
          <a:xfrm>
            <a:off x="3129614" y="4161794"/>
            <a:ext cx="1893937" cy="186689"/>
          </a:xfrm>
          <a:prstGeom prst="rect">
            <a:avLst/>
          </a:prstGeom>
          <a:noFill/>
        </p:spPr>
        <p:txBody>
          <a:bodyPr wrap="none" lIns="0" rIns="0" tIns="0" bIns="0">
            <a:spAutoFit/>
          </a:bodyPr>
          <a:lstStyle/>
          <a:p>
            <a:r>
              <a:rPr sz="1100" b="0">
                <a:solidFill>
                  <a:srgbClr val="2E2E2E"/>
                </a:solidFill>
                <a:latin typeface="Calibri"/>
              </a:rPr>
              <a:t>), Diesel Engine-Driven demand,</a:t>
            </a:r>
          </a:p>
        </p:txBody>
      </p:sp>
      <p:sp>
        <p:nvSpPr>
          <p:cNvPr id="125" name="TextBox 124"/>
          <p:cNvSpPr txBox="1"/>
          <p:nvPr/>
        </p:nvSpPr>
        <p:spPr>
          <a:xfrm>
            <a:off x="1752600" y="4329434"/>
            <a:ext cx="1389707" cy="186689"/>
          </a:xfrm>
          <a:prstGeom prst="rect">
            <a:avLst/>
          </a:prstGeom>
          <a:noFill/>
        </p:spPr>
        <p:txBody>
          <a:bodyPr wrap="none" lIns="0" rIns="0" tIns="0" bIns="0">
            <a:spAutoFit/>
          </a:bodyPr>
          <a:lstStyle/>
          <a:p>
            <a:r>
              <a:rPr sz="1100" b="0">
                <a:solidFill>
                  <a:srgbClr val="2E2E2E"/>
                </a:solidFill>
                <a:latin typeface="Calibri"/>
              </a:rPr>
              <a:t>Accelerating vs history.</a:t>
            </a:r>
          </a:p>
        </p:txBody>
      </p:sp>
      <p:sp>
        <p:nvSpPr>
          <p:cNvPr id="126" name="TextBox 125"/>
          <p:cNvSpPr txBox="1"/>
          <p:nvPr/>
        </p:nvSpPr>
        <p:spPr>
          <a:xfrm>
            <a:off x="5562600" y="4245614"/>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127" name="Picture 126" descr="lock.png"/>
          <p:cNvPicPr>
            <a:picLocks noChangeAspect="1"/>
          </p:cNvPicPr>
          <p:nvPr/>
        </p:nvPicPr>
        <p:blipFill>
          <a:blip r:embed="rId4"/>
          <a:stretch>
            <a:fillRect/>
          </a:stretch>
        </p:blipFill>
        <p:spPr>
          <a:xfrm>
            <a:off x="6623687" y="4235835"/>
            <a:ext cx="128699" cy="187198"/>
          </a:xfrm>
          <a:prstGeom prst="rect">
            <a:avLst/>
          </a:prstGeom>
        </p:spPr>
      </p:pic>
      <p:sp>
        <p:nvSpPr>
          <p:cNvPr id="128" name="TextBox 127"/>
          <p:cNvSpPr txBox="1"/>
          <p:nvPr/>
        </p:nvSpPr>
        <p:spPr>
          <a:xfrm>
            <a:off x="6791183" y="4245614"/>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129" name="TextBox 128"/>
          <p:cNvSpPr txBox="1"/>
          <p:nvPr/>
        </p:nvSpPr>
        <p:spPr>
          <a:xfrm>
            <a:off x="8420100" y="4245614"/>
            <a:ext cx="1719312" cy="186689"/>
          </a:xfrm>
          <a:prstGeom prst="rect">
            <a:avLst/>
          </a:prstGeom>
          <a:noFill/>
        </p:spPr>
        <p:txBody>
          <a:bodyPr wrap="none" lIns="0" rIns="0" tIns="0" bIns="0">
            <a:spAutoFit/>
          </a:bodyPr>
          <a:lstStyle/>
          <a:p>
            <a:r>
              <a:rPr sz="1100" b="0">
                <a:solidFill>
                  <a:srgbClr val="2E2E2E"/>
                </a:solidFill>
                <a:latin typeface="Calibri"/>
              </a:rPr>
              <a:t>Scale Steam Turbine-Driven (</a:t>
            </a:r>
          </a:p>
        </p:txBody>
      </p:sp>
      <p:pic>
        <p:nvPicPr>
          <p:cNvPr id="130" name="Picture 129" descr="lock.png"/>
          <p:cNvPicPr>
            <a:picLocks noChangeAspect="1"/>
          </p:cNvPicPr>
          <p:nvPr/>
        </p:nvPicPr>
        <p:blipFill>
          <a:blip r:embed="rId4"/>
          <a:stretch>
            <a:fillRect/>
          </a:stretch>
        </p:blipFill>
        <p:spPr>
          <a:xfrm>
            <a:off x="10087463" y="4235835"/>
            <a:ext cx="128699" cy="187198"/>
          </a:xfrm>
          <a:prstGeom prst="rect">
            <a:avLst/>
          </a:prstGeom>
        </p:spPr>
      </p:pic>
      <p:sp>
        <p:nvSpPr>
          <p:cNvPr id="131" name="TextBox 130"/>
          <p:cNvSpPr txBox="1"/>
          <p:nvPr/>
        </p:nvSpPr>
        <p:spPr>
          <a:xfrm>
            <a:off x="10254959" y="4245614"/>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32" name="Picture 131" descr="lock.png"/>
          <p:cNvPicPr>
            <a:picLocks noChangeAspect="1"/>
          </p:cNvPicPr>
          <p:nvPr/>
        </p:nvPicPr>
        <p:blipFill>
          <a:blip r:embed="rId4"/>
          <a:stretch>
            <a:fillRect/>
          </a:stretch>
        </p:blipFill>
        <p:spPr>
          <a:xfrm>
            <a:off x="10356428" y="4235835"/>
            <a:ext cx="128699" cy="187198"/>
          </a:xfrm>
          <a:prstGeom prst="rect">
            <a:avLst/>
          </a:prstGeom>
        </p:spPr>
      </p:pic>
      <p:sp>
        <p:nvSpPr>
          <p:cNvPr id="133" name="TextBox 132"/>
          <p:cNvSpPr txBox="1"/>
          <p:nvPr/>
        </p:nvSpPr>
        <p:spPr>
          <a:xfrm>
            <a:off x="10523923" y="4245614"/>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34" name="TextBox 133"/>
          <p:cNvSpPr txBox="1"/>
          <p:nvPr/>
        </p:nvSpPr>
        <p:spPr>
          <a:xfrm>
            <a:off x="1752600" y="4672897"/>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35" name="Picture 134" descr="lock.png"/>
          <p:cNvPicPr>
            <a:picLocks noChangeAspect="1"/>
          </p:cNvPicPr>
          <p:nvPr/>
        </p:nvPicPr>
        <p:blipFill>
          <a:blip r:embed="rId4"/>
          <a:stretch>
            <a:fillRect/>
          </a:stretch>
        </p:blipFill>
        <p:spPr>
          <a:xfrm>
            <a:off x="2962118" y="4663118"/>
            <a:ext cx="128699" cy="187198"/>
          </a:xfrm>
          <a:prstGeom prst="rect">
            <a:avLst/>
          </a:prstGeom>
        </p:spPr>
      </p:pic>
      <p:sp>
        <p:nvSpPr>
          <p:cNvPr id="136" name="TextBox 135"/>
          <p:cNvSpPr txBox="1"/>
          <p:nvPr/>
        </p:nvSpPr>
        <p:spPr>
          <a:xfrm>
            <a:off x="3129614" y="4672897"/>
            <a:ext cx="1893937" cy="186689"/>
          </a:xfrm>
          <a:prstGeom prst="rect">
            <a:avLst/>
          </a:prstGeom>
          <a:noFill/>
        </p:spPr>
        <p:txBody>
          <a:bodyPr wrap="none" lIns="0" rIns="0" tIns="0" bIns="0">
            <a:spAutoFit/>
          </a:bodyPr>
          <a:lstStyle/>
          <a:p>
            <a:r>
              <a:rPr sz="1100" b="0">
                <a:solidFill>
                  <a:srgbClr val="2E2E2E"/>
                </a:solidFill>
                <a:latin typeface="Calibri"/>
              </a:rPr>
              <a:t>), Diesel Engine-Driven demand,</a:t>
            </a:r>
          </a:p>
        </p:txBody>
      </p:sp>
      <p:sp>
        <p:nvSpPr>
          <p:cNvPr id="137" name="TextBox 136"/>
          <p:cNvSpPr txBox="1"/>
          <p:nvPr/>
        </p:nvSpPr>
        <p:spPr>
          <a:xfrm>
            <a:off x="1752600" y="4840537"/>
            <a:ext cx="1389707" cy="186689"/>
          </a:xfrm>
          <a:prstGeom prst="rect">
            <a:avLst/>
          </a:prstGeom>
          <a:noFill/>
        </p:spPr>
        <p:txBody>
          <a:bodyPr wrap="none" lIns="0" rIns="0" tIns="0" bIns="0">
            <a:spAutoFit/>
          </a:bodyPr>
          <a:lstStyle/>
          <a:p>
            <a:r>
              <a:rPr sz="1100" b="0">
                <a:solidFill>
                  <a:srgbClr val="2E2E2E"/>
                </a:solidFill>
                <a:latin typeface="Calibri"/>
              </a:rPr>
              <a:t>Accelerating vs history.</a:t>
            </a:r>
          </a:p>
        </p:txBody>
      </p:sp>
      <p:sp>
        <p:nvSpPr>
          <p:cNvPr id="138" name="TextBox 137"/>
          <p:cNvSpPr txBox="1"/>
          <p:nvPr/>
        </p:nvSpPr>
        <p:spPr>
          <a:xfrm>
            <a:off x="5562600" y="4756717"/>
            <a:ext cx="2011808" cy="186689"/>
          </a:xfrm>
          <a:prstGeom prst="rect">
            <a:avLst/>
          </a:prstGeom>
          <a:noFill/>
        </p:spPr>
        <p:txBody>
          <a:bodyPr wrap="none" lIns="0" rIns="0" tIns="0" bIns="0">
            <a:spAutoFit/>
          </a:bodyPr>
          <a:lstStyle/>
          <a:p>
            <a:r>
              <a:rPr sz="1100" b="0">
                <a:solidFill>
                  <a:srgbClr val="2E2E2E"/>
                </a:solidFill>
                <a:latin typeface="Calibri"/>
              </a:rPr>
              <a:t>Sub-scale base, Rising realisation (</a:t>
            </a:r>
          </a:p>
        </p:txBody>
      </p:sp>
      <p:pic>
        <p:nvPicPr>
          <p:cNvPr id="139" name="Picture 138" descr="lock.png"/>
          <p:cNvPicPr>
            <a:picLocks noChangeAspect="1"/>
          </p:cNvPicPr>
          <p:nvPr/>
        </p:nvPicPr>
        <p:blipFill>
          <a:blip r:embed="rId4"/>
          <a:stretch>
            <a:fillRect/>
          </a:stretch>
        </p:blipFill>
        <p:spPr>
          <a:xfrm>
            <a:off x="7522460" y="4746938"/>
            <a:ext cx="128699" cy="187198"/>
          </a:xfrm>
          <a:prstGeom prst="rect">
            <a:avLst/>
          </a:prstGeom>
        </p:spPr>
      </p:pic>
      <p:sp>
        <p:nvSpPr>
          <p:cNvPr id="140" name="TextBox 139"/>
          <p:cNvSpPr txBox="1"/>
          <p:nvPr/>
        </p:nvSpPr>
        <p:spPr>
          <a:xfrm>
            <a:off x="7689956" y="4756717"/>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141" name="TextBox 140"/>
          <p:cNvSpPr txBox="1"/>
          <p:nvPr/>
        </p:nvSpPr>
        <p:spPr>
          <a:xfrm>
            <a:off x="8420100" y="4756717"/>
            <a:ext cx="1719312" cy="186689"/>
          </a:xfrm>
          <a:prstGeom prst="rect">
            <a:avLst/>
          </a:prstGeom>
          <a:noFill/>
        </p:spPr>
        <p:txBody>
          <a:bodyPr wrap="none" lIns="0" rIns="0" tIns="0" bIns="0">
            <a:spAutoFit/>
          </a:bodyPr>
          <a:lstStyle/>
          <a:p>
            <a:r>
              <a:rPr sz="1100" b="0">
                <a:solidFill>
                  <a:srgbClr val="2E2E2E"/>
                </a:solidFill>
                <a:latin typeface="Calibri"/>
              </a:rPr>
              <a:t>Scale Steam Turbine-Driven (</a:t>
            </a:r>
          </a:p>
        </p:txBody>
      </p:sp>
      <p:pic>
        <p:nvPicPr>
          <p:cNvPr id="142" name="Picture 141" descr="lock.png"/>
          <p:cNvPicPr>
            <a:picLocks noChangeAspect="1"/>
          </p:cNvPicPr>
          <p:nvPr/>
        </p:nvPicPr>
        <p:blipFill>
          <a:blip r:embed="rId4"/>
          <a:stretch>
            <a:fillRect/>
          </a:stretch>
        </p:blipFill>
        <p:spPr>
          <a:xfrm>
            <a:off x="10087463" y="4746938"/>
            <a:ext cx="128699" cy="187198"/>
          </a:xfrm>
          <a:prstGeom prst="rect">
            <a:avLst/>
          </a:prstGeom>
        </p:spPr>
      </p:pic>
      <p:sp>
        <p:nvSpPr>
          <p:cNvPr id="143" name="TextBox 142"/>
          <p:cNvSpPr txBox="1"/>
          <p:nvPr/>
        </p:nvSpPr>
        <p:spPr>
          <a:xfrm>
            <a:off x="10254959" y="4756717"/>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44" name="Picture 143" descr="lock.png"/>
          <p:cNvPicPr>
            <a:picLocks noChangeAspect="1"/>
          </p:cNvPicPr>
          <p:nvPr/>
        </p:nvPicPr>
        <p:blipFill>
          <a:blip r:embed="rId4"/>
          <a:stretch>
            <a:fillRect/>
          </a:stretch>
        </p:blipFill>
        <p:spPr>
          <a:xfrm>
            <a:off x="10356428" y="4746938"/>
            <a:ext cx="128699" cy="187198"/>
          </a:xfrm>
          <a:prstGeom prst="rect">
            <a:avLst/>
          </a:prstGeom>
        </p:spPr>
      </p:pic>
      <p:sp>
        <p:nvSpPr>
          <p:cNvPr id="145" name="TextBox 144"/>
          <p:cNvSpPr txBox="1"/>
          <p:nvPr/>
        </p:nvSpPr>
        <p:spPr>
          <a:xfrm>
            <a:off x="10523923" y="4756717"/>
            <a:ext cx="1183431" cy="186689"/>
          </a:xfrm>
          <a:prstGeom prst="rect">
            <a:avLst/>
          </a:prstGeom>
          <a:noFill/>
        </p:spPr>
        <p:txBody>
          <a:bodyPr wrap="none" lIns="0" rIns="0" tIns="0" bIns="0">
            <a:spAutoFit/>
          </a:bodyPr>
          <a:lstStyle/>
          <a:p>
            <a:r>
              <a:rPr sz="1100" b="0">
                <a:solidFill>
                  <a:srgbClr val="2E2E2E"/>
                </a:solidFill>
                <a:latin typeface="Calibri"/>
              </a:rPr>
              <a:t>US$ Mn headroom.</a:t>
            </a:r>
          </a:p>
        </p:txBody>
      </p:sp>
      <p:sp>
        <p:nvSpPr>
          <p:cNvPr id="146" name="TextBox 145"/>
          <p:cNvSpPr txBox="1"/>
          <p:nvPr/>
        </p:nvSpPr>
        <p:spPr>
          <a:xfrm>
            <a:off x="304800" y="5743623"/>
            <a:ext cx="4469076" cy="186689"/>
          </a:xfrm>
          <a:prstGeom prst="rect">
            <a:avLst/>
          </a:prstGeom>
          <a:noFill/>
        </p:spPr>
        <p:txBody>
          <a:bodyPr wrap="none" lIns="0" rIns="0" tIns="0" bIns="0">
            <a:spAutoFit/>
          </a:bodyPr>
          <a:lstStyle/>
          <a:p>
            <a:r>
              <a:rPr sz="1100" b="0">
                <a:solidFill>
                  <a:srgbClr val="2E2E2E"/>
                </a:solidFill>
                <a:latin typeface="Calibri"/>
              </a:rPr>
              <a:t>▪ North America, South Asia &amp; Pacific, East Asia anchor scale with a combined</a:t>
            </a:r>
          </a:p>
        </p:txBody>
      </p:sp>
      <p:pic>
        <p:nvPicPr>
          <p:cNvPr id="147" name="Picture 146" descr="lock.png"/>
          <p:cNvPicPr>
            <a:picLocks noChangeAspect="1"/>
          </p:cNvPicPr>
          <p:nvPr/>
        </p:nvPicPr>
        <p:blipFill>
          <a:blip r:embed="rId4"/>
          <a:stretch>
            <a:fillRect/>
          </a:stretch>
        </p:blipFill>
        <p:spPr>
          <a:xfrm>
            <a:off x="4721927" y="5733844"/>
            <a:ext cx="128699" cy="187198"/>
          </a:xfrm>
          <a:prstGeom prst="rect">
            <a:avLst/>
          </a:prstGeom>
        </p:spPr>
      </p:pic>
      <p:sp>
        <p:nvSpPr>
          <p:cNvPr id="148" name="TextBox 147"/>
          <p:cNvSpPr txBox="1"/>
          <p:nvPr/>
        </p:nvSpPr>
        <p:spPr>
          <a:xfrm>
            <a:off x="4889423" y="5743623"/>
            <a:ext cx="4622998" cy="186689"/>
          </a:xfrm>
          <a:prstGeom prst="rect">
            <a:avLst/>
          </a:prstGeom>
          <a:noFill/>
        </p:spPr>
        <p:txBody>
          <a:bodyPr wrap="none" lIns="0" rIns="0" tIns="0" bIns="0">
            <a:spAutoFit/>
          </a:bodyPr>
          <a:lstStyle/>
          <a:p>
            <a:r>
              <a:rPr sz="1100" b="0">
                <a:solidFill>
                  <a:srgbClr val="2E2E2E"/>
                </a:solidFill>
                <a:latin typeface="Calibri"/>
              </a:rPr>
              <a:t>of Global value in 2036, while 'South Asia &amp; Pacific' offers the steepest upside at</a:t>
            </a:r>
          </a:p>
        </p:txBody>
      </p:sp>
      <p:pic>
        <p:nvPicPr>
          <p:cNvPr id="149" name="Picture 148" descr="lock.png"/>
          <p:cNvPicPr>
            <a:picLocks noChangeAspect="1"/>
          </p:cNvPicPr>
          <p:nvPr/>
        </p:nvPicPr>
        <p:blipFill>
          <a:blip r:embed="rId4"/>
          <a:stretch>
            <a:fillRect/>
          </a:stretch>
        </p:blipFill>
        <p:spPr>
          <a:xfrm>
            <a:off x="9460473" y="5733844"/>
            <a:ext cx="128699" cy="187198"/>
          </a:xfrm>
          <a:prstGeom prst="rect">
            <a:avLst/>
          </a:prstGeom>
        </p:spPr>
      </p:pic>
      <p:sp>
        <p:nvSpPr>
          <p:cNvPr id="150" name="TextBox 149"/>
          <p:cNvSpPr txBox="1"/>
          <p:nvPr/>
        </p:nvSpPr>
        <p:spPr>
          <a:xfrm>
            <a:off x="9627969" y="5743623"/>
            <a:ext cx="1819704" cy="186689"/>
          </a:xfrm>
          <a:prstGeom prst="rect">
            <a:avLst/>
          </a:prstGeom>
          <a:noFill/>
        </p:spPr>
        <p:txBody>
          <a:bodyPr wrap="none" lIns="0" rIns="0" tIns="0" bIns="0">
            <a:spAutoFit/>
          </a:bodyPr>
          <a:lstStyle/>
          <a:p>
            <a:r>
              <a:rPr sz="1100" b="0">
                <a:solidFill>
                  <a:srgbClr val="2E2E2E"/>
                </a:solidFill>
                <a:latin typeface="Calibri"/>
              </a:rPr>
              <a:t>CAGR against a market pace of</a:t>
            </a:r>
          </a:p>
        </p:txBody>
      </p:sp>
      <p:pic>
        <p:nvPicPr>
          <p:cNvPr id="151" name="Picture 150" descr="lock.png"/>
          <p:cNvPicPr>
            <a:picLocks noChangeAspect="1"/>
          </p:cNvPicPr>
          <p:nvPr/>
        </p:nvPicPr>
        <p:blipFill>
          <a:blip r:embed="rId4"/>
          <a:stretch>
            <a:fillRect/>
          </a:stretch>
        </p:blipFill>
        <p:spPr>
          <a:xfrm>
            <a:off x="291332" y="5901484"/>
            <a:ext cx="128699" cy="187198"/>
          </a:xfrm>
          <a:prstGeom prst="rect">
            <a:avLst/>
          </a:prstGeom>
        </p:spPr>
      </p:pic>
      <p:sp>
        <p:nvSpPr>
          <p:cNvPr id="152" name="TextBox 151"/>
          <p:cNvSpPr txBox="1"/>
          <p:nvPr/>
        </p:nvSpPr>
        <p:spPr>
          <a:xfrm>
            <a:off x="458828" y="5911263"/>
            <a:ext cx="11008816" cy="186689"/>
          </a:xfrm>
          <a:prstGeom prst="rect">
            <a:avLst/>
          </a:prstGeom>
          <a:noFill/>
        </p:spPr>
        <p:txBody>
          <a:bodyPr wrap="none" lIns="0" rIns="0" tIns="0" bIns="0">
            <a:spAutoFit/>
          </a:bodyPr>
          <a:lstStyle/>
          <a:p>
            <a:r>
              <a:rPr sz="1100" b="0">
                <a:solidFill>
                  <a:srgbClr val="2E2E2E"/>
                </a:solidFill>
                <a:latin typeface="Calibri"/>
              </a:rPr>
              <a:t>. 4 of 7 regions grow at or above that pace, so entry logic has to differ by region scale defence in the leaders, mix and premiumisation in the mid-tier, and availability-led expansion in the fastest</a:t>
            </a:r>
          </a:p>
        </p:txBody>
      </p:sp>
      <p:sp>
        <p:nvSpPr>
          <p:cNvPr id="153" name="TextBox 152"/>
          <p:cNvSpPr txBox="1"/>
          <p:nvPr/>
        </p:nvSpPr>
        <p:spPr>
          <a:xfrm>
            <a:off x="304800" y="6078903"/>
            <a:ext cx="532680" cy="186689"/>
          </a:xfrm>
          <a:prstGeom prst="rect">
            <a:avLst/>
          </a:prstGeom>
          <a:noFill/>
        </p:spPr>
        <p:txBody>
          <a:bodyPr wrap="none" lIns="0" rIns="0" tIns="0" bIns="0">
            <a:spAutoFit/>
          </a:bodyPr>
          <a:lstStyle/>
          <a:p>
            <a:r>
              <a:rPr sz="1100" b="0">
                <a:solidFill>
                  <a:srgbClr val="2E2E2E"/>
                </a:solidFill>
                <a:latin typeface="Calibri"/>
              </a:rPr>
              <a:t>movers.</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Global Driving Factors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economic and supply-side factors scored by their impact on the global market</a:t>
            </a:r>
          </a:p>
        </p:txBody>
      </p:sp>
      <p:sp>
        <p:nvSpPr>
          <p:cNvPr id="7" name="Oval 6"/>
          <p:cNvSpPr/>
          <p:nvPr/>
        </p:nvSpPr>
        <p:spPr>
          <a:xfrm>
            <a:off x="2381250" y="1609633"/>
            <a:ext cx="4762500" cy="4563424"/>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619375" y="1837804"/>
            <a:ext cx="4286250" cy="410708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857500" y="2065976"/>
            <a:ext cx="3810000" cy="365074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095625" y="2294147"/>
            <a:ext cx="3333750" cy="319439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333750" y="2522318"/>
            <a:ext cx="2857500" cy="273805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71875" y="2750489"/>
            <a:ext cx="2381250" cy="228171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810000" y="2978660"/>
            <a:ext cx="1905000" cy="182537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048125" y="3206832"/>
            <a:ext cx="1428750" cy="136902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286250" y="3435003"/>
            <a:ext cx="952500" cy="91268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524375" y="3663174"/>
            <a:ext cx="476250" cy="45634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4762500" y="1609633"/>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3729314" y="1835594"/>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2900764" y="2468721"/>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2440953" y="3383617"/>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2440953" y="3891345"/>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900764" y="3891345"/>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3729314" y="3891345"/>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762500" y="3891345"/>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2438400" y="2595333"/>
            <a:ext cx="2324100" cy="2838450"/>
          </a:xfrm>
          <a:custGeom>
            <a:avLst/>
            <a:gdLst/>
            <a:ahLst/>
            <a:cxnLst/>
            <a:rect l="l" t="t" r="r" b="b"/>
            <a:pathLst>
              <a:path w="244" h="311">
                <a:moveTo>
                  <a:pt x="244" y="0"/>
                </a:moveTo>
                <a:lnTo>
                  <a:pt x="182" y="14"/>
                </a:lnTo>
                <a:lnTo>
                  <a:pt x="107" y="33"/>
                </a:lnTo>
                <a:lnTo>
                  <a:pt x="65" y="101"/>
                </a:lnTo>
                <a:lnTo>
                  <a:pt x="0" y="198"/>
                </a:lnTo>
                <a:lnTo>
                  <a:pt x="90" y="265"/>
                </a:lnTo>
                <a:lnTo>
                  <a:pt x="163" y="311"/>
                </a:lnTo>
                <a:lnTo>
                  <a:pt x="244" y="231"/>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14875" y="1563999"/>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00300" y="128106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28" name="Oval 27"/>
          <p:cNvSpPr/>
          <p:nvPr/>
        </p:nvSpPr>
        <p:spPr>
          <a:xfrm>
            <a:off x="3681689" y="178996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85456" y="151968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0" name="Oval 29"/>
          <p:cNvSpPr/>
          <p:nvPr/>
        </p:nvSpPr>
        <p:spPr>
          <a:xfrm>
            <a:off x="2853139" y="2423087"/>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0507" y="227040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2" name="Oval 31"/>
          <p:cNvSpPr/>
          <p:nvPr/>
        </p:nvSpPr>
        <p:spPr>
          <a:xfrm>
            <a:off x="2393328" y="3337982"/>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946" y="323653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4" name="Oval 33"/>
          <p:cNvSpPr/>
          <p:nvPr/>
        </p:nvSpPr>
        <p:spPr>
          <a:xfrm>
            <a:off x="2393328" y="435344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4946" y="4308858"/>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6" name="Oval 35"/>
          <p:cNvSpPr/>
          <p:nvPr/>
        </p:nvSpPr>
        <p:spPr>
          <a:xfrm>
            <a:off x="2853139" y="5268335"/>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0507" y="527498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8" name="Oval 37"/>
          <p:cNvSpPr/>
          <p:nvPr/>
        </p:nvSpPr>
        <p:spPr>
          <a:xfrm>
            <a:off x="3681689" y="590146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85456" y="602571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0" name="Oval 39"/>
          <p:cNvSpPr/>
          <p:nvPr/>
        </p:nvSpPr>
        <p:spPr>
          <a:xfrm>
            <a:off x="4714875" y="612742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00300" y="6264326"/>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2" name="Rectangle 41"/>
          <p:cNvSpPr/>
          <p:nvPr/>
        </p:nvSpPr>
        <p:spPr>
          <a:xfrm>
            <a:off x="476250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MI Scale 0"/>
          <p:cNvSpPr txBox="1"/>
          <p:nvPr/>
        </p:nvSpPr>
        <p:spPr>
          <a:xfrm>
            <a:off x="4286250" y="3818331"/>
            <a:ext cx="419100" cy="14603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4" name="FMI Scale 1"/>
          <p:cNvSpPr txBox="1"/>
          <p:nvPr/>
        </p:nvSpPr>
        <p:spPr>
          <a:xfrm>
            <a:off x="4286250" y="3590159"/>
            <a:ext cx="419100" cy="146030"/>
          </a:xfrm>
          <a:prstGeom prst="rect">
            <a:avLst/>
          </a:prstGeom>
          <a:noFill/>
        </p:spPr>
        <p:txBody>
          <a:bodyPr wrap="none" lIns="0" rIns="0" tIns="0" bIns="0" anchor="ctr">
            <a:spAutoFit/>
          </a:bodyPr>
          <a:lstStyle/>
          <a:p>
            <a:pPr algn="r"/>
            <a:r>
              <a:rPr sz="1100" b="0">
                <a:solidFill>
                  <a:srgbClr val="6C7A89"/>
                </a:solidFill>
                <a:latin typeface="Calibri"/>
              </a:rPr>
              <a:t>10%</a:t>
            </a:r>
          </a:p>
        </p:txBody>
      </p:sp>
      <p:sp>
        <p:nvSpPr>
          <p:cNvPr id="45" name="FMI Scale 2"/>
          <p:cNvSpPr txBox="1"/>
          <p:nvPr/>
        </p:nvSpPr>
        <p:spPr>
          <a:xfrm>
            <a:off x="4286250" y="3361988"/>
            <a:ext cx="419100" cy="146030"/>
          </a:xfrm>
          <a:prstGeom prst="rect">
            <a:avLst/>
          </a:prstGeom>
          <a:noFill/>
        </p:spPr>
        <p:txBody>
          <a:bodyPr wrap="none" lIns="0" rIns="0" tIns="0" bIns="0" anchor="ctr">
            <a:spAutoFit/>
          </a:bodyPr>
          <a:lstStyle/>
          <a:p>
            <a:pPr algn="r"/>
            <a:r>
              <a:rPr sz="1100" b="0">
                <a:solidFill>
                  <a:srgbClr val="6C7A89"/>
                </a:solidFill>
                <a:latin typeface="Calibri"/>
              </a:rPr>
              <a:t>20%</a:t>
            </a:r>
          </a:p>
        </p:txBody>
      </p:sp>
      <p:sp>
        <p:nvSpPr>
          <p:cNvPr id="46" name="FMI Scale 3"/>
          <p:cNvSpPr txBox="1"/>
          <p:nvPr/>
        </p:nvSpPr>
        <p:spPr>
          <a:xfrm>
            <a:off x="4286250" y="3133817"/>
            <a:ext cx="419100" cy="146030"/>
          </a:xfrm>
          <a:prstGeom prst="rect">
            <a:avLst/>
          </a:prstGeom>
          <a:noFill/>
        </p:spPr>
        <p:txBody>
          <a:bodyPr wrap="none" lIns="0" rIns="0" tIns="0" bIns="0" anchor="ctr">
            <a:spAutoFit/>
          </a:bodyPr>
          <a:lstStyle/>
          <a:p>
            <a:pPr algn="r"/>
            <a:r>
              <a:rPr sz="1100" b="0">
                <a:solidFill>
                  <a:srgbClr val="6C7A89"/>
                </a:solidFill>
                <a:latin typeface="Calibri"/>
              </a:rPr>
              <a:t>30%</a:t>
            </a:r>
          </a:p>
        </p:txBody>
      </p:sp>
      <p:sp>
        <p:nvSpPr>
          <p:cNvPr id="47" name="FMI Scale 4"/>
          <p:cNvSpPr txBox="1"/>
          <p:nvPr/>
        </p:nvSpPr>
        <p:spPr>
          <a:xfrm>
            <a:off x="4286250" y="2905646"/>
            <a:ext cx="419100" cy="146030"/>
          </a:xfrm>
          <a:prstGeom prst="rect">
            <a:avLst/>
          </a:prstGeom>
          <a:noFill/>
        </p:spPr>
        <p:txBody>
          <a:bodyPr wrap="none" lIns="0" rIns="0" tIns="0" bIns="0" anchor="ctr">
            <a:spAutoFit/>
          </a:bodyPr>
          <a:lstStyle/>
          <a:p>
            <a:pPr algn="r"/>
            <a:r>
              <a:rPr sz="1100" b="0">
                <a:solidFill>
                  <a:srgbClr val="6C7A89"/>
                </a:solidFill>
                <a:latin typeface="Calibri"/>
              </a:rPr>
              <a:t>40%</a:t>
            </a:r>
          </a:p>
        </p:txBody>
      </p:sp>
      <p:sp>
        <p:nvSpPr>
          <p:cNvPr id="48" name="FMI Scale 5"/>
          <p:cNvSpPr txBox="1"/>
          <p:nvPr/>
        </p:nvSpPr>
        <p:spPr>
          <a:xfrm>
            <a:off x="4286250" y="2677474"/>
            <a:ext cx="419100" cy="146030"/>
          </a:xfrm>
          <a:prstGeom prst="rect">
            <a:avLst/>
          </a:prstGeom>
          <a:noFill/>
        </p:spPr>
        <p:txBody>
          <a:bodyPr wrap="none" lIns="0" rIns="0" tIns="0" bIns="0" anchor="ctr">
            <a:spAutoFit/>
          </a:bodyPr>
          <a:lstStyle/>
          <a:p>
            <a:pPr algn="r"/>
            <a:r>
              <a:rPr sz="1100" b="0">
                <a:solidFill>
                  <a:srgbClr val="6C7A89"/>
                </a:solidFill>
                <a:latin typeface="Calibri"/>
              </a:rPr>
              <a:t>50%</a:t>
            </a:r>
          </a:p>
        </p:txBody>
      </p:sp>
      <p:sp>
        <p:nvSpPr>
          <p:cNvPr id="49" name="FMI Scale 6"/>
          <p:cNvSpPr txBox="1"/>
          <p:nvPr/>
        </p:nvSpPr>
        <p:spPr>
          <a:xfrm>
            <a:off x="4286250" y="2449303"/>
            <a:ext cx="419100" cy="146030"/>
          </a:xfrm>
          <a:prstGeom prst="rect">
            <a:avLst/>
          </a:prstGeom>
          <a:noFill/>
        </p:spPr>
        <p:txBody>
          <a:bodyPr wrap="none" lIns="0" rIns="0" tIns="0" bIns="0" anchor="ctr">
            <a:spAutoFit/>
          </a:bodyPr>
          <a:lstStyle/>
          <a:p>
            <a:pPr algn="r"/>
            <a:r>
              <a:rPr sz="1100" b="0">
                <a:solidFill>
                  <a:srgbClr val="6C7A89"/>
                </a:solidFill>
                <a:latin typeface="Calibri"/>
              </a:rPr>
              <a:t>60%</a:t>
            </a:r>
          </a:p>
        </p:txBody>
      </p:sp>
      <p:sp>
        <p:nvSpPr>
          <p:cNvPr id="50" name="FMI Scale 7"/>
          <p:cNvSpPr txBox="1"/>
          <p:nvPr/>
        </p:nvSpPr>
        <p:spPr>
          <a:xfrm>
            <a:off x="4286250" y="2221132"/>
            <a:ext cx="419100" cy="146030"/>
          </a:xfrm>
          <a:prstGeom prst="rect">
            <a:avLst/>
          </a:prstGeom>
          <a:noFill/>
        </p:spPr>
        <p:txBody>
          <a:bodyPr wrap="none" lIns="0" rIns="0" tIns="0" bIns="0" anchor="ctr">
            <a:spAutoFit/>
          </a:bodyPr>
          <a:lstStyle/>
          <a:p>
            <a:pPr algn="r"/>
            <a:r>
              <a:rPr sz="1100" b="0">
                <a:solidFill>
                  <a:srgbClr val="6C7A89"/>
                </a:solidFill>
                <a:latin typeface="Calibri"/>
              </a:rPr>
              <a:t>70%</a:t>
            </a:r>
          </a:p>
        </p:txBody>
      </p:sp>
      <p:sp>
        <p:nvSpPr>
          <p:cNvPr id="51" name="FMI Scale 8"/>
          <p:cNvSpPr txBox="1"/>
          <p:nvPr/>
        </p:nvSpPr>
        <p:spPr>
          <a:xfrm>
            <a:off x="4286250" y="1992961"/>
            <a:ext cx="419100" cy="146030"/>
          </a:xfrm>
          <a:prstGeom prst="rect">
            <a:avLst/>
          </a:prstGeom>
          <a:noFill/>
        </p:spPr>
        <p:txBody>
          <a:bodyPr wrap="none" lIns="0" rIns="0" tIns="0" bIns="0" anchor="ctr">
            <a:spAutoFit/>
          </a:bodyPr>
          <a:lstStyle/>
          <a:p>
            <a:pPr algn="r"/>
            <a:r>
              <a:rPr sz="1100" b="0">
                <a:solidFill>
                  <a:srgbClr val="6C7A89"/>
                </a:solidFill>
                <a:latin typeface="Calibri"/>
              </a:rPr>
              <a:t>80%</a:t>
            </a:r>
          </a:p>
        </p:txBody>
      </p:sp>
      <p:sp>
        <p:nvSpPr>
          <p:cNvPr id="52" name="FMI Scale 9"/>
          <p:cNvSpPr txBox="1"/>
          <p:nvPr/>
        </p:nvSpPr>
        <p:spPr>
          <a:xfrm>
            <a:off x="4286250" y="1764790"/>
            <a:ext cx="419100" cy="146030"/>
          </a:xfrm>
          <a:prstGeom prst="rect">
            <a:avLst/>
          </a:prstGeom>
          <a:noFill/>
        </p:spPr>
        <p:txBody>
          <a:bodyPr wrap="none" lIns="0" rIns="0" tIns="0" bIns="0" anchor="ctr">
            <a:spAutoFit/>
          </a:bodyPr>
          <a:lstStyle/>
          <a:p>
            <a:pPr algn="r"/>
            <a:r>
              <a:rPr sz="1100" b="0">
                <a:solidFill>
                  <a:srgbClr val="6C7A89"/>
                </a:solidFill>
                <a:latin typeface="Calibri"/>
              </a:rPr>
              <a:t>90%</a:t>
            </a:r>
          </a:p>
        </p:txBody>
      </p:sp>
      <p:sp>
        <p:nvSpPr>
          <p:cNvPr id="53" name="FMI Scale 10"/>
          <p:cNvSpPr txBox="1"/>
          <p:nvPr/>
        </p:nvSpPr>
        <p:spPr>
          <a:xfrm>
            <a:off x="4286250" y="1536618"/>
            <a:ext cx="419100" cy="146030"/>
          </a:xfrm>
          <a:prstGeom prst="rect">
            <a:avLst/>
          </a:prstGeom>
          <a:noFill/>
        </p:spPr>
        <p:txBody>
          <a:bodyPr wrap="none" lIns="0" rIns="0" tIns="0" bIns="0" anchor="ctr">
            <a:spAutoFit/>
          </a:bodyPr>
          <a:lstStyle/>
          <a:p>
            <a:pPr algn="r"/>
            <a:r>
              <a:rPr sz="1100" b="0">
                <a:solidFill>
                  <a:srgbClr val="6C7A89"/>
                </a:solidFill>
                <a:latin typeface="Calibri"/>
              </a:rPr>
              <a:t>100%</a:t>
            </a:r>
          </a:p>
        </p:txBody>
      </p:sp>
      <p:cxnSp>
        <p:nvCxnSpPr>
          <p:cNvPr id="54" name="Connector 53"/>
          <p:cNvCxnSpPr/>
          <p:nvPr/>
        </p:nvCxnSpPr>
        <p:spPr>
          <a:xfrm>
            <a:off x="4762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972050" y="1080276"/>
            <a:ext cx="7077075" cy="219044"/>
          </a:xfrm>
          <a:prstGeom prst="rect">
            <a:avLst/>
          </a:prstGeom>
          <a:noFill/>
        </p:spPr>
        <p:txBody>
          <a:bodyPr wrap="square" lIns="28575" rIns="28575" tIns="9525" bIns="9525" anchor="ctr">
            <a:spAutoFit/>
          </a:bodyPr>
          <a:lstStyle/>
          <a:p>
            <a:pPr algn="l"/>
            <a:r>
              <a:rPr sz="1200" b="1">
                <a:solidFill>
                  <a:srgbClr val="0B2E4A"/>
                </a:solidFill>
                <a:latin typeface="Calibri"/>
              </a:rPr>
              <a:t>Economic and Supply-side Factors</a:t>
            </a:r>
          </a:p>
        </p:txBody>
      </p:sp>
      <p:cxnSp>
        <p:nvCxnSpPr>
          <p:cNvPr id="56" name="Connector 55"/>
          <p:cNvCxnSpPr/>
          <p:nvPr/>
        </p:nvCxnSpPr>
        <p:spPr>
          <a:xfrm>
            <a:off x="4972050" y="1335828"/>
            <a:ext cx="70770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4972050" y="142709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8" name="TextBox 57"/>
          <p:cNvSpPr txBox="1"/>
          <p:nvPr/>
        </p:nvSpPr>
        <p:spPr>
          <a:xfrm>
            <a:off x="4972050" y="1883439"/>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9" name="TextBox 58"/>
          <p:cNvSpPr txBox="1"/>
          <p:nvPr/>
        </p:nvSpPr>
        <p:spPr>
          <a:xfrm>
            <a:off x="4972050" y="2339781"/>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0" name="TextBox 59"/>
          <p:cNvSpPr txBox="1"/>
          <p:nvPr/>
        </p:nvSpPr>
        <p:spPr>
          <a:xfrm>
            <a:off x="4972050" y="261358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Portfolio breadth spans 6 driver type lines and 7 end use routes, giving producers wide reformulation and channel latitude.</a:t>
            </a:r>
          </a:p>
        </p:txBody>
      </p:sp>
      <p:sp>
        <p:nvSpPr>
          <p:cNvPr id="61" name="TextBox 60"/>
          <p:cNvSpPr txBox="1"/>
          <p:nvPr/>
        </p:nvSpPr>
        <p:spPr>
          <a:xfrm>
            <a:off x="4972050" y="3069929"/>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4972050" y="3343734"/>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3" name="Rectangle 6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5" name="TextBox 64"/>
          <p:cNvSpPr txBox="1"/>
          <p:nvPr/>
        </p:nvSpPr>
        <p:spPr>
          <a:xfrm>
            <a:off x="3466991" y="1322601"/>
            <a:ext cx="1125226" cy="173278"/>
          </a:xfrm>
          <a:prstGeom prst="rect">
            <a:avLst/>
          </a:prstGeom>
          <a:noFill/>
        </p:spPr>
        <p:txBody>
          <a:bodyPr wrap="none" lIns="0" rIns="0" tIns="0" bIns="0">
            <a:spAutoFit/>
          </a:bodyPr>
          <a:lstStyle/>
          <a:p>
            <a:r>
              <a:rPr sz="1011" b="0">
                <a:solidFill>
                  <a:srgbClr val="2E2E2E"/>
                </a:solidFill>
                <a:latin typeface="Calibri"/>
              </a:rPr>
              <a:t>Production Scale-up</a:t>
            </a:r>
          </a:p>
        </p:txBody>
      </p:sp>
      <p:pic>
        <p:nvPicPr>
          <p:cNvPr id="66" name="Picture 65" descr="lock.png"/>
          <p:cNvPicPr>
            <a:picLocks noChangeAspect="1"/>
          </p:cNvPicPr>
          <p:nvPr/>
        </p:nvPicPr>
        <p:blipFill>
          <a:blip r:embed="rId4"/>
          <a:stretch>
            <a:fillRect/>
          </a:stretch>
        </p:blipFill>
        <p:spPr>
          <a:xfrm>
            <a:off x="4538330" y="1313604"/>
            <a:ext cx="118403" cy="172222"/>
          </a:xfrm>
          <a:prstGeom prst="rect">
            <a:avLst/>
          </a:prstGeom>
        </p:spPr>
      </p:pic>
      <p:sp>
        <p:nvSpPr>
          <p:cNvPr id="67" name="TextBox 66"/>
          <p:cNvSpPr txBox="1"/>
          <p:nvPr/>
        </p:nvSpPr>
        <p:spPr>
          <a:xfrm>
            <a:off x="2482772" y="1561215"/>
            <a:ext cx="1094602" cy="173278"/>
          </a:xfrm>
          <a:prstGeom prst="rect">
            <a:avLst/>
          </a:prstGeom>
          <a:noFill/>
        </p:spPr>
        <p:txBody>
          <a:bodyPr wrap="none" lIns="0" rIns="0" tIns="0" bIns="0">
            <a:spAutoFit/>
          </a:bodyPr>
          <a:lstStyle/>
          <a:p>
            <a:r>
              <a:rPr sz="1011" b="0">
                <a:solidFill>
                  <a:srgbClr val="2E2E2E"/>
                </a:solidFill>
                <a:latin typeface="Calibri"/>
              </a:rPr>
              <a:t>Input Cost Pressure</a:t>
            </a:r>
          </a:p>
        </p:txBody>
      </p:sp>
      <p:pic>
        <p:nvPicPr>
          <p:cNvPr id="68" name="Picture 67" descr="lock.png"/>
          <p:cNvPicPr>
            <a:picLocks noChangeAspect="1"/>
          </p:cNvPicPr>
          <p:nvPr/>
        </p:nvPicPr>
        <p:blipFill>
          <a:blip r:embed="rId4"/>
          <a:stretch>
            <a:fillRect/>
          </a:stretch>
        </p:blipFill>
        <p:spPr>
          <a:xfrm>
            <a:off x="3523486" y="1552218"/>
            <a:ext cx="118403" cy="172222"/>
          </a:xfrm>
          <a:prstGeom prst="rect">
            <a:avLst/>
          </a:prstGeom>
        </p:spPr>
      </p:pic>
      <p:sp>
        <p:nvSpPr>
          <p:cNvPr id="69" name="TextBox 68"/>
          <p:cNvSpPr txBox="1"/>
          <p:nvPr/>
        </p:nvSpPr>
        <p:spPr>
          <a:xfrm>
            <a:off x="1943191" y="2311939"/>
            <a:ext cx="759234" cy="173278"/>
          </a:xfrm>
          <a:prstGeom prst="rect">
            <a:avLst/>
          </a:prstGeom>
          <a:noFill/>
        </p:spPr>
        <p:txBody>
          <a:bodyPr wrap="none" lIns="0" rIns="0" tIns="0" bIns="0">
            <a:spAutoFit/>
          </a:bodyPr>
          <a:lstStyle/>
          <a:p>
            <a:r>
              <a:rPr sz="1011" b="0">
                <a:solidFill>
                  <a:srgbClr val="2E2E2E"/>
                </a:solidFill>
                <a:latin typeface="Calibri"/>
              </a:rPr>
              <a:t>Capacity Add</a:t>
            </a:r>
          </a:p>
        </p:txBody>
      </p:sp>
      <p:pic>
        <p:nvPicPr>
          <p:cNvPr id="70" name="Picture 69" descr="lock.png"/>
          <p:cNvPicPr>
            <a:picLocks noChangeAspect="1"/>
          </p:cNvPicPr>
          <p:nvPr/>
        </p:nvPicPr>
        <p:blipFill>
          <a:blip r:embed="rId4"/>
          <a:stretch>
            <a:fillRect/>
          </a:stretch>
        </p:blipFill>
        <p:spPr>
          <a:xfrm>
            <a:off x="2648537" y="2302942"/>
            <a:ext cx="118403" cy="172222"/>
          </a:xfrm>
          <a:prstGeom prst="rect">
            <a:avLst/>
          </a:prstGeom>
        </p:spPr>
      </p:pic>
      <p:sp>
        <p:nvSpPr>
          <p:cNvPr id="71" name="TextBox 70"/>
          <p:cNvSpPr txBox="1"/>
          <p:nvPr/>
        </p:nvSpPr>
        <p:spPr>
          <a:xfrm>
            <a:off x="1014573" y="3278069"/>
            <a:ext cx="1202291" cy="173278"/>
          </a:xfrm>
          <a:prstGeom prst="rect">
            <a:avLst/>
          </a:prstGeom>
          <a:noFill/>
        </p:spPr>
        <p:txBody>
          <a:bodyPr wrap="none" lIns="0" rIns="0" tIns="0" bIns="0">
            <a:spAutoFit/>
          </a:bodyPr>
          <a:lstStyle/>
          <a:p>
            <a:r>
              <a:rPr sz="1011" b="0">
                <a:solidFill>
                  <a:srgbClr val="2E2E2E"/>
                </a:solidFill>
                <a:latin typeface="Calibri"/>
              </a:rPr>
              <a:t>Supply Concentration</a:t>
            </a:r>
          </a:p>
        </p:txBody>
      </p:sp>
      <p:pic>
        <p:nvPicPr>
          <p:cNvPr id="72" name="Picture 71" descr="lock.png"/>
          <p:cNvPicPr>
            <a:picLocks noChangeAspect="1"/>
          </p:cNvPicPr>
          <p:nvPr/>
        </p:nvPicPr>
        <p:blipFill>
          <a:blip r:embed="rId4"/>
          <a:stretch>
            <a:fillRect/>
          </a:stretch>
        </p:blipFill>
        <p:spPr>
          <a:xfrm>
            <a:off x="2162976" y="3269072"/>
            <a:ext cx="118403" cy="172222"/>
          </a:xfrm>
          <a:prstGeom prst="rect">
            <a:avLst/>
          </a:prstGeom>
        </p:spPr>
      </p:pic>
      <p:sp>
        <p:nvSpPr>
          <p:cNvPr id="73" name="TextBox 72"/>
          <p:cNvSpPr txBox="1"/>
          <p:nvPr/>
        </p:nvSpPr>
        <p:spPr>
          <a:xfrm>
            <a:off x="1148118" y="4350392"/>
            <a:ext cx="1068746" cy="173278"/>
          </a:xfrm>
          <a:prstGeom prst="rect">
            <a:avLst/>
          </a:prstGeom>
          <a:noFill/>
        </p:spPr>
        <p:txBody>
          <a:bodyPr wrap="none" lIns="0" rIns="0" tIns="0" bIns="0">
            <a:spAutoFit/>
          </a:bodyPr>
          <a:lstStyle/>
          <a:p>
            <a:r>
              <a:rPr sz="1011" b="0">
                <a:solidFill>
                  <a:srgbClr val="2E2E2E"/>
                </a:solidFill>
                <a:latin typeface="Calibri"/>
              </a:rPr>
              <a:t>Geographic Spread</a:t>
            </a:r>
          </a:p>
        </p:txBody>
      </p:sp>
      <p:pic>
        <p:nvPicPr>
          <p:cNvPr id="74" name="Picture 73" descr="lock.png"/>
          <p:cNvPicPr>
            <a:picLocks noChangeAspect="1"/>
          </p:cNvPicPr>
          <p:nvPr/>
        </p:nvPicPr>
        <p:blipFill>
          <a:blip r:embed="rId4"/>
          <a:stretch>
            <a:fillRect/>
          </a:stretch>
        </p:blipFill>
        <p:spPr>
          <a:xfrm>
            <a:off x="2162976" y="4341395"/>
            <a:ext cx="118403" cy="172222"/>
          </a:xfrm>
          <a:prstGeom prst="rect">
            <a:avLst/>
          </a:prstGeom>
        </p:spPr>
      </p:pic>
      <p:sp>
        <p:nvSpPr>
          <p:cNvPr id="75" name="TextBox 74"/>
          <p:cNvSpPr txBox="1"/>
          <p:nvPr/>
        </p:nvSpPr>
        <p:spPr>
          <a:xfrm>
            <a:off x="1722039" y="5316521"/>
            <a:ext cx="980386" cy="173278"/>
          </a:xfrm>
          <a:prstGeom prst="rect">
            <a:avLst/>
          </a:prstGeom>
          <a:noFill/>
        </p:spPr>
        <p:txBody>
          <a:bodyPr wrap="none" lIns="0" rIns="0" tIns="0" bIns="0">
            <a:spAutoFit/>
          </a:bodyPr>
          <a:lstStyle/>
          <a:p>
            <a:r>
              <a:rPr sz="1011" b="0">
                <a:solidFill>
                  <a:srgbClr val="2E2E2E"/>
                </a:solidFill>
                <a:latin typeface="Calibri"/>
              </a:rPr>
              <a:t>Portfolio Breadth</a:t>
            </a:r>
          </a:p>
        </p:txBody>
      </p:sp>
      <p:pic>
        <p:nvPicPr>
          <p:cNvPr id="76" name="Picture 75" descr="lock.png"/>
          <p:cNvPicPr>
            <a:picLocks noChangeAspect="1"/>
          </p:cNvPicPr>
          <p:nvPr/>
        </p:nvPicPr>
        <p:blipFill>
          <a:blip r:embed="rId4"/>
          <a:stretch>
            <a:fillRect/>
          </a:stretch>
        </p:blipFill>
        <p:spPr>
          <a:xfrm>
            <a:off x="2648537" y="5307524"/>
            <a:ext cx="118403" cy="172222"/>
          </a:xfrm>
          <a:prstGeom prst="rect">
            <a:avLst/>
          </a:prstGeom>
        </p:spPr>
      </p:pic>
      <p:sp>
        <p:nvSpPr>
          <p:cNvPr id="77" name="TextBox 76"/>
          <p:cNvSpPr txBox="1"/>
          <p:nvPr/>
        </p:nvSpPr>
        <p:spPr>
          <a:xfrm>
            <a:off x="2838472" y="6067245"/>
            <a:ext cx="738901" cy="173278"/>
          </a:xfrm>
          <a:prstGeom prst="rect">
            <a:avLst/>
          </a:prstGeom>
          <a:noFill/>
        </p:spPr>
        <p:txBody>
          <a:bodyPr wrap="none" lIns="0" rIns="0" tIns="0" bIns="0">
            <a:spAutoFit/>
          </a:bodyPr>
          <a:lstStyle/>
          <a:p>
            <a:r>
              <a:rPr sz="1011" b="0">
                <a:solidFill>
                  <a:srgbClr val="2E2E2E"/>
                </a:solidFill>
                <a:latin typeface="Calibri"/>
              </a:rPr>
              <a:t>Route Depth</a:t>
            </a:r>
          </a:p>
        </p:txBody>
      </p:sp>
      <p:pic>
        <p:nvPicPr>
          <p:cNvPr id="78" name="Picture 77" descr="lock.png"/>
          <p:cNvPicPr>
            <a:picLocks noChangeAspect="1"/>
          </p:cNvPicPr>
          <p:nvPr/>
        </p:nvPicPr>
        <p:blipFill>
          <a:blip r:embed="rId4"/>
          <a:stretch>
            <a:fillRect/>
          </a:stretch>
        </p:blipFill>
        <p:spPr>
          <a:xfrm>
            <a:off x="3523486" y="6058248"/>
            <a:ext cx="118403" cy="172222"/>
          </a:xfrm>
          <a:prstGeom prst="rect">
            <a:avLst/>
          </a:prstGeom>
        </p:spPr>
      </p:pic>
      <p:sp>
        <p:nvSpPr>
          <p:cNvPr id="79" name="TextBox 78"/>
          <p:cNvSpPr txBox="1"/>
          <p:nvPr/>
        </p:nvSpPr>
        <p:spPr>
          <a:xfrm>
            <a:off x="3616852" y="6305860"/>
            <a:ext cx="975365" cy="173278"/>
          </a:xfrm>
          <a:prstGeom prst="rect">
            <a:avLst/>
          </a:prstGeom>
          <a:noFill/>
        </p:spPr>
        <p:txBody>
          <a:bodyPr wrap="none" lIns="0" rIns="0" tIns="0" bIns="0">
            <a:spAutoFit/>
          </a:bodyPr>
          <a:lstStyle/>
          <a:p>
            <a:r>
              <a:rPr sz="1011" b="0">
                <a:solidFill>
                  <a:srgbClr val="2E2E2E"/>
                </a:solidFill>
                <a:latin typeface="Calibri"/>
              </a:rPr>
              <a:t>Value Realisation</a:t>
            </a:r>
          </a:p>
        </p:txBody>
      </p:sp>
      <p:pic>
        <p:nvPicPr>
          <p:cNvPr id="80" name="Picture 79" descr="lock.png"/>
          <p:cNvPicPr>
            <a:picLocks noChangeAspect="1"/>
          </p:cNvPicPr>
          <p:nvPr/>
        </p:nvPicPr>
        <p:blipFill>
          <a:blip r:embed="rId4"/>
          <a:stretch>
            <a:fillRect/>
          </a:stretch>
        </p:blipFill>
        <p:spPr>
          <a:xfrm>
            <a:off x="4538330" y="6296863"/>
            <a:ext cx="118403" cy="172222"/>
          </a:xfrm>
          <a:prstGeom prst="rect">
            <a:avLst/>
          </a:prstGeom>
        </p:spPr>
      </p:pic>
      <p:sp>
        <p:nvSpPr>
          <p:cNvPr id="81" name="TextBox 80"/>
          <p:cNvSpPr txBox="1"/>
          <p:nvPr/>
        </p:nvSpPr>
        <p:spPr>
          <a:xfrm>
            <a:off x="5000625" y="1496754"/>
            <a:ext cx="3210445" cy="186689"/>
          </a:xfrm>
          <a:prstGeom prst="rect">
            <a:avLst/>
          </a:prstGeom>
          <a:noFill/>
        </p:spPr>
        <p:txBody>
          <a:bodyPr wrap="none" lIns="0" rIns="0" tIns="0" bIns="0">
            <a:spAutoFit/>
          </a:bodyPr>
          <a:lstStyle/>
          <a:p>
            <a:r>
              <a:rPr sz="1100" b="0">
                <a:solidFill>
                  <a:srgbClr val="2E2E2E"/>
                </a:solidFill>
                <a:latin typeface="Calibri"/>
              </a:rPr>
              <a:t>▪ Supply-side conditions are led by Geographic Spread (</a:t>
            </a:r>
          </a:p>
        </p:txBody>
      </p:sp>
      <p:pic>
        <p:nvPicPr>
          <p:cNvPr id="82" name="Picture 81" descr="lock.png"/>
          <p:cNvPicPr>
            <a:picLocks noChangeAspect="1"/>
          </p:cNvPicPr>
          <p:nvPr/>
        </p:nvPicPr>
        <p:blipFill>
          <a:blip r:embed="rId4"/>
          <a:stretch>
            <a:fillRect/>
          </a:stretch>
        </p:blipFill>
        <p:spPr>
          <a:xfrm>
            <a:off x="8159122" y="1486975"/>
            <a:ext cx="128699" cy="187198"/>
          </a:xfrm>
          <a:prstGeom prst="rect">
            <a:avLst/>
          </a:prstGeom>
        </p:spPr>
      </p:pic>
      <p:sp>
        <p:nvSpPr>
          <p:cNvPr id="83" name="TextBox 82"/>
          <p:cNvSpPr txBox="1"/>
          <p:nvPr/>
        </p:nvSpPr>
        <p:spPr>
          <a:xfrm>
            <a:off x="8326618" y="1496754"/>
            <a:ext cx="1437729" cy="186689"/>
          </a:xfrm>
          <a:prstGeom prst="rect">
            <a:avLst/>
          </a:prstGeom>
          <a:noFill/>
        </p:spPr>
        <p:txBody>
          <a:bodyPr wrap="none" lIns="0" rIns="0" tIns="0" bIns="0">
            <a:spAutoFit/>
          </a:bodyPr>
          <a:lstStyle/>
          <a:p>
            <a:r>
              <a:rPr sz="1100" b="0">
                <a:solidFill>
                  <a:srgbClr val="2E2E2E"/>
                </a:solidFill>
                <a:latin typeface="Calibri"/>
              </a:rPr>
              <a:t>/10), Portfolio Breadth (</a:t>
            </a:r>
          </a:p>
        </p:txBody>
      </p:sp>
      <p:pic>
        <p:nvPicPr>
          <p:cNvPr id="84" name="Picture 83" descr="lock.png"/>
          <p:cNvPicPr>
            <a:picLocks noChangeAspect="1"/>
          </p:cNvPicPr>
          <p:nvPr/>
        </p:nvPicPr>
        <p:blipFill>
          <a:blip r:embed="rId4"/>
          <a:stretch>
            <a:fillRect/>
          </a:stretch>
        </p:blipFill>
        <p:spPr>
          <a:xfrm>
            <a:off x="9712399" y="1486975"/>
            <a:ext cx="128699" cy="187198"/>
          </a:xfrm>
          <a:prstGeom prst="rect">
            <a:avLst/>
          </a:prstGeom>
        </p:spPr>
      </p:pic>
      <p:sp>
        <p:nvSpPr>
          <p:cNvPr id="85" name="TextBox 84"/>
          <p:cNvSpPr txBox="1"/>
          <p:nvPr/>
        </p:nvSpPr>
        <p:spPr>
          <a:xfrm>
            <a:off x="9879895" y="1496754"/>
            <a:ext cx="1175246" cy="186689"/>
          </a:xfrm>
          <a:prstGeom prst="rect">
            <a:avLst/>
          </a:prstGeom>
          <a:noFill/>
        </p:spPr>
        <p:txBody>
          <a:bodyPr wrap="none" lIns="0" rIns="0" tIns="0" bIns="0">
            <a:spAutoFit/>
          </a:bodyPr>
          <a:lstStyle/>
          <a:p>
            <a:r>
              <a:rPr sz="1100" b="0">
                <a:solidFill>
                  <a:srgbClr val="2E2E2E"/>
                </a:solidFill>
                <a:latin typeface="Calibri"/>
              </a:rPr>
              <a:t>/10), Route Depth (</a:t>
            </a:r>
          </a:p>
        </p:txBody>
      </p:sp>
      <p:pic>
        <p:nvPicPr>
          <p:cNvPr id="86" name="Picture 85" descr="lock.png"/>
          <p:cNvPicPr>
            <a:picLocks noChangeAspect="1"/>
          </p:cNvPicPr>
          <p:nvPr/>
        </p:nvPicPr>
        <p:blipFill>
          <a:blip r:embed="rId4"/>
          <a:stretch>
            <a:fillRect/>
          </a:stretch>
        </p:blipFill>
        <p:spPr>
          <a:xfrm>
            <a:off x="11003192" y="1486975"/>
            <a:ext cx="128699" cy="187198"/>
          </a:xfrm>
          <a:prstGeom prst="rect">
            <a:avLst/>
          </a:prstGeom>
        </p:spPr>
      </p:pic>
      <p:sp>
        <p:nvSpPr>
          <p:cNvPr id="87" name="TextBox 86"/>
          <p:cNvSpPr txBox="1"/>
          <p:nvPr/>
        </p:nvSpPr>
        <p:spPr>
          <a:xfrm>
            <a:off x="11170688" y="1496754"/>
            <a:ext cx="591616" cy="186689"/>
          </a:xfrm>
          <a:prstGeom prst="rect">
            <a:avLst/>
          </a:prstGeom>
          <a:noFill/>
        </p:spPr>
        <p:txBody>
          <a:bodyPr wrap="none" lIns="0" rIns="0" tIns="0" bIns="0">
            <a:spAutoFit/>
          </a:bodyPr>
          <a:lstStyle/>
          <a:p>
            <a:r>
              <a:rPr sz="1100" b="0">
                <a:solidFill>
                  <a:srgbClr val="2E2E2E"/>
                </a:solidFill>
                <a:latin typeface="Calibri"/>
              </a:rPr>
              <a:t>/10) on a</a:t>
            </a:r>
          </a:p>
        </p:txBody>
      </p:sp>
      <p:sp>
        <p:nvSpPr>
          <p:cNvPr id="88" name="TextBox 87"/>
          <p:cNvSpPr txBox="1"/>
          <p:nvPr/>
        </p:nvSpPr>
        <p:spPr>
          <a:xfrm>
            <a:off x="5000625" y="1664394"/>
            <a:ext cx="2764060" cy="186689"/>
          </a:xfrm>
          <a:prstGeom prst="rect">
            <a:avLst/>
          </a:prstGeom>
          <a:noFill/>
        </p:spPr>
        <p:txBody>
          <a:bodyPr wrap="none" lIns="0" rIns="0" tIns="0" bIns="0">
            <a:spAutoFit/>
          </a:bodyPr>
          <a:lstStyle/>
          <a:p>
            <a:r>
              <a:rPr sz="1100" b="0">
                <a:solidFill>
                  <a:srgbClr val="2E2E2E"/>
                </a:solidFill>
                <a:latin typeface="Calibri"/>
              </a:rPr>
              <a:t>0-10 scale scored from the global dataset itself.</a:t>
            </a:r>
          </a:p>
        </p:txBody>
      </p:sp>
      <p:sp>
        <p:nvSpPr>
          <p:cNvPr id="89" name="TextBox 88"/>
          <p:cNvSpPr txBox="1"/>
          <p:nvPr/>
        </p:nvSpPr>
        <p:spPr>
          <a:xfrm>
            <a:off x="5000625" y="1953097"/>
            <a:ext cx="1245914" cy="186689"/>
          </a:xfrm>
          <a:prstGeom prst="rect">
            <a:avLst/>
          </a:prstGeom>
          <a:noFill/>
        </p:spPr>
        <p:txBody>
          <a:bodyPr wrap="none" lIns="0" rIns="0" tIns="0" bIns="0">
            <a:spAutoFit/>
          </a:bodyPr>
          <a:lstStyle/>
          <a:p>
            <a:r>
              <a:rPr sz="1100" b="0">
                <a:solidFill>
                  <a:srgbClr val="2E2E2E"/>
                </a:solidFill>
                <a:latin typeface="Calibri"/>
              </a:rPr>
              <a:t>▪ Volume expands at</a:t>
            </a:r>
          </a:p>
        </p:txBody>
      </p:sp>
      <p:pic>
        <p:nvPicPr>
          <p:cNvPr id="90" name="Picture 89" descr="lock.png"/>
          <p:cNvPicPr>
            <a:picLocks noChangeAspect="1"/>
          </p:cNvPicPr>
          <p:nvPr/>
        </p:nvPicPr>
        <p:blipFill>
          <a:blip r:embed="rId4"/>
          <a:stretch>
            <a:fillRect/>
          </a:stretch>
        </p:blipFill>
        <p:spPr>
          <a:xfrm>
            <a:off x="6194591" y="1943318"/>
            <a:ext cx="128699" cy="187198"/>
          </a:xfrm>
          <a:prstGeom prst="rect">
            <a:avLst/>
          </a:prstGeom>
        </p:spPr>
      </p:pic>
      <p:sp>
        <p:nvSpPr>
          <p:cNvPr id="91" name="TextBox 90"/>
          <p:cNvSpPr txBox="1"/>
          <p:nvPr/>
        </p:nvSpPr>
        <p:spPr>
          <a:xfrm>
            <a:off x="6362087" y="1953097"/>
            <a:ext cx="3002788" cy="186689"/>
          </a:xfrm>
          <a:prstGeom prst="rect">
            <a:avLst/>
          </a:prstGeom>
          <a:noFill/>
        </p:spPr>
        <p:txBody>
          <a:bodyPr wrap="none" lIns="0" rIns="0" tIns="0" bIns="0">
            <a:spAutoFit/>
          </a:bodyPr>
          <a:lstStyle/>
          <a:p>
            <a:r>
              <a:rPr sz="1100" b="0">
                <a:solidFill>
                  <a:srgbClr val="2E2E2E"/>
                </a:solidFill>
                <a:latin typeface="Calibri"/>
              </a:rPr>
              <a:t>CAGR (2026–2036) while average realisation moves</a:t>
            </a:r>
          </a:p>
        </p:txBody>
      </p:sp>
      <p:pic>
        <p:nvPicPr>
          <p:cNvPr id="92" name="Picture 91" descr="lock.png"/>
          <p:cNvPicPr>
            <a:picLocks noChangeAspect="1"/>
          </p:cNvPicPr>
          <p:nvPr/>
        </p:nvPicPr>
        <p:blipFill>
          <a:blip r:embed="rId4"/>
          <a:stretch>
            <a:fillRect/>
          </a:stretch>
        </p:blipFill>
        <p:spPr>
          <a:xfrm>
            <a:off x="9312927" y="1943318"/>
            <a:ext cx="128699" cy="187198"/>
          </a:xfrm>
          <a:prstGeom prst="rect">
            <a:avLst/>
          </a:prstGeom>
        </p:spPr>
      </p:pic>
      <p:sp>
        <p:nvSpPr>
          <p:cNvPr id="93" name="TextBox 92"/>
          <p:cNvSpPr txBox="1"/>
          <p:nvPr/>
        </p:nvSpPr>
        <p:spPr>
          <a:xfrm>
            <a:off x="9480423" y="1953097"/>
            <a:ext cx="2346597" cy="186689"/>
          </a:xfrm>
          <a:prstGeom prst="rect">
            <a:avLst/>
          </a:prstGeom>
          <a:noFill/>
        </p:spPr>
        <p:txBody>
          <a:bodyPr wrap="none" lIns="0" rIns="0" tIns="0" bIns="0">
            <a:spAutoFit/>
          </a:bodyPr>
          <a:lstStyle/>
          <a:p>
            <a:r>
              <a:rPr sz="1100" b="0">
                <a:solidFill>
                  <a:srgbClr val="2E2E2E"/>
                </a:solidFill>
                <a:latin typeface="Calibri"/>
              </a:rPr>
              <a:t>a year the balance of those two sets the</a:t>
            </a:r>
          </a:p>
        </p:txBody>
      </p:sp>
      <p:sp>
        <p:nvSpPr>
          <p:cNvPr id="94" name="TextBox 93"/>
          <p:cNvSpPr txBox="1"/>
          <p:nvPr/>
        </p:nvSpPr>
        <p:spPr>
          <a:xfrm>
            <a:off x="5000625" y="2120737"/>
            <a:ext cx="1571426" cy="186689"/>
          </a:xfrm>
          <a:prstGeom prst="rect">
            <a:avLst/>
          </a:prstGeom>
          <a:noFill/>
        </p:spPr>
        <p:txBody>
          <a:bodyPr wrap="none" lIns="0" rIns="0" tIns="0" bIns="0">
            <a:spAutoFit/>
          </a:bodyPr>
          <a:lstStyle/>
          <a:p>
            <a:r>
              <a:rPr sz="1100" b="0">
                <a:solidFill>
                  <a:srgbClr val="2E2E2E"/>
                </a:solidFill>
                <a:latin typeface="Calibri"/>
              </a:rPr>
              <a:t>cost-pass-through picture.</a:t>
            </a:r>
          </a:p>
        </p:txBody>
      </p:sp>
      <p:sp>
        <p:nvSpPr>
          <p:cNvPr id="95" name="TextBox 94"/>
          <p:cNvSpPr txBox="1"/>
          <p:nvPr/>
        </p:nvSpPr>
        <p:spPr>
          <a:xfrm>
            <a:off x="5000625" y="2401990"/>
            <a:ext cx="2751509" cy="186689"/>
          </a:xfrm>
          <a:prstGeom prst="rect">
            <a:avLst/>
          </a:prstGeom>
          <a:noFill/>
        </p:spPr>
        <p:txBody>
          <a:bodyPr wrap="none" lIns="0" rIns="0" tIns="0" bIns="0">
            <a:spAutoFit/>
          </a:bodyPr>
          <a:lstStyle/>
          <a:p>
            <a:r>
              <a:rPr sz="1100" b="0">
                <a:solidFill>
                  <a:srgbClr val="2E2E2E"/>
                </a:solidFill>
                <a:latin typeface="Calibri"/>
              </a:rPr>
              <a:t>▪ Supply is concentrated: 'North America' holds</a:t>
            </a:r>
          </a:p>
        </p:txBody>
      </p:sp>
      <p:pic>
        <p:nvPicPr>
          <p:cNvPr id="96" name="Picture 95" descr="lock.png"/>
          <p:cNvPicPr>
            <a:picLocks noChangeAspect="1"/>
          </p:cNvPicPr>
          <p:nvPr/>
        </p:nvPicPr>
        <p:blipFill>
          <a:blip r:embed="rId4"/>
          <a:stretch>
            <a:fillRect/>
          </a:stretch>
        </p:blipFill>
        <p:spPr>
          <a:xfrm>
            <a:off x="7700186" y="2392211"/>
            <a:ext cx="128699" cy="187198"/>
          </a:xfrm>
          <a:prstGeom prst="rect">
            <a:avLst/>
          </a:prstGeom>
        </p:spPr>
      </p:pic>
      <p:sp>
        <p:nvSpPr>
          <p:cNvPr id="97" name="TextBox 96"/>
          <p:cNvSpPr txBox="1"/>
          <p:nvPr/>
        </p:nvSpPr>
        <p:spPr>
          <a:xfrm>
            <a:off x="7867681" y="2401990"/>
            <a:ext cx="1821358" cy="186689"/>
          </a:xfrm>
          <a:prstGeom prst="rect">
            <a:avLst/>
          </a:prstGeom>
          <a:noFill/>
        </p:spPr>
        <p:txBody>
          <a:bodyPr wrap="none" lIns="0" rIns="0" tIns="0" bIns="0">
            <a:spAutoFit/>
          </a:bodyPr>
          <a:lstStyle/>
          <a:p>
            <a:r>
              <a:rPr sz="1100" b="0">
                <a:solidFill>
                  <a:srgbClr val="2E2E2E"/>
                </a:solidFill>
                <a:latin typeface="Calibri"/>
              </a:rPr>
              <a:t>of 2036 value across 7 regions.</a:t>
            </a:r>
          </a:p>
        </p:txBody>
      </p:sp>
      <p:sp>
        <p:nvSpPr>
          <p:cNvPr id="98" name="TextBox 97"/>
          <p:cNvSpPr txBox="1"/>
          <p:nvPr/>
        </p:nvSpPr>
        <p:spPr>
          <a:xfrm>
            <a:off x="5000625" y="3132138"/>
            <a:ext cx="2931591" cy="186689"/>
          </a:xfrm>
          <a:prstGeom prst="rect">
            <a:avLst/>
          </a:prstGeom>
          <a:noFill/>
        </p:spPr>
        <p:txBody>
          <a:bodyPr wrap="none" lIns="0" rIns="0" tIns="0" bIns="0">
            <a:spAutoFit/>
          </a:bodyPr>
          <a:lstStyle/>
          <a:p>
            <a:r>
              <a:rPr sz="1100" b="0">
                <a:solidFill>
                  <a:srgbClr val="2E2E2E"/>
                </a:solidFill>
                <a:latin typeface="Calibri"/>
              </a:rPr>
              <a:t>▪ Capacity added between 2026 and 2036 is worth</a:t>
            </a:r>
          </a:p>
        </p:txBody>
      </p:sp>
      <p:pic>
        <p:nvPicPr>
          <p:cNvPr id="99" name="Picture 98" descr="lock.png"/>
          <p:cNvPicPr>
            <a:picLocks noChangeAspect="1"/>
          </p:cNvPicPr>
          <p:nvPr/>
        </p:nvPicPr>
        <p:blipFill>
          <a:blip r:embed="rId4"/>
          <a:stretch>
            <a:fillRect/>
          </a:stretch>
        </p:blipFill>
        <p:spPr>
          <a:xfrm>
            <a:off x="7880268" y="3122359"/>
            <a:ext cx="128699" cy="187198"/>
          </a:xfrm>
          <a:prstGeom prst="rect">
            <a:avLst/>
          </a:prstGeom>
        </p:spPr>
      </p:pic>
      <p:sp>
        <p:nvSpPr>
          <p:cNvPr id="100" name="TextBox 99"/>
          <p:cNvSpPr txBox="1"/>
          <p:nvPr/>
        </p:nvSpPr>
        <p:spPr>
          <a:xfrm>
            <a:off x="8047764" y="3132138"/>
            <a:ext cx="659010" cy="186689"/>
          </a:xfrm>
          <a:prstGeom prst="rect">
            <a:avLst/>
          </a:prstGeom>
          <a:noFill/>
        </p:spPr>
        <p:txBody>
          <a:bodyPr wrap="none" lIns="0" rIns="0" tIns="0" bIns="0">
            <a:spAutoFit/>
          </a:bodyPr>
          <a:lstStyle/>
          <a:p>
            <a:r>
              <a:rPr sz="1100" b="0">
                <a:solidFill>
                  <a:srgbClr val="2E2E2E"/>
                </a:solidFill>
                <a:latin typeface="Calibri"/>
              </a:rPr>
              <a:t>US$ Mn, a</a:t>
            </a:r>
          </a:p>
        </p:txBody>
      </p:sp>
      <p:pic>
        <p:nvPicPr>
          <p:cNvPr id="101" name="Picture 100" descr="lock.png"/>
          <p:cNvPicPr>
            <a:picLocks noChangeAspect="1"/>
          </p:cNvPicPr>
          <p:nvPr/>
        </p:nvPicPr>
        <p:blipFill>
          <a:blip r:embed="rId4"/>
          <a:stretch>
            <a:fillRect/>
          </a:stretch>
        </p:blipFill>
        <p:spPr>
          <a:xfrm>
            <a:off x="8654826" y="3122359"/>
            <a:ext cx="128699" cy="187198"/>
          </a:xfrm>
          <a:prstGeom prst="rect">
            <a:avLst/>
          </a:prstGeom>
        </p:spPr>
      </p:pic>
      <p:sp>
        <p:nvSpPr>
          <p:cNvPr id="102" name="TextBox 101"/>
          <p:cNvSpPr txBox="1"/>
          <p:nvPr/>
        </p:nvSpPr>
        <p:spPr>
          <a:xfrm>
            <a:off x="8822322" y="3132138"/>
            <a:ext cx="1801986" cy="186689"/>
          </a:xfrm>
          <a:prstGeom prst="rect">
            <a:avLst/>
          </a:prstGeom>
          <a:noFill/>
        </p:spPr>
        <p:txBody>
          <a:bodyPr wrap="none" lIns="0" rIns="0" tIns="0" bIns="0">
            <a:spAutoFit/>
          </a:bodyPr>
          <a:lstStyle/>
          <a:p>
            <a:r>
              <a:rPr sz="1100" b="0">
                <a:solidFill>
                  <a:srgbClr val="2E2E2E"/>
                </a:solidFill>
                <a:latin typeface="Calibri"/>
              </a:rPr>
              <a:t>× expansion on the 2026 base.</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Global Driving Factors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demand-side factors scored by their impact on the global market</a:t>
            </a:r>
          </a:p>
        </p:txBody>
      </p:sp>
      <p:sp>
        <p:nvSpPr>
          <p:cNvPr id="7" name="Oval 6"/>
          <p:cNvSpPr/>
          <p:nvPr/>
        </p:nvSpPr>
        <p:spPr>
          <a:xfrm>
            <a:off x="5048250" y="1609633"/>
            <a:ext cx="4762500" cy="4563424"/>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286375" y="1837804"/>
            <a:ext cx="4286250" cy="410708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524500" y="2065976"/>
            <a:ext cx="3810000" cy="365074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762625" y="2294147"/>
            <a:ext cx="3333750" cy="319439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000750" y="2522318"/>
            <a:ext cx="2857500" cy="273805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238875" y="2750489"/>
            <a:ext cx="2381250" cy="228171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7000" y="2978660"/>
            <a:ext cx="1905000" cy="182537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15125" y="3206832"/>
            <a:ext cx="1428750" cy="136902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953250" y="3435003"/>
            <a:ext cx="952500" cy="91268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91375" y="3663174"/>
            <a:ext cx="476250" cy="45634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7429500" y="1609633"/>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7429500" y="1835594"/>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7429500" y="2468721"/>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429500" y="3383617"/>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429500" y="3891345"/>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429500" y="3891345"/>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29500" y="3891345"/>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29500" y="3891345"/>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7429500" y="2713982"/>
            <a:ext cx="1524000" cy="3249158"/>
          </a:xfrm>
          <a:custGeom>
            <a:avLst/>
            <a:gdLst/>
            <a:ahLst/>
            <a:cxnLst/>
            <a:rect l="l" t="t" r="r" b="b"/>
            <a:pathLst>
              <a:path w="160" h="356">
                <a:moveTo>
                  <a:pt x="0" y="4"/>
                </a:moveTo>
                <a:lnTo>
                  <a:pt x="62" y="0"/>
                </a:lnTo>
                <a:lnTo>
                  <a:pt x="147" y="12"/>
                </a:lnTo>
                <a:lnTo>
                  <a:pt x="103" y="105"/>
                </a:lnTo>
                <a:lnTo>
                  <a:pt x="160" y="166"/>
                </a:lnTo>
                <a:lnTo>
                  <a:pt x="101" y="209"/>
                </a:lnTo>
                <a:lnTo>
                  <a:pt x="64" y="261"/>
                </a:lnTo>
                <a:lnTo>
                  <a:pt x="0" y="356"/>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381875" y="1563999"/>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05700" y="128106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28" name="Oval 27"/>
          <p:cNvSpPr/>
          <p:nvPr/>
        </p:nvSpPr>
        <p:spPr>
          <a:xfrm>
            <a:off x="8415061" y="178996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20544" y="151968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0" name="Oval 29"/>
          <p:cNvSpPr/>
          <p:nvPr/>
        </p:nvSpPr>
        <p:spPr>
          <a:xfrm>
            <a:off x="9243611" y="2423087"/>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95493" y="2270405"/>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2" name="Oval 31"/>
          <p:cNvSpPr/>
          <p:nvPr/>
        </p:nvSpPr>
        <p:spPr>
          <a:xfrm>
            <a:off x="9703422" y="3337982"/>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81054" y="3236535"/>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4" name="Oval 33"/>
          <p:cNvSpPr/>
          <p:nvPr/>
        </p:nvSpPr>
        <p:spPr>
          <a:xfrm>
            <a:off x="9703422" y="435344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81054" y="4308858"/>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6" name="Oval 35"/>
          <p:cNvSpPr/>
          <p:nvPr/>
        </p:nvSpPr>
        <p:spPr>
          <a:xfrm>
            <a:off x="9243611" y="5268335"/>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95493" y="527498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8" name="Oval 37"/>
          <p:cNvSpPr/>
          <p:nvPr/>
        </p:nvSpPr>
        <p:spPr>
          <a:xfrm>
            <a:off x="8415061" y="590146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20544" y="602571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0" name="Oval 39"/>
          <p:cNvSpPr/>
          <p:nvPr/>
        </p:nvSpPr>
        <p:spPr>
          <a:xfrm>
            <a:off x="7381875" y="612742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05700" y="6264326"/>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2" name="Rectangle 41"/>
          <p:cNvSpPr/>
          <p:nvPr/>
        </p:nvSpPr>
        <p:spPr>
          <a:xfrm>
            <a:off x="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MI Scale 0"/>
          <p:cNvSpPr txBox="1"/>
          <p:nvPr/>
        </p:nvSpPr>
        <p:spPr>
          <a:xfrm>
            <a:off x="7486650" y="3818331"/>
            <a:ext cx="419100" cy="146030"/>
          </a:xfrm>
          <a:prstGeom prst="rect">
            <a:avLst/>
          </a:prstGeom>
          <a:noFill/>
        </p:spPr>
        <p:txBody>
          <a:bodyPr wrap="none" lIns="0" rIns="0" tIns="0" bIns="0" anchor="ctr">
            <a:spAutoFit/>
          </a:bodyPr>
          <a:lstStyle/>
          <a:p>
            <a:pPr algn="l"/>
            <a:r>
              <a:rPr sz="1100" b="0">
                <a:solidFill>
                  <a:srgbClr val="6C7A89"/>
                </a:solidFill>
                <a:latin typeface="Calibri"/>
              </a:rPr>
              <a:t>0%</a:t>
            </a:r>
          </a:p>
        </p:txBody>
      </p:sp>
      <p:sp>
        <p:nvSpPr>
          <p:cNvPr id="44" name="FMI Scale 1"/>
          <p:cNvSpPr txBox="1"/>
          <p:nvPr/>
        </p:nvSpPr>
        <p:spPr>
          <a:xfrm>
            <a:off x="7486650" y="3590159"/>
            <a:ext cx="419100" cy="146030"/>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5" name="FMI Scale 2"/>
          <p:cNvSpPr txBox="1"/>
          <p:nvPr/>
        </p:nvSpPr>
        <p:spPr>
          <a:xfrm>
            <a:off x="7486650" y="3361988"/>
            <a:ext cx="419100" cy="146030"/>
          </a:xfrm>
          <a:prstGeom prst="rect">
            <a:avLst/>
          </a:prstGeom>
          <a:noFill/>
        </p:spPr>
        <p:txBody>
          <a:bodyPr wrap="none" lIns="0" rIns="0" tIns="0" bIns="0" anchor="ctr">
            <a:spAutoFit/>
          </a:bodyPr>
          <a:lstStyle/>
          <a:p>
            <a:pPr algn="l"/>
            <a:r>
              <a:rPr sz="1100" b="0">
                <a:solidFill>
                  <a:srgbClr val="6C7A89"/>
                </a:solidFill>
                <a:latin typeface="Calibri"/>
              </a:rPr>
              <a:t>20%</a:t>
            </a:r>
          </a:p>
        </p:txBody>
      </p:sp>
      <p:sp>
        <p:nvSpPr>
          <p:cNvPr id="46" name="FMI Scale 3"/>
          <p:cNvSpPr txBox="1"/>
          <p:nvPr/>
        </p:nvSpPr>
        <p:spPr>
          <a:xfrm>
            <a:off x="7486650" y="3133817"/>
            <a:ext cx="419100" cy="146030"/>
          </a:xfrm>
          <a:prstGeom prst="rect">
            <a:avLst/>
          </a:prstGeom>
          <a:noFill/>
        </p:spPr>
        <p:txBody>
          <a:bodyPr wrap="none" lIns="0" rIns="0" tIns="0" bIns="0" anchor="ctr">
            <a:spAutoFit/>
          </a:bodyPr>
          <a:lstStyle/>
          <a:p>
            <a:pPr algn="l"/>
            <a:r>
              <a:rPr sz="1100" b="0">
                <a:solidFill>
                  <a:srgbClr val="6C7A89"/>
                </a:solidFill>
                <a:latin typeface="Calibri"/>
              </a:rPr>
              <a:t>30%</a:t>
            </a:r>
          </a:p>
        </p:txBody>
      </p:sp>
      <p:sp>
        <p:nvSpPr>
          <p:cNvPr id="47" name="FMI Scale 4"/>
          <p:cNvSpPr txBox="1"/>
          <p:nvPr/>
        </p:nvSpPr>
        <p:spPr>
          <a:xfrm>
            <a:off x="7486650" y="2905646"/>
            <a:ext cx="419100" cy="146030"/>
          </a:xfrm>
          <a:prstGeom prst="rect">
            <a:avLst/>
          </a:prstGeom>
          <a:noFill/>
        </p:spPr>
        <p:txBody>
          <a:bodyPr wrap="none" lIns="0" rIns="0" tIns="0" bIns="0" anchor="ctr">
            <a:spAutoFit/>
          </a:bodyPr>
          <a:lstStyle/>
          <a:p>
            <a:pPr algn="l"/>
            <a:r>
              <a:rPr sz="1100" b="0">
                <a:solidFill>
                  <a:srgbClr val="6C7A89"/>
                </a:solidFill>
                <a:latin typeface="Calibri"/>
              </a:rPr>
              <a:t>40%</a:t>
            </a:r>
          </a:p>
        </p:txBody>
      </p:sp>
      <p:sp>
        <p:nvSpPr>
          <p:cNvPr id="48" name="FMI Scale 5"/>
          <p:cNvSpPr txBox="1"/>
          <p:nvPr/>
        </p:nvSpPr>
        <p:spPr>
          <a:xfrm>
            <a:off x="7486650" y="2677474"/>
            <a:ext cx="419100" cy="146030"/>
          </a:xfrm>
          <a:prstGeom prst="rect">
            <a:avLst/>
          </a:prstGeom>
          <a:noFill/>
        </p:spPr>
        <p:txBody>
          <a:bodyPr wrap="none" lIns="0" rIns="0" tIns="0" bIns="0" anchor="ctr">
            <a:spAutoFit/>
          </a:bodyPr>
          <a:lstStyle/>
          <a:p>
            <a:pPr algn="l"/>
            <a:r>
              <a:rPr sz="1100" b="0">
                <a:solidFill>
                  <a:srgbClr val="6C7A89"/>
                </a:solidFill>
                <a:latin typeface="Calibri"/>
              </a:rPr>
              <a:t>50%</a:t>
            </a:r>
          </a:p>
        </p:txBody>
      </p:sp>
      <p:sp>
        <p:nvSpPr>
          <p:cNvPr id="49" name="FMI Scale 6"/>
          <p:cNvSpPr txBox="1"/>
          <p:nvPr/>
        </p:nvSpPr>
        <p:spPr>
          <a:xfrm>
            <a:off x="7486650" y="2449303"/>
            <a:ext cx="419100" cy="146030"/>
          </a:xfrm>
          <a:prstGeom prst="rect">
            <a:avLst/>
          </a:prstGeom>
          <a:noFill/>
        </p:spPr>
        <p:txBody>
          <a:bodyPr wrap="none" lIns="0" rIns="0" tIns="0" bIns="0" anchor="ctr">
            <a:spAutoFit/>
          </a:bodyPr>
          <a:lstStyle/>
          <a:p>
            <a:pPr algn="l"/>
            <a:r>
              <a:rPr sz="1100" b="0">
                <a:solidFill>
                  <a:srgbClr val="6C7A89"/>
                </a:solidFill>
                <a:latin typeface="Calibri"/>
              </a:rPr>
              <a:t>60%</a:t>
            </a:r>
          </a:p>
        </p:txBody>
      </p:sp>
      <p:sp>
        <p:nvSpPr>
          <p:cNvPr id="50" name="FMI Scale 7"/>
          <p:cNvSpPr txBox="1"/>
          <p:nvPr/>
        </p:nvSpPr>
        <p:spPr>
          <a:xfrm>
            <a:off x="7486650" y="2221132"/>
            <a:ext cx="419100" cy="146030"/>
          </a:xfrm>
          <a:prstGeom prst="rect">
            <a:avLst/>
          </a:prstGeom>
          <a:noFill/>
        </p:spPr>
        <p:txBody>
          <a:bodyPr wrap="none" lIns="0" rIns="0" tIns="0" bIns="0" anchor="ctr">
            <a:spAutoFit/>
          </a:bodyPr>
          <a:lstStyle/>
          <a:p>
            <a:pPr algn="l"/>
            <a:r>
              <a:rPr sz="1100" b="0">
                <a:solidFill>
                  <a:srgbClr val="6C7A89"/>
                </a:solidFill>
                <a:latin typeface="Calibri"/>
              </a:rPr>
              <a:t>70%</a:t>
            </a:r>
          </a:p>
        </p:txBody>
      </p:sp>
      <p:sp>
        <p:nvSpPr>
          <p:cNvPr id="51" name="FMI Scale 8"/>
          <p:cNvSpPr txBox="1"/>
          <p:nvPr/>
        </p:nvSpPr>
        <p:spPr>
          <a:xfrm>
            <a:off x="7486650" y="1992961"/>
            <a:ext cx="419100" cy="146030"/>
          </a:xfrm>
          <a:prstGeom prst="rect">
            <a:avLst/>
          </a:prstGeom>
          <a:noFill/>
        </p:spPr>
        <p:txBody>
          <a:bodyPr wrap="none" lIns="0" rIns="0" tIns="0" bIns="0" anchor="ctr">
            <a:spAutoFit/>
          </a:bodyPr>
          <a:lstStyle/>
          <a:p>
            <a:pPr algn="l"/>
            <a:r>
              <a:rPr sz="1100" b="0">
                <a:solidFill>
                  <a:srgbClr val="6C7A89"/>
                </a:solidFill>
                <a:latin typeface="Calibri"/>
              </a:rPr>
              <a:t>80%</a:t>
            </a:r>
          </a:p>
        </p:txBody>
      </p:sp>
      <p:sp>
        <p:nvSpPr>
          <p:cNvPr id="52" name="FMI Scale 9"/>
          <p:cNvSpPr txBox="1"/>
          <p:nvPr/>
        </p:nvSpPr>
        <p:spPr>
          <a:xfrm>
            <a:off x="7486650" y="1764790"/>
            <a:ext cx="419100" cy="146030"/>
          </a:xfrm>
          <a:prstGeom prst="rect">
            <a:avLst/>
          </a:prstGeom>
          <a:noFill/>
        </p:spPr>
        <p:txBody>
          <a:bodyPr wrap="none" lIns="0" rIns="0" tIns="0" bIns="0" anchor="ctr">
            <a:spAutoFit/>
          </a:bodyPr>
          <a:lstStyle/>
          <a:p>
            <a:pPr algn="l"/>
            <a:r>
              <a:rPr sz="1100" b="0">
                <a:solidFill>
                  <a:srgbClr val="6C7A89"/>
                </a:solidFill>
                <a:latin typeface="Calibri"/>
              </a:rPr>
              <a:t>90%</a:t>
            </a:r>
          </a:p>
        </p:txBody>
      </p:sp>
      <p:sp>
        <p:nvSpPr>
          <p:cNvPr id="53" name="FMI Scale 10"/>
          <p:cNvSpPr txBox="1"/>
          <p:nvPr/>
        </p:nvSpPr>
        <p:spPr>
          <a:xfrm>
            <a:off x="7486650" y="1536618"/>
            <a:ext cx="419100" cy="146030"/>
          </a:xfrm>
          <a:prstGeom prst="rect">
            <a:avLst/>
          </a:prstGeom>
          <a:noFill/>
        </p:spPr>
        <p:txBody>
          <a:bodyPr wrap="none" lIns="0" rIns="0" tIns="0" bIns="0" anchor="ctr">
            <a:spAutoFit/>
          </a:bodyPr>
          <a:lstStyle/>
          <a:p>
            <a:pPr algn="l"/>
            <a:r>
              <a:rPr sz="1100" b="0">
                <a:solidFill>
                  <a:srgbClr val="6C7A89"/>
                </a:solidFill>
                <a:latin typeface="Calibri"/>
              </a:rPr>
              <a:t>100%</a:t>
            </a:r>
          </a:p>
        </p:txBody>
      </p:sp>
      <p:cxnSp>
        <p:nvCxnSpPr>
          <p:cNvPr id="54" name="Connector 53"/>
          <p:cNvCxnSpPr/>
          <p:nvPr/>
        </p:nvCxnSpPr>
        <p:spPr>
          <a:xfrm>
            <a:off x="7429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80975" y="1080276"/>
            <a:ext cx="7038975" cy="219044"/>
          </a:xfrm>
          <a:prstGeom prst="rect">
            <a:avLst/>
          </a:prstGeom>
          <a:noFill/>
        </p:spPr>
        <p:txBody>
          <a:bodyPr wrap="square" lIns="28575" rIns="28575" tIns="9525" bIns="9525" anchor="ctr">
            <a:spAutoFit/>
          </a:bodyPr>
          <a:lstStyle/>
          <a:p>
            <a:pPr algn="l"/>
            <a:r>
              <a:rPr sz="1200" b="1">
                <a:solidFill>
                  <a:srgbClr val="0B2E4A"/>
                </a:solidFill>
                <a:latin typeface="Calibri"/>
              </a:rPr>
              <a:t>Demand-side Factors</a:t>
            </a:r>
          </a:p>
        </p:txBody>
      </p:sp>
      <p:cxnSp>
        <p:nvCxnSpPr>
          <p:cNvPr id="56" name="Connector 55"/>
          <p:cNvCxnSpPr/>
          <p:nvPr/>
        </p:nvCxnSpPr>
        <p:spPr>
          <a:xfrm>
            <a:off x="180975" y="1335828"/>
            <a:ext cx="70389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80975" y="142709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8" name="TextBox 57"/>
          <p:cNvSpPr txBox="1"/>
          <p:nvPr/>
        </p:nvSpPr>
        <p:spPr>
          <a:xfrm>
            <a:off x="180975" y="1883439"/>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9" name="TextBox 58"/>
          <p:cNvSpPr txBox="1"/>
          <p:nvPr/>
        </p:nvSpPr>
        <p:spPr>
          <a:xfrm>
            <a:off x="180975" y="2157244"/>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0" name="TextBox 59"/>
          <p:cNvSpPr txBox="1"/>
          <p:nvPr/>
        </p:nvSpPr>
        <p:spPr>
          <a:xfrm>
            <a:off x="180975" y="261358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180975" y="3069929"/>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180975" y="3526271"/>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3" name="Rectangle 6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5" name="TextBox 64"/>
          <p:cNvSpPr txBox="1"/>
          <p:nvPr/>
        </p:nvSpPr>
        <p:spPr>
          <a:xfrm>
            <a:off x="7534275" y="1322601"/>
            <a:ext cx="943988" cy="173278"/>
          </a:xfrm>
          <a:prstGeom prst="rect">
            <a:avLst/>
          </a:prstGeom>
          <a:noFill/>
        </p:spPr>
        <p:txBody>
          <a:bodyPr wrap="none" lIns="0" rIns="0" tIns="0" bIns="0">
            <a:spAutoFit/>
          </a:bodyPr>
          <a:lstStyle/>
          <a:p>
            <a:r>
              <a:rPr sz="1011" b="0">
                <a:solidFill>
                  <a:srgbClr val="2E2E2E"/>
                </a:solidFill>
                <a:latin typeface="Calibri"/>
              </a:rPr>
              <a:t>Demand Growth</a:t>
            </a:r>
          </a:p>
        </p:txBody>
      </p:sp>
      <p:pic>
        <p:nvPicPr>
          <p:cNvPr id="66" name="Picture 65" descr="lock.png"/>
          <p:cNvPicPr>
            <a:picLocks noChangeAspect="1"/>
          </p:cNvPicPr>
          <p:nvPr/>
        </p:nvPicPr>
        <p:blipFill>
          <a:blip r:embed="rId4"/>
          <a:stretch>
            <a:fillRect/>
          </a:stretch>
        </p:blipFill>
        <p:spPr>
          <a:xfrm>
            <a:off x="8424374" y="1313604"/>
            <a:ext cx="118403" cy="172222"/>
          </a:xfrm>
          <a:prstGeom prst="rect">
            <a:avLst/>
          </a:prstGeom>
        </p:spPr>
      </p:pic>
      <p:sp>
        <p:nvSpPr>
          <p:cNvPr id="67" name="TextBox 66"/>
          <p:cNvSpPr txBox="1"/>
          <p:nvPr/>
        </p:nvSpPr>
        <p:spPr>
          <a:xfrm>
            <a:off x="8549119" y="1561215"/>
            <a:ext cx="903573" cy="173278"/>
          </a:xfrm>
          <a:prstGeom prst="rect">
            <a:avLst/>
          </a:prstGeom>
          <a:noFill/>
        </p:spPr>
        <p:txBody>
          <a:bodyPr wrap="none" lIns="0" rIns="0" tIns="0" bIns="0">
            <a:spAutoFit/>
          </a:bodyPr>
          <a:lstStyle/>
          <a:p>
            <a:r>
              <a:rPr sz="1011" b="0">
                <a:solidFill>
                  <a:srgbClr val="2E2E2E"/>
                </a:solidFill>
                <a:latin typeface="Calibri"/>
              </a:rPr>
              <a:t>Premiumisation</a:t>
            </a:r>
          </a:p>
        </p:txBody>
      </p:sp>
      <p:pic>
        <p:nvPicPr>
          <p:cNvPr id="68" name="Picture 67" descr="lock.png"/>
          <p:cNvPicPr>
            <a:picLocks noChangeAspect="1"/>
          </p:cNvPicPr>
          <p:nvPr/>
        </p:nvPicPr>
        <p:blipFill>
          <a:blip r:embed="rId4"/>
          <a:stretch>
            <a:fillRect/>
          </a:stretch>
        </p:blipFill>
        <p:spPr>
          <a:xfrm>
            <a:off x="9398803" y="1552218"/>
            <a:ext cx="118403" cy="172222"/>
          </a:xfrm>
          <a:prstGeom prst="rect">
            <a:avLst/>
          </a:prstGeom>
        </p:spPr>
      </p:pic>
      <p:sp>
        <p:nvSpPr>
          <p:cNvPr id="69" name="TextBox 68"/>
          <p:cNvSpPr txBox="1"/>
          <p:nvPr/>
        </p:nvSpPr>
        <p:spPr>
          <a:xfrm>
            <a:off x="9424068" y="2311939"/>
            <a:ext cx="765761" cy="173278"/>
          </a:xfrm>
          <a:prstGeom prst="rect">
            <a:avLst/>
          </a:prstGeom>
          <a:noFill/>
        </p:spPr>
        <p:txBody>
          <a:bodyPr wrap="none" lIns="0" rIns="0" tIns="0" bIns="0">
            <a:spAutoFit/>
          </a:bodyPr>
          <a:lstStyle/>
          <a:p>
            <a:r>
              <a:rPr sz="1011" b="0">
                <a:solidFill>
                  <a:srgbClr val="2E2E2E"/>
                </a:solidFill>
                <a:latin typeface="Calibri"/>
              </a:rPr>
              <a:t>App. Breadth</a:t>
            </a:r>
          </a:p>
        </p:txBody>
      </p:sp>
      <p:pic>
        <p:nvPicPr>
          <p:cNvPr id="70" name="Picture 69" descr="lock.png"/>
          <p:cNvPicPr>
            <a:picLocks noChangeAspect="1"/>
          </p:cNvPicPr>
          <p:nvPr/>
        </p:nvPicPr>
        <p:blipFill>
          <a:blip r:embed="rId4"/>
          <a:stretch>
            <a:fillRect/>
          </a:stretch>
        </p:blipFill>
        <p:spPr>
          <a:xfrm>
            <a:off x="10135940" y="2302942"/>
            <a:ext cx="118403" cy="172222"/>
          </a:xfrm>
          <a:prstGeom prst="rect">
            <a:avLst/>
          </a:prstGeom>
        </p:spPr>
      </p:pic>
      <p:sp>
        <p:nvSpPr>
          <p:cNvPr id="71" name="TextBox 70"/>
          <p:cNvSpPr txBox="1"/>
          <p:nvPr/>
        </p:nvSpPr>
        <p:spPr>
          <a:xfrm>
            <a:off x="9909628" y="3278069"/>
            <a:ext cx="791114" cy="173278"/>
          </a:xfrm>
          <a:prstGeom prst="rect">
            <a:avLst/>
          </a:prstGeom>
          <a:noFill/>
        </p:spPr>
        <p:txBody>
          <a:bodyPr wrap="none" lIns="0" rIns="0" tIns="0" bIns="0">
            <a:spAutoFit/>
          </a:bodyPr>
          <a:lstStyle/>
          <a:p>
            <a:r>
              <a:rPr sz="1011" b="0">
                <a:solidFill>
                  <a:srgbClr val="2E2E2E"/>
                </a:solidFill>
                <a:latin typeface="Calibri"/>
              </a:rPr>
              <a:t>Emerging Pull</a:t>
            </a:r>
          </a:p>
        </p:txBody>
      </p:sp>
      <p:pic>
        <p:nvPicPr>
          <p:cNvPr id="72" name="Picture 71" descr="lock.png"/>
          <p:cNvPicPr>
            <a:picLocks noChangeAspect="1"/>
          </p:cNvPicPr>
          <p:nvPr/>
        </p:nvPicPr>
        <p:blipFill>
          <a:blip r:embed="rId4"/>
          <a:stretch>
            <a:fillRect/>
          </a:stretch>
        </p:blipFill>
        <p:spPr>
          <a:xfrm>
            <a:off x="10646855" y="3269072"/>
            <a:ext cx="118403" cy="172222"/>
          </a:xfrm>
          <a:prstGeom prst="rect">
            <a:avLst/>
          </a:prstGeom>
        </p:spPr>
      </p:pic>
      <p:sp>
        <p:nvSpPr>
          <p:cNvPr id="73" name="TextBox 72"/>
          <p:cNvSpPr txBox="1"/>
          <p:nvPr/>
        </p:nvSpPr>
        <p:spPr>
          <a:xfrm>
            <a:off x="9909628" y="4350392"/>
            <a:ext cx="1135267" cy="173278"/>
          </a:xfrm>
          <a:prstGeom prst="rect">
            <a:avLst/>
          </a:prstGeom>
          <a:noFill/>
        </p:spPr>
        <p:txBody>
          <a:bodyPr wrap="none" lIns="0" rIns="0" tIns="0" bIns="0">
            <a:spAutoFit/>
          </a:bodyPr>
          <a:lstStyle/>
          <a:p>
            <a:r>
              <a:rPr sz="1011" b="0">
                <a:solidFill>
                  <a:srgbClr val="2E2E2E"/>
                </a:solidFill>
                <a:latin typeface="Calibri"/>
              </a:rPr>
              <a:t>Volume Momentum</a:t>
            </a:r>
          </a:p>
        </p:txBody>
      </p:sp>
      <p:pic>
        <p:nvPicPr>
          <p:cNvPr id="74" name="Picture 73" descr="lock.png"/>
          <p:cNvPicPr>
            <a:picLocks noChangeAspect="1"/>
          </p:cNvPicPr>
          <p:nvPr/>
        </p:nvPicPr>
        <p:blipFill>
          <a:blip r:embed="rId4"/>
          <a:stretch>
            <a:fillRect/>
          </a:stretch>
        </p:blipFill>
        <p:spPr>
          <a:xfrm>
            <a:off x="10991008" y="4341395"/>
            <a:ext cx="118403" cy="172222"/>
          </a:xfrm>
          <a:prstGeom prst="rect">
            <a:avLst/>
          </a:prstGeom>
        </p:spPr>
      </p:pic>
      <p:sp>
        <p:nvSpPr>
          <p:cNvPr id="75" name="TextBox 74"/>
          <p:cNvSpPr txBox="1"/>
          <p:nvPr/>
        </p:nvSpPr>
        <p:spPr>
          <a:xfrm>
            <a:off x="9424068" y="5316521"/>
            <a:ext cx="1032097" cy="173278"/>
          </a:xfrm>
          <a:prstGeom prst="rect">
            <a:avLst/>
          </a:prstGeom>
          <a:noFill/>
        </p:spPr>
        <p:txBody>
          <a:bodyPr wrap="none" lIns="0" rIns="0" tIns="0" bIns="0">
            <a:spAutoFit/>
          </a:bodyPr>
          <a:lstStyle/>
          <a:p>
            <a:r>
              <a:rPr sz="1011" b="0">
                <a:solidFill>
                  <a:srgbClr val="2E2E2E"/>
                </a:solidFill>
                <a:latin typeface="Calibri"/>
              </a:rPr>
              <a:t>Category Maturity</a:t>
            </a:r>
          </a:p>
        </p:txBody>
      </p:sp>
      <p:pic>
        <p:nvPicPr>
          <p:cNvPr id="76" name="Picture 75" descr="lock.png"/>
          <p:cNvPicPr>
            <a:picLocks noChangeAspect="1"/>
          </p:cNvPicPr>
          <p:nvPr/>
        </p:nvPicPr>
        <p:blipFill>
          <a:blip r:embed="rId4"/>
          <a:stretch>
            <a:fillRect/>
          </a:stretch>
        </p:blipFill>
        <p:spPr>
          <a:xfrm>
            <a:off x="10402276" y="5307524"/>
            <a:ext cx="118403" cy="172222"/>
          </a:xfrm>
          <a:prstGeom prst="rect">
            <a:avLst/>
          </a:prstGeom>
        </p:spPr>
      </p:pic>
      <p:sp>
        <p:nvSpPr>
          <p:cNvPr id="77" name="TextBox 76"/>
          <p:cNvSpPr txBox="1"/>
          <p:nvPr/>
        </p:nvSpPr>
        <p:spPr>
          <a:xfrm>
            <a:off x="8549119" y="6067245"/>
            <a:ext cx="911857" cy="173278"/>
          </a:xfrm>
          <a:prstGeom prst="rect">
            <a:avLst/>
          </a:prstGeom>
          <a:noFill/>
        </p:spPr>
        <p:txBody>
          <a:bodyPr wrap="none" lIns="0" rIns="0" tIns="0" bIns="0">
            <a:spAutoFit/>
          </a:bodyPr>
          <a:lstStyle/>
          <a:p>
            <a:r>
              <a:rPr sz="1011" b="0">
                <a:solidFill>
                  <a:srgbClr val="2E2E2E"/>
                </a:solidFill>
                <a:latin typeface="Calibri"/>
              </a:rPr>
              <a:t>Adoption Depth</a:t>
            </a:r>
          </a:p>
        </p:txBody>
      </p:sp>
      <p:pic>
        <p:nvPicPr>
          <p:cNvPr id="78" name="Picture 77" descr="lock.png"/>
          <p:cNvPicPr>
            <a:picLocks noChangeAspect="1"/>
          </p:cNvPicPr>
          <p:nvPr/>
        </p:nvPicPr>
        <p:blipFill>
          <a:blip r:embed="rId4"/>
          <a:stretch>
            <a:fillRect/>
          </a:stretch>
        </p:blipFill>
        <p:spPr>
          <a:xfrm>
            <a:off x="9407087" y="6058248"/>
            <a:ext cx="118403" cy="172222"/>
          </a:xfrm>
          <a:prstGeom prst="rect">
            <a:avLst/>
          </a:prstGeom>
        </p:spPr>
      </p:pic>
      <p:sp>
        <p:nvSpPr>
          <p:cNvPr id="79" name="TextBox 78"/>
          <p:cNvSpPr txBox="1"/>
          <p:nvPr/>
        </p:nvSpPr>
        <p:spPr>
          <a:xfrm>
            <a:off x="7534275" y="6305860"/>
            <a:ext cx="955786" cy="173278"/>
          </a:xfrm>
          <a:prstGeom prst="rect">
            <a:avLst/>
          </a:prstGeom>
          <a:noFill/>
        </p:spPr>
        <p:txBody>
          <a:bodyPr wrap="none" lIns="0" rIns="0" tIns="0" bIns="0">
            <a:spAutoFit/>
          </a:bodyPr>
          <a:lstStyle/>
          <a:p>
            <a:r>
              <a:rPr sz="1011" b="0">
                <a:solidFill>
                  <a:srgbClr val="2E2E2E"/>
                </a:solidFill>
                <a:latin typeface="Calibri"/>
              </a:rPr>
              <a:t>Consumer Reach</a:t>
            </a:r>
          </a:p>
        </p:txBody>
      </p:sp>
      <p:pic>
        <p:nvPicPr>
          <p:cNvPr id="80" name="Picture 79" descr="lock.png"/>
          <p:cNvPicPr>
            <a:picLocks noChangeAspect="1"/>
          </p:cNvPicPr>
          <p:nvPr/>
        </p:nvPicPr>
        <p:blipFill>
          <a:blip r:embed="rId4"/>
          <a:stretch>
            <a:fillRect/>
          </a:stretch>
        </p:blipFill>
        <p:spPr>
          <a:xfrm>
            <a:off x="8436172" y="6296863"/>
            <a:ext cx="118403" cy="172222"/>
          </a:xfrm>
          <a:prstGeom prst="rect">
            <a:avLst/>
          </a:prstGeom>
        </p:spPr>
      </p:pic>
      <p:sp>
        <p:nvSpPr>
          <p:cNvPr id="81" name="TextBox 80"/>
          <p:cNvSpPr txBox="1"/>
          <p:nvPr/>
        </p:nvSpPr>
        <p:spPr>
          <a:xfrm>
            <a:off x="209550" y="1496754"/>
            <a:ext cx="3188617" cy="186689"/>
          </a:xfrm>
          <a:prstGeom prst="rect">
            <a:avLst/>
          </a:prstGeom>
          <a:noFill/>
        </p:spPr>
        <p:txBody>
          <a:bodyPr wrap="none" lIns="0" rIns="0" tIns="0" bIns="0">
            <a:spAutoFit/>
          </a:bodyPr>
          <a:lstStyle/>
          <a:p>
            <a:r>
              <a:rPr sz="1100" b="0">
                <a:solidFill>
                  <a:srgbClr val="2E2E2E"/>
                </a:solidFill>
                <a:latin typeface="Calibri"/>
              </a:rPr>
              <a:t>▪ Demand-side conditions are led by Consumer Reach (</a:t>
            </a:r>
          </a:p>
        </p:txBody>
      </p:sp>
      <p:pic>
        <p:nvPicPr>
          <p:cNvPr id="82" name="Picture 81" descr="lock.png"/>
          <p:cNvPicPr>
            <a:picLocks noChangeAspect="1"/>
          </p:cNvPicPr>
          <p:nvPr/>
        </p:nvPicPr>
        <p:blipFill>
          <a:blip r:embed="rId4"/>
          <a:stretch>
            <a:fillRect/>
          </a:stretch>
        </p:blipFill>
        <p:spPr>
          <a:xfrm>
            <a:off x="3346219" y="1486975"/>
            <a:ext cx="128699" cy="187198"/>
          </a:xfrm>
          <a:prstGeom prst="rect">
            <a:avLst/>
          </a:prstGeom>
        </p:spPr>
      </p:pic>
      <p:sp>
        <p:nvSpPr>
          <p:cNvPr id="83" name="TextBox 82"/>
          <p:cNvSpPr txBox="1"/>
          <p:nvPr/>
        </p:nvSpPr>
        <p:spPr>
          <a:xfrm>
            <a:off x="3513715" y="1496754"/>
            <a:ext cx="1204441" cy="186689"/>
          </a:xfrm>
          <a:prstGeom prst="rect">
            <a:avLst/>
          </a:prstGeom>
          <a:noFill/>
        </p:spPr>
        <p:txBody>
          <a:bodyPr wrap="none" lIns="0" rIns="0" tIns="0" bIns="0">
            <a:spAutoFit/>
          </a:bodyPr>
          <a:lstStyle/>
          <a:p>
            <a:r>
              <a:rPr sz="1100" b="0">
                <a:solidFill>
                  <a:srgbClr val="2E2E2E"/>
                </a:solidFill>
                <a:latin typeface="Calibri"/>
              </a:rPr>
              <a:t>/10), App. Breadth (</a:t>
            </a:r>
          </a:p>
        </p:txBody>
      </p:sp>
      <p:pic>
        <p:nvPicPr>
          <p:cNvPr id="84" name="Picture 83" descr="lock.png"/>
          <p:cNvPicPr>
            <a:picLocks noChangeAspect="1"/>
          </p:cNvPicPr>
          <p:nvPr/>
        </p:nvPicPr>
        <p:blipFill>
          <a:blip r:embed="rId4"/>
          <a:stretch>
            <a:fillRect/>
          </a:stretch>
        </p:blipFill>
        <p:spPr>
          <a:xfrm>
            <a:off x="4666207" y="1486975"/>
            <a:ext cx="128699" cy="187198"/>
          </a:xfrm>
          <a:prstGeom prst="rect">
            <a:avLst/>
          </a:prstGeom>
        </p:spPr>
      </p:pic>
      <p:sp>
        <p:nvSpPr>
          <p:cNvPr id="85" name="TextBox 84"/>
          <p:cNvSpPr txBox="1"/>
          <p:nvPr/>
        </p:nvSpPr>
        <p:spPr>
          <a:xfrm>
            <a:off x="4833703" y="1496754"/>
            <a:ext cx="1606078" cy="186689"/>
          </a:xfrm>
          <a:prstGeom prst="rect">
            <a:avLst/>
          </a:prstGeom>
          <a:noFill/>
        </p:spPr>
        <p:txBody>
          <a:bodyPr wrap="none" lIns="0" rIns="0" tIns="0" bIns="0">
            <a:spAutoFit/>
          </a:bodyPr>
          <a:lstStyle/>
          <a:p>
            <a:r>
              <a:rPr sz="1100" b="0">
                <a:solidFill>
                  <a:srgbClr val="2E2E2E"/>
                </a:solidFill>
                <a:latin typeface="Calibri"/>
              </a:rPr>
              <a:t>/10), Volume Momentum (</a:t>
            </a:r>
          </a:p>
        </p:txBody>
      </p:sp>
      <p:pic>
        <p:nvPicPr>
          <p:cNvPr id="86" name="Picture 85" descr="lock.png"/>
          <p:cNvPicPr>
            <a:picLocks noChangeAspect="1"/>
          </p:cNvPicPr>
          <p:nvPr/>
        </p:nvPicPr>
        <p:blipFill>
          <a:blip r:embed="rId4"/>
          <a:stretch>
            <a:fillRect/>
          </a:stretch>
        </p:blipFill>
        <p:spPr>
          <a:xfrm>
            <a:off x="6387834" y="1486975"/>
            <a:ext cx="128699" cy="187198"/>
          </a:xfrm>
          <a:prstGeom prst="rect">
            <a:avLst/>
          </a:prstGeom>
        </p:spPr>
      </p:pic>
      <p:sp>
        <p:nvSpPr>
          <p:cNvPr id="87" name="TextBox 86"/>
          <p:cNvSpPr txBox="1"/>
          <p:nvPr/>
        </p:nvSpPr>
        <p:spPr>
          <a:xfrm>
            <a:off x="6555329" y="1496754"/>
            <a:ext cx="493117" cy="186689"/>
          </a:xfrm>
          <a:prstGeom prst="rect">
            <a:avLst/>
          </a:prstGeom>
          <a:noFill/>
        </p:spPr>
        <p:txBody>
          <a:bodyPr wrap="none" lIns="0" rIns="0" tIns="0" bIns="0">
            <a:spAutoFit/>
          </a:bodyPr>
          <a:lstStyle/>
          <a:p>
            <a:r>
              <a:rPr sz="1100" b="0">
                <a:solidFill>
                  <a:srgbClr val="2E2E2E"/>
                </a:solidFill>
                <a:latin typeface="Calibri"/>
              </a:rPr>
              <a:t>/10) on</a:t>
            </a:r>
          </a:p>
        </p:txBody>
      </p:sp>
      <p:sp>
        <p:nvSpPr>
          <p:cNvPr id="88" name="TextBox 87"/>
          <p:cNvSpPr txBox="1"/>
          <p:nvPr/>
        </p:nvSpPr>
        <p:spPr>
          <a:xfrm>
            <a:off x="209550" y="1664394"/>
            <a:ext cx="2862560" cy="186689"/>
          </a:xfrm>
          <a:prstGeom prst="rect">
            <a:avLst/>
          </a:prstGeom>
          <a:noFill/>
        </p:spPr>
        <p:txBody>
          <a:bodyPr wrap="none" lIns="0" rIns="0" tIns="0" bIns="0">
            <a:spAutoFit/>
          </a:bodyPr>
          <a:lstStyle/>
          <a:p>
            <a:r>
              <a:rPr sz="1100" b="0">
                <a:solidFill>
                  <a:srgbClr val="2E2E2E"/>
                </a:solidFill>
                <a:latin typeface="Calibri"/>
              </a:rPr>
              <a:t>a 0-10 scale scored from the global dataset itself.</a:t>
            </a:r>
          </a:p>
        </p:txBody>
      </p:sp>
      <p:sp>
        <p:nvSpPr>
          <p:cNvPr id="89" name="TextBox 88"/>
          <p:cNvSpPr txBox="1"/>
          <p:nvPr/>
        </p:nvSpPr>
        <p:spPr>
          <a:xfrm>
            <a:off x="209550" y="1945648"/>
            <a:ext cx="998438" cy="186689"/>
          </a:xfrm>
          <a:prstGeom prst="rect">
            <a:avLst/>
          </a:prstGeom>
          <a:noFill/>
        </p:spPr>
        <p:txBody>
          <a:bodyPr wrap="none" lIns="0" rIns="0" tIns="0" bIns="0">
            <a:spAutoFit/>
          </a:bodyPr>
          <a:lstStyle/>
          <a:p>
            <a:r>
              <a:rPr sz="1100" b="0">
                <a:solidFill>
                  <a:srgbClr val="2E2E2E"/>
                </a:solidFill>
                <a:latin typeface="Calibri"/>
              </a:rPr>
              <a:t>▪ Value grows at</a:t>
            </a:r>
          </a:p>
        </p:txBody>
      </p:sp>
      <p:pic>
        <p:nvPicPr>
          <p:cNvPr id="90" name="Picture 89" descr="lock.png"/>
          <p:cNvPicPr>
            <a:picLocks noChangeAspect="1"/>
          </p:cNvPicPr>
          <p:nvPr/>
        </p:nvPicPr>
        <p:blipFill>
          <a:blip r:embed="rId4"/>
          <a:stretch>
            <a:fillRect/>
          </a:stretch>
        </p:blipFill>
        <p:spPr>
          <a:xfrm>
            <a:off x="1156039" y="1935869"/>
            <a:ext cx="128699" cy="187198"/>
          </a:xfrm>
          <a:prstGeom prst="rect">
            <a:avLst/>
          </a:prstGeom>
        </p:spPr>
      </p:pic>
      <p:sp>
        <p:nvSpPr>
          <p:cNvPr id="91" name="TextBox 90"/>
          <p:cNvSpPr txBox="1"/>
          <p:nvPr/>
        </p:nvSpPr>
        <p:spPr>
          <a:xfrm>
            <a:off x="1323535" y="1945648"/>
            <a:ext cx="1083295" cy="186689"/>
          </a:xfrm>
          <a:prstGeom prst="rect">
            <a:avLst/>
          </a:prstGeom>
          <a:noFill/>
        </p:spPr>
        <p:txBody>
          <a:bodyPr wrap="none" lIns="0" rIns="0" tIns="0" bIns="0">
            <a:spAutoFit/>
          </a:bodyPr>
          <a:lstStyle/>
          <a:p>
            <a:r>
              <a:rPr sz="1100" b="0">
                <a:solidFill>
                  <a:srgbClr val="2E2E2E"/>
                </a:solidFill>
                <a:latin typeface="Calibri"/>
              </a:rPr>
              <a:t>against volume at</a:t>
            </a:r>
          </a:p>
        </p:txBody>
      </p:sp>
      <p:pic>
        <p:nvPicPr>
          <p:cNvPr id="92" name="Picture 91" descr="lock.png"/>
          <p:cNvPicPr>
            <a:picLocks noChangeAspect="1"/>
          </p:cNvPicPr>
          <p:nvPr/>
        </p:nvPicPr>
        <p:blipFill>
          <a:blip r:embed="rId4"/>
          <a:stretch>
            <a:fillRect/>
          </a:stretch>
        </p:blipFill>
        <p:spPr>
          <a:xfrm>
            <a:off x="2354882" y="1935869"/>
            <a:ext cx="128699" cy="187198"/>
          </a:xfrm>
          <a:prstGeom prst="rect">
            <a:avLst/>
          </a:prstGeom>
        </p:spPr>
      </p:pic>
      <p:sp>
        <p:nvSpPr>
          <p:cNvPr id="93" name="TextBox 92"/>
          <p:cNvSpPr txBox="1"/>
          <p:nvPr/>
        </p:nvSpPr>
        <p:spPr>
          <a:xfrm>
            <a:off x="2522378" y="1945648"/>
            <a:ext cx="2230090" cy="186689"/>
          </a:xfrm>
          <a:prstGeom prst="rect">
            <a:avLst/>
          </a:prstGeom>
          <a:noFill/>
        </p:spPr>
        <p:txBody>
          <a:bodyPr wrap="none" lIns="0" rIns="0" tIns="0" bIns="0">
            <a:spAutoFit/>
          </a:bodyPr>
          <a:lstStyle/>
          <a:p>
            <a:r>
              <a:rPr sz="1100" b="0">
                <a:solidFill>
                  <a:srgbClr val="2E2E2E"/>
                </a:solidFill>
                <a:latin typeface="Calibri"/>
              </a:rPr>
              <a:t>a premiumising market through 2036.</a:t>
            </a:r>
          </a:p>
        </p:txBody>
      </p:sp>
      <p:sp>
        <p:nvSpPr>
          <p:cNvPr id="94" name="TextBox 93"/>
          <p:cNvSpPr txBox="1"/>
          <p:nvPr/>
        </p:nvSpPr>
        <p:spPr>
          <a:xfrm>
            <a:off x="209550" y="2310722"/>
            <a:ext cx="1804714" cy="186689"/>
          </a:xfrm>
          <a:prstGeom prst="rect">
            <a:avLst/>
          </a:prstGeom>
          <a:noFill/>
        </p:spPr>
        <p:txBody>
          <a:bodyPr wrap="none" lIns="0" rIns="0" tIns="0" bIns="0">
            <a:spAutoFit/>
          </a:bodyPr>
          <a:lstStyle/>
          <a:p>
            <a:r>
              <a:rPr sz="1100" b="0">
                <a:solidFill>
                  <a:srgbClr val="2E2E2E"/>
                </a:solidFill>
                <a:latin typeface="Calibri"/>
              </a:rPr>
              <a:t>▪ 'Diesel Engine-Driven' carries</a:t>
            </a:r>
          </a:p>
        </p:txBody>
      </p:sp>
      <p:pic>
        <p:nvPicPr>
          <p:cNvPr id="95" name="Picture 94" descr="lock.png"/>
          <p:cNvPicPr>
            <a:picLocks noChangeAspect="1"/>
          </p:cNvPicPr>
          <p:nvPr/>
        </p:nvPicPr>
        <p:blipFill>
          <a:blip r:embed="rId4"/>
          <a:stretch>
            <a:fillRect/>
          </a:stretch>
        </p:blipFill>
        <p:spPr>
          <a:xfrm>
            <a:off x="1962316" y="2300943"/>
            <a:ext cx="128699" cy="187198"/>
          </a:xfrm>
          <a:prstGeom prst="rect">
            <a:avLst/>
          </a:prstGeom>
        </p:spPr>
      </p:pic>
      <p:sp>
        <p:nvSpPr>
          <p:cNvPr id="96" name="TextBox 95"/>
          <p:cNvSpPr txBox="1"/>
          <p:nvPr/>
        </p:nvSpPr>
        <p:spPr>
          <a:xfrm>
            <a:off x="2129812" y="2310722"/>
            <a:ext cx="4279478" cy="186689"/>
          </a:xfrm>
          <a:prstGeom prst="rect">
            <a:avLst/>
          </a:prstGeom>
          <a:noFill/>
        </p:spPr>
        <p:txBody>
          <a:bodyPr wrap="none" lIns="0" rIns="0" tIns="0" bIns="0">
            <a:spAutoFit/>
          </a:bodyPr>
          <a:lstStyle/>
          <a:p>
            <a:r>
              <a:rPr sz="1100" b="0">
                <a:solidFill>
                  <a:srgbClr val="2E2E2E"/>
                </a:solidFill>
                <a:latin typeface="Calibri"/>
              </a:rPr>
              <a:t>of driver type demand while 'Steam Turbine-Driven' compounds fastest at</a:t>
            </a:r>
          </a:p>
        </p:txBody>
      </p:sp>
      <p:pic>
        <p:nvPicPr>
          <p:cNvPr id="97" name="Picture 96" descr="lock.png"/>
          <p:cNvPicPr>
            <a:picLocks noChangeAspect="1"/>
          </p:cNvPicPr>
          <p:nvPr/>
        </p:nvPicPr>
        <p:blipFill>
          <a:blip r:embed="rId4"/>
          <a:stretch>
            <a:fillRect/>
          </a:stretch>
        </p:blipFill>
        <p:spPr>
          <a:xfrm>
            <a:off x="6357341" y="2300943"/>
            <a:ext cx="128699" cy="187198"/>
          </a:xfrm>
          <a:prstGeom prst="rect">
            <a:avLst/>
          </a:prstGeom>
        </p:spPr>
      </p:pic>
      <p:sp>
        <p:nvSpPr>
          <p:cNvPr id="98" name="TextBox 97"/>
          <p:cNvSpPr txBox="1"/>
          <p:nvPr/>
        </p:nvSpPr>
        <p:spPr>
          <a:xfrm>
            <a:off x="6524837" y="2310722"/>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99" name="TextBox 98"/>
          <p:cNvSpPr txBox="1"/>
          <p:nvPr/>
        </p:nvSpPr>
        <p:spPr>
          <a:xfrm>
            <a:off x="209550" y="2767064"/>
            <a:ext cx="2476748" cy="186689"/>
          </a:xfrm>
          <a:prstGeom prst="rect">
            <a:avLst/>
          </a:prstGeom>
          <a:noFill/>
        </p:spPr>
        <p:txBody>
          <a:bodyPr wrap="none" lIns="0" rIns="0" tIns="0" bIns="0">
            <a:spAutoFit/>
          </a:bodyPr>
          <a:lstStyle/>
          <a:p>
            <a:r>
              <a:rPr sz="1100" b="0">
                <a:solidFill>
                  <a:srgbClr val="2E2E2E"/>
                </a:solidFill>
                <a:latin typeface="Calibri"/>
              </a:rPr>
              <a:t>▪ Pull is strongest in 'South Asia &amp; Pacific' (</a:t>
            </a:r>
          </a:p>
        </p:txBody>
      </p:sp>
      <p:pic>
        <p:nvPicPr>
          <p:cNvPr id="100" name="Picture 99" descr="lock.png"/>
          <p:cNvPicPr>
            <a:picLocks noChangeAspect="1"/>
          </p:cNvPicPr>
          <p:nvPr/>
        </p:nvPicPr>
        <p:blipFill>
          <a:blip r:embed="rId4"/>
          <a:stretch>
            <a:fillRect/>
          </a:stretch>
        </p:blipFill>
        <p:spPr>
          <a:xfrm>
            <a:off x="2634349" y="2757285"/>
            <a:ext cx="128699" cy="187198"/>
          </a:xfrm>
          <a:prstGeom prst="rect">
            <a:avLst/>
          </a:prstGeom>
        </p:spPr>
      </p:pic>
      <p:sp>
        <p:nvSpPr>
          <p:cNvPr id="101" name="TextBox 100"/>
          <p:cNvSpPr txBox="1"/>
          <p:nvPr/>
        </p:nvSpPr>
        <p:spPr>
          <a:xfrm>
            <a:off x="2801845" y="2767064"/>
            <a:ext cx="531572"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102" name="Picture 101" descr="lock.png"/>
          <p:cNvPicPr>
            <a:picLocks noChangeAspect="1"/>
          </p:cNvPicPr>
          <p:nvPr/>
        </p:nvPicPr>
        <p:blipFill>
          <a:blip r:embed="rId4"/>
          <a:stretch>
            <a:fillRect/>
          </a:stretch>
        </p:blipFill>
        <p:spPr>
          <a:xfrm>
            <a:off x="3281469" y="2757285"/>
            <a:ext cx="128699" cy="187198"/>
          </a:xfrm>
          <a:prstGeom prst="rect">
            <a:avLst/>
          </a:prstGeom>
        </p:spPr>
      </p:pic>
      <p:sp>
        <p:nvSpPr>
          <p:cNvPr id="103" name="TextBox 102"/>
          <p:cNvSpPr txBox="1"/>
          <p:nvPr/>
        </p:nvSpPr>
        <p:spPr>
          <a:xfrm>
            <a:off x="3448965" y="2767064"/>
            <a:ext cx="3522588" cy="186689"/>
          </a:xfrm>
          <a:prstGeom prst="rect">
            <a:avLst/>
          </a:prstGeom>
          <a:noFill/>
        </p:spPr>
        <p:txBody>
          <a:bodyPr wrap="none" lIns="0" rIns="0" tIns="0" bIns="0">
            <a:spAutoFit/>
          </a:bodyPr>
          <a:lstStyle/>
          <a:p>
            <a:r>
              <a:rPr sz="1100" b="0">
                <a:solidFill>
                  <a:srgbClr val="2E2E2E"/>
                </a:solidFill>
                <a:latin typeface="Calibri"/>
              </a:rPr>
              <a:t>BPS versus the market), with 4 of 7 regions at or above pace.</a:t>
            </a:r>
          </a:p>
        </p:txBody>
      </p:sp>
      <p:sp>
        <p:nvSpPr>
          <p:cNvPr id="104" name="TextBox 103"/>
          <p:cNvSpPr txBox="1"/>
          <p:nvPr/>
        </p:nvSpPr>
        <p:spPr>
          <a:xfrm>
            <a:off x="209550" y="3139587"/>
            <a:ext cx="4276204" cy="186689"/>
          </a:xfrm>
          <a:prstGeom prst="rect">
            <a:avLst/>
          </a:prstGeom>
          <a:noFill/>
        </p:spPr>
        <p:txBody>
          <a:bodyPr wrap="none" lIns="0" rIns="0" tIns="0" bIns="0">
            <a:spAutoFit/>
          </a:bodyPr>
          <a:lstStyle/>
          <a:p>
            <a:r>
              <a:rPr sz="1100" b="0">
                <a:solidFill>
                  <a:srgbClr val="2E2E2E"/>
                </a:solidFill>
                <a:latin typeface="Calibri"/>
              </a:rPr>
              <a:t>▪ Reach runs through 7 end use routes, led by 'Industrial Air Separation' at</a:t>
            </a:r>
          </a:p>
        </p:txBody>
      </p:sp>
      <p:pic>
        <p:nvPicPr>
          <p:cNvPr id="105" name="Picture 104" descr="lock.png"/>
          <p:cNvPicPr>
            <a:picLocks noChangeAspect="1"/>
          </p:cNvPicPr>
          <p:nvPr/>
        </p:nvPicPr>
        <p:blipFill>
          <a:blip r:embed="rId4"/>
          <a:stretch>
            <a:fillRect/>
          </a:stretch>
        </p:blipFill>
        <p:spPr>
          <a:xfrm>
            <a:off x="4433805" y="3129808"/>
            <a:ext cx="128699" cy="187198"/>
          </a:xfrm>
          <a:prstGeom prst="rect">
            <a:avLst/>
          </a:prstGeom>
        </p:spPr>
      </p:pic>
      <p:sp>
        <p:nvSpPr>
          <p:cNvPr id="106" name="TextBox 105"/>
          <p:cNvSpPr txBox="1"/>
          <p:nvPr/>
        </p:nvSpPr>
        <p:spPr>
          <a:xfrm>
            <a:off x="4601301" y="3139587"/>
            <a:ext cx="2536229" cy="186689"/>
          </a:xfrm>
          <a:prstGeom prst="rect">
            <a:avLst/>
          </a:prstGeom>
          <a:noFill/>
        </p:spPr>
        <p:txBody>
          <a:bodyPr wrap="none" lIns="0" rIns="0" tIns="0" bIns="0">
            <a:spAutoFit/>
          </a:bodyPr>
          <a:lstStyle/>
          <a:p>
            <a:r>
              <a:rPr sz="1100" b="0">
                <a:solidFill>
                  <a:srgbClr val="2E2E2E"/>
                </a:solidFill>
                <a:latin typeface="Calibri"/>
              </a:rPr>
              <a:t>and with 'Industrial Air Separation' growing</a:t>
            </a:r>
          </a:p>
        </p:txBody>
      </p:sp>
      <p:sp>
        <p:nvSpPr>
          <p:cNvPr id="107" name="TextBox 106"/>
          <p:cNvSpPr txBox="1"/>
          <p:nvPr/>
        </p:nvSpPr>
        <p:spPr>
          <a:xfrm>
            <a:off x="209550" y="3307227"/>
            <a:ext cx="603622" cy="186689"/>
          </a:xfrm>
          <a:prstGeom prst="rect">
            <a:avLst/>
          </a:prstGeom>
          <a:noFill/>
        </p:spPr>
        <p:txBody>
          <a:bodyPr wrap="none" lIns="0" rIns="0" tIns="0" bIns="0">
            <a:spAutoFit/>
          </a:bodyPr>
          <a:lstStyle/>
          <a:p>
            <a:r>
              <a:rPr sz="1100" b="0">
                <a:solidFill>
                  <a:srgbClr val="2E2E2E"/>
                </a:solidFill>
                <a:latin typeface="Calibri"/>
              </a:rPr>
              <a:t>fastest at</a:t>
            </a:r>
          </a:p>
        </p:txBody>
      </p:sp>
      <p:pic>
        <p:nvPicPr>
          <p:cNvPr id="108" name="Picture 107" descr="lock.png"/>
          <p:cNvPicPr>
            <a:picLocks noChangeAspect="1"/>
          </p:cNvPicPr>
          <p:nvPr/>
        </p:nvPicPr>
        <p:blipFill>
          <a:blip r:embed="rId4"/>
          <a:stretch>
            <a:fillRect/>
          </a:stretch>
        </p:blipFill>
        <p:spPr>
          <a:xfrm>
            <a:off x="761223" y="3297448"/>
            <a:ext cx="128699" cy="187198"/>
          </a:xfrm>
          <a:prstGeom prst="rect">
            <a:avLst/>
          </a:prstGeom>
        </p:spPr>
      </p:pic>
      <p:sp>
        <p:nvSpPr>
          <p:cNvPr id="109" name="TextBox 108"/>
          <p:cNvSpPr txBox="1"/>
          <p:nvPr/>
        </p:nvSpPr>
        <p:spPr>
          <a:xfrm>
            <a:off x="928719" y="3307227"/>
            <a:ext cx="111397" cy="186689"/>
          </a:xfrm>
          <a:prstGeom prst="rect">
            <a:avLst/>
          </a:prstGeom>
          <a:noFill/>
        </p:spPr>
        <p:txBody>
          <a:bodyPr wrap="none" lIns="0" rIns="0" tIns="0" bIns="0">
            <a:spAutoFit/>
          </a:bodyPr>
          <a:lstStyle/>
          <a:p>
            <a:r>
              <a:rPr sz="1100" b="0">
                <a:solidFill>
                  <a:srgbClr val="2E2E2E"/>
                </a:solidFill>
                <a:latin typeface="Calibri"/>
              </a:rPr>
              <a:t>.</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Restraints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restraints on the global market and the likelihood of their impact across 2021–2036</a:t>
            </a:r>
          </a:p>
        </p:txBody>
      </p:sp>
      <p:sp>
        <p:nvSpPr>
          <p:cNvPr id="7" name="Rounded Rectangle 6"/>
          <p:cNvSpPr/>
          <p:nvPr/>
        </p:nvSpPr>
        <p:spPr>
          <a:xfrm>
            <a:off x="142875" y="1025515"/>
            <a:ext cx="2038350" cy="255552"/>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Restraints</a:t>
            </a:r>
          </a:p>
        </p:txBody>
      </p:sp>
      <p:sp>
        <p:nvSpPr>
          <p:cNvPr id="9" name="Rectangle 8"/>
          <p:cNvSpPr/>
          <p:nvPr/>
        </p:nvSpPr>
        <p:spPr>
          <a:xfrm>
            <a:off x="142875" y="139058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Other Drive Types Lags the Category and Dilutes Blended Growth</a:t>
            </a:r>
          </a:p>
        </p:txBody>
      </p:sp>
      <p:sp>
        <p:nvSpPr>
          <p:cNvPr id="11" name="TextBox 10"/>
          <p:cNvSpPr txBox="1"/>
          <p:nvPr/>
        </p:nvSpPr>
        <p:spPr>
          <a:xfrm>
            <a:off x="161925" y="1700902"/>
            <a:ext cx="9439275"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2" name="TextBox 11"/>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3" name="TextBox 12"/>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4" name="Rectangle 13"/>
          <p:cNvSpPr/>
          <p:nvPr/>
        </p:nvSpPr>
        <p:spPr>
          <a:xfrm>
            <a:off x="981075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16" name="TextBox 15"/>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17" name="Rectangle 16"/>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19" name="TextBox 18"/>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0" name="Rectangle 19"/>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22" name="TextBox 21"/>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3" name="Rectangle 22"/>
          <p:cNvSpPr/>
          <p:nvPr/>
        </p:nvSpPr>
        <p:spPr>
          <a:xfrm>
            <a:off x="10896600" y="245843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25" name="Connector 24"/>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42875" y="3142944"/>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Uneven Region Performance Caps the Blended Rate</a:t>
            </a:r>
          </a:p>
        </p:txBody>
      </p:sp>
      <p:sp>
        <p:nvSpPr>
          <p:cNvPr id="28" name="TextBox 27"/>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TextBox 28"/>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0" name="TextBox 29"/>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1" name="Rectangle 30"/>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3" name="TextBox 32"/>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4" name="Rectangle 33"/>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6" name="TextBox 35"/>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37" name="Rectangle 36"/>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9" name="TextBox 38"/>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0" name="Rectangle 39"/>
          <p:cNvSpPr/>
          <p:nvPr/>
        </p:nvSpPr>
        <p:spPr>
          <a:xfrm>
            <a:off x="10896600" y="4210785"/>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42" name="Connector 41"/>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142875" y="489529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Concentration Risk Limits Pricing and Sourcing Flexibility</a:t>
            </a:r>
          </a:p>
        </p:txBody>
      </p:sp>
      <p:sp>
        <p:nvSpPr>
          <p:cNvPr id="45" name="TextBox 44"/>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6" name="TextBox 45"/>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47" name="TextBox 46"/>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48" name="Rectangle 47"/>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0" name="TextBox 49"/>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1" name="Rectangle 50"/>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4" name="Rectangle 53"/>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57" name="Rectangle 56"/>
          <p:cNvSpPr/>
          <p:nvPr/>
        </p:nvSpPr>
        <p:spPr>
          <a:xfrm>
            <a:off x="10896600" y="596314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1" name="TextBox 60"/>
          <p:cNvSpPr txBox="1"/>
          <p:nvPr/>
        </p:nvSpPr>
        <p:spPr>
          <a:xfrm>
            <a:off x="190500" y="1837332"/>
            <a:ext cx="1955055" cy="186689"/>
          </a:xfrm>
          <a:prstGeom prst="rect">
            <a:avLst/>
          </a:prstGeom>
          <a:noFill/>
        </p:spPr>
        <p:txBody>
          <a:bodyPr wrap="none" lIns="0" rIns="0" tIns="0" bIns="0">
            <a:spAutoFit/>
          </a:bodyPr>
          <a:lstStyle/>
          <a:p>
            <a:r>
              <a:rPr sz="1100" b="0">
                <a:solidFill>
                  <a:srgbClr val="2E2E2E"/>
                </a:solidFill>
                <a:latin typeface="Calibri"/>
              </a:rPr>
              <a:t>'Other Drive Types' grows at only</a:t>
            </a:r>
          </a:p>
        </p:txBody>
      </p:sp>
      <p:pic>
        <p:nvPicPr>
          <p:cNvPr id="62" name="Picture 61" descr="lock.png"/>
          <p:cNvPicPr>
            <a:picLocks noChangeAspect="1"/>
          </p:cNvPicPr>
          <p:nvPr/>
        </p:nvPicPr>
        <p:blipFill>
          <a:blip r:embed="rId4"/>
          <a:stretch>
            <a:fillRect/>
          </a:stretch>
        </p:blipFill>
        <p:spPr>
          <a:xfrm>
            <a:off x="2093607" y="1827554"/>
            <a:ext cx="128699" cy="187198"/>
          </a:xfrm>
          <a:prstGeom prst="rect">
            <a:avLst/>
          </a:prstGeom>
        </p:spPr>
      </p:pic>
      <p:sp>
        <p:nvSpPr>
          <p:cNvPr id="63" name="TextBox 62"/>
          <p:cNvSpPr txBox="1"/>
          <p:nvPr/>
        </p:nvSpPr>
        <p:spPr>
          <a:xfrm>
            <a:off x="2261103" y="1837332"/>
            <a:ext cx="1579595" cy="186689"/>
          </a:xfrm>
          <a:prstGeom prst="rect">
            <a:avLst/>
          </a:prstGeom>
          <a:noFill/>
        </p:spPr>
        <p:txBody>
          <a:bodyPr wrap="none" lIns="0" rIns="0" tIns="0" bIns="0">
            <a:spAutoFit/>
          </a:bodyPr>
          <a:lstStyle/>
          <a:p>
            <a:r>
              <a:rPr sz="1100" b="0">
                <a:solidFill>
                  <a:srgbClr val="2E2E2E"/>
                </a:solidFill>
                <a:latin typeface="Calibri"/>
              </a:rPr>
              <a:t>CAGR against the market's</a:t>
            </a:r>
          </a:p>
        </p:txBody>
      </p:sp>
      <p:pic>
        <p:nvPicPr>
          <p:cNvPr id="64" name="Picture 63" descr="lock.png"/>
          <p:cNvPicPr>
            <a:picLocks noChangeAspect="1"/>
          </p:cNvPicPr>
          <p:nvPr/>
        </p:nvPicPr>
        <p:blipFill>
          <a:blip r:embed="rId4"/>
          <a:stretch>
            <a:fillRect/>
          </a:stretch>
        </p:blipFill>
        <p:spPr>
          <a:xfrm>
            <a:off x="3788749" y="1827554"/>
            <a:ext cx="128699" cy="187198"/>
          </a:xfrm>
          <a:prstGeom prst="rect">
            <a:avLst/>
          </a:prstGeom>
        </p:spPr>
      </p:pic>
      <p:sp>
        <p:nvSpPr>
          <p:cNvPr id="65" name="TextBox 64"/>
          <p:cNvSpPr txBox="1"/>
          <p:nvPr/>
        </p:nvSpPr>
        <p:spPr>
          <a:xfrm>
            <a:off x="3956245" y="1837332"/>
            <a:ext cx="284112" cy="186689"/>
          </a:xfrm>
          <a:prstGeom prst="rect">
            <a:avLst/>
          </a:prstGeom>
          <a:noFill/>
        </p:spPr>
        <p:txBody>
          <a:bodyPr wrap="none" lIns="0" rIns="0" tIns="0" bIns="0">
            <a:spAutoFit/>
          </a:bodyPr>
          <a:lstStyle/>
          <a:p>
            <a:r>
              <a:rPr sz="1100" b="0">
                <a:solidFill>
                  <a:srgbClr val="2E2E2E"/>
                </a:solidFill>
                <a:latin typeface="Calibri"/>
              </a:rPr>
              <a:t>, a -</a:t>
            </a:r>
          </a:p>
        </p:txBody>
      </p:sp>
      <p:pic>
        <p:nvPicPr>
          <p:cNvPr id="66" name="Picture 65" descr="lock.png"/>
          <p:cNvPicPr>
            <a:picLocks noChangeAspect="1"/>
          </p:cNvPicPr>
          <p:nvPr/>
        </p:nvPicPr>
        <p:blipFill>
          <a:blip r:embed="rId4"/>
          <a:stretch>
            <a:fillRect/>
          </a:stretch>
        </p:blipFill>
        <p:spPr>
          <a:xfrm>
            <a:off x="4188410" y="1827554"/>
            <a:ext cx="128699" cy="187198"/>
          </a:xfrm>
          <a:prstGeom prst="rect">
            <a:avLst/>
          </a:prstGeom>
        </p:spPr>
      </p:pic>
      <p:sp>
        <p:nvSpPr>
          <p:cNvPr id="67" name="TextBox 66"/>
          <p:cNvSpPr txBox="1"/>
          <p:nvPr/>
        </p:nvSpPr>
        <p:spPr>
          <a:xfrm>
            <a:off x="4355906" y="1837332"/>
            <a:ext cx="3043187" cy="186689"/>
          </a:xfrm>
          <a:prstGeom prst="rect">
            <a:avLst/>
          </a:prstGeom>
          <a:noFill/>
        </p:spPr>
        <p:txBody>
          <a:bodyPr wrap="none" lIns="0" rIns="0" tIns="0" bIns="0">
            <a:spAutoFit/>
          </a:bodyPr>
          <a:lstStyle/>
          <a:p>
            <a:r>
              <a:rPr sz="1100" b="0">
                <a:solidFill>
                  <a:srgbClr val="2E2E2E"/>
                </a:solidFill>
                <a:latin typeface="Calibri"/>
              </a:rPr>
              <a:t>BPS gap, and 'Natural Gas Engine-Driven' surrenders</a:t>
            </a:r>
          </a:p>
        </p:txBody>
      </p:sp>
      <p:pic>
        <p:nvPicPr>
          <p:cNvPr id="68" name="Picture 67" descr="lock.png"/>
          <p:cNvPicPr>
            <a:picLocks noChangeAspect="1"/>
          </p:cNvPicPr>
          <p:nvPr/>
        </p:nvPicPr>
        <p:blipFill>
          <a:blip r:embed="rId4"/>
          <a:stretch>
            <a:fillRect/>
          </a:stretch>
        </p:blipFill>
        <p:spPr>
          <a:xfrm>
            <a:off x="7347145" y="1827554"/>
            <a:ext cx="128699" cy="187198"/>
          </a:xfrm>
          <a:prstGeom prst="rect">
            <a:avLst/>
          </a:prstGeom>
        </p:spPr>
      </p:pic>
      <p:sp>
        <p:nvSpPr>
          <p:cNvPr id="69" name="TextBox 68"/>
          <p:cNvSpPr txBox="1"/>
          <p:nvPr/>
        </p:nvSpPr>
        <p:spPr>
          <a:xfrm>
            <a:off x="7514641" y="1837332"/>
            <a:ext cx="1433909" cy="186689"/>
          </a:xfrm>
          <a:prstGeom prst="rect">
            <a:avLst/>
          </a:prstGeom>
          <a:noFill/>
        </p:spPr>
        <p:txBody>
          <a:bodyPr wrap="none" lIns="0" rIns="0" tIns="0" bIns="0">
            <a:spAutoFit/>
          </a:bodyPr>
          <a:lstStyle/>
          <a:p>
            <a:r>
              <a:rPr sz="1100" b="0">
                <a:solidFill>
                  <a:srgbClr val="2E2E2E"/>
                </a:solidFill>
                <a:latin typeface="Calibri"/>
              </a:rPr>
              <a:t>BPS of driver type share</a:t>
            </a:r>
          </a:p>
        </p:txBody>
      </p:sp>
      <p:sp>
        <p:nvSpPr>
          <p:cNvPr id="70" name="TextBox 69"/>
          <p:cNvSpPr txBox="1"/>
          <p:nvPr/>
        </p:nvSpPr>
        <p:spPr>
          <a:xfrm>
            <a:off x="190500" y="2004972"/>
            <a:ext cx="9382125" cy="186689"/>
          </a:xfrm>
          <a:prstGeom prst="rect">
            <a:avLst/>
          </a:prstGeom>
          <a:noFill/>
        </p:spPr>
        <p:txBody>
          <a:bodyPr wrap="none" lIns="0" rIns="0" tIns="0" bIns="0">
            <a:spAutoFit/>
          </a:bodyPr>
          <a:lstStyle/>
          <a:p>
            <a:r>
              <a:rPr sz="1100" b="0">
                <a:solidFill>
                  <a:srgbClr val="2E2E2E"/>
                </a:solidFill>
                <a:latin typeface="Calibri"/>
              </a:rPr>
              <a:t>between 2026 and 2036. Because these lines still carry meaningful volume, the drag is absorbed by the whole category: blended growth sits below what the leading</a:t>
            </a:r>
          </a:p>
        </p:txBody>
      </p:sp>
      <p:sp>
        <p:nvSpPr>
          <p:cNvPr id="71" name="TextBox 70"/>
          <p:cNvSpPr txBox="1"/>
          <p:nvPr/>
        </p:nvSpPr>
        <p:spPr>
          <a:xfrm>
            <a:off x="190500" y="2172613"/>
            <a:ext cx="8853016" cy="186689"/>
          </a:xfrm>
          <a:prstGeom prst="rect">
            <a:avLst/>
          </a:prstGeom>
          <a:noFill/>
        </p:spPr>
        <p:txBody>
          <a:bodyPr wrap="none" lIns="0" rIns="0" tIns="0" bIns="0">
            <a:spAutoFit/>
          </a:bodyPr>
          <a:lstStyle/>
          <a:p>
            <a:r>
              <a:rPr sz="1100" b="0">
                <a:solidFill>
                  <a:srgbClr val="2E2E2E"/>
                </a:solidFill>
                <a:latin typeface="Calibri"/>
              </a:rPr>
              <a:t>lines achieve on their own. Rationalising or repositioning the lagging end of a 6-line portfolio is therefore a precondition for realising the headline forecast.</a:t>
            </a:r>
          </a:p>
        </p:txBody>
      </p:sp>
      <p:sp>
        <p:nvSpPr>
          <p:cNvPr id="72" name="TextBox 71"/>
          <p:cNvSpPr txBox="1"/>
          <p:nvPr/>
        </p:nvSpPr>
        <p:spPr>
          <a:xfrm>
            <a:off x="190500" y="3498419"/>
            <a:ext cx="1731590" cy="186689"/>
          </a:xfrm>
          <a:prstGeom prst="rect">
            <a:avLst/>
          </a:prstGeom>
          <a:noFill/>
        </p:spPr>
        <p:txBody>
          <a:bodyPr wrap="none" lIns="0" rIns="0" tIns="0" bIns="0">
            <a:spAutoFit/>
          </a:bodyPr>
          <a:lstStyle/>
          <a:p>
            <a:r>
              <a:rPr sz="1100" b="0">
                <a:solidFill>
                  <a:srgbClr val="2E2E2E"/>
                </a:solidFill>
                <a:latin typeface="Calibri"/>
              </a:rPr>
              <a:t>'North America' grows at just</a:t>
            </a:r>
          </a:p>
        </p:txBody>
      </p:sp>
      <p:pic>
        <p:nvPicPr>
          <p:cNvPr id="73" name="Picture 72" descr="lock.png"/>
          <p:cNvPicPr>
            <a:picLocks noChangeAspect="1"/>
          </p:cNvPicPr>
          <p:nvPr/>
        </p:nvPicPr>
        <p:blipFill>
          <a:blip r:embed="rId4"/>
          <a:stretch>
            <a:fillRect/>
          </a:stretch>
        </p:blipFill>
        <p:spPr>
          <a:xfrm>
            <a:off x="1870142" y="3488640"/>
            <a:ext cx="128699" cy="187198"/>
          </a:xfrm>
          <a:prstGeom prst="rect">
            <a:avLst/>
          </a:prstGeom>
        </p:spPr>
      </p:pic>
      <p:sp>
        <p:nvSpPr>
          <p:cNvPr id="74" name="TextBox 73"/>
          <p:cNvSpPr txBox="1"/>
          <p:nvPr/>
        </p:nvSpPr>
        <p:spPr>
          <a:xfrm>
            <a:off x="2037637" y="3498419"/>
            <a:ext cx="469907"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75" name="Picture 74" descr="lock.png"/>
          <p:cNvPicPr>
            <a:picLocks noChangeAspect="1"/>
          </p:cNvPicPr>
          <p:nvPr/>
        </p:nvPicPr>
        <p:blipFill>
          <a:blip r:embed="rId4"/>
          <a:stretch>
            <a:fillRect/>
          </a:stretch>
        </p:blipFill>
        <p:spPr>
          <a:xfrm>
            <a:off x="2455597" y="3488640"/>
            <a:ext cx="128699" cy="187198"/>
          </a:xfrm>
          <a:prstGeom prst="rect">
            <a:avLst/>
          </a:prstGeom>
        </p:spPr>
      </p:pic>
      <p:sp>
        <p:nvSpPr>
          <p:cNvPr id="76" name="TextBox 75"/>
          <p:cNvSpPr txBox="1"/>
          <p:nvPr/>
        </p:nvSpPr>
        <p:spPr>
          <a:xfrm>
            <a:off x="2623093" y="3498419"/>
            <a:ext cx="6616997" cy="186689"/>
          </a:xfrm>
          <a:prstGeom prst="rect">
            <a:avLst/>
          </a:prstGeom>
          <a:noFill/>
        </p:spPr>
        <p:txBody>
          <a:bodyPr wrap="none" lIns="0" rIns="0" tIns="0" bIns="0">
            <a:spAutoFit/>
          </a:bodyPr>
          <a:lstStyle/>
          <a:p>
            <a:r>
              <a:rPr sz="1100" b="0">
                <a:solidFill>
                  <a:srgbClr val="2E2E2E"/>
                </a:solidFill>
                <a:latin typeface="Calibri"/>
              </a:rPr>
              <a:t>BPS against the market and 3 of 7 regions sit below the market pace altogether. Demand is therefore not uniformly</a:t>
            </a:r>
          </a:p>
        </p:txBody>
      </p:sp>
      <p:sp>
        <p:nvSpPr>
          <p:cNvPr id="77" name="TextBox 76"/>
          <p:cNvSpPr txBox="1"/>
          <p:nvPr/>
        </p:nvSpPr>
        <p:spPr>
          <a:xfrm>
            <a:off x="190500" y="3666059"/>
            <a:ext cx="8618091" cy="186689"/>
          </a:xfrm>
          <a:prstGeom prst="rect">
            <a:avLst/>
          </a:prstGeom>
          <a:noFill/>
        </p:spPr>
        <p:txBody>
          <a:bodyPr wrap="none" lIns="0" rIns="0" tIns="0" bIns="0">
            <a:spAutoFit/>
          </a:bodyPr>
          <a:lstStyle/>
          <a:p>
            <a:r>
              <a:rPr sz="1100" b="0">
                <a:solidFill>
                  <a:srgbClr val="2E2E2E"/>
                </a:solidFill>
                <a:latin typeface="Calibri"/>
              </a:rPr>
              <a:t>available: suppliers carrying a broad geographic footprint fund presence in slow regions out of returns earned in the fast ones. With 'North America' at</a:t>
            </a:r>
          </a:p>
        </p:txBody>
      </p:sp>
      <p:pic>
        <p:nvPicPr>
          <p:cNvPr id="78" name="Picture 77" descr="lock.png"/>
          <p:cNvPicPr>
            <a:picLocks noChangeAspect="1"/>
          </p:cNvPicPr>
          <p:nvPr/>
        </p:nvPicPr>
        <p:blipFill>
          <a:blip r:embed="rId4"/>
          <a:stretch>
            <a:fillRect/>
          </a:stretch>
        </p:blipFill>
        <p:spPr>
          <a:xfrm>
            <a:off x="8756642" y="3656280"/>
            <a:ext cx="128699" cy="187198"/>
          </a:xfrm>
          <a:prstGeom prst="rect">
            <a:avLst/>
          </a:prstGeom>
        </p:spPr>
      </p:pic>
      <p:sp>
        <p:nvSpPr>
          <p:cNvPr id="79" name="TextBox 78"/>
          <p:cNvSpPr txBox="1"/>
          <p:nvPr/>
        </p:nvSpPr>
        <p:spPr>
          <a:xfrm>
            <a:off x="8924138" y="3666059"/>
            <a:ext cx="564058" cy="186689"/>
          </a:xfrm>
          <a:prstGeom prst="rect">
            <a:avLst/>
          </a:prstGeom>
          <a:noFill/>
        </p:spPr>
        <p:txBody>
          <a:bodyPr wrap="none" lIns="0" rIns="0" tIns="0" bIns="0">
            <a:spAutoFit/>
          </a:bodyPr>
          <a:lstStyle/>
          <a:p>
            <a:r>
              <a:rPr sz="1100" b="0">
                <a:solidFill>
                  <a:srgbClr val="2E2E2E"/>
                </a:solidFill>
                <a:latin typeface="Calibri"/>
              </a:rPr>
              <a:t>of value,</a:t>
            </a:r>
          </a:p>
        </p:txBody>
      </p:sp>
      <p:sp>
        <p:nvSpPr>
          <p:cNvPr id="80" name="TextBox 79"/>
          <p:cNvSpPr txBox="1"/>
          <p:nvPr/>
        </p:nvSpPr>
        <p:spPr>
          <a:xfrm>
            <a:off x="190500" y="3833699"/>
            <a:ext cx="5170338" cy="186689"/>
          </a:xfrm>
          <a:prstGeom prst="rect">
            <a:avLst/>
          </a:prstGeom>
          <a:noFill/>
        </p:spPr>
        <p:txBody>
          <a:bodyPr wrap="none" lIns="0" rIns="0" tIns="0" bIns="0">
            <a:spAutoFit/>
          </a:bodyPr>
          <a:lstStyle/>
          <a:p>
            <a:r>
              <a:rPr sz="1100" b="0">
                <a:solidFill>
                  <a:srgbClr val="2E2E2E"/>
                </a:solidFill>
                <a:latin typeface="Calibri"/>
              </a:rPr>
              <a:t>a shortfall in a single leading region is difficult to offset elsewhere in the forecast window.</a:t>
            </a:r>
          </a:p>
        </p:txBody>
      </p:sp>
      <p:sp>
        <p:nvSpPr>
          <p:cNvPr id="81" name="TextBox 80"/>
          <p:cNvSpPr txBox="1"/>
          <p:nvPr/>
        </p:nvSpPr>
        <p:spPr>
          <a:xfrm>
            <a:off x="190500" y="5250774"/>
            <a:ext cx="3337594" cy="186689"/>
          </a:xfrm>
          <a:prstGeom prst="rect">
            <a:avLst/>
          </a:prstGeom>
          <a:noFill/>
        </p:spPr>
        <p:txBody>
          <a:bodyPr wrap="none" lIns="0" rIns="0" tIns="0" bIns="0">
            <a:spAutoFit/>
          </a:bodyPr>
          <a:lstStyle/>
          <a:p>
            <a:r>
              <a:rPr sz="1100" b="0">
                <a:solidFill>
                  <a:srgbClr val="2E2E2E"/>
                </a:solidFill>
                <a:latin typeface="Calibri"/>
              </a:rPr>
              <a:t>The market is concentrated: 'North America' accounts for</a:t>
            </a:r>
          </a:p>
        </p:txBody>
      </p:sp>
      <p:pic>
        <p:nvPicPr>
          <p:cNvPr id="82" name="Picture 81" descr="lock.png"/>
          <p:cNvPicPr>
            <a:picLocks noChangeAspect="1"/>
          </p:cNvPicPr>
          <p:nvPr/>
        </p:nvPicPr>
        <p:blipFill>
          <a:blip r:embed="rId4"/>
          <a:stretch>
            <a:fillRect/>
          </a:stretch>
        </p:blipFill>
        <p:spPr>
          <a:xfrm>
            <a:off x="3476146" y="5240995"/>
            <a:ext cx="128699" cy="187198"/>
          </a:xfrm>
          <a:prstGeom prst="rect">
            <a:avLst/>
          </a:prstGeom>
        </p:spPr>
      </p:pic>
      <p:sp>
        <p:nvSpPr>
          <p:cNvPr id="83" name="TextBox 82"/>
          <p:cNvSpPr txBox="1"/>
          <p:nvPr/>
        </p:nvSpPr>
        <p:spPr>
          <a:xfrm>
            <a:off x="3643642" y="5250774"/>
            <a:ext cx="2844551" cy="186689"/>
          </a:xfrm>
          <a:prstGeom prst="rect">
            <a:avLst/>
          </a:prstGeom>
          <a:noFill/>
        </p:spPr>
        <p:txBody>
          <a:bodyPr wrap="none" lIns="0" rIns="0" tIns="0" bIns="0">
            <a:spAutoFit/>
          </a:bodyPr>
          <a:lstStyle/>
          <a:p>
            <a:r>
              <a:rPr sz="1100" b="0">
                <a:solidFill>
                  <a:srgbClr val="2E2E2E"/>
                </a:solidFill>
                <a:latin typeface="Calibri"/>
              </a:rPr>
              <a:t>of 2036 value and the leading driver type line for</a:t>
            </a:r>
          </a:p>
        </p:txBody>
      </p:sp>
      <p:pic>
        <p:nvPicPr>
          <p:cNvPr id="84" name="Picture 83" descr="lock.png"/>
          <p:cNvPicPr>
            <a:picLocks noChangeAspect="1"/>
          </p:cNvPicPr>
          <p:nvPr/>
        </p:nvPicPr>
        <p:blipFill>
          <a:blip r:embed="rId4"/>
          <a:stretch>
            <a:fillRect/>
          </a:stretch>
        </p:blipFill>
        <p:spPr>
          <a:xfrm>
            <a:off x="6436245" y="5240995"/>
            <a:ext cx="128699" cy="187198"/>
          </a:xfrm>
          <a:prstGeom prst="rect">
            <a:avLst/>
          </a:prstGeom>
        </p:spPr>
      </p:pic>
      <p:sp>
        <p:nvSpPr>
          <p:cNvPr id="85" name="TextBox 84"/>
          <p:cNvSpPr txBox="1"/>
          <p:nvPr/>
        </p:nvSpPr>
        <p:spPr>
          <a:xfrm>
            <a:off x="6603741" y="5250774"/>
            <a:ext cx="2445058" cy="186689"/>
          </a:xfrm>
          <a:prstGeom prst="rect">
            <a:avLst/>
          </a:prstGeom>
          <a:noFill/>
        </p:spPr>
        <p:txBody>
          <a:bodyPr wrap="none" lIns="0" rIns="0" tIns="0" bIns="0">
            <a:spAutoFit/>
          </a:bodyPr>
          <a:lstStyle/>
          <a:p>
            <a:r>
              <a:rPr sz="1100" b="0">
                <a:solidFill>
                  <a:srgbClr val="2E2E2E"/>
                </a:solidFill>
                <a:latin typeface="Calibri"/>
              </a:rPr>
              <a:t>of its segment. Average realisation moves</a:t>
            </a:r>
          </a:p>
        </p:txBody>
      </p:sp>
      <p:pic>
        <p:nvPicPr>
          <p:cNvPr id="86" name="Picture 85" descr="lock.png"/>
          <p:cNvPicPr>
            <a:picLocks noChangeAspect="1"/>
          </p:cNvPicPr>
          <p:nvPr/>
        </p:nvPicPr>
        <p:blipFill>
          <a:blip r:embed="rId4"/>
          <a:stretch>
            <a:fillRect/>
          </a:stretch>
        </p:blipFill>
        <p:spPr>
          <a:xfrm>
            <a:off x="8996852" y="5240995"/>
            <a:ext cx="128699" cy="187198"/>
          </a:xfrm>
          <a:prstGeom prst="rect">
            <a:avLst/>
          </a:prstGeom>
        </p:spPr>
      </p:pic>
      <p:sp>
        <p:nvSpPr>
          <p:cNvPr id="87" name="TextBox 86"/>
          <p:cNvSpPr txBox="1"/>
          <p:nvPr/>
        </p:nvSpPr>
        <p:spPr>
          <a:xfrm>
            <a:off x="9164347" y="5250774"/>
            <a:ext cx="143048" cy="186689"/>
          </a:xfrm>
          <a:prstGeom prst="rect">
            <a:avLst/>
          </a:prstGeom>
          <a:noFill/>
        </p:spPr>
        <p:txBody>
          <a:bodyPr wrap="none" lIns="0" rIns="0" tIns="0" bIns="0">
            <a:spAutoFit/>
          </a:bodyPr>
          <a:lstStyle/>
          <a:p>
            <a:r>
              <a:rPr sz="1100" b="0">
                <a:solidFill>
                  <a:srgbClr val="2E2E2E"/>
                </a:solidFill>
                <a:latin typeface="Calibri"/>
              </a:rPr>
              <a:t>a</a:t>
            </a:r>
          </a:p>
        </p:txBody>
      </p:sp>
      <p:sp>
        <p:nvSpPr>
          <p:cNvPr id="88" name="TextBox 87"/>
          <p:cNvSpPr txBox="1"/>
          <p:nvPr/>
        </p:nvSpPr>
        <p:spPr>
          <a:xfrm>
            <a:off x="190500" y="5418414"/>
            <a:ext cx="9277846" cy="186689"/>
          </a:xfrm>
          <a:prstGeom prst="rect">
            <a:avLst/>
          </a:prstGeom>
          <a:noFill/>
        </p:spPr>
        <p:txBody>
          <a:bodyPr wrap="none" lIns="0" rIns="0" tIns="0" bIns="0">
            <a:spAutoFit/>
          </a:bodyPr>
          <a:lstStyle/>
          <a:p>
            <a:r>
              <a:rPr sz="1100" b="0">
                <a:solidFill>
                  <a:srgbClr val="2E2E2E"/>
                </a:solidFill>
                <a:latin typeface="Calibri"/>
              </a:rPr>
              <a:t>year, so cost movements cannot be passed on evenly across 7 regions. The practical constraint is the same in either case commercial terms set for the market as a</a:t>
            </a:r>
          </a:p>
        </p:txBody>
      </p:sp>
      <p:sp>
        <p:nvSpPr>
          <p:cNvPr id="89" name="TextBox 88"/>
          <p:cNvSpPr txBox="1"/>
          <p:nvPr/>
        </p:nvSpPr>
        <p:spPr>
          <a:xfrm>
            <a:off x="190500" y="5586054"/>
            <a:ext cx="5940325" cy="186689"/>
          </a:xfrm>
          <a:prstGeom prst="rect">
            <a:avLst/>
          </a:prstGeom>
          <a:noFill/>
        </p:spPr>
        <p:txBody>
          <a:bodyPr wrap="none" lIns="0" rIns="0" tIns="0" bIns="0">
            <a:spAutoFit/>
          </a:bodyPr>
          <a:lstStyle/>
          <a:p>
            <a:r>
              <a:rPr sz="1100" b="0">
                <a:solidFill>
                  <a:srgbClr val="2E2E2E"/>
                </a:solidFill>
                <a:latin typeface="Calibri"/>
              </a:rPr>
              <a:t>whole underserve part of it, and margin is lost in the mismatch rather than in the headline growth rate.</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Opportunities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opportunities in the global market and the likelihood of their impact across 2021–2036</a:t>
            </a:r>
          </a:p>
        </p:txBody>
      </p:sp>
      <p:sp>
        <p:nvSpPr>
          <p:cNvPr id="7" name="Rounded Rectangle 6"/>
          <p:cNvSpPr/>
          <p:nvPr/>
        </p:nvSpPr>
        <p:spPr>
          <a:xfrm>
            <a:off x="142875" y="1025515"/>
            <a:ext cx="2038350" cy="255552"/>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Opportunities</a:t>
            </a:r>
          </a:p>
        </p:txBody>
      </p:sp>
      <p:sp>
        <p:nvSpPr>
          <p:cNvPr id="9" name="Rectangle 8"/>
          <p:cNvSpPr/>
          <p:nvPr/>
        </p:nvSpPr>
        <p:spPr>
          <a:xfrm>
            <a:off x="142875" y="139058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U.S. Carries the Largest Absolute Opportunity</a:t>
            </a:r>
          </a:p>
        </p:txBody>
      </p:sp>
      <p:sp>
        <p:nvSpPr>
          <p:cNvPr id="11" name="TextBox 10"/>
          <p:cNvSpPr txBox="1"/>
          <p:nvPr/>
        </p:nvSpPr>
        <p:spPr>
          <a:xfrm>
            <a:off x="161925" y="170090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2" name="TextBox 11"/>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3" name="TextBox 12"/>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4" name="Rectangle 13"/>
          <p:cNvSpPr/>
          <p:nvPr/>
        </p:nvSpPr>
        <p:spPr>
          <a:xfrm>
            <a:off x="9810750" y="1938200"/>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6" name="TextBox 15"/>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17" name="Rectangle 16"/>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9" name="TextBox 18"/>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0" name="Rectangle 19"/>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2" name="TextBox 21"/>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3" name="Rectangle 22"/>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25" name="Connector 24"/>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42875" y="3142944"/>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France Offers Under-penetrated, Above-pace Headroom</a:t>
            </a:r>
          </a:p>
        </p:txBody>
      </p:sp>
      <p:sp>
        <p:nvSpPr>
          <p:cNvPr id="28" name="TextBox 27"/>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TextBox 28"/>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0" name="TextBox 29"/>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1" name="Rectangle 30"/>
          <p:cNvSpPr/>
          <p:nvPr/>
        </p:nvSpPr>
        <p:spPr>
          <a:xfrm>
            <a:off x="9810750" y="3690555"/>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3" name="TextBox 32"/>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4" name="Rectangle 33"/>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6" name="TextBox 35"/>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37" name="Rectangle 36"/>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9" name="TextBox 38"/>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0" name="Rectangle 39"/>
          <p:cNvSpPr/>
          <p:nvPr/>
        </p:nvSpPr>
        <p:spPr>
          <a:xfrm>
            <a:off x="1089660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42" name="Connector 41"/>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142875" y="489529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Industrial Air Separation Opens the Fastest Route to Market</a:t>
            </a:r>
          </a:p>
        </p:txBody>
      </p:sp>
      <p:sp>
        <p:nvSpPr>
          <p:cNvPr id="45" name="TextBox 44"/>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6" name="TextBox 45"/>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47" name="TextBox 46"/>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48" name="Rectangle 47"/>
          <p:cNvSpPr/>
          <p:nvPr/>
        </p:nvSpPr>
        <p:spPr>
          <a:xfrm>
            <a:off x="9810750" y="544291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0" name="TextBox 49"/>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1" name="Rectangle 50"/>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4" name="Rectangle 53"/>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57" name="Rectangle 56"/>
          <p:cNvSpPr/>
          <p:nvPr/>
        </p:nvSpPr>
        <p:spPr>
          <a:xfrm>
            <a:off x="1089660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1" name="TextBox 60"/>
          <p:cNvSpPr txBox="1"/>
          <p:nvPr/>
        </p:nvSpPr>
        <p:spPr>
          <a:xfrm>
            <a:off x="190500" y="1746064"/>
            <a:ext cx="662012" cy="186689"/>
          </a:xfrm>
          <a:prstGeom prst="rect">
            <a:avLst/>
          </a:prstGeom>
          <a:noFill/>
        </p:spPr>
        <p:txBody>
          <a:bodyPr wrap="none" lIns="0" rIns="0" tIns="0" bIns="0">
            <a:spAutoFit/>
          </a:bodyPr>
          <a:lstStyle/>
          <a:p>
            <a:r>
              <a:rPr sz="1100" b="0">
                <a:solidFill>
                  <a:srgbClr val="2E2E2E"/>
                </a:solidFill>
                <a:latin typeface="Calibri"/>
              </a:rPr>
              <a:t>'U.S.' adds</a:t>
            </a:r>
          </a:p>
        </p:txBody>
      </p:sp>
      <p:pic>
        <p:nvPicPr>
          <p:cNvPr id="62" name="Picture 61" descr="lock.png"/>
          <p:cNvPicPr>
            <a:picLocks noChangeAspect="1"/>
          </p:cNvPicPr>
          <p:nvPr/>
        </p:nvPicPr>
        <p:blipFill>
          <a:blip r:embed="rId4"/>
          <a:stretch>
            <a:fillRect/>
          </a:stretch>
        </p:blipFill>
        <p:spPr>
          <a:xfrm>
            <a:off x="800563" y="1736285"/>
            <a:ext cx="128699" cy="187198"/>
          </a:xfrm>
          <a:prstGeom prst="rect">
            <a:avLst/>
          </a:prstGeom>
        </p:spPr>
      </p:pic>
      <p:sp>
        <p:nvSpPr>
          <p:cNvPr id="63" name="TextBox 62"/>
          <p:cNvSpPr txBox="1"/>
          <p:nvPr/>
        </p:nvSpPr>
        <p:spPr>
          <a:xfrm>
            <a:off x="968059" y="1746064"/>
            <a:ext cx="8433097" cy="186689"/>
          </a:xfrm>
          <a:prstGeom prst="rect">
            <a:avLst/>
          </a:prstGeom>
          <a:noFill/>
        </p:spPr>
        <p:txBody>
          <a:bodyPr wrap="none" lIns="0" rIns="0" tIns="0" bIns="0">
            <a:spAutoFit/>
          </a:bodyPr>
          <a:lstStyle/>
          <a:p>
            <a:r>
              <a:rPr sz="1100" b="0">
                <a:solidFill>
                  <a:srgbClr val="2E2E2E"/>
                </a:solidFill>
                <a:latin typeface="Calibri"/>
              </a:rPr>
              <a:t>US$ Mn between 2026 and 2036 the single largest absolute increment of any geography in the dataset. Capturing it is a question of scale execution</a:t>
            </a:r>
          </a:p>
        </p:txBody>
      </p:sp>
      <p:sp>
        <p:nvSpPr>
          <p:cNvPr id="64" name="TextBox 63"/>
          <p:cNvSpPr txBox="1"/>
          <p:nvPr/>
        </p:nvSpPr>
        <p:spPr>
          <a:xfrm>
            <a:off x="190500" y="1913704"/>
            <a:ext cx="3769245" cy="186689"/>
          </a:xfrm>
          <a:prstGeom prst="rect">
            <a:avLst/>
          </a:prstGeom>
          <a:noFill/>
        </p:spPr>
        <p:txBody>
          <a:bodyPr wrap="none" lIns="0" rIns="0" tIns="0" bIns="0">
            <a:spAutoFit/>
          </a:bodyPr>
          <a:lstStyle/>
          <a:p>
            <a:r>
              <a:rPr sz="1100" b="0">
                <a:solidFill>
                  <a:srgbClr val="2E2E2E"/>
                </a:solidFill>
                <a:latin typeface="Calibri"/>
              </a:rPr>
              <a:t>rather than market creation: demand already exists and grows at</a:t>
            </a:r>
          </a:p>
        </p:txBody>
      </p:sp>
      <p:pic>
        <p:nvPicPr>
          <p:cNvPr id="65" name="Picture 64" descr="lock.png"/>
          <p:cNvPicPr>
            <a:picLocks noChangeAspect="1"/>
          </p:cNvPicPr>
          <p:nvPr/>
        </p:nvPicPr>
        <p:blipFill>
          <a:blip r:embed="rId4"/>
          <a:stretch>
            <a:fillRect/>
          </a:stretch>
        </p:blipFill>
        <p:spPr>
          <a:xfrm>
            <a:off x="3907797" y="1903925"/>
            <a:ext cx="128699" cy="187198"/>
          </a:xfrm>
          <a:prstGeom prst="rect">
            <a:avLst/>
          </a:prstGeom>
        </p:spPr>
      </p:pic>
      <p:sp>
        <p:nvSpPr>
          <p:cNvPr id="66" name="TextBox 65"/>
          <p:cNvSpPr txBox="1"/>
          <p:nvPr/>
        </p:nvSpPr>
        <p:spPr>
          <a:xfrm>
            <a:off x="4075293" y="1913704"/>
            <a:ext cx="5402535" cy="186689"/>
          </a:xfrm>
          <a:prstGeom prst="rect">
            <a:avLst/>
          </a:prstGeom>
          <a:noFill/>
        </p:spPr>
        <p:txBody>
          <a:bodyPr wrap="none" lIns="0" rIns="0" tIns="0" bIns="0">
            <a:spAutoFit/>
          </a:bodyPr>
          <a:lstStyle/>
          <a:p>
            <a:r>
              <a:rPr sz="1100" b="0">
                <a:solidFill>
                  <a:srgbClr val="2E2E2E"/>
                </a:solidFill>
                <a:latin typeface="Calibri"/>
              </a:rPr>
              <a:t>at the market level. Prioritising supply, channel coverage and service levels there converts the</a:t>
            </a:r>
          </a:p>
        </p:txBody>
      </p:sp>
      <p:sp>
        <p:nvSpPr>
          <p:cNvPr id="67" name="TextBox 66"/>
          <p:cNvSpPr txBox="1"/>
          <p:nvPr/>
        </p:nvSpPr>
        <p:spPr>
          <a:xfrm>
            <a:off x="190500" y="2081344"/>
            <a:ext cx="1175246" cy="186689"/>
          </a:xfrm>
          <a:prstGeom prst="rect">
            <a:avLst/>
          </a:prstGeom>
          <a:noFill/>
        </p:spPr>
        <p:txBody>
          <a:bodyPr wrap="none" lIns="0" rIns="0" tIns="0" bIns="0">
            <a:spAutoFit/>
          </a:bodyPr>
          <a:lstStyle/>
          <a:p>
            <a:r>
              <a:rPr sz="1100" b="0">
                <a:solidFill>
                  <a:srgbClr val="2E2E2E"/>
                </a:solidFill>
                <a:latin typeface="Calibri"/>
              </a:rPr>
              <a:t>largest share of the</a:t>
            </a:r>
          </a:p>
        </p:txBody>
      </p:sp>
      <p:pic>
        <p:nvPicPr>
          <p:cNvPr id="68" name="Picture 67" descr="lock.png"/>
          <p:cNvPicPr>
            <a:picLocks noChangeAspect="1"/>
          </p:cNvPicPr>
          <p:nvPr/>
        </p:nvPicPr>
        <p:blipFill>
          <a:blip r:embed="rId4"/>
          <a:stretch>
            <a:fillRect/>
          </a:stretch>
        </p:blipFill>
        <p:spPr>
          <a:xfrm>
            <a:off x="1313797" y="2071565"/>
            <a:ext cx="128699" cy="187198"/>
          </a:xfrm>
          <a:prstGeom prst="rect">
            <a:avLst/>
          </a:prstGeom>
        </p:spPr>
      </p:pic>
      <p:sp>
        <p:nvSpPr>
          <p:cNvPr id="69" name="TextBox 68"/>
          <p:cNvSpPr txBox="1"/>
          <p:nvPr/>
        </p:nvSpPr>
        <p:spPr>
          <a:xfrm>
            <a:off x="1481293" y="2081344"/>
            <a:ext cx="3306489" cy="186689"/>
          </a:xfrm>
          <a:prstGeom prst="rect">
            <a:avLst/>
          </a:prstGeom>
          <a:noFill/>
        </p:spPr>
        <p:txBody>
          <a:bodyPr wrap="none" lIns="0" rIns="0" tIns="0" bIns="0">
            <a:spAutoFit/>
          </a:bodyPr>
          <a:lstStyle/>
          <a:p>
            <a:r>
              <a:rPr sz="1100" b="0">
                <a:solidFill>
                  <a:srgbClr val="2E2E2E"/>
                </a:solidFill>
                <a:latin typeface="Calibri"/>
              </a:rPr>
              <a:t>US$ Mn the whole market adds over the forecast period.</a:t>
            </a:r>
          </a:p>
        </p:txBody>
      </p:sp>
      <p:sp>
        <p:nvSpPr>
          <p:cNvPr id="70" name="TextBox 69"/>
          <p:cNvSpPr txBox="1"/>
          <p:nvPr/>
        </p:nvSpPr>
        <p:spPr>
          <a:xfrm>
            <a:off x="190500" y="3498419"/>
            <a:ext cx="1363240" cy="186689"/>
          </a:xfrm>
          <a:prstGeom prst="rect">
            <a:avLst/>
          </a:prstGeom>
          <a:noFill/>
        </p:spPr>
        <p:txBody>
          <a:bodyPr wrap="none" lIns="0" rIns="0" tIns="0" bIns="0">
            <a:spAutoFit/>
          </a:bodyPr>
          <a:lstStyle/>
          <a:p>
            <a:r>
              <a:rPr sz="1100" b="0">
                <a:solidFill>
                  <a:srgbClr val="2E2E2E"/>
                </a:solidFill>
                <a:latin typeface="Calibri"/>
              </a:rPr>
              <a:t>'France' compounds at</a:t>
            </a:r>
          </a:p>
        </p:txBody>
      </p:sp>
      <p:pic>
        <p:nvPicPr>
          <p:cNvPr id="71" name="Picture 70" descr="lock.png"/>
          <p:cNvPicPr>
            <a:picLocks noChangeAspect="1"/>
          </p:cNvPicPr>
          <p:nvPr/>
        </p:nvPicPr>
        <p:blipFill>
          <a:blip r:embed="rId4"/>
          <a:stretch>
            <a:fillRect/>
          </a:stretch>
        </p:blipFill>
        <p:spPr>
          <a:xfrm>
            <a:off x="1501792" y="3488640"/>
            <a:ext cx="128699" cy="187198"/>
          </a:xfrm>
          <a:prstGeom prst="rect">
            <a:avLst/>
          </a:prstGeom>
        </p:spPr>
      </p:pic>
      <p:sp>
        <p:nvSpPr>
          <p:cNvPr id="72" name="TextBox 71"/>
          <p:cNvSpPr txBox="1"/>
          <p:nvPr/>
        </p:nvSpPr>
        <p:spPr>
          <a:xfrm>
            <a:off x="1669288" y="3498419"/>
            <a:ext cx="7602247" cy="186689"/>
          </a:xfrm>
          <a:prstGeom prst="rect">
            <a:avLst/>
          </a:prstGeom>
          <a:noFill/>
        </p:spPr>
        <p:txBody>
          <a:bodyPr wrap="none" lIns="0" rIns="0" tIns="0" bIns="0">
            <a:spAutoFit/>
          </a:bodyPr>
          <a:lstStyle/>
          <a:p>
            <a:r>
              <a:rPr sz="1100" b="0">
                <a:solidFill>
                  <a:srgbClr val="2E2E2E"/>
                </a:solidFill>
                <a:latin typeface="Calibri"/>
              </a:rPr>
              <a:t>CAGR from a below-median base one of 6 geographies in the dataset combining above-median growth with below-median size. That</a:t>
            </a:r>
          </a:p>
        </p:txBody>
      </p:sp>
      <p:sp>
        <p:nvSpPr>
          <p:cNvPr id="73" name="TextBox 72"/>
          <p:cNvSpPr txBox="1"/>
          <p:nvPr/>
        </p:nvSpPr>
        <p:spPr>
          <a:xfrm>
            <a:off x="190500" y="3666059"/>
            <a:ext cx="4759151" cy="186689"/>
          </a:xfrm>
          <a:prstGeom prst="rect">
            <a:avLst/>
          </a:prstGeom>
          <a:noFill/>
        </p:spPr>
        <p:txBody>
          <a:bodyPr wrap="none" lIns="0" rIns="0" tIns="0" bIns="0">
            <a:spAutoFit/>
          </a:bodyPr>
          <a:lstStyle/>
          <a:p>
            <a:r>
              <a:rPr sz="1100" b="0">
                <a:solidFill>
                  <a:srgbClr val="2E2E2E"/>
                </a:solidFill>
                <a:latin typeface="Calibri"/>
              </a:rPr>
              <a:t>profile is where share is cheapest to buy: competitive intensity is lower than in the</a:t>
            </a:r>
          </a:p>
        </p:txBody>
      </p:sp>
      <p:pic>
        <p:nvPicPr>
          <p:cNvPr id="74" name="Picture 73" descr="lock.png"/>
          <p:cNvPicPr>
            <a:picLocks noChangeAspect="1"/>
          </p:cNvPicPr>
          <p:nvPr/>
        </p:nvPicPr>
        <p:blipFill>
          <a:blip r:embed="rId4"/>
          <a:stretch>
            <a:fillRect/>
          </a:stretch>
        </p:blipFill>
        <p:spPr>
          <a:xfrm>
            <a:off x="4897702" y="3656280"/>
            <a:ext cx="128699" cy="187198"/>
          </a:xfrm>
          <a:prstGeom prst="rect">
            <a:avLst/>
          </a:prstGeom>
        </p:spPr>
      </p:pic>
      <p:sp>
        <p:nvSpPr>
          <p:cNvPr id="75" name="TextBox 74"/>
          <p:cNvSpPr txBox="1"/>
          <p:nvPr/>
        </p:nvSpPr>
        <p:spPr>
          <a:xfrm>
            <a:off x="5065198" y="3666059"/>
            <a:ext cx="2075929" cy="186689"/>
          </a:xfrm>
          <a:prstGeom prst="rect">
            <a:avLst/>
          </a:prstGeom>
          <a:noFill/>
        </p:spPr>
        <p:txBody>
          <a:bodyPr wrap="none" lIns="0" rIns="0" tIns="0" bIns="0">
            <a:spAutoFit/>
          </a:bodyPr>
          <a:lstStyle/>
          <a:p>
            <a:r>
              <a:rPr sz="1100" b="0">
                <a:solidFill>
                  <a:srgbClr val="2E2E2E"/>
                </a:solidFill>
                <a:latin typeface="Calibri"/>
              </a:rPr>
              <a:t>-share leaders, while growth runs +</a:t>
            </a:r>
          </a:p>
        </p:txBody>
      </p:sp>
      <p:pic>
        <p:nvPicPr>
          <p:cNvPr id="76" name="Picture 75" descr="lock.png"/>
          <p:cNvPicPr>
            <a:picLocks noChangeAspect="1"/>
          </p:cNvPicPr>
          <p:nvPr/>
        </p:nvPicPr>
        <p:blipFill>
          <a:blip r:embed="rId4"/>
          <a:stretch>
            <a:fillRect/>
          </a:stretch>
        </p:blipFill>
        <p:spPr>
          <a:xfrm>
            <a:off x="7089179" y="3656280"/>
            <a:ext cx="128699" cy="187198"/>
          </a:xfrm>
          <a:prstGeom prst="rect">
            <a:avLst/>
          </a:prstGeom>
        </p:spPr>
      </p:pic>
      <p:sp>
        <p:nvSpPr>
          <p:cNvPr id="77" name="TextBox 76"/>
          <p:cNvSpPr txBox="1"/>
          <p:nvPr/>
        </p:nvSpPr>
        <p:spPr>
          <a:xfrm>
            <a:off x="7256675" y="3666059"/>
            <a:ext cx="1825144" cy="186689"/>
          </a:xfrm>
          <a:prstGeom prst="rect">
            <a:avLst/>
          </a:prstGeom>
          <a:noFill/>
        </p:spPr>
        <p:txBody>
          <a:bodyPr wrap="none" lIns="0" rIns="0" tIns="0" bIns="0">
            <a:spAutoFit/>
          </a:bodyPr>
          <a:lstStyle/>
          <a:p>
            <a:r>
              <a:rPr sz="1100" b="0">
                <a:solidFill>
                  <a:srgbClr val="2E2E2E"/>
                </a:solidFill>
                <a:latin typeface="Calibri"/>
              </a:rPr>
              <a:t>BPS ahead of the market. Early</a:t>
            </a:r>
          </a:p>
        </p:txBody>
      </p:sp>
      <p:sp>
        <p:nvSpPr>
          <p:cNvPr id="78" name="TextBox 77"/>
          <p:cNvSpPr txBox="1"/>
          <p:nvPr/>
        </p:nvSpPr>
        <p:spPr>
          <a:xfrm>
            <a:off x="190500" y="3833699"/>
            <a:ext cx="4556695" cy="186689"/>
          </a:xfrm>
          <a:prstGeom prst="rect">
            <a:avLst/>
          </a:prstGeom>
          <a:noFill/>
        </p:spPr>
        <p:txBody>
          <a:bodyPr wrap="none" lIns="0" rIns="0" tIns="0" bIns="0">
            <a:spAutoFit/>
          </a:bodyPr>
          <a:lstStyle/>
          <a:p>
            <a:r>
              <a:rPr sz="1100" b="0">
                <a:solidFill>
                  <a:srgbClr val="2E2E2E"/>
                </a:solidFill>
                <a:latin typeface="Calibri"/>
              </a:rPr>
              <a:t>distribution and reference accounts established here compound through 2036.</a:t>
            </a:r>
          </a:p>
        </p:txBody>
      </p:sp>
      <p:sp>
        <p:nvSpPr>
          <p:cNvPr id="79" name="TextBox 78"/>
          <p:cNvSpPr txBox="1"/>
          <p:nvPr/>
        </p:nvSpPr>
        <p:spPr>
          <a:xfrm>
            <a:off x="190500" y="5250774"/>
            <a:ext cx="2035547" cy="186689"/>
          </a:xfrm>
          <a:prstGeom prst="rect">
            <a:avLst/>
          </a:prstGeom>
          <a:noFill/>
        </p:spPr>
        <p:txBody>
          <a:bodyPr wrap="none" lIns="0" rIns="0" tIns="0" bIns="0">
            <a:spAutoFit/>
          </a:bodyPr>
          <a:lstStyle/>
          <a:p>
            <a:r>
              <a:rPr sz="1100" b="0">
                <a:solidFill>
                  <a:srgbClr val="2E2E2E"/>
                </a:solidFill>
                <a:latin typeface="Calibri"/>
              </a:rPr>
              <a:t>'Industrial Air Separation' grows at</a:t>
            </a:r>
          </a:p>
        </p:txBody>
      </p:sp>
      <p:pic>
        <p:nvPicPr>
          <p:cNvPr id="80" name="Picture 79" descr="lock.png"/>
          <p:cNvPicPr>
            <a:picLocks noChangeAspect="1"/>
          </p:cNvPicPr>
          <p:nvPr/>
        </p:nvPicPr>
        <p:blipFill>
          <a:blip r:embed="rId4"/>
          <a:stretch>
            <a:fillRect/>
          </a:stretch>
        </p:blipFill>
        <p:spPr>
          <a:xfrm>
            <a:off x="2174098" y="5240995"/>
            <a:ext cx="128699" cy="187198"/>
          </a:xfrm>
          <a:prstGeom prst="rect">
            <a:avLst/>
          </a:prstGeom>
        </p:spPr>
      </p:pic>
      <p:sp>
        <p:nvSpPr>
          <p:cNvPr id="81" name="TextBox 80"/>
          <p:cNvSpPr txBox="1"/>
          <p:nvPr/>
        </p:nvSpPr>
        <p:spPr>
          <a:xfrm>
            <a:off x="2341594" y="5250774"/>
            <a:ext cx="2771956" cy="186689"/>
          </a:xfrm>
          <a:prstGeom prst="rect">
            <a:avLst/>
          </a:prstGeom>
          <a:noFill/>
        </p:spPr>
        <p:txBody>
          <a:bodyPr wrap="none" lIns="0" rIns="0" tIns="0" bIns="0">
            <a:spAutoFit/>
          </a:bodyPr>
          <a:lstStyle/>
          <a:p>
            <a:r>
              <a:rPr sz="1100" b="0">
                <a:solidFill>
                  <a:srgbClr val="2E2E2E"/>
                </a:solidFill>
                <a:latin typeface="Calibri"/>
              </a:rPr>
              <a:t>CAGR, the fastest of 7 end use routes, and adds</a:t>
            </a:r>
          </a:p>
        </p:txBody>
      </p:sp>
      <p:pic>
        <p:nvPicPr>
          <p:cNvPr id="82" name="Picture 81" descr="lock.png"/>
          <p:cNvPicPr>
            <a:picLocks noChangeAspect="1"/>
          </p:cNvPicPr>
          <p:nvPr/>
        </p:nvPicPr>
        <p:blipFill>
          <a:blip r:embed="rId4"/>
          <a:stretch>
            <a:fillRect/>
          </a:stretch>
        </p:blipFill>
        <p:spPr>
          <a:xfrm>
            <a:off x="5061602" y="5240995"/>
            <a:ext cx="128699" cy="187198"/>
          </a:xfrm>
          <a:prstGeom prst="rect">
            <a:avLst/>
          </a:prstGeom>
        </p:spPr>
      </p:pic>
      <p:sp>
        <p:nvSpPr>
          <p:cNvPr id="83" name="TextBox 82"/>
          <p:cNvSpPr txBox="1"/>
          <p:nvPr/>
        </p:nvSpPr>
        <p:spPr>
          <a:xfrm>
            <a:off x="5229098" y="5250774"/>
            <a:ext cx="3970337" cy="186689"/>
          </a:xfrm>
          <a:prstGeom prst="rect">
            <a:avLst/>
          </a:prstGeom>
          <a:noFill/>
        </p:spPr>
        <p:txBody>
          <a:bodyPr wrap="none" lIns="0" rIns="0" tIns="0" bIns="0">
            <a:spAutoFit/>
          </a:bodyPr>
          <a:lstStyle/>
          <a:p>
            <a:r>
              <a:rPr sz="1100" b="0">
                <a:solidFill>
                  <a:srgbClr val="2E2E2E"/>
                </a:solidFill>
                <a:latin typeface="Calibri"/>
              </a:rPr>
              <a:t>US$ Mn over the forecast period while 'Industrial Air Separation' still</a:t>
            </a:r>
          </a:p>
        </p:txBody>
      </p:sp>
      <p:sp>
        <p:nvSpPr>
          <p:cNvPr id="84" name="TextBox 83"/>
          <p:cNvSpPr txBox="1"/>
          <p:nvPr/>
        </p:nvSpPr>
        <p:spPr>
          <a:xfrm>
            <a:off x="190500" y="5418414"/>
            <a:ext cx="456282" cy="186689"/>
          </a:xfrm>
          <a:prstGeom prst="rect">
            <a:avLst/>
          </a:prstGeom>
          <a:noFill/>
        </p:spPr>
        <p:txBody>
          <a:bodyPr wrap="none" lIns="0" rIns="0" tIns="0" bIns="0">
            <a:spAutoFit/>
          </a:bodyPr>
          <a:lstStyle/>
          <a:p>
            <a:r>
              <a:rPr sz="1100" b="0">
                <a:solidFill>
                  <a:srgbClr val="2E2E2E"/>
                </a:solidFill>
                <a:latin typeface="Calibri"/>
              </a:rPr>
              <a:t>carries</a:t>
            </a:r>
          </a:p>
        </p:txBody>
      </p:sp>
      <p:pic>
        <p:nvPicPr>
          <p:cNvPr id="85" name="Picture 84" descr="lock.png"/>
          <p:cNvPicPr>
            <a:picLocks noChangeAspect="1"/>
          </p:cNvPicPr>
          <p:nvPr/>
        </p:nvPicPr>
        <p:blipFill>
          <a:blip r:embed="rId4"/>
          <a:stretch>
            <a:fillRect/>
          </a:stretch>
        </p:blipFill>
        <p:spPr>
          <a:xfrm>
            <a:off x="594833" y="5408635"/>
            <a:ext cx="128699" cy="187198"/>
          </a:xfrm>
          <a:prstGeom prst="rect">
            <a:avLst/>
          </a:prstGeom>
        </p:spPr>
      </p:pic>
      <p:sp>
        <p:nvSpPr>
          <p:cNvPr id="86" name="TextBox 85"/>
          <p:cNvSpPr txBox="1"/>
          <p:nvPr/>
        </p:nvSpPr>
        <p:spPr>
          <a:xfrm>
            <a:off x="762329" y="5418414"/>
            <a:ext cx="7727503" cy="186689"/>
          </a:xfrm>
          <a:prstGeom prst="rect">
            <a:avLst/>
          </a:prstGeom>
          <a:noFill/>
        </p:spPr>
        <p:txBody>
          <a:bodyPr wrap="none" lIns="0" rIns="0" tIns="0" bIns="0">
            <a:spAutoFit/>
          </a:bodyPr>
          <a:lstStyle/>
          <a:p>
            <a:r>
              <a:rPr sz="1100" b="0">
                <a:solidFill>
                  <a:srgbClr val="2E2E2E"/>
                </a:solidFill>
                <a:latin typeface="Calibri"/>
              </a:rPr>
              <a:t>of demand today. Pairing the incumbent route for volume with the fastest route for growth and leading with 'Steam Turbine-Driven' at</a:t>
            </a:r>
          </a:p>
        </p:txBody>
      </p:sp>
      <p:pic>
        <p:nvPicPr>
          <p:cNvPr id="87" name="Picture 86" descr="lock.png"/>
          <p:cNvPicPr>
            <a:picLocks noChangeAspect="1"/>
          </p:cNvPicPr>
          <p:nvPr/>
        </p:nvPicPr>
        <p:blipFill>
          <a:blip r:embed="rId4"/>
          <a:stretch>
            <a:fillRect/>
          </a:stretch>
        </p:blipFill>
        <p:spPr>
          <a:xfrm>
            <a:off x="8437884" y="5408635"/>
            <a:ext cx="128699" cy="187198"/>
          </a:xfrm>
          <a:prstGeom prst="rect">
            <a:avLst/>
          </a:prstGeom>
        </p:spPr>
      </p:pic>
      <p:sp>
        <p:nvSpPr>
          <p:cNvPr id="88" name="TextBox 87"/>
          <p:cNvSpPr txBox="1"/>
          <p:nvPr/>
        </p:nvSpPr>
        <p:spPr>
          <a:xfrm>
            <a:off x="8605380" y="5418414"/>
            <a:ext cx="384522" cy="186689"/>
          </a:xfrm>
          <a:prstGeom prst="rect">
            <a:avLst/>
          </a:prstGeom>
          <a:noFill/>
        </p:spPr>
        <p:txBody>
          <a:bodyPr wrap="none" lIns="0" rIns="0" tIns="0" bIns="0">
            <a:spAutoFit/>
          </a:bodyPr>
          <a:lstStyle/>
          <a:p>
            <a:r>
              <a:rPr sz="1100" b="0">
                <a:solidFill>
                  <a:srgbClr val="2E2E2E"/>
                </a:solidFill>
                <a:latin typeface="Calibri"/>
              </a:rPr>
              <a:t>is the</a:t>
            </a:r>
          </a:p>
        </p:txBody>
      </p:sp>
      <p:sp>
        <p:nvSpPr>
          <p:cNvPr id="89" name="TextBox 88"/>
          <p:cNvSpPr txBox="1"/>
          <p:nvPr/>
        </p:nvSpPr>
        <p:spPr>
          <a:xfrm>
            <a:off x="190500" y="5586054"/>
            <a:ext cx="2797621" cy="186689"/>
          </a:xfrm>
          <a:prstGeom prst="rect">
            <a:avLst/>
          </a:prstGeom>
          <a:noFill/>
        </p:spPr>
        <p:txBody>
          <a:bodyPr wrap="none" lIns="0" rIns="0" tIns="0" bIns="0">
            <a:spAutoFit/>
          </a:bodyPr>
          <a:lstStyle/>
          <a:p>
            <a:r>
              <a:rPr sz="1100" b="0">
                <a:solidFill>
                  <a:srgbClr val="2E2E2E"/>
                </a:solidFill>
                <a:latin typeface="Calibri"/>
              </a:rPr>
              <a:t>highest-yield combination the dataset supports.</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Industrial Air Compressor Market Recent Developments &amp; Milestones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Recent developments and milestones shaping the global market, by year</a:t>
            </a:r>
          </a:p>
        </p:txBody>
      </p:sp>
      <p:sp>
        <p:nvSpPr>
          <p:cNvPr id="7" name="Rectangle 6"/>
          <p:cNvSpPr/>
          <p:nvPr/>
        </p:nvSpPr>
        <p:spPr>
          <a:xfrm>
            <a:off x="142875" y="1025515"/>
            <a:ext cx="11906250" cy="29205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2875" y="1025515"/>
            <a:ext cx="1428750" cy="292059"/>
          </a:xfrm>
          <a:prstGeom prst="rect">
            <a:avLst/>
          </a:prstGeom>
          <a:noFill/>
        </p:spPr>
        <p:txBody>
          <a:bodyPr wrap="square" lIns="28575" rIns="28575" tIns="9525" bIns="9525" anchor="ctr">
            <a:spAutoFit/>
          </a:bodyPr>
          <a:lstStyle/>
          <a:p>
            <a:pPr algn="ctr"/>
            <a:r>
              <a:rPr sz="1150" b="1">
                <a:solidFill>
                  <a:srgbClr val="FFFFFF"/>
                </a:solidFill>
                <a:latin typeface="Calibri"/>
              </a:rPr>
              <a:t>Year</a:t>
            </a:r>
          </a:p>
        </p:txBody>
      </p:sp>
      <p:sp>
        <p:nvSpPr>
          <p:cNvPr id="9" name="TextBox 8"/>
          <p:cNvSpPr txBox="1"/>
          <p:nvPr/>
        </p:nvSpPr>
        <p:spPr>
          <a:xfrm>
            <a:off x="1714500" y="1025515"/>
            <a:ext cx="10239375" cy="292059"/>
          </a:xfrm>
          <a:prstGeom prst="rect">
            <a:avLst/>
          </a:prstGeom>
          <a:noFill/>
        </p:spPr>
        <p:txBody>
          <a:bodyPr wrap="square" lIns="28575" rIns="28575" tIns="9525" bIns="9525" anchor="ctr">
            <a:spAutoFit/>
          </a:bodyPr>
          <a:lstStyle/>
          <a:p>
            <a:pPr algn="ctr"/>
            <a:r>
              <a:rPr sz="1150" b="1">
                <a:solidFill>
                  <a:srgbClr val="FFFFFF"/>
                </a:solidFill>
                <a:latin typeface="Calibri"/>
              </a:rPr>
              <a:t>Recent Development</a:t>
            </a:r>
          </a:p>
        </p:txBody>
      </p:sp>
      <p:sp>
        <p:nvSpPr>
          <p:cNvPr id="10" name="Rectangle 9"/>
          <p:cNvSpPr/>
          <p:nvPr/>
        </p:nvSpPr>
        <p:spPr>
          <a:xfrm>
            <a:off x="142875" y="1317574"/>
            <a:ext cx="11906250" cy="1049588"/>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317574"/>
            <a:ext cx="1428750" cy="1049588"/>
          </a:xfrm>
          <a:prstGeom prst="rect">
            <a:avLst/>
          </a:prstGeom>
          <a:noFill/>
        </p:spPr>
        <p:txBody>
          <a:bodyPr wrap="square" lIns="28575" rIns="28575" tIns="9525" bIns="9525" anchor="ctr">
            <a:spAutoFit/>
          </a:bodyPr>
          <a:lstStyle/>
          <a:p>
            <a:pPr algn="ctr"/>
            <a:r>
              <a:rPr sz="1250" b="1">
                <a:solidFill>
                  <a:srgbClr val="0B2E4A"/>
                </a:solidFill>
                <a:latin typeface="Calibri"/>
              </a:rPr>
              <a:t>2025</a:t>
            </a:r>
          </a:p>
        </p:txBody>
      </p:sp>
      <p:cxnSp>
        <p:nvCxnSpPr>
          <p:cNvPr id="12" name="Connector 11"/>
          <p:cNvCxnSpPr/>
          <p:nvPr/>
        </p:nvCxnSpPr>
        <p:spPr>
          <a:xfrm>
            <a:off x="1571625" y="1317574"/>
            <a:ext cx="0" cy="1049588"/>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714500" y="1641578"/>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4" name="Rectangle 13"/>
          <p:cNvSpPr/>
          <p:nvPr/>
        </p:nvSpPr>
        <p:spPr>
          <a:xfrm>
            <a:off x="142875" y="2367162"/>
            <a:ext cx="11906250" cy="1049588"/>
          </a:xfrm>
          <a:prstGeom prst="rect">
            <a:avLst/>
          </a:prstGeom>
          <a:solidFill>
            <a:srgbClr val="F5F9FD"/>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2875" y="2367162"/>
            <a:ext cx="1428750" cy="1049588"/>
          </a:xfrm>
          <a:prstGeom prst="rect">
            <a:avLst/>
          </a:prstGeom>
          <a:noFill/>
        </p:spPr>
        <p:txBody>
          <a:bodyPr wrap="square" lIns="28575" rIns="28575" tIns="9525" bIns="9525" anchor="ctr">
            <a:spAutoFit/>
          </a:bodyPr>
          <a:lstStyle/>
          <a:p>
            <a:pPr algn="ctr"/>
            <a:r>
              <a:rPr sz="1250" b="1">
                <a:solidFill>
                  <a:srgbClr val="0B2E4A"/>
                </a:solidFill>
                <a:latin typeface="Calibri"/>
              </a:rPr>
              <a:t>2026</a:t>
            </a:r>
          </a:p>
        </p:txBody>
      </p:sp>
      <p:cxnSp>
        <p:nvCxnSpPr>
          <p:cNvPr id="16" name="Connector 15"/>
          <p:cNvCxnSpPr/>
          <p:nvPr/>
        </p:nvCxnSpPr>
        <p:spPr>
          <a:xfrm>
            <a:off x="1571625" y="2367162"/>
            <a:ext cx="0" cy="1049588"/>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714500" y="2691164"/>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8" name="Rectangle 17"/>
          <p:cNvSpPr/>
          <p:nvPr/>
        </p:nvSpPr>
        <p:spPr>
          <a:xfrm>
            <a:off x="142875" y="3416749"/>
            <a:ext cx="11906250" cy="1049588"/>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2875" y="3416749"/>
            <a:ext cx="1428750" cy="1049588"/>
          </a:xfrm>
          <a:prstGeom prst="rect">
            <a:avLst/>
          </a:prstGeom>
          <a:noFill/>
        </p:spPr>
        <p:txBody>
          <a:bodyPr wrap="square" lIns="28575" rIns="28575" tIns="9525" bIns="9525" anchor="ctr">
            <a:spAutoFit/>
          </a:bodyPr>
          <a:lstStyle/>
          <a:p>
            <a:pPr algn="ctr"/>
            <a:r>
              <a:rPr sz="1250" b="1">
                <a:solidFill>
                  <a:srgbClr val="0B2E4A"/>
                </a:solidFill>
                <a:latin typeface="Calibri"/>
              </a:rPr>
              <a:t>2035</a:t>
            </a:r>
          </a:p>
        </p:txBody>
      </p:sp>
      <p:cxnSp>
        <p:nvCxnSpPr>
          <p:cNvPr id="20" name="Connector 19"/>
          <p:cNvCxnSpPr/>
          <p:nvPr/>
        </p:nvCxnSpPr>
        <p:spPr>
          <a:xfrm>
            <a:off x="1571625" y="3416749"/>
            <a:ext cx="0" cy="1049588"/>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714500" y="3740753"/>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2" name="Rectangle 21"/>
          <p:cNvSpPr/>
          <p:nvPr/>
        </p:nvSpPr>
        <p:spPr>
          <a:xfrm>
            <a:off x="142875" y="4466337"/>
            <a:ext cx="11906250" cy="1049588"/>
          </a:xfrm>
          <a:prstGeom prst="rect">
            <a:avLst/>
          </a:prstGeom>
          <a:solidFill>
            <a:srgbClr val="F5F9FD"/>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2875" y="4466337"/>
            <a:ext cx="1428750" cy="1049588"/>
          </a:xfrm>
          <a:prstGeom prst="rect">
            <a:avLst/>
          </a:prstGeom>
          <a:noFill/>
        </p:spPr>
        <p:txBody>
          <a:bodyPr wrap="square" lIns="28575" rIns="28575" tIns="9525" bIns="9525" anchor="ctr">
            <a:spAutoFit/>
          </a:bodyPr>
          <a:lstStyle/>
          <a:p>
            <a:pPr algn="ctr"/>
            <a:r>
              <a:rPr sz="1250" b="1">
                <a:solidFill>
                  <a:srgbClr val="0B2E4A"/>
                </a:solidFill>
                <a:latin typeface="Calibri"/>
              </a:rPr>
              <a:t>2031</a:t>
            </a:r>
          </a:p>
        </p:txBody>
      </p:sp>
      <p:cxnSp>
        <p:nvCxnSpPr>
          <p:cNvPr id="24" name="Connector 23"/>
          <p:cNvCxnSpPr/>
          <p:nvPr/>
        </p:nvCxnSpPr>
        <p:spPr>
          <a:xfrm>
            <a:off x="1571625" y="4466337"/>
            <a:ext cx="0" cy="1049588"/>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714500" y="4790339"/>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6" name="Rectangle 25"/>
          <p:cNvSpPr/>
          <p:nvPr/>
        </p:nvSpPr>
        <p:spPr>
          <a:xfrm>
            <a:off x="142875" y="5515924"/>
            <a:ext cx="11906250" cy="1049588"/>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2875" y="5515924"/>
            <a:ext cx="1428750" cy="1049588"/>
          </a:xfrm>
          <a:prstGeom prst="rect">
            <a:avLst/>
          </a:prstGeom>
          <a:noFill/>
        </p:spPr>
        <p:txBody>
          <a:bodyPr wrap="square" lIns="28575" rIns="28575" tIns="9525" bIns="9525" anchor="ctr">
            <a:spAutoFit/>
          </a:bodyPr>
          <a:lstStyle/>
          <a:p>
            <a:pPr algn="ctr"/>
            <a:r>
              <a:rPr sz="1250" b="1">
                <a:solidFill>
                  <a:srgbClr val="0B2E4A"/>
                </a:solidFill>
                <a:latin typeface="Calibri"/>
              </a:rPr>
              <a:t>2036</a:t>
            </a:r>
          </a:p>
        </p:txBody>
      </p:sp>
      <p:cxnSp>
        <p:nvCxnSpPr>
          <p:cNvPr id="28" name="Connector 27"/>
          <p:cNvCxnSpPr/>
          <p:nvPr/>
        </p:nvCxnSpPr>
        <p:spPr>
          <a:xfrm>
            <a:off x="1571625" y="5515924"/>
            <a:ext cx="0" cy="1049588"/>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714500" y="5839928"/>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0" name="Rectangle 2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32" name="TextBox 31"/>
          <p:cNvSpPr txBox="1"/>
          <p:nvPr/>
        </p:nvSpPr>
        <p:spPr>
          <a:xfrm>
            <a:off x="1743075" y="1681434"/>
            <a:ext cx="3378969" cy="179984"/>
          </a:xfrm>
          <a:prstGeom prst="rect">
            <a:avLst/>
          </a:prstGeom>
          <a:noFill/>
        </p:spPr>
        <p:txBody>
          <a:bodyPr wrap="none" lIns="0" rIns="0" tIns="0" bIns="0">
            <a:spAutoFit/>
          </a:bodyPr>
          <a:lstStyle/>
          <a:p>
            <a:r>
              <a:rPr sz="1055" b="0">
                <a:solidFill>
                  <a:srgbClr val="2E2E2E"/>
                </a:solidFill>
                <a:latin typeface="Calibri"/>
              </a:rPr>
              <a:t>Strongest historical expansion on record: Global value rose +</a:t>
            </a:r>
          </a:p>
        </p:txBody>
      </p:sp>
      <p:pic>
        <p:nvPicPr>
          <p:cNvPr id="33" name="Picture 32" descr="lock.png"/>
          <p:cNvPicPr>
            <a:picLocks noChangeAspect="1"/>
          </p:cNvPicPr>
          <p:nvPr/>
        </p:nvPicPr>
        <p:blipFill>
          <a:blip r:embed="rId4"/>
          <a:stretch>
            <a:fillRect/>
          </a:stretch>
        </p:blipFill>
        <p:spPr>
          <a:xfrm>
            <a:off x="5069126" y="1672046"/>
            <a:ext cx="123551" cy="179710"/>
          </a:xfrm>
          <a:prstGeom prst="rect">
            <a:avLst/>
          </a:prstGeom>
        </p:spPr>
      </p:pic>
      <p:sp>
        <p:nvSpPr>
          <p:cNvPr id="34" name="TextBox 33"/>
          <p:cNvSpPr txBox="1"/>
          <p:nvPr/>
        </p:nvSpPr>
        <p:spPr>
          <a:xfrm>
            <a:off x="5229922" y="1681434"/>
            <a:ext cx="901565" cy="179984"/>
          </a:xfrm>
          <a:prstGeom prst="rect">
            <a:avLst/>
          </a:prstGeom>
          <a:noFill/>
        </p:spPr>
        <p:txBody>
          <a:bodyPr wrap="none" lIns="0" rIns="0" tIns="0" bIns="0">
            <a:spAutoFit/>
          </a:bodyPr>
          <a:lstStyle/>
          <a:p>
            <a:r>
              <a:rPr sz="1055" b="0">
                <a:solidFill>
                  <a:srgbClr val="2E2E2E"/>
                </a:solidFill>
                <a:latin typeface="Calibri"/>
              </a:rPr>
              <a:t>year on year to</a:t>
            </a:r>
          </a:p>
        </p:txBody>
      </p:sp>
      <p:pic>
        <p:nvPicPr>
          <p:cNvPr id="35" name="Picture 34" descr="lock.png"/>
          <p:cNvPicPr>
            <a:picLocks noChangeAspect="1"/>
          </p:cNvPicPr>
          <p:nvPr/>
        </p:nvPicPr>
        <p:blipFill>
          <a:blip r:embed="rId4"/>
          <a:stretch>
            <a:fillRect/>
          </a:stretch>
        </p:blipFill>
        <p:spPr>
          <a:xfrm>
            <a:off x="6078569" y="1672046"/>
            <a:ext cx="123551" cy="179710"/>
          </a:xfrm>
          <a:prstGeom prst="rect">
            <a:avLst/>
          </a:prstGeom>
        </p:spPr>
      </p:pic>
      <p:sp>
        <p:nvSpPr>
          <p:cNvPr id="36" name="TextBox 35"/>
          <p:cNvSpPr txBox="1"/>
          <p:nvPr/>
        </p:nvSpPr>
        <p:spPr>
          <a:xfrm>
            <a:off x="6239365" y="1681434"/>
            <a:ext cx="5524761" cy="179984"/>
          </a:xfrm>
          <a:prstGeom prst="rect">
            <a:avLst/>
          </a:prstGeom>
          <a:noFill/>
        </p:spPr>
        <p:txBody>
          <a:bodyPr wrap="none" lIns="0" rIns="0" tIns="0" bIns="0">
            <a:spAutoFit/>
          </a:bodyPr>
          <a:lstStyle/>
          <a:p>
            <a:r>
              <a:rPr sz="1055" b="0">
                <a:solidFill>
                  <a:srgbClr val="2E2E2E"/>
                </a:solidFill>
                <a:latin typeface="Calibri"/>
              </a:rPr>
              <a:t>US$ Mn, the steepest single-year move of the 2021–2025 period. Demand for 'Diesel Engine-Driven'</a:t>
            </a:r>
          </a:p>
        </p:txBody>
      </p:sp>
      <p:pic>
        <p:nvPicPr>
          <p:cNvPr id="37" name="Picture 36" descr="lock.png"/>
          <p:cNvPicPr>
            <a:picLocks noChangeAspect="1"/>
          </p:cNvPicPr>
          <p:nvPr/>
        </p:nvPicPr>
        <p:blipFill>
          <a:blip r:embed="rId4"/>
          <a:stretch>
            <a:fillRect/>
          </a:stretch>
        </p:blipFill>
        <p:spPr>
          <a:xfrm>
            <a:off x="1730146" y="1832980"/>
            <a:ext cx="123551" cy="179710"/>
          </a:xfrm>
          <a:prstGeom prst="rect">
            <a:avLst/>
          </a:prstGeom>
        </p:spPr>
      </p:pic>
      <p:sp>
        <p:nvSpPr>
          <p:cNvPr id="38" name="TextBox 37"/>
          <p:cNvSpPr txBox="1"/>
          <p:nvPr/>
        </p:nvSpPr>
        <p:spPr>
          <a:xfrm>
            <a:off x="1890942" y="1842368"/>
            <a:ext cx="6431327" cy="179984"/>
          </a:xfrm>
          <a:prstGeom prst="rect">
            <a:avLst/>
          </a:prstGeom>
          <a:noFill/>
        </p:spPr>
        <p:txBody>
          <a:bodyPr wrap="none" lIns="0" rIns="0" tIns="0" bIns="0">
            <a:spAutoFit/>
          </a:bodyPr>
          <a:lstStyle/>
          <a:p>
            <a:r>
              <a:rPr sz="1055" b="0">
                <a:solidFill>
                  <a:srgbClr val="2E2E2E"/>
                </a:solidFill>
                <a:latin typeface="Calibri"/>
              </a:rPr>
              <a:t>of driver type value by 2036 set the pace, and the 7 end use routes tracked here all carried volume through the year.</a:t>
            </a:r>
          </a:p>
        </p:txBody>
      </p:sp>
      <p:sp>
        <p:nvSpPr>
          <p:cNvPr id="39" name="TextBox 38"/>
          <p:cNvSpPr txBox="1"/>
          <p:nvPr/>
        </p:nvSpPr>
        <p:spPr>
          <a:xfrm>
            <a:off x="1743075" y="2731020"/>
            <a:ext cx="3340465" cy="179984"/>
          </a:xfrm>
          <a:prstGeom prst="rect">
            <a:avLst/>
          </a:prstGeom>
          <a:noFill/>
        </p:spPr>
        <p:txBody>
          <a:bodyPr wrap="none" lIns="0" rIns="0" tIns="0" bIns="0">
            <a:spAutoFit/>
          </a:bodyPr>
          <a:lstStyle/>
          <a:p>
            <a:r>
              <a:rPr sz="1055" b="0">
                <a:solidFill>
                  <a:srgbClr val="2E2E2E"/>
                </a:solidFill>
                <a:latin typeface="Calibri"/>
              </a:rPr>
              <a:t>Base year for the forecast: the global market is estimated at</a:t>
            </a:r>
          </a:p>
        </p:txBody>
      </p:sp>
      <p:pic>
        <p:nvPicPr>
          <p:cNvPr id="40" name="Picture 39" descr="lock.png"/>
          <p:cNvPicPr>
            <a:picLocks noChangeAspect="1"/>
          </p:cNvPicPr>
          <p:nvPr/>
        </p:nvPicPr>
        <p:blipFill>
          <a:blip r:embed="rId4"/>
          <a:stretch>
            <a:fillRect/>
          </a:stretch>
        </p:blipFill>
        <p:spPr>
          <a:xfrm>
            <a:off x="5030621" y="2721632"/>
            <a:ext cx="123551" cy="179710"/>
          </a:xfrm>
          <a:prstGeom prst="rect">
            <a:avLst/>
          </a:prstGeom>
        </p:spPr>
      </p:pic>
      <p:sp>
        <p:nvSpPr>
          <p:cNvPr id="41" name="TextBox 40"/>
          <p:cNvSpPr txBox="1"/>
          <p:nvPr/>
        </p:nvSpPr>
        <p:spPr>
          <a:xfrm>
            <a:off x="5191417" y="2731020"/>
            <a:ext cx="1825680" cy="179984"/>
          </a:xfrm>
          <a:prstGeom prst="rect">
            <a:avLst/>
          </a:prstGeom>
          <a:noFill/>
        </p:spPr>
        <p:txBody>
          <a:bodyPr wrap="none" lIns="0" rIns="0" tIns="0" bIns="0">
            <a:spAutoFit/>
          </a:bodyPr>
          <a:lstStyle/>
          <a:p>
            <a:r>
              <a:rPr sz="1055" b="0">
                <a:solidFill>
                  <a:srgbClr val="2E2E2E"/>
                </a:solidFill>
                <a:latin typeface="Calibri"/>
              </a:rPr>
              <a:t>US$ Mn, having compounded at</a:t>
            </a:r>
          </a:p>
        </p:txBody>
      </p:sp>
      <p:pic>
        <p:nvPicPr>
          <p:cNvPr id="42" name="Picture 41" descr="lock.png"/>
          <p:cNvPicPr>
            <a:picLocks noChangeAspect="1"/>
          </p:cNvPicPr>
          <p:nvPr/>
        </p:nvPicPr>
        <p:blipFill>
          <a:blip r:embed="rId4"/>
          <a:stretch>
            <a:fillRect/>
          </a:stretch>
        </p:blipFill>
        <p:spPr>
          <a:xfrm>
            <a:off x="6964179" y="2721632"/>
            <a:ext cx="123551" cy="179710"/>
          </a:xfrm>
          <a:prstGeom prst="rect">
            <a:avLst/>
          </a:prstGeom>
        </p:spPr>
      </p:pic>
      <p:sp>
        <p:nvSpPr>
          <p:cNvPr id="43" name="TextBox 42"/>
          <p:cNvSpPr txBox="1"/>
          <p:nvPr/>
        </p:nvSpPr>
        <p:spPr>
          <a:xfrm>
            <a:off x="7124975" y="2731020"/>
            <a:ext cx="2310788" cy="179984"/>
          </a:xfrm>
          <a:prstGeom prst="rect">
            <a:avLst/>
          </a:prstGeom>
          <a:noFill/>
        </p:spPr>
        <p:txBody>
          <a:bodyPr wrap="none" lIns="0" rIns="0" tIns="0" bIns="0">
            <a:spAutoFit/>
          </a:bodyPr>
          <a:lstStyle/>
          <a:p>
            <a:r>
              <a:rPr sz="1055" b="0">
                <a:solidFill>
                  <a:srgbClr val="2E2E2E"/>
                </a:solidFill>
                <a:latin typeface="Calibri"/>
              </a:rPr>
              <a:t>across 2021–2025. 'North America' holds</a:t>
            </a:r>
          </a:p>
        </p:txBody>
      </p:sp>
      <p:pic>
        <p:nvPicPr>
          <p:cNvPr id="44" name="Picture 43" descr="lock.png"/>
          <p:cNvPicPr>
            <a:picLocks noChangeAspect="1"/>
          </p:cNvPicPr>
          <p:nvPr/>
        </p:nvPicPr>
        <p:blipFill>
          <a:blip r:embed="rId4"/>
          <a:stretch>
            <a:fillRect/>
          </a:stretch>
        </p:blipFill>
        <p:spPr>
          <a:xfrm>
            <a:off x="9382846" y="2721632"/>
            <a:ext cx="123551" cy="179710"/>
          </a:xfrm>
          <a:prstGeom prst="rect">
            <a:avLst/>
          </a:prstGeom>
        </p:spPr>
      </p:pic>
      <p:sp>
        <p:nvSpPr>
          <p:cNvPr id="45" name="TextBox 44"/>
          <p:cNvSpPr txBox="1"/>
          <p:nvPr/>
        </p:nvSpPr>
        <p:spPr>
          <a:xfrm>
            <a:off x="9543642" y="2731020"/>
            <a:ext cx="1896665" cy="179984"/>
          </a:xfrm>
          <a:prstGeom prst="rect">
            <a:avLst/>
          </a:prstGeom>
          <a:noFill/>
        </p:spPr>
        <p:txBody>
          <a:bodyPr wrap="none" lIns="0" rIns="0" tIns="0" bIns="0">
            <a:spAutoFit/>
          </a:bodyPr>
          <a:lstStyle/>
          <a:p>
            <a:r>
              <a:rPr sz="1055" b="0">
                <a:solidFill>
                  <a:srgbClr val="2E2E2E"/>
                </a:solidFill>
                <a:latin typeface="Calibri"/>
              </a:rPr>
              <a:t>of value across 7 regions, and the</a:t>
            </a:r>
          </a:p>
        </p:txBody>
      </p:sp>
      <p:sp>
        <p:nvSpPr>
          <p:cNvPr id="46" name="TextBox 45"/>
          <p:cNvSpPr txBox="1"/>
          <p:nvPr/>
        </p:nvSpPr>
        <p:spPr>
          <a:xfrm>
            <a:off x="1743075" y="2891954"/>
            <a:ext cx="4045076" cy="179984"/>
          </a:xfrm>
          <a:prstGeom prst="rect">
            <a:avLst/>
          </a:prstGeom>
          <a:noFill/>
        </p:spPr>
        <p:txBody>
          <a:bodyPr wrap="none" lIns="0" rIns="0" tIns="0" bIns="0">
            <a:spAutoFit/>
          </a:bodyPr>
          <a:lstStyle/>
          <a:p>
            <a:r>
              <a:rPr sz="1055" b="0">
                <a:solidFill>
                  <a:srgbClr val="2E2E2E"/>
                </a:solidFill>
                <a:latin typeface="Calibri"/>
              </a:rPr>
              <a:t>forecast is built from 5 segment breakdowns covering 6 driver type lines.</a:t>
            </a:r>
          </a:p>
        </p:txBody>
      </p:sp>
      <p:sp>
        <p:nvSpPr>
          <p:cNvPr id="47" name="TextBox 46"/>
          <p:cNvSpPr txBox="1"/>
          <p:nvPr/>
        </p:nvSpPr>
        <p:spPr>
          <a:xfrm>
            <a:off x="1743075" y="3780609"/>
            <a:ext cx="1089374" cy="179984"/>
          </a:xfrm>
          <a:prstGeom prst="rect">
            <a:avLst/>
          </a:prstGeom>
          <a:noFill/>
        </p:spPr>
        <p:txBody>
          <a:bodyPr wrap="none" lIns="0" rIns="0" tIns="0" bIns="0">
            <a:spAutoFit/>
          </a:bodyPr>
          <a:lstStyle/>
          <a:p>
            <a:r>
              <a:rPr sz="1055" b="0">
                <a:solidFill>
                  <a:srgbClr val="2E2E2E"/>
                </a:solidFill>
                <a:latin typeface="Calibri"/>
              </a:rPr>
              <a:t>The market passes</a:t>
            </a:r>
          </a:p>
        </p:txBody>
      </p:sp>
      <p:pic>
        <p:nvPicPr>
          <p:cNvPr id="48" name="Picture 47" descr="lock.png"/>
          <p:cNvPicPr>
            <a:picLocks noChangeAspect="1"/>
          </p:cNvPicPr>
          <p:nvPr/>
        </p:nvPicPr>
        <p:blipFill>
          <a:blip r:embed="rId4"/>
          <a:stretch>
            <a:fillRect/>
          </a:stretch>
        </p:blipFill>
        <p:spPr>
          <a:xfrm>
            <a:off x="2779530" y="3771221"/>
            <a:ext cx="123551" cy="179710"/>
          </a:xfrm>
          <a:prstGeom prst="rect">
            <a:avLst/>
          </a:prstGeom>
        </p:spPr>
      </p:pic>
      <p:sp>
        <p:nvSpPr>
          <p:cNvPr id="49" name="TextBox 48"/>
          <p:cNvSpPr txBox="1"/>
          <p:nvPr/>
        </p:nvSpPr>
        <p:spPr>
          <a:xfrm>
            <a:off x="2940326" y="3780609"/>
            <a:ext cx="2945201" cy="179984"/>
          </a:xfrm>
          <a:prstGeom prst="rect">
            <a:avLst/>
          </a:prstGeom>
          <a:noFill/>
        </p:spPr>
        <p:txBody>
          <a:bodyPr wrap="none" lIns="0" rIns="0" tIns="0" bIns="0">
            <a:spAutoFit/>
          </a:bodyPr>
          <a:lstStyle/>
          <a:p>
            <a:r>
              <a:rPr sz="1055" b="0">
                <a:solidFill>
                  <a:srgbClr val="2E2E2E"/>
                </a:solidFill>
                <a:latin typeface="Calibri"/>
              </a:rPr>
              <a:t>US$ Mn one and a half times the 2026 base reaching</a:t>
            </a:r>
          </a:p>
        </p:txBody>
      </p:sp>
      <p:pic>
        <p:nvPicPr>
          <p:cNvPr id="50" name="Picture 49" descr="lock.png"/>
          <p:cNvPicPr>
            <a:picLocks noChangeAspect="1"/>
          </p:cNvPicPr>
          <p:nvPr/>
        </p:nvPicPr>
        <p:blipFill>
          <a:blip r:embed="rId4"/>
          <a:stretch>
            <a:fillRect/>
          </a:stretch>
        </p:blipFill>
        <p:spPr>
          <a:xfrm>
            <a:off x="5832609" y="3771221"/>
            <a:ext cx="123551" cy="179710"/>
          </a:xfrm>
          <a:prstGeom prst="rect">
            <a:avLst/>
          </a:prstGeom>
        </p:spPr>
      </p:pic>
      <p:sp>
        <p:nvSpPr>
          <p:cNvPr id="51" name="TextBox 50"/>
          <p:cNvSpPr txBox="1"/>
          <p:nvPr/>
        </p:nvSpPr>
        <p:spPr>
          <a:xfrm>
            <a:off x="5993405" y="3780609"/>
            <a:ext cx="3592972" cy="179984"/>
          </a:xfrm>
          <a:prstGeom prst="rect">
            <a:avLst/>
          </a:prstGeom>
          <a:noFill/>
        </p:spPr>
        <p:txBody>
          <a:bodyPr wrap="none" lIns="0" rIns="0" tIns="0" bIns="0">
            <a:spAutoFit/>
          </a:bodyPr>
          <a:lstStyle/>
          <a:p>
            <a:r>
              <a:rPr sz="1055" b="0">
                <a:solidFill>
                  <a:srgbClr val="2E2E2E"/>
                </a:solidFill>
                <a:latin typeface="Calibri"/>
              </a:rPr>
              <a:t>US$ Mn. Growth by this point is led by 'Steam Turbine-Driven' at</a:t>
            </a:r>
          </a:p>
        </p:txBody>
      </p:sp>
      <p:pic>
        <p:nvPicPr>
          <p:cNvPr id="52" name="Picture 51" descr="lock.png"/>
          <p:cNvPicPr>
            <a:picLocks noChangeAspect="1"/>
          </p:cNvPicPr>
          <p:nvPr/>
        </p:nvPicPr>
        <p:blipFill>
          <a:blip r:embed="rId4"/>
          <a:stretch>
            <a:fillRect/>
          </a:stretch>
        </p:blipFill>
        <p:spPr>
          <a:xfrm>
            <a:off x="9533460" y="3771221"/>
            <a:ext cx="123551" cy="179710"/>
          </a:xfrm>
          <a:prstGeom prst="rect">
            <a:avLst/>
          </a:prstGeom>
        </p:spPr>
      </p:pic>
      <p:sp>
        <p:nvSpPr>
          <p:cNvPr id="53" name="TextBox 52"/>
          <p:cNvSpPr txBox="1"/>
          <p:nvPr/>
        </p:nvSpPr>
        <p:spPr>
          <a:xfrm>
            <a:off x="9694256" y="3780609"/>
            <a:ext cx="1945107" cy="179984"/>
          </a:xfrm>
          <a:prstGeom prst="rect">
            <a:avLst/>
          </a:prstGeom>
          <a:noFill/>
        </p:spPr>
        <p:txBody>
          <a:bodyPr wrap="none" lIns="0" rIns="0" tIns="0" bIns="0">
            <a:spAutoFit/>
          </a:bodyPr>
          <a:lstStyle/>
          <a:p>
            <a:r>
              <a:rPr sz="1055" b="0">
                <a:solidFill>
                  <a:srgbClr val="2E2E2E"/>
                </a:solidFill>
                <a:latin typeface="Calibri"/>
              </a:rPr>
              <a:t>CAGR and by 'South Asia &amp; Pacific'</a:t>
            </a:r>
          </a:p>
        </p:txBody>
      </p:sp>
      <p:sp>
        <p:nvSpPr>
          <p:cNvPr id="54" name="TextBox 53"/>
          <p:cNvSpPr txBox="1"/>
          <p:nvPr/>
        </p:nvSpPr>
        <p:spPr>
          <a:xfrm>
            <a:off x="1743075" y="3941543"/>
            <a:ext cx="1023104" cy="179984"/>
          </a:xfrm>
          <a:prstGeom prst="rect">
            <a:avLst/>
          </a:prstGeom>
          <a:noFill/>
        </p:spPr>
        <p:txBody>
          <a:bodyPr wrap="none" lIns="0" rIns="0" tIns="0" bIns="0">
            <a:spAutoFit/>
          </a:bodyPr>
          <a:lstStyle/>
          <a:p>
            <a:r>
              <a:rPr sz="1055" b="0">
                <a:solidFill>
                  <a:srgbClr val="2E2E2E"/>
                </a:solidFill>
                <a:latin typeface="Calibri"/>
              </a:rPr>
              <a:t>among regions at</a:t>
            </a:r>
          </a:p>
        </p:txBody>
      </p:sp>
      <p:pic>
        <p:nvPicPr>
          <p:cNvPr id="55" name="Picture 54" descr="lock.png"/>
          <p:cNvPicPr>
            <a:picLocks noChangeAspect="1"/>
          </p:cNvPicPr>
          <p:nvPr/>
        </p:nvPicPr>
        <p:blipFill>
          <a:blip r:embed="rId4"/>
          <a:stretch>
            <a:fillRect/>
          </a:stretch>
        </p:blipFill>
        <p:spPr>
          <a:xfrm>
            <a:off x="2713260" y="3932155"/>
            <a:ext cx="123551" cy="179710"/>
          </a:xfrm>
          <a:prstGeom prst="rect">
            <a:avLst/>
          </a:prstGeom>
        </p:spPr>
      </p:pic>
      <p:sp>
        <p:nvSpPr>
          <p:cNvPr id="56" name="TextBox 55"/>
          <p:cNvSpPr txBox="1"/>
          <p:nvPr/>
        </p:nvSpPr>
        <p:spPr>
          <a:xfrm>
            <a:off x="2874056" y="3941543"/>
            <a:ext cx="3178063" cy="179984"/>
          </a:xfrm>
          <a:prstGeom prst="rect">
            <a:avLst/>
          </a:prstGeom>
          <a:noFill/>
        </p:spPr>
        <p:txBody>
          <a:bodyPr wrap="none" lIns="0" rIns="0" tIns="0" bIns="0">
            <a:spAutoFit/>
          </a:bodyPr>
          <a:lstStyle/>
          <a:p>
            <a:r>
              <a:rPr sz="1055" b="0">
                <a:solidFill>
                  <a:srgbClr val="2E2E2E"/>
                </a:solidFill>
                <a:latin typeface="Calibri"/>
              </a:rPr>
              <a:t>, with 4 of 7 regions running at or above the market rate.</a:t>
            </a:r>
          </a:p>
        </p:txBody>
      </p:sp>
      <p:sp>
        <p:nvSpPr>
          <p:cNvPr id="57" name="TextBox 56"/>
          <p:cNvSpPr txBox="1"/>
          <p:nvPr/>
        </p:nvSpPr>
        <p:spPr>
          <a:xfrm>
            <a:off x="1743075" y="4830195"/>
            <a:ext cx="2190297" cy="179984"/>
          </a:xfrm>
          <a:prstGeom prst="rect">
            <a:avLst/>
          </a:prstGeom>
          <a:noFill/>
        </p:spPr>
        <p:txBody>
          <a:bodyPr wrap="none" lIns="0" rIns="0" tIns="0" bIns="0">
            <a:spAutoFit/>
          </a:bodyPr>
          <a:lstStyle/>
          <a:p>
            <a:r>
              <a:rPr sz="1055" b="0">
                <a:solidFill>
                  <a:srgbClr val="2E2E2E"/>
                </a:solidFill>
                <a:latin typeface="Calibri"/>
              </a:rPr>
              <a:t>Mid-horizon checkpoint: value reaches</a:t>
            </a:r>
          </a:p>
        </p:txBody>
      </p:sp>
      <p:pic>
        <p:nvPicPr>
          <p:cNvPr id="58" name="Picture 57" descr="lock.png"/>
          <p:cNvPicPr>
            <a:picLocks noChangeAspect="1"/>
          </p:cNvPicPr>
          <p:nvPr/>
        </p:nvPicPr>
        <p:blipFill>
          <a:blip r:embed="rId4"/>
          <a:stretch>
            <a:fillRect/>
          </a:stretch>
        </p:blipFill>
        <p:spPr>
          <a:xfrm>
            <a:off x="3880454" y="4820807"/>
            <a:ext cx="123551" cy="179710"/>
          </a:xfrm>
          <a:prstGeom prst="rect">
            <a:avLst/>
          </a:prstGeom>
        </p:spPr>
      </p:pic>
      <p:sp>
        <p:nvSpPr>
          <p:cNvPr id="59" name="TextBox 58"/>
          <p:cNvSpPr txBox="1"/>
          <p:nvPr/>
        </p:nvSpPr>
        <p:spPr>
          <a:xfrm>
            <a:off x="4041250" y="4830195"/>
            <a:ext cx="541139" cy="179984"/>
          </a:xfrm>
          <a:prstGeom prst="rect">
            <a:avLst/>
          </a:prstGeom>
          <a:noFill/>
        </p:spPr>
        <p:txBody>
          <a:bodyPr wrap="none" lIns="0" rIns="0" tIns="0" bIns="0">
            <a:spAutoFit/>
          </a:bodyPr>
          <a:lstStyle/>
          <a:p>
            <a:r>
              <a:rPr sz="1055" b="0">
                <a:solidFill>
                  <a:srgbClr val="2E2E2E"/>
                </a:solidFill>
                <a:latin typeface="Calibri"/>
              </a:rPr>
              <a:t>US$ Mn,</a:t>
            </a:r>
          </a:p>
        </p:txBody>
      </p:sp>
      <p:pic>
        <p:nvPicPr>
          <p:cNvPr id="60" name="Picture 59" descr="lock.png"/>
          <p:cNvPicPr>
            <a:picLocks noChangeAspect="1"/>
          </p:cNvPicPr>
          <p:nvPr/>
        </p:nvPicPr>
        <p:blipFill>
          <a:blip r:embed="rId4"/>
          <a:stretch>
            <a:fillRect/>
          </a:stretch>
        </p:blipFill>
        <p:spPr>
          <a:xfrm>
            <a:off x="4529470" y="4820807"/>
            <a:ext cx="123551" cy="179710"/>
          </a:xfrm>
          <a:prstGeom prst="rect">
            <a:avLst/>
          </a:prstGeom>
        </p:spPr>
      </p:pic>
      <p:sp>
        <p:nvSpPr>
          <p:cNvPr id="61" name="TextBox 60"/>
          <p:cNvSpPr txBox="1"/>
          <p:nvPr/>
        </p:nvSpPr>
        <p:spPr>
          <a:xfrm>
            <a:off x="4690266" y="4830195"/>
            <a:ext cx="2581333" cy="179984"/>
          </a:xfrm>
          <a:prstGeom prst="rect">
            <a:avLst/>
          </a:prstGeom>
          <a:noFill/>
        </p:spPr>
        <p:txBody>
          <a:bodyPr wrap="none" lIns="0" rIns="0" tIns="0" bIns="0">
            <a:spAutoFit/>
          </a:bodyPr>
          <a:lstStyle/>
          <a:p>
            <a:r>
              <a:rPr sz="1055" b="0">
                <a:solidFill>
                  <a:srgbClr val="2E2E2E"/>
                </a:solidFill>
                <a:latin typeface="Calibri"/>
              </a:rPr>
              <a:t>× the 2026 base. Average realisation stands at</a:t>
            </a:r>
          </a:p>
        </p:txBody>
      </p:sp>
      <p:pic>
        <p:nvPicPr>
          <p:cNvPr id="62" name="Picture 61" descr="lock.png"/>
          <p:cNvPicPr>
            <a:picLocks noChangeAspect="1"/>
          </p:cNvPicPr>
          <p:nvPr/>
        </p:nvPicPr>
        <p:blipFill>
          <a:blip r:embed="rId4"/>
          <a:stretch>
            <a:fillRect/>
          </a:stretch>
        </p:blipFill>
        <p:spPr>
          <a:xfrm>
            <a:off x="7218681" y="4820807"/>
            <a:ext cx="123551" cy="179710"/>
          </a:xfrm>
          <a:prstGeom prst="rect">
            <a:avLst/>
          </a:prstGeom>
        </p:spPr>
      </p:pic>
      <p:sp>
        <p:nvSpPr>
          <p:cNvPr id="63" name="TextBox 62"/>
          <p:cNvSpPr txBox="1"/>
          <p:nvPr/>
        </p:nvSpPr>
        <p:spPr>
          <a:xfrm>
            <a:off x="7379477" y="4830195"/>
            <a:ext cx="1845063" cy="179984"/>
          </a:xfrm>
          <a:prstGeom prst="rect">
            <a:avLst/>
          </a:prstGeom>
          <a:noFill/>
        </p:spPr>
        <p:txBody>
          <a:bodyPr wrap="none" lIns="0" rIns="0" tIns="0" bIns="0">
            <a:spAutoFit/>
          </a:bodyPr>
          <a:lstStyle/>
          <a:p>
            <a:r>
              <a:rPr sz="1055" b="0">
                <a:solidFill>
                  <a:srgbClr val="2E2E2E"/>
                </a:solidFill>
                <a:latin typeface="Calibri"/>
              </a:rPr>
              <a:t>US$/Units, and mix has moved +</a:t>
            </a:r>
          </a:p>
        </p:txBody>
      </p:sp>
      <p:pic>
        <p:nvPicPr>
          <p:cNvPr id="64" name="Picture 63" descr="lock.png"/>
          <p:cNvPicPr>
            <a:picLocks noChangeAspect="1"/>
          </p:cNvPicPr>
          <p:nvPr/>
        </p:nvPicPr>
        <p:blipFill>
          <a:blip r:embed="rId4"/>
          <a:stretch>
            <a:fillRect/>
          </a:stretch>
        </p:blipFill>
        <p:spPr>
          <a:xfrm>
            <a:off x="9171623" y="4820807"/>
            <a:ext cx="123551" cy="179710"/>
          </a:xfrm>
          <a:prstGeom prst="rect">
            <a:avLst/>
          </a:prstGeom>
        </p:spPr>
      </p:pic>
      <p:sp>
        <p:nvSpPr>
          <p:cNvPr id="65" name="TextBox 64"/>
          <p:cNvSpPr txBox="1"/>
          <p:nvPr/>
        </p:nvSpPr>
        <p:spPr>
          <a:xfrm>
            <a:off x="9332419" y="4830195"/>
            <a:ext cx="1989129" cy="179984"/>
          </a:xfrm>
          <a:prstGeom prst="rect">
            <a:avLst/>
          </a:prstGeom>
          <a:noFill/>
        </p:spPr>
        <p:txBody>
          <a:bodyPr wrap="none" lIns="0" rIns="0" tIns="0" bIns="0">
            <a:spAutoFit/>
          </a:bodyPr>
          <a:lstStyle/>
          <a:p>
            <a:r>
              <a:rPr sz="1055" b="0">
                <a:solidFill>
                  <a:srgbClr val="2E2E2E"/>
                </a:solidFill>
                <a:latin typeface="Calibri"/>
              </a:rPr>
              <a:t>BPS toward 'Steam Turbine-Driven'</a:t>
            </a:r>
          </a:p>
        </p:txBody>
      </p:sp>
      <p:sp>
        <p:nvSpPr>
          <p:cNvPr id="66" name="TextBox 65"/>
          <p:cNvSpPr txBox="1"/>
          <p:nvPr/>
        </p:nvSpPr>
        <p:spPr>
          <a:xfrm>
            <a:off x="1743075" y="4991129"/>
            <a:ext cx="2372868" cy="179984"/>
          </a:xfrm>
          <a:prstGeom prst="rect">
            <a:avLst/>
          </a:prstGeom>
          <a:noFill/>
        </p:spPr>
        <p:txBody>
          <a:bodyPr wrap="none" lIns="0" rIns="0" tIns="0" bIns="0">
            <a:spAutoFit/>
          </a:bodyPr>
          <a:lstStyle/>
          <a:p>
            <a:r>
              <a:rPr sz="1055" b="0">
                <a:solidFill>
                  <a:srgbClr val="2E2E2E"/>
                </a:solidFill>
                <a:latin typeface="Calibri"/>
              </a:rPr>
              <a:t>while 'Natural Gas Engine-Driven' gives up</a:t>
            </a:r>
          </a:p>
        </p:txBody>
      </p:sp>
      <p:pic>
        <p:nvPicPr>
          <p:cNvPr id="67" name="Picture 66" descr="lock.png"/>
          <p:cNvPicPr>
            <a:picLocks noChangeAspect="1"/>
          </p:cNvPicPr>
          <p:nvPr/>
        </p:nvPicPr>
        <p:blipFill>
          <a:blip r:embed="rId4"/>
          <a:stretch>
            <a:fillRect/>
          </a:stretch>
        </p:blipFill>
        <p:spPr>
          <a:xfrm>
            <a:off x="4063024" y="4981741"/>
            <a:ext cx="123551" cy="179710"/>
          </a:xfrm>
          <a:prstGeom prst="rect">
            <a:avLst/>
          </a:prstGeom>
        </p:spPr>
      </p:pic>
      <p:sp>
        <p:nvSpPr>
          <p:cNvPr id="68" name="TextBox 67"/>
          <p:cNvSpPr txBox="1"/>
          <p:nvPr/>
        </p:nvSpPr>
        <p:spPr>
          <a:xfrm>
            <a:off x="4223820" y="4991129"/>
            <a:ext cx="314039" cy="179984"/>
          </a:xfrm>
          <a:prstGeom prst="rect">
            <a:avLst/>
          </a:prstGeom>
          <a:noFill/>
        </p:spPr>
        <p:txBody>
          <a:bodyPr wrap="none" lIns="0" rIns="0" tIns="0" bIns="0">
            <a:spAutoFit/>
          </a:bodyPr>
          <a:lstStyle/>
          <a:p>
            <a:r>
              <a:rPr sz="1055" b="0">
                <a:solidFill>
                  <a:srgbClr val="2E2E2E"/>
                </a:solidFill>
                <a:latin typeface="Calibri"/>
              </a:rPr>
              <a:t>BPS.</a:t>
            </a:r>
          </a:p>
        </p:txBody>
      </p:sp>
      <p:sp>
        <p:nvSpPr>
          <p:cNvPr id="69" name="TextBox 68"/>
          <p:cNvSpPr txBox="1"/>
          <p:nvPr/>
        </p:nvSpPr>
        <p:spPr>
          <a:xfrm>
            <a:off x="1743075" y="5879784"/>
            <a:ext cx="2544146" cy="179984"/>
          </a:xfrm>
          <a:prstGeom prst="rect">
            <a:avLst/>
          </a:prstGeom>
          <a:noFill/>
        </p:spPr>
        <p:txBody>
          <a:bodyPr wrap="none" lIns="0" rIns="0" tIns="0" bIns="0">
            <a:spAutoFit/>
          </a:bodyPr>
          <a:lstStyle/>
          <a:p>
            <a:r>
              <a:rPr sz="1055" b="0">
                <a:solidFill>
                  <a:srgbClr val="2E2E2E"/>
                </a:solidFill>
                <a:latin typeface="Calibri"/>
              </a:rPr>
              <a:t>Forecast outcome: the global market reaches</a:t>
            </a:r>
          </a:p>
        </p:txBody>
      </p:sp>
      <p:pic>
        <p:nvPicPr>
          <p:cNvPr id="70" name="Picture 69" descr="lock.png"/>
          <p:cNvPicPr>
            <a:picLocks noChangeAspect="1"/>
          </p:cNvPicPr>
          <p:nvPr/>
        </p:nvPicPr>
        <p:blipFill>
          <a:blip r:embed="rId4"/>
          <a:stretch>
            <a:fillRect/>
          </a:stretch>
        </p:blipFill>
        <p:spPr>
          <a:xfrm>
            <a:off x="4234303" y="5870396"/>
            <a:ext cx="123551" cy="179710"/>
          </a:xfrm>
          <a:prstGeom prst="rect">
            <a:avLst/>
          </a:prstGeom>
        </p:spPr>
      </p:pic>
      <p:sp>
        <p:nvSpPr>
          <p:cNvPr id="71" name="TextBox 70"/>
          <p:cNvSpPr txBox="1"/>
          <p:nvPr/>
        </p:nvSpPr>
        <p:spPr>
          <a:xfrm>
            <a:off x="4395098" y="5879784"/>
            <a:ext cx="635698" cy="179984"/>
          </a:xfrm>
          <a:prstGeom prst="rect">
            <a:avLst/>
          </a:prstGeom>
          <a:noFill/>
        </p:spPr>
        <p:txBody>
          <a:bodyPr wrap="none" lIns="0" rIns="0" tIns="0" bIns="0">
            <a:spAutoFit/>
          </a:bodyPr>
          <a:lstStyle/>
          <a:p>
            <a:r>
              <a:rPr sz="1055" b="0">
                <a:solidFill>
                  <a:srgbClr val="2E2E2E"/>
                </a:solidFill>
                <a:latin typeface="Calibri"/>
              </a:rPr>
              <a:t>US$ Mn, a</a:t>
            </a:r>
          </a:p>
        </p:txBody>
      </p:sp>
      <p:pic>
        <p:nvPicPr>
          <p:cNvPr id="72" name="Picture 71" descr="lock.png"/>
          <p:cNvPicPr>
            <a:picLocks noChangeAspect="1"/>
          </p:cNvPicPr>
          <p:nvPr/>
        </p:nvPicPr>
        <p:blipFill>
          <a:blip r:embed="rId4"/>
          <a:stretch>
            <a:fillRect/>
          </a:stretch>
        </p:blipFill>
        <p:spPr>
          <a:xfrm>
            <a:off x="4977879" y="5870396"/>
            <a:ext cx="123551" cy="179710"/>
          </a:xfrm>
          <a:prstGeom prst="rect">
            <a:avLst/>
          </a:prstGeom>
        </p:spPr>
      </p:pic>
      <p:sp>
        <p:nvSpPr>
          <p:cNvPr id="73" name="TextBox 72"/>
          <p:cNvSpPr txBox="1"/>
          <p:nvPr/>
        </p:nvSpPr>
        <p:spPr>
          <a:xfrm>
            <a:off x="5138675" y="5879784"/>
            <a:ext cx="1437751" cy="179984"/>
          </a:xfrm>
          <a:prstGeom prst="rect">
            <a:avLst/>
          </a:prstGeom>
          <a:noFill/>
        </p:spPr>
        <p:txBody>
          <a:bodyPr wrap="none" lIns="0" rIns="0" tIns="0" bIns="0">
            <a:spAutoFit/>
          </a:bodyPr>
          <a:lstStyle/>
          <a:p>
            <a:r>
              <a:rPr sz="1055" b="0">
                <a:solidFill>
                  <a:srgbClr val="2E2E2E"/>
                </a:solidFill>
                <a:latin typeface="Calibri"/>
              </a:rPr>
              <a:t>× expansion on 2026 and</a:t>
            </a:r>
          </a:p>
        </p:txBody>
      </p:sp>
      <p:pic>
        <p:nvPicPr>
          <p:cNvPr id="74" name="Picture 73" descr="lock.png"/>
          <p:cNvPicPr>
            <a:picLocks noChangeAspect="1"/>
          </p:cNvPicPr>
          <p:nvPr/>
        </p:nvPicPr>
        <p:blipFill>
          <a:blip r:embed="rId4"/>
          <a:stretch>
            <a:fillRect/>
          </a:stretch>
        </p:blipFill>
        <p:spPr>
          <a:xfrm>
            <a:off x="6523507" y="5870396"/>
            <a:ext cx="123551" cy="179710"/>
          </a:xfrm>
          <a:prstGeom prst="rect">
            <a:avLst/>
          </a:prstGeom>
        </p:spPr>
      </p:pic>
      <p:sp>
        <p:nvSpPr>
          <p:cNvPr id="75" name="TextBox 74"/>
          <p:cNvSpPr txBox="1"/>
          <p:nvPr/>
        </p:nvSpPr>
        <p:spPr>
          <a:xfrm>
            <a:off x="6684303" y="5879784"/>
            <a:ext cx="1799224" cy="179984"/>
          </a:xfrm>
          <a:prstGeom prst="rect">
            <a:avLst/>
          </a:prstGeom>
          <a:noFill/>
        </p:spPr>
        <p:txBody>
          <a:bodyPr wrap="none" lIns="0" rIns="0" tIns="0" bIns="0">
            <a:spAutoFit/>
          </a:bodyPr>
          <a:lstStyle/>
          <a:p>
            <a:r>
              <a:rPr sz="1055" b="0">
                <a:solidFill>
                  <a:srgbClr val="2E2E2E"/>
                </a:solidFill>
                <a:latin typeface="Calibri"/>
              </a:rPr>
              <a:t>US$ Mn of incremental value at</a:t>
            </a:r>
          </a:p>
        </p:txBody>
      </p:sp>
      <p:pic>
        <p:nvPicPr>
          <p:cNvPr id="76" name="Picture 75" descr="lock.png"/>
          <p:cNvPicPr>
            <a:picLocks noChangeAspect="1"/>
          </p:cNvPicPr>
          <p:nvPr/>
        </p:nvPicPr>
        <p:blipFill>
          <a:blip r:embed="rId4"/>
          <a:stretch>
            <a:fillRect/>
          </a:stretch>
        </p:blipFill>
        <p:spPr>
          <a:xfrm>
            <a:off x="8430610" y="5870396"/>
            <a:ext cx="123551" cy="179710"/>
          </a:xfrm>
          <a:prstGeom prst="rect">
            <a:avLst/>
          </a:prstGeom>
        </p:spPr>
      </p:pic>
      <p:sp>
        <p:nvSpPr>
          <p:cNvPr id="77" name="TextBox 76"/>
          <p:cNvSpPr txBox="1"/>
          <p:nvPr/>
        </p:nvSpPr>
        <p:spPr>
          <a:xfrm>
            <a:off x="8591406" y="5879784"/>
            <a:ext cx="1678717" cy="179984"/>
          </a:xfrm>
          <a:prstGeom prst="rect">
            <a:avLst/>
          </a:prstGeom>
          <a:noFill/>
        </p:spPr>
        <p:txBody>
          <a:bodyPr wrap="none" lIns="0" rIns="0" tIns="0" bIns="0">
            <a:spAutoFit/>
          </a:bodyPr>
          <a:lstStyle/>
          <a:p>
            <a:r>
              <a:rPr sz="1055" b="0">
                <a:solidFill>
                  <a:srgbClr val="2E2E2E"/>
                </a:solidFill>
                <a:latin typeface="Calibri"/>
              </a:rPr>
              <a:t>CAGR. Volume compounds at</a:t>
            </a:r>
          </a:p>
        </p:txBody>
      </p:sp>
      <p:pic>
        <p:nvPicPr>
          <p:cNvPr id="78" name="Picture 77" descr="lock.png"/>
          <p:cNvPicPr>
            <a:picLocks noChangeAspect="1"/>
          </p:cNvPicPr>
          <p:nvPr/>
        </p:nvPicPr>
        <p:blipFill>
          <a:blip r:embed="rId4"/>
          <a:stretch>
            <a:fillRect/>
          </a:stretch>
        </p:blipFill>
        <p:spPr>
          <a:xfrm>
            <a:off x="10217204" y="5870396"/>
            <a:ext cx="123551" cy="179710"/>
          </a:xfrm>
          <a:prstGeom prst="rect">
            <a:avLst/>
          </a:prstGeom>
        </p:spPr>
      </p:pic>
      <p:sp>
        <p:nvSpPr>
          <p:cNvPr id="79" name="TextBox 78"/>
          <p:cNvSpPr txBox="1"/>
          <p:nvPr/>
        </p:nvSpPr>
        <p:spPr>
          <a:xfrm>
            <a:off x="10378000" y="5879784"/>
            <a:ext cx="854678" cy="179984"/>
          </a:xfrm>
          <a:prstGeom prst="rect">
            <a:avLst/>
          </a:prstGeom>
          <a:noFill/>
        </p:spPr>
        <p:txBody>
          <a:bodyPr wrap="none" lIns="0" rIns="0" tIns="0" bIns="0">
            <a:spAutoFit/>
          </a:bodyPr>
          <a:lstStyle/>
          <a:p>
            <a:r>
              <a:rPr sz="1055" b="0">
                <a:solidFill>
                  <a:srgbClr val="2E2E2E"/>
                </a:solidFill>
                <a:latin typeface="Calibri"/>
              </a:rPr>
              <a:t>over the same</a:t>
            </a:r>
          </a:p>
        </p:txBody>
      </p:sp>
      <p:sp>
        <p:nvSpPr>
          <p:cNvPr id="80" name="TextBox 79"/>
          <p:cNvSpPr txBox="1"/>
          <p:nvPr/>
        </p:nvSpPr>
        <p:spPr>
          <a:xfrm>
            <a:off x="1743075" y="6040718"/>
            <a:ext cx="1565052" cy="179984"/>
          </a:xfrm>
          <a:prstGeom prst="rect">
            <a:avLst/>
          </a:prstGeom>
          <a:noFill/>
        </p:spPr>
        <p:txBody>
          <a:bodyPr wrap="none" lIns="0" rIns="0" tIns="0" bIns="0">
            <a:spAutoFit/>
          </a:bodyPr>
          <a:lstStyle/>
          <a:p>
            <a:r>
              <a:rPr sz="1055" b="0">
                <a:solidFill>
                  <a:srgbClr val="2E2E2E"/>
                </a:solidFill>
                <a:latin typeface="Calibri"/>
              </a:rPr>
              <a:t>window, leaving realisation</a:t>
            </a:r>
          </a:p>
        </p:txBody>
      </p:sp>
      <p:pic>
        <p:nvPicPr>
          <p:cNvPr id="81" name="Picture 80" descr="lock.png"/>
          <p:cNvPicPr>
            <a:picLocks noChangeAspect="1"/>
          </p:cNvPicPr>
          <p:nvPr/>
        </p:nvPicPr>
        <p:blipFill>
          <a:blip r:embed="rId4"/>
          <a:stretch>
            <a:fillRect/>
          </a:stretch>
        </p:blipFill>
        <p:spPr>
          <a:xfrm>
            <a:off x="3255209" y="6031330"/>
            <a:ext cx="123551" cy="179710"/>
          </a:xfrm>
          <a:prstGeom prst="rect">
            <a:avLst/>
          </a:prstGeom>
        </p:spPr>
      </p:pic>
      <p:sp>
        <p:nvSpPr>
          <p:cNvPr id="82" name="TextBox 81"/>
          <p:cNvSpPr txBox="1"/>
          <p:nvPr/>
        </p:nvSpPr>
        <p:spPr>
          <a:xfrm>
            <a:off x="3416005" y="6040718"/>
            <a:ext cx="4255412" cy="179984"/>
          </a:xfrm>
          <a:prstGeom prst="rect">
            <a:avLst/>
          </a:prstGeom>
          <a:noFill/>
        </p:spPr>
        <p:txBody>
          <a:bodyPr wrap="none" lIns="0" rIns="0" tIns="0" bIns="0">
            <a:spAutoFit/>
          </a:bodyPr>
          <a:lstStyle/>
          <a:p>
            <a:r>
              <a:rPr sz="1055" b="0">
                <a:solidFill>
                  <a:srgbClr val="2E2E2E"/>
                </a:solidFill>
                <a:latin typeface="Calibri"/>
              </a:rPr>
              <a:t>a year the gap between the two is the premiumisation the forecast assumes.</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Porter's Five Forces Analysis Global Industrial Air Compressor Market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supplier power, buyer power, competition, substitutes and entry barriers shaping the market's profitability</a:t>
            </a:r>
          </a:p>
        </p:txBody>
      </p:sp>
      <p:sp>
        <p:nvSpPr>
          <p:cNvPr id="7" name="TextBox 6"/>
          <p:cNvSpPr txBox="1"/>
          <p:nvPr/>
        </p:nvSpPr>
        <p:spPr>
          <a:xfrm>
            <a:off x="142875" y="989007"/>
            <a:ext cx="11906250" cy="328567"/>
          </a:xfrm>
          <a:prstGeom prst="rect">
            <a:avLst/>
          </a:prstGeom>
          <a:noFill/>
        </p:spPr>
        <p:txBody>
          <a:bodyPr wrap="square" lIns="28575" rIns="28575" tIns="9525" bIns="9525" anchor="ctr">
            <a:spAutoFit/>
          </a:bodyPr>
          <a:lstStyle/>
          <a:p>
            <a:pPr algn="l">
              <a:lnSpc>
                <a:spcPct val="115000"/>
              </a:lnSpc>
            </a:pPr>
            <a:r>
              <a:rPr sz="1100" b="0">
                <a:solidFill>
                  <a:srgbClr val="6C7A89"/>
                </a:solidFill>
                <a:latin typeface="Calibri"/>
              </a:rPr>
              <a:t/>
            </a:r>
          </a:p>
        </p:txBody>
      </p:sp>
      <p:sp>
        <p:nvSpPr>
          <p:cNvPr id="8" name="Oval 7"/>
          <p:cNvSpPr/>
          <p:nvPr/>
        </p:nvSpPr>
        <p:spPr>
          <a:xfrm>
            <a:off x="876300" y="1427096"/>
            <a:ext cx="914400" cy="876177"/>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64394"/>
            <a:ext cx="571500" cy="401581"/>
          </a:xfrm>
          <a:prstGeom prst="rect">
            <a:avLst/>
          </a:prstGeom>
          <a:noFill/>
        </p:spPr>
        <p:txBody>
          <a:bodyPr wrap="none" lIns="0" rIns="0" tIns="0" bIns="0" anchor="ctr">
            <a:spAutoFit/>
          </a:bodyPr>
          <a:lstStyle/>
          <a:p>
            <a:pPr algn="ctr"/>
            <a:r>
              <a:rPr sz="3400" b="1">
                <a:solidFill>
                  <a:srgbClr val="8A6A00"/>
                </a:solidFill>
                <a:latin typeface="Calibri"/>
              </a:rPr>
              <a:t>$</a:t>
            </a:r>
          </a:p>
        </p:txBody>
      </p:sp>
      <p:sp>
        <p:nvSpPr>
          <p:cNvPr id="10" name="TextBox 9"/>
          <p:cNvSpPr txBox="1"/>
          <p:nvPr/>
        </p:nvSpPr>
        <p:spPr>
          <a:xfrm>
            <a:off x="219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Suppliers</a:t>
            </a:r>
          </a:p>
        </p:txBody>
      </p:sp>
      <p:sp>
        <p:nvSpPr>
          <p:cNvPr id="11" name="TextBox 10"/>
          <p:cNvSpPr txBox="1"/>
          <p:nvPr/>
        </p:nvSpPr>
        <p:spPr>
          <a:xfrm>
            <a:off x="247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2" name="TextBox 11"/>
          <p:cNvSpPr txBox="1"/>
          <p:nvPr/>
        </p:nvSpPr>
        <p:spPr>
          <a:xfrm>
            <a:off x="2476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3" name="TextBox 12"/>
          <p:cNvSpPr txBox="1"/>
          <p:nvPr/>
        </p:nvSpPr>
        <p:spPr>
          <a:xfrm>
            <a:off x="247650" y="4530225"/>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Buyers can rebalance across 6 driver type lines, which caps supplier leverage in commodity grades.</a:t>
            </a:r>
          </a:p>
        </p:txBody>
      </p:sp>
      <p:sp>
        <p:nvSpPr>
          <p:cNvPr id="14" name="Oval 13"/>
          <p:cNvSpPr/>
          <p:nvPr/>
        </p:nvSpPr>
        <p:spPr>
          <a:xfrm>
            <a:off x="3257550" y="1427096"/>
            <a:ext cx="914400" cy="876177"/>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3476625" y="1710028"/>
            <a:ext cx="152400" cy="209918"/>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3609975" y="1783043"/>
            <a:ext cx="342900" cy="155156"/>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48075"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829050"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003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Buyers</a:t>
            </a:r>
          </a:p>
        </p:txBody>
      </p:sp>
      <p:sp>
        <p:nvSpPr>
          <p:cNvPr id="20" name="TextBox 19"/>
          <p:cNvSpPr txBox="1"/>
          <p:nvPr/>
        </p:nvSpPr>
        <p:spPr>
          <a:xfrm>
            <a:off x="2628900" y="2796123"/>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TextBox 20"/>
          <p:cNvSpPr txBox="1"/>
          <p:nvPr/>
        </p:nvSpPr>
        <p:spPr>
          <a:xfrm>
            <a:off x="2628900" y="385483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2" name="TextBox 21"/>
          <p:cNvSpPr txBox="1"/>
          <p:nvPr/>
        </p:nvSpPr>
        <p:spPr>
          <a:xfrm>
            <a:off x="2628900" y="4539352"/>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Switching is easiest where 6 comparable driver type lines compete for the same demand.</a:t>
            </a:r>
          </a:p>
        </p:txBody>
      </p:sp>
      <p:sp>
        <p:nvSpPr>
          <p:cNvPr id="23" name="Oval 22"/>
          <p:cNvSpPr/>
          <p:nvPr/>
        </p:nvSpPr>
        <p:spPr>
          <a:xfrm>
            <a:off x="5638800" y="1427096"/>
            <a:ext cx="914400" cy="876177"/>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76925" y="1655267"/>
            <a:ext cx="438150" cy="419835"/>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943600" y="1719155"/>
            <a:ext cx="304800" cy="292059"/>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010275" y="1783043"/>
            <a:ext cx="171450" cy="164283"/>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062662" y="1833240"/>
            <a:ext cx="66675" cy="63888"/>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6134100" y="1627887"/>
            <a:ext cx="209550" cy="200791"/>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6267450" y="1591379"/>
            <a:ext cx="114300" cy="109522"/>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815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Intensity of Competition</a:t>
            </a:r>
          </a:p>
        </p:txBody>
      </p:sp>
      <p:sp>
        <p:nvSpPr>
          <p:cNvPr id="31" name="TextBox 30"/>
          <p:cNvSpPr txBox="1"/>
          <p:nvPr/>
        </p:nvSpPr>
        <p:spPr>
          <a:xfrm>
            <a:off x="5010150" y="2796123"/>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5010150" y="3480637"/>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TextBox 32"/>
          <p:cNvSpPr txBox="1"/>
          <p:nvPr/>
        </p:nvSpPr>
        <p:spPr>
          <a:xfrm>
            <a:off x="5010150" y="434768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4" name="Oval 33"/>
          <p:cNvSpPr/>
          <p:nvPr/>
        </p:nvSpPr>
        <p:spPr>
          <a:xfrm>
            <a:off x="8020050" y="1427096"/>
            <a:ext cx="914400" cy="876177"/>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382000" y="1637014"/>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486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5153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628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Substitutes</a:t>
            </a:r>
          </a:p>
        </p:txBody>
      </p:sp>
      <p:sp>
        <p:nvSpPr>
          <p:cNvPr id="39" name="TextBox 38"/>
          <p:cNvSpPr txBox="1"/>
          <p:nvPr/>
        </p:nvSpPr>
        <p:spPr>
          <a:xfrm>
            <a:off x="7391400" y="2796123"/>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0" name="TextBox 39"/>
          <p:cNvSpPr txBox="1"/>
          <p:nvPr/>
        </p:nvSpPr>
        <p:spPr>
          <a:xfrm>
            <a:off x="7391400" y="3854838"/>
            <a:ext cx="21717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TextBox 40"/>
          <p:cNvSpPr txBox="1"/>
          <p:nvPr/>
        </p:nvSpPr>
        <p:spPr>
          <a:xfrm>
            <a:off x="7391400" y="434768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2" name="Oval 41"/>
          <p:cNvSpPr/>
          <p:nvPr/>
        </p:nvSpPr>
        <p:spPr>
          <a:xfrm>
            <a:off x="10401300" y="1427096"/>
            <a:ext cx="914400" cy="876177"/>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610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10563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991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10944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782300" y="1609633"/>
            <a:ext cx="152400" cy="14603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10715625" y="1783043"/>
            <a:ext cx="285750" cy="255552"/>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744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New Entrants</a:t>
            </a:r>
          </a:p>
        </p:txBody>
      </p:sp>
      <p:sp>
        <p:nvSpPr>
          <p:cNvPr id="50" name="TextBox 49"/>
          <p:cNvSpPr txBox="1"/>
          <p:nvPr/>
        </p:nvSpPr>
        <p:spPr>
          <a:xfrm>
            <a:off x="9772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1" name="TextBox 50"/>
          <p:cNvSpPr txBox="1"/>
          <p:nvPr/>
        </p:nvSpPr>
        <p:spPr>
          <a:xfrm>
            <a:off x="977265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2" name="TextBox 51"/>
          <p:cNvSpPr txBox="1"/>
          <p:nvPr/>
        </p:nvSpPr>
        <p:spPr>
          <a:xfrm>
            <a:off x="9772650" y="4347688"/>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3" name="Rectangle 5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55" name="TextBox 54"/>
          <p:cNvSpPr txBox="1"/>
          <p:nvPr/>
        </p:nvSpPr>
        <p:spPr>
          <a:xfrm>
            <a:off x="171450" y="1069470"/>
            <a:ext cx="9581529" cy="186689"/>
          </a:xfrm>
          <a:prstGeom prst="rect">
            <a:avLst/>
          </a:prstGeom>
          <a:noFill/>
        </p:spPr>
        <p:txBody>
          <a:bodyPr wrap="none" lIns="0" rIns="0" tIns="0" bIns="0">
            <a:spAutoFit/>
          </a:bodyPr>
          <a:lstStyle/>
          <a:p>
            <a:r>
              <a:rPr sz="1100" b="0">
                <a:solidFill>
                  <a:srgbClr val="6C7A89"/>
                </a:solidFill>
                <a:latin typeface="Calibri"/>
              </a:rPr>
              <a:t>Supplier power, buyer power, competitive intensity, substitution and entry barriers scored from the global dataset 6 driver type lines, 7 end use routes and 7 regions at</a:t>
            </a:r>
          </a:p>
        </p:txBody>
      </p:sp>
      <p:pic>
        <p:nvPicPr>
          <p:cNvPr id="56" name="Picture 55" descr="lock.png"/>
          <p:cNvPicPr>
            <a:picLocks noChangeAspect="1"/>
          </p:cNvPicPr>
          <p:nvPr/>
        </p:nvPicPr>
        <p:blipFill>
          <a:blip r:embed="rId4"/>
          <a:stretch>
            <a:fillRect/>
          </a:stretch>
        </p:blipFill>
        <p:spPr>
          <a:xfrm>
            <a:off x="9701031" y="1059691"/>
            <a:ext cx="128699" cy="187198"/>
          </a:xfrm>
          <a:prstGeom prst="rect">
            <a:avLst/>
          </a:prstGeom>
        </p:spPr>
      </p:pic>
      <p:sp>
        <p:nvSpPr>
          <p:cNvPr id="57" name="TextBox 56"/>
          <p:cNvSpPr txBox="1"/>
          <p:nvPr/>
        </p:nvSpPr>
        <p:spPr>
          <a:xfrm>
            <a:off x="9868527" y="1069470"/>
            <a:ext cx="430617" cy="186689"/>
          </a:xfrm>
          <a:prstGeom prst="rect">
            <a:avLst/>
          </a:prstGeom>
          <a:noFill/>
        </p:spPr>
        <p:txBody>
          <a:bodyPr wrap="none" lIns="0" rIns="0" tIns="0" bIns="0">
            <a:spAutoFit/>
          </a:bodyPr>
          <a:lstStyle/>
          <a:p>
            <a:r>
              <a:rPr sz="1100" b="0">
                <a:solidFill>
                  <a:srgbClr val="6C7A89"/>
                </a:solidFill>
                <a:latin typeface="Calibri"/>
              </a:rPr>
              <a:t>CAGR.</a:t>
            </a:r>
          </a:p>
        </p:txBody>
      </p:sp>
      <p:sp>
        <p:nvSpPr>
          <p:cNvPr id="58" name="TextBox 57"/>
          <p:cNvSpPr txBox="1"/>
          <p:nvPr/>
        </p:nvSpPr>
        <p:spPr>
          <a:xfrm>
            <a:off x="276225" y="2848734"/>
            <a:ext cx="2114550" cy="186689"/>
          </a:xfrm>
          <a:prstGeom prst="rect">
            <a:avLst/>
          </a:prstGeom>
          <a:noFill/>
        </p:spPr>
        <p:txBody>
          <a:bodyPr wrap="none" lIns="0" rIns="0" tIns="0" bIns="0">
            <a:spAutoFit/>
          </a:bodyPr>
          <a:lstStyle/>
          <a:p>
            <a:r>
              <a:rPr sz="1100" b="0">
                <a:solidFill>
                  <a:srgbClr val="2E2E2E"/>
                </a:solidFill>
                <a:latin typeface="Calibri"/>
              </a:rPr>
              <a:t>▸ Assessed moderate to high. 'North</a:t>
            </a:r>
          </a:p>
        </p:txBody>
      </p:sp>
      <p:sp>
        <p:nvSpPr>
          <p:cNvPr id="59" name="TextBox 58"/>
          <p:cNvSpPr txBox="1"/>
          <p:nvPr/>
        </p:nvSpPr>
        <p:spPr>
          <a:xfrm>
            <a:off x="276225" y="3016374"/>
            <a:ext cx="1071016" cy="186689"/>
          </a:xfrm>
          <a:prstGeom prst="rect">
            <a:avLst/>
          </a:prstGeom>
          <a:noFill/>
        </p:spPr>
        <p:txBody>
          <a:bodyPr wrap="none" lIns="0" rIns="0" tIns="0" bIns="0">
            <a:spAutoFit/>
          </a:bodyPr>
          <a:lstStyle/>
          <a:p>
            <a:r>
              <a:rPr sz="1100" b="0">
                <a:solidFill>
                  <a:srgbClr val="2E2E2E"/>
                </a:solidFill>
                <a:latin typeface="Calibri"/>
              </a:rPr>
              <a:t>America' supplies</a:t>
            </a:r>
          </a:p>
        </p:txBody>
      </p:sp>
      <p:pic>
        <p:nvPicPr>
          <p:cNvPr id="60" name="Picture 59" descr="lock.png"/>
          <p:cNvPicPr>
            <a:picLocks noChangeAspect="1"/>
          </p:cNvPicPr>
          <p:nvPr/>
        </p:nvPicPr>
        <p:blipFill>
          <a:blip r:embed="rId4"/>
          <a:stretch>
            <a:fillRect/>
          </a:stretch>
        </p:blipFill>
        <p:spPr>
          <a:xfrm>
            <a:off x="1295293" y="3006595"/>
            <a:ext cx="128699" cy="187198"/>
          </a:xfrm>
          <a:prstGeom prst="rect">
            <a:avLst/>
          </a:prstGeom>
        </p:spPr>
      </p:pic>
      <p:sp>
        <p:nvSpPr>
          <p:cNvPr id="61" name="TextBox 60"/>
          <p:cNvSpPr txBox="1"/>
          <p:nvPr/>
        </p:nvSpPr>
        <p:spPr>
          <a:xfrm>
            <a:off x="1462789" y="3016374"/>
            <a:ext cx="844549"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62" name="TextBox 61"/>
          <p:cNvSpPr txBox="1"/>
          <p:nvPr/>
        </p:nvSpPr>
        <p:spPr>
          <a:xfrm>
            <a:off x="276225" y="3184014"/>
            <a:ext cx="1842095" cy="186689"/>
          </a:xfrm>
          <a:prstGeom prst="rect">
            <a:avLst/>
          </a:prstGeom>
          <a:noFill/>
        </p:spPr>
        <p:txBody>
          <a:bodyPr wrap="none" lIns="0" rIns="0" tIns="0" bIns="0">
            <a:spAutoFit/>
          </a:bodyPr>
          <a:lstStyle/>
          <a:p>
            <a:r>
              <a:rPr sz="1100" b="0">
                <a:solidFill>
                  <a:srgbClr val="2E2E2E"/>
                </a:solidFill>
                <a:latin typeface="Calibri"/>
              </a:rPr>
              <a:t>across 7 regions, concentrating</a:t>
            </a:r>
          </a:p>
        </p:txBody>
      </p:sp>
      <p:sp>
        <p:nvSpPr>
          <p:cNvPr id="63" name="TextBox 62"/>
          <p:cNvSpPr txBox="1"/>
          <p:nvPr/>
        </p:nvSpPr>
        <p:spPr>
          <a:xfrm>
            <a:off x="276225" y="3351654"/>
            <a:ext cx="1173608" cy="186689"/>
          </a:xfrm>
          <a:prstGeom prst="rect">
            <a:avLst/>
          </a:prstGeom>
          <a:noFill/>
        </p:spPr>
        <p:txBody>
          <a:bodyPr wrap="none" lIns="0" rIns="0" tIns="0" bIns="0">
            <a:spAutoFit/>
          </a:bodyPr>
          <a:lstStyle/>
          <a:p>
            <a:r>
              <a:rPr sz="1100" b="0">
                <a:solidFill>
                  <a:srgbClr val="2E2E2E"/>
                </a:solidFill>
                <a:latin typeface="Calibri"/>
              </a:rPr>
              <a:t>upstream leverage.</a:t>
            </a:r>
          </a:p>
        </p:txBody>
      </p:sp>
      <p:sp>
        <p:nvSpPr>
          <p:cNvPr id="64" name="TextBox 63"/>
          <p:cNvSpPr txBox="1"/>
          <p:nvPr/>
        </p:nvSpPr>
        <p:spPr>
          <a:xfrm>
            <a:off x="276225" y="3799605"/>
            <a:ext cx="1676163" cy="186689"/>
          </a:xfrm>
          <a:prstGeom prst="rect">
            <a:avLst/>
          </a:prstGeom>
          <a:noFill/>
        </p:spPr>
        <p:txBody>
          <a:bodyPr wrap="none" lIns="0" rIns="0" tIns="0" bIns="0">
            <a:spAutoFit/>
          </a:bodyPr>
          <a:lstStyle/>
          <a:p>
            <a:r>
              <a:rPr sz="1100" b="0">
                <a:solidFill>
                  <a:srgbClr val="2E2E2E"/>
                </a:solidFill>
                <a:latin typeface="Calibri"/>
              </a:rPr>
              <a:t>▸ Average realisation moves</a:t>
            </a:r>
          </a:p>
        </p:txBody>
      </p:sp>
      <p:pic>
        <p:nvPicPr>
          <p:cNvPr id="65" name="Picture 64" descr="lock.png"/>
          <p:cNvPicPr>
            <a:picLocks noChangeAspect="1"/>
          </p:cNvPicPr>
          <p:nvPr/>
        </p:nvPicPr>
        <p:blipFill>
          <a:blip r:embed="rId4"/>
          <a:stretch>
            <a:fillRect/>
          </a:stretch>
        </p:blipFill>
        <p:spPr>
          <a:xfrm>
            <a:off x="1900439" y="3789826"/>
            <a:ext cx="128699" cy="187198"/>
          </a:xfrm>
          <a:prstGeom prst="rect">
            <a:avLst/>
          </a:prstGeom>
        </p:spPr>
      </p:pic>
      <p:sp>
        <p:nvSpPr>
          <p:cNvPr id="66" name="TextBox 65"/>
          <p:cNvSpPr txBox="1"/>
          <p:nvPr/>
        </p:nvSpPr>
        <p:spPr>
          <a:xfrm>
            <a:off x="2067935" y="3799605"/>
            <a:ext cx="143048" cy="186689"/>
          </a:xfrm>
          <a:prstGeom prst="rect">
            <a:avLst/>
          </a:prstGeom>
          <a:noFill/>
        </p:spPr>
        <p:txBody>
          <a:bodyPr wrap="none" lIns="0" rIns="0" tIns="0" bIns="0">
            <a:spAutoFit/>
          </a:bodyPr>
          <a:lstStyle/>
          <a:p>
            <a:r>
              <a:rPr sz="1100" b="0">
                <a:solidFill>
                  <a:srgbClr val="2E2E2E"/>
                </a:solidFill>
                <a:latin typeface="Calibri"/>
              </a:rPr>
              <a:t>a</a:t>
            </a:r>
          </a:p>
        </p:txBody>
      </p:sp>
      <p:sp>
        <p:nvSpPr>
          <p:cNvPr id="67" name="TextBox 66"/>
          <p:cNvSpPr txBox="1"/>
          <p:nvPr/>
        </p:nvSpPr>
        <p:spPr>
          <a:xfrm>
            <a:off x="276225" y="3967245"/>
            <a:ext cx="2031181" cy="186689"/>
          </a:xfrm>
          <a:prstGeom prst="rect">
            <a:avLst/>
          </a:prstGeom>
          <a:noFill/>
        </p:spPr>
        <p:txBody>
          <a:bodyPr wrap="none" lIns="0" rIns="0" tIns="0" bIns="0">
            <a:spAutoFit/>
          </a:bodyPr>
          <a:lstStyle/>
          <a:p>
            <a:r>
              <a:rPr sz="1100" b="0">
                <a:solidFill>
                  <a:srgbClr val="2E2E2E"/>
                </a:solidFill>
                <a:latin typeface="Calibri"/>
              </a:rPr>
              <a:t>year (2026–2036), indicating input</a:t>
            </a:r>
          </a:p>
        </p:txBody>
      </p:sp>
      <p:sp>
        <p:nvSpPr>
          <p:cNvPr id="68" name="TextBox 67"/>
          <p:cNvSpPr txBox="1"/>
          <p:nvPr/>
        </p:nvSpPr>
        <p:spPr>
          <a:xfrm>
            <a:off x="276225" y="4134885"/>
            <a:ext cx="1874291" cy="186689"/>
          </a:xfrm>
          <a:prstGeom prst="rect">
            <a:avLst/>
          </a:prstGeom>
          <a:noFill/>
        </p:spPr>
        <p:txBody>
          <a:bodyPr wrap="none" lIns="0" rIns="0" tIns="0" bIns="0">
            <a:spAutoFit/>
          </a:bodyPr>
          <a:lstStyle/>
          <a:p>
            <a:r>
              <a:rPr sz="1100" b="0">
                <a:solidFill>
                  <a:srgbClr val="2E2E2E"/>
                </a:solidFill>
                <a:latin typeface="Calibri"/>
              </a:rPr>
              <a:t>costs are being passed through.</a:t>
            </a:r>
          </a:p>
        </p:txBody>
      </p:sp>
      <p:sp>
        <p:nvSpPr>
          <p:cNvPr id="69" name="TextBox 68"/>
          <p:cNvSpPr txBox="1"/>
          <p:nvPr/>
        </p:nvSpPr>
        <p:spPr>
          <a:xfrm>
            <a:off x="2657475" y="2860746"/>
            <a:ext cx="1746324" cy="186689"/>
          </a:xfrm>
          <a:prstGeom prst="rect">
            <a:avLst/>
          </a:prstGeom>
          <a:noFill/>
        </p:spPr>
        <p:txBody>
          <a:bodyPr wrap="none" lIns="0" rIns="0" tIns="0" bIns="0">
            <a:spAutoFit/>
          </a:bodyPr>
          <a:lstStyle/>
          <a:p>
            <a:r>
              <a:rPr sz="1100" b="0">
                <a:solidFill>
                  <a:srgbClr val="2E2E2E"/>
                </a:solidFill>
                <a:latin typeface="Calibri"/>
              </a:rPr>
              <a:t>▸ Assessed moderate to high.</a:t>
            </a:r>
          </a:p>
        </p:txBody>
      </p:sp>
      <p:sp>
        <p:nvSpPr>
          <p:cNvPr id="70" name="TextBox 69"/>
          <p:cNvSpPr txBox="1"/>
          <p:nvPr/>
        </p:nvSpPr>
        <p:spPr>
          <a:xfrm>
            <a:off x="2657475" y="3028386"/>
            <a:ext cx="2022450" cy="186689"/>
          </a:xfrm>
          <a:prstGeom prst="rect">
            <a:avLst/>
          </a:prstGeom>
          <a:noFill/>
        </p:spPr>
        <p:txBody>
          <a:bodyPr wrap="none" lIns="0" rIns="0" tIns="0" bIns="0">
            <a:spAutoFit/>
          </a:bodyPr>
          <a:lstStyle/>
          <a:p>
            <a:r>
              <a:rPr sz="1100" b="0">
                <a:solidFill>
                  <a:srgbClr val="2E2E2E"/>
                </a:solidFill>
                <a:latin typeface="Calibri"/>
              </a:rPr>
              <a:t>Demand routes through 7 end use</a:t>
            </a:r>
          </a:p>
        </p:txBody>
      </p:sp>
      <p:sp>
        <p:nvSpPr>
          <p:cNvPr id="71" name="TextBox 70"/>
          <p:cNvSpPr txBox="1"/>
          <p:nvPr/>
        </p:nvSpPr>
        <p:spPr>
          <a:xfrm>
            <a:off x="2657475" y="3196026"/>
            <a:ext cx="1746870" cy="186689"/>
          </a:xfrm>
          <a:prstGeom prst="rect">
            <a:avLst/>
          </a:prstGeom>
          <a:noFill/>
        </p:spPr>
        <p:txBody>
          <a:bodyPr wrap="none" lIns="0" rIns="0" tIns="0" bIns="0">
            <a:spAutoFit/>
          </a:bodyPr>
          <a:lstStyle/>
          <a:p>
            <a:r>
              <a:rPr sz="1100" b="0">
                <a:solidFill>
                  <a:srgbClr val="2E2E2E"/>
                </a:solidFill>
                <a:latin typeface="Calibri"/>
              </a:rPr>
              <a:t>channels led by 'Industrial Air</a:t>
            </a:r>
          </a:p>
        </p:txBody>
      </p:sp>
      <p:sp>
        <p:nvSpPr>
          <p:cNvPr id="72" name="TextBox 71"/>
          <p:cNvSpPr txBox="1"/>
          <p:nvPr/>
        </p:nvSpPr>
        <p:spPr>
          <a:xfrm>
            <a:off x="2657475" y="3363666"/>
            <a:ext cx="868288" cy="186689"/>
          </a:xfrm>
          <a:prstGeom prst="rect">
            <a:avLst/>
          </a:prstGeom>
          <a:noFill/>
        </p:spPr>
        <p:txBody>
          <a:bodyPr wrap="none" lIns="0" rIns="0" tIns="0" bIns="0">
            <a:spAutoFit/>
          </a:bodyPr>
          <a:lstStyle/>
          <a:p>
            <a:r>
              <a:rPr sz="1100" b="0">
                <a:solidFill>
                  <a:srgbClr val="2E2E2E"/>
                </a:solidFill>
                <a:latin typeface="Calibri"/>
              </a:rPr>
              <a:t>Separation' at</a:t>
            </a:r>
          </a:p>
        </p:txBody>
      </p:sp>
      <p:pic>
        <p:nvPicPr>
          <p:cNvPr id="73" name="Picture 72" descr="lock.png"/>
          <p:cNvPicPr>
            <a:picLocks noChangeAspect="1"/>
          </p:cNvPicPr>
          <p:nvPr/>
        </p:nvPicPr>
        <p:blipFill>
          <a:blip r:embed="rId4"/>
          <a:stretch>
            <a:fillRect/>
          </a:stretch>
        </p:blipFill>
        <p:spPr>
          <a:xfrm>
            <a:off x="3473814" y="3353887"/>
            <a:ext cx="128699" cy="187198"/>
          </a:xfrm>
          <a:prstGeom prst="rect">
            <a:avLst/>
          </a:prstGeom>
        </p:spPr>
      </p:pic>
      <p:sp>
        <p:nvSpPr>
          <p:cNvPr id="74" name="TextBox 73"/>
          <p:cNvSpPr txBox="1"/>
          <p:nvPr/>
        </p:nvSpPr>
        <p:spPr>
          <a:xfrm>
            <a:off x="3641310" y="3363666"/>
            <a:ext cx="789979" cy="186689"/>
          </a:xfrm>
          <a:prstGeom prst="rect">
            <a:avLst/>
          </a:prstGeom>
          <a:noFill/>
        </p:spPr>
        <p:txBody>
          <a:bodyPr wrap="none" lIns="0" rIns="0" tIns="0" bIns="0">
            <a:spAutoFit/>
          </a:bodyPr>
          <a:lstStyle/>
          <a:p>
            <a:r>
              <a:rPr sz="1100" b="0">
                <a:solidFill>
                  <a:srgbClr val="2E2E2E"/>
                </a:solidFill>
                <a:latin typeface="Calibri"/>
              </a:rPr>
              <a:t>, giving large</a:t>
            </a:r>
          </a:p>
        </p:txBody>
      </p:sp>
      <p:sp>
        <p:nvSpPr>
          <p:cNvPr id="75" name="TextBox 74"/>
          <p:cNvSpPr txBox="1"/>
          <p:nvPr/>
        </p:nvSpPr>
        <p:spPr>
          <a:xfrm>
            <a:off x="2657475" y="3531306"/>
            <a:ext cx="808533" cy="186689"/>
          </a:xfrm>
          <a:prstGeom prst="rect">
            <a:avLst/>
          </a:prstGeom>
          <a:noFill/>
        </p:spPr>
        <p:txBody>
          <a:bodyPr wrap="none" lIns="0" rIns="0" tIns="0" bIns="0">
            <a:spAutoFit/>
          </a:bodyPr>
          <a:lstStyle/>
          <a:p>
            <a:r>
              <a:rPr sz="1100" b="0">
                <a:solidFill>
                  <a:srgbClr val="2E2E2E"/>
                </a:solidFill>
                <a:latin typeface="Calibri"/>
              </a:rPr>
              <a:t>buyers scale.</a:t>
            </a:r>
          </a:p>
        </p:txBody>
      </p:sp>
      <p:sp>
        <p:nvSpPr>
          <p:cNvPr id="76" name="TextBox 75"/>
          <p:cNvSpPr txBox="1"/>
          <p:nvPr/>
        </p:nvSpPr>
        <p:spPr>
          <a:xfrm>
            <a:off x="2657475" y="3900000"/>
            <a:ext cx="2062013" cy="186689"/>
          </a:xfrm>
          <a:prstGeom prst="rect">
            <a:avLst/>
          </a:prstGeom>
          <a:noFill/>
        </p:spPr>
        <p:txBody>
          <a:bodyPr wrap="none" lIns="0" rIns="0" tIns="0" bIns="0">
            <a:spAutoFit/>
          </a:bodyPr>
          <a:lstStyle/>
          <a:p>
            <a:r>
              <a:rPr sz="1100" b="0">
                <a:solidFill>
                  <a:srgbClr val="2E2E2E"/>
                </a:solidFill>
                <a:latin typeface="Calibri"/>
              </a:rPr>
              <a:t>▸ Price sensitivity tracks realisation</a:t>
            </a:r>
          </a:p>
        </p:txBody>
      </p:sp>
      <p:sp>
        <p:nvSpPr>
          <p:cNvPr id="77" name="TextBox 76"/>
          <p:cNvSpPr txBox="1"/>
          <p:nvPr/>
        </p:nvSpPr>
        <p:spPr>
          <a:xfrm>
            <a:off x="2657475" y="4067640"/>
            <a:ext cx="495845" cy="186689"/>
          </a:xfrm>
          <a:prstGeom prst="rect">
            <a:avLst/>
          </a:prstGeom>
          <a:noFill/>
        </p:spPr>
        <p:txBody>
          <a:bodyPr wrap="none" lIns="0" rIns="0" tIns="0" bIns="0">
            <a:spAutoFit/>
          </a:bodyPr>
          <a:lstStyle/>
          <a:p>
            <a:r>
              <a:rPr sz="1100" b="0">
                <a:solidFill>
                  <a:srgbClr val="2E2E2E"/>
                </a:solidFill>
                <a:latin typeface="Calibri"/>
              </a:rPr>
              <a:t>moving</a:t>
            </a:r>
          </a:p>
        </p:txBody>
      </p:sp>
      <p:pic>
        <p:nvPicPr>
          <p:cNvPr id="78" name="Picture 77" descr="lock.png"/>
          <p:cNvPicPr>
            <a:picLocks noChangeAspect="1"/>
          </p:cNvPicPr>
          <p:nvPr/>
        </p:nvPicPr>
        <p:blipFill>
          <a:blip r:embed="rId4"/>
          <a:stretch>
            <a:fillRect/>
          </a:stretch>
        </p:blipFill>
        <p:spPr>
          <a:xfrm>
            <a:off x="3101372" y="4057861"/>
            <a:ext cx="128699" cy="187198"/>
          </a:xfrm>
          <a:prstGeom prst="rect">
            <a:avLst/>
          </a:prstGeom>
        </p:spPr>
      </p:pic>
      <p:sp>
        <p:nvSpPr>
          <p:cNvPr id="79" name="TextBox 78"/>
          <p:cNvSpPr txBox="1"/>
          <p:nvPr/>
        </p:nvSpPr>
        <p:spPr>
          <a:xfrm>
            <a:off x="3268868" y="4067640"/>
            <a:ext cx="1316583" cy="186689"/>
          </a:xfrm>
          <a:prstGeom prst="rect">
            <a:avLst/>
          </a:prstGeom>
          <a:noFill/>
        </p:spPr>
        <p:txBody>
          <a:bodyPr wrap="none" lIns="0" rIns="0" tIns="0" bIns="0">
            <a:spAutoFit/>
          </a:bodyPr>
          <a:lstStyle/>
          <a:p>
            <a:r>
              <a:rPr sz="1100" b="0">
                <a:solidFill>
                  <a:srgbClr val="2E2E2E"/>
                </a:solidFill>
                <a:latin typeface="Calibri"/>
              </a:rPr>
              <a:t>a year against volume</a:t>
            </a:r>
          </a:p>
        </p:txBody>
      </p:sp>
      <p:sp>
        <p:nvSpPr>
          <p:cNvPr id="80" name="TextBox 79"/>
          <p:cNvSpPr txBox="1"/>
          <p:nvPr/>
        </p:nvSpPr>
        <p:spPr>
          <a:xfrm>
            <a:off x="2657475" y="4235280"/>
            <a:ext cx="632544" cy="186689"/>
          </a:xfrm>
          <a:prstGeom prst="rect">
            <a:avLst/>
          </a:prstGeom>
          <a:noFill/>
        </p:spPr>
        <p:txBody>
          <a:bodyPr wrap="none" lIns="0" rIns="0" tIns="0" bIns="0">
            <a:spAutoFit/>
          </a:bodyPr>
          <a:lstStyle/>
          <a:p>
            <a:r>
              <a:rPr sz="1100" b="0">
                <a:solidFill>
                  <a:srgbClr val="2E2E2E"/>
                </a:solidFill>
                <a:latin typeface="Calibri"/>
              </a:rPr>
              <a:t>growth of</a:t>
            </a:r>
          </a:p>
        </p:txBody>
      </p:sp>
      <p:pic>
        <p:nvPicPr>
          <p:cNvPr id="81" name="Picture 80" descr="lock.png"/>
          <p:cNvPicPr>
            <a:picLocks noChangeAspect="1"/>
          </p:cNvPicPr>
          <p:nvPr/>
        </p:nvPicPr>
        <p:blipFill>
          <a:blip r:embed="rId4"/>
          <a:stretch>
            <a:fillRect/>
          </a:stretch>
        </p:blipFill>
        <p:spPr>
          <a:xfrm>
            <a:off x="3238070" y="4225501"/>
            <a:ext cx="128699" cy="187198"/>
          </a:xfrm>
          <a:prstGeom prst="rect">
            <a:avLst/>
          </a:prstGeom>
        </p:spPr>
      </p:pic>
      <p:sp>
        <p:nvSpPr>
          <p:cNvPr id="82" name="TextBox 81"/>
          <p:cNvSpPr txBox="1"/>
          <p:nvPr/>
        </p:nvSpPr>
        <p:spPr>
          <a:xfrm>
            <a:off x="3405566" y="423528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3" name="TextBox 82"/>
          <p:cNvSpPr txBox="1"/>
          <p:nvPr/>
        </p:nvSpPr>
        <p:spPr>
          <a:xfrm>
            <a:off x="5038725" y="2841285"/>
            <a:ext cx="2050553" cy="186689"/>
          </a:xfrm>
          <a:prstGeom prst="rect">
            <a:avLst/>
          </a:prstGeom>
          <a:noFill/>
        </p:spPr>
        <p:txBody>
          <a:bodyPr wrap="none" lIns="0" rIns="0" tIns="0" bIns="0">
            <a:spAutoFit/>
          </a:bodyPr>
          <a:lstStyle/>
          <a:p>
            <a:r>
              <a:rPr sz="1100" b="0">
                <a:solidFill>
                  <a:srgbClr val="2E2E2E"/>
                </a:solidFill>
                <a:latin typeface="Calibri"/>
              </a:rPr>
              <a:t>▸ Assessed high. 6 driver type lines</a:t>
            </a:r>
          </a:p>
        </p:txBody>
      </p:sp>
      <p:sp>
        <p:nvSpPr>
          <p:cNvPr id="84" name="TextBox 83"/>
          <p:cNvSpPr txBox="1"/>
          <p:nvPr/>
        </p:nvSpPr>
        <p:spPr>
          <a:xfrm>
            <a:off x="5038725" y="3008925"/>
            <a:ext cx="1950690" cy="186689"/>
          </a:xfrm>
          <a:prstGeom prst="rect">
            <a:avLst/>
          </a:prstGeom>
          <a:noFill/>
        </p:spPr>
        <p:txBody>
          <a:bodyPr wrap="none" lIns="0" rIns="0" tIns="0" bIns="0">
            <a:spAutoFit/>
          </a:bodyPr>
          <a:lstStyle/>
          <a:p>
            <a:r>
              <a:rPr sz="1100" b="0">
                <a:solidFill>
                  <a:srgbClr val="2E2E2E"/>
                </a:solidFill>
                <a:latin typeface="Calibri"/>
              </a:rPr>
              <a:t>compete inside the segment; the</a:t>
            </a:r>
          </a:p>
        </p:txBody>
      </p:sp>
      <p:sp>
        <p:nvSpPr>
          <p:cNvPr id="85" name="TextBox 84"/>
          <p:cNvSpPr txBox="1"/>
          <p:nvPr/>
        </p:nvSpPr>
        <p:spPr>
          <a:xfrm>
            <a:off x="5038725" y="3176565"/>
            <a:ext cx="775518" cy="186689"/>
          </a:xfrm>
          <a:prstGeom prst="rect">
            <a:avLst/>
          </a:prstGeom>
          <a:noFill/>
        </p:spPr>
        <p:txBody>
          <a:bodyPr wrap="none" lIns="0" rIns="0" tIns="0" bIns="0">
            <a:spAutoFit/>
          </a:bodyPr>
          <a:lstStyle/>
          <a:p>
            <a:r>
              <a:rPr sz="1100" b="0">
                <a:solidFill>
                  <a:srgbClr val="2E2E2E"/>
                </a:solidFill>
                <a:latin typeface="Calibri"/>
              </a:rPr>
              <a:t>leader holds</a:t>
            </a:r>
          </a:p>
        </p:txBody>
      </p:sp>
      <p:pic>
        <p:nvPicPr>
          <p:cNvPr id="86" name="Picture 85" descr="lock.png"/>
          <p:cNvPicPr>
            <a:picLocks noChangeAspect="1"/>
          </p:cNvPicPr>
          <p:nvPr/>
        </p:nvPicPr>
        <p:blipFill>
          <a:blip r:embed="rId4"/>
          <a:stretch>
            <a:fillRect/>
          </a:stretch>
        </p:blipFill>
        <p:spPr>
          <a:xfrm>
            <a:off x="5762295" y="3166786"/>
            <a:ext cx="128699" cy="187198"/>
          </a:xfrm>
          <a:prstGeom prst="rect">
            <a:avLst/>
          </a:prstGeom>
        </p:spPr>
      </p:pic>
      <p:sp>
        <p:nvSpPr>
          <p:cNvPr id="87" name="TextBox 86"/>
          <p:cNvSpPr txBox="1"/>
          <p:nvPr/>
        </p:nvSpPr>
        <p:spPr>
          <a:xfrm>
            <a:off x="5929790" y="317656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8" name="TextBox 87"/>
          <p:cNvSpPr txBox="1"/>
          <p:nvPr/>
        </p:nvSpPr>
        <p:spPr>
          <a:xfrm>
            <a:off x="5038725" y="3617068"/>
            <a:ext cx="1934046" cy="186689"/>
          </a:xfrm>
          <a:prstGeom prst="rect">
            <a:avLst/>
          </a:prstGeom>
          <a:noFill/>
        </p:spPr>
        <p:txBody>
          <a:bodyPr wrap="none" lIns="0" rIns="0" tIns="0" bIns="0">
            <a:spAutoFit/>
          </a:bodyPr>
          <a:lstStyle/>
          <a:p>
            <a:r>
              <a:rPr sz="1100" b="0">
                <a:solidFill>
                  <a:srgbClr val="2E2E2E"/>
                </a:solidFill>
                <a:latin typeface="Calibri"/>
              </a:rPr>
              <a:t>▸ Growth is unevenly distributed</a:t>
            </a:r>
          </a:p>
        </p:txBody>
      </p:sp>
      <p:sp>
        <p:nvSpPr>
          <p:cNvPr id="89" name="TextBox 88"/>
          <p:cNvSpPr txBox="1"/>
          <p:nvPr/>
        </p:nvSpPr>
        <p:spPr>
          <a:xfrm>
            <a:off x="5038725" y="3784708"/>
            <a:ext cx="1528861" cy="186689"/>
          </a:xfrm>
          <a:prstGeom prst="rect">
            <a:avLst/>
          </a:prstGeom>
          <a:noFill/>
        </p:spPr>
        <p:txBody>
          <a:bodyPr wrap="none" lIns="0" rIns="0" tIns="0" bIns="0">
            <a:spAutoFit/>
          </a:bodyPr>
          <a:lstStyle/>
          <a:p>
            <a:r>
              <a:rPr sz="1100" b="0">
                <a:solidFill>
                  <a:srgbClr val="2E2E2E"/>
                </a:solidFill>
                <a:latin typeface="Calibri"/>
              </a:rPr>
              <a:t>'Steam Turbine-Driven' at</a:t>
            </a:r>
          </a:p>
        </p:txBody>
      </p:sp>
      <p:pic>
        <p:nvPicPr>
          <p:cNvPr id="90" name="Picture 89" descr="lock.png"/>
          <p:cNvPicPr>
            <a:picLocks noChangeAspect="1"/>
          </p:cNvPicPr>
          <p:nvPr/>
        </p:nvPicPr>
        <p:blipFill>
          <a:blip r:embed="rId4"/>
          <a:stretch>
            <a:fillRect/>
          </a:stretch>
        </p:blipFill>
        <p:spPr>
          <a:xfrm>
            <a:off x="6515638" y="3774929"/>
            <a:ext cx="128699" cy="187198"/>
          </a:xfrm>
          <a:prstGeom prst="rect">
            <a:avLst/>
          </a:prstGeom>
        </p:spPr>
      </p:pic>
      <p:sp>
        <p:nvSpPr>
          <p:cNvPr id="91" name="TextBox 90"/>
          <p:cNvSpPr txBox="1"/>
          <p:nvPr/>
        </p:nvSpPr>
        <p:spPr>
          <a:xfrm>
            <a:off x="5038725" y="3952348"/>
            <a:ext cx="1744687" cy="186689"/>
          </a:xfrm>
          <a:prstGeom prst="rect">
            <a:avLst/>
          </a:prstGeom>
          <a:noFill/>
        </p:spPr>
        <p:txBody>
          <a:bodyPr wrap="none" lIns="0" rIns="0" tIns="0" bIns="0">
            <a:spAutoFit/>
          </a:bodyPr>
          <a:lstStyle/>
          <a:p>
            <a:r>
              <a:rPr sz="1100" b="0">
                <a:solidFill>
                  <a:srgbClr val="2E2E2E"/>
                </a:solidFill>
                <a:latin typeface="Calibri"/>
              </a:rPr>
              <a:t>against 'Other Drive Types' at</a:t>
            </a:r>
          </a:p>
        </p:txBody>
      </p:sp>
      <p:pic>
        <p:nvPicPr>
          <p:cNvPr id="92" name="Picture 91" descr="lock.png"/>
          <p:cNvPicPr>
            <a:picLocks noChangeAspect="1"/>
          </p:cNvPicPr>
          <p:nvPr/>
        </p:nvPicPr>
        <p:blipFill>
          <a:blip r:embed="rId4"/>
          <a:stretch>
            <a:fillRect/>
          </a:stretch>
        </p:blipFill>
        <p:spPr>
          <a:xfrm>
            <a:off x="6731463" y="3942569"/>
            <a:ext cx="128699" cy="187198"/>
          </a:xfrm>
          <a:prstGeom prst="rect">
            <a:avLst/>
          </a:prstGeom>
        </p:spPr>
      </p:pic>
      <p:sp>
        <p:nvSpPr>
          <p:cNvPr id="93" name="TextBox 92"/>
          <p:cNvSpPr txBox="1"/>
          <p:nvPr/>
        </p:nvSpPr>
        <p:spPr>
          <a:xfrm>
            <a:off x="6898959" y="3952348"/>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94" name="TextBox 93"/>
          <p:cNvSpPr txBox="1"/>
          <p:nvPr/>
        </p:nvSpPr>
        <p:spPr>
          <a:xfrm>
            <a:off x="5038725" y="4392850"/>
            <a:ext cx="2114550" cy="186689"/>
          </a:xfrm>
          <a:prstGeom prst="rect">
            <a:avLst/>
          </a:prstGeom>
          <a:noFill/>
        </p:spPr>
        <p:txBody>
          <a:bodyPr wrap="none" lIns="0" rIns="0" tIns="0" bIns="0">
            <a:spAutoFit/>
          </a:bodyPr>
          <a:lstStyle/>
          <a:p>
            <a:r>
              <a:rPr sz="1100" b="0">
                <a:solidFill>
                  <a:srgbClr val="2E2E2E"/>
                </a:solidFill>
                <a:latin typeface="Calibri"/>
              </a:rPr>
              <a:t>▸ 4 of 7 regions grow at or above the</a:t>
            </a:r>
          </a:p>
        </p:txBody>
      </p:sp>
      <p:pic>
        <p:nvPicPr>
          <p:cNvPr id="95" name="Picture 94" descr="lock.png"/>
          <p:cNvPicPr>
            <a:picLocks noChangeAspect="1"/>
          </p:cNvPicPr>
          <p:nvPr/>
        </p:nvPicPr>
        <p:blipFill>
          <a:blip r:embed="rId4"/>
          <a:stretch>
            <a:fillRect/>
          </a:stretch>
        </p:blipFill>
        <p:spPr>
          <a:xfrm>
            <a:off x="5025257" y="4550711"/>
            <a:ext cx="128699" cy="187198"/>
          </a:xfrm>
          <a:prstGeom prst="rect">
            <a:avLst/>
          </a:prstGeom>
        </p:spPr>
      </p:pic>
      <p:sp>
        <p:nvSpPr>
          <p:cNvPr id="96" name="TextBox 95"/>
          <p:cNvSpPr txBox="1"/>
          <p:nvPr/>
        </p:nvSpPr>
        <p:spPr>
          <a:xfrm>
            <a:off x="5192753" y="4560490"/>
            <a:ext cx="1643186" cy="186689"/>
          </a:xfrm>
          <a:prstGeom prst="rect">
            <a:avLst/>
          </a:prstGeom>
          <a:noFill/>
        </p:spPr>
        <p:txBody>
          <a:bodyPr wrap="none" lIns="0" rIns="0" tIns="0" bIns="0">
            <a:spAutoFit/>
          </a:bodyPr>
          <a:lstStyle/>
          <a:p>
            <a:r>
              <a:rPr sz="1100" b="0">
                <a:solidFill>
                  <a:srgbClr val="2E2E2E"/>
                </a:solidFill>
                <a:latin typeface="Calibri"/>
              </a:rPr>
              <a:t>market pace, keeping share</a:t>
            </a:r>
          </a:p>
        </p:txBody>
      </p:sp>
      <p:sp>
        <p:nvSpPr>
          <p:cNvPr id="97" name="TextBox 96"/>
          <p:cNvSpPr txBox="1"/>
          <p:nvPr/>
        </p:nvSpPr>
        <p:spPr>
          <a:xfrm>
            <a:off x="5038725" y="4728130"/>
            <a:ext cx="678656" cy="186689"/>
          </a:xfrm>
          <a:prstGeom prst="rect">
            <a:avLst/>
          </a:prstGeom>
          <a:noFill/>
        </p:spPr>
        <p:txBody>
          <a:bodyPr wrap="none" lIns="0" rIns="0" tIns="0" bIns="0">
            <a:spAutoFit/>
          </a:bodyPr>
          <a:lstStyle/>
          <a:p>
            <a:r>
              <a:rPr sz="1100" b="0">
                <a:solidFill>
                  <a:srgbClr val="2E2E2E"/>
                </a:solidFill>
                <a:latin typeface="Calibri"/>
              </a:rPr>
              <a:t>contested.</a:t>
            </a:r>
          </a:p>
        </p:txBody>
      </p:sp>
      <p:sp>
        <p:nvSpPr>
          <p:cNvPr id="98" name="TextBox 97"/>
          <p:cNvSpPr txBox="1"/>
          <p:nvPr/>
        </p:nvSpPr>
        <p:spPr>
          <a:xfrm>
            <a:off x="7419975" y="2860746"/>
            <a:ext cx="1731044" cy="186689"/>
          </a:xfrm>
          <a:prstGeom prst="rect">
            <a:avLst/>
          </a:prstGeom>
          <a:noFill/>
        </p:spPr>
        <p:txBody>
          <a:bodyPr wrap="none" lIns="0" rIns="0" tIns="0" bIns="0">
            <a:spAutoFit/>
          </a:bodyPr>
          <a:lstStyle/>
          <a:p>
            <a:r>
              <a:rPr sz="1100" b="0">
                <a:solidFill>
                  <a:srgbClr val="2E2E2E"/>
                </a:solidFill>
                <a:latin typeface="Calibri"/>
              </a:rPr>
              <a:t>▸ Assessed high. 'Natural Gas</a:t>
            </a:r>
          </a:p>
        </p:txBody>
      </p:sp>
      <p:sp>
        <p:nvSpPr>
          <p:cNvPr id="99" name="TextBox 98"/>
          <p:cNvSpPr txBox="1"/>
          <p:nvPr/>
        </p:nvSpPr>
        <p:spPr>
          <a:xfrm>
            <a:off x="7419975" y="3028386"/>
            <a:ext cx="1221630" cy="186689"/>
          </a:xfrm>
          <a:prstGeom prst="rect">
            <a:avLst/>
          </a:prstGeom>
          <a:noFill/>
        </p:spPr>
        <p:txBody>
          <a:bodyPr wrap="none" lIns="0" rIns="0" tIns="0" bIns="0">
            <a:spAutoFit/>
          </a:bodyPr>
          <a:lstStyle/>
          <a:p>
            <a:r>
              <a:rPr sz="1100" b="0">
                <a:solidFill>
                  <a:srgbClr val="2E2E2E"/>
                </a:solidFill>
                <a:latin typeface="Calibri"/>
              </a:rPr>
              <a:t>Engine-Driven' loses</a:t>
            </a:r>
          </a:p>
        </p:txBody>
      </p:sp>
      <p:pic>
        <p:nvPicPr>
          <p:cNvPr id="100" name="Picture 99" descr="lock.png"/>
          <p:cNvPicPr>
            <a:picLocks noChangeAspect="1"/>
          </p:cNvPicPr>
          <p:nvPr/>
        </p:nvPicPr>
        <p:blipFill>
          <a:blip r:embed="rId4"/>
          <a:stretch>
            <a:fillRect/>
          </a:stretch>
        </p:blipFill>
        <p:spPr>
          <a:xfrm>
            <a:off x="8589657" y="3018607"/>
            <a:ext cx="128699" cy="187198"/>
          </a:xfrm>
          <a:prstGeom prst="rect">
            <a:avLst/>
          </a:prstGeom>
        </p:spPr>
      </p:pic>
      <p:sp>
        <p:nvSpPr>
          <p:cNvPr id="101" name="TextBox 100"/>
          <p:cNvSpPr txBox="1"/>
          <p:nvPr/>
        </p:nvSpPr>
        <p:spPr>
          <a:xfrm>
            <a:off x="8757153" y="3028386"/>
            <a:ext cx="436636" cy="186689"/>
          </a:xfrm>
          <a:prstGeom prst="rect">
            <a:avLst/>
          </a:prstGeom>
          <a:noFill/>
        </p:spPr>
        <p:txBody>
          <a:bodyPr wrap="none" lIns="0" rIns="0" tIns="0" bIns="0">
            <a:spAutoFit/>
          </a:bodyPr>
          <a:lstStyle/>
          <a:p>
            <a:r>
              <a:rPr sz="1100" b="0">
                <a:solidFill>
                  <a:srgbClr val="2E2E2E"/>
                </a:solidFill>
                <a:latin typeface="Calibri"/>
              </a:rPr>
              <a:t>BPS of</a:t>
            </a:r>
          </a:p>
        </p:txBody>
      </p:sp>
      <p:sp>
        <p:nvSpPr>
          <p:cNvPr id="102" name="TextBox 101"/>
          <p:cNvSpPr txBox="1"/>
          <p:nvPr/>
        </p:nvSpPr>
        <p:spPr>
          <a:xfrm>
            <a:off x="7419975" y="3196026"/>
            <a:ext cx="1880567" cy="186689"/>
          </a:xfrm>
          <a:prstGeom prst="rect">
            <a:avLst/>
          </a:prstGeom>
          <a:noFill/>
        </p:spPr>
        <p:txBody>
          <a:bodyPr wrap="none" lIns="0" rIns="0" tIns="0" bIns="0">
            <a:spAutoFit/>
          </a:bodyPr>
          <a:lstStyle/>
          <a:p>
            <a:r>
              <a:rPr sz="1100" b="0">
                <a:solidFill>
                  <a:srgbClr val="2E2E2E"/>
                </a:solidFill>
                <a:latin typeface="Calibri"/>
              </a:rPr>
              <a:t>share to 'Steam Turbine-Driven'</a:t>
            </a:r>
          </a:p>
        </p:txBody>
      </p:sp>
      <p:sp>
        <p:nvSpPr>
          <p:cNvPr id="103" name="TextBox 102"/>
          <p:cNvSpPr txBox="1"/>
          <p:nvPr/>
        </p:nvSpPr>
        <p:spPr>
          <a:xfrm>
            <a:off x="7419975" y="3363666"/>
            <a:ext cx="188069"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04" name="Picture 103" descr="lock.png"/>
          <p:cNvPicPr>
            <a:picLocks noChangeAspect="1"/>
          </p:cNvPicPr>
          <p:nvPr/>
        </p:nvPicPr>
        <p:blipFill>
          <a:blip r:embed="rId4"/>
          <a:stretch>
            <a:fillRect/>
          </a:stretch>
        </p:blipFill>
        <p:spPr>
          <a:xfrm>
            <a:off x="7556095" y="3353887"/>
            <a:ext cx="128699" cy="187198"/>
          </a:xfrm>
          <a:prstGeom prst="rect">
            <a:avLst/>
          </a:prstGeom>
        </p:spPr>
      </p:pic>
      <p:sp>
        <p:nvSpPr>
          <p:cNvPr id="105" name="TextBox 104"/>
          <p:cNvSpPr txBox="1"/>
          <p:nvPr/>
        </p:nvSpPr>
        <p:spPr>
          <a:xfrm>
            <a:off x="7723591" y="3363666"/>
            <a:ext cx="1646460" cy="186689"/>
          </a:xfrm>
          <a:prstGeom prst="rect">
            <a:avLst/>
          </a:prstGeom>
          <a:noFill/>
        </p:spPr>
        <p:txBody>
          <a:bodyPr wrap="none" lIns="0" rIns="0" tIns="0" bIns="0">
            <a:spAutoFit/>
          </a:bodyPr>
          <a:lstStyle/>
          <a:p>
            <a:r>
              <a:rPr sz="1100" b="0">
                <a:solidFill>
                  <a:srgbClr val="2E2E2E"/>
                </a:solidFill>
                <a:latin typeface="Calibri"/>
              </a:rPr>
              <a:t>BPS) by 2036 substitution is</a:t>
            </a:r>
          </a:p>
        </p:txBody>
      </p:sp>
      <p:sp>
        <p:nvSpPr>
          <p:cNvPr id="106" name="TextBox 105"/>
          <p:cNvSpPr txBox="1"/>
          <p:nvPr/>
        </p:nvSpPr>
        <p:spPr>
          <a:xfrm>
            <a:off x="7419975" y="3531306"/>
            <a:ext cx="1293117" cy="186689"/>
          </a:xfrm>
          <a:prstGeom prst="rect">
            <a:avLst/>
          </a:prstGeom>
          <a:noFill/>
        </p:spPr>
        <p:txBody>
          <a:bodyPr wrap="none" lIns="0" rIns="0" tIns="0" bIns="0">
            <a:spAutoFit/>
          </a:bodyPr>
          <a:lstStyle/>
          <a:p>
            <a:r>
              <a:rPr sz="1100" b="0">
                <a:solidFill>
                  <a:srgbClr val="2E2E2E"/>
                </a:solidFill>
                <a:latin typeface="Calibri"/>
              </a:rPr>
              <a:t>visible inside the mix.</a:t>
            </a:r>
          </a:p>
        </p:txBody>
      </p:sp>
      <p:sp>
        <p:nvSpPr>
          <p:cNvPr id="107" name="TextBox 106"/>
          <p:cNvSpPr txBox="1"/>
          <p:nvPr/>
        </p:nvSpPr>
        <p:spPr>
          <a:xfrm>
            <a:off x="7419975" y="3894694"/>
            <a:ext cx="1550384" cy="179984"/>
          </a:xfrm>
          <a:prstGeom prst="rect">
            <a:avLst/>
          </a:prstGeom>
          <a:noFill/>
        </p:spPr>
        <p:txBody>
          <a:bodyPr wrap="none" lIns="0" rIns="0" tIns="0" bIns="0">
            <a:spAutoFit/>
          </a:bodyPr>
          <a:lstStyle/>
          <a:p>
            <a:r>
              <a:rPr sz="1055" b="0">
                <a:solidFill>
                  <a:srgbClr val="2E2E2E"/>
                </a:solidFill>
                <a:latin typeface="Calibri"/>
              </a:rPr>
              <a:t>▸ The slowest line grows at</a:t>
            </a:r>
          </a:p>
        </p:txBody>
      </p:sp>
      <p:pic>
        <p:nvPicPr>
          <p:cNvPr id="108" name="Picture 107" descr="lock.png"/>
          <p:cNvPicPr>
            <a:picLocks noChangeAspect="1"/>
          </p:cNvPicPr>
          <p:nvPr/>
        </p:nvPicPr>
        <p:blipFill>
          <a:blip r:embed="rId4"/>
          <a:stretch>
            <a:fillRect/>
          </a:stretch>
        </p:blipFill>
        <p:spPr>
          <a:xfrm>
            <a:off x="8917440" y="3885306"/>
            <a:ext cx="123551" cy="179710"/>
          </a:xfrm>
          <a:prstGeom prst="rect">
            <a:avLst/>
          </a:prstGeom>
        </p:spPr>
      </p:pic>
      <p:sp>
        <p:nvSpPr>
          <p:cNvPr id="109" name="TextBox 108"/>
          <p:cNvSpPr txBox="1"/>
          <p:nvPr/>
        </p:nvSpPr>
        <p:spPr>
          <a:xfrm>
            <a:off x="9078236" y="3894694"/>
            <a:ext cx="181236" cy="179984"/>
          </a:xfrm>
          <a:prstGeom prst="rect">
            <a:avLst/>
          </a:prstGeom>
          <a:noFill/>
        </p:spPr>
        <p:txBody>
          <a:bodyPr wrap="none" lIns="0" rIns="0" tIns="0" bIns="0">
            <a:spAutoFit/>
          </a:bodyPr>
          <a:lstStyle/>
          <a:p>
            <a:r>
              <a:rPr sz="1055" b="0">
                <a:solidFill>
                  <a:srgbClr val="2E2E2E"/>
                </a:solidFill>
                <a:latin typeface="Calibri"/>
              </a:rPr>
              <a:t>, -</a:t>
            </a:r>
          </a:p>
        </p:txBody>
      </p:sp>
      <p:pic>
        <p:nvPicPr>
          <p:cNvPr id="110" name="Picture 109" descr="lock.png"/>
          <p:cNvPicPr>
            <a:picLocks noChangeAspect="1"/>
          </p:cNvPicPr>
          <p:nvPr/>
        </p:nvPicPr>
        <p:blipFill>
          <a:blip r:embed="rId4"/>
          <a:stretch>
            <a:fillRect/>
          </a:stretch>
        </p:blipFill>
        <p:spPr>
          <a:xfrm>
            <a:off x="9206555" y="3885306"/>
            <a:ext cx="123551" cy="179710"/>
          </a:xfrm>
          <a:prstGeom prst="rect">
            <a:avLst/>
          </a:prstGeom>
        </p:spPr>
      </p:pic>
      <p:sp>
        <p:nvSpPr>
          <p:cNvPr id="111" name="TextBox 110"/>
          <p:cNvSpPr txBox="1"/>
          <p:nvPr/>
        </p:nvSpPr>
        <p:spPr>
          <a:xfrm>
            <a:off x="7419975" y="4055628"/>
            <a:ext cx="1368861" cy="179984"/>
          </a:xfrm>
          <a:prstGeom prst="rect">
            <a:avLst/>
          </a:prstGeom>
          <a:noFill/>
        </p:spPr>
        <p:txBody>
          <a:bodyPr wrap="none" lIns="0" rIns="0" tIns="0" bIns="0">
            <a:spAutoFit/>
          </a:bodyPr>
          <a:lstStyle/>
          <a:p>
            <a:r>
              <a:rPr sz="1055" b="0">
                <a:solidFill>
                  <a:srgbClr val="2E2E2E"/>
                </a:solidFill>
                <a:latin typeface="Calibri"/>
              </a:rPr>
              <a:t>BPS against the market.</a:t>
            </a:r>
          </a:p>
        </p:txBody>
      </p:sp>
      <p:sp>
        <p:nvSpPr>
          <p:cNvPr id="112" name="TextBox 111"/>
          <p:cNvSpPr txBox="1"/>
          <p:nvPr/>
        </p:nvSpPr>
        <p:spPr>
          <a:xfrm>
            <a:off x="7419975" y="4392850"/>
            <a:ext cx="1254373" cy="186689"/>
          </a:xfrm>
          <a:prstGeom prst="rect">
            <a:avLst/>
          </a:prstGeom>
          <a:noFill/>
        </p:spPr>
        <p:txBody>
          <a:bodyPr wrap="none" lIns="0" rIns="0" tIns="0" bIns="0">
            <a:spAutoFit/>
          </a:bodyPr>
          <a:lstStyle/>
          <a:p>
            <a:r>
              <a:rPr sz="1100" b="0">
                <a:solidFill>
                  <a:srgbClr val="2E2E2E"/>
                </a:solidFill>
                <a:latin typeface="Calibri"/>
              </a:rPr>
              <a:t>▸ Realisation moving</a:t>
            </a:r>
          </a:p>
        </p:txBody>
      </p:sp>
      <p:pic>
        <p:nvPicPr>
          <p:cNvPr id="113" name="Picture 112" descr="lock.png"/>
          <p:cNvPicPr>
            <a:picLocks noChangeAspect="1"/>
          </p:cNvPicPr>
          <p:nvPr/>
        </p:nvPicPr>
        <p:blipFill>
          <a:blip r:embed="rId4"/>
          <a:stretch>
            <a:fillRect/>
          </a:stretch>
        </p:blipFill>
        <p:spPr>
          <a:xfrm>
            <a:off x="8622399" y="4383071"/>
            <a:ext cx="128699" cy="187198"/>
          </a:xfrm>
          <a:prstGeom prst="rect">
            <a:avLst/>
          </a:prstGeom>
        </p:spPr>
      </p:pic>
      <p:sp>
        <p:nvSpPr>
          <p:cNvPr id="114" name="TextBox 113"/>
          <p:cNvSpPr txBox="1"/>
          <p:nvPr/>
        </p:nvSpPr>
        <p:spPr>
          <a:xfrm>
            <a:off x="8789895" y="4392850"/>
            <a:ext cx="423267" cy="186689"/>
          </a:xfrm>
          <a:prstGeom prst="rect">
            <a:avLst/>
          </a:prstGeom>
          <a:noFill/>
        </p:spPr>
        <p:txBody>
          <a:bodyPr wrap="none" lIns="0" rIns="0" tIns="0" bIns="0">
            <a:spAutoFit/>
          </a:bodyPr>
          <a:lstStyle/>
          <a:p>
            <a:r>
              <a:rPr sz="1100" b="0">
                <a:solidFill>
                  <a:srgbClr val="2E2E2E"/>
                </a:solidFill>
                <a:latin typeface="Calibri"/>
              </a:rPr>
              <a:t>a year</a:t>
            </a:r>
          </a:p>
        </p:txBody>
      </p:sp>
      <p:sp>
        <p:nvSpPr>
          <p:cNvPr id="115" name="TextBox 114"/>
          <p:cNvSpPr txBox="1"/>
          <p:nvPr/>
        </p:nvSpPr>
        <p:spPr>
          <a:xfrm>
            <a:off x="7419975" y="4560490"/>
            <a:ext cx="1911399" cy="186689"/>
          </a:xfrm>
          <a:prstGeom prst="rect">
            <a:avLst/>
          </a:prstGeom>
          <a:noFill/>
        </p:spPr>
        <p:txBody>
          <a:bodyPr wrap="none" lIns="0" rIns="0" tIns="0" bIns="0">
            <a:spAutoFit/>
          </a:bodyPr>
          <a:lstStyle/>
          <a:p>
            <a:r>
              <a:rPr sz="1100" b="0">
                <a:solidFill>
                  <a:srgbClr val="2E2E2E"/>
                </a:solidFill>
                <a:latin typeface="Calibri"/>
              </a:rPr>
              <a:t>widens the price gap substitutes</a:t>
            </a:r>
          </a:p>
        </p:txBody>
      </p:sp>
      <p:sp>
        <p:nvSpPr>
          <p:cNvPr id="116" name="TextBox 115"/>
          <p:cNvSpPr txBox="1"/>
          <p:nvPr/>
        </p:nvSpPr>
        <p:spPr>
          <a:xfrm>
            <a:off x="7419975" y="4728130"/>
            <a:ext cx="718765" cy="186689"/>
          </a:xfrm>
          <a:prstGeom prst="rect">
            <a:avLst/>
          </a:prstGeom>
          <a:noFill/>
        </p:spPr>
        <p:txBody>
          <a:bodyPr wrap="none" lIns="0" rIns="0" tIns="0" bIns="0">
            <a:spAutoFit/>
          </a:bodyPr>
          <a:lstStyle/>
          <a:p>
            <a:r>
              <a:rPr sz="1100" b="0">
                <a:solidFill>
                  <a:srgbClr val="2E2E2E"/>
                </a:solidFill>
                <a:latin typeface="Calibri"/>
              </a:rPr>
              <a:t>must close.</a:t>
            </a:r>
          </a:p>
        </p:txBody>
      </p:sp>
      <p:sp>
        <p:nvSpPr>
          <p:cNvPr id="117" name="TextBox 116"/>
          <p:cNvSpPr txBox="1"/>
          <p:nvPr/>
        </p:nvSpPr>
        <p:spPr>
          <a:xfrm>
            <a:off x="9801225" y="2848734"/>
            <a:ext cx="1989162" cy="186689"/>
          </a:xfrm>
          <a:prstGeom prst="rect">
            <a:avLst/>
          </a:prstGeom>
          <a:noFill/>
        </p:spPr>
        <p:txBody>
          <a:bodyPr wrap="none" lIns="0" rIns="0" tIns="0" bIns="0">
            <a:spAutoFit/>
          </a:bodyPr>
          <a:lstStyle/>
          <a:p>
            <a:r>
              <a:rPr sz="1100" b="0">
                <a:solidFill>
                  <a:srgbClr val="2E2E2E"/>
                </a:solidFill>
                <a:latin typeface="Calibri"/>
              </a:rPr>
              <a:t>▸ Assessed moderate to high. The</a:t>
            </a:r>
          </a:p>
        </p:txBody>
      </p:sp>
      <p:sp>
        <p:nvSpPr>
          <p:cNvPr id="118" name="TextBox 117"/>
          <p:cNvSpPr txBox="1"/>
          <p:nvPr/>
        </p:nvSpPr>
        <p:spPr>
          <a:xfrm>
            <a:off x="9801225" y="3016374"/>
            <a:ext cx="1003349" cy="186689"/>
          </a:xfrm>
          <a:prstGeom prst="rect">
            <a:avLst/>
          </a:prstGeom>
          <a:noFill/>
        </p:spPr>
        <p:txBody>
          <a:bodyPr wrap="none" lIns="0" rIns="0" tIns="0" bIns="0">
            <a:spAutoFit/>
          </a:bodyPr>
          <a:lstStyle/>
          <a:p>
            <a:r>
              <a:rPr sz="1100" b="0">
                <a:solidFill>
                  <a:srgbClr val="2E2E2E"/>
                </a:solidFill>
                <a:latin typeface="Calibri"/>
              </a:rPr>
              <a:t>market grows at</a:t>
            </a:r>
          </a:p>
        </p:txBody>
      </p:sp>
      <p:pic>
        <p:nvPicPr>
          <p:cNvPr id="119" name="Picture 118" descr="lock.png"/>
          <p:cNvPicPr>
            <a:picLocks noChangeAspect="1"/>
          </p:cNvPicPr>
          <p:nvPr/>
        </p:nvPicPr>
        <p:blipFill>
          <a:blip r:embed="rId4"/>
          <a:stretch>
            <a:fillRect/>
          </a:stretch>
        </p:blipFill>
        <p:spPr>
          <a:xfrm>
            <a:off x="10752626" y="3006595"/>
            <a:ext cx="128699" cy="187198"/>
          </a:xfrm>
          <a:prstGeom prst="rect">
            <a:avLst/>
          </a:prstGeom>
        </p:spPr>
      </p:pic>
      <p:sp>
        <p:nvSpPr>
          <p:cNvPr id="120" name="TextBox 119"/>
          <p:cNvSpPr txBox="1"/>
          <p:nvPr/>
        </p:nvSpPr>
        <p:spPr>
          <a:xfrm>
            <a:off x="10920122" y="3016374"/>
            <a:ext cx="940576" cy="186689"/>
          </a:xfrm>
          <a:prstGeom prst="rect">
            <a:avLst/>
          </a:prstGeom>
          <a:noFill/>
        </p:spPr>
        <p:txBody>
          <a:bodyPr wrap="none" lIns="0" rIns="0" tIns="0" bIns="0">
            <a:spAutoFit/>
          </a:bodyPr>
          <a:lstStyle/>
          <a:p>
            <a:r>
              <a:rPr sz="1100" b="0">
                <a:solidFill>
                  <a:srgbClr val="2E2E2E"/>
                </a:solidFill>
                <a:latin typeface="Calibri"/>
              </a:rPr>
              <a:t>CAGR and adds</a:t>
            </a:r>
          </a:p>
        </p:txBody>
      </p:sp>
      <p:pic>
        <p:nvPicPr>
          <p:cNvPr id="121" name="Picture 120" descr="lock.png"/>
          <p:cNvPicPr>
            <a:picLocks noChangeAspect="1"/>
          </p:cNvPicPr>
          <p:nvPr/>
        </p:nvPicPr>
        <p:blipFill>
          <a:blip r:embed="rId4"/>
          <a:stretch>
            <a:fillRect/>
          </a:stretch>
        </p:blipFill>
        <p:spPr>
          <a:xfrm>
            <a:off x="9787757" y="3174235"/>
            <a:ext cx="128699" cy="187198"/>
          </a:xfrm>
          <a:prstGeom prst="rect">
            <a:avLst/>
          </a:prstGeom>
        </p:spPr>
      </p:pic>
      <p:sp>
        <p:nvSpPr>
          <p:cNvPr id="122" name="TextBox 121"/>
          <p:cNvSpPr txBox="1"/>
          <p:nvPr/>
        </p:nvSpPr>
        <p:spPr>
          <a:xfrm>
            <a:off x="9955253" y="3184014"/>
            <a:ext cx="1629816" cy="186689"/>
          </a:xfrm>
          <a:prstGeom prst="rect">
            <a:avLst/>
          </a:prstGeom>
          <a:noFill/>
        </p:spPr>
        <p:txBody>
          <a:bodyPr wrap="none" lIns="0" rIns="0" tIns="0" bIns="0">
            <a:spAutoFit/>
          </a:bodyPr>
          <a:lstStyle/>
          <a:p>
            <a:r>
              <a:rPr sz="1100" b="0">
                <a:solidFill>
                  <a:srgbClr val="2E2E2E"/>
                </a:solidFill>
                <a:latin typeface="Calibri"/>
              </a:rPr>
              <a:t>US$ Mn by 2036, attracting</a:t>
            </a:r>
          </a:p>
        </p:txBody>
      </p:sp>
      <p:sp>
        <p:nvSpPr>
          <p:cNvPr id="123" name="TextBox 122"/>
          <p:cNvSpPr txBox="1"/>
          <p:nvPr/>
        </p:nvSpPr>
        <p:spPr>
          <a:xfrm>
            <a:off x="9801225" y="3351654"/>
            <a:ext cx="413444" cy="186689"/>
          </a:xfrm>
          <a:prstGeom prst="rect">
            <a:avLst/>
          </a:prstGeom>
          <a:noFill/>
        </p:spPr>
        <p:txBody>
          <a:bodyPr wrap="none" lIns="0" rIns="0" tIns="0" bIns="0">
            <a:spAutoFit/>
          </a:bodyPr>
          <a:lstStyle/>
          <a:p>
            <a:r>
              <a:rPr sz="1100" b="0">
                <a:solidFill>
                  <a:srgbClr val="2E2E2E"/>
                </a:solidFill>
                <a:latin typeface="Calibri"/>
              </a:rPr>
              <a:t>entry.</a:t>
            </a:r>
          </a:p>
        </p:txBody>
      </p:sp>
      <p:sp>
        <p:nvSpPr>
          <p:cNvPr id="124" name="TextBox 123"/>
          <p:cNvSpPr txBox="1"/>
          <p:nvPr/>
        </p:nvSpPr>
        <p:spPr>
          <a:xfrm>
            <a:off x="9801225" y="3708336"/>
            <a:ext cx="1971426" cy="186689"/>
          </a:xfrm>
          <a:prstGeom prst="rect">
            <a:avLst/>
          </a:prstGeom>
          <a:noFill/>
        </p:spPr>
        <p:txBody>
          <a:bodyPr wrap="none" lIns="0" rIns="0" tIns="0" bIns="0">
            <a:spAutoFit/>
          </a:bodyPr>
          <a:lstStyle/>
          <a:p>
            <a:r>
              <a:rPr sz="1100" b="0">
                <a:solidFill>
                  <a:srgbClr val="2E2E2E"/>
                </a:solidFill>
                <a:latin typeface="Calibri"/>
              </a:rPr>
              <a:t>▸ Demand spreads over 7 regions</a:t>
            </a:r>
          </a:p>
        </p:txBody>
      </p:sp>
      <p:sp>
        <p:nvSpPr>
          <p:cNvPr id="125" name="TextBox 124"/>
          <p:cNvSpPr txBox="1"/>
          <p:nvPr/>
        </p:nvSpPr>
        <p:spPr>
          <a:xfrm>
            <a:off x="9801225" y="3875976"/>
            <a:ext cx="1493118" cy="186689"/>
          </a:xfrm>
          <a:prstGeom prst="rect">
            <a:avLst/>
          </a:prstGeom>
          <a:noFill/>
        </p:spPr>
        <p:txBody>
          <a:bodyPr wrap="none" lIns="0" rIns="0" tIns="0" bIns="0">
            <a:spAutoFit/>
          </a:bodyPr>
          <a:lstStyle/>
          <a:p>
            <a:r>
              <a:rPr sz="1100" b="0">
                <a:solidFill>
                  <a:srgbClr val="2E2E2E"/>
                </a:solidFill>
                <a:latin typeface="Calibri"/>
              </a:rPr>
              <a:t>with no single one above</a:t>
            </a:r>
          </a:p>
        </p:txBody>
      </p:sp>
      <p:pic>
        <p:nvPicPr>
          <p:cNvPr id="126" name="Picture 125" descr="lock.png"/>
          <p:cNvPicPr>
            <a:picLocks noChangeAspect="1"/>
          </p:cNvPicPr>
          <p:nvPr/>
        </p:nvPicPr>
        <p:blipFill>
          <a:blip r:embed="rId4"/>
          <a:stretch>
            <a:fillRect/>
          </a:stretch>
        </p:blipFill>
        <p:spPr>
          <a:xfrm>
            <a:off x="11242394" y="3866197"/>
            <a:ext cx="128699" cy="187198"/>
          </a:xfrm>
          <a:prstGeom prst="rect">
            <a:avLst/>
          </a:prstGeom>
        </p:spPr>
      </p:pic>
      <p:sp>
        <p:nvSpPr>
          <p:cNvPr id="127" name="TextBox 126"/>
          <p:cNvSpPr txBox="1"/>
          <p:nvPr/>
        </p:nvSpPr>
        <p:spPr>
          <a:xfrm>
            <a:off x="11409890" y="3875976"/>
            <a:ext cx="271016" cy="186689"/>
          </a:xfrm>
          <a:prstGeom prst="rect">
            <a:avLst/>
          </a:prstGeom>
          <a:noFill/>
        </p:spPr>
        <p:txBody>
          <a:bodyPr wrap="none" lIns="0" rIns="0" tIns="0" bIns="0">
            <a:spAutoFit/>
          </a:bodyPr>
          <a:lstStyle/>
          <a:p>
            <a:r>
              <a:rPr sz="1100" b="0">
                <a:solidFill>
                  <a:srgbClr val="2E2E2E"/>
                </a:solidFill>
                <a:latin typeface="Calibri"/>
              </a:rPr>
              <a:t>, so</a:t>
            </a:r>
          </a:p>
        </p:txBody>
      </p:sp>
      <p:sp>
        <p:nvSpPr>
          <p:cNvPr id="128" name="TextBox 127"/>
          <p:cNvSpPr txBox="1"/>
          <p:nvPr/>
        </p:nvSpPr>
        <p:spPr>
          <a:xfrm>
            <a:off x="9801225" y="4043616"/>
            <a:ext cx="1498575" cy="186689"/>
          </a:xfrm>
          <a:prstGeom prst="rect">
            <a:avLst/>
          </a:prstGeom>
          <a:noFill/>
        </p:spPr>
        <p:txBody>
          <a:bodyPr wrap="none" lIns="0" rIns="0" tIns="0" bIns="0">
            <a:spAutoFit/>
          </a:bodyPr>
          <a:lstStyle/>
          <a:p>
            <a:r>
              <a:rPr sz="1100" b="0">
                <a:solidFill>
                  <a:srgbClr val="2E2E2E"/>
                </a:solidFill>
                <a:latin typeface="Calibri"/>
              </a:rPr>
              <a:t>regional entry is feasible.</a:t>
            </a:r>
          </a:p>
        </p:txBody>
      </p:sp>
      <p:sp>
        <p:nvSpPr>
          <p:cNvPr id="129" name="TextBox 128"/>
          <p:cNvSpPr txBox="1"/>
          <p:nvPr/>
        </p:nvSpPr>
        <p:spPr>
          <a:xfrm>
            <a:off x="9801225" y="4496131"/>
            <a:ext cx="2114550" cy="186689"/>
          </a:xfrm>
          <a:prstGeom prst="rect">
            <a:avLst/>
          </a:prstGeom>
          <a:noFill/>
        </p:spPr>
        <p:txBody>
          <a:bodyPr wrap="none" lIns="0" rIns="0" tIns="0" bIns="0">
            <a:spAutoFit/>
          </a:bodyPr>
          <a:lstStyle/>
          <a:p>
            <a:r>
              <a:rPr sz="1100" b="0">
                <a:solidFill>
                  <a:srgbClr val="2E2E2E"/>
                </a:solidFill>
                <a:latin typeface="Calibri"/>
              </a:rPr>
              <a:t>▸ Incumbent scale in 'North America'</a:t>
            </a:r>
          </a:p>
        </p:txBody>
      </p:sp>
      <p:sp>
        <p:nvSpPr>
          <p:cNvPr id="130" name="TextBox 129"/>
          <p:cNvSpPr txBox="1"/>
          <p:nvPr/>
        </p:nvSpPr>
        <p:spPr>
          <a:xfrm>
            <a:off x="9801225" y="4663771"/>
            <a:ext cx="1631181" cy="186689"/>
          </a:xfrm>
          <a:prstGeom prst="rect">
            <a:avLst/>
          </a:prstGeom>
          <a:noFill/>
        </p:spPr>
        <p:txBody>
          <a:bodyPr wrap="none" lIns="0" rIns="0" tIns="0" bIns="0">
            <a:spAutoFit/>
          </a:bodyPr>
          <a:lstStyle/>
          <a:p>
            <a:r>
              <a:rPr sz="1100" b="0">
                <a:solidFill>
                  <a:srgbClr val="2E2E2E"/>
                </a:solidFill>
                <a:latin typeface="Calibri"/>
              </a:rPr>
              <a:t>and 'Diesel Engine-Driven' (</a:t>
            </a:r>
          </a:p>
        </p:txBody>
      </p:sp>
      <p:pic>
        <p:nvPicPr>
          <p:cNvPr id="131" name="Picture 130" descr="lock.png"/>
          <p:cNvPicPr>
            <a:picLocks noChangeAspect="1"/>
          </p:cNvPicPr>
          <p:nvPr/>
        </p:nvPicPr>
        <p:blipFill>
          <a:blip r:embed="rId4"/>
          <a:stretch>
            <a:fillRect/>
          </a:stretch>
        </p:blipFill>
        <p:spPr>
          <a:xfrm>
            <a:off x="11380457" y="4653992"/>
            <a:ext cx="128699" cy="187198"/>
          </a:xfrm>
          <a:prstGeom prst="rect">
            <a:avLst/>
          </a:prstGeom>
        </p:spPr>
      </p:pic>
      <p:sp>
        <p:nvSpPr>
          <p:cNvPr id="132" name="TextBox 131"/>
          <p:cNvSpPr txBox="1"/>
          <p:nvPr/>
        </p:nvSpPr>
        <p:spPr>
          <a:xfrm>
            <a:off x="11547953" y="4663771"/>
            <a:ext cx="192434" cy="186689"/>
          </a:xfrm>
          <a:prstGeom prst="rect">
            <a:avLst/>
          </a:prstGeom>
          <a:noFill/>
        </p:spPr>
        <p:txBody>
          <a:bodyPr wrap="none" lIns="0" rIns="0" tIns="0" bIns="0">
            <a:spAutoFit/>
          </a:bodyPr>
          <a:lstStyle/>
          <a:p>
            <a:r>
              <a:rPr sz="1100" b="0">
                <a:solidFill>
                  <a:srgbClr val="2E2E2E"/>
                </a:solidFill>
                <a:latin typeface="Calibri"/>
              </a:rPr>
              <a:t>of</a:t>
            </a:r>
          </a:p>
        </p:txBody>
      </p:sp>
      <p:sp>
        <p:nvSpPr>
          <p:cNvPr id="133" name="TextBox 132"/>
          <p:cNvSpPr txBox="1"/>
          <p:nvPr/>
        </p:nvSpPr>
        <p:spPr>
          <a:xfrm>
            <a:off x="9801225" y="4831411"/>
            <a:ext cx="1843459" cy="186689"/>
          </a:xfrm>
          <a:prstGeom prst="rect">
            <a:avLst/>
          </a:prstGeom>
          <a:noFill/>
        </p:spPr>
        <p:txBody>
          <a:bodyPr wrap="none" lIns="0" rIns="0" tIns="0" bIns="0">
            <a:spAutoFit/>
          </a:bodyPr>
          <a:lstStyle/>
          <a:p>
            <a:r>
              <a:rPr sz="1100" b="0">
                <a:solidFill>
                  <a:srgbClr val="2E2E2E"/>
                </a:solidFill>
                <a:latin typeface="Calibri"/>
              </a:rPr>
              <a:t>segment) remains the principal</a:t>
            </a:r>
          </a:p>
        </p:txBody>
      </p:sp>
      <p:sp>
        <p:nvSpPr>
          <p:cNvPr id="134" name="TextBox 133"/>
          <p:cNvSpPr txBox="1"/>
          <p:nvPr/>
        </p:nvSpPr>
        <p:spPr>
          <a:xfrm>
            <a:off x="9801225" y="4999051"/>
            <a:ext cx="499938" cy="186689"/>
          </a:xfrm>
          <a:prstGeom prst="rect">
            <a:avLst/>
          </a:prstGeom>
          <a:noFill/>
        </p:spPr>
        <p:txBody>
          <a:bodyPr wrap="none" lIns="0" rIns="0" tIns="0" bIns="0">
            <a:spAutoFit/>
          </a:bodyPr>
          <a:lstStyle/>
          <a:p>
            <a:r>
              <a:rPr sz="1100" b="0">
                <a:solidFill>
                  <a:srgbClr val="2E2E2E"/>
                </a:solidFill>
                <a:latin typeface="Calibri"/>
              </a:rPr>
              <a:t>barrier.</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Industrial Air Compressor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Competition Assessment</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Competitive Landscape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Share by Leading Players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Company Profiles &amp; Strategic Benchmarking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16</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Competitive Landscape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Pipeline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Strategic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Competition Dashboard</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Competitive Landscape at a Glance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Market concentration, segment leadership and the moves that will shift share, 2026–2036, in one page</a:t>
            </a:r>
          </a:p>
        </p:txBody>
      </p:sp>
      <p:cxnSp>
        <p:nvCxnSpPr>
          <p:cNvPr id="7" name="Connector 6"/>
          <p:cNvCxnSpPr/>
          <p:nvPr/>
        </p:nvCxnSpPr>
        <p:spPr>
          <a:xfrm>
            <a:off x="190500" y="10477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476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9" name="TextBox 8"/>
          <p:cNvSpPr txBox="1"/>
          <p:nvPr/>
        </p:nvSpPr>
        <p:spPr>
          <a:xfrm>
            <a:off x="2476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E87722"/>
                </a:solidFill>
                <a:latin typeface="Calibri"/>
              </a:rPr>
              <a:t> </a:t>
            </a:r>
          </a:p>
        </p:txBody>
      </p:sp>
      <p:cxnSp>
        <p:nvCxnSpPr>
          <p:cNvPr id="10" name="Connector 9"/>
          <p:cNvCxnSpPr/>
          <p:nvPr/>
        </p:nvCxnSpPr>
        <p:spPr>
          <a:xfrm>
            <a:off x="16668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7240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2" name="TextBox 11"/>
          <p:cNvSpPr txBox="1"/>
          <p:nvPr/>
        </p:nvSpPr>
        <p:spPr>
          <a:xfrm>
            <a:off x="17240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3" name="Connector 12"/>
          <p:cNvCxnSpPr/>
          <p:nvPr/>
        </p:nvCxnSpPr>
        <p:spPr>
          <a:xfrm>
            <a:off x="31432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2004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product types</a:t>
            </a:r>
          </a:p>
        </p:txBody>
      </p:sp>
      <p:sp>
        <p:nvSpPr>
          <p:cNvPr id="15" name="TextBox 14"/>
          <p:cNvSpPr txBox="1"/>
          <p:nvPr/>
        </p:nvSpPr>
        <p:spPr>
          <a:xfrm>
            <a:off x="32004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6" name="Connector 15"/>
          <p:cNvCxnSpPr/>
          <p:nvPr/>
        </p:nvCxnSpPr>
        <p:spPr>
          <a:xfrm>
            <a:off x="46196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767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end use</a:t>
            </a:r>
          </a:p>
        </p:txBody>
      </p:sp>
      <p:sp>
        <p:nvSpPr>
          <p:cNvPr id="18" name="TextBox 17"/>
          <p:cNvSpPr txBox="1"/>
          <p:nvPr/>
        </p:nvSpPr>
        <p:spPr>
          <a:xfrm>
            <a:off x="46767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r>
          </a:p>
        </p:txBody>
      </p:sp>
      <p:cxnSp>
        <p:nvCxnSpPr>
          <p:cNvPr id="19" name="Connector 18"/>
          <p:cNvCxnSpPr/>
          <p:nvPr/>
        </p:nvCxnSpPr>
        <p:spPr>
          <a:xfrm>
            <a:off x="609600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1531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Named competitors</a:t>
            </a:r>
          </a:p>
        </p:txBody>
      </p:sp>
      <p:sp>
        <p:nvSpPr>
          <p:cNvPr id="21" name="TextBox 20"/>
          <p:cNvSpPr txBox="1"/>
          <p:nvPr/>
        </p:nvSpPr>
        <p:spPr>
          <a:xfrm>
            <a:off x="61531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10</a:t>
            </a:r>
          </a:p>
        </p:txBody>
      </p:sp>
      <p:cxnSp>
        <p:nvCxnSpPr>
          <p:cNvPr id="22" name="Connector 21"/>
          <p:cNvCxnSpPr/>
          <p:nvPr/>
        </p:nvCxnSpPr>
        <p:spPr>
          <a:xfrm>
            <a:off x="75723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6295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Moves tracked</a:t>
            </a:r>
          </a:p>
        </p:txBody>
      </p:sp>
      <p:sp>
        <p:nvSpPr>
          <p:cNvPr id="24" name="TextBox 23"/>
          <p:cNvSpPr txBox="1"/>
          <p:nvPr/>
        </p:nvSpPr>
        <p:spPr>
          <a:xfrm>
            <a:off x="76295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50</a:t>
            </a:r>
          </a:p>
        </p:txBody>
      </p:sp>
      <p:cxnSp>
        <p:nvCxnSpPr>
          <p:cNvPr id="25" name="Connector 24"/>
          <p:cNvCxnSpPr/>
          <p:nvPr/>
        </p:nvCxnSpPr>
        <p:spPr>
          <a:xfrm>
            <a:off x="90487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059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player</a:t>
            </a:r>
          </a:p>
        </p:txBody>
      </p:sp>
      <p:sp>
        <p:nvSpPr>
          <p:cNvPr id="27" name="TextBox 26"/>
          <p:cNvSpPr txBox="1"/>
          <p:nvPr/>
        </p:nvSpPr>
        <p:spPr>
          <a:xfrm>
            <a:off x="91059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Atlas Copco</a:t>
            </a:r>
          </a:p>
        </p:txBody>
      </p:sp>
      <p:cxnSp>
        <p:nvCxnSpPr>
          <p:cNvPr id="28" name="Connector 27"/>
          <p:cNvCxnSpPr/>
          <p:nvPr/>
        </p:nvCxnSpPr>
        <p:spPr>
          <a:xfrm>
            <a:off x="105251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05822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sp>
        <p:nvSpPr>
          <p:cNvPr id="30" name="TextBox 29"/>
          <p:cNvSpPr txBox="1"/>
          <p:nvPr/>
        </p:nvSpPr>
        <p:spPr>
          <a:xfrm>
            <a:off x="105822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31" name="Connector 30"/>
          <p:cNvCxnSpPr/>
          <p:nvPr/>
        </p:nvCxnSpPr>
        <p:spPr>
          <a:xfrm>
            <a:off x="190500" y="1733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190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0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4" name="TextBox 33"/>
          <p:cNvSpPr txBox="1"/>
          <p:nvPr/>
        </p:nvSpPr>
        <p:spPr>
          <a:xfrm>
            <a:off x="495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Leadership is concentrated in value, spread in capability</a:t>
            </a:r>
          </a:p>
        </p:txBody>
      </p:sp>
      <p:sp>
        <p:nvSpPr>
          <p:cNvPr id="35" name="TextBox 34"/>
          <p:cNvSpPr txBox="1"/>
          <p:nvPr/>
        </p:nvSpPr>
        <p:spPr>
          <a:xfrm>
            <a:off x="495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36" name="Rectangle 35"/>
          <p:cNvSpPr/>
          <p:nvPr/>
        </p:nvSpPr>
        <p:spPr>
          <a:xfrm>
            <a:off x="190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90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38" name="TextBox 37"/>
          <p:cNvSpPr txBox="1"/>
          <p:nvPr/>
        </p:nvSpPr>
        <p:spPr>
          <a:xfrm>
            <a:off x="495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The tier structure is steep</a:t>
            </a:r>
          </a:p>
        </p:txBody>
      </p:sp>
      <p:sp>
        <p:nvSpPr>
          <p:cNvPr id="39" name="TextBox 38"/>
          <p:cNvSpPr txBox="1"/>
          <p:nvPr/>
        </p:nvSpPr>
        <p:spPr>
          <a:xfrm>
            <a:off x="495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0" name="Rectangle 39"/>
          <p:cNvSpPr/>
          <p:nvPr/>
        </p:nvSpPr>
        <p:spPr>
          <a:xfrm>
            <a:off x="190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0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42" name="TextBox 41"/>
          <p:cNvSpPr txBox="1"/>
          <p:nvPr/>
        </p:nvSpPr>
        <p:spPr>
          <a:xfrm>
            <a:off x="495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Growth is shifting inside the product mix</a:t>
            </a:r>
          </a:p>
        </p:txBody>
      </p:sp>
      <p:sp>
        <p:nvSpPr>
          <p:cNvPr id="43" name="TextBox 42"/>
          <p:cNvSpPr txBox="1"/>
          <p:nvPr/>
        </p:nvSpPr>
        <p:spPr>
          <a:xfrm>
            <a:off x="495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4" name="Rectangle 43"/>
          <p:cNvSpPr/>
          <p:nvPr/>
        </p:nvSpPr>
        <p:spPr>
          <a:xfrm>
            <a:off x="6286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86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46" name="TextBox 45"/>
          <p:cNvSpPr txBox="1"/>
          <p:nvPr/>
        </p:nvSpPr>
        <p:spPr>
          <a:xfrm>
            <a:off x="6591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Reach divides the field</a:t>
            </a:r>
          </a:p>
        </p:txBody>
      </p:sp>
      <p:sp>
        <p:nvSpPr>
          <p:cNvPr id="47" name="TextBox 46"/>
          <p:cNvSpPr txBox="1"/>
          <p:nvPr/>
        </p:nvSpPr>
        <p:spPr>
          <a:xfrm>
            <a:off x="6591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players compete globally, 2 regionally and 4 in one market or niche.</a:t>
            </a:r>
          </a:p>
        </p:txBody>
      </p:sp>
      <p:sp>
        <p:nvSpPr>
          <p:cNvPr id="48" name="Rectangle 47"/>
          <p:cNvSpPr/>
          <p:nvPr/>
        </p:nvSpPr>
        <p:spPr>
          <a:xfrm>
            <a:off x="6286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86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50" name="TextBox 49"/>
          <p:cNvSpPr txBox="1"/>
          <p:nvPr/>
        </p:nvSpPr>
        <p:spPr>
          <a:xfrm>
            <a:off x="6591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Consolidation is an active lever</a:t>
            </a:r>
          </a:p>
        </p:txBody>
      </p:sp>
      <p:sp>
        <p:nvSpPr>
          <p:cNvPr id="51" name="TextBox 50"/>
          <p:cNvSpPr txBox="1"/>
          <p:nvPr/>
        </p:nvSpPr>
        <p:spPr>
          <a:xfrm>
            <a:off x="6591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is an active strategy at 5 of 10 named players; the independent target list is shrinking.</a:t>
            </a:r>
          </a:p>
        </p:txBody>
      </p:sp>
      <p:sp>
        <p:nvSpPr>
          <p:cNvPr id="52" name="Rectangle 51"/>
          <p:cNvSpPr/>
          <p:nvPr/>
        </p:nvSpPr>
        <p:spPr>
          <a:xfrm>
            <a:off x="6286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86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6</a:t>
            </a:r>
          </a:p>
        </p:txBody>
      </p:sp>
      <p:sp>
        <p:nvSpPr>
          <p:cNvPr id="54" name="TextBox 53"/>
          <p:cNvSpPr txBox="1"/>
          <p:nvPr/>
        </p:nvSpPr>
        <p:spPr>
          <a:xfrm>
            <a:off x="6591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Success factors, in order</a:t>
            </a:r>
          </a:p>
        </p:txBody>
      </p:sp>
      <p:sp>
        <p:nvSpPr>
          <p:cNvPr id="55" name="TextBox 54"/>
          <p:cNvSpPr txBox="1"/>
          <p:nvPr/>
        </p:nvSpPr>
        <p:spPr>
          <a:xfrm>
            <a:off x="6591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 segment breadth, 2 scale and share, 3 geographic reach, 4 innovation pipeline, 5 strategic momentum.  Ranking leads: Ingersoll Rand, Atlas Copco, Hitachi.</a:t>
            </a:r>
          </a:p>
        </p:txBody>
      </p:sp>
      <p:cxnSp>
        <p:nvCxnSpPr>
          <p:cNvPr id="56" name="Connector 55"/>
          <p:cNvCxnSpPr/>
          <p:nvPr/>
        </p:nvCxnSpPr>
        <p:spPr>
          <a:xfrm>
            <a:off x="190500" y="521970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90500" y="5276850"/>
            <a:ext cx="3810000" cy="152400"/>
          </a:xfrm>
          <a:prstGeom prst="rect">
            <a:avLst/>
          </a:prstGeom>
          <a:noFill/>
        </p:spPr>
        <p:txBody>
          <a:bodyPr wrap="square" lIns="28575" rIns="28575" tIns="9525" bIns="9525" anchor="t">
            <a:spAutoFit/>
          </a:bodyPr>
          <a:lstStyle/>
          <a:p>
            <a:pPr algn="l"/>
            <a:r>
              <a:rPr sz="1100" b="1">
                <a:solidFill>
                  <a:srgbClr val="0F2D52"/>
                </a:solidFill>
                <a:latin typeface="Calibri"/>
              </a:rPr>
              <a:t>HOW THIS SECTION IS BUILT</a:t>
            </a:r>
          </a:p>
        </p:txBody>
      </p:sp>
      <p:sp>
        <p:nvSpPr>
          <p:cNvPr id="58" name="TextBox 57"/>
          <p:cNvSpPr txBox="1"/>
          <p:nvPr/>
        </p:nvSpPr>
        <p:spPr>
          <a:xfrm>
            <a:off x="190500" y="5448300"/>
            <a:ext cx="11811000" cy="5715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Pages 2 to 4 show where the market is and who plays.  Pages 5 to 7 rate every named company on twenty Ps (who they are, what they sell, how they win); a cell reads n/a where no evidence exists.  Page 8 turns the pattern into five success factors and a ranking.  Pages 9 and 10 list what each player is doing and what each of your departments should do about it.</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1" name="Picture 60" descr="lock.png"/>
          <p:cNvPicPr>
            <a:picLocks noChangeAspect="1"/>
          </p:cNvPicPr>
          <p:nvPr/>
        </p:nvPicPr>
        <p:blipFill>
          <a:blip r:embed="rId4"/>
          <a:stretch>
            <a:fillRect/>
          </a:stretch>
        </p:blipFill>
        <p:spPr>
          <a:xfrm>
            <a:off x="873863" y="1401826"/>
            <a:ext cx="128699" cy="187198"/>
          </a:xfrm>
          <a:prstGeom prst="rect">
            <a:avLst/>
          </a:prstGeom>
        </p:spPr>
      </p:pic>
      <p:pic>
        <p:nvPicPr>
          <p:cNvPr id="62" name="Picture 61" descr="lock.png"/>
          <p:cNvPicPr>
            <a:picLocks noChangeAspect="1"/>
          </p:cNvPicPr>
          <p:nvPr/>
        </p:nvPicPr>
        <p:blipFill>
          <a:blip r:embed="rId4"/>
          <a:stretch>
            <a:fillRect/>
          </a:stretch>
        </p:blipFill>
        <p:spPr>
          <a:xfrm>
            <a:off x="2350238" y="1401826"/>
            <a:ext cx="128699" cy="187198"/>
          </a:xfrm>
          <a:prstGeom prst="rect">
            <a:avLst/>
          </a:prstGeom>
        </p:spPr>
      </p:pic>
      <p:pic>
        <p:nvPicPr>
          <p:cNvPr id="63" name="Picture 62" descr="lock.png"/>
          <p:cNvPicPr>
            <a:picLocks noChangeAspect="1"/>
          </p:cNvPicPr>
          <p:nvPr/>
        </p:nvPicPr>
        <p:blipFill>
          <a:blip r:embed="rId4"/>
          <a:stretch>
            <a:fillRect/>
          </a:stretch>
        </p:blipFill>
        <p:spPr>
          <a:xfrm>
            <a:off x="3826613" y="1401826"/>
            <a:ext cx="128699" cy="187198"/>
          </a:xfrm>
          <a:prstGeom prst="rect">
            <a:avLst/>
          </a:prstGeom>
        </p:spPr>
      </p:pic>
      <p:pic>
        <p:nvPicPr>
          <p:cNvPr id="64" name="Picture 63" descr="lock.png"/>
          <p:cNvPicPr>
            <a:picLocks noChangeAspect="1"/>
          </p:cNvPicPr>
          <p:nvPr/>
        </p:nvPicPr>
        <p:blipFill>
          <a:blip r:embed="rId4"/>
          <a:stretch>
            <a:fillRect/>
          </a:stretch>
        </p:blipFill>
        <p:spPr>
          <a:xfrm>
            <a:off x="11208488" y="1401826"/>
            <a:ext cx="128699" cy="187198"/>
          </a:xfrm>
          <a:prstGeom prst="rect">
            <a:avLst/>
          </a:prstGeom>
        </p:spPr>
      </p:pic>
      <p:sp>
        <p:nvSpPr>
          <p:cNvPr id="65" name="TextBox 64"/>
          <p:cNvSpPr txBox="1"/>
          <p:nvPr/>
        </p:nvSpPr>
        <p:spPr>
          <a:xfrm>
            <a:off x="4705350" y="1304925"/>
            <a:ext cx="1157216" cy="179984"/>
          </a:xfrm>
          <a:prstGeom prst="rect">
            <a:avLst/>
          </a:prstGeom>
          <a:noFill/>
        </p:spPr>
        <p:txBody>
          <a:bodyPr wrap="none" lIns="0" rIns="0" tIns="0" bIns="0">
            <a:spAutoFit/>
          </a:bodyPr>
          <a:lstStyle/>
          <a:p>
            <a:r>
              <a:rPr sz="1055" b="1">
                <a:solidFill>
                  <a:srgbClr val="0F2D52"/>
                </a:solidFill>
                <a:latin typeface="Calibri"/>
              </a:rPr>
              <a:t>Mining and Metals,</a:t>
            </a:r>
          </a:p>
        </p:txBody>
      </p:sp>
      <p:pic>
        <p:nvPicPr>
          <p:cNvPr id="66" name="Picture 65" descr="lock.png"/>
          <p:cNvPicPr>
            <a:picLocks noChangeAspect="1"/>
          </p:cNvPicPr>
          <p:nvPr/>
        </p:nvPicPr>
        <p:blipFill>
          <a:blip r:embed="rId4"/>
          <a:stretch>
            <a:fillRect/>
          </a:stretch>
        </p:blipFill>
        <p:spPr>
          <a:xfrm>
            <a:off x="4692421" y="1456471"/>
            <a:ext cx="123551" cy="179710"/>
          </a:xfrm>
          <a:prstGeom prst="rect">
            <a:avLst/>
          </a:prstGeom>
        </p:spPr>
      </p:pic>
      <p:sp>
        <p:nvSpPr>
          <p:cNvPr id="67" name="TextBox 66"/>
          <p:cNvSpPr txBox="1"/>
          <p:nvPr/>
        </p:nvSpPr>
        <p:spPr>
          <a:xfrm>
            <a:off x="523875" y="2124075"/>
            <a:ext cx="1137319" cy="186689"/>
          </a:xfrm>
          <a:prstGeom prst="rect">
            <a:avLst/>
          </a:prstGeom>
          <a:noFill/>
        </p:spPr>
        <p:txBody>
          <a:bodyPr wrap="none" lIns="0" rIns="0" tIns="0" bIns="0">
            <a:spAutoFit/>
          </a:bodyPr>
          <a:lstStyle/>
          <a:p>
            <a:r>
              <a:rPr sz="1100" b="0">
                <a:solidFill>
                  <a:srgbClr val="1F2933"/>
                </a:solidFill>
                <a:latin typeface="Calibri"/>
              </a:rPr>
              <a:t>The top three hold</a:t>
            </a:r>
          </a:p>
        </p:txBody>
      </p:sp>
      <p:pic>
        <p:nvPicPr>
          <p:cNvPr id="68" name="Picture 67" descr="lock.png"/>
          <p:cNvPicPr>
            <a:picLocks noChangeAspect="1"/>
          </p:cNvPicPr>
          <p:nvPr/>
        </p:nvPicPr>
        <p:blipFill>
          <a:blip r:embed="rId4"/>
          <a:stretch>
            <a:fillRect/>
          </a:stretch>
        </p:blipFill>
        <p:spPr>
          <a:xfrm>
            <a:off x="1609246" y="2114296"/>
            <a:ext cx="128699" cy="187198"/>
          </a:xfrm>
          <a:prstGeom prst="rect">
            <a:avLst/>
          </a:prstGeom>
        </p:spPr>
      </p:pic>
      <p:sp>
        <p:nvSpPr>
          <p:cNvPr id="69" name="TextBox 68"/>
          <p:cNvSpPr txBox="1"/>
          <p:nvPr/>
        </p:nvSpPr>
        <p:spPr>
          <a:xfrm>
            <a:off x="1776742" y="2124075"/>
            <a:ext cx="3949327" cy="186689"/>
          </a:xfrm>
          <a:prstGeom prst="rect">
            <a:avLst/>
          </a:prstGeom>
          <a:noFill/>
        </p:spPr>
        <p:txBody>
          <a:bodyPr wrap="none" lIns="0" rIns="0" tIns="0" bIns="0">
            <a:spAutoFit/>
          </a:bodyPr>
          <a:lstStyle/>
          <a:p>
            <a:r>
              <a:rPr sz="1100" b="0">
                <a:solidFill>
                  <a:srgbClr val="1F2933"/>
                </a:solidFill>
                <a:latin typeface="Calibri"/>
              </a:rPr>
              <a:t>of 2026 value, but 3 companies lead the 8 sub-segments tracked; no</a:t>
            </a:r>
          </a:p>
        </p:txBody>
      </p:sp>
      <p:sp>
        <p:nvSpPr>
          <p:cNvPr id="70" name="TextBox 69"/>
          <p:cNvSpPr txBox="1"/>
          <p:nvPr/>
        </p:nvSpPr>
        <p:spPr>
          <a:xfrm>
            <a:off x="523875" y="2291715"/>
            <a:ext cx="1386433" cy="186689"/>
          </a:xfrm>
          <a:prstGeom prst="rect">
            <a:avLst/>
          </a:prstGeom>
          <a:noFill/>
        </p:spPr>
        <p:txBody>
          <a:bodyPr wrap="none" lIns="0" rIns="0" tIns="0" bIns="0">
            <a:spAutoFit/>
          </a:bodyPr>
          <a:lstStyle/>
          <a:p>
            <a:r>
              <a:rPr sz="1100" b="0">
                <a:solidFill>
                  <a:srgbClr val="1F2933"/>
                </a:solidFill>
                <a:latin typeface="Calibri"/>
              </a:rPr>
              <a:t>one leads more than 5.</a:t>
            </a:r>
          </a:p>
        </p:txBody>
      </p:sp>
      <p:sp>
        <p:nvSpPr>
          <p:cNvPr id="71" name="TextBox 70"/>
          <p:cNvSpPr txBox="1"/>
          <p:nvPr/>
        </p:nvSpPr>
        <p:spPr>
          <a:xfrm>
            <a:off x="523875" y="3228975"/>
            <a:ext cx="1364059" cy="186689"/>
          </a:xfrm>
          <a:prstGeom prst="rect">
            <a:avLst/>
          </a:prstGeom>
          <a:noFill/>
        </p:spPr>
        <p:txBody>
          <a:bodyPr wrap="none" lIns="0" rIns="0" tIns="0" bIns="0">
            <a:spAutoFit/>
          </a:bodyPr>
          <a:lstStyle/>
          <a:p>
            <a:r>
              <a:rPr sz="1100" b="0">
                <a:solidFill>
                  <a:srgbClr val="1F2933"/>
                </a:solidFill>
                <a:latin typeface="Calibri"/>
              </a:rPr>
              <a:t>Tier 1 (4 players) holds</a:t>
            </a:r>
          </a:p>
        </p:txBody>
      </p:sp>
      <p:pic>
        <p:nvPicPr>
          <p:cNvPr id="72" name="Picture 71" descr="lock.png"/>
          <p:cNvPicPr>
            <a:picLocks noChangeAspect="1"/>
          </p:cNvPicPr>
          <p:nvPr/>
        </p:nvPicPr>
        <p:blipFill>
          <a:blip r:embed="rId4"/>
          <a:stretch>
            <a:fillRect/>
          </a:stretch>
        </p:blipFill>
        <p:spPr>
          <a:xfrm>
            <a:off x="1835985" y="3219196"/>
            <a:ext cx="128699" cy="187198"/>
          </a:xfrm>
          <a:prstGeom prst="rect">
            <a:avLst/>
          </a:prstGeom>
        </p:spPr>
      </p:pic>
      <p:sp>
        <p:nvSpPr>
          <p:cNvPr id="73" name="TextBox 72"/>
          <p:cNvSpPr txBox="1"/>
          <p:nvPr/>
        </p:nvSpPr>
        <p:spPr>
          <a:xfrm>
            <a:off x="2003481" y="3228975"/>
            <a:ext cx="1875656" cy="186689"/>
          </a:xfrm>
          <a:prstGeom prst="rect">
            <a:avLst/>
          </a:prstGeom>
          <a:noFill/>
        </p:spPr>
        <p:txBody>
          <a:bodyPr wrap="none" lIns="0" rIns="0" tIns="0" bIns="0">
            <a:spAutoFit/>
          </a:bodyPr>
          <a:lstStyle/>
          <a:p>
            <a:r>
              <a:rPr sz="1100" b="0">
                <a:solidFill>
                  <a:srgbClr val="1F2933"/>
                </a:solidFill>
                <a:latin typeface="Calibri"/>
              </a:rPr>
              <a:t>; Tier 2 and Tier 3 together hold</a:t>
            </a:r>
          </a:p>
        </p:txBody>
      </p:sp>
      <p:pic>
        <p:nvPicPr>
          <p:cNvPr id="74" name="Picture 73" descr="lock.png"/>
          <p:cNvPicPr>
            <a:picLocks noChangeAspect="1"/>
          </p:cNvPicPr>
          <p:nvPr/>
        </p:nvPicPr>
        <p:blipFill>
          <a:blip r:embed="rId4"/>
          <a:stretch>
            <a:fillRect/>
          </a:stretch>
        </p:blipFill>
        <p:spPr>
          <a:xfrm>
            <a:off x="3827189" y="3219196"/>
            <a:ext cx="128699" cy="187198"/>
          </a:xfrm>
          <a:prstGeom prst="rect">
            <a:avLst/>
          </a:prstGeom>
        </p:spPr>
      </p:pic>
      <p:sp>
        <p:nvSpPr>
          <p:cNvPr id="75" name="TextBox 74"/>
          <p:cNvSpPr txBox="1"/>
          <p:nvPr/>
        </p:nvSpPr>
        <p:spPr>
          <a:xfrm>
            <a:off x="3994685" y="3228975"/>
            <a:ext cx="111397" cy="186689"/>
          </a:xfrm>
          <a:prstGeom prst="rect">
            <a:avLst/>
          </a:prstGeom>
          <a:noFill/>
        </p:spPr>
        <p:txBody>
          <a:bodyPr wrap="none" lIns="0" rIns="0" tIns="0" bIns="0">
            <a:spAutoFit/>
          </a:bodyPr>
          <a:lstStyle/>
          <a:p>
            <a:r>
              <a:rPr sz="1100" b="0">
                <a:solidFill>
                  <a:srgbClr val="1F2933"/>
                </a:solidFill>
                <a:latin typeface="Calibri"/>
              </a:rPr>
              <a:t>.</a:t>
            </a:r>
          </a:p>
        </p:txBody>
      </p:sp>
      <p:sp>
        <p:nvSpPr>
          <p:cNvPr id="76" name="TextBox 75"/>
          <p:cNvSpPr txBox="1"/>
          <p:nvPr/>
        </p:nvSpPr>
        <p:spPr>
          <a:xfrm>
            <a:off x="523875" y="4333875"/>
            <a:ext cx="5153421" cy="186689"/>
          </a:xfrm>
          <a:prstGeom prst="rect">
            <a:avLst/>
          </a:prstGeom>
          <a:noFill/>
        </p:spPr>
        <p:txBody>
          <a:bodyPr wrap="none" lIns="0" rIns="0" tIns="0" bIns="0">
            <a:spAutoFit/>
          </a:bodyPr>
          <a:lstStyle/>
          <a:p>
            <a:r>
              <a:rPr sz="1100" b="0">
                <a:solidFill>
                  <a:srgbClr val="1F2933"/>
                </a:solidFill>
                <a:latin typeface="Calibri"/>
              </a:rPr>
              <a:t>'Rotary Screw Air Compressor' is the largest line; 'Centrifugal Air Compressor' compounds</a:t>
            </a:r>
          </a:p>
        </p:txBody>
      </p:sp>
      <p:sp>
        <p:nvSpPr>
          <p:cNvPr id="77" name="TextBox 76"/>
          <p:cNvSpPr txBox="1"/>
          <p:nvPr/>
        </p:nvSpPr>
        <p:spPr>
          <a:xfrm>
            <a:off x="523875" y="4501515"/>
            <a:ext cx="603622" cy="186689"/>
          </a:xfrm>
          <a:prstGeom prst="rect">
            <a:avLst/>
          </a:prstGeom>
          <a:noFill/>
        </p:spPr>
        <p:txBody>
          <a:bodyPr wrap="none" lIns="0" rIns="0" tIns="0" bIns="0">
            <a:spAutoFit/>
          </a:bodyPr>
          <a:lstStyle/>
          <a:p>
            <a:r>
              <a:rPr sz="1100" b="0">
                <a:solidFill>
                  <a:srgbClr val="1F2933"/>
                </a:solidFill>
                <a:latin typeface="Calibri"/>
              </a:rPr>
              <a:t>fastest at</a:t>
            </a:r>
          </a:p>
        </p:txBody>
      </p:sp>
      <p:pic>
        <p:nvPicPr>
          <p:cNvPr id="78" name="Picture 77" descr="lock.png"/>
          <p:cNvPicPr>
            <a:picLocks noChangeAspect="1"/>
          </p:cNvPicPr>
          <p:nvPr/>
        </p:nvPicPr>
        <p:blipFill>
          <a:blip r:embed="rId4"/>
          <a:stretch>
            <a:fillRect/>
          </a:stretch>
        </p:blipFill>
        <p:spPr>
          <a:xfrm>
            <a:off x="1075548" y="4491736"/>
            <a:ext cx="128699" cy="187198"/>
          </a:xfrm>
          <a:prstGeom prst="rect">
            <a:avLst/>
          </a:prstGeom>
        </p:spPr>
      </p:pic>
      <p:sp>
        <p:nvSpPr>
          <p:cNvPr id="79" name="TextBox 78"/>
          <p:cNvSpPr txBox="1"/>
          <p:nvPr/>
        </p:nvSpPr>
        <p:spPr>
          <a:xfrm>
            <a:off x="1243044" y="4501515"/>
            <a:ext cx="430617" cy="186689"/>
          </a:xfrm>
          <a:prstGeom prst="rect">
            <a:avLst/>
          </a:prstGeom>
          <a:noFill/>
        </p:spPr>
        <p:txBody>
          <a:bodyPr wrap="none" lIns="0" rIns="0" tIns="0" bIns="0">
            <a:spAutoFit/>
          </a:bodyPr>
          <a:lstStyle/>
          <a:p>
            <a:r>
              <a:rPr sz="1100" b="0">
                <a:solidFill>
                  <a:srgbClr val="1F2933"/>
                </a:solidFill>
                <a:latin typeface="Calibri"/>
              </a:rPr>
              <a:t>CAGR.</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Segment Leadership Map</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Share by player group and which named player leads or is active in each sub-segment, 2026</a:t>
            </a:r>
          </a:p>
        </p:txBody>
      </p:sp>
      <p:sp>
        <p:nvSpPr>
          <p:cNvPr id="7" name="TextBox 6"/>
          <p:cNvSpPr txBox="1"/>
          <p:nvPr/>
        </p:nvSpPr>
        <p:spPr>
          <a:xfrm>
            <a:off x="190500" y="104775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Who holds the market, 2026</a:t>
            </a:r>
          </a:p>
        </p:txBody>
      </p:sp>
      <p:sp>
        <p:nvSpPr>
          <p:cNvPr id="8" name="Rectangle 7"/>
          <p:cNvSpPr/>
          <p:nvPr/>
        </p:nvSpPr>
        <p:spPr>
          <a:xfrm>
            <a:off x="190500" y="1257300"/>
            <a:ext cx="4509884" cy="266700"/>
          </a:xfrm>
          <a:prstGeom prst="rect">
            <a:avLst/>
          </a:prstGeom>
          <a:solidFill>
            <a:srgbClr val="0F2D5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7650" y="1257300"/>
            <a:ext cx="4433684"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0" name="Rectangle 9"/>
          <p:cNvSpPr/>
          <p:nvPr/>
        </p:nvSpPr>
        <p:spPr>
          <a:xfrm>
            <a:off x="4700384" y="1257300"/>
            <a:ext cx="1536162" cy="266700"/>
          </a:xfrm>
          <a:prstGeom prst="rect">
            <a:avLst/>
          </a:prstGeom>
          <a:solidFill>
            <a:srgbClr val="1F6FA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7534" y="1257300"/>
            <a:ext cx="1459962"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2" name="Rectangle 11"/>
          <p:cNvSpPr/>
          <p:nvPr/>
        </p:nvSpPr>
        <p:spPr>
          <a:xfrm>
            <a:off x="6236546" y="1257300"/>
            <a:ext cx="2242416" cy="266700"/>
          </a:xfrm>
          <a:prstGeom prst="rect">
            <a:avLst/>
          </a:prstGeom>
          <a:solidFill>
            <a:srgbClr val="6FA0C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3696" y="1257300"/>
            <a:ext cx="2166216"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4" name="Rectangle 13"/>
          <p:cNvSpPr/>
          <p:nvPr/>
        </p:nvSpPr>
        <p:spPr>
          <a:xfrm>
            <a:off x="8478962" y="1257300"/>
            <a:ext cx="3522538" cy="266700"/>
          </a:xfrm>
          <a:prstGeom prst="rect">
            <a:avLst/>
          </a:prstGeom>
          <a:solidFill>
            <a:srgbClr val="A9C6E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36112" y="1257300"/>
            <a:ext cx="3446338" cy="266700"/>
          </a:xfrm>
          <a:prstGeom prst="rect">
            <a:avLst/>
          </a:prstGeom>
          <a:noFill/>
        </p:spPr>
        <p:txBody>
          <a:bodyPr wrap="square" lIns="28575" rIns="28575" tIns="9525" bIns="9525" anchor="ctr">
            <a:spAutoFit/>
          </a:bodyPr>
          <a:lstStyle/>
          <a:p>
            <a:pPr algn="l"/>
            <a:r>
              <a:rPr sz="1100" b="1">
                <a:solidFill>
                  <a:srgbClr val="0F2D52"/>
                </a:solidFill>
                <a:latin typeface="Calibri"/>
              </a:rPr>
              <a:t/>
            </a:r>
          </a:p>
        </p:txBody>
      </p:sp>
      <p:sp>
        <p:nvSpPr>
          <p:cNvPr id="16" name="Rectangle 15"/>
          <p:cNvSpPr/>
          <p:nvPr/>
        </p:nvSpPr>
        <p:spPr>
          <a:xfrm>
            <a:off x="190500" y="1600200"/>
            <a:ext cx="85725" cy="857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43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Atlas Copco, Ingersoll Rand, Hitachi</a:t>
            </a:r>
          </a:p>
        </p:txBody>
      </p:sp>
      <p:sp>
        <p:nvSpPr>
          <p:cNvPr id="18" name="Rectangle 17"/>
          <p:cNvSpPr/>
          <p:nvPr/>
        </p:nvSpPr>
        <p:spPr>
          <a:xfrm>
            <a:off x="3143250" y="1600200"/>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670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KAESER KOMPRESSOREN, Gardner Denver</a:t>
            </a:r>
          </a:p>
        </p:txBody>
      </p:sp>
      <p:sp>
        <p:nvSpPr>
          <p:cNvPr id="20" name="Rectangle 19"/>
          <p:cNvSpPr/>
          <p:nvPr/>
        </p:nvSpPr>
        <p:spPr>
          <a:xfrm>
            <a:off x="6096000" y="1600200"/>
            <a:ext cx="85725" cy="85725"/>
          </a:xfrm>
          <a:prstGeom prst="rect">
            <a:avLst/>
          </a:prstGeom>
          <a:solidFill>
            <a:srgbClr val="6FA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98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ELGi Equipments, Kaishan Group, BOGE KOMPRESSOREN, ANEST IWATA, Quincy Compressor</a:t>
            </a:r>
          </a:p>
        </p:txBody>
      </p:sp>
      <p:sp>
        <p:nvSpPr>
          <p:cNvPr id="22" name="Rectangle 21"/>
          <p:cNvSpPr/>
          <p:nvPr/>
        </p:nvSpPr>
        <p:spPr>
          <a:xfrm>
            <a:off x="9048750" y="1600200"/>
            <a:ext cx="85725" cy="857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725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Long tail of regional and niche suppliers</a:t>
            </a:r>
          </a:p>
        </p:txBody>
      </p:sp>
      <p:cxnSp>
        <p:nvCxnSpPr>
          <p:cNvPr id="24" name="Connector 23"/>
          <p:cNvCxnSpPr/>
          <p:nvPr/>
        </p:nvCxnSpPr>
        <p:spPr>
          <a:xfrm>
            <a:off x="190500" y="19240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90500" y="1981200"/>
            <a:ext cx="8572500" cy="171450"/>
          </a:xfrm>
          <a:prstGeom prst="rect">
            <a:avLst/>
          </a:prstGeom>
          <a:noFill/>
        </p:spPr>
        <p:txBody>
          <a:bodyPr wrap="square" lIns="28575" rIns="28575" tIns="9525" bIns="9525" anchor="t">
            <a:spAutoFit/>
          </a:bodyPr>
          <a:lstStyle/>
          <a:p>
            <a:pPr algn="l"/>
            <a:r>
              <a:rPr sz="1100" b="1">
                <a:solidFill>
                  <a:srgbClr val="0F2D52"/>
                </a:solidFill>
                <a:latin typeface="Calibri"/>
              </a:rPr>
              <a:t>Who leads which sub-segment, 2026  (full = leader, half = active)</a:t>
            </a:r>
          </a:p>
        </p:txBody>
      </p:sp>
      <p:sp>
        <p:nvSpPr>
          <p:cNvPr id="26" name="TextBox 25"/>
          <p:cNvSpPr txBox="1"/>
          <p:nvPr/>
        </p:nvSpPr>
        <p:spPr>
          <a:xfrm>
            <a:off x="211455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Rotary Screw Air Compressor</a:t>
            </a:r>
          </a:p>
        </p:txBody>
      </p:sp>
      <p:sp>
        <p:nvSpPr>
          <p:cNvPr id="27" name="TextBox 26"/>
          <p:cNvSpPr txBox="1"/>
          <p:nvPr/>
        </p:nvSpPr>
        <p:spPr>
          <a:xfrm>
            <a:off x="335280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Scroll Air Compressor</a:t>
            </a:r>
          </a:p>
        </p:txBody>
      </p:sp>
      <p:sp>
        <p:nvSpPr>
          <p:cNvPr id="28" name="TextBox 27"/>
          <p:cNvSpPr txBox="1"/>
          <p:nvPr/>
        </p:nvSpPr>
        <p:spPr>
          <a:xfrm>
            <a:off x="459105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Centrifugal Air Compressor</a:t>
            </a:r>
          </a:p>
        </p:txBody>
      </p:sp>
      <p:sp>
        <p:nvSpPr>
          <p:cNvPr id="29" name="TextBox 28"/>
          <p:cNvSpPr txBox="1"/>
          <p:nvPr/>
        </p:nvSpPr>
        <p:spPr>
          <a:xfrm>
            <a:off x="582930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Reciprocating Air Compressor</a:t>
            </a:r>
          </a:p>
        </p:txBody>
      </p:sp>
      <p:sp>
        <p:nvSpPr>
          <p:cNvPr id="30" name="TextBox 29"/>
          <p:cNvSpPr txBox="1"/>
          <p:nvPr/>
        </p:nvSpPr>
        <p:spPr>
          <a:xfrm>
            <a:off x="706755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Mining and Metals</a:t>
            </a:r>
          </a:p>
        </p:txBody>
      </p:sp>
      <p:sp>
        <p:nvSpPr>
          <p:cNvPr id="31" name="TextBox 30"/>
          <p:cNvSpPr txBox="1"/>
          <p:nvPr/>
        </p:nvSpPr>
        <p:spPr>
          <a:xfrm>
            <a:off x="830580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Industrial Air Separation</a:t>
            </a:r>
          </a:p>
        </p:txBody>
      </p:sp>
      <p:sp>
        <p:nvSpPr>
          <p:cNvPr id="32" name="TextBox 31"/>
          <p:cNvSpPr txBox="1"/>
          <p:nvPr/>
        </p:nvSpPr>
        <p:spPr>
          <a:xfrm>
            <a:off x="954405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Other Manufacturing</a:t>
            </a:r>
          </a:p>
        </p:txBody>
      </p:sp>
      <p:sp>
        <p:nvSpPr>
          <p:cNvPr id="33" name="TextBox 32"/>
          <p:cNvSpPr txBox="1"/>
          <p:nvPr/>
        </p:nvSpPr>
        <p:spPr>
          <a:xfrm>
            <a:off x="1078230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Automotive and Transportation</a:t>
            </a:r>
          </a:p>
        </p:txBody>
      </p:sp>
      <p:cxnSp>
        <p:nvCxnSpPr>
          <p:cNvPr id="34" name="Connector 33"/>
          <p:cNvCxnSpPr/>
          <p:nvPr/>
        </p:nvCxnSpPr>
        <p:spPr>
          <a:xfrm>
            <a:off x="190500" y="2609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2638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5750" y="26289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Atlas Copco</a:t>
            </a:r>
          </a:p>
        </p:txBody>
      </p:sp>
      <p:sp>
        <p:nvSpPr>
          <p:cNvPr id="37" name="TextBox 36"/>
          <p:cNvSpPr txBox="1"/>
          <p:nvPr/>
        </p:nvSpPr>
        <p:spPr>
          <a:xfrm>
            <a:off x="285750" y="27908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8" name="Oval 37"/>
          <p:cNvSpPr/>
          <p:nvPr/>
        </p:nvSpPr>
        <p:spPr>
          <a:xfrm>
            <a:off x="2638425"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71462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87667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11492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35317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591425"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66762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829675"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890587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06792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30617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190500" y="2952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190500" y="2981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5750" y="29718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Ingersoll Rand</a:t>
            </a:r>
          </a:p>
        </p:txBody>
      </p:sp>
      <p:sp>
        <p:nvSpPr>
          <p:cNvPr id="52" name="TextBox 51"/>
          <p:cNvSpPr txBox="1"/>
          <p:nvPr/>
        </p:nvSpPr>
        <p:spPr>
          <a:xfrm>
            <a:off x="285750" y="31337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3" name="Oval 52"/>
          <p:cNvSpPr/>
          <p:nvPr/>
        </p:nvSpPr>
        <p:spPr>
          <a:xfrm>
            <a:off x="26384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27146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87667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395287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51149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35317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642937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5914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76676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829675" y="3048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00679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101441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130617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1138237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Connector 66"/>
          <p:cNvCxnSpPr/>
          <p:nvPr/>
        </p:nvCxnSpPr>
        <p:spPr>
          <a:xfrm>
            <a:off x="190500" y="3295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190500" y="3324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5750" y="33147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Hitachi</a:t>
            </a:r>
          </a:p>
        </p:txBody>
      </p:sp>
      <p:sp>
        <p:nvSpPr>
          <p:cNvPr id="70" name="TextBox 69"/>
          <p:cNvSpPr txBox="1"/>
          <p:nvPr/>
        </p:nvSpPr>
        <p:spPr>
          <a:xfrm>
            <a:off x="285750" y="34766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71" name="Oval 70"/>
          <p:cNvSpPr/>
          <p:nvPr/>
        </p:nvSpPr>
        <p:spPr>
          <a:xfrm>
            <a:off x="2638425"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38766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395287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511492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519112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3531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7591425"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88296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890587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006792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1014412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13061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1138237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Connector 83"/>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90500" y="3667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85750" y="36576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KAESER KOMPRESSOREN</a:t>
            </a:r>
          </a:p>
        </p:txBody>
      </p:sp>
      <p:sp>
        <p:nvSpPr>
          <p:cNvPr id="87" name="TextBox 86"/>
          <p:cNvSpPr txBox="1"/>
          <p:nvPr/>
        </p:nvSpPr>
        <p:spPr>
          <a:xfrm>
            <a:off x="285750" y="38195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88" name="Oval 87"/>
          <p:cNvSpPr/>
          <p:nvPr/>
        </p:nvSpPr>
        <p:spPr>
          <a:xfrm>
            <a:off x="26384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271462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38766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51149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519112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63531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642937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75914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766762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88296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890587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100679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113061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1" name="Connector 100"/>
          <p:cNvCxnSpPr/>
          <p:nvPr/>
        </p:nvCxnSpPr>
        <p:spPr>
          <a:xfrm>
            <a:off x="190500" y="3981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2" name="Rectangle 101"/>
          <p:cNvSpPr/>
          <p:nvPr/>
        </p:nvSpPr>
        <p:spPr>
          <a:xfrm>
            <a:off x="190500" y="4010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285750" y="40005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Gardner Denver</a:t>
            </a:r>
          </a:p>
        </p:txBody>
      </p:sp>
      <p:sp>
        <p:nvSpPr>
          <p:cNvPr id="104" name="TextBox 103"/>
          <p:cNvSpPr txBox="1"/>
          <p:nvPr/>
        </p:nvSpPr>
        <p:spPr>
          <a:xfrm>
            <a:off x="285750" y="41624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05" name="Oval 104"/>
          <p:cNvSpPr/>
          <p:nvPr/>
        </p:nvSpPr>
        <p:spPr>
          <a:xfrm>
            <a:off x="26384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27146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38766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395287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51149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Freeform 109"/>
          <p:cNvSpPr/>
          <p:nvPr/>
        </p:nvSpPr>
        <p:spPr>
          <a:xfrm>
            <a:off x="51911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63531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75914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Freeform 112"/>
          <p:cNvSpPr/>
          <p:nvPr/>
        </p:nvSpPr>
        <p:spPr>
          <a:xfrm>
            <a:off x="76676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88296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100679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101441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113061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8" name="Connector 117"/>
          <p:cNvCxnSpPr/>
          <p:nvPr/>
        </p:nvCxnSpPr>
        <p:spPr>
          <a:xfrm>
            <a:off x="190500" y="4324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9" name="Rectangle 118"/>
          <p:cNvSpPr/>
          <p:nvPr/>
        </p:nvSpPr>
        <p:spPr>
          <a:xfrm>
            <a:off x="190500" y="4352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285750" y="43434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ELGi Equipments</a:t>
            </a:r>
          </a:p>
        </p:txBody>
      </p:sp>
      <p:sp>
        <p:nvSpPr>
          <p:cNvPr id="121" name="TextBox 120"/>
          <p:cNvSpPr txBox="1"/>
          <p:nvPr/>
        </p:nvSpPr>
        <p:spPr>
          <a:xfrm>
            <a:off x="285750" y="45053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22" name="Oval 121"/>
          <p:cNvSpPr/>
          <p:nvPr/>
        </p:nvSpPr>
        <p:spPr>
          <a:xfrm>
            <a:off x="26384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Freeform 122"/>
          <p:cNvSpPr/>
          <p:nvPr/>
        </p:nvSpPr>
        <p:spPr>
          <a:xfrm>
            <a:off x="271462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38766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Freeform 124"/>
          <p:cNvSpPr/>
          <p:nvPr/>
        </p:nvSpPr>
        <p:spPr>
          <a:xfrm>
            <a:off x="395287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51149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63531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75914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88296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Freeform 129"/>
          <p:cNvSpPr/>
          <p:nvPr/>
        </p:nvSpPr>
        <p:spPr>
          <a:xfrm>
            <a:off x="890587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100679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Freeform 131"/>
          <p:cNvSpPr/>
          <p:nvPr/>
        </p:nvSpPr>
        <p:spPr>
          <a:xfrm>
            <a:off x="1014412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113061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4" name="Connector 133"/>
          <p:cNvCxnSpPr/>
          <p:nvPr/>
        </p:nvCxnSpPr>
        <p:spPr>
          <a:xfrm>
            <a:off x="190500" y="4667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5" name="Rectangle 134"/>
          <p:cNvSpPr/>
          <p:nvPr/>
        </p:nvSpPr>
        <p:spPr>
          <a:xfrm>
            <a:off x="190500" y="4695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85750" y="46863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Kaishan Group</a:t>
            </a:r>
          </a:p>
        </p:txBody>
      </p:sp>
      <p:sp>
        <p:nvSpPr>
          <p:cNvPr id="137" name="TextBox 136"/>
          <p:cNvSpPr txBox="1"/>
          <p:nvPr/>
        </p:nvSpPr>
        <p:spPr>
          <a:xfrm>
            <a:off x="285750" y="48482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38" name="Oval 137"/>
          <p:cNvSpPr/>
          <p:nvPr/>
        </p:nvSpPr>
        <p:spPr>
          <a:xfrm>
            <a:off x="26384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38766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395287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51149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Freeform 141"/>
          <p:cNvSpPr/>
          <p:nvPr/>
        </p:nvSpPr>
        <p:spPr>
          <a:xfrm>
            <a:off x="519112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63531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75914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Freeform 144"/>
          <p:cNvSpPr/>
          <p:nvPr/>
        </p:nvSpPr>
        <p:spPr>
          <a:xfrm>
            <a:off x="766762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88296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890587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100679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113061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0" name="Connector 149"/>
          <p:cNvCxnSpPr/>
          <p:nvPr/>
        </p:nvCxnSpPr>
        <p:spPr>
          <a:xfrm>
            <a:off x="190500" y="5010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1" name="Rectangle 150"/>
          <p:cNvSpPr/>
          <p:nvPr/>
        </p:nvSpPr>
        <p:spPr>
          <a:xfrm>
            <a:off x="190500" y="5038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285750" y="50292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BOGE KOMPRESSOREN</a:t>
            </a:r>
          </a:p>
        </p:txBody>
      </p:sp>
      <p:sp>
        <p:nvSpPr>
          <p:cNvPr id="153" name="TextBox 152"/>
          <p:cNvSpPr txBox="1"/>
          <p:nvPr/>
        </p:nvSpPr>
        <p:spPr>
          <a:xfrm>
            <a:off x="285750" y="51911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54" name="Oval 153"/>
          <p:cNvSpPr/>
          <p:nvPr/>
        </p:nvSpPr>
        <p:spPr>
          <a:xfrm>
            <a:off x="26384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Freeform 154"/>
          <p:cNvSpPr/>
          <p:nvPr/>
        </p:nvSpPr>
        <p:spPr>
          <a:xfrm>
            <a:off x="271462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38766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51149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Freeform 157"/>
          <p:cNvSpPr/>
          <p:nvPr/>
        </p:nvSpPr>
        <p:spPr>
          <a:xfrm>
            <a:off x="519112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63531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75914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Freeform 160"/>
          <p:cNvSpPr/>
          <p:nvPr/>
        </p:nvSpPr>
        <p:spPr>
          <a:xfrm>
            <a:off x="766762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88296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100679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Freeform 163"/>
          <p:cNvSpPr/>
          <p:nvPr/>
        </p:nvSpPr>
        <p:spPr>
          <a:xfrm>
            <a:off x="1014412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113061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6" name="Connector 165"/>
          <p:cNvCxnSpPr/>
          <p:nvPr/>
        </p:nvCxnSpPr>
        <p:spPr>
          <a:xfrm>
            <a:off x="190500" y="5353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7" name="Rectangle 166"/>
          <p:cNvSpPr/>
          <p:nvPr/>
        </p:nvSpPr>
        <p:spPr>
          <a:xfrm>
            <a:off x="190500" y="5381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285750" y="53721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ANEST IWATA</a:t>
            </a:r>
          </a:p>
        </p:txBody>
      </p:sp>
      <p:sp>
        <p:nvSpPr>
          <p:cNvPr id="169" name="TextBox 168"/>
          <p:cNvSpPr txBox="1"/>
          <p:nvPr/>
        </p:nvSpPr>
        <p:spPr>
          <a:xfrm>
            <a:off x="285750" y="55340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70" name="Oval 169"/>
          <p:cNvSpPr/>
          <p:nvPr/>
        </p:nvSpPr>
        <p:spPr>
          <a:xfrm>
            <a:off x="263842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Freeform 170"/>
          <p:cNvSpPr/>
          <p:nvPr/>
        </p:nvSpPr>
        <p:spPr>
          <a:xfrm>
            <a:off x="271462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387667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Freeform 172"/>
          <p:cNvSpPr/>
          <p:nvPr/>
        </p:nvSpPr>
        <p:spPr>
          <a:xfrm>
            <a:off x="395287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511492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Freeform 174"/>
          <p:cNvSpPr/>
          <p:nvPr/>
        </p:nvSpPr>
        <p:spPr>
          <a:xfrm>
            <a:off x="519112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635317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759142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882967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Freeform 178"/>
          <p:cNvSpPr/>
          <p:nvPr/>
        </p:nvSpPr>
        <p:spPr>
          <a:xfrm>
            <a:off x="890587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1006792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Freeform 180"/>
          <p:cNvSpPr/>
          <p:nvPr/>
        </p:nvSpPr>
        <p:spPr>
          <a:xfrm>
            <a:off x="1014412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11306175"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3" name="Connector 182"/>
          <p:cNvCxnSpPr/>
          <p:nvPr/>
        </p:nvCxnSpPr>
        <p:spPr>
          <a:xfrm>
            <a:off x="190500" y="5695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84" name="Rectangle 183"/>
          <p:cNvSpPr/>
          <p:nvPr/>
        </p:nvSpPr>
        <p:spPr>
          <a:xfrm>
            <a:off x="190500" y="5724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285750" y="57150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Quincy Compressor</a:t>
            </a:r>
          </a:p>
        </p:txBody>
      </p:sp>
      <p:sp>
        <p:nvSpPr>
          <p:cNvPr id="186" name="TextBox 185"/>
          <p:cNvSpPr txBox="1"/>
          <p:nvPr/>
        </p:nvSpPr>
        <p:spPr>
          <a:xfrm>
            <a:off x="285750" y="58769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87" name="Oval 186"/>
          <p:cNvSpPr/>
          <p:nvPr/>
        </p:nvSpPr>
        <p:spPr>
          <a:xfrm>
            <a:off x="263842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Freeform 187"/>
          <p:cNvSpPr/>
          <p:nvPr/>
        </p:nvSpPr>
        <p:spPr>
          <a:xfrm>
            <a:off x="271462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387667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Freeform 189"/>
          <p:cNvSpPr/>
          <p:nvPr/>
        </p:nvSpPr>
        <p:spPr>
          <a:xfrm>
            <a:off x="395287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511492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635317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759142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Freeform 193"/>
          <p:cNvSpPr/>
          <p:nvPr/>
        </p:nvSpPr>
        <p:spPr>
          <a:xfrm>
            <a:off x="766762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882967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Freeform 195"/>
          <p:cNvSpPr/>
          <p:nvPr/>
        </p:nvSpPr>
        <p:spPr>
          <a:xfrm>
            <a:off x="890587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1006792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11306175"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9" name="Connector 198"/>
          <p:cNvCxnSpPr/>
          <p:nvPr/>
        </p:nvCxnSpPr>
        <p:spPr>
          <a:xfrm>
            <a:off x="190500" y="6038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200" name="Rectangle 199"/>
          <p:cNvSpPr/>
          <p:nvPr/>
        </p:nvSpPr>
        <p:spPr>
          <a:xfrm>
            <a:off x="190500" y="6124575"/>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31432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1</a:t>
            </a:r>
          </a:p>
        </p:txBody>
      </p:sp>
      <p:sp>
        <p:nvSpPr>
          <p:cNvPr id="202" name="Rectangle 201"/>
          <p:cNvSpPr/>
          <p:nvPr/>
        </p:nvSpPr>
        <p:spPr>
          <a:xfrm>
            <a:off x="847725" y="6124575"/>
            <a:ext cx="85725" cy="85725"/>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971550"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2</a:t>
            </a:r>
          </a:p>
        </p:txBody>
      </p:sp>
      <p:sp>
        <p:nvSpPr>
          <p:cNvPr id="204" name="Rectangle 203"/>
          <p:cNvSpPr/>
          <p:nvPr/>
        </p:nvSpPr>
        <p:spPr>
          <a:xfrm>
            <a:off x="1504950" y="6124575"/>
            <a:ext cx="85725" cy="85725"/>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162877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3</a:t>
            </a:r>
          </a:p>
        </p:txBody>
      </p:sp>
      <p:sp>
        <p:nvSpPr>
          <p:cNvPr id="206" name="TextBox 205"/>
          <p:cNvSpPr txBox="1"/>
          <p:nvPr/>
        </p:nvSpPr>
        <p:spPr>
          <a:xfrm>
            <a:off x="190500" y="6286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207" name="TextBox 206"/>
          <p:cNvSpPr txBox="1"/>
          <p:nvPr/>
        </p:nvSpPr>
        <p:spPr>
          <a:xfrm>
            <a:off x="190500" y="64008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Read across a row to see breadth; down a column to see contestability.  'Rotary Screw Air Compressor' is the most contested column (9 players active); 'Reciprocating Air Compressor' is the most open (3).</a:t>
            </a:r>
          </a:p>
        </p:txBody>
      </p:sp>
      <p:sp>
        <p:nvSpPr>
          <p:cNvPr id="208" name="Rectangle 20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10" name="TextBox 209"/>
          <p:cNvSpPr txBox="1"/>
          <p:nvPr/>
        </p:nvSpPr>
        <p:spPr>
          <a:xfrm>
            <a:off x="276225" y="1306830"/>
            <a:ext cx="398164" cy="186689"/>
          </a:xfrm>
          <a:prstGeom prst="rect">
            <a:avLst/>
          </a:prstGeom>
          <a:noFill/>
        </p:spPr>
        <p:txBody>
          <a:bodyPr wrap="none" lIns="0" rIns="0" tIns="0" bIns="0">
            <a:spAutoFit/>
          </a:bodyPr>
          <a:lstStyle/>
          <a:p>
            <a:r>
              <a:rPr sz="1100" b="1">
                <a:solidFill>
                  <a:srgbClr val="FFFFFF"/>
                </a:solidFill>
                <a:latin typeface="Calibri"/>
              </a:rPr>
              <a:t>Top 3</a:t>
            </a:r>
          </a:p>
        </p:txBody>
      </p:sp>
      <p:pic>
        <p:nvPicPr>
          <p:cNvPr id="211" name="Picture 210" descr="lock.png"/>
          <p:cNvPicPr>
            <a:picLocks noChangeAspect="1"/>
          </p:cNvPicPr>
          <p:nvPr/>
        </p:nvPicPr>
        <p:blipFill>
          <a:blip r:embed="rId4"/>
          <a:stretch>
            <a:fillRect/>
          </a:stretch>
        </p:blipFill>
        <p:spPr>
          <a:xfrm>
            <a:off x="622441" y="1297051"/>
            <a:ext cx="128699" cy="187198"/>
          </a:xfrm>
          <a:prstGeom prst="rect">
            <a:avLst/>
          </a:prstGeom>
        </p:spPr>
      </p:pic>
      <p:sp>
        <p:nvSpPr>
          <p:cNvPr id="212" name="TextBox 211"/>
          <p:cNvSpPr txBox="1"/>
          <p:nvPr/>
        </p:nvSpPr>
        <p:spPr>
          <a:xfrm>
            <a:off x="4786109" y="1306830"/>
            <a:ext cx="813172" cy="186689"/>
          </a:xfrm>
          <a:prstGeom prst="rect">
            <a:avLst/>
          </a:prstGeom>
          <a:noFill/>
        </p:spPr>
        <p:txBody>
          <a:bodyPr wrap="none" lIns="0" rIns="0" tIns="0" bIns="0">
            <a:spAutoFit/>
          </a:bodyPr>
          <a:lstStyle/>
          <a:p>
            <a:r>
              <a:rPr sz="1100" b="1">
                <a:solidFill>
                  <a:srgbClr val="FFFFFF"/>
                </a:solidFill>
                <a:latin typeface="Calibri"/>
              </a:rPr>
              <a:t>Rest of top 5</a:t>
            </a:r>
          </a:p>
        </p:txBody>
      </p:sp>
      <p:pic>
        <p:nvPicPr>
          <p:cNvPr id="213" name="Picture 212" descr="lock.png"/>
          <p:cNvPicPr>
            <a:picLocks noChangeAspect="1"/>
          </p:cNvPicPr>
          <p:nvPr/>
        </p:nvPicPr>
        <p:blipFill>
          <a:blip r:embed="rId4"/>
          <a:stretch>
            <a:fillRect/>
          </a:stretch>
        </p:blipFill>
        <p:spPr>
          <a:xfrm>
            <a:off x="5547332" y="1297051"/>
            <a:ext cx="128699" cy="187198"/>
          </a:xfrm>
          <a:prstGeom prst="rect">
            <a:avLst/>
          </a:prstGeom>
        </p:spPr>
      </p:pic>
      <p:sp>
        <p:nvSpPr>
          <p:cNvPr id="214" name="TextBox 213"/>
          <p:cNvSpPr txBox="1"/>
          <p:nvPr/>
        </p:nvSpPr>
        <p:spPr>
          <a:xfrm>
            <a:off x="6322271" y="1306830"/>
            <a:ext cx="620266" cy="186689"/>
          </a:xfrm>
          <a:prstGeom prst="rect">
            <a:avLst/>
          </a:prstGeom>
          <a:noFill/>
        </p:spPr>
        <p:txBody>
          <a:bodyPr wrap="none" lIns="0" rIns="0" tIns="0" bIns="0">
            <a:spAutoFit/>
          </a:bodyPr>
          <a:lstStyle/>
          <a:p>
            <a:r>
              <a:rPr sz="1100" b="1">
                <a:solidFill>
                  <a:srgbClr val="FFFFFF"/>
                </a:solidFill>
                <a:latin typeface="Calibri"/>
              </a:rPr>
              <a:t>Emerging</a:t>
            </a:r>
          </a:p>
        </p:txBody>
      </p:sp>
      <p:pic>
        <p:nvPicPr>
          <p:cNvPr id="215" name="Picture 214" descr="lock.png"/>
          <p:cNvPicPr>
            <a:picLocks noChangeAspect="1"/>
          </p:cNvPicPr>
          <p:nvPr/>
        </p:nvPicPr>
        <p:blipFill>
          <a:blip r:embed="rId4"/>
          <a:stretch>
            <a:fillRect/>
          </a:stretch>
        </p:blipFill>
        <p:spPr>
          <a:xfrm>
            <a:off x="6890588" y="1297051"/>
            <a:ext cx="128699" cy="187198"/>
          </a:xfrm>
          <a:prstGeom prst="rect">
            <a:avLst/>
          </a:prstGeom>
        </p:spPr>
      </p:pic>
      <p:sp>
        <p:nvSpPr>
          <p:cNvPr id="216" name="TextBox 215"/>
          <p:cNvSpPr txBox="1"/>
          <p:nvPr/>
        </p:nvSpPr>
        <p:spPr>
          <a:xfrm>
            <a:off x="8564687" y="1306830"/>
            <a:ext cx="469924" cy="186689"/>
          </a:xfrm>
          <a:prstGeom prst="rect">
            <a:avLst/>
          </a:prstGeom>
          <a:noFill/>
        </p:spPr>
        <p:txBody>
          <a:bodyPr wrap="none" lIns="0" rIns="0" tIns="0" bIns="0">
            <a:spAutoFit/>
          </a:bodyPr>
          <a:lstStyle/>
          <a:p>
            <a:r>
              <a:rPr sz="1100" b="1">
                <a:solidFill>
                  <a:srgbClr val="0F2D52"/>
                </a:solidFill>
                <a:latin typeface="Calibri"/>
              </a:rPr>
              <a:t>Others</a:t>
            </a:r>
          </a:p>
        </p:txBody>
      </p:sp>
      <p:pic>
        <p:nvPicPr>
          <p:cNvPr id="217" name="Picture 216" descr="lock.png"/>
          <p:cNvPicPr>
            <a:picLocks noChangeAspect="1"/>
          </p:cNvPicPr>
          <p:nvPr/>
        </p:nvPicPr>
        <p:blipFill>
          <a:blip r:embed="rId4"/>
          <a:stretch>
            <a:fillRect/>
          </a:stretch>
        </p:blipFill>
        <p:spPr>
          <a:xfrm>
            <a:off x="8982663" y="1297051"/>
            <a:ext cx="128699" cy="187198"/>
          </a:xfrm>
          <a:prstGeom prst="rect">
            <a:avLst/>
          </a:prstGeom>
        </p:spPr>
      </p:pic>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Value Chain Positioning of Leading Players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How the market is organised by product type and end use, and who leads at each stage</a:t>
            </a:r>
          </a:p>
        </p:txBody>
      </p:sp>
      <p:sp>
        <p:nvSpPr>
          <p:cNvPr id="7" name="TextBox 6"/>
          <p:cNvSpPr txBox="1"/>
          <p:nvPr/>
        </p:nvSpPr>
        <p:spPr>
          <a:xfrm>
            <a:off x="2476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8" name="TextBox 7"/>
          <p:cNvSpPr txBox="1"/>
          <p:nvPr/>
        </p:nvSpPr>
        <p:spPr>
          <a:xfrm>
            <a:off x="247650" y="1238250"/>
            <a:ext cx="2266950" cy="228600"/>
          </a:xfrm>
          <a:prstGeom prst="rect">
            <a:avLst/>
          </a:prstGeom>
          <a:noFill/>
        </p:spPr>
        <p:txBody>
          <a:bodyPr wrap="square" lIns="28575" rIns="28575" tIns="9525" bIns="9525" anchor="t">
            <a:spAutoFit/>
          </a:bodyPr>
          <a:lstStyle/>
          <a:p>
            <a:pPr algn="l"/>
            <a:r>
              <a:rPr sz="1100" b="1">
                <a:solidFill>
                  <a:srgbClr val="E87722"/>
                </a:solidFill>
                <a:latin typeface="Calibri"/>
              </a:rPr>
              <a:t> </a:t>
            </a:r>
          </a:p>
        </p:txBody>
      </p:sp>
      <p:cxnSp>
        <p:nvCxnSpPr>
          <p:cNvPr id="9" name="Connector 8"/>
          <p:cNvCxnSpPr/>
          <p:nvPr/>
        </p:nvCxnSpPr>
        <p:spPr>
          <a:xfrm>
            <a:off x="25527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6098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1" name="TextBox 10"/>
          <p:cNvSpPr txBox="1"/>
          <p:nvPr/>
        </p:nvSpPr>
        <p:spPr>
          <a:xfrm>
            <a:off x="26098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2" name="Connector 11"/>
          <p:cNvCxnSpPr/>
          <p:nvPr/>
        </p:nvCxnSpPr>
        <p:spPr>
          <a:xfrm>
            <a:off x="49149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9720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Rotary Screw Air Compressor, share</a:t>
            </a:r>
          </a:p>
        </p:txBody>
      </p:sp>
      <p:sp>
        <p:nvSpPr>
          <p:cNvPr id="14" name="TextBox 13"/>
          <p:cNvSpPr txBox="1"/>
          <p:nvPr/>
        </p:nvSpPr>
        <p:spPr>
          <a:xfrm>
            <a:off x="49720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5" name="Connector 14"/>
          <p:cNvCxnSpPr/>
          <p:nvPr/>
        </p:nvCxnSpPr>
        <p:spPr>
          <a:xfrm>
            <a:off x="72771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342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Scroll Air Compressor, share</a:t>
            </a:r>
          </a:p>
        </p:txBody>
      </p:sp>
      <p:sp>
        <p:nvSpPr>
          <p:cNvPr id="17" name="TextBox 16"/>
          <p:cNvSpPr txBox="1"/>
          <p:nvPr/>
        </p:nvSpPr>
        <p:spPr>
          <a:xfrm>
            <a:off x="73342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8" name="Connector 17"/>
          <p:cNvCxnSpPr/>
          <p:nvPr/>
        </p:nvCxnSpPr>
        <p:spPr>
          <a:xfrm>
            <a:off x="96393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6964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Centrifugal Air Compressor, share</a:t>
            </a:r>
          </a:p>
        </p:txBody>
      </p:sp>
      <p:sp>
        <p:nvSpPr>
          <p:cNvPr id="20" name="TextBox 19"/>
          <p:cNvSpPr txBox="1"/>
          <p:nvPr/>
        </p:nvSpPr>
        <p:spPr>
          <a:xfrm>
            <a:off x="96964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1" name="Connector 20"/>
          <p:cNvCxnSpPr/>
          <p:nvPr/>
        </p:nvCxnSpPr>
        <p:spPr>
          <a:xfrm>
            <a:off x="190500" y="154305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90500"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90500"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5750"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1. Rotary Screw Air Compressor</a:t>
            </a:r>
          </a:p>
        </p:txBody>
      </p:sp>
      <p:sp>
        <p:nvSpPr>
          <p:cNvPr id="25" name="TextBox 24"/>
          <p:cNvSpPr txBox="1"/>
          <p:nvPr/>
        </p:nvSpPr>
        <p:spPr>
          <a:xfrm>
            <a:off x="285750" y="1924050"/>
            <a:ext cx="666750" cy="190500"/>
          </a:xfrm>
          <a:prstGeom prst="rect">
            <a:avLst/>
          </a:prstGeom>
          <a:noFill/>
        </p:spPr>
        <p:txBody>
          <a:bodyPr wrap="none" lIns="0" rIns="0" tIns="0" bIns="0" anchor="t">
            <a:spAutoFit/>
          </a:bodyPr>
          <a:lstStyle/>
          <a:p>
            <a:pPr algn="l"/>
            <a:r>
              <a:rPr sz="1100" b="1">
                <a:solidFill>
                  <a:srgbClr val="1F2933"/>
                </a:solidFill>
                <a:latin typeface="Calibri"/>
              </a:rPr>
              <a:t>23%</a:t>
            </a:r>
          </a:p>
        </p:txBody>
      </p:sp>
      <p:sp>
        <p:nvSpPr>
          <p:cNvPr id="26" name="TextBox 25"/>
          <p:cNvSpPr txBox="1"/>
          <p:nvPr/>
        </p:nvSpPr>
        <p:spPr>
          <a:xfrm>
            <a:off x="971550"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27" name="TextBox 26"/>
          <p:cNvSpPr txBox="1"/>
          <p:nvPr/>
        </p:nvSpPr>
        <p:spPr>
          <a:xfrm>
            <a:off x="285750"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28" name="TextBox 27"/>
          <p:cNvSpPr txBox="1"/>
          <p:nvPr/>
        </p:nvSpPr>
        <p:spPr>
          <a:xfrm>
            <a:off x="971550"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29" name="Connector 28"/>
          <p:cNvCxnSpPr/>
          <p:nvPr/>
        </p:nvCxnSpPr>
        <p:spPr>
          <a:xfrm>
            <a:off x="285750"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85750"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31" name="TextBox 30"/>
          <p:cNvSpPr txBox="1"/>
          <p:nvPr/>
        </p:nvSpPr>
        <p:spPr>
          <a:xfrm>
            <a:off x="285750"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Hitachi</a:t>
            </a:r>
          </a:p>
        </p:txBody>
      </p:sp>
      <p:sp>
        <p:nvSpPr>
          <p:cNvPr id="32" name="TextBox 31"/>
          <p:cNvSpPr txBox="1"/>
          <p:nvPr/>
        </p:nvSpPr>
        <p:spPr>
          <a:xfrm>
            <a:off x="285750"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33" name="TextBox 32"/>
          <p:cNvSpPr txBox="1"/>
          <p:nvPr/>
        </p:nvSpPr>
        <p:spPr>
          <a:xfrm>
            <a:off x="285750"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Atlas Copco</a:t>
            </a:r>
          </a:p>
        </p:txBody>
      </p:sp>
      <p:sp>
        <p:nvSpPr>
          <p:cNvPr id="34" name="TextBox 33"/>
          <p:cNvSpPr txBox="1"/>
          <p:nvPr/>
        </p:nvSpPr>
        <p:spPr>
          <a:xfrm>
            <a:off x="285750"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Ingersoll Rand</a:t>
            </a:r>
          </a:p>
        </p:txBody>
      </p:sp>
      <p:sp>
        <p:nvSpPr>
          <p:cNvPr id="35" name="TextBox 34"/>
          <p:cNvSpPr txBox="1"/>
          <p:nvPr/>
        </p:nvSpPr>
        <p:spPr>
          <a:xfrm>
            <a:off x="285750"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KAESER KOMPRESSOREN</a:t>
            </a:r>
          </a:p>
        </p:txBody>
      </p:sp>
      <p:sp>
        <p:nvSpPr>
          <p:cNvPr id="36" name="TextBox 35"/>
          <p:cNvSpPr txBox="1"/>
          <p:nvPr/>
        </p:nvSpPr>
        <p:spPr>
          <a:xfrm>
            <a:off x="285750"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Gardner Denver</a:t>
            </a:r>
          </a:p>
        </p:txBody>
      </p:sp>
      <p:cxnSp>
        <p:nvCxnSpPr>
          <p:cNvPr id="37" name="Connector 36"/>
          <p:cNvCxnSpPr/>
          <p:nvPr/>
        </p:nvCxnSpPr>
        <p:spPr>
          <a:xfrm>
            <a:off x="285750"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85750"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39" name="TextBox 38"/>
          <p:cNvSpPr txBox="1"/>
          <p:nvPr/>
        </p:nvSpPr>
        <p:spPr>
          <a:xfrm>
            <a:off x="285750"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40" name="Connector 39"/>
          <p:cNvCxnSpPr/>
          <p:nvPr/>
        </p:nvCxnSpPr>
        <p:spPr>
          <a:xfrm>
            <a:off x="2995612"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41" name="Freeform 40"/>
          <p:cNvSpPr/>
          <p:nvPr/>
        </p:nvSpPr>
        <p:spPr>
          <a:xfrm>
            <a:off x="3105150" y="3448050"/>
            <a:ext cx="57150" cy="95250"/>
          </a:xfrm>
          <a:custGeom>
            <a:avLst/>
            <a:gdLst/>
            <a:ahLst/>
            <a:cxnLst/>
            <a:rect l="l" t="t" r="r" b="b"/>
            <a:pathLst>
              <a:path w="6" h="10">
                <a:moveTo>
                  <a:pt x="6"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205162"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5162"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00412"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2. Scroll Air Compressor</a:t>
            </a:r>
          </a:p>
        </p:txBody>
      </p:sp>
      <p:sp>
        <p:nvSpPr>
          <p:cNvPr id="45" name="TextBox 44"/>
          <p:cNvSpPr txBox="1"/>
          <p:nvPr/>
        </p:nvSpPr>
        <p:spPr>
          <a:xfrm>
            <a:off x="3300412" y="1924050"/>
            <a:ext cx="666750" cy="190500"/>
          </a:xfrm>
          <a:prstGeom prst="rect">
            <a:avLst/>
          </a:prstGeom>
          <a:noFill/>
        </p:spPr>
        <p:txBody>
          <a:bodyPr wrap="none" lIns="0" rIns="0" tIns="0" bIns="0" anchor="t">
            <a:spAutoFit/>
          </a:bodyPr>
          <a:lstStyle/>
          <a:p>
            <a:pPr algn="l"/>
            <a:r>
              <a:rPr sz="1100" b="1">
                <a:solidFill>
                  <a:srgbClr val="1F2933"/>
                </a:solidFill>
                <a:latin typeface="Calibri"/>
              </a:rPr>
              <a:t>23%</a:t>
            </a:r>
          </a:p>
        </p:txBody>
      </p:sp>
      <p:sp>
        <p:nvSpPr>
          <p:cNvPr id="46" name="TextBox 45"/>
          <p:cNvSpPr txBox="1"/>
          <p:nvPr/>
        </p:nvSpPr>
        <p:spPr>
          <a:xfrm>
            <a:off x="3986212"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47" name="TextBox 46"/>
          <p:cNvSpPr txBox="1"/>
          <p:nvPr/>
        </p:nvSpPr>
        <p:spPr>
          <a:xfrm>
            <a:off x="3300412"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48" name="TextBox 47"/>
          <p:cNvSpPr txBox="1"/>
          <p:nvPr/>
        </p:nvSpPr>
        <p:spPr>
          <a:xfrm>
            <a:off x="3986212"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49" name="Connector 48"/>
          <p:cNvCxnSpPr/>
          <p:nvPr/>
        </p:nvCxnSpPr>
        <p:spPr>
          <a:xfrm>
            <a:off x="3300412"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00412"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51" name="TextBox 50"/>
          <p:cNvSpPr txBox="1"/>
          <p:nvPr/>
        </p:nvSpPr>
        <p:spPr>
          <a:xfrm>
            <a:off x="3300412"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Atlas Copco</a:t>
            </a:r>
          </a:p>
        </p:txBody>
      </p:sp>
      <p:sp>
        <p:nvSpPr>
          <p:cNvPr id="52" name="TextBox 51"/>
          <p:cNvSpPr txBox="1"/>
          <p:nvPr/>
        </p:nvSpPr>
        <p:spPr>
          <a:xfrm>
            <a:off x="3300412"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53" name="TextBox 52"/>
          <p:cNvSpPr txBox="1"/>
          <p:nvPr/>
        </p:nvSpPr>
        <p:spPr>
          <a:xfrm>
            <a:off x="3300412"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Ingersoll Rand</a:t>
            </a:r>
          </a:p>
        </p:txBody>
      </p:sp>
      <p:sp>
        <p:nvSpPr>
          <p:cNvPr id="54" name="TextBox 53"/>
          <p:cNvSpPr txBox="1"/>
          <p:nvPr/>
        </p:nvSpPr>
        <p:spPr>
          <a:xfrm>
            <a:off x="3300412"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Hitachi</a:t>
            </a:r>
          </a:p>
        </p:txBody>
      </p:sp>
      <p:sp>
        <p:nvSpPr>
          <p:cNvPr id="55" name="TextBox 54"/>
          <p:cNvSpPr txBox="1"/>
          <p:nvPr/>
        </p:nvSpPr>
        <p:spPr>
          <a:xfrm>
            <a:off x="3300412"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Gardner Denver</a:t>
            </a:r>
          </a:p>
        </p:txBody>
      </p:sp>
      <p:sp>
        <p:nvSpPr>
          <p:cNvPr id="56" name="TextBox 55"/>
          <p:cNvSpPr txBox="1"/>
          <p:nvPr/>
        </p:nvSpPr>
        <p:spPr>
          <a:xfrm>
            <a:off x="3300412"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ELGi Equipments</a:t>
            </a:r>
          </a:p>
        </p:txBody>
      </p:sp>
      <p:cxnSp>
        <p:nvCxnSpPr>
          <p:cNvPr id="57" name="Connector 56"/>
          <p:cNvCxnSpPr/>
          <p:nvPr/>
        </p:nvCxnSpPr>
        <p:spPr>
          <a:xfrm>
            <a:off x="3300412"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3300412"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59" name="TextBox 58"/>
          <p:cNvSpPr txBox="1"/>
          <p:nvPr/>
        </p:nvSpPr>
        <p:spPr>
          <a:xfrm>
            <a:off x="3300412"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60" name="Connector 59"/>
          <p:cNvCxnSpPr/>
          <p:nvPr/>
        </p:nvCxnSpPr>
        <p:spPr>
          <a:xfrm>
            <a:off x="6010275"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61" name="Freeform 60"/>
          <p:cNvSpPr/>
          <p:nvPr/>
        </p:nvSpPr>
        <p:spPr>
          <a:xfrm>
            <a:off x="6115050" y="3448050"/>
            <a:ext cx="66675" cy="95250"/>
          </a:xfrm>
          <a:custGeom>
            <a:avLst/>
            <a:gdLst/>
            <a:ahLst/>
            <a:cxnLst/>
            <a:rect l="l" t="t" r="r" b="b"/>
            <a:pathLst>
              <a:path w="7" h="10">
                <a:moveTo>
                  <a:pt x="7"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19825"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219825"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315075"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3. Centrifugal Air Compressor</a:t>
            </a:r>
          </a:p>
        </p:txBody>
      </p:sp>
      <p:sp>
        <p:nvSpPr>
          <p:cNvPr id="65" name="TextBox 64"/>
          <p:cNvSpPr txBox="1"/>
          <p:nvPr/>
        </p:nvSpPr>
        <p:spPr>
          <a:xfrm>
            <a:off x="6315075" y="1924050"/>
            <a:ext cx="666750" cy="190500"/>
          </a:xfrm>
          <a:prstGeom prst="rect">
            <a:avLst/>
          </a:prstGeom>
          <a:noFill/>
        </p:spPr>
        <p:txBody>
          <a:bodyPr wrap="none" lIns="0" rIns="0" tIns="0" bIns="0" anchor="t">
            <a:spAutoFit/>
          </a:bodyPr>
          <a:lstStyle/>
          <a:p>
            <a:pPr algn="l"/>
            <a:r>
              <a:rPr sz="1100" b="1">
                <a:solidFill>
                  <a:srgbClr val="1F2933"/>
                </a:solidFill>
                <a:latin typeface="Calibri"/>
              </a:rPr>
              <a:t>19%</a:t>
            </a:r>
          </a:p>
        </p:txBody>
      </p:sp>
      <p:sp>
        <p:nvSpPr>
          <p:cNvPr id="66" name="TextBox 65"/>
          <p:cNvSpPr txBox="1"/>
          <p:nvPr/>
        </p:nvSpPr>
        <p:spPr>
          <a:xfrm>
            <a:off x="7000875"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67" name="TextBox 66"/>
          <p:cNvSpPr txBox="1"/>
          <p:nvPr/>
        </p:nvSpPr>
        <p:spPr>
          <a:xfrm>
            <a:off x="6315075"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68" name="TextBox 67"/>
          <p:cNvSpPr txBox="1"/>
          <p:nvPr/>
        </p:nvSpPr>
        <p:spPr>
          <a:xfrm>
            <a:off x="7000875"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69" name="Connector 68"/>
          <p:cNvCxnSpPr/>
          <p:nvPr/>
        </p:nvCxnSpPr>
        <p:spPr>
          <a:xfrm>
            <a:off x="6315075"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6315075"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71" name="TextBox 70"/>
          <p:cNvSpPr txBox="1"/>
          <p:nvPr/>
        </p:nvSpPr>
        <p:spPr>
          <a:xfrm>
            <a:off x="6315075"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Atlas Copco</a:t>
            </a:r>
          </a:p>
        </p:txBody>
      </p:sp>
      <p:sp>
        <p:nvSpPr>
          <p:cNvPr id="72" name="TextBox 71"/>
          <p:cNvSpPr txBox="1"/>
          <p:nvPr/>
        </p:nvSpPr>
        <p:spPr>
          <a:xfrm>
            <a:off x="6315075"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73" name="TextBox 72"/>
          <p:cNvSpPr txBox="1"/>
          <p:nvPr/>
        </p:nvSpPr>
        <p:spPr>
          <a:xfrm>
            <a:off x="6315075"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Hitachi</a:t>
            </a:r>
          </a:p>
        </p:txBody>
      </p:sp>
      <p:sp>
        <p:nvSpPr>
          <p:cNvPr id="74" name="TextBox 73"/>
          <p:cNvSpPr txBox="1"/>
          <p:nvPr/>
        </p:nvSpPr>
        <p:spPr>
          <a:xfrm>
            <a:off x="6315075"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KAESER KOMPRESSOREN</a:t>
            </a:r>
          </a:p>
        </p:txBody>
      </p:sp>
      <p:sp>
        <p:nvSpPr>
          <p:cNvPr id="75" name="TextBox 74"/>
          <p:cNvSpPr txBox="1"/>
          <p:nvPr/>
        </p:nvSpPr>
        <p:spPr>
          <a:xfrm>
            <a:off x="6315075"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Gardner Denver</a:t>
            </a:r>
          </a:p>
        </p:txBody>
      </p:sp>
      <p:sp>
        <p:nvSpPr>
          <p:cNvPr id="76" name="TextBox 75"/>
          <p:cNvSpPr txBox="1"/>
          <p:nvPr/>
        </p:nvSpPr>
        <p:spPr>
          <a:xfrm>
            <a:off x="6315075"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Kaishan Group</a:t>
            </a:r>
          </a:p>
        </p:txBody>
      </p:sp>
      <p:cxnSp>
        <p:nvCxnSpPr>
          <p:cNvPr id="77" name="Connector 76"/>
          <p:cNvCxnSpPr/>
          <p:nvPr/>
        </p:nvCxnSpPr>
        <p:spPr>
          <a:xfrm>
            <a:off x="6315075"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6315075"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79" name="TextBox 78"/>
          <p:cNvSpPr txBox="1"/>
          <p:nvPr/>
        </p:nvSpPr>
        <p:spPr>
          <a:xfrm>
            <a:off x="6315075"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80" name="Connector 79"/>
          <p:cNvCxnSpPr/>
          <p:nvPr/>
        </p:nvCxnSpPr>
        <p:spPr>
          <a:xfrm>
            <a:off x="9024938"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81" name="Freeform 80"/>
          <p:cNvSpPr/>
          <p:nvPr/>
        </p:nvSpPr>
        <p:spPr>
          <a:xfrm>
            <a:off x="9124950" y="3448050"/>
            <a:ext cx="76200" cy="95250"/>
          </a:xfrm>
          <a:custGeom>
            <a:avLst/>
            <a:gdLst/>
            <a:ahLst/>
            <a:cxnLst/>
            <a:rect l="l" t="t" r="r" b="b"/>
            <a:pathLst>
              <a:path w="8" h="10">
                <a:moveTo>
                  <a:pt x="8"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234488"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234488"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329738"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sp>
        <p:nvSpPr>
          <p:cNvPr id="85" name="TextBox 84"/>
          <p:cNvSpPr txBox="1"/>
          <p:nvPr/>
        </p:nvSpPr>
        <p:spPr>
          <a:xfrm>
            <a:off x="9329738" y="1924050"/>
            <a:ext cx="2576512" cy="190500"/>
          </a:xfrm>
          <a:prstGeom prst="rect">
            <a:avLst/>
          </a:prstGeom>
          <a:noFill/>
        </p:spPr>
        <p:txBody>
          <a:bodyPr wrap="square" lIns="28575" rIns="28575" tIns="9525" bIns="9525" anchor="t">
            <a:spAutoFit/>
          </a:bodyPr>
          <a:lstStyle/>
          <a:p>
            <a:pPr algn="l"/>
            <a:r>
              <a:rPr sz="1100" b="1">
                <a:solidFill>
                  <a:srgbClr val="1F2933"/>
                </a:solidFill>
                <a:latin typeface="Calibri"/>
              </a:rPr>
              <a:t>By application</a:t>
            </a:r>
          </a:p>
        </p:txBody>
      </p:sp>
      <p:sp>
        <p:nvSpPr>
          <p:cNvPr id="86" name="TextBox 85"/>
          <p:cNvSpPr txBox="1"/>
          <p:nvPr/>
        </p:nvSpPr>
        <p:spPr>
          <a:xfrm>
            <a:off x="9329738" y="2133600"/>
            <a:ext cx="2576512" cy="190500"/>
          </a:xfrm>
          <a:prstGeom prst="rect">
            <a:avLst/>
          </a:prstGeom>
          <a:noFill/>
        </p:spPr>
        <p:txBody>
          <a:bodyPr wrap="square" lIns="28575" rIns="28575" tIns="9525" bIns="9525" anchor="t">
            <a:spAutoFit/>
          </a:bodyPr>
          <a:lstStyle/>
          <a:p>
            <a:pPr algn="l"/>
            <a:r>
              <a:rPr sz="1100" b="0">
                <a:solidFill>
                  <a:srgbClr val="5F6B7A"/>
                </a:solidFill>
                <a:latin typeface="Calibri"/>
              </a:rPr>
              <a:t>Who buys the output.</a:t>
            </a:r>
          </a:p>
        </p:txBody>
      </p:sp>
      <p:cxnSp>
        <p:nvCxnSpPr>
          <p:cNvPr id="87" name="Connector 86"/>
          <p:cNvCxnSpPr/>
          <p:nvPr/>
        </p:nvCxnSpPr>
        <p:spPr>
          <a:xfrm>
            <a:off x="9329738"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329738" y="24193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Mining and Metals</a:t>
            </a:r>
          </a:p>
        </p:txBody>
      </p:sp>
      <p:sp>
        <p:nvSpPr>
          <p:cNvPr id="89" name="Rectangle 88"/>
          <p:cNvSpPr/>
          <p:nvPr/>
        </p:nvSpPr>
        <p:spPr>
          <a:xfrm>
            <a:off x="10682288" y="2524125"/>
            <a:ext cx="76676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1487150" y="24860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1" name="TextBox 90"/>
          <p:cNvSpPr txBox="1"/>
          <p:nvPr/>
        </p:nvSpPr>
        <p:spPr>
          <a:xfrm>
            <a:off x="9329738" y="27432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Industrial Air Separation</a:t>
            </a:r>
          </a:p>
        </p:txBody>
      </p:sp>
      <p:sp>
        <p:nvSpPr>
          <p:cNvPr id="92" name="Rectangle 91"/>
          <p:cNvSpPr/>
          <p:nvPr/>
        </p:nvSpPr>
        <p:spPr>
          <a:xfrm>
            <a:off x="10682288" y="2847975"/>
            <a:ext cx="750584"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470972" y="28098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4" name="TextBox 93"/>
          <p:cNvSpPr txBox="1"/>
          <p:nvPr/>
        </p:nvSpPr>
        <p:spPr>
          <a:xfrm>
            <a:off x="9329738" y="30670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Other Manufacturing</a:t>
            </a:r>
          </a:p>
        </p:txBody>
      </p:sp>
      <p:sp>
        <p:nvSpPr>
          <p:cNvPr id="95" name="Rectangle 94"/>
          <p:cNvSpPr/>
          <p:nvPr/>
        </p:nvSpPr>
        <p:spPr>
          <a:xfrm>
            <a:off x="10682288" y="3171825"/>
            <a:ext cx="618284"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1338671" y="31337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7" name="TextBox 96"/>
          <p:cNvSpPr txBox="1"/>
          <p:nvPr/>
        </p:nvSpPr>
        <p:spPr>
          <a:xfrm>
            <a:off x="9329738" y="33909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Automotive and Transportation</a:t>
            </a:r>
          </a:p>
        </p:txBody>
      </p:sp>
      <p:sp>
        <p:nvSpPr>
          <p:cNvPr id="98" name="Rectangle 97"/>
          <p:cNvSpPr/>
          <p:nvPr/>
        </p:nvSpPr>
        <p:spPr>
          <a:xfrm>
            <a:off x="10682288" y="3495675"/>
            <a:ext cx="509995"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1230383" y="34575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0" name="TextBox 99"/>
          <p:cNvSpPr txBox="1"/>
          <p:nvPr/>
        </p:nvSpPr>
        <p:spPr>
          <a:xfrm>
            <a:off x="9329738" y="37147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Oil and Gas</a:t>
            </a:r>
          </a:p>
        </p:txBody>
      </p:sp>
      <p:sp>
        <p:nvSpPr>
          <p:cNvPr id="101" name="Rectangle 100"/>
          <p:cNvSpPr/>
          <p:nvPr/>
        </p:nvSpPr>
        <p:spPr>
          <a:xfrm>
            <a:off x="10682288" y="3819525"/>
            <a:ext cx="40014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1120529" y="37814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3" name="TextBox 102"/>
          <p:cNvSpPr txBox="1"/>
          <p:nvPr/>
        </p:nvSpPr>
        <p:spPr>
          <a:xfrm>
            <a:off x="9329738" y="40386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Pharmaceuticals</a:t>
            </a:r>
          </a:p>
        </p:txBody>
      </p:sp>
      <p:sp>
        <p:nvSpPr>
          <p:cNvPr id="104" name="Rectangle 103"/>
          <p:cNvSpPr/>
          <p:nvPr/>
        </p:nvSpPr>
        <p:spPr>
          <a:xfrm>
            <a:off x="10682288" y="4143375"/>
            <a:ext cx="363786"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1084173" y="41052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06" name="Connector 105"/>
          <p:cNvCxnSpPr/>
          <p:nvPr/>
        </p:nvCxnSpPr>
        <p:spPr>
          <a:xfrm>
            <a:off x="9329738"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9329738"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108" name="TextBox 107"/>
          <p:cNvSpPr txBox="1"/>
          <p:nvPr/>
        </p:nvSpPr>
        <p:spPr>
          <a:xfrm>
            <a:off x="9329738"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109" name="Rectangle 108"/>
          <p:cNvSpPr/>
          <p:nvPr/>
        </p:nvSpPr>
        <p:spPr>
          <a:xfrm>
            <a:off x="190500" y="54673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90500" y="5467350"/>
            <a:ext cx="47625" cy="4000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304800" y="5467350"/>
            <a:ext cx="1047750" cy="400050"/>
          </a:xfrm>
          <a:prstGeom prst="rect">
            <a:avLst/>
          </a:prstGeom>
          <a:noFill/>
        </p:spPr>
        <p:txBody>
          <a:bodyPr wrap="square" lIns="28575" rIns="28575" tIns="9525" bIns="9525" anchor="ctr">
            <a:spAutoFit/>
          </a:bodyPr>
          <a:lstStyle/>
          <a:p>
            <a:pPr algn="l"/>
            <a:r>
              <a:rPr sz="1100" b="1">
                <a:solidFill>
                  <a:srgbClr val="0F2D52"/>
                </a:solidFill>
                <a:latin typeface="Calibri"/>
              </a:rPr>
              <a:t>ENABLERS</a:t>
            </a:r>
          </a:p>
        </p:txBody>
      </p:sp>
      <p:sp>
        <p:nvSpPr>
          <p:cNvPr id="112" name="TextBox 111"/>
          <p:cNvSpPr txBox="1"/>
          <p:nvPr/>
        </p:nvSpPr>
        <p:spPr>
          <a:xfrm>
            <a:off x="1428750" y="54673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Steam Turbine-Driven Compounds Fastest Across the Driver Type Mix  |  South Asia &amp; Pacific Emerges as the Growth Engine Among Regions  |  Premiumisation Lifts Average Realisation</a:t>
            </a:r>
          </a:p>
        </p:txBody>
      </p:sp>
      <p:sp>
        <p:nvSpPr>
          <p:cNvPr id="113" name="Rectangle 112"/>
          <p:cNvSpPr/>
          <p:nvPr/>
        </p:nvSpPr>
        <p:spPr>
          <a:xfrm>
            <a:off x="190500" y="59245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90500" y="5924550"/>
            <a:ext cx="47625" cy="400050"/>
          </a:xfrm>
          <a:prstGeom prst="rect">
            <a:avLst/>
          </a:prstGeom>
          <a:solidFill>
            <a:srgbClr val="8B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04800" y="5924550"/>
            <a:ext cx="1047750" cy="400050"/>
          </a:xfrm>
          <a:prstGeom prst="rect">
            <a:avLst/>
          </a:prstGeom>
          <a:noFill/>
        </p:spPr>
        <p:txBody>
          <a:bodyPr wrap="square" lIns="28575" rIns="28575" tIns="9525" bIns="9525" anchor="ctr">
            <a:spAutoFit/>
          </a:bodyPr>
          <a:lstStyle/>
          <a:p>
            <a:pPr algn="l"/>
            <a:r>
              <a:rPr sz="1100" b="1">
                <a:solidFill>
                  <a:srgbClr val="8B1E2D"/>
                </a:solidFill>
                <a:latin typeface="Calibri"/>
              </a:rPr>
              <a:t>CONSTRAINTS</a:t>
            </a:r>
          </a:p>
        </p:txBody>
      </p:sp>
      <p:sp>
        <p:nvSpPr>
          <p:cNvPr id="116" name="TextBox 115"/>
          <p:cNvSpPr txBox="1"/>
          <p:nvPr/>
        </p:nvSpPr>
        <p:spPr>
          <a:xfrm>
            <a:off x="1428750" y="59245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Other Drive Types Lags the Category and Dilutes Blended Growth  |  Uneven Region Performance Caps the Blended Rate  |  Concentration Risk Limits Pricing and Sourcing Flexibility</a:t>
            </a:r>
          </a:p>
        </p:txBody>
      </p:sp>
      <p:sp>
        <p:nvSpPr>
          <p:cNvPr id="117" name="Rectangle 11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19" name="Picture 118" descr="lock.png"/>
          <p:cNvPicPr>
            <a:picLocks noChangeAspect="1"/>
          </p:cNvPicPr>
          <p:nvPr/>
        </p:nvPicPr>
        <p:blipFill>
          <a:blip r:embed="rId4"/>
          <a:stretch>
            <a:fillRect/>
          </a:stretch>
        </p:blipFill>
        <p:spPr>
          <a:xfrm>
            <a:off x="1316775" y="1258951"/>
            <a:ext cx="128699" cy="187198"/>
          </a:xfrm>
          <a:prstGeom prst="rect">
            <a:avLst/>
          </a:prstGeom>
        </p:spPr>
      </p:pic>
      <p:pic>
        <p:nvPicPr>
          <p:cNvPr id="120" name="Picture 119" descr="lock.png"/>
          <p:cNvPicPr>
            <a:picLocks noChangeAspect="1"/>
          </p:cNvPicPr>
          <p:nvPr/>
        </p:nvPicPr>
        <p:blipFill>
          <a:blip r:embed="rId4"/>
          <a:stretch>
            <a:fillRect/>
          </a:stretch>
        </p:blipFill>
        <p:spPr>
          <a:xfrm>
            <a:off x="3678975" y="1258951"/>
            <a:ext cx="128699" cy="187198"/>
          </a:xfrm>
          <a:prstGeom prst="rect">
            <a:avLst/>
          </a:prstGeom>
        </p:spPr>
      </p:pic>
      <p:pic>
        <p:nvPicPr>
          <p:cNvPr id="121" name="Picture 120" descr="lock.png"/>
          <p:cNvPicPr>
            <a:picLocks noChangeAspect="1"/>
          </p:cNvPicPr>
          <p:nvPr/>
        </p:nvPicPr>
        <p:blipFill>
          <a:blip r:embed="rId4"/>
          <a:stretch>
            <a:fillRect/>
          </a:stretch>
        </p:blipFill>
        <p:spPr>
          <a:xfrm>
            <a:off x="6041175" y="1258951"/>
            <a:ext cx="128699" cy="187198"/>
          </a:xfrm>
          <a:prstGeom prst="rect">
            <a:avLst/>
          </a:prstGeom>
        </p:spPr>
      </p:pic>
      <p:pic>
        <p:nvPicPr>
          <p:cNvPr id="122" name="Picture 121" descr="lock.png"/>
          <p:cNvPicPr>
            <a:picLocks noChangeAspect="1"/>
          </p:cNvPicPr>
          <p:nvPr/>
        </p:nvPicPr>
        <p:blipFill>
          <a:blip r:embed="rId4"/>
          <a:stretch>
            <a:fillRect/>
          </a:stretch>
        </p:blipFill>
        <p:spPr>
          <a:xfrm>
            <a:off x="8403375" y="1258951"/>
            <a:ext cx="128699" cy="187198"/>
          </a:xfrm>
          <a:prstGeom prst="rect">
            <a:avLst/>
          </a:prstGeom>
        </p:spPr>
      </p:pic>
      <p:pic>
        <p:nvPicPr>
          <p:cNvPr id="123" name="Picture 122" descr="lock.png"/>
          <p:cNvPicPr>
            <a:picLocks noChangeAspect="1"/>
          </p:cNvPicPr>
          <p:nvPr/>
        </p:nvPicPr>
        <p:blipFill>
          <a:blip r:embed="rId4"/>
          <a:stretch>
            <a:fillRect/>
          </a:stretch>
        </p:blipFill>
        <p:spPr>
          <a:xfrm>
            <a:off x="10765575" y="1258951"/>
            <a:ext cx="128699" cy="187198"/>
          </a:xfrm>
          <a:prstGeom prst="rect">
            <a:avLst/>
          </a:prstGeom>
        </p:spPr>
      </p:pic>
      <p:pic>
        <p:nvPicPr>
          <p:cNvPr id="124" name="Picture 123" descr="lock.png"/>
          <p:cNvPicPr>
            <a:picLocks noChangeAspect="1"/>
          </p:cNvPicPr>
          <p:nvPr/>
        </p:nvPicPr>
        <p:blipFill>
          <a:blip r:embed="rId4"/>
          <a:stretch>
            <a:fillRect/>
          </a:stretch>
        </p:blipFill>
        <p:spPr>
          <a:xfrm>
            <a:off x="554775" y="2135251"/>
            <a:ext cx="128699" cy="187198"/>
          </a:xfrm>
          <a:prstGeom prst="rect">
            <a:avLst/>
          </a:prstGeom>
        </p:spPr>
      </p:pic>
      <p:pic>
        <p:nvPicPr>
          <p:cNvPr id="125" name="Picture 124" descr="lock.png"/>
          <p:cNvPicPr>
            <a:picLocks noChangeAspect="1"/>
          </p:cNvPicPr>
          <p:nvPr/>
        </p:nvPicPr>
        <p:blipFill>
          <a:blip r:embed="rId4"/>
          <a:stretch>
            <a:fillRect/>
          </a:stretch>
        </p:blipFill>
        <p:spPr>
          <a:xfrm>
            <a:off x="3569437" y="2135251"/>
            <a:ext cx="128699" cy="187198"/>
          </a:xfrm>
          <a:prstGeom prst="rect">
            <a:avLst/>
          </a:prstGeom>
        </p:spPr>
      </p:pic>
      <p:pic>
        <p:nvPicPr>
          <p:cNvPr id="126" name="Picture 125" descr="lock.png"/>
          <p:cNvPicPr>
            <a:picLocks noChangeAspect="1"/>
          </p:cNvPicPr>
          <p:nvPr/>
        </p:nvPicPr>
        <p:blipFill>
          <a:blip r:embed="rId4"/>
          <a:stretch>
            <a:fillRect/>
          </a:stretch>
        </p:blipFill>
        <p:spPr>
          <a:xfrm>
            <a:off x="6584100" y="2135251"/>
            <a:ext cx="128699" cy="187198"/>
          </a:xfrm>
          <a:prstGeom prst="rect">
            <a:avLst/>
          </a:prstGeom>
        </p:spPr>
      </p:pic>
      <p:pic>
        <p:nvPicPr>
          <p:cNvPr id="127" name="Picture 126" descr="lock.png"/>
          <p:cNvPicPr>
            <a:picLocks noChangeAspect="1"/>
          </p:cNvPicPr>
          <p:nvPr/>
        </p:nvPicPr>
        <p:blipFill>
          <a:blip r:embed="rId4"/>
          <a:stretch>
            <a:fillRect/>
          </a:stretch>
        </p:blipFill>
        <p:spPr>
          <a:xfrm>
            <a:off x="10553644" y="1725676"/>
            <a:ext cx="128699" cy="187198"/>
          </a:xfrm>
          <a:prstGeom prst="rect">
            <a:avLst/>
          </a:prstGeom>
        </p:spPr>
      </p:pic>
      <p:pic>
        <p:nvPicPr>
          <p:cNvPr id="128" name="Picture 127" descr="lock.png"/>
          <p:cNvPicPr>
            <a:picLocks noChangeAspect="1"/>
          </p:cNvPicPr>
          <p:nvPr/>
        </p:nvPicPr>
        <p:blipFill>
          <a:blip r:embed="rId4"/>
          <a:stretch>
            <a:fillRect/>
          </a:stretch>
        </p:blipFill>
        <p:spPr>
          <a:xfrm>
            <a:off x="11660925" y="2487676"/>
            <a:ext cx="128699" cy="187198"/>
          </a:xfrm>
          <a:prstGeom prst="rect">
            <a:avLst/>
          </a:prstGeom>
        </p:spPr>
      </p:pic>
      <p:pic>
        <p:nvPicPr>
          <p:cNvPr id="129" name="Picture 128" descr="lock.png"/>
          <p:cNvPicPr>
            <a:picLocks noChangeAspect="1"/>
          </p:cNvPicPr>
          <p:nvPr/>
        </p:nvPicPr>
        <p:blipFill>
          <a:blip r:embed="rId4"/>
          <a:stretch>
            <a:fillRect/>
          </a:stretch>
        </p:blipFill>
        <p:spPr>
          <a:xfrm>
            <a:off x="11644747" y="2811526"/>
            <a:ext cx="128699" cy="187198"/>
          </a:xfrm>
          <a:prstGeom prst="rect">
            <a:avLst/>
          </a:prstGeom>
        </p:spPr>
      </p:pic>
      <p:pic>
        <p:nvPicPr>
          <p:cNvPr id="130" name="Picture 129" descr="lock.png"/>
          <p:cNvPicPr>
            <a:picLocks noChangeAspect="1"/>
          </p:cNvPicPr>
          <p:nvPr/>
        </p:nvPicPr>
        <p:blipFill>
          <a:blip r:embed="rId4"/>
          <a:stretch>
            <a:fillRect/>
          </a:stretch>
        </p:blipFill>
        <p:spPr>
          <a:xfrm>
            <a:off x="11512446" y="3135376"/>
            <a:ext cx="128699" cy="187198"/>
          </a:xfrm>
          <a:prstGeom prst="rect">
            <a:avLst/>
          </a:prstGeom>
        </p:spPr>
      </p:pic>
      <p:pic>
        <p:nvPicPr>
          <p:cNvPr id="131" name="Picture 130" descr="lock.png"/>
          <p:cNvPicPr>
            <a:picLocks noChangeAspect="1"/>
          </p:cNvPicPr>
          <p:nvPr/>
        </p:nvPicPr>
        <p:blipFill>
          <a:blip r:embed="rId4"/>
          <a:stretch>
            <a:fillRect/>
          </a:stretch>
        </p:blipFill>
        <p:spPr>
          <a:xfrm>
            <a:off x="11404158" y="3459226"/>
            <a:ext cx="128699" cy="187198"/>
          </a:xfrm>
          <a:prstGeom prst="rect">
            <a:avLst/>
          </a:prstGeom>
        </p:spPr>
      </p:pic>
      <p:pic>
        <p:nvPicPr>
          <p:cNvPr id="132" name="Picture 131" descr="lock.png"/>
          <p:cNvPicPr>
            <a:picLocks noChangeAspect="1"/>
          </p:cNvPicPr>
          <p:nvPr/>
        </p:nvPicPr>
        <p:blipFill>
          <a:blip r:embed="rId4"/>
          <a:stretch>
            <a:fillRect/>
          </a:stretch>
        </p:blipFill>
        <p:spPr>
          <a:xfrm>
            <a:off x="11294304" y="3783076"/>
            <a:ext cx="128699" cy="187198"/>
          </a:xfrm>
          <a:prstGeom prst="rect">
            <a:avLst/>
          </a:prstGeom>
        </p:spPr>
      </p:pic>
      <p:pic>
        <p:nvPicPr>
          <p:cNvPr id="133" name="Picture 132" descr="lock.png"/>
          <p:cNvPicPr>
            <a:picLocks noChangeAspect="1"/>
          </p:cNvPicPr>
          <p:nvPr/>
        </p:nvPicPr>
        <p:blipFill>
          <a:blip r:embed="rId4"/>
          <a:stretch>
            <a:fillRect/>
          </a:stretch>
        </p:blipFill>
        <p:spPr>
          <a:xfrm>
            <a:off x="11257948" y="4106926"/>
            <a:ext cx="128699" cy="187198"/>
          </a:xfrm>
          <a:prstGeom prst="rect">
            <a:avLst/>
          </a:prstGeom>
        </p:spPr>
      </p:pic>
      <p:sp>
        <p:nvSpPr>
          <p:cNvPr id="134" name="TextBox 133"/>
          <p:cNvSpPr txBox="1"/>
          <p:nvPr/>
        </p:nvSpPr>
        <p:spPr>
          <a:xfrm>
            <a:off x="314325" y="4676775"/>
            <a:ext cx="2317948" cy="186689"/>
          </a:xfrm>
          <a:prstGeom prst="rect">
            <a:avLst/>
          </a:prstGeom>
          <a:noFill/>
        </p:spPr>
        <p:txBody>
          <a:bodyPr wrap="none" lIns="0" rIns="0" tIns="0" bIns="0">
            <a:spAutoFit/>
          </a:bodyPr>
          <a:lstStyle/>
          <a:p>
            <a:r>
              <a:rPr sz="1100" b="0">
                <a:solidFill>
                  <a:srgbClr val="1F2933"/>
                </a:solidFill>
                <a:latin typeface="Calibri"/>
              </a:rPr>
              <a:t>5 named players compete here; 'Rotary</a:t>
            </a:r>
          </a:p>
        </p:txBody>
      </p:sp>
      <p:sp>
        <p:nvSpPr>
          <p:cNvPr id="135" name="TextBox 134"/>
          <p:cNvSpPr txBox="1"/>
          <p:nvPr/>
        </p:nvSpPr>
        <p:spPr>
          <a:xfrm>
            <a:off x="314325" y="4844415"/>
            <a:ext cx="1656829" cy="186689"/>
          </a:xfrm>
          <a:prstGeom prst="rect">
            <a:avLst/>
          </a:prstGeom>
          <a:noFill/>
        </p:spPr>
        <p:txBody>
          <a:bodyPr wrap="none" lIns="0" rIns="0" tIns="0" bIns="0">
            <a:spAutoFit/>
          </a:bodyPr>
          <a:lstStyle/>
          <a:p>
            <a:r>
              <a:rPr sz="1100" b="0">
                <a:solidFill>
                  <a:srgbClr val="1F2933"/>
                </a:solidFill>
                <a:latin typeface="Calibri"/>
              </a:rPr>
              <a:t>Screw Air Compressor' adds</a:t>
            </a:r>
          </a:p>
        </p:txBody>
      </p:sp>
      <p:pic>
        <p:nvPicPr>
          <p:cNvPr id="136" name="Picture 135" descr="lock.png"/>
          <p:cNvPicPr>
            <a:picLocks noChangeAspect="1"/>
          </p:cNvPicPr>
          <p:nvPr/>
        </p:nvPicPr>
        <p:blipFill>
          <a:blip r:embed="rId4"/>
          <a:stretch>
            <a:fillRect/>
          </a:stretch>
        </p:blipFill>
        <p:spPr>
          <a:xfrm>
            <a:off x="1919205" y="4834636"/>
            <a:ext cx="128699" cy="187198"/>
          </a:xfrm>
          <a:prstGeom prst="rect">
            <a:avLst/>
          </a:prstGeom>
        </p:spPr>
      </p:pic>
      <p:sp>
        <p:nvSpPr>
          <p:cNvPr id="137" name="TextBox 136"/>
          <p:cNvSpPr txBox="1"/>
          <p:nvPr/>
        </p:nvSpPr>
        <p:spPr>
          <a:xfrm>
            <a:off x="2086701" y="4844415"/>
            <a:ext cx="693935" cy="186689"/>
          </a:xfrm>
          <a:prstGeom prst="rect">
            <a:avLst/>
          </a:prstGeom>
          <a:noFill/>
        </p:spPr>
        <p:txBody>
          <a:bodyPr wrap="none" lIns="0" rIns="0" tIns="0" bIns="0">
            <a:spAutoFit/>
          </a:bodyPr>
          <a:lstStyle/>
          <a:p>
            <a:r>
              <a:rPr sz="1100" b="0">
                <a:solidFill>
                  <a:srgbClr val="1F2933"/>
                </a:solidFill>
                <a:latin typeface="Calibri"/>
              </a:rPr>
              <a:t>US$ Mn by</a:t>
            </a:r>
          </a:p>
        </p:txBody>
      </p:sp>
      <p:sp>
        <p:nvSpPr>
          <p:cNvPr id="138" name="TextBox 137"/>
          <p:cNvSpPr txBox="1"/>
          <p:nvPr/>
        </p:nvSpPr>
        <p:spPr>
          <a:xfrm>
            <a:off x="314325" y="5012055"/>
            <a:ext cx="395163" cy="186689"/>
          </a:xfrm>
          <a:prstGeom prst="rect">
            <a:avLst/>
          </a:prstGeom>
          <a:noFill/>
        </p:spPr>
        <p:txBody>
          <a:bodyPr wrap="none" lIns="0" rIns="0" tIns="0" bIns="0">
            <a:spAutoFit/>
          </a:bodyPr>
          <a:lstStyle/>
          <a:p>
            <a:r>
              <a:rPr sz="1100" b="0">
                <a:solidFill>
                  <a:srgbClr val="1F2933"/>
                </a:solidFill>
                <a:latin typeface="Calibri"/>
              </a:rPr>
              <a:t>2036.</a:t>
            </a:r>
          </a:p>
        </p:txBody>
      </p:sp>
      <p:sp>
        <p:nvSpPr>
          <p:cNvPr id="139" name="TextBox 138"/>
          <p:cNvSpPr txBox="1"/>
          <p:nvPr/>
        </p:nvSpPr>
        <p:spPr>
          <a:xfrm>
            <a:off x="3328987" y="4676775"/>
            <a:ext cx="2446188" cy="186689"/>
          </a:xfrm>
          <a:prstGeom prst="rect">
            <a:avLst/>
          </a:prstGeom>
          <a:noFill/>
        </p:spPr>
        <p:txBody>
          <a:bodyPr wrap="none" lIns="0" rIns="0" tIns="0" bIns="0">
            <a:spAutoFit/>
          </a:bodyPr>
          <a:lstStyle/>
          <a:p>
            <a:r>
              <a:rPr sz="1100" b="0">
                <a:solidFill>
                  <a:srgbClr val="1F2933"/>
                </a:solidFill>
                <a:latin typeface="Calibri"/>
              </a:rPr>
              <a:t>5 named players compete here; 'Scroll Air</a:t>
            </a:r>
          </a:p>
        </p:txBody>
      </p:sp>
      <p:sp>
        <p:nvSpPr>
          <p:cNvPr id="140" name="TextBox 139"/>
          <p:cNvSpPr txBox="1"/>
          <p:nvPr/>
        </p:nvSpPr>
        <p:spPr>
          <a:xfrm>
            <a:off x="3328987" y="4844415"/>
            <a:ext cx="1090116" cy="186689"/>
          </a:xfrm>
          <a:prstGeom prst="rect">
            <a:avLst/>
          </a:prstGeom>
          <a:noFill/>
        </p:spPr>
        <p:txBody>
          <a:bodyPr wrap="none" lIns="0" rIns="0" tIns="0" bIns="0">
            <a:spAutoFit/>
          </a:bodyPr>
          <a:lstStyle/>
          <a:p>
            <a:r>
              <a:rPr sz="1100" b="0">
                <a:solidFill>
                  <a:srgbClr val="1F2933"/>
                </a:solidFill>
                <a:latin typeface="Calibri"/>
              </a:rPr>
              <a:t>Compressor' adds</a:t>
            </a:r>
          </a:p>
        </p:txBody>
      </p:sp>
      <p:pic>
        <p:nvPicPr>
          <p:cNvPr id="141" name="Picture 140" descr="lock.png"/>
          <p:cNvPicPr>
            <a:picLocks noChangeAspect="1"/>
          </p:cNvPicPr>
          <p:nvPr/>
        </p:nvPicPr>
        <p:blipFill>
          <a:blip r:embed="rId4"/>
          <a:stretch>
            <a:fillRect/>
          </a:stretch>
        </p:blipFill>
        <p:spPr>
          <a:xfrm>
            <a:off x="4367155" y="4834636"/>
            <a:ext cx="128699" cy="187198"/>
          </a:xfrm>
          <a:prstGeom prst="rect">
            <a:avLst/>
          </a:prstGeom>
        </p:spPr>
      </p:pic>
      <p:sp>
        <p:nvSpPr>
          <p:cNvPr id="142" name="TextBox 141"/>
          <p:cNvSpPr txBox="1"/>
          <p:nvPr/>
        </p:nvSpPr>
        <p:spPr>
          <a:xfrm>
            <a:off x="4534650"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43" name="TextBox 142"/>
          <p:cNvSpPr txBox="1"/>
          <p:nvPr/>
        </p:nvSpPr>
        <p:spPr>
          <a:xfrm>
            <a:off x="6343650" y="4676775"/>
            <a:ext cx="2519362" cy="186689"/>
          </a:xfrm>
          <a:prstGeom prst="rect">
            <a:avLst/>
          </a:prstGeom>
          <a:noFill/>
        </p:spPr>
        <p:txBody>
          <a:bodyPr wrap="none" lIns="0" rIns="0" tIns="0" bIns="0">
            <a:spAutoFit/>
          </a:bodyPr>
          <a:lstStyle/>
          <a:p>
            <a:r>
              <a:rPr sz="1100" b="0">
                <a:solidFill>
                  <a:srgbClr val="1F2933"/>
                </a:solidFill>
                <a:latin typeface="Calibri"/>
              </a:rPr>
              <a:t>5 named players compete here; 'Centrifugal</a:t>
            </a:r>
          </a:p>
        </p:txBody>
      </p:sp>
      <p:sp>
        <p:nvSpPr>
          <p:cNvPr id="144" name="TextBox 143"/>
          <p:cNvSpPr txBox="1"/>
          <p:nvPr/>
        </p:nvSpPr>
        <p:spPr>
          <a:xfrm>
            <a:off x="6343650" y="4844415"/>
            <a:ext cx="1283568" cy="186689"/>
          </a:xfrm>
          <a:prstGeom prst="rect">
            <a:avLst/>
          </a:prstGeom>
          <a:noFill/>
        </p:spPr>
        <p:txBody>
          <a:bodyPr wrap="none" lIns="0" rIns="0" tIns="0" bIns="0">
            <a:spAutoFit/>
          </a:bodyPr>
          <a:lstStyle/>
          <a:p>
            <a:r>
              <a:rPr sz="1100" b="0">
                <a:solidFill>
                  <a:srgbClr val="1F2933"/>
                </a:solidFill>
                <a:latin typeface="Calibri"/>
              </a:rPr>
              <a:t>Air Compressor' adds</a:t>
            </a:r>
          </a:p>
        </p:txBody>
      </p:sp>
      <p:pic>
        <p:nvPicPr>
          <p:cNvPr id="145" name="Picture 144" descr="lock.png"/>
          <p:cNvPicPr>
            <a:picLocks noChangeAspect="1"/>
          </p:cNvPicPr>
          <p:nvPr/>
        </p:nvPicPr>
        <p:blipFill>
          <a:blip r:embed="rId4"/>
          <a:stretch>
            <a:fillRect/>
          </a:stretch>
        </p:blipFill>
        <p:spPr>
          <a:xfrm>
            <a:off x="7575269" y="4834636"/>
            <a:ext cx="128699" cy="187198"/>
          </a:xfrm>
          <a:prstGeom prst="rect">
            <a:avLst/>
          </a:prstGeom>
        </p:spPr>
      </p:pic>
      <p:sp>
        <p:nvSpPr>
          <p:cNvPr id="146" name="TextBox 145"/>
          <p:cNvSpPr txBox="1"/>
          <p:nvPr/>
        </p:nvSpPr>
        <p:spPr>
          <a:xfrm>
            <a:off x="7742765"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47" name="TextBox 146"/>
          <p:cNvSpPr txBox="1"/>
          <p:nvPr/>
        </p:nvSpPr>
        <p:spPr>
          <a:xfrm>
            <a:off x="9358313" y="4676775"/>
            <a:ext cx="1728861" cy="186689"/>
          </a:xfrm>
          <a:prstGeom prst="rect">
            <a:avLst/>
          </a:prstGeom>
          <a:noFill/>
        </p:spPr>
        <p:txBody>
          <a:bodyPr wrap="none" lIns="0" rIns="0" tIns="0" bIns="0">
            <a:spAutoFit/>
          </a:bodyPr>
          <a:lstStyle/>
          <a:p>
            <a:r>
              <a:rPr sz="1100" b="0">
                <a:solidFill>
                  <a:srgbClr val="1F2933"/>
                </a:solidFill>
                <a:latin typeface="Calibri"/>
              </a:rPr>
              <a:t>The top two end uses pay for</a:t>
            </a:r>
          </a:p>
        </p:txBody>
      </p:sp>
      <p:pic>
        <p:nvPicPr>
          <p:cNvPr id="148" name="Picture 147" descr="lock.png"/>
          <p:cNvPicPr>
            <a:picLocks noChangeAspect="1"/>
          </p:cNvPicPr>
          <p:nvPr/>
        </p:nvPicPr>
        <p:blipFill>
          <a:blip r:embed="rId4"/>
          <a:stretch>
            <a:fillRect/>
          </a:stretch>
        </p:blipFill>
        <p:spPr>
          <a:xfrm>
            <a:off x="11035226" y="4666996"/>
            <a:ext cx="128699" cy="187198"/>
          </a:xfrm>
          <a:prstGeom prst="rect">
            <a:avLst/>
          </a:prstGeom>
        </p:spPr>
      </p:pic>
      <p:sp>
        <p:nvSpPr>
          <p:cNvPr id="149" name="TextBox 148"/>
          <p:cNvSpPr txBox="1"/>
          <p:nvPr/>
        </p:nvSpPr>
        <p:spPr>
          <a:xfrm>
            <a:off x="11202722" y="4676775"/>
            <a:ext cx="413990" cy="186689"/>
          </a:xfrm>
          <a:prstGeom prst="rect">
            <a:avLst/>
          </a:prstGeom>
          <a:noFill/>
        </p:spPr>
        <p:txBody>
          <a:bodyPr wrap="none" lIns="0" rIns="0" tIns="0" bIns="0">
            <a:spAutoFit/>
          </a:bodyPr>
          <a:lstStyle/>
          <a:p>
            <a:r>
              <a:rPr sz="1100" b="0">
                <a:solidFill>
                  <a:srgbClr val="1F2933"/>
                </a:solidFill>
                <a:latin typeface="Calibri"/>
              </a:rPr>
              <a:t>of the</a:t>
            </a:r>
          </a:p>
        </p:txBody>
      </p:sp>
      <p:sp>
        <p:nvSpPr>
          <p:cNvPr id="150" name="TextBox 149"/>
          <p:cNvSpPr txBox="1"/>
          <p:nvPr/>
        </p:nvSpPr>
        <p:spPr>
          <a:xfrm>
            <a:off x="9358313" y="4844415"/>
            <a:ext cx="2519361" cy="186689"/>
          </a:xfrm>
          <a:prstGeom prst="rect">
            <a:avLst/>
          </a:prstGeom>
          <a:noFill/>
        </p:spPr>
        <p:txBody>
          <a:bodyPr wrap="none" lIns="0" rIns="0" tIns="0" bIns="0">
            <a:spAutoFit/>
          </a:bodyPr>
          <a:lstStyle/>
          <a:p>
            <a:r>
              <a:rPr sz="1100" b="0">
                <a:solidFill>
                  <a:srgbClr val="1F2933"/>
                </a:solidFill>
                <a:latin typeface="Calibri"/>
              </a:rPr>
              <a:t>market; vendors package for one vertical at</a:t>
            </a:r>
          </a:p>
        </p:txBody>
      </p:sp>
      <p:sp>
        <p:nvSpPr>
          <p:cNvPr id="151" name="TextBox 150"/>
          <p:cNvSpPr txBox="1"/>
          <p:nvPr/>
        </p:nvSpPr>
        <p:spPr>
          <a:xfrm>
            <a:off x="9358313" y="5012055"/>
            <a:ext cx="470197" cy="186689"/>
          </a:xfrm>
          <a:prstGeom prst="rect">
            <a:avLst/>
          </a:prstGeom>
          <a:noFill/>
        </p:spPr>
        <p:txBody>
          <a:bodyPr wrap="none" lIns="0" rIns="0" tIns="0" bIns="0">
            <a:spAutoFit/>
          </a:bodyPr>
          <a:lstStyle/>
          <a:p>
            <a:r>
              <a:rPr sz="1100" b="0">
                <a:solidFill>
                  <a:srgbClr val="1F2933"/>
                </a:solidFill>
                <a:latin typeface="Calibri"/>
              </a:rPr>
              <a:t>a time.</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Player Landscape by Business Type and Reach</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Named players by business type and geographic reach, with how each group competes</a:t>
            </a:r>
          </a:p>
        </p:txBody>
      </p:sp>
      <p:sp>
        <p:nvSpPr>
          <p:cNvPr id="7" name="Rectangle 6"/>
          <p:cNvSpPr/>
          <p:nvPr/>
        </p:nvSpPr>
        <p:spPr>
          <a:xfrm>
            <a:off x="1638300" y="1047750"/>
            <a:ext cx="3422650" cy="2667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145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1  (4)</a:t>
            </a:r>
          </a:p>
        </p:txBody>
      </p:sp>
      <p:sp>
        <p:nvSpPr>
          <p:cNvPr id="9" name="Rectangle 8"/>
          <p:cNvSpPr/>
          <p:nvPr/>
        </p:nvSpPr>
        <p:spPr>
          <a:xfrm>
            <a:off x="5099050" y="1047750"/>
            <a:ext cx="3422650" cy="2667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7525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2  (2)</a:t>
            </a:r>
          </a:p>
        </p:txBody>
      </p:sp>
      <p:sp>
        <p:nvSpPr>
          <p:cNvPr id="11" name="Rectangle 10"/>
          <p:cNvSpPr/>
          <p:nvPr/>
        </p:nvSpPr>
        <p:spPr>
          <a:xfrm>
            <a:off x="8559800" y="1047750"/>
            <a:ext cx="3422650" cy="2667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60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3  (4)</a:t>
            </a:r>
          </a:p>
        </p:txBody>
      </p:sp>
      <p:sp>
        <p:nvSpPr>
          <p:cNvPr id="13" name="TextBox 12"/>
          <p:cNvSpPr txBox="1"/>
          <p:nvPr/>
        </p:nvSpPr>
        <p:spPr>
          <a:xfrm>
            <a:off x="190500" y="14097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Global (4)</a:t>
            </a:r>
          </a:p>
        </p:txBody>
      </p:sp>
      <p:sp>
        <p:nvSpPr>
          <p:cNvPr id="14" name="TextBox 13"/>
          <p:cNvSpPr txBox="1"/>
          <p:nvPr/>
        </p:nvSpPr>
        <p:spPr>
          <a:xfrm>
            <a:off x="190500" y="15811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Sells in most major regions</a:t>
            </a:r>
          </a:p>
        </p:txBody>
      </p:sp>
      <p:cxnSp>
        <p:nvCxnSpPr>
          <p:cNvPr id="15" name="Connector 14"/>
          <p:cNvCxnSpPr/>
          <p:nvPr/>
        </p:nvCxnSpPr>
        <p:spPr>
          <a:xfrm>
            <a:off x="1647825" y="13906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733550" y="1447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3550" y="1438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18" name="TextBox 17"/>
          <p:cNvSpPr txBox="1"/>
          <p:nvPr/>
        </p:nvSpPr>
        <p:spPr>
          <a:xfrm>
            <a:off x="1924050" y="1428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Atlas Copco</a:t>
            </a:r>
          </a:p>
        </p:txBody>
      </p:sp>
      <p:sp>
        <p:nvSpPr>
          <p:cNvPr id="19" name="Rectangle 18"/>
          <p:cNvSpPr/>
          <p:nvPr/>
        </p:nvSpPr>
        <p:spPr>
          <a:xfrm>
            <a:off x="1733550" y="1638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33550" y="1628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1" name="TextBox 20"/>
          <p:cNvSpPr txBox="1"/>
          <p:nvPr/>
        </p:nvSpPr>
        <p:spPr>
          <a:xfrm>
            <a:off x="1924050" y="1619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Ingersoll Rand</a:t>
            </a:r>
          </a:p>
        </p:txBody>
      </p:sp>
      <p:sp>
        <p:nvSpPr>
          <p:cNvPr id="22" name="Rectangle 21"/>
          <p:cNvSpPr/>
          <p:nvPr/>
        </p:nvSpPr>
        <p:spPr>
          <a:xfrm>
            <a:off x="1733550" y="1828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33550" y="1819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4" name="TextBox 23"/>
          <p:cNvSpPr txBox="1"/>
          <p:nvPr/>
        </p:nvSpPr>
        <p:spPr>
          <a:xfrm>
            <a:off x="1924050" y="1809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Hitachi</a:t>
            </a:r>
          </a:p>
        </p:txBody>
      </p:sp>
      <p:sp>
        <p:nvSpPr>
          <p:cNvPr id="25" name="Rectangle 24"/>
          <p:cNvSpPr/>
          <p:nvPr/>
        </p:nvSpPr>
        <p:spPr>
          <a:xfrm>
            <a:off x="1733550" y="2019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33550" y="2009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7" name="TextBox 26"/>
          <p:cNvSpPr txBox="1"/>
          <p:nvPr/>
        </p:nvSpPr>
        <p:spPr>
          <a:xfrm>
            <a:off x="1924050" y="2000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KAESER KOMPRESSOREN</a:t>
            </a:r>
          </a:p>
        </p:txBody>
      </p:sp>
      <p:cxnSp>
        <p:nvCxnSpPr>
          <p:cNvPr id="28" name="Connector 27"/>
          <p:cNvCxnSpPr/>
          <p:nvPr/>
        </p:nvCxnSpPr>
        <p:spPr>
          <a:xfrm>
            <a:off x="5108575" y="13906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569325" y="13906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90500" y="24384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Regional (2)</a:t>
            </a:r>
          </a:p>
        </p:txBody>
      </p:sp>
      <p:sp>
        <p:nvSpPr>
          <p:cNvPr id="31" name="TextBox 30"/>
          <p:cNvSpPr txBox="1"/>
          <p:nvPr/>
        </p:nvSpPr>
        <p:spPr>
          <a:xfrm>
            <a:off x="190500" y="26098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Strong in one or two regions</a:t>
            </a:r>
          </a:p>
        </p:txBody>
      </p:sp>
      <p:cxnSp>
        <p:nvCxnSpPr>
          <p:cNvPr id="32" name="Connector 31"/>
          <p:cNvCxnSpPr/>
          <p:nvPr/>
        </p:nvCxnSpPr>
        <p:spPr>
          <a:xfrm>
            <a:off x="190500" y="240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647825" y="24193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108575" y="24193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194300" y="24765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94300" y="24669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37" name="TextBox 36"/>
          <p:cNvSpPr txBox="1"/>
          <p:nvPr/>
        </p:nvSpPr>
        <p:spPr>
          <a:xfrm>
            <a:off x="5384800" y="24574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Gardner Denver</a:t>
            </a:r>
          </a:p>
        </p:txBody>
      </p:sp>
      <p:sp>
        <p:nvSpPr>
          <p:cNvPr id="38" name="Rectangle 37"/>
          <p:cNvSpPr/>
          <p:nvPr/>
        </p:nvSpPr>
        <p:spPr>
          <a:xfrm>
            <a:off x="5194300" y="26670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94300" y="26574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0" name="TextBox 39"/>
          <p:cNvSpPr txBox="1"/>
          <p:nvPr/>
        </p:nvSpPr>
        <p:spPr>
          <a:xfrm>
            <a:off x="5384800" y="26479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ELGi Equipments</a:t>
            </a:r>
          </a:p>
        </p:txBody>
      </p:sp>
      <p:cxnSp>
        <p:nvCxnSpPr>
          <p:cNvPr id="41" name="Connector 40"/>
          <p:cNvCxnSpPr/>
          <p:nvPr/>
        </p:nvCxnSpPr>
        <p:spPr>
          <a:xfrm>
            <a:off x="8569325" y="24193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90500" y="34671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Local or niche (4)</a:t>
            </a:r>
          </a:p>
        </p:txBody>
      </p:sp>
      <p:sp>
        <p:nvSpPr>
          <p:cNvPr id="43" name="TextBox 42"/>
          <p:cNvSpPr txBox="1"/>
          <p:nvPr/>
        </p:nvSpPr>
        <p:spPr>
          <a:xfrm>
            <a:off x="190500" y="36385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One market or one specialist use</a:t>
            </a:r>
          </a:p>
        </p:txBody>
      </p:sp>
      <p:cxnSp>
        <p:nvCxnSpPr>
          <p:cNvPr id="44" name="Connector 43"/>
          <p:cNvCxnSpPr/>
          <p:nvPr/>
        </p:nvCxnSpPr>
        <p:spPr>
          <a:xfrm>
            <a:off x="190500" y="3429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647825" y="34480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108575" y="34480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569325" y="34480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8655050" y="3505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55050" y="3495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0" name="TextBox 49"/>
          <p:cNvSpPr txBox="1"/>
          <p:nvPr/>
        </p:nvSpPr>
        <p:spPr>
          <a:xfrm>
            <a:off x="8845550" y="3486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Kaishan Group</a:t>
            </a:r>
          </a:p>
        </p:txBody>
      </p:sp>
      <p:sp>
        <p:nvSpPr>
          <p:cNvPr id="51" name="Rectangle 50"/>
          <p:cNvSpPr/>
          <p:nvPr/>
        </p:nvSpPr>
        <p:spPr>
          <a:xfrm>
            <a:off x="8655050" y="3695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5050" y="3686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3" name="TextBox 52"/>
          <p:cNvSpPr txBox="1"/>
          <p:nvPr/>
        </p:nvSpPr>
        <p:spPr>
          <a:xfrm>
            <a:off x="8845550" y="3676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BOGE KOMPRESSOREN</a:t>
            </a:r>
          </a:p>
        </p:txBody>
      </p:sp>
      <p:sp>
        <p:nvSpPr>
          <p:cNvPr id="54" name="Rectangle 53"/>
          <p:cNvSpPr/>
          <p:nvPr/>
        </p:nvSpPr>
        <p:spPr>
          <a:xfrm>
            <a:off x="8655050" y="3886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55050" y="3876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6" name="TextBox 55"/>
          <p:cNvSpPr txBox="1"/>
          <p:nvPr/>
        </p:nvSpPr>
        <p:spPr>
          <a:xfrm>
            <a:off x="8845550" y="3867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ANEST IWATA</a:t>
            </a:r>
          </a:p>
        </p:txBody>
      </p:sp>
      <p:sp>
        <p:nvSpPr>
          <p:cNvPr id="57" name="Rectangle 56"/>
          <p:cNvSpPr/>
          <p:nvPr/>
        </p:nvSpPr>
        <p:spPr>
          <a:xfrm>
            <a:off x="8655050" y="4076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655050" y="4067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9" name="TextBox 58"/>
          <p:cNvSpPr txBox="1"/>
          <p:nvPr/>
        </p:nvSpPr>
        <p:spPr>
          <a:xfrm>
            <a:off x="8845550" y="4057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Quincy Compressor</a:t>
            </a:r>
          </a:p>
        </p:txBody>
      </p:sp>
      <p:sp>
        <p:nvSpPr>
          <p:cNvPr id="60" name="Rectangle 59"/>
          <p:cNvSpPr/>
          <p:nvPr/>
        </p:nvSpPr>
        <p:spPr>
          <a:xfrm>
            <a:off x="190500" y="4524375"/>
            <a:ext cx="123825" cy="1238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19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1</a:t>
            </a:r>
          </a:p>
        </p:txBody>
      </p:sp>
      <p:sp>
        <p:nvSpPr>
          <p:cNvPr id="62" name="TextBox 61"/>
          <p:cNvSpPr txBox="1"/>
          <p:nvPr/>
        </p:nvSpPr>
        <p:spPr>
          <a:xfrm>
            <a:off x="8191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3" name="TextBox 62"/>
          <p:cNvSpPr txBox="1"/>
          <p:nvPr/>
        </p:nvSpPr>
        <p:spPr>
          <a:xfrm>
            <a:off x="14478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4" name="Rectangle 63"/>
          <p:cNvSpPr/>
          <p:nvPr/>
        </p:nvSpPr>
        <p:spPr>
          <a:xfrm>
            <a:off x="2952750" y="4524375"/>
            <a:ext cx="123825" cy="1238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12420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2</a:t>
            </a:r>
          </a:p>
        </p:txBody>
      </p:sp>
      <p:sp>
        <p:nvSpPr>
          <p:cNvPr id="66" name="TextBox 65"/>
          <p:cNvSpPr txBox="1"/>
          <p:nvPr/>
        </p:nvSpPr>
        <p:spPr>
          <a:xfrm>
            <a:off x="358140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7" name="TextBox 66"/>
          <p:cNvSpPr txBox="1"/>
          <p:nvPr/>
        </p:nvSpPr>
        <p:spPr>
          <a:xfrm>
            <a:off x="421005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8" name="Rectangle 67"/>
          <p:cNvSpPr/>
          <p:nvPr/>
        </p:nvSpPr>
        <p:spPr>
          <a:xfrm>
            <a:off x="5715000" y="4524375"/>
            <a:ext cx="123825" cy="1238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8864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3</a:t>
            </a:r>
          </a:p>
        </p:txBody>
      </p:sp>
      <p:sp>
        <p:nvSpPr>
          <p:cNvPr id="70" name="TextBox 69"/>
          <p:cNvSpPr txBox="1"/>
          <p:nvPr/>
        </p:nvSpPr>
        <p:spPr>
          <a:xfrm>
            <a:off x="63436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1" name="TextBox 70"/>
          <p:cNvSpPr txBox="1"/>
          <p:nvPr/>
        </p:nvSpPr>
        <p:spPr>
          <a:xfrm>
            <a:off x="69723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2" name="TextBox 71"/>
          <p:cNvSpPr txBox="1"/>
          <p:nvPr/>
        </p:nvSpPr>
        <p:spPr>
          <a:xfrm>
            <a:off x="190500" y="4705350"/>
            <a:ext cx="11811000" cy="171450"/>
          </a:xfrm>
          <a:prstGeom prst="rect">
            <a:avLst/>
          </a:prstGeom>
          <a:noFill/>
        </p:spPr>
        <p:txBody>
          <a:bodyPr wrap="square" lIns="28575" rIns="28575" tIns="9525" bIns="9525" anchor="t">
            <a:spAutoFit/>
          </a:bodyPr>
          <a:lstStyle/>
          <a:p>
            <a:pPr algn="l"/>
            <a:r>
              <a:rPr sz="1100" b="0">
                <a:solidFill>
                  <a:srgbClr val="1F2933"/>
                </a:solidFill>
                <a:latin typeface="Calibri"/>
              </a:rPr>
              <a:t>BY TYPE   Tier 1 4   |   Tier 2 2   |   Tier 3 4      BY REACH   Global 4   |   Regional 2   |   Local or niche 4</a:t>
            </a:r>
          </a:p>
        </p:txBody>
      </p:sp>
      <p:sp>
        <p:nvSpPr>
          <p:cNvPr id="73" name="Rectangle 72"/>
          <p:cNvSpPr/>
          <p:nvPr/>
        </p:nvSpPr>
        <p:spPr>
          <a:xfrm>
            <a:off x="190500" y="4972050"/>
            <a:ext cx="2809875" cy="38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9050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75" name="TextBox 74"/>
          <p:cNvSpPr txBox="1"/>
          <p:nvPr/>
        </p:nvSpPr>
        <p:spPr>
          <a:xfrm>
            <a:off x="19050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76" name="TextBox 75"/>
          <p:cNvSpPr txBox="1"/>
          <p:nvPr/>
        </p:nvSpPr>
        <p:spPr>
          <a:xfrm>
            <a:off x="19050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Direct + key accounts; premium / bundled positioning.</a:t>
            </a:r>
          </a:p>
        </p:txBody>
      </p:sp>
      <p:sp>
        <p:nvSpPr>
          <p:cNvPr id="77" name="TextBox 76"/>
          <p:cNvSpPr txBox="1"/>
          <p:nvPr/>
        </p:nvSpPr>
        <p:spPr>
          <a:xfrm>
            <a:off x="19050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78" name="TextBox 77"/>
          <p:cNvSpPr txBox="1"/>
          <p:nvPr/>
        </p:nvSpPr>
        <p:spPr>
          <a:xfrm>
            <a:off x="19050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79" name="Rectangle 78"/>
          <p:cNvSpPr/>
          <p:nvPr/>
        </p:nvSpPr>
        <p:spPr>
          <a:xfrm>
            <a:off x="3190875" y="4972050"/>
            <a:ext cx="2809875" cy="38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190875"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81" name="TextBox 80"/>
          <p:cNvSpPr txBox="1"/>
          <p:nvPr/>
        </p:nvSpPr>
        <p:spPr>
          <a:xfrm>
            <a:off x="3190875"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82" name="TextBox 81"/>
          <p:cNvSpPr txBox="1"/>
          <p:nvPr/>
        </p:nvSpPr>
        <p:spPr>
          <a:xfrm>
            <a:off x="3190875"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Distributors; mid / value-added positioning.</a:t>
            </a:r>
          </a:p>
        </p:txBody>
      </p:sp>
      <p:sp>
        <p:nvSpPr>
          <p:cNvPr id="83" name="TextBox 82"/>
          <p:cNvSpPr txBox="1"/>
          <p:nvPr/>
        </p:nvSpPr>
        <p:spPr>
          <a:xfrm>
            <a:off x="3190875"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4" name="TextBox 83"/>
          <p:cNvSpPr txBox="1"/>
          <p:nvPr/>
        </p:nvSpPr>
        <p:spPr>
          <a:xfrm>
            <a:off x="3190875"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5" name="Rectangle 84"/>
          <p:cNvSpPr/>
          <p:nvPr/>
        </p:nvSpPr>
        <p:spPr>
          <a:xfrm>
            <a:off x="6191250" y="4972050"/>
            <a:ext cx="2809875" cy="38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19125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87" name="TextBox 86"/>
          <p:cNvSpPr txBox="1"/>
          <p:nvPr/>
        </p:nvSpPr>
        <p:spPr>
          <a:xfrm>
            <a:off x="619125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88" name="TextBox 87"/>
          <p:cNvSpPr txBox="1"/>
          <p:nvPr/>
        </p:nvSpPr>
        <p:spPr>
          <a:xfrm>
            <a:off x="619125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Regional partners; value / entry positioning.</a:t>
            </a:r>
          </a:p>
        </p:txBody>
      </p:sp>
      <p:sp>
        <p:nvSpPr>
          <p:cNvPr id="89" name="TextBox 88"/>
          <p:cNvSpPr txBox="1"/>
          <p:nvPr/>
        </p:nvSpPr>
        <p:spPr>
          <a:xfrm>
            <a:off x="619125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90" name="TextBox 89"/>
          <p:cNvSpPr txBox="1"/>
          <p:nvPr/>
        </p:nvSpPr>
        <p:spPr>
          <a:xfrm>
            <a:off x="619125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91" name="Rectangle 9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93" name="Picture 92" descr="lock.png"/>
          <p:cNvPicPr>
            <a:picLocks noChangeAspect="1"/>
          </p:cNvPicPr>
          <p:nvPr/>
        </p:nvPicPr>
        <p:blipFill>
          <a:blip r:embed="rId4"/>
          <a:stretch>
            <a:fillRect/>
          </a:stretch>
        </p:blipFill>
        <p:spPr>
          <a:xfrm>
            <a:off x="1059600" y="4487926"/>
            <a:ext cx="128699" cy="187198"/>
          </a:xfrm>
          <a:prstGeom prst="rect">
            <a:avLst/>
          </a:prstGeom>
        </p:spPr>
      </p:pic>
      <p:pic>
        <p:nvPicPr>
          <p:cNvPr id="94" name="Picture 93" descr="lock.png"/>
          <p:cNvPicPr>
            <a:picLocks noChangeAspect="1"/>
          </p:cNvPicPr>
          <p:nvPr/>
        </p:nvPicPr>
        <p:blipFill>
          <a:blip r:embed="rId4"/>
          <a:stretch>
            <a:fillRect/>
          </a:stretch>
        </p:blipFill>
        <p:spPr>
          <a:xfrm>
            <a:off x="3821850" y="4487926"/>
            <a:ext cx="128699" cy="187198"/>
          </a:xfrm>
          <a:prstGeom prst="rect">
            <a:avLst/>
          </a:prstGeom>
        </p:spPr>
      </p:pic>
      <p:pic>
        <p:nvPicPr>
          <p:cNvPr id="95" name="Picture 94" descr="lock.png"/>
          <p:cNvPicPr>
            <a:picLocks noChangeAspect="1"/>
          </p:cNvPicPr>
          <p:nvPr/>
        </p:nvPicPr>
        <p:blipFill>
          <a:blip r:embed="rId4"/>
          <a:stretch>
            <a:fillRect/>
          </a:stretch>
        </p:blipFill>
        <p:spPr>
          <a:xfrm>
            <a:off x="6584100" y="4487926"/>
            <a:ext cx="128699" cy="187198"/>
          </a:xfrm>
          <a:prstGeom prst="rect">
            <a:avLst/>
          </a:prstGeom>
        </p:spPr>
      </p:pic>
      <p:sp>
        <p:nvSpPr>
          <p:cNvPr id="96" name="TextBox 95"/>
          <p:cNvSpPr txBox="1"/>
          <p:nvPr/>
        </p:nvSpPr>
        <p:spPr>
          <a:xfrm>
            <a:off x="219075" y="5876925"/>
            <a:ext cx="792708" cy="186689"/>
          </a:xfrm>
          <a:prstGeom prst="rect">
            <a:avLst/>
          </a:prstGeom>
          <a:noFill/>
        </p:spPr>
        <p:txBody>
          <a:bodyPr wrap="none" lIns="0" rIns="0" tIns="0" bIns="0">
            <a:spAutoFit/>
          </a:bodyPr>
          <a:lstStyle/>
          <a:p>
            <a:r>
              <a:rPr sz="1100" b="0">
                <a:solidFill>
                  <a:srgbClr val="1F2933"/>
                </a:solidFill>
                <a:latin typeface="Calibri"/>
              </a:rPr>
              <a:t>Buy to scale;</a:t>
            </a:r>
          </a:p>
        </p:txBody>
      </p:sp>
      <p:pic>
        <p:nvPicPr>
          <p:cNvPr id="97" name="Picture 96" descr="lock.png"/>
          <p:cNvPicPr>
            <a:picLocks noChangeAspect="1"/>
          </p:cNvPicPr>
          <p:nvPr/>
        </p:nvPicPr>
        <p:blipFill>
          <a:blip r:embed="rId4"/>
          <a:stretch>
            <a:fillRect/>
          </a:stretch>
        </p:blipFill>
        <p:spPr>
          <a:xfrm>
            <a:off x="959834" y="5867145"/>
            <a:ext cx="128699" cy="187198"/>
          </a:xfrm>
          <a:prstGeom prst="rect">
            <a:avLst/>
          </a:prstGeom>
        </p:spPr>
      </p:pic>
      <p:sp>
        <p:nvSpPr>
          <p:cNvPr id="98" name="TextBox 97"/>
          <p:cNvSpPr txBox="1"/>
          <p:nvPr/>
        </p:nvSpPr>
        <p:spPr>
          <a:xfrm>
            <a:off x="1127330"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99" name="TextBox 98"/>
          <p:cNvSpPr txBox="1"/>
          <p:nvPr/>
        </p:nvSpPr>
        <p:spPr>
          <a:xfrm>
            <a:off x="3219450" y="5876925"/>
            <a:ext cx="792708" cy="186689"/>
          </a:xfrm>
          <a:prstGeom prst="rect">
            <a:avLst/>
          </a:prstGeom>
          <a:noFill/>
        </p:spPr>
        <p:txBody>
          <a:bodyPr wrap="none" lIns="0" rIns="0" tIns="0" bIns="0">
            <a:spAutoFit/>
          </a:bodyPr>
          <a:lstStyle/>
          <a:p>
            <a:r>
              <a:rPr sz="1100" b="0">
                <a:solidFill>
                  <a:srgbClr val="1F2933"/>
                </a:solidFill>
                <a:latin typeface="Calibri"/>
              </a:rPr>
              <a:t>Buy to scale;</a:t>
            </a:r>
          </a:p>
        </p:txBody>
      </p:sp>
      <p:pic>
        <p:nvPicPr>
          <p:cNvPr id="100" name="Picture 99" descr="lock.png"/>
          <p:cNvPicPr>
            <a:picLocks noChangeAspect="1"/>
          </p:cNvPicPr>
          <p:nvPr/>
        </p:nvPicPr>
        <p:blipFill>
          <a:blip r:embed="rId4"/>
          <a:stretch>
            <a:fillRect/>
          </a:stretch>
        </p:blipFill>
        <p:spPr>
          <a:xfrm>
            <a:off x="3960209" y="5867145"/>
            <a:ext cx="128699" cy="187198"/>
          </a:xfrm>
          <a:prstGeom prst="rect">
            <a:avLst/>
          </a:prstGeom>
        </p:spPr>
      </p:pic>
      <p:sp>
        <p:nvSpPr>
          <p:cNvPr id="101" name="TextBox 100"/>
          <p:cNvSpPr txBox="1"/>
          <p:nvPr/>
        </p:nvSpPr>
        <p:spPr>
          <a:xfrm>
            <a:off x="4127705"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2" name="TextBox 101"/>
          <p:cNvSpPr txBox="1"/>
          <p:nvPr/>
        </p:nvSpPr>
        <p:spPr>
          <a:xfrm>
            <a:off x="6219825" y="5876925"/>
            <a:ext cx="792708" cy="186689"/>
          </a:xfrm>
          <a:prstGeom prst="rect">
            <a:avLst/>
          </a:prstGeom>
          <a:noFill/>
        </p:spPr>
        <p:txBody>
          <a:bodyPr wrap="none" lIns="0" rIns="0" tIns="0" bIns="0">
            <a:spAutoFit/>
          </a:bodyPr>
          <a:lstStyle/>
          <a:p>
            <a:r>
              <a:rPr sz="1100" b="0">
                <a:solidFill>
                  <a:srgbClr val="1F2933"/>
                </a:solidFill>
                <a:latin typeface="Calibri"/>
              </a:rPr>
              <a:t>Buy to scale;</a:t>
            </a:r>
          </a:p>
        </p:txBody>
      </p:sp>
      <p:pic>
        <p:nvPicPr>
          <p:cNvPr id="103" name="Picture 102" descr="lock.png"/>
          <p:cNvPicPr>
            <a:picLocks noChangeAspect="1"/>
          </p:cNvPicPr>
          <p:nvPr/>
        </p:nvPicPr>
        <p:blipFill>
          <a:blip r:embed="rId4"/>
          <a:stretch>
            <a:fillRect/>
          </a:stretch>
        </p:blipFill>
        <p:spPr>
          <a:xfrm>
            <a:off x="6960584" y="5867145"/>
            <a:ext cx="128699" cy="187198"/>
          </a:xfrm>
          <a:prstGeom prst="rect">
            <a:avLst/>
          </a:prstGeom>
        </p:spPr>
      </p:pic>
      <p:sp>
        <p:nvSpPr>
          <p:cNvPr id="104" name="TextBox 103"/>
          <p:cNvSpPr txBox="1"/>
          <p:nvPr/>
        </p:nvSpPr>
        <p:spPr>
          <a:xfrm>
            <a:off x="7128080"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Corporate Scorecard: Who They Are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Eight corporate Ps for every named competitor: ownership, strategy, breadth, presence, scale and performance</a:t>
            </a:r>
          </a:p>
        </p:txBody>
      </p:sp>
      <p:sp>
        <p:nvSpPr>
          <p:cNvPr id="7" name="Rectangle 6"/>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1, CORPORATE: WHO THEY ARE</a:t>
            </a:r>
          </a:p>
        </p:txBody>
      </p:sp>
      <p:sp>
        <p:nvSpPr>
          <p:cNvPr id="9" name="TextBox 8"/>
          <p:cNvSpPr txBox="1"/>
          <p:nvPr/>
        </p:nvSpPr>
        <p:spPr>
          <a:xfrm>
            <a:off x="2124761" y="1295400"/>
            <a:ext cx="228447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Parent and ownership</a:t>
            </a:r>
          </a:p>
        </p:txBody>
      </p:sp>
      <p:sp>
        <p:nvSpPr>
          <p:cNvPr id="10" name="TextBox 9"/>
          <p:cNvSpPr txBox="1"/>
          <p:nvPr/>
        </p:nvSpPr>
        <p:spPr>
          <a:xfrm>
            <a:off x="2124761" y="1657350"/>
            <a:ext cx="228447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From the company roster</a:t>
            </a:r>
          </a:p>
        </p:txBody>
      </p:sp>
      <p:sp>
        <p:nvSpPr>
          <p:cNvPr id="11" name="TextBox 10"/>
          <p:cNvSpPr txBox="1"/>
          <p:nvPr/>
        </p:nvSpPr>
        <p:spPr>
          <a:xfrm>
            <a:off x="4485437" y="1295400"/>
            <a:ext cx="1182827"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Purpose (strategy)</a:t>
            </a:r>
          </a:p>
        </p:txBody>
      </p:sp>
      <p:sp>
        <p:nvSpPr>
          <p:cNvPr id="12" name="TextBox 11"/>
          <p:cNvSpPr txBox="1"/>
          <p:nvPr/>
        </p:nvSpPr>
        <p:spPr>
          <a:xfrm>
            <a:off x="4485437" y="1657350"/>
            <a:ext cx="1182827"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Dominant active move</a:t>
            </a:r>
          </a:p>
        </p:txBody>
      </p:sp>
      <p:sp>
        <p:nvSpPr>
          <p:cNvPr id="13" name="TextBox 12"/>
          <p:cNvSpPr txBox="1"/>
          <p:nvPr/>
        </p:nvSpPr>
        <p:spPr>
          <a:xfrm>
            <a:off x="5744464" y="1295400"/>
            <a:ext cx="97298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Portfolio breadth</a:t>
            </a:r>
          </a:p>
        </p:txBody>
      </p:sp>
      <p:sp>
        <p:nvSpPr>
          <p:cNvPr id="14" name="TextBox 13"/>
          <p:cNvSpPr txBox="1"/>
          <p:nvPr/>
        </p:nvSpPr>
        <p:spPr>
          <a:xfrm>
            <a:off x="5744464" y="1657350"/>
            <a:ext cx="97298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Sub-segments: 6+ 3, 4+ 2, 2+ 1</a:t>
            </a:r>
          </a:p>
        </p:txBody>
      </p:sp>
      <p:sp>
        <p:nvSpPr>
          <p:cNvPr id="15" name="TextBox 14"/>
          <p:cNvSpPr txBox="1"/>
          <p:nvPr/>
        </p:nvSpPr>
        <p:spPr>
          <a:xfrm>
            <a:off x="6793653" y="1295400"/>
            <a:ext cx="97298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Presence</a:t>
            </a:r>
          </a:p>
        </p:txBody>
      </p:sp>
      <p:sp>
        <p:nvSpPr>
          <p:cNvPr id="16" name="TextBox 15"/>
          <p:cNvSpPr txBox="1"/>
          <p:nvPr/>
        </p:nvSpPr>
        <p:spPr>
          <a:xfrm>
            <a:off x="6793653" y="1657350"/>
            <a:ext cx="97298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3, regional 2, local 1</a:t>
            </a:r>
          </a:p>
        </p:txBody>
      </p:sp>
      <p:sp>
        <p:nvSpPr>
          <p:cNvPr id="17" name="TextBox 16"/>
          <p:cNvSpPr txBox="1"/>
          <p:nvPr/>
        </p:nvSpPr>
        <p:spPr>
          <a:xfrm>
            <a:off x="7842843" y="1295400"/>
            <a:ext cx="97298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Power (scale)</a:t>
            </a:r>
          </a:p>
        </p:txBody>
      </p:sp>
      <p:sp>
        <p:nvSpPr>
          <p:cNvPr id="18" name="TextBox 17"/>
          <p:cNvSpPr txBox="1"/>
          <p:nvPr/>
        </p:nvSpPr>
        <p:spPr>
          <a:xfrm>
            <a:off x="7842843" y="1657350"/>
            <a:ext cx="97298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1 = 3, 2 = 2, 3 = 1</a:t>
            </a:r>
          </a:p>
        </p:txBody>
      </p:sp>
      <p:sp>
        <p:nvSpPr>
          <p:cNvPr id="19" name="TextBox 18"/>
          <p:cNvSpPr txBox="1"/>
          <p:nvPr/>
        </p:nvSpPr>
        <p:spPr>
          <a:xfrm>
            <a:off x="8892032" y="1295400"/>
            <a:ext cx="97298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Performance</a:t>
            </a:r>
          </a:p>
        </p:txBody>
      </p:sp>
      <p:sp>
        <p:nvSpPr>
          <p:cNvPr id="20" name="TextBox 19"/>
          <p:cNvSpPr txBox="1"/>
          <p:nvPr/>
        </p:nvSpPr>
        <p:spPr>
          <a:xfrm>
            <a:off x="8892032" y="1657350"/>
            <a:ext cx="97298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
            </a:r>
          </a:p>
        </p:txBody>
      </p:sp>
      <p:sp>
        <p:nvSpPr>
          <p:cNvPr id="21" name="TextBox 20"/>
          <p:cNvSpPr txBox="1"/>
          <p:nvPr/>
        </p:nvSpPr>
        <p:spPr>
          <a:xfrm>
            <a:off x="9941221" y="1295400"/>
            <a:ext cx="97298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People</a:t>
            </a:r>
          </a:p>
        </p:txBody>
      </p:sp>
      <p:sp>
        <p:nvSpPr>
          <p:cNvPr id="22" name="TextBox 21"/>
          <p:cNvSpPr txBox="1"/>
          <p:nvPr/>
        </p:nvSpPr>
        <p:spPr>
          <a:xfrm>
            <a:off x="9941221" y="1657350"/>
            <a:ext cx="97298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Talent; not assessed</a:t>
            </a:r>
          </a:p>
        </p:txBody>
      </p:sp>
      <p:sp>
        <p:nvSpPr>
          <p:cNvPr id="23" name="TextBox 22"/>
          <p:cNvSpPr txBox="1"/>
          <p:nvPr/>
        </p:nvSpPr>
        <p:spPr>
          <a:xfrm>
            <a:off x="10990411" y="1295400"/>
            <a:ext cx="97298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Partnerships</a:t>
            </a:r>
          </a:p>
        </p:txBody>
      </p:sp>
      <p:sp>
        <p:nvSpPr>
          <p:cNvPr id="24" name="TextBox 23"/>
          <p:cNvSpPr txBox="1"/>
          <p:nvPr/>
        </p:nvSpPr>
        <p:spPr>
          <a:xfrm>
            <a:off x="10990411" y="1657350"/>
            <a:ext cx="97298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alliances</a:t>
            </a:r>
          </a:p>
        </p:txBody>
      </p:sp>
      <p:cxnSp>
        <p:nvCxnSpPr>
          <p:cNvPr id="25" name="Connector 24"/>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22479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Atlas Copco</a:t>
            </a:r>
          </a:p>
        </p:txBody>
      </p:sp>
      <p:sp>
        <p:nvSpPr>
          <p:cNvPr id="28" name="TextBox 27"/>
          <p:cNvSpPr txBox="1"/>
          <p:nvPr/>
        </p:nvSpPr>
        <p:spPr>
          <a:xfrm>
            <a:off x="285750" y="24098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9" name="TextBox 28"/>
          <p:cNvSpPr txBox="1"/>
          <p:nvPr/>
        </p:nvSpPr>
        <p:spPr>
          <a:xfrm>
            <a:off x="2086661" y="2228850"/>
            <a:ext cx="2360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0" name="TextBox 29"/>
          <p:cNvSpPr txBox="1"/>
          <p:nvPr/>
        </p:nvSpPr>
        <p:spPr>
          <a:xfrm>
            <a:off x="4485437" y="2228850"/>
            <a:ext cx="118282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31" name="Oval 30"/>
          <p:cNvSpPr/>
          <p:nvPr/>
        </p:nvSpPr>
        <p:spPr>
          <a:xfrm>
            <a:off x="615475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203948"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253137"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302327"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03121" y="22288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6" name="TextBox 35"/>
          <p:cNvSpPr txBox="1"/>
          <p:nvPr/>
        </p:nvSpPr>
        <p:spPr>
          <a:xfrm>
            <a:off x="10952311" y="22288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37" name="Connector 36"/>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5750" y="25908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Ingersoll Rand</a:t>
            </a:r>
          </a:p>
        </p:txBody>
      </p:sp>
      <p:sp>
        <p:nvSpPr>
          <p:cNvPr id="40" name="TextBox 39"/>
          <p:cNvSpPr txBox="1"/>
          <p:nvPr/>
        </p:nvSpPr>
        <p:spPr>
          <a:xfrm>
            <a:off x="285750" y="27527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1" name="TextBox 40"/>
          <p:cNvSpPr txBox="1"/>
          <p:nvPr/>
        </p:nvSpPr>
        <p:spPr>
          <a:xfrm>
            <a:off x="2086661" y="2571750"/>
            <a:ext cx="2360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2" name="TextBox 41"/>
          <p:cNvSpPr txBox="1"/>
          <p:nvPr/>
        </p:nvSpPr>
        <p:spPr>
          <a:xfrm>
            <a:off x="4485437" y="2571750"/>
            <a:ext cx="118282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43" name="Oval 42"/>
          <p:cNvSpPr/>
          <p:nvPr/>
        </p:nvSpPr>
        <p:spPr>
          <a:xfrm>
            <a:off x="6154759"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203948"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253137"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9302327"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03121" y="25717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8" name="TextBox 47"/>
          <p:cNvSpPr txBox="1"/>
          <p:nvPr/>
        </p:nvSpPr>
        <p:spPr>
          <a:xfrm>
            <a:off x="10952311" y="25717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9" name="Connector 48"/>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5750" y="29337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Hitachi</a:t>
            </a:r>
          </a:p>
        </p:txBody>
      </p:sp>
      <p:sp>
        <p:nvSpPr>
          <p:cNvPr id="52" name="TextBox 51"/>
          <p:cNvSpPr txBox="1"/>
          <p:nvPr/>
        </p:nvSpPr>
        <p:spPr>
          <a:xfrm>
            <a:off x="285750" y="30956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3" name="TextBox 52"/>
          <p:cNvSpPr txBox="1"/>
          <p:nvPr/>
        </p:nvSpPr>
        <p:spPr>
          <a:xfrm>
            <a:off x="2086661" y="2914650"/>
            <a:ext cx="2360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4" name="TextBox 53"/>
          <p:cNvSpPr txBox="1"/>
          <p:nvPr/>
        </p:nvSpPr>
        <p:spPr>
          <a:xfrm>
            <a:off x="4485437" y="2914650"/>
            <a:ext cx="118282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55" name="Oval 54"/>
          <p:cNvSpPr/>
          <p:nvPr/>
        </p:nvSpPr>
        <p:spPr>
          <a:xfrm>
            <a:off x="6154759"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7203948"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253137"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9302327"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9382125" y="3009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903121" y="29146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1" name="TextBox 60"/>
          <p:cNvSpPr txBox="1"/>
          <p:nvPr/>
        </p:nvSpPr>
        <p:spPr>
          <a:xfrm>
            <a:off x="10952311" y="29146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2" name="Connector 61"/>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85750" y="32766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KAESER KOMPRESSOREN</a:t>
            </a:r>
          </a:p>
        </p:txBody>
      </p:sp>
      <p:sp>
        <p:nvSpPr>
          <p:cNvPr id="65" name="TextBox 64"/>
          <p:cNvSpPr txBox="1"/>
          <p:nvPr/>
        </p:nvSpPr>
        <p:spPr>
          <a:xfrm>
            <a:off x="285750" y="34385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6" name="TextBox 65"/>
          <p:cNvSpPr txBox="1"/>
          <p:nvPr/>
        </p:nvSpPr>
        <p:spPr>
          <a:xfrm>
            <a:off x="2086661" y="3257550"/>
            <a:ext cx="2360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7" name="TextBox 66"/>
          <p:cNvSpPr txBox="1"/>
          <p:nvPr/>
        </p:nvSpPr>
        <p:spPr>
          <a:xfrm>
            <a:off x="4485437" y="3257550"/>
            <a:ext cx="118282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68" name="Oval 67"/>
          <p:cNvSpPr/>
          <p:nvPr/>
        </p:nvSpPr>
        <p:spPr>
          <a:xfrm>
            <a:off x="6154759"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6229350"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7203948"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8253137"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9302327"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9382125" y="3352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903121" y="32575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5" name="TextBox 74"/>
          <p:cNvSpPr txBox="1"/>
          <p:nvPr/>
        </p:nvSpPr>
        <p:spPr>
          <a:xfrm>
            <a:off x="10952311" y="32575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76" name="Connector 75"/>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7" name="Rectangle 76"/>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85750" y="36195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Gardner Denver</a:t>
            </a:r>
          </a:p>
        </p:txBody>
      </p:sp>
      <p:sp>
        <p:nvSpPr>
          <p:cNvPr id="79" name="TextBox 78"/>
          <p:cNvSpPr txBox="1"/>
          <p:nvPr/>
        </p:nvSpPr>
        <p:spPr>
          <a:xfrm>
            <a:off x="285750" y="37814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0" name="TextBox 79"/>
          <p:cNvSpPr txBox="1"/>
          <p:nvPr/>
        </p:nvSpPr>
        <p:spPr>
          <a:xfrm>
            <a:off x="2086661" y="3600450"/>
            <a:ext cx="2360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1" name="TextBox 80"/>
          <p:cNvSpPr txBox="1"/>
          <p:nvPr/>
        </p:nvSpPr>
        <p:spPr>
          <a:xfrm>
            <a:off x="4485437" y="3600450"/>
            <a:ext cx="118282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82" name="Oval 81"/>
          <p:cNvSpPr/>
          <p:nvPr/>
        </p:nvSpPr>
        <p:spPr>
          <a:xfrm>
            <a:off x="6154759"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6229350"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7203948"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7277100"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825313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8324850" y="3695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930232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9382125"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903121" y="36004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1" name="TextBox 90"/>
          <p:cNvSpPr txBox="1"/>
          <p:nvPr/>
        </p:nvSpPr>
        <p:spPr>
          <a:xfrm>
            <a:off x="10952311" y="36004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2" name="Connector 91"/>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3" name="Rectangle 92"/>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85750" y="39624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ELGi Equipments</a:t>
            </a:r>
          </a:p>
        </p:txBody>
      </p:sp>
      <p:sp>
        <p:nvSpPr>
          <p:cNvPr id="95" name="TextBox 94"/>
          <p:cNvSpPr txBox="1"/>
          <p:nvPr/>
        </p:nvSpPr>
        <p:spPr>
          <a:xfrm>
            <a:off x="285750" y="41243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96" name="TextBox 95"/>
          <p:cNvSpPr txBox="1"/>
          <p:nvPr/>
        </p:nvSpPr>
        <p:spPr>
          <a:xfrm>
            <a:off x="2086661" y="3943350"/>
            <a:ext cx="2360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7" name="TextBox 96"/>
          <p:cNvSpPr txBox="1"/>
          <p:nvPr/>
        </p:nvSpPr>
        <p:spPr>
          <a:xfrm>
            <a:off x="4485437" y="3943350"/>
            <a:ext cx="118282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98" name="Oval 97"/>
          <p:cNvSpPr/>
          <p:nvPr/>
        </p:nvSpPr>
        <p:spPr>
          <a:xfrm>
            <a:off x="6154759"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Freeform 98"/>
          <p:cNvSpPr/>
          <p:nvPr/>
        </p:nvSpPr>
        <p:spPr>
          <a:xfrm>
            <a:off x="6229350"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7203948"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reeform 100"/>
          <p:cNvSpPr/>
          <p:nvPr/>
        </p:nvSpPr>
        <p:spPr>
          <a:xfrm>
            <a:off x="7277100"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253137"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8324850" y="40386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302327"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9382125" y="4038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903121" y="39433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7" name="TextBox 106"/>
          <p:cNvSpPr txBox="1"/>
          <p:nvPr/>
        </p:nvSpPr>
        <p:spPr>
          <a:xfrm>
            <a:off x="10952311" y="39433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08" name="Connector 107"/>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85750" y="43053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Kaishan Group</a:t>
            </a:r>
          </a:p>
        </p:txBody>
      </p:sp>
      <p:sp>
        <p:nvSpPr>
          <p:cNvPr id="111" name="TextBox 110"/>
          <p:cNvSpPr txBox="1"/>
          <p:nvPr/>
        </p:nvSpPr>
        <p:spPr>
          <a:xfrm>
            <a:off x="285750" y="44672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2" name="TextBox 111"/>
          <p:cNvSpPr txBox="1"/>
          <p:nvPr/>
        </p:nvSpPr>
        <p:spPr>
          <a:xfrm>
            <a:off x="2086661" y="4286250"/>
            <a:ext cx="2360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3" name="TextBox 112"/>
          <p:cNvSpPr txBox="1"/>
          <p:nvPr/>
        </p:nvSpPr>
        <p:spPr>
          <a:xfrm>
            <a:off x="4485437" y="4286250"/>
            <a:ext cx="118282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14" name="Oval 113"/>
          <p:cNvSpPr/>
          <p:nvPr/>
        </p:nvSpPr>
        <p:spPr>
          <a:xfrm>
            <a:off x="6154759"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6229350"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7203948"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Freeform 116"/>
          <p:cNvSpPr/>
          <p:nvPr/>
        </p:nvSpPr>
        <p:spPr>
          <a:xfrm>
            <a:off x="7277100" y="43815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825313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Freeform 118"/>
          <p:cNvSpPr/>
          <p:nvPr/>
        </p:nvSpPr>
        <p:spPr>
          <a:xfrm>
            <a:off x="8324850" y="43815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930232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Freeform 120"/>
          <p:cNvSpPr/>
          <p:nvPr/>
        </p:nvSpPr>
        <p:spPr>
          <a:xfrm>
            <a:off x="9382125" y="4381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903121" y="42862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3" name="TextBox 122"/>
          <p:cNvSpPr txBox="1"/>
          <p:nvPr/>
        </p:nvSpPr>
        <p:spPr>
          <a:xfrm>
            <a:off x="10952311" y="42862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4" name="Connector 123"/>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5" name="Rectangle 124"/>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85750" y="46482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BOGE KOMPRESSOREN</a:t>
            </a:r>
          </a:p>
        </p:txBody>
      </p:sp>
      <p:sp>
        <p:nvSpPr>
          <p:cNvPr id="127" name="TextBox 126"/>
          <p:cNvSpPr txBox="1"/>
          <p:nvPr/>
        </p:nvSpPr>
        <p:spPr>
          <a:xfrm>
            <a:off x="285750" y="48101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8" name="TextBox 127"/>
          <p:cNvSpPr txBox="1"/>
          <p:nvPr/>
        </p:nvSpPr>
        <p:spPr>
          <a:xfrm>
            <a:off x="2086661" y="4629150"/>
            <a:ext cx="2360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9" name="TextBox 128"/>
          <p:cNvSpPr txBox="1"/>
          <p:nvPr/>
        </p:nvSpPr>
        <p:spPr>
          <a:xfrm>
            <a:off x="4485437" y="4629150"/>
            <a:ext cx="118282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30" name="Oval 129"/>
          <p:cNvSpPr/>
          <p:nvPr/>
        </p:nvSpPr>
        <p:spPr>
          <a:xfrm>
            <a:off x="6154759"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6229350" y="4724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7203948"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Freeform 132"/>
          <p:cNvSpPr/>
          <p:nvPr/>
        </p:nvSpPr>
        <p:spPr>
          <a:xfrm>
            <a:off x="7277100"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8253137"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Freeform 134"/>
          <p:cNvSpPr/>
          <p:nvPr/>
        </p:nvSpPr>
        <p:spPr>
          <a:xfrm>
            <a:off x="8324850" y="47244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9302327"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9382125" y="47244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9903121" y="46291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9" name="TextBox 138"/>
          <p:cNvSpPr txBox="1"/>
          <p:nvPr/>
        </p:nvSpPr>
        <p:spPr>
          <a:xfrm>
            <a:off x="10952311" y="46291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40" name="Connector 139"/>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1" name="Rectangle 140"/>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285750" y="49911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ANEST IWATA</a:t>
            </a:r>
          </a:p>
        </p:txBody>
      </p:sp>
      <p:sp>
        <p:nvSpPr>
          <p:cNvPr id="143" name="TextBox 142"/>
          <p:cNvSpPr txBox="1"/>
          <p:nvPr/>
        </p:nvSpPr>
        <p:spPr>
          <a:xfrm>
            <a:off x="285750" y="51530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4" name="TextBox 143"/>
          <p:cNvSpPr txBox="1"/>
          <p:nvPr/>
        </p:nvSpPr>
        <p:spPr>
          <a:xfrm>
            <a:off x="2086661" y="4972050"/>
            <a:ext cx="2360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5" name="TextBox 144"/>
          <p:cNvSpPr txBox="1"/>
          <p:nvPr/>
        </p:nvSpPr>
        <p:spPr>
          <a:xfrm>
            <a:off x="4485437" y="4972050"/>
            <a:ext cx="118282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46" name="Oval 145"/>
          <p:cNvSpPr/>
          <p:nvPr/>
        </p:nvSpPr>
        <p:spPr>
          <a:xfrm>
            <a:off x="6154759"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6229350" y="5067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7203948"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Freeform 148"/>
          <p:cNvSpPr/>
          <p:nvPr/>
        </p:nvSpPr>
        <p:spPr>
          <a:xfrm>
            <a:off x="7277100"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8253137"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Freeform 150"/>
          <p:cNvSpPr/>
          <p:nvPr/>
        </p:nvSpPr>
        <p:spPr>
          <a:xfrm>
            <a:off x="8324850" y="50673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9302327"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Freeform 152"/>
          <p:cNvSpPr/>
          <p:nvPr/>
        </p:nvSpPr>
        <p:spPr>
          <a:xfrm>
            <a:off x="9382125" y="50673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9903121" y="49720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55" name="TextBox 154"/>
          <p:cNvSpPr txBox="1"/>
          <p:nvPr/>
        </p:nvSpPr>
        <p:spPr>
          <a:xfrm>
            <a:off x="10952311" y="49720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56" name="Connector 155"/>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7" name="Rectangle 156"/>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285750" y="53340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Quincy Compressor</a:t>
            </a:r>
          </a:p>
        </p:txBody>
      </p:sp>
      <p:sp>
        <p:nvSpPr>
          <p:cNvPr id="159" name="TextBox 158"/>
          <p:cNvSpPr txBox="1"/>
          <p:nvPr/>
        </p:nvSpPr>
        <p:spPr>
          <a:xfrm>
            <a:off x="285750" y="54959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60" name="TextBox 159"/>
          <p:cNvSpPr txBox="1"/>
          <p:nvPr/>
        </p:nvSpPr>
        <p:spPr>
          <a:xfrm>
            <a:off x="2086661" y="5314950"/>
            <a:ext cx="236067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61" name="TextBox 160"/>
          <p:cNvSpPr txBox="1"/>
          <p:nvPr/>
        </p:nvSpPr>
        <p:spPr>
          <a:xfrm>
            <a:off x="4485437" y="5314950"/>
            <a:ext cx="118282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62" name="Oval 161"/>
          <p:cNvSpPr/>
          <p:nvPr/>
        </p:nvSpPr>
        <p:spPr>
          <a:xfrm>
            <a:off x="6154759"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Freeform 162"/>
          <p:cNvSpPr/>
          <p:nvPr/>
        </p:nvSpPr>
        <p:spPr>
          <a:xfrm>
            <a:off x="6229350" y="5410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7203948"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Freeform 164"/>
          <p:cNvSpPr/>
          <p:nvPr/>
        </p:nvSpPr>
        <p:spPr>
          <a:xfrm>
            <a:off x="7277100" y="54102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8253137"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Freeform 166"/>
          <p:cNvSpPr/>
          <p:nvPr/>
        </p:nvSpPr>
        <p:spPr>
          <a:xfrm>
            <a:off x="8324850" y="54102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9302327"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Freeform 168"/>
          <p:cNvSpPr/>
          <p:nvPr/>
        </p:nvSpPr>
        <p:spPr>
          <a:xfrm>
            <a:off x="9382125" y="54102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9903121" y="53149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71" name="TextBox 170"/>
          <p:cNvSpPr txBox="1"/>
          <p:nvPr/>
        </p:nvSpPr>
        <p:spPr>
          <a:xfrm>
            <a:off x="10952311" y="5314950"/>
            <a:ext cx="104918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72" name="Connector 171"/>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3" name="Oval 172"/>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75" name="Oval 174"/>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Freeform 175"/>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78" name="Oval 177"/>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Freeform 178"/>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81" name="Oval 180"/>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83" name="TextBox 182"/>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84" name="TextBox 183"/>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of 10 named players compete globally; scale and share follow the tier structure.</a:t>
            </a:r>
          </a:p>
        </p:txBody>
      </p:sp>
      <p:sp>
        <p:nvSpPr>
          <p:cNvPr id="185" name="Rectangle 18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187" name="TextBox 186"/>
          <p:cNvSpPr txBox="1"/>
          <p:nvPr/>
        </p:nvSpPr>
        <p:spPr>
          <a:xfrm>
            <a:off x="8920607" y="1666875"/>
            <a:ext cx="398983" cy="186689"/>
          </a:xfrm>
          <a:prstGeom prst="rect">
            <a:avLst/>
          </a:prstGeom>
          <a:noFill/>
        </p:spPr>
        <p:txBody>
          <a:bodyPr wrap="none" lIns="0" rIns="0" tIns="0" bIns="0">
            <a:spAutoFit/>
          </a:bodyPr>
          <a:lstStyle/>
          <a:p>
            <a:r>
              <a:rPr sz="1100" b="0">
                <a:solidFill>
                  <a:srgbClr val="5F6B7A"/>
                </a:solidFill>
                <a:latin typeface="Calibri"/>
              </a:rPr>
              <a:t>Share</a:t>
            </a:r>
          </a:p>
        </p:txBody>
      </p:sp>
      <p:pic>
        <p:nvPicPr>
          <p:cNvPr id="188" name="Picture 187" descr="lock.png"/>
          <p:cNvPicPr>
            <a:picLocks noChangeAspect="1"/>
          </p:cNvPicPr>
          <p:nvPr/>
        </p:nvPicPr>
        <p:blipFill>
          <a:blip r:embed="rId4"/>
          <a:stretch>
            <a:fillRect/>
          </a:stretch>
        </p:blipFill>
        <p:spPr>
          <a:xfrm>
            <a:off x="9267641" y="1657096"/>
            <a:ext cx="128699" cy="187198"/>
          </a:xfrm>
          <a:prstGeom prst="rect">
            <a:avLst/>
          </a:prstGeom>
        </p:spPr>
      </p:pic>
      <p:sp>
        <p:nvSpPr>
          <p:cNvPr id="189" name="TextBox 188"/>
          <p:cNvSpPr txBox="1"/>
          <p:nvPr/>
        </p:nvSpPr>
        <p:spPr>
          <a:xfrm>
            <a:off x="9435137" y="1666875"/>
            <a:ext cx="384522" cy="186689"/>
          </a:xfrm>
          <a:prstGeom prst="rect">
            <a:avLst/>
          </a:prstGeom>
          <a:noFill/>
        </p:spPr>
        <p:txBody>
          <a:bodyPr wrap="none" lIns="0" rIns="0" tIns="0" bIns="0">
            <a:spAutoFit/>
          </a:bodyPr>
          <a:lstStyle/>
          <a:p>
            <a:r>
              <a:rPr sz="1100" b="0">
                <a:solidFill>
                  <a:srgbClr val="5F6B7A"/>
                </a:solidFill>
                <a:latin typeface="Calibri"/>
              </a:rPr>
              <a:t>+ = 3,</a:t>
            </a:r>
          </a:p>
        </p:txBody>
      </p:sp>
      <p:pic>
        <p:nvPicPr>
          <p:cNvPr id="190" name="Picture 189" descr="lock.png"/>
          <p:cNvPicPr>
            <a:picLocks noChangeAspect="1"/>
          </p:cNvPicPr>
          <p:nvPr/>
        </p:nvPicPr>
        <p:blipFill>
          <a:blip r:embed="rId4"/>
          <a:stretch>
            <a:fillRect/>
          </a:stretch>
        </p:blipFill>
        <p:spPr>
          <a:xfrm>
            <a:off x="8907139" y="1824736"/>
            <a:ext cx="128699" cy="187198"/>
          </a:xfrm>
          <a:prstGeom prst="rect">
            <a:avLst/>
          </a:prstGeom>
        </p:spPr>
      </p:pic>
      <p:sp>
        <p:nvSpPr>
          <p:cNvPr id="191" name="TextBox 190"/>
          <p:cNvSpPr txBox="1"/>
          <p:nvPr/>
        </p:nvSpPr>
        <p:spPr>
          <a:xfrm>
            <a:off x="9074635" y="1834515"/>
            <a:ext cx="643458" cy="186689"/>
          </a:xfrm>
          <a:prstGeom prst="rect">
            <a:avLst/>
          </a:prstGeom>
          <a:noFill/>
        </p:spPr>
        <p:txBody>
          <a:bodyPr wrap="none" lIns="0" rIns="0" tIns="0" bIns="0">
            <a:spAutoFit/>
          </a:bodyPr>
          <a:lstStyle/>
          <a:p>
            <a:r>
              <a:rPr sz="1100" b="0">
                <a:solidFill>
                  <a:srgbClr val="5F6B7A"/>
                </a:solidFill>
                <a:latin typeface="Calibri"/>
              </a:rPr>
              <a:t>= 2, else 1</a:t>
            </a:r>
          </a:p>
        </p:txBody>
      </p:sp>
      <p:pic>
        <p:nvPicPr>
          <p:cNvPr id="192" name="Picture 191" descr="lock.png"/>
          <p:cNvPicPr>
            <a:picLocks noChangeAspect="1"/>
          </p:cNvPicPr>
          <p:nvPr/>
        </p:nvPicPr>
        <p:blipFill>
          <a:blip r:embed="rId4"/>
          <a:stretch>
            <a:fillRect/>
          </a:stretch>
        </p:blipFill>
        <p:spPr>
          <a:xfrm>
            <a:off x="3202649" y="2306701"/>
            <a:ext cx="128699" cy="187198"/>
          </a:xfrm>
          <a:prstGeom prst="rect">
            <a:avLst/>
          </a:prstGeom>
        </p:spPr>
      </p:pic>
      <p:pic>
        <p:nvPicPr>
          <p:cNvPr id="193" name="Picture 192" descr="lock.png"/>
          <p:cNvPicPr>
            <a:picLocks noChangeAspect="1"/>
          </p:cNvPicPr>
          <p:nvPr/>
        </p:nvPicPr>
        <p:blipFill>
          <a:blip r:embed="rId4"/>
          <a:stretch>
            <a:fillRect/>
          </a:stretch>
        </p:blipFill>
        <p:spPr>
          <a:xfrm>
            <a:off x="10363366" y="2306701"/>
            <a:ext cx="128699" cy="187198"/>
          </a:xfrm>
          <a:prstGeom prst="rect">
            <a:avLst/>
          </a:prstGeom>
        </p:spPr>
      </p:pic>
      <p:pic>
        <p:nvPicPr>
          <p:cNvPr id="194" name="Picture 193" descr="lock.png"/>
          <p:cNvPicPr>
            <a:picLocks noChangeAspect="1"/>
          </p:cNvPicPr>
          <p:nvPr/>
        </p:nvPicPr>
        <p:blipFill>
          <a:blip r:embed="rId4"/>
          <a:stretch>
            <a:fillRect/>
          </a:stretch>
        </p:blipFill>
        <p:spPr>
          <a:xfrm>
            <a:off x="11412556" y="2306701"/>
            <a:ext cx="128699" cy="187198"/>
          </a:xfrm>
          <a:prstGeom prst="rect">
            <a:avLst/>
          </a:prstGeom>
        </p:spPr>
      </p:pic>
      <p:pic>
        <p:nvPicPr>
          <p:cNvPr id="195" name="Picture 194" descr="lock.png"/>
          <p:cNvPicPr>
            <a:picLocks noChangeAspect="1"/>
          </p:cNvPicPr>
          <p:nvPr/>
        </p:nvPicPr>
        <p:blipFill>
          <a:blip r:embed="rId4"/>
          <a:stretch>
            <a:fillRect/>
          </a:stretch>
        </p:blipFill>
        <p:spPr>
          <a:xfrm>
            <a:off x="3202649" y="2649601"/>
            <a:ext cx="128699" cy="187198"/>
          </a:xfrm>
          <a:prstGeom prst="rect">
            <a:avLst/>
          </a:prstGeom>
        </p:spPr>
      </p:pic>
      <p:pic>
        <p:nvPicPr>
          <p:cNvPr id="196" name="Picture 195" descr="lock.png"/>
          <p:cNvPicPr>
            <a:picLocks noChangeAspect="1"/>
          </p:cNvPicPr>
          <p:nvPr/>
        </p:nvPicPr>
        <p:blipFill>
          <a:blip r:embed="rId4"/>
          <a:stretch>
            <a:fillRect/>
          </a:stretch>
        </p:blipFill>
        <p:spPr>
          <a:xfrm>
            <a:off x="10363366" y="2649601"/>
            <a:ext cx="128699" cy="187198"/>
          </a:xfrm>
          <a:prstGeom prst="rect">
            <a:avLst/>
          </a:prstGeom>
        </p:spPr>
      </p:pic>
      <p:pic>
        <p:nvPicPr>
          <p:cNvPr id="197" name="Picture 196" descr="lock.png"/>
          <p:cNvPicPr>
            <a:picLocks noChangeAspect="1"/>
          </p:cNvPicPr>
          <p:nvPr/>
        </p:nvPicPr>
        <p:blipFill>
          <a:blip r:embed="rId4"/>
          <a:stretch>
            <a:fillRect/>
          </a:stretch>
        </p:blipFill>
        <p:spPr>
          <a:xfrm>
            <a:off x="11412556" y="2649601"/>
            <a:ext cx="128699" cy="187198"/>
          </a:xfrm>
          <a:prstGeom prst="rect">
            <a:avLst/>
          </a:prstGeom>
        </p:spPr>
      </p:pic>
      <p:pic>
        <p:nvPicPr>
          <p:cNvPr id="198" name="Picture 197" descr="lock.png"/>
          <p:cNvPicPr>
            <a:picLocks noChangeAspect="1"/>
          </p:cNvPicPr>
          <p:nvPr/>
        </p:nvPicPr>
        <p:blipFill>
          <a:blip r:embed="rId4"/>
          <a:stretch>
            <a:fillRect/>
          </a:stretch>
        </p:blipFill>
        <p:spPr>
          <a:xfrm>
            <a:off x="3202649" y="2992501"/>
            <a:ext cx="128699" cy="187198"/>
          </a:xfrm>
          <a:prstGeom prst="rect">
            <a:avLst/>
          </a:prstGeom>
        </p:spPr>
      </p:pic>
      <p:pic>
        <p:nvPicPr>
          <p:cNvPr id="199" name="Picture 198" descr="lock.png"/>
          <p:cNvPicPr>
            <a:picLocks noChangeAspect="1"/>
          </p:cNvPicPr>
          <p:nvPr/>
        </p:nvPicPr>
        <p:blipFill>
          <a:blip r:embed="rId4"/>
          <a:stretch>
            <a:fillRect/>
          </a:stretch>
        </p:blipFill>
        <p:spPr>
          <a:xfrm>
            <a:off x="10363366" y="2992501"/>
            <a:ext cx="128699" cy="187198"/>
          </a:xfrm>
          <a:prstGeom prst="rect">
            <a:avLst/>
          </a:prstGeom>
        </p:spPr>
      </p:pic>
      <p:pic>
        <p:nvPicPr>
          <p:cNvPr id="200" name="Picture 199" descr="lock.png"/>
          <p:cNvPicPr>
            <a:picLocks noChangeAspect="1"/>
          </p:cNvPicPr>
          <p:nvPr/>
        </p:nvPicPr>
        <p:blipFill>
          <a:blip r:embed="rId4"/>
          <a:stretch>
            <a:fillRect/>
          </a:stretch>
        </p:blipFill>
        <p:spPr>
          <a:xfrm>
            <a:off x="11412556" y="2992501"/>
            <a:ext cx="128699" cy="187198"/>
          </a:xfrm>
          <a:prstGeom prst="rect">
            <a:avLst/>
          </a:prstGeom>
        </p:spPr>
      </p:pic>
      <p:pic>
        <p:nvPicPr>
          <p:cNvPr id="201" name="Picture 200" descr="lock.png"/>
          <p:cNvPicPr>
            <a:picLocks noChangeAspect="1"/>
          </p:cNvPicPr>
          <p:nvPr/>
        </p:nvPicPr>
        <p:blipFill>
          <a:blip r:embed="rId4"/>
          <a:stretch>
            <a:fillRect/>
          </a:stretch>
        </p:blipFill>
        <p:spPr>
          <a:xfrm>
            <a:off x="3202649" y="3335401"/>
            <a:ext cx="128699" cy="187198"/>
          </a:xfrm>
          <a:prstGeom prst="rect">
            <a:avLst/>
          </a:prstGeom>
        </p:spPr>
      </p:pic>
      <p:pic>
        <p:nvPicPr>
          <p:cNvPr id="202" name="Picture 201" descr="lock.png"/>
          <p:cNvPicPr>
            <a:picLocks noChangeAspect="1"/>
          </p:cNvPicPr>
          <p:nvPr/>
        </p:nvPicPr>
        <p:blipFill>
          <a:blip r:embed="rId4"/>
          <a:stretch>
            <a:fillRect/>
          </a:stretch>
        </p:blipFill>
        <p:spPr>
          <a:xfrm>
            <a:off x="10363366" y="3335401"/>
            <a:ext cx="128699" cy="187198"/>
          </a:xfrm>
          <a:prstGeom prst="rect">
            <a:avLst/>
          </a:prstGeom>
        </p:spPr>
      </p:pic>
      <p:pic>
        <p:nvPicPr>
          <p:cNvPr id="203" name="Picture 202" descr="lock.png"/>
          <p:cNvPicPr>
            <a:picLocks noChangeAspect="1"/>
          </p:cNvPicPr>
          <p:nvPr/>
        </p:nvPicPr>
        <p:blipFill>
          <a:blip r:embed="rId4"/>
          <a:stretch>
            <a:fillRect/>
          </a:stretch>
        </p:blipFill>
        <p:spPr>
          <a:xfrm>
            <a:off x="11412556" y="3335401"/>
            <a:ext cx="128699" cy="187198"/>
          </a:xfrm>
          <a:prstGeom prst="rect">
            <a:avLst/>
          </a:prstGeom>
        </p:spPr>
      </p:pic>
      <p:pic>
        <p:nvPicPr>
          <p:cNvPr id="204" name="Picture 203" descr="lock.png"/>
          <p:cNvPicPr>
            <a:picLocks noChangeAspect="1"/>
          </p:cNvPicPr>
          <p:nvPr/>
        </p:nvPicPr>
        <p:blipFill>
          <a:blip r:embed="rId4"/>
          <a:stretch>
            <a:fillRect/>
          </a:stretch>
        </p:blipFill>
        <p:spPr>
          <a:xfrm>
            <a:off x="3202649" y="3678301"/>
            <a:ext cx="128699" cy="187198"/>
          </a:xfrm>
          <a:prstGeom prst="rect">
            <a:avLst/>
          </a:prstGeom>
        </p:spPr>
      </p:pic>
      <p:pic>
        <p:nvPicPr>
          <p:cNvPr id="205" name="Picture 204" descr="lock.png"/>
          <p:cNvPicPr>
            <a:picLocks noChangeAspect="1"/>
          </p:cNvPicPr>
          <p:nvPr/>
        </p:nvPicPr>
        <p:blipFill>
          <a:blip r:embed="rId4"/>
          <a:stretch>
            <a:fillRect/>
          </a:stretch>
        </p:blipFill>
        <p:spPr>
          <a:xfrm>
            <a:off x="10363366" y="3678301"/>
            <a:ext cx="128699" cy="187198"/>
          </a:xfrm>
          <a:prstGeom prst="rect">
            <a:avLst/>
          </a:prstGeom>
        </p:spPr>
      </p:pic>
      <p:pic>
        <p:nvPicPr>
          <p:cNvPr id="206" name="Picture 205" descr="lock.png"/>
          <p:cNvPicPr>
            <a:picLocks noChangeAspect="1"/>
          </p:cNvPicPr>
          <p:nvPr/>
        </p:nvPicPr>
        <p:blipFill>
          <a:blip r:embed="rId4"/>
          <a:stretch>
            <a:fillRect/>
          </a:stretch>
        </p:blipFill>
        <p:spPr>
          <a:xfrm>
            <a:off x="11412556" y="3678301"/>
            <a:ext cx="128699" cy="187198"/>
          </a:xfrm>
          <a:prstGeom prst="rect">
            <a:avLst/>
          </a:prstGeom>
        </p:spPr>
      </p:pic>
      <p:pic>
        <p:nvPicPr>
          <p:cNvPr id="207" name="Picture 206" descr="lock.png"/>
          <p:cNvPicPr>
            <a:picLocks noChangeAspect="1"/>
          </p:cNvPicPr>
          <p:nvPr/>
        </p:nvPicPr>
        <p:blipFill>
          <a:blip r:embed="rId4"/>
          <a:stretch>
            <a:fillRect/>
          </a:stretch>
        </p:blipFill>
        <p:spPr>
          <a:xfrm>
            <a:off x="3202649" y="4021201"/>
            <a:ext cx="128699" cy="187198"/>
          </a:xfrm>
          <a:prstGeom prst="rect">
            <a:avLst/>
          </a:prstGeom>
        </p:spPr>
      </p:pic>
      <p:pic>
        <p:nvPicPr>
          <p:cNvPr id="208" name="Picture 207" descr="lock.png"/>
          <p:cNvPicPr>
            <a:picLocks noChangeAspect="1"/>
          </p:cNvPicPr>
          <p:nvPr/>
        </p:nvPicPr>
        <p:blipFill>
          <a:blip r:embed="rId4"/>
          <a:stretch>
            <a:fillRect/>
          </a:stretch>
        </p:blipFill>
        <p:spPr>
          <a:xfrm>
            <a:off x="10363366" y="4021201"/>
            <a:ext cx="128699" cy="187198"/>
          </a:xfrm>
          <a:prstGeom prst="rect">
            <a:avLst/>
          </a:prstGeom>
        </p:spPr>
      </p:pic>
      <p:pic>
        <p:nvPicPr>
          <p:cNvPr id="209" name="Picture 208" descr="lock.png"/>
          <p:cNvPicPr>
            <a:picLocks noChangeAspect="1"/>
          </p:cNvPicPr>
          <p:nvPr/>
        </p:nvPicPr>
        <p:blipFill>
          <a:blip r:embed="rId4"/>
          <a:stretch>
            <a:fillRect/>
          </a:stretch>
        </p:blipFill>
        <p:spPr>
          <a:xfrm>
            <a:off x="11412556" y="4021201"/>
            <a:ext cx="128699" cy="187198"/>
          </a:xfrm>
          <a:prstGeom prst="rect">
            <a:avLst/>
          </a:prstGeom>
        </p:spPr>
      </p:pic>
      <p:pic>
        <p:nvPicPr>
          <p:cNvPr id="210" name="Picture 209" descr="lock.png"/>
          <p:cNvPicPr>
            <a:picLocks noChangeAspect="1"/>
          </p:cNvPicPr>
          <p:nvPr/>
        </p:nvPicPr>
        <p:blipFill>
          <a:blip r:embed="rId4"/>
          <a:stretch>
            <a:fillRect/>
          </a:stretch>
        </p:blipFill>
        <p:spPr>
          <a:xfrm>
            <a:off x="3202649" y="4364101"/>
            <a:ext cx="128699" cy="187198"/>
          </a:xfrm>
          <a:prstGeom prst="rect">
            <a:avLst/>
          </a:prstGeom>
        </p:spPr>
      </p:pic>
      <p:pic>
        <p:nvPicPr>
          <p:cNvPr id="211" name="Picture 210" descr="lock.png"/>
          <p:cNvPicPr>
            <a:picLocks noChangeAspect="1"/>
          </p:cNvPicPr>
          <p:nvPr/>
        </p:nvPicPr>
        <p:blipFill>
          <a:blip r:embed="rId4"/>
          <a:stretch>
            <a:fillRect/>
          </a:stretch>
        </p:blipFill>
        <p:spPr>
          <a:xfrm>
            <a:off x="10363366" y="4364101"/>
            <a:ext cx="128699" cy="187198"/>
          </a:xfrm>
          <a:prstGeom prst="rect">
            <a:avLst/>
          </a:prstGeom>
        </p:spPr>
      </p:pic>
      <p:pic>
        <p:nvPicPr>
          <p:cNvPr id="212" name="Picture 211" descr="lock.png"/>
          <p:cNvPicPr>
            <a:picLocks noChangeAspect="1"/>
          </p:cNvPicPr>
          <p:nvPr/>
        </p:nvPicPr>
        <p:blipFill>
          <a:blip r:embed="rId4"/>
          <a:stretch>
            <a:fillRect/>
          </a:stretch>
        </p:blipFill>
        <p:spPr>
          <a:xfrm>
            <a:off x="11412556" y="4364101"/>
            <a:ext cx="128699" cy="187198"/>
          </a:xfrm>
          <a:prstGeom prst="rect">
            <a:avLst/>
          </a:prstGeom>
        </p:spPr>
      </p:pic>
      <p:pic>
        <p:nvPicPr>
          <p:cNvPr id="213" name="Picture 212" descr="lock.png"/>
          <p:cNvPicPr>
            <a:picLocks noChangeAspect="1"/>
          </p:cNvPicPr>
          <p:nvPr/>
        </p:nvPicPr>
        <p:blipFill>
          <a:blip r:embed="rId4"/>
          <a:stretch>
            <a:fillRect/>
          </a:stretch>
        </p:blipFill>
        <p:spPr>
          <a:xfrm>
            <a:off x="3202649" y="4707001"/>
            <a:ext cx="128699" cy="187198"/>
          </a:xfrm>
          <a:prstGeom prst="rect">
            <a:avLst/>
          </a:prstGeom>
        </p:spPr>
      </p:pic>
      <p:pic>
        <p:nvPicPr>
          <p:cNvPr id="214" name="Picture 213" descr="lock.png"/>
          <p:cNvPicPr>
            <a:picLocks noChangeAspect="1"/>
          </p:cNvPicPr>
          <p:nvPr/>
        </p:nvPicPr>
        <p:blipFill>
          <a:blip r:embed="rId4"/>
          <a:stretch>
            <a:fillRect/>
          </a:stretch>
        </p:blipFill>
        <p:spPr>
          <a:xfrm>
            <a:off x="10363366" y="4707001"/>
            <a:ext cx="128699" cy="187198"/>
          </a:xfrm>
          <a:prstGeom prst="rect">
            <a:avLst/>
          </a:prstGeom>
        </p:spPr>
      </p:pic>
      <p:pic>
        <p:nvPicPr>
          <p:cNvPr id="215" name="Picture 214" descr="lock.png"/>
          <p:cNvPicPr>
            <a:picLocks noChangeAspect="1"/>
          </p:cNvPicPr>
          <p:nvPr/>
        </p:nvPicPr>
        <p:blipFill>
          <a:blip r:embed="rId4"/>
          <a:stretch>
            <a:fillRect/>
          </a:stretch>
        </p:blipFill>
        <p:spPr>
          <a:xfrm>
            <a:off x="11412556" y="4707001"/>
            <a:ext cx="128699" cy="187198"/>
          </a:xfrm>
          <a:prstGeom prst="rect">
            <a:avLst/>
          </a:prstGeom>
        </p:spPr>
      </p:pic>
      <p:pic>
        <p:nvPicPr>
          <p:cNvPr id="216" name="Picture 215" descr="lock.png"/>
          <p:cNvPicPr>
            <a:picLocks noChangeAspect="1"/>
          </p:cNvPicPr>
          <p:nvPr/>
        </p:nvPicPr>
        <p:blipFill>
          <a:blip r:embed="rId4"/>
          <a:stretch>
            <a:fillRect/>
          </a:stretch>
        </p:blipFill>
        <p:spPr>
          <a:xfrm>
            <a:off x="3202649" y="5049901"/>
            <a:ext cx="128699" cy="187198"/>
          </a:xfrm>
          <a:prstGeom prst="rect">
            <a:avLst/>
          </a:prstGeom>
        </p:spPr>
      </p:pic>
      <p:pic>
        <p:nvPicPr>
          <p:cNvPr id="217" name="Picture 216" descr="lock.png"/>
          <p:cNvPicPr>
            <a:picLocks noChangeAspect="1"/>
          </p:cNvPicPr>
          <p:nvPr/>
        </p:nvPicPr>
        <p:blipFill>
          <a:blip r:embed="rId4"/>
          <a:stretch>
            <a:fillRect/>
          </a:stretch>
        </p:blipFill>
        <p:spPr>
          <a:xfrm>
            <a:off x="10363366" y="5049901"/>
            <a:ext cx="128699" cy="187198"/>
          </a:xfrm>
          <a:prstGeom prst="rect">
            <a:avLst/>
          </a:prstGeom>
        </p:spPr>
      </p:pic>
      <p:pic>
        <p:nvPicPr>
          <p:cNvPr id="218" name="Picture 217" descr="lock.png"/>
          <p:cNvPicPr>
            <a:picLocks noChangeAspect="1"/>
          </p:cNvPicPr>
          <p:nvPr/>
        </p:nvPicPr>
        <p:blipFill>
          <a:blip r:embed="rId4"/>
          <a:stretch>
            <a:fillRect/>
          </a:stretch>
        </p:blipFill>
        <p:spPr>
          <a:xfrm>
            <a:off x="11412556" y="5049901"/>
            <a:ext cx="128699" cy="187198"/>
          </a:xfrm>
          <a:prstGeom prst="rect">
            <a:avLst/>
          </a:prstGeom>
        </p:spPr>
      </p:pic>
      <p:pic>
        <p:nvPicPr>
          <p:cNvPr id="219" name="Picture 218" descr="lock.png"/>
          <p:cNvPicPr>
            <a:picLocks noChangeAspect="1"/>
          </p:cNvPicPr>
          <p:nvPr/>
        </p:nvPicPr>
        <p:blipFill>
          <a:blip r:embed="rId4"/>
          <a:stretch>
            <a:fillRect/>
          </a:stretch>
        </p:blipFill>
        <p:spPr>
          <a:xfrm>
            <a:off x="3202649" y="5392801"/>
            <a:ext cx="128699" cy="187198"/>
          </a:xfrm>
          <a:prstGeom prst="rect">
            <a:avLst/>
          </a:prstGeom>
        </p:spPr>
      </p:pic>
      <p:pic>
        <p:nvPicPr>
          <p:cNvPr id="220" name="Picture 219" descr="lock.png"/>
          <p:cNvPicPr>
            <a:picLocks noChangeAspect="1"/>
          </p:cNvPicPr>
          <p:nvPr/>
        </p:nvPicPr>
        <p:blipFill>
          <a:blip r:embed="rId4"/>
          <a:stretch>
            <a:fillRect/>
          </a:stretch>
        </p:blipFill>
        <p:spPr>
          <a:xfrm>
            <a:off x="10363366" y="5392801"/>
            <a:ext cx="128699" cy="187198"/>
          </a:xfrm>
          <a:prstGeom prst="rect">
            <a:avLst/>
          </a:prstGeom>
        </p:spPr>
      </p:pic>
      <p:pic>
        <p:nvPicPr>
          <p:cNvPr id="221" name="Picture 220" descr="lock.png"/>
          <p:cNvPicPr>
            <a:picLocks noChangeAspect="1"/>
          </p:cNvPicPr>
          <p:nvPr/>
        </p:nvPicPr>
        <p:blipFill>
          <a:blip r:embed="rId4"/>
          <a:stretch>
            <a:fillRect/>
          </a:stretch>
        </p:blipFill>
        <p:spPr>
          <a:xfrm>
            <a:off x="11412556" y="5392801"/>
            <a:ext cx="128699" cy="187198"/>
          </a:xfrm>
          <a:prstGeom prst="rect">
            <a:avLst/>
          </a:prstGeom>
        </p:spPr>
      </p:pic>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Offering Scorecard: What They Sell</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Six offering Ps: product, technology, price and model, verticals, proof and IP</a:t>
            </a:r>
          </a:p>
        </p:txBody>
      </p:sp>
      <p:sp>
        <p:nvSpPr>
          <p:cNvPr id="7" name="Rectangle 6"/>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2, OFFERING: WHAT THEY SELL</a:t>
            </a:r>
          </a:p>
        </p:txBody>
      </p:sp>
      <p:sp>
        <p:nvSpPr>
          <p:cNvPr id="9" name="TextBox 8"/>
          <p:cNvSpPr txBox="1"/>
          <p:nvPr/>
        </p:nvSpPr>
        <p:spPr>
          <a:xfrm>
            <a:off x="2124761" y="1295400"/>
            <a:ext cx="138186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Product</a:t>
            </a:r>
          </a:p>
        </p:txBody>
      </p:sp>
      <p:sp>
        <p:nvSpPr>
          <p:cNvPr id="10" name="TextBox 9"/>
          <p:cNvSpPr txBox="1"/>
          <p:nvPr/>
        </p:nvSpPr>
        <p:spPr>
          <a:xfrm>
            <a:off x="2124761" y="1657350"/>
            <a:ext cx="138186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Of the top three types offered</a:t>
            </a:r>
          </a:p>
        </p:txBody>
      </p:sp>
      <p:sp>
        <p:nvSpPr>
          <p:cNvPr id="11" name="TextBox 10"/>
          <p:cNvSpPr txBox="1"/>
          <p:nvPr/>
        </p:nvSpPr>
        <p:spPr>
          <a:xfrm>
            <a:off x="3582825" y="1295400"/>
            <a:ext cx="138186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Platform (technology)</a:t>
            </a:r>
          </a:p>
        </p:txBody>
      </p:sp>
      <p:sp>
        <p:nvSpPr>
          <p:cNvPr id="12" name="TextBox 11"/>
          <p:cNvSpPr txBox="1"/>
          <p:nvPr/>
        </p:nvSpPr>
        <p:spPr>
          <a:xfrm>
            <a:off x="3582825" y="1657350"/>
            <a:ext cx="138186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development: both 3, one 2</a:t>
            </a:r>
          </a:p>
        </p:txBody>
      </p:sp>
      <p:sp>
        <p:nvSpPr>
          <p:cNvPr id="13" name="TextBox 12"/>
          <p:cNvSpPr txBox="1"/>
          <p:nvPr/>
        </p:nvSpPr>
        <p:spPr>
          <a:xfrm>
            <a:off x="5040890" y="1295400"/>
            <a:ext cx="1673477"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Price and model</a:t>
            </a:r>
          </a:p>
        </p:txBody>
      </p:sp>
      <p:sp>
        <p:nvSpPr>
          <p:cNvPr id="14" name="TextBox 13"/>
          <p:cNvSpPr txBox="1"/>
          <p:nvPr/>
        </p:nvSpPr>
        <p:spPr>
          <a:xfrm>
            <a:off x="5040890" y="1657350"/>
            <a:ext cx="1673477"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Positioning by tier</a:t>
            </a:r>
          </a:p>
        </p:txBody>
      </p:sp>
      <p:sp>
        <p:nvSpPr>
          <p:cNvPr id="15" name="TextBox 14"/>
          <p:cNvSpPr txBox="1"/>
          <p:nvPr/>
        </p:nvSpPr>
        <p:spPr>
          <a:xfrm>
            <a:off x="6790568" y="1295400"/>
            <a:ext cx="1673477"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Positioning (verticals)</a:t>
            </a:r>
          </a:p>
        </p:txBody>
      </p:sp>
      <p:sp>
        <p:nvSpPr>
          <p:cNvPr id="16" name="TextBox 15"/>
          <p:cNvSpPr txBox="1"/>
          <p:nvPr/>
        </p:nvSpPr>
        <p:spPr>
          <a:xfrm>
            <a:off x="6790568" y="1657350"/>
            <a:ext cx="1673477"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End uses served</a:t>
            </a:r>
          </a:p>
        </p:txBody>
      </p:sp>
      <p:sp>
        <p:nvSpPr>
          <p:cNvPr id="17" name="TextBox 16"/>
          <p:cNvSpPr txBox="1"/>
          <p:nvPr/>
        </p:nvSpPr>
        <p:spPr>
          <a:xfrm>
            <a:off x="8540245" y="1295400"/>
            <a:ext cx="1673477"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Proof</a:t>
            </a:r>
          </a:p>
        </p:txBody>
      </p:sp>
      <p:sp>
        <p:nvSpPr>
          <p:cNvPr id="18" name="TextBox 17"/>
          <p:cNvSpPr txBox="1"/>
          <p:nvPr/>
        </p:nvSpPr>
        <p:spPr>
          <a:xfrm>
            <a:off x="8540245" y="1657350"/>
            <a:ext cx="1673477"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customer references</a:t>
            </a:r>
          </a:p>
        </p:txBody>
      </p:sp>
      <p:sp>
        <p:nvSpPr>
          <p:cNvPr id="19" name="TextBox 18"/>
          <p:cNvSpPr txBox="1"/>
          <p:nvPr/>
        </p:nvSpPr>
        <p:spPr>
          <a:xfrm>
            <a:off x="10289923" y="1295400"/>
            <a:ext cx="1673477"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Patents and IP</a:t>
            </a:r>
          </a:p>
        </p:txBody>
      </p:sp>
      <p:sp>
        <p:nvSpPr>
          <p:cNvPr id="20" name="TextBox 19"/>
          <p:cNvSpPr txBox="1"/>
          <p:nvPr/>
        </p:nvSpPr>
        <p:spPr>
          <a:xfrm>
            <a:off x="10289923" y="1657350"/>
            <a:ext cx="1673477"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Where the study covers patents</a:t>
            </a:r>
          </a:p>
        </p:txBody>
      </p:sp>
      <p:cxnSp>
        <p:nvCxnSpPr>
          <p:cNvPr id="21" name="Connector 20"/>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22479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Atlas Copco</a:t>
            </a:r>
          </a:p>
        </p:txBody>
      </p:sp>
      <p:sp>
        <p:nvSpPr>
          <p:cNvPr id="24" name="TextBox 23"/>
          <p:cNvSpPr txBox="1"/>
          <p:nvPr/>
        </p:nvSpPr>
        <p:spPr>
          <a:xfrm>
            <a:off x="285750" y="24098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5" name="Oval 24"/>
          <p:cNvSpPr/>
          <p:nvPr/>
        </p:nvSpPr>
        <p:spPr>
          <a:xfrm>
            <a:off x="2739493"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197558"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4276725" y="23241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40890" y="22288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29" name="TextBox 28"/>
          <p:cNvSpPr txBox="1"/>
          <p:nvPr/>
        </p:nvSpPr>
        <p:spPr>
          <a:xfrm>
            <a:off x="6790568" y="22288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Mining and Metals, Industrial Air Separation</a:t>
            </a:r>
          </a:p>
        </p:txBody>
      </p:sp>
      <p:sp>
        <p:nvSpPr>
          <p:cNvPr id="30" name="TextBox 29"/>
          <p:cNvSpPr txBox="1"/>
          <p:nvPr/>
        </p:nvSpPr>
        <p:spPr>
          <a:xfrm>
            <a:off x="8502145" y="22288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1" name="TextBox 30"/>
          <p:cNvSpPr txBox="1"/>
          <p:nvPr/>
        </p:nvSpPr>
        <p:spPr>
          <a:xfrm>
            <a:off x="10251823" y="22288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32" name="Connector 31"/>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5750" y="25908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Ingersoll Rand</a:t>
            </a:r>
          </a:p>
        </p:txBody>
      </p:sp>
      <p:sp>
        <p:nvSpPr>
          <p:cNvPr id="35" name="TextBox 34"/>
          <p:cNvSpPr txBox="1"/>
          <p:nvPr/>
        </p:nvSpPr>
        <p:spPr>
          <a:xfrm>
            <a:off x="285750" y="27527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6" name="Oval 35"/>
          <p:cNvSpPr/>
          <p:nvPr/>
        </p:nvSpPr>
        <p:spPr>
          <a:xfrm>
            <a:off x="2739493"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819400" y="26670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197558"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40890" y="25717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40" name="TextBox 39"/>
          <p:cNvSpPr txBox="1"/>
          <p:nvPr/>
        </p:nvSpPr>
        <p:spPr>
          <a:xfrm>
            <a:off x="6790568" y="25717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Mining and Metals, Other Manufacturing</a:t>
            </a:r>
          </a:p>
        </p:txBody>
      </p:sp>
      <p:sp>
        <p:nvSpPr>
          <p:cNvPr id="41" name="TextBox 40"/>
          <p:cNvSpPr txBox="1"/>
          <p:nvPr/>
        </p:nvSpPr>
        <p:spPr>
          <a:xfrm>
            <a:off x="8502145" y="25717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2" name="TextBox 41"/>
          <p:cNvSpPr txBox="1"/>
          <p:nvPr/>
        </p:nvSpPr>
        <p:spPr>
          <a:xfrm>
            <a:off x="10251823" y="25717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3" name="Connector 42"/>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5750" y="29337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Hitachi</a:t>
            </a:r>
          </a:p>
        </p:txBody>
      </p:sp>
      <p:sp>
        <p:nvSpPr>
          <p:cNvPr id="46" name="TextBox 45"/>
          <p:cNvSpPr txBox="1"/>
          <p:nvPr/>
        </p:nvSpPr>
        <p:spPr>
          <a:xfrm>
            <a:off x="285750" y="30956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7" name="Oval 46"/>
          <p:cNvSpPr/>
          <p:nvPr/>
        </p:nvSpPr>
        <p:spPr>
          <a:xfrm>
            <a:off x="2739493"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2819400" y="3009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197558"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4276725" y="3009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040890" y="29146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52" name="TextBox 51"/>
          <p:cNvSpPr txBox="1"/>
          <p:nvPr/>
        </p:nvSpPr>
        <p:spPr>
          <a:xfrm>
            <a:off x="6790568" y="29146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Industrial Air Separation, Other Manufacturing</a:t>
            </a:r>
          </a:p>
        </p:txBody>
      </p:sp>
      <p:sp>
        <p:nvSpPr>
          <p:cNvPr id="53" name="TextBox 52"/>
          <p:cNvSpPr txBox="1"/>
          <p:nvPr/>
        </p:nvSpPr>
        <p:spPr>
          <a:xfrm>
            <a:off x="8502145" y="29146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4" name="TextBox 53"/>
          <p:cNvSpPr txBox="1"/>
          <p:nvPr/>
        </p:nvSpPr>
        <p:spPr>
          <a:xfrm>
            <a:off x="10251823" y="29146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5" name="Connector 54"/>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85750" y="32766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KAESER KOMPRESSOREN</a:t>
            </a:r>
          </a:p>
        </p:txBody>
      </p:sp>
      <p:sp>
        <p:nvSpPr>
          <p:cNvPr id="58" name="TextBox 57"/>
          <p:cNvSpPr txBox="1"/>
          <p:nvPr/>
        </p:nvSpPr>
        <p:spPr>
          <a:xfrm>
            <a:off x="285750" y="34385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9" name="Oval 58"/>
          <p:cNvSpPr/>
          <p:nvPr/>
        </p:nvSpPr>
        <p:spPr>
          <a:xfrm>
            <a:off x="2739493"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2819400" y="3352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4197558"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40890" y="32575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63" name="TextBox 62"/>
          <p:cNvSpPr txBox="1"/>
          <p:nvPr/>
        </p:nvSpPr>
        <p:spPr>
          <a:xfrm>
            <a:off x="6790568" y="32575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Mining and Metals, Industrial Air Separation</a:t>
            </a:r>
          </a:p>
        </p:txBody>
      </p:sp>
      <p:sp>
        <p:nvSpPr>
          <p:cNvPr id="64" name="TextBox 63"/>
          <p:cNvSpPr txBox="1"/>
          <p:nvPr/>
        </p:nvSpPr>
        <p:spPr>
          <a:xfrm>
            <a:off x="8502145" y="32575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5" name="TextBox 64"/>
          <p:cNvSpPr txBox="1"/>
          <p:nvPr/>
        </p:nvSpPr>
        <p:spPr>
          <a:xfrm>
            <a:off x="10251823" y="32575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6" name="Connector 65"/>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85750" y="36195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Gardner Denver</a:t>
            </a:r>
          </a:p>
        </p:txBody>
      </p:sp>
      <p:sp>
        <p:nvSpPr>
          <p:cNvPr id="69" name="TextBox 68"/>
          <p:cNvSpPr txBox="1"/>
          <p:nvPr/>
        </p:nvSpPr>
        <p:spPr>
          <a:xfrm>
            <a:off x="285750" y="37814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0" name="Oval 69"/>
          <p:cNvSpPr/>
          <p:nvPr/>
        </p:nvSpPr>
        <p:spPr>
          <a:xfrm>
            <a:off x="2739493"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197558"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4276725"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040890" y="36004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74" name="TextBox 73"/>
          <p:cNvSpPr txBox="1"/>
          <p:nvPr/>
        </p:nvSpPr>
        <p:spPr>
          <a:xfrm>
            <a:off x="6790568" y="36004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Mining and Metals, Other Manufacturing</a:t>
            </a:r>
          </a:p>
        </p:txBody>
      </p:sp>
      <p:sp>
        <p:nvSpPr>
          <p:cNvPr id="75" name="TextBox 74"/>
          <p:cNvSpPr txBox="1"/>
          <p:nvPr/>
        </p:nvSpPr>
        <p:spPr>
          <a:xfrm>
            <a:off x="8502145" y="36004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6" name="TextBox 75"/>
          <p:cNvSpPr txBox="1"/>
          <p:nvPr/>
        </p:nvSpPr>
        <p:spPr>
          <a:xfrm>
            <a:off x="10251823" y="36004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77" name="Connector 76"/>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85750" y="39624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ELGi Equipments</a:t>
            </a:r>
          </a:p>
        </p:txBody>
      </p:sp>
      <p:sp>
        <p:nvSpPr>
          <p:cNvPr id="80" name="TextBox 79"/>
          <p:cNvSpPr txBox="1"/>
          <p:nvPr/>
        </p:nvSpPr>
        <p:spPr>
          <a:xfrm>
            <a:off x="285750" y="41243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1" name="Oval 80"/>
          <p:cNvSpPr/>
          <p:nvPr/>
        </p:nvSpPr>
        <p:spPr>
          <a:xfrm>
            <a:off x="2739493"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2819400" y="4038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4197558"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040890" y="39433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85" name="TextBox 84"/>
          <p:cNvSpPr txBox="1"/>
          <p:nvPr/>
        </p:nvSpPr>
        <p:spPr>
          <a:xfrm>
            <a:off x="6790568" y="39433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Industrial Air Separation, Other Manufacturing</a:t>
            </a:r>
          </a:p>
        </p:txBody>
      </p:sp>
      <p:sp>
        <p:nvSpPr>
          <p:cNvPr id="86" name="TextBox 85"/>
          <p:cNvSpPr txBox="1"/>
          <p:nvPr/>
        </p:nvSpPr>
        <p:spPr>
          <a:xfrm>
            <a:off x="8502145" y="39433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7" name="TextBox 86"/>
          <p:cNvSpPr txBox="1"/>
          <p:nvPr/>
        </p:nvSpPr>
        <p:spPr>
          <a:xfrm>
            <a:off x="10251823" y="39433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88" name="Connector 87"/>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85750" y="43053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Kaishan Group</a:t>
            </a:r>
          </a:p>
        </p:txBody>
      </p:sp>
      <p:sp>
        <p:nvSpPr>
          <p:cNvPr id="91" name="TextBox 90"/>
          <p:cNvSpPr txBox="1"/>
          <p:nvPr/>
        </p:nvSpPr>
        <p:spPr>
          <a:xfrm>
            <a:off x="285750" y="44672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2" name="Oval 91"/>
          <p:cNvSpPr/>
          <p:nvPr/>
        </p:nvSpPr>
        <p:spPr>
          <a:xfrm>
            <a:off x="2739493"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2819400" y="4381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197558"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Freeform 94"/>
          <p:cNvSpPr/>
          <p:nvPr/>
        </p:nvSpPr>
        <p:spPr>
          <a:xfrm>
            <a:off x="4276725" y="4381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040890" y="42862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97" name="TextBox 96"/>
          <p:cNvSpPr txBox="1"/>
          <p:nvPr/>
        </p:nvSpPr>
        <p:spPr>
          <a:xfrm>
            <a:off x="6790568" y="42862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Mining and Metals, Industrial Air Separation</a:t>
            </a:r>
          </a:p>
        </p:txBody>
      </p:sp>
      <p:sp>
        <p:nvSpPr>
          <p:cNvPr id="98" name="TextBox 97"/>
          <p:cNvSpPr txBox="1"/>
          <p:nvPr/>
        </p:nvSpPr>
        <p:spPr>
          <a:xfrm>
            <a:off x="8502145" y="42862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9" name="TextBox 98"/>
          <p:cNvSpPr txBox="1"/>
          <p:nvPr/>
        </p:nvSpPr>
        <p:spPr>
          <a:xfrm>
            <a:off x="10251823" y="42862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00" name="Connector 99"/>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85750" y="46482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BOGE KOMPRESSOREN</a:t>
            </a:r>
          </a:p>
        </p:txBody>
      </p:sp>
      <p:sp>
        <p:nvSpPr>
          <p:cNvPr id="103" name="TextBox 102"/>
          <p:cNvSpPr txBox="1"/>
          <p:nvPr/>
        </p:nvSpPr>
        <p:spPr>
          <a:xfrm>
            <a:off x="285750" y="48101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4" name="Oval 103"/>
          <p:cNvSpPr/>
          <p:nvPr/>
        </p:nvSpPr>
        <p:spPr>
          <a:xfrm>
            <a:off x="2739493"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2819400" y="4724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4197558"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5040890" y="46291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08" name="TextBox 107"/>
          <p:cNvSpPr txBox="1"/>
          <p:nvPr/>
        </p:nvSpPr>
        <p:spPr>
          <a:xfrm>
            <a:off x="6790568" y="46291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Mining and Metals, Other Manufacturing</a:t>
            </a:r>
          </a:p>
        </p:txBody>
      </p:sp>
      <p:sp>
        <p:nvSpPr>
          <p:cNvPr id="109" name="TextBox 108"/>
          <p:cNvSpPr txBox="1"/>
          <p:nvPr/>
        </p:nvSpPr>
        <p:spPr>
          <a:xfrm>
            <a:off x="8502145" y="46291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0" name="TextBox 109"/>
          <p:cNvSpPr txBox="1"/>
          <p:nvPr/>
        </p:nvSpPr>
        <p:spPr>
          <a:xfrm>
            <a:off x="10251823" y="46291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1" name="Connector 110"/>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85750" y="49911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ANEST IWATA</a:t>
            </a:r>
          </a:p>
        </p:txBody>
      </p:sp>
      <p:sp>
        <p:nvSpPr>
          <p:cNvPr id="114" name="TextBox 113"/>
          <p:cNvSpPr txBox="1"/>
          <p:nvPr/>
        </p:nvSpPr>
        <p:spPr>
          <a:xfrm>
            <a:off x="285750" y="51530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5" name="Oval 114"/>
          <p:cNvSpPr/>
          <p:nvPr/>
        </p:nvSpPr>
        <p:spPr>
          <a:xfrm>
            <a:off x="2739493"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4197558"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Freeform 116"/>
          <p:cNvSpPr/>
          <p:nvPr/>
        </p:nvSpPr>
        <p:spPr>
          <a:xfrm>
            <a:off x="4276725" y="5067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5040890" y="49720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19" name="TextBox 118"/>
          <p:cNvSpPr txBox="1"/>
          <p:nvPr/>
        </p:nvSpPr>
        <p:spPr>
          <a:xfrm>
            <a:off x="6790568" y="49720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Industrial Air Separation, Other Manufacturing</a:t>
            </a:r>
          </a:p>
        </p:txBody>
      </p:sp>
      <p:sp>
        <p:nvSpPr>
          <p:cNvPr id="120" name="TextBox 119"/>
          <p:cNvSpPr txBox="1"/>
          <p:nvPr/>
        </p:nvSpPr>
        <p:spPr>
          <a:xfrm>
            <a:off x="8502145" y="49720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1" name="TextBox 120"/>
          <p:cNvSpPr txBox="1"/>
          <p:nvPr/>
        </p:nvSpPr>
        <p:spPr>
          <a:xfrm>
            <a:off x="10251823" y="49720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2" name="Connector 121"/>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3" name="Rectangle 122"/>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285750" y="53340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Quincy Compressor</a:t>
            </a:r>
          </a:p>
        </p:txBody>
      </p:sp>
      <p:sp>
        <p:nvSpPr>
          <p:cNvPr id="125" name="TextBox 124"/>
          <p:cNvSpPr txBox="1"/>
          <p:nvPr/>
        </p:nvSpPr>
        <p:spPr>
          <a:xfrm>
            <a:off x="285750" y="54959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6" name="Oval 125"/>
          <p:cNvSpPr/>
          <p:nvPr/>
        </p:nvSpPr>
        <p:spPr>
          <a:xfrm>
            <a:off x="2739493"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2819400" y="54102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4197558"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040890" y="53149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30" name="TextBox 129"/>
          <p:cNvSpPr txBox="1"/>
          <p:nvPr/>
        </p:nvSpPr>
        <p:spPr>
          <a:xfrm>
            <a:off x="6790568" y="53149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Mining and Metals, Industrial Air Separation</a:t>
            </a:r>
          </a:p>
        </p:txBody>
      </p:sp>
      <p:sp>
        <p:nvSpPr>
          <p:cNvPr id="131" name="TextBox 130"/>
          <p:cNvSpPr txBox="1"/>
          <p:nvPr/>
        </p:nvSpPr>
        <p:spPr>
          <a:xfrm>
            <a:off x="8502145" y="53149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2" name="TextBox 131"/>
          <p:cNvSpPr txBox="1"/>
          <p:nvPr/>
        </p:nvSpPr>
        <p:spPr>
          <a:xfrm>
            <a:off x="10251823" y="53149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33" name="Connector 132"/>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4" name="Oval 133"/>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6" name="Oval 135"/>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39" name="Oval 138"/>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42" name="Oval 141"/>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4" name="TextBox 143"/>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5" name="TextBox 144"/>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breadth and technology strength do not always go together; the end uses each player serves show where it competes head to head.  Proof needs customer research.</a:t>
            </a:r>
          </a:p>
        </p:txBody>
      </p:sp>
      <p:sp>
        <p:nvSpPr>
          <p:cNvPr id="146" name="Rectangle 14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48" name="Picture 147" descr="lock.png"/>
          <p:cNvPicPr>
            <a:picLocks noChangeAspect="1"/>
          </p:cNvPicPr>
          <p:nvPr/>
        </p:nvPicPr>
        <p:blipFill>
          <a:blip r:embed="rId4"/>
          <a:stretch>
            <a:fillRect/>
          </a:stretch>
        </p:blipFill>
        <p:spPr>
          <a:xfrm>
            <a:off x="9312634" y="2306701"/>
            <a:ext cx="128699" cy="187198"/>
          </a:xfrm>
          <a:prstGeom prst="rect">
            <a:avLst/>
          </a:prstGeom>
        </p:spPr>
      </p:pic>
      <p:pic>
        <p:nvPicPr>
          <p:cNvPr id="149" name="Picture 148" descr="lock.png"/>
          <p:cNvPicPr>
            <a:picLocks noChangeAspect="1"/>
          </p:cNvPicPr>
          <p:nvPr/>
        </p:nvPicPr>
        <p:blipFill>
          <a:blip r:embed="rId4"/>
          <a:stretch>
            <a:fillRect/>
          </a:stretch>
        </p:blipFill>
        <p:spPr>
          <a:xfrm>
            <a:off x="11062312" y="2306701"/>
            <a:ext cx="128699" cy="187198"/>
          </a:xfrm>
          <a:prstGeom prst="rect">
            <a:avLst/>
          </a:prstGeom>
        </p:spPr>
      </p:pic>
      <p:pic>
        <p:nvPicPr>
          <p:cNvPr id="150" name="Picture 149" descr="lock.png"/>
          <p:cNvPicPr>
            <a:picLocks noChangeAspect="1"/>
          </p:cNvPicPr>
          <p:nvPr/>
        </p:nvPicPr>
        <p:blipFill>
          <a:blip r:embed="rId4"/>
          <a:stretch>
            <a:fillRect/>
          </a:stretch>
        </p:blipFill>
        <p:spPr>
          <a:xfrm>
            <a:off x="9312634" y="2649601"/>
            <a:ext cx="128699" cy="187198"/>
          </a:xfrm>
          <a:prstGeom prst="rect">
            <a:avLst/>
          </a:prstGeom>
        </p:spPr>
      </p:pic>
      <p:pic>
        <p:nvPicPr>
          <p:cNvPr id="151" name="Picture 150" descr="lock.png"/>
          <p:cNvPicPr>
            <a:picLocks noChangeAspect="1"/>
          </p:cNvPicPr>
          <p:nvPr/>
        </p:nvPicPr>
        <p:blipFill>
          <a:blip r:embed="rId4"/>
          <a:stretch>
            <a:fillRect/>
          </a:stretch>
        </p:blipFill>
        <p:spPr>
          <a:xfrm>
            <a:off x="11062312" y="2649601"/>
            <a:ext cx="128699" cy="187198"/>
          </a:xfrm>
          <a:prstGeom prst="rect">
            <a:avLst/>
          </a:prstGeom>
        </p:spPr>
      </p:pic>
      <p:pic>
        <p:nvPicPr>
          <p:cNvPr id="152" name="Picture 151" descr="lock.png"/>
          <p:cNvPicPr>
            <a:picLocks noChangeAspect="1"/>
          </p:cNvPicPr>
          <p:nvPr/>
        </p:nvPicPr>
        <p:blipFill>
          <a:blip r:embed="rId4"/>
          <a:stretch>
            <a:fillRect/>
          </a:stretch>
        </p:blipFill>
        <p:spPr>
          <a:xfrm>
            <a:off x="9312634" y="2992501"/>
            <a:ext cx="128699" cy="187198"/>
          </a:xfrm>
          <a:prstGeom prst="rect">
            <a:avLst/>
          </a:prstGeom>
        </p:spPr>
      </p:pic>
      <p:pic>
        <p:nvPicPr>
          <p:cNvPr id="153" name="Picture 152" descr="lock.png"/>
          <p:cNvPicPr>
            <a:picLocks noChangeAspect="1"/>
          </p:cNvPicPr>
          <p:nvPr/>
        </p:nvPicPr>
        <p:blipFill>
          <a:blip r:embed="rId4"/>
          <a:stretch>
            <a:fillRect/>
          </a:stretch>
        </p:blipFill>
        <p:spPr>
          <a:xfrm>
            <a:off x="11062312" y="29925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312634" y="3335401"/>
            <a:ext cx="128699" cy="187198"/>
          </a:xfrm>
          <a:prstGeom prst="rect">
            <a:avLst/>
          </a:prstGeom>
        </p:spPr>
      </p:pic>
      <p:pic>
        <p:nvPicPr>
          <p:cNvPr id="155" name="Picture 154" descr="lock.png"/>
          <p:cNvPicPr>
            <a:picLocks noChangeAspect="1"/>
          </p:cNvPicPr>
          <p:nvPr/>
        </p:nvPicPr>
        <p:blipFill>
          <a:blip r:embed="rId4"/>
          <a:stretch>
            <a:fillRect/>
          </a:stretch>
        </p:blipFill>
        <p:spPr>
          <a:xfrm>
            <a:off x="11062312" y="33354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312634" y="3678301"/>
            <a:ext cx="128699" cy="187198"/>
          </a:xfrm>
          <a:prstGeom prst="rect">
            <a:avLst/>
          </a:prstGeom>
        </p:spPr>
      </p:pic>
      <p:pic>
        <p:nvPicPr>
          <p:cNvPr id="157" name="Picture 156" descr="lock.png"/>
          <p:cNvPicPr>
            <a:picLocks noChangeAspect="1"/>
          </p:cNvPicPr>
          <p:nvPr/>
        </p:nvPicPr>
        <p:blipFill>
          <a:blip r:embed="rId4"/>
          <a:stretch>
            <a:fillRect/>
          </a:stretch>
        </p:blipFill>
        <p:spPr>
          <a:xfrm>
            <a:off x="11062312" y="36783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312634" y="4021201"/>
            <a:ext cx="128699" cy="187198"/>
          </a:xfrm>
          <a:prstGeom prst="rect">
            <a:avLst/>
          </a:prstGeom>
        </p:spPr>
      </p:pic>
      <p:pic>
        <p:nvPicPr>
          <p:cNvPr id="159" name="Picture 158" descr="lock.png"/>
          <p:cNvPicPr>
            <a:picLocks noChangeAspect="1"/>
          </p:cNvPicPr>
          <p:nvPr/>
        </p:nvPicPr>
        <p:blipFill>
          <a:blip r:embed="rId4"/>
          <a:stretch>
            <a:fillRect/>
          </a:stretch>
        </p:blipFill>
        <p:spPr>
          <a:xfrm>
            <a:off x="11062312" y="4021201"/>
            <a:ext cx="128699" cy="187198"/>
          </a:xfrm>
          <a:prstGeom prst="rect">
            <a:avLst/>
          </a:prstGeom>
        </p:spPr>
      </p:pic>
      <p:pic>
        <p:nvPicPr>
          <p:cNvPr id="160" name="Picture 159" descr="lock.png"/>
          <p:cNvPicPr>
            <a:picLocks noChangeAspect="1"/>
          </p:cNvPicPr>
          <p:nvPr/>
        </p:nvPicPr>
        <p:blipFill>
          <a:blip r:embed="rId4"/>
          <a:stretch>
            <a:fillRect/>
          </a:stretch>
        </p:blipFill>
        <p:spPr>
          <a:xfrm>
            <a:off x="9312634" y="4364101"/>
            <a:ext cx="128699" cy="187198"/>
          </a:xfrm>
          <a:prstGeom prst="rect">
            <a:avLst/>
          </a:prstGeom>
        </p:spPr>
      </p:pic>
      <p:pic>
        <p:nvPicPr>
          <p:cNvPr id="161" name="Picture 160" descr="lock.png"/>
          <p:cNvPicPr>
            <a:picLocks noChangeAspect="1"/>
          </p:cNvPicPr>
          <p:nvPr/>
        </p:nvPicPr>
        <p:blipFill>
          <a:blip r:embed="rId4"/>
          <a:stretch>
            <a:fillRect/>
          </a:stretch>
        </p:blipFill>
        <p:spPr>
          <a:xfrm>
            <a:off x="11062312" y="4364101"/>
            <a:ext cx="128699" cy="187198"/>
          </a:xfrm>
          <a:prstGeom prst="rect">
            <a:avLst/>
          </a:prstGeom>
        </p:spPr>
      </p:pic>
      <p:pic>
        <p:nvPicPr>
          <p:cNvPr id="162" name="Picture 161" descr="lock.png"/>
          <p:cNvPicPr>
            <a:picLocks noChangeAspect="1"/>
          </p:cNvPicPr>
          <p:nvPr/>
        </p:nvPicPr>
        <p:blipFill>
          <a:blip r:embed="rId4"/>
          <a:stretch>
            <a:fillRect/>
          </a:stretch>
        </p:blipFill>
        <p:spPr>
          <a:xfrm>
            <a:off x="9312634" y="4707001"/>
            <a:ext cx="128699" cy="187198"/>
          </a:xfrm>
          <a:prstGeom prst="rect">
            <a:avLst/>
          </a:prstGeom>
        </p:spPr>
      </p:pic>
      <p:pic>
        <p:nvPicPr>
          <p:cNvPr id="163" name="Picture 162" descr="lock.png"/>
          <p:cNvPicPr>
            <a:picLocks noChangeAspect="1"/>
          </p:cNvPicPr>
          <p:nvPr/>
        </p:nvPicPr>
        <p:blipFill>
          <a:blip r:embed="rId4"/>
          <a:stretch>
            <a:fillRect/>
          </a:stretch>
        </p:blipFill>
        <p:spPr>
          <a:xfrm>
            <a:off x="11062312" y="47070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312634"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11062312" y="50499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312634" y="5392801"/>
            <a:ext cx="128699" cy="187198"/>
          </a:xfrm>
          <a:prstGeom prst="rect">
            <a:avLst/>
          </a:prstGeom>
        </p:spPr>
      </p:pic>
      <p:pic>
        <p:nvPicPr>
          <p:cNvPr id="167" name="Picture 166" descr="lock.png"/>
          <p:cNvPicPr>
            <a:picLocks noChangeAspect="1"/>
          </p:cNvPicPr>
          <p:nvPr/>
        </p:nvPicPr>
        <p:blipFill>
          <a:blip r:embed="rId4"/>
          <a:stretch>
            <a:fillRect/>
          </a:stretch>
        </p:blipFill>
        <p:spPr>
          <a:xfrm>
            <a:off x="11062312" y="5392801"/>
            <a:ext cx="128699" cy="187198"/>
          </a:xfrm>
          <a:prstGeom prst="rect">
            <a:avLst/>
          </a:prstGeom>
        </p:spPr>
      </p:pic>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Execution Scorecard: How They Win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Six execution Ps: channel, promotion, momentum, pipeline, policy exposure and prospects</a:t>
            </a:r>
          </a:p>
        </p:txBody>
      </p:sp>
      <p:sp>
        <p:nvSpPr>
          <p:cNvPr id="7" name="Rectangle 6"/>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3, EXECUTION: HOW THEY WIN</a:t>
            </a:r>
          </a:p>
        </p:txBody>
      </p:sp>
      <p:sp>
        <p:nvSpPr>
          <p:cNvPr id="9" name="TextBox 8"/>
          <p:cNvSpPr txBox="1"/>
          <p:nvPr/>
        </p:nvSpPr>
        <p:spPr>
          <a:xfrm>
            <a:off x="2124761" y="1295400"/>
            <a:ext cx="1673477"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Place (channel)</a:t>
            </a:r>
          </a:p>
        </p:txBody>
      </p:sp>
      <p:sp>
        <p:nvSpPr>
          <p:cNvPr id="10" name="TextBox 9"/>
          <p:cNvSpPr txBox="1"/>
          <p:nvPr/>
        </p:nvSpPr>
        <p:spPr>
          <a:xfrm>
            <a:off x="2124761" y="1657350"/>
            <a:ext cx="1673477"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Route to market by tier</a:t>
            </a:r>
          </a:p>
        </p:txBody>
      </p:sp>
      <p:sp>
        <p:nvSpPr>
          <p:cNvPr id="11" name="TextBox 10"/>
          <p:cNvSpPr txBox="1"/>
          <p:nvPr/>
        </p:nvSpPr>
        <p:spPr>
          <a:xfrm>
            <a:off x="3874438" y="1295400"/>
            <a:ext cx="1673477"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Promotion</a:t>
            </a:r>
          </a:p>
        </p:txBody>
      </p:sp>
      <p:sp>
        <p:nvSpPr>
          <p:cNvPr id="12" name="TextBox 11"/>
          <p:cNvSpPr txBox="1"/>
          <p:nvPr/>
        </p:nvSpPr>
        <p:spPr>
          <a:xfrm>
            <a:off x="3874438" y="1657350"/>
            <a:ext cx="1673477"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Go-to-market; not assessed</a:t>
            </a:r>
          </a:p>
        </p:txBody>
      </p:sp>
      <p:sp>
        <p:nvSpPr>
          <p:cNvPr id="13" name="TextBox 12"/>
          <p:cNvSpPr txBox="1"/>
          <p:nvPr/>
        </p:nvSpPr>
        <p:spPr>
          <a:xfrm>
            <a:off x="5624116" y="1295400"/>
            <a:ext cx="138186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Pace (momentum)</a:t>
            </a:r>
          </a:p>
        </p:txBody>
      </p:sp>
      <p:sp>
        <p:nvSpPr>
          <p:cNvPr id="14" name="TextBox 13"/>
          <p:cNvSpPr txBox="1"/>
          <p:nvPr/>
        </p:nvSpPr>
        <p:spPr>
          <a:xfrm>
            <a:off x="5624116" y="1657350"/>
            <a:ext cx="138186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Active moves: 5+ = 3, 3-4 = 2</a:t>
            </a:r>
          </a:p>
        </p:txBody>
      </p:sp>
      <p:sp>
        <p:nvSpPr>
          <p:cNvPr id="15" name="TextBox 14"/>
          <p:cNvSpPr txBox="1"/>
          <p:nvPr/>
        </p:nvSpPr>
        <p:spPr>
          <a:xfrm>
            <a:off x="7082180" y="1295400"/>
            <a:ext cx="1673477"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Pipeline</a:t>
            </a:r>
          </a:p>
        </p:txBody>
      </p:sp>
      <p:sp>
        <p:nvSpPr>
          <p:cNvPr id="16" name="TextBox 15"/>
          <p:cNvSpPr txBox="1"/>
          <p:nvPr/>
        </p:nvSpPr>
        <p:spPr>
          <a:xfrm>
            <a:off x="7082180" y="1657350"/>
            <a:ext cx="1673477"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Launch or development in motion</a:t>
            </a:r>
          </a:p>
        </p:txBody>
      </p:sp>
      <p:sp>
        <p:nvSpPr>
          <p:cNvPr id="17" name="TextBox 16"/>
          <p:cNvSpPr txBox="1"/>
          <p:nvPr/>
        </p:nvSpPr>
        <p:spPr>
          <a:xfrm>
            <a:off x="8831858" y="1295400"/>
            <a:ext cx="1673477"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Policy exposure</a:t>
            </a:r>
          </a:p>
        </p:txBody>
      </p:sp>
      <p:sp>
        <p:nvSpPr>
          <p:cNvPr id="18" name="TextBox 17"/>
          <p:cNvSpPr txBox="1"/>
          <p:nvPr/>
        </p:nvSpPr>
        <p:spPr>
          <a:xfrm>
            <a:off x="8831858" y="1657350"/>
            <a:ext cx="1673477"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Regulation in its favour or against</a:t>
            </a:r>
          </a:p>
        </p:txBody>
      </p:sp>
      <p:sp>
        <p:nvSpPr>
          <p:cNvPr id="19" name="TextBox 18"/>
          <p:cNvSpPr txBox="1"/>
          <p:nvPr/>
        </p:nvSpPr>
        <p:spPr>
          <a:xfrm>
            <a:off x="10581535" y="1295400"/>
            <a:ext cx="138186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Prospects</a:t>
            </a:r>
          </a:p>
        </p:txBody>
      </p:sp>
      <p:sp>
        <p:nvSpPr>
          <p:cNvPr id="20" name="TextBox 19"/>
          <p:cNvSpPr txBox="1"/>
          <p:nvPr/>
        </p:nvSpPr>
        <p:spPr>
          <a:xfrm>
            <a:off x="10581535" y="1657350"/>
            <a:ext cx="138186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Gaining 3, holding 2, at risk 1</a:t>
            </a:r>
          </a:p>
        </p:txBody>
      </p:sp>
      <p:cxnSp>
        <p:nvCxnSpPr>
          <p:cNvPr id="21" name="Connector 20"/>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22479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Atlas Copco</a:t>
            </a:r>
          </a:p>
        </p:txBody>
      </p:sp>
      <p:sp>
        <p:nvSpPr>
          <p:cNvPr id="24" name="TextBox 23"/>
          <p:cNvSpPr txBox="1"/>
          <p:nvPr/>
        </p:nvSpPr>
        <p:spPr>
          <a:xfrm>
            <a:off x="285750" y="24098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5" name="TextBox 24"/>
          <p:cNvSpPr txBox="1"/>
          <p:nvPr/>
        </p:nvSpPr>
        <p:spPr>
          <a:xfrm>
            <a:off x="2124761" y="22288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26" name="TextBox 25"/>
          <p:cNvSpPr txBox="1"/>
          <p:nvPr/>
        </p:nvSpPr>
        <p:spPr>
          <a:xfrm>
            <a:off x="3836338" y="22288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27" name="Oval 26"/>
          <p:cNvSpPr/>
          <p:nvPr/>
        </p:nvSpPr>
        <p:spPr>
          <a:xfrm>
            <a:off x="6238848"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4080" y="22288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29" name="TextBox 28"/>
          <p:cNvSpPr txBox="1"/>
          <p:nvPr/>
        </p:nvSpPr>
        <p:spPr>
          <a:xfrm>
            <a:off x="8793758" y="22288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0" name="Oval 29"/>
          <p:cNvSpPr/>
          <p:nvPr/>
        </p:nvSpPr>
        <p:spPr>
          <a:xfrm>
            <a:off x="11196268"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5750" y="25908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Ingersoll Rand</a:t>
            </a:r>
          </a:p>
        </p:txBody>
      </p:sp>
      <p:sp>
        <p:nvSpPr>
          <p:cNvPr id="34" name="TextBox 33"/>
          <p:cNvSpPr txBox="1"/>
          <p:nvPr/>
        </p:nvSpPr>
        <p:spPr>
          <a:xfrm>
            <a:off x="285750" y="27527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5" name="TextBox 34"/>
          <p:cNvSpPr txBox="1"/>
          <p:nvPr/>
        </p:nvSpPr>
        <p:spPr>
          <a:xfrm>
            <a:off x="2124761" y="25717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36" name="TextBox 35"/>
          <p:cNvSpPr txBox="1"/>
          <p:nvPr/>
        </p:nvSpPr>
        <p:spPr>
          <a:xfrm>
            <a:off x="3836338" y="25717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7" name="Oval 36"/>
          <p:cNvSpPr/>
          <p:nvPr/>
        </p:nvSpPr>
        <p:spPr>
          <a:xfrm>
            <a:off x="6238848"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82180" y="25717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39" name="TextBox 38"/>
          <p:cNvSpPr txBox="1"/>
          <p:nvPr/>
        </p:nvSpPr>
        <p:spPr>
          <a:xfrm>
            <a:off x="8793758" y="25717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0" name="Oval 39"/>
          <p:cNvSpPr/>
          <p:nvPr/>
        </p:nvSpPr>
        <p:spPr>
          <a:xfrm>
            <a:off x="11196268"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85750" y="29337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Hitachi</a:t>
            </a:r>
          </a:p>
        </p:txBody>
      </p:sp>
      <p:sp>
        <p:nvSpPr>
          <p:cNvPr id="44" name="TextBox 43"/>
          <p:cNvSpPr txBox="1"/>
          <p:nvPr/>
        </p:nvSpPr>
        <p:spPr>
          <a:xfrm>
            <a:off x="285750" y="30956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5" name="TextBox 44"/>
          <p:cNvSpPr txBox="1"/>
          <p:nvPr/>
        </p:nvSpPr>
        <p:spPr>
          <a:xfrm>
            <a:off x="2124761" y="29146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46" name="TextBox 45"/>
          <p:cNvSpPr txBox="1"/>
          <p:nvPr/>
        </p:nvSpPr>
        <p:spPr>
          <a:xfrm>
            <a:off x="3836338" y="29146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7" name="Oval 46"/>
          <p:cNvSpPr/>
          <p:nvPr/>
        </p:nvSpPr>
        <p:spPr>
          <a:xfrm>
            <a:off x="6238848"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044080" y="29146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9" name="TextBox 48"/>
          <p:cNvSpPr txBox="1"/>
          <p:nvPr/>
        </p:nvSpPr>
        <p:spPr>
          <a:xfrm>
            <a:off x="8793758" y="29146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0" name="Oval 49"/>
          <p:cNvSpPr/>
          <p:nvPr/>
        </p:nvSpPr>
        <p:spPr>
          <a:xfrm>
            <a:off x="11196268"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85750" y="32766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KAESER KOMPRESSOREN</a:t>
            </a:r>
          </a:p>
        </p:txBody>
      </p:sp>
      <p:sp>
        <p:nvSpPr>
          <p:cNvPr id="54" name="TextBox 53"/>
          <p:cNvSpPr txBox="1"/>
          <p:nvPr/>
        </p:nvSpPr>
        <p:spPr>
          <a:xfrm>
            <a:off x="285750" y="34385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5" name="TextBox 54"/>
          <p:cNvSpPr txBox="1"/>
          <p:nvPr/>
        </p:nvSpPr>
        <p:spPr>
          <a:xfrm>
            <a:off x="2124761" y="32575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56" name="TextBox 55"/>
          <p:cNvSpPr txBox="1"/>
          <p:nvPr/>
        </p:nvSpPr>
        <p:spPr>
          <a:xfrm>
            <a:off x="3836338" y="32575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Oval 56"/>
          <p:cNvSpPr/>
          <p:nvPr/>
        </p:nvSpPr>
        <p:spPr>
          <a:xfrm>
            <a:off x="6238848"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082180" y="32575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59" name="TextBox 58"/>
          <p:cNvSpPr txBox="1"/>
          <p:nvPr/>
        </p:nvSpPr>
        <p:spPr>
          <a:xfrm>
            <a:off x="8793758" y="32575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0" name="Oval 59"/>
          <p:cNvSpPr/>
          <p:nvPr/>
        </p:nvSpPr>
        <p:spPr>
          <a:xfrm>
            <a:off x="11196268"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85750" y="36195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Gardner Denver</a:t>
            </a:r>
          </a:p>
        </p:txBody>
      </p:sp>
      <p:sp>
        <p:nvSpPr>
          <p:cNvPr id="64" name="TextBox 63"/>
          <p:cNvSpPr txBox="1"/>
          <p:nvPr/>
        </p:nvSpPr>
        <p:spPr>
          <a:xfrm>
            <a:off x="285750" y="37814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65" name="TextBox 64"/>
          <p:cNvSpPr txBox="1"/>
          <p:nvPr/>
        </p:nvSpPr>
        <p:spPr>
          <a:xfrm>
            <a:off x="2124761" y="36004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66" name="TextBox 65"/>
          <p:cNvSpPr txBox="1"/>
          <p:nvPr/>
        </p:nvSpPr>
        <p:spPr>
          <a:xfrm>
            <a:off x="3836338" y="36004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7" name="Oval 66"/>
          <p:cNvSpPr/>
          <p:nvPr/>
        </p:nvSpPr>
        <p:spPr>
          <a:xfrm>
            <a:off x="6238848"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044080" y="36004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9" name="TextBox 68"/>
          <p:cNvSpPr txBox="1"/>
          <p:nvPr/>
        </p:nvSpPr>
        <p:spPr>
          <a:xfrm>
            <a:off x="8793758" y="36004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Oval 69"/>
          <p:cNvSpPr/>
          <p:nvPr/>
        </p:nvSpPr>
        <p:spPr>
          <a:xfrm>
            <a:off x="11196268"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11268075" y="3695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85750" y="39624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ELGi Equipments</a:t>
            </a:r>
          </a:p>
        </p:txBody>
      </p:sp>
      <p:sp>
        <p:nvSpPr>
          <p:cNvPr id="75" name="TextBox 74"/>
          <p:cNvSpPr txBox="1"/>
          <p:nvPr/>
        </p:nvSpPr>
        <p:spPr>
          <a:xfrm>
            <a:off x="285750" y="41243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6" name="TextBox 75"/>
          <p:cNvSpPr txBox="1"/>
          <p:nvPr/>
        </p:nvSpPr>
        <p:spPr>
          <a:xfrm>
            <a:off x="2124761" y="39433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77" name="TextBox 76"/>
          <p:cNvSpPr txBox="1"/>
          <p:nvPr/>
        </p:nvSpPr>
        <p:spPr>
          <a:xfrm>
            <a:off x="3836338" y="39433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8" name="Oval 77"/>
          <p:cNvSpPr/>
          <p:nvPr/>
        </p:nvSpPr>
        <p:spPr>
          <a:xfrm>
            <a:off x="6238848"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082180" y="39433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80" name="TextBox 79"/>
          <p:cNvSpPr txBox="1"/>
          <p:nvPr/>
        </p:nvSpPr>
        <p:spPr>
          <a:xfrm>
            <a:off x="8793758" y="39433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1" name="Oval 80"/>
          <p:cNvSpPr/>
          <p:nvPr/>
        </p:nvSpPr>
        <p:spPr>
          <a:xfrm>
            <a:off x="11196268"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11268075" y="40386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85750" y="43053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Kaishan Group</a:t>
            </a:r>
          </a:p>
        </p:txBody>
      </p:sp>
      <p:sp>
        <p:nvSpPr>
          <p:cNvPr id="86" name="TextBox 85"/>
          <p:cNvSpPr txBox="1"/>
          <p:nvPr/>
        </p:nvSpPr>
        <p:spPr>
          <a:xfrm>
            <a:off x="285750" y="44672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87" name="TextBox 86"/>
          <p:cNvSpPr txBox="1"/>
          <p:nvPr/>
        </p:nvSpPr>
        <p:spPr>
          <a:xfrm>
            <a:off x="2124761" y="42862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88" name="TextBox 87"/>
          <p:cNvSpPr txBox="1"/>
          <p:nvPr/>
        </p:nvSpPr>
        <p:spPr>
          <a:xfrm>
            <a:off x="3836338" y="42862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9" name="Oval 88"/>
          <p:cNvSpPr/>
          <p:nvPr/>
        </p:nvSpPr>
        <p:spPr>
          <a:xfrm>
            <a:off x="6238848" y="43815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044080" y="42862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1" name="TextBox 90"/>
          <p:cNvSpPr txBox="1"/>
          <p:nvPr/>
        </p:nvSpPr>
        <p:spPr>
          <a:xfrm>
            <a:off x="8793758" y="42862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2" name="Oval 91"/>
          <p:cNvSpPr/>
          <p:nvPr/>
        </p:nvSpPr>
        <p:spPr>
          <a:xfrm>
            <a:off x="11196268"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11268075" y="43815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4" name="Connector 93"/>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5" name="Rectangle 94"/>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5750" y="46482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BOGE KOMPRESSOREN</a:t>
            </a:r>
          </a:p>
        </p:txBody>
      </p:sp>
      <p:sp>
        <p:nvSpPr>
          <p:cNvPr id="97" name="TextBox 96"/>
          <p:cNvSpPr txBox="1"/>
          <p:nvPr/>
        </p:nvSpPr>
        <p:spPr>
          <a:xfrm>
            <a:off x="285750" y="48101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8" name="TextBox 97"/>
          <p:cNvSpPr txBox="1"/>
          <p:nvPr/>
        </p:nvSpPr>
        <p:spPr>
          <a:xfrm>
            <a:off x="2124761" y="46291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99" name="TextBox 98"/>
          <p:cNvSpPr txBox="1"/>
          <p:nvPr/>
        </p:nvSpPr>
        <p:spPr>
          <a:xfrm>
            <a:off x="3836338" y="46291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0" name="Oval 99"/>
          <p:cNvSpPr/>
          <p:nvPr/>
        </p:nvSpPr>
        <p:spPr>
          <a:xfrm>
            <a:off x="6238848"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082180" y="46291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02" name="TextBox 101"/>
          <p:cNvSpPr txBox="1"/>
          <p:nvPr/>
        </p:nvSpPr>
        <p:spPr>
          <a:xfrm>
            <a:off x="8793758" y="46291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3" name="Oval 102"/>
          <p:cNvSpPr/>
          <p:nvPr/>
        </p:nvSpPr>
        <p:spPr>
          <a:xfrm>
            <a:off x="11196268"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11268075" y="47244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5" name="Connector 104"/>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6" name="Rectangle 105"/>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85750" y="49911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ANEST IWATA</a:t>
            </a:r>
          </a:p>
        </p:txBody>
      </p:sp>
      <p:sp>
        <p:nvSpPr>
          <p:cNvPr id="108" name="TextBox 107"/>
          <p:cNvSpPr txBox="1"/>
          <p:nvPr/>
        </p:nvSpPr>
        <p:spPr>
          <a:xfrm>
            <a:off x="285750" y="51530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9" name="TextBox 108"/>
          <p:cNvSpPr txBox="1"/>
          <p:nvPr/>
        </p:nvSpPr>
        <p:spPr>
          <a:xfrm>
            <a:off x="2124761" y="49720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10" name="TextBox 109"/>
          <p:cNvSpPr txBox="1"/>
          <p:nvPr/>
        </p:nvSpPr>
        <p:spPr>
          <a:xfrm>
            <a:off x="3836338" y="49720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1" name="Oval 110"/>
          <p:cNvSpPr/>
          <p:nvPr/>
        </p:nvSpPr>
        <p:spPr>
          <a:xfrm>
            <a:off x="6238848"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044080" y="49720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3" name="TextBox 112"/>
          <p:cNvSpPr txBox="1"/>
          <p:nvPr/>
        </p:nvSpPr>
        <p:spPr>
          <a:xfrm>
            <a:off x="8793758" y="49720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4" name="Oval 113"/>
          <p:cNvSpPr/>
          <p:nvPr/>
        </p:nvSpPr>
        <p:spPr>
          <a:xfrm>
            <a:off x="11196268"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11268075" y="50673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6" name="Connector 115"/>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7" name="Rectangle 116"/>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285750" y="5334000"/>
            <a:ext cx="1781861" cy="171450"/>
          </a:xfrm>
          <a:prstGeom prst="rect">
            <a:avLst/>
          </a:prstGeom>
          <a:noFill/>
        </p:spPr>
        <p:txBody>
          <a:bodyPr wrap="square" lIns="28575" rIns="28575" tIns="9525" bIns="9525" anchor="t">
            <a:spAutoFit/>
          </a:bodyPr>
          <a:lstStyle/>
          <a:p>
            <a:pPr algn="l"/>
            <a:r>
              <a:rPr sz="1100" b="1">
                <a:solidFill>
                  <a:srgbClr val="1F2933"/>
                </a:solidFill>
                <a:latin typeface="Calibri"/>
              </a:rPr>
              <a:t>Quincy Compressor</a:t>
            </a:r>
          </a:p>
        </p:txBody>
      </p:sp>
      <p:sp>
        <p:nvSpPr>
          <p:cNvPr id="119" name="TextBox 118"/>
          <p:cNvSpPr txBox="1"/>
          <p:nvPr/>
        </p:nvSpPr>
        <p:spPr>
          <a:xfrm>
            <a:off x="285750" y="5495925"/>
            <a:ext cx="1781861"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0" name="TextBox 119"/>
          <p:cNvSpPr txBox="1"/>
          <p:nvPr/>
        </p:nvSpPr>
        <p:spPr>
          <a:xfrm>
            <a:off x="2124761" y="53149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21" name="TextBox 120"/>
          <p:cNvSpPr txBox="1"/>
          <p:nvPr/>
        </p:nvSpPr>
        <p:spPr>
          <a:xfrm>
            <a:off x="3836338" y="53149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2" name="Oval 121"/>
          <p:cNvSpPr/>
          <p:nvPr/>
        </p:nvSpPr>
        <p:spPr>
          <a:xfrm>
            <a:off x="6238848"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7082180" y="5314950"/>
            <a:ext cx="167347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24" name="TextBox 123"/>
          <p:cNvSpPr txBox="1"/>
          <p:nvPr/>
        </p:nvSpPr>
        <p:spPr>
          <a:xfrm>
            <a:off x="8793758" y="5314950"/>
            <a:ext cx="174967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5" name="Oval 124"/>
          <p:cNvSpPr/>
          <p:nvPr/>
        </p:nvSpPr>
        <p:spPr>
          <a:xfrm>
            <a:off x="11196268"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Freeform 125"/>
          <p:cNvSpPr/>
          <p:nvPr/>
        </p:nvSpPr>
        <p:spPr>
          <a:xfrm>
            <a:off x="11268075" y="54102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7" name="Connector 126"/>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8" name="Oval 127"/>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0" name="Oval 129"/>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33" name="Oval 132"/>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36" name="Oval 135"/>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38" name="TextBox 137"/>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39" name="TextBox 138"/>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Momentum sits with the players running the most strategic moves; prospects combine breadth, reach, scale and pace.  Promotion and policy exposure need market and regulatory research.</a:t>
            </a:r>
          </a:p>
        </p:txBody>
      </p:sp>
      <p:sp>
        <p:nvSpPr>
          <p:cNvPr id="140" name="Rectangle 13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42" name="Picture 141" descr="lock.png"/>
          <p:cNvPicPr>
            <a:picLocks noChangeAspect="1"/>
          </p:cNvPicPr>
          <p:nvPr/>
        </p:nvPicPr>
        <p:blipFill>
          <a:blip r:embed="rId4"/>
          <a:stretch>
            <a:fillRect/>
          </a:stretch>
        </p:blipFill>
        <p:spPr>
          <a:xfrm>
            <a:off x="4646827" y="2306701"/>
            <a:ext cx="128699" cy="187198"/>
          </a:xfrm>
          <a:prstGeom prst="rect">
            <a:avLst/>
          </a:prstGeom>
        </p:spPr>
      </p:pic>
      <p:pic>
        <p:nvPicPr>
          <p:cNvPr id="143" name="Picture 142" descr="lock.png"/>
          <p:cNvPicPr>
            <a:picLocks noChangeAspect="1"/>
          </p:cNvPicPr>
          <p:nvPr/>
        </p:nvPicPr>
        <p:blipFill>
          <a:blip r:embed="rId4"/>
          <a:stretch>
            <a:fillRect/>
          </a:stretch>
        </p:blipFill>
        <p:spPr>
          <a:xfrm>
            <a:off x="7854569" y="2306701"/>
            <a:ext cx="128699" cy="187198"/>
          </a:xfrm>
          <a:prstGeom prst="rect">
            <a:avLst/>
          </a:prstGeom>
        </p:spPr>
      </p:pic>
      <p:pic>
        <p:nvPicPr>
          <p:cNvPr id="144" name="Picture 143" descr="lock.png"/>
          <p:cNvPicPr>
            <a:picLocks noChangeAspect="1"/>
          </p:cNvPicPr>
          <p:nvPr/>
        </p:nvPicPr>
        <p:blipFill>
          <a:blip r:embed="rId4"/>
          <a:stretch>
            <a:fillRect/>
          </a:stretch>
        </p:blipFill>
        <p:spPr>
          <a:xfrm>
            <a:off x="9604247" y="2306701"/>
            <a:ext cx="128699" cy="187198"/>
          </a:xfrm>
          <a:prstGeom prst="rect">
            <a:avLst/>
          </a:prstGeom>
        </p:spPr>
      </p:pic>
      <p:pic>
        <p:nvPicPr>
          <p:cNvPr id="145" name="Picture 144" descr="lock.png"/>
          <p:cNvPicPr>
            <a:picLocks noChangeAspect="1"/>
          </p:cNvPicPr>
          <p:nvPr/>
        </p:nvPicPr>
        <p:blipFill>
          <a:blip r:embed="rId4"/>
          <a:stretch>
            <a:fillRect/>
          </a:stretch>
        </p:blipFill>
        <p:spPr>
          <a:xfrm>
            <a:off x="4646827" y="2649601"/>
            <a:ext cx="128699" cy="187198"/>
          </a:xfrm>
          <a:prstGeom prst="rect">
            <a:avLst/>
          </a:prstGeom>
        </p:spPr>
      </p:pic>
      <p:pic>
        <p:nvPicPr>
          <p:cNvPr id="146" name="Picture 145" descr="lock.png"/>
          <p:cNvPicPr>
            <a:picLocks noChangeAspect="1"/>
          </p:cNvPicPr>
          <p:nvPr/>
        </p:nvPicPr>
        <p:blipFill>
          <a:blip r:embed="rId4"/>
          <a:stretch>
            <a:fillRect/>
          </a:stretch>
        </p:blipFill>
        <p:spPr>
          <a:xfrm>
            <a:off x="9604247" y="2649601"/>
            <a:ext cx="128699" cy="187198"/>
          </a:xfrm>
          <a:prstGeom prst="rect">
            <a:avLst/>
          </a:prstGeom>
        </p:spPr>
      </p:pic>
      <p:pic>
        <p:nvPicPr>
          <p:cNvPr id="147" name="Picture 146" descr="lock.png"/>
          <p:cNvPicPr>
            <a:picLocks noChangeAspect="1"/>
          </p:cNvPicPr>
          <p:nvPr/>
        </p:nvPicPr>
        <p:blipFill>
          <a:blip r:embed="rId4"/>
          <a:stretch>
            <a:fillRect/>
          </a:stretch>
        </p:blipFill>
        <p:spPr>
          <a:xfrm>
            <a:off x="4646827" y="2992501"/>
            <a:ext cx="128699" cy="187198"/>
          </a:xfrm>
          <a:prstGeom prst="rect">
            <a:avLst/>
          </a:prstGeom>
        </p:spPr>
      </p:pic>
      <p:pic>
        <p:nvPicPr>
          <p:cNvPr id="148" name="Picture 147" descr="lock.png"/>
          <p:cNvPicPr>
            <a:picLocks noChangeAspect="1"/>
          </p:cNvPicPr>
          <p:nvPr/>
        </p:nvPicPr>
        <p:blipFill>
          <a:blip r:embed="rId4"/>
          <a:stretch>
            <a:fillRect/>
          </a:stretch>
        </p:blipFill>
        <p:spPr>
          <a:xfrm>
            <a:off x="7854569" y="2992501"/>
            <a:ext cx="128699" cy="187198"/>
          </a:xfrm>
          <a:prstGeom prst="rect">
            <a:avLst/>
          </a:prstGeom>
        </p:spPr>
      </p:pic>
      <p:pic>
        <p:nvPicPr>
          <p:cNvPr id="149" name="Picture 148" descr="lock.png"/>
          <p:cNvPicPr>
            <a:picLocks noChangeAspect="1"/>
          </p:cNvPicPr>
          <p:nvPr/>
        </p:nvPicPr>
        <p:blipFill>
          <a:blip r:embed="rId4"/>
          <a:stretch>
            <a:fillRect/>
          </a:stretch>
        </p:blipFill>
        <p:spPr>
          <a:xfrm>
            <a:off x="9604247" y="2992501"/>
            <a:ext cx="128699" cy="187198"/>
          </a:xfrm>
          <a:prstGeom prst="rect">
            <a:avLst/>
          </a:prstGeom>
        </p:spPr>
      </p:pic>
      <p:pic>
        <p:nvPicPr>
          <p:cNvPr id="150" name="Picture 149" descr="lock.png"/>
          <p:cNvPicPr>
            <a:picLocks noChangeAspect="1"/>
          </p:cNvPicPr>
          <p:nvPr/>
        </p:nvPicPr>
        <p:blipFill>
          <a:blip r:embed="rId4"/>
          <a:stretch>
            <a:fillRect/>
          </a:stretch>
        </p:blipFill>
        <p:spPr>
          <a:xfrm>
            <a:off x="4646827" y="3335401"/>
            <a:ext cx="128699" cy="187198"/>
          </a:xfrm>
          <a:prstGeom prst="rect">
            <a:avLst/>
          </a:prstGeom>
        </p:spPr>
      </p:pic>
      <p:pic>
        <p:nvPicPr>
          <p:cNvPr id="151" name="Picture 150" descr="lock.png"/>
          <p:cNvPicPr>
            <a:picLocks noChangeAspect="1"/>
          </p:cNvPicPr>
          <p:nvPr/>
        </p:nvPicPr>
        <p:blipFill>
          <a:blip r:embed="rId4"/>
          <a:stretch>
            <a:fillRect/>
          </a:stretch>
        </p:blipFill>
        <p:spPr>
          <a:xfrm>
            <a:off x="9604247" y="33354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646827" y="3678301"/>
            <a:ext cx="128699" cy="187198"/>
          </a:xfrm>
          <a:prstGeom prst="rect">
            <a:avLst/>
          </a:prstGeom>
        </p:spPr>
      </p:pic>
      <p:pic>
        <p:nvPicPr>
          <p:cNvPr id="153" name="Picture 152" descr="lock.png"/>
          <p:cNvPicPr>
            <a:picLocks noChangeAspect="1"/>
          </p:cNvPicPr>
          <p:nvPr/>
        </p:nvPicPr>
        <p:blipFill>
          <a:blip r:embed="rId4"/>
          <a:stretch>
            <a:fillRect/>
          </a:stretch>
        </p:blipFill>
        <p:spPr>
          <a:xfrm>
            <a:off x="7854569" y="36783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604247" y="3678301"/>
            <a:ext cx="128699" cy="187198"/>
          </a:xfrm>
          <a:prstGeom prst="rect">
            <a:avLst/>
          </a:prstGeom>
        </p:spPr>
      </p:pic>
      <p:pic>
        <p:nvPicPr>
          <p:cNvPr id="155" name="Picture 154" descr="lock.png"/>
          <p:cNvPicPr>
            <a:picLocks noChangeAspect="1"/>
          </p:cNvPicPr>
          <p:nvPr/>
        </p:nvPicPr>
        <p:blipFill>
          <a:blip r:embed="rId4"/>
          <a:stretch>
            <a:fillRect/>
          </a:stretch>
        </p:blipFill>
        <p:spPr>
          <a:xfrm>
            <a:off x="4646827" y="40212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604247" y="4021201"/>
            <a:ext cx="128699" cy="187198"/>
          </a:xfrm>
          <a:prstGeom prst="rect">
            <a:avLst/>
          </a:prstGeom>
        </p:spPr>
      </p:pic>
      <p:pic>
        <p:nvPicPr>
          <p:cNvPr id="157" name="Picture 156" descr="lock.png"/>
          <p:cNvPicPr>
            <a:picLocks noChangeAspect="1"/>
          </p:cNvPicPr>
          <p:nvPr/>
        </p:nvPicPr>
        <p:blipFill>
          <a:blip r:embed="rId4"/>
          <a:stretch>
            <a:fillRect/>
          </a:stretch>
        </p:blipFill>
        <p:spPr>
          <a:xfrm>
            <a:off x="4646827" y="4364101"/>
            <a:ext cx="128699" cy="187198"/>
          </a:xfrm>
          <a:prstGeom prst="rect">
            <a:avLst/>
          </a:prstGeom>
        </p:spPr>
      </p:pic>
      <p:pic>
        <p:nvPicPr>
          <p:cNvPr id="158" name="Picture 157" descr="lock.png"/>
          <p:cNvPicPr>
            <a:picLocks noChangeAspect="1"/>
          </p:cNvPicPr>
          <p:nvPr/>
        </p:nvPicPr>
        <p:blipFill>
          <a:blip r:embed="rId4"/>
          <a:stretch>
            <a:fillRect/>
          </a:stretch>
        </p:blipFill>
        <p:spPr>
          <a:xfrm>
            <a:off x="7854569" y="4364101"/>
            <a:ext cx="128699" cy="187198"/>
          </a:xfrm>
          <a:prstGeom prst="rect">
            <a:avLst/>
          </a:prstGeom>
        </p:spPr>
      </p:pic>
      <p:pic>
        <p:nvPicPr>
          <p:cNvPr id="159" name="Picture 158" descr="lock.png"/>
          <p:cNvPicPr>
            <a:picLocks noChangeAspect="1"/>
          </p:cNvPicPr>
          <p:nvPr/>
        </p:nvPicPr>
        <p:blipFill>
          <a:blip r:embed="rId4"/>
          <a:stretch>
            <a:fillRect/>
          </a:stretch>
        </p:blipFill>
        <p:spPr>
          <a:xfrm>
            <a:off x="9604247" y="4364101"/>
            <a:ext cx="128699" cy="187198"/>
          </a:xfrm>
          <a:prstGeom prst="rect">
            <a:avLst/>
          </a:prstGeom>
        </p:spPr>
      </p:pic>
      <p:pic>
        <p:nvPicPr>
          <p:cNvPr id="160" name="Picture 159" descr="lock.png"/>
          <p:cNvPicPr>
            <a:picLocks noChangeAspect="1"/>
          </p:cNvPicPr>
          <p:nvPr/>
        </p:nvPicPr>
        <p:blipFill>
          <a:blip r:embed="rId4"/>
          <a:stretch>
            <a:fillRect/>
          </a:stretch>
        </p:blipFill>
        <p:spPr>
          <a:xfrm>
            <a:off x="4646827" y="4707001"/>
            <a:ext cx="128699" cy="187198"/>
          </a:xfrm>
          <a:prstGeom prst="rect">
            <a:avLst/>
          </a:prstGeom>
        </p:spPr>
      </p:pic>
      <p:pic>
        <p:nvPicPr>
          <p:cNvPr id="161" name="Picture 160" descr="lock.png"/>
          <p:cNvPicPr>
            <a:picLocks noChangeAspect="1"/>
          </p:cNvPicPr>
          <p:nvPr/>
        </p:nvPicPr>
        <p:blipFill>
          <a:blip r:embed="rId4"/>
          <a:stretch>
            <a:fillRect/>
          </a:stretch>
        </p:blipFill>
        <p:spPr>
          <a:xfrm>
            <a:off x="9604247" y="4707001"/>
            <a:ext cx="128699" cy="187198"/>
          </a:xfrm>
          <a:prstGeom prst="rect">
            <a:avLst/>
          </a:prstGeom>
        </p:spPr>
      </p:pic>
      <p:pic>
        <p:nvPicPr>
          <p:cNvPr id="162" name="Picture 161" descr="lock.png"/>
          <p:cNvPicPr>
            <a:picLocks noChangeAspect="1"/>
          </p:cNvPicPr>
          <p:nvPr/>
        </p:nvPicPr>
        <p:blipFill>
          <a:blip r:embed="rId4"/>
          <a:stretch>
            <a:fillRect/>
          </a:stretch>
        </p:blipFill>
        <p:spPr>
          <a:xfrm>
            <a:off x="4646827" y="5049901"/>
            <a:ext cx="128699" cy="187198"/>
          </a:xfrm>
          <a:prstGeom prst="rect">
            <a:avLst/>
          </a:prstGeom>
        </p:spPr>
      </p:pic>
      <p:pic>
        <p:nvPicPr>
          <p:cNvPr id="163" name="Picture 162" descr="lock.png"/>
          <p:cNvPicPr>
            <a:picLocks noChangeAspect="1"/>
          </p:cNvPicPr>
          <p:nvPr/>
        </p:nvPicPr>
        <p:blipFill>
          <a:blip r:embed="rId4"/>
          <a:stretch>
            <a:fillRect/>
          </a:stretch>
        </p:blipFill>
        <p:spPr>
          <a:xfrm>
            <a:off x="7854569" y="50499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604247"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4646827" y="53928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604247" y="5392801"/>
            <a:ext cx="128699" cy="187198"/>
          </a:xfrm>
          <a:prstGeom prst="rect">
            <a:avLst/>
          </a:prstGeom>
        </p:spPr>
      </p:pic>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Success Factors and Composite Ranking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Five weighted success factors and the composite ranking they produce</a:t>
            </a:r>
          </a:p>
        </p:txBody>
      </p:sp>
      <p:sp>
        <p:nvSpPr>
          <p:cNvPr id="7" name="TextBox 6"/>
          <p:cNvSpPr txBox="1"/>
          <p:nvPr/>
        </p:nvSpPr>
        <p:spPr>
          <a:xfrm>
            <a:off x="21336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1. Segment breadth</a:t>
            </a:r>
          </a:p>
        </p:txBody>
      </p:sp>
      <p:sp>
        <p:nvSpPr>
          <p:cNvPr id="8" name="TextBox 7"/>
          <p:cNvSpPr txBox="1"/>
          <p:nvPr/>
        </p:nvSpPr>
        <p:spPr>
          <a:xfrm>
            <a:off x="21336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9" name="TextBox 8"/>
          <p:cNvSpPr txBox="1"/>
          <p:nvPr/>
        </p:nvSpPr>
        <p:spPr>
          <a:xfrm>
            <a:off x="21336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Lead or be active in several sub-segments</a:t>
            </a:r>
          </a:p>
        </p:txBody>
      </p:sp>
      <p:sp>
        <p:nvSpPr>
          <p:cNvPr id="10" name="TextBox 9"/>
          <p:cNvSpPr txBox="1"/>
          <p:nvPr/>
        </p:nvSpPr>
        <p:spPr>
          <a:xfrm>
            <a:off x="37909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2. Scale and share</a:t>
            </a:r>
          </a:p>
        </p:txBody>
      </p:sp>
      <p:sp>
        <p:nvSpPr>
          <p:cNvPr id="11" name="TextBox 10"/>
          <p:cNvSpPr txBox="1"/>
          <p:nvPr/>
        </p:nvSpPr>
        <p:spPr>
          <a:xfrm>
            <a:off x="37909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2" name="TextBox 11"/>
          <p:cNvSpPr txBox="1"/>
          <p:nvPr/>
        </p:nvSpPr>
        <p:spPr>
          <a:xfrm>
            <a:off x="37909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position and share of market value</a:t>
            </a:r>
          </a:p>
        </p:txBody>
      </p:sp>
      <p:sp>
        <p:nvSpPr>
          <p:cNvPr id="13" name="TextBox 12"/>
          <p:cNvSpPr txBox="1"/>
          <p:nvPr/>
        </p:nvSpPr>
        <p:spPr>
          <a:xfrm>
            <a:off x="54483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3. Geographic reach</a:t>
            </a:r>
          </a:p>
        </p:txBody>
      </p:sp>
      <p:sp>
        <p:nvSpPr>
          <p:cNvPr id="14" name="TextBox 13"/>
          <p:cNvSpPr txBox="1"/>
          <p:nvPr/>
        </p:nvSpPr>
        <p:spPr>
          <a:xfrm>
            <a:off x="54483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5" name="TextBox 14"/>
          <p:cNvSpPr txBox="1"/>
          <p:nvPr/>
        </p:nvSpPr>
        <p:spPr>
          <a:xfrm>
            <a:off x="54483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regional or single-market footprint</a:t>
            </a:r>
          </a:p>
        </p:txBody>
      </p:sp>
      <p:sp>
        <p:nvSpPr>
          <p:cNvPr id="16" name="TextBox 15"/>
          <p:cNvSpPr txBox="1"/>
          <p:nvPr/>
        </p:nvSpPr>
        <p:spPr>
          <a:xfrm>
            <a:off x="71056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4. Innovation pipeline</a:t>
            </a:r>
          </a:p>
        </p:txBody>
      </p:sp>
      <p:sp>
        <p:nvSpPr>
          <p:cNvPr id="17" name="TextBox 16"/>
          <p:cNvSpPr txBox="1"/>
          <p:nvPr/>
        </p:nvSpPr>
        <p:spPr>
          <a:xfrm>
            <a:off x="71056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8" name="TextBox 17"/>
          <p:cNvSpPr txBox="1"/>
          <p:nvPr/>
        </p:nvSpPr>
        <p:spPr>
          <a:xfrm>
            <a:off x="71056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product development in motion</a:t>
            </a:r>
          </a:p>
        </p:txBody>
      </p:sp>
      <p:sp>
        <p:nvSpPr>
          <p:cNvPr id="19" name="TextBox 18"/>
          <p:cNvSpPr txBox="1"/>
          <p:nvPr/>
        </p:nvSpPr>
        <p:spPr>
          <a:xfrm>
            <a:off x="87630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5. Strategic momentum</a:t>
            </a:r>
          </a:p>
        </p:txBody>
      </p:sp>
      <p:sp>
        <p:nvSpPr>
          <p:cNvPr id="20" name="TextBox 19"/>
          <p:cNvSpPr txBox="1"/>
          <p:nvPr/>
        </p:nvSpPr>
        <p:spPr>
          <a:xfrm>
            <a:off x="87630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1" name="TextBox 20"/>
          <p:cNvSpPr txBox="1"/>
          <p:nvPr/>
        </p:nvSpPr>
        <p:spPr>
          <a:xfrm>
            <a:off x="87630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Number of active strategic moves</a:t>
            </a:r>
          </a:p>
        </p:txBody>
      </p:sp>
      <p:sp>
        <p:nvSpPr>
          <p:cNvPr id="22" name="TextBox 21"/>
          <p:cNvSpPr txBox="1"/>
          <p:nvPr/>
        </p:nvSpPr>
        <p:spPr>
          <a:xfrm>
            <a:off x="10420350" y="1047750"/>
            <a:ext cx="1619250" cy="171450"/>
          </a:xfrm>
          <a:prstGeom prst="rect">
            <a:avLst/>
          </a:prstGeom>
          <a:noFill/>
        </p:spPr>
        <p:txBody>
          <a:bodyPr wrap="square" lIns="28575" rIns="28575" tIns="9525" bIns="9525" anchor="t">
            <a:spAutoFit/>
          </a:bodyPr>
          <a:lstStyle/>
          <a:p>
            <a:pPr algn="l"/>
            <a:r>
              <a:rPr sz="1100" b="1">
                <a:solidFill>
                  <a:srgbClr val="0F2D52"/>
                </a:solidFill>
                <a:latin typeface="Calibri"/>
              </a:rPr>
              <a:t>Composite</a:t>
            </a:r>
          </a:p>
        </p:txBody>
      </p:sp>
      <p:sp>
        <p:nvSpPr>
          <p:cNvPr id="23" name="TextBox 22"/>
          <p:cNvSpPr txBox="1"/>
          <p:nvPr/>
        </p:nvSpPr>
        <p:spPr>
          <a:xfrm>
            <a:off x="10420350" y="1219200"/>
            <a:ext cx="1619250" cy="152400"/>
          </a:xfrm>
          <a:prstGeom prst="rect">
            <a:avLst/>
          </a:prstGeom>
          <a:noFill/>
        </p:spPr>
        <p:txBody>
          <a:bodyPr wrap="square" lIns="28575" rIns="28575" tIns="9525" bIns="9525" anchor="t">
            <a:spAutoFit/>
          </a:bodyPr>
          <a:lstStyle/>
          <a:p>
            <a:pPr algn="l"/>
            <a:r>
              <a:rPr sz="1100" b="0">
                <a:solidFill>
                  <a:srgbClr val="1F2933"/>
                </a:solidFill>
                <a:latin typeface="Calibri"/>
              </a:rPr>
              <a:t>weighted 0 to 3</a:t>
            </a:r>
          </a:p>
        </p:txBody>
      </p:sp>
      <p:cxnSp>
        <p:nvCxnSpPr>
          <p:cNvPr id="24" name="Connector 23"/>
          <p:cNvCxnSpPr/>
          <p:nvPr/>
        </p:nvCxnSpPr>
        <p:spPr>
          <a:xfrm>
            <a:off x="190500" y="17526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18478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1809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Ingersoll Rand</a:t>
            </a:r>
          </a:p>
        </p:txBody>
      </p:sp>
      <p:sp>
        <p:nvSpPr>
          <p:cNvPr id="27" name="Oval 26"/>
          <p:cNvSpPr/>
          <p:nvPr/>
        </p:nvSpPr>
        <p:spPr>
          <a:xfrm>
            <a:off x="28479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5053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1626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8200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4773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420350" y="1895475"/>
            <a:ext cx="11430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601450" y="1809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34" name="Connector 33"/>
          <p:cNvCxnSpPr/>
          <p:nvPr/>
        </p:nvCxnSpPr>
        <p:spPr>
          <a:xfrm>
            <a:off x="190500" y="2114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21526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5750" y="2114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Atlas Copco</a:t>
            </a:r>
          </a:p>
        </p:txBody>
      </p:sp>
      <p:sp>
        <p:nvSpPr>
          <p:cNvPr id="37" name="Oval 36"/>
          <p:cNvSpPr/>
          <p:nvPr/>
        </p:nvSpPr>
        <p:spPr>
          <a:xfrm>
            <a:off x="28479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5053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1626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820025" y="2190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7896225" y="2190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4773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20350" y="22002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544300" y="2114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45" name="Connector 44"/>
          <p:cNvCxnSpPr/>
          <p:nvPr/>
        </p:nvCxnSpPr>
        <p:spPr>
          <a:xfrm>
            <a:off x="190500" y="2419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90500" y="24574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85750" y="2419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Hitachi</a:t>
            </a:r>
          </a:p>
        </p:txBody>
      </p:sp>
      <p:sp>
        <p:nvSpPr>
          <p:cNvPr id="48" name="Oval 47"/>
          <p:cNvSpPr/>
          <p:nvPr/>
        </p:nvSpPr>
        <p:spPr>
          <a:xfrm>
            <a:off x="28479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5053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1626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820025" y="2495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7896225" y="2495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94773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420350" y="25050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544300" y="2419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56" name="Connector 55"/>
          <p:cNvCxnSpPr/>
          <p:nvPr/>
        </p:nvCxnSpPr>
        <p:spPr>
          <a:xfrm>
            <a:off x="190500" y="2724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190500" y="27622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85750" y="2724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KAESER KOMPRESSOREN</a:t>
            </a:r>
          </a:p>
        </p:txBody>
      </p:sp>
      <p:sp>
        <p:nvSpPr>
          <p:cNvPr id="59" name="Oval 58"/>
          <p:cNvSpPr/>
          <p:nvPr/>
        </p:nvSpPr>
        <p:spPr>
          <a:xfrm>
            <a:off x="284797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292417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45053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61626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8200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94773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0420350" y="28098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1487150" y="2724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67" name="Connector 66"/>
          <p:cNvCxnSpPr/>
          <p:nvPr/>
        </p:nvCxnSpPr>
        <p:spPr>
          <a:xfrm>
            <a:off x="190500" y="3028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190500" y="30670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5750" y="3028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ELGi Equipments</a:t>
            </a:r>
          </a:p>
        </p:txBody>
      </p:sp>
      <p:sp>
        <p:nvSpPr>
          <p:cNvPr id="70" name="Oval 69"/>
          <p:cNvSpPr/>
          <p:nvPr/>
        </p:nvSpPr>
        <p:spPr>
          <a:xfrm>
            <a:off x="28479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29241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450532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458152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61626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62388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782002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47737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420350" y="3114675"/>
            <a:ext cx="8763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1334750" y="3028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80" name="Connector 79"/>
          <p:cNvCxnSpPr/>
          <p:nvPr/>
        </p:nvCxnSpPr>
        <p:spPr>
          <a:xfrm>
            <a:off x="190500" y="3333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190500" y="33718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85750" y="3333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Gardner Denver</a:t>
            </a:r>
          </a:p>
        </p:txBody>
      </p:sp>
      <p:sp>
        <p:nvSpPr>
          <p:cNvPr id="83" name="Oval 82"/>
          <p:cNvSpPr/>
          <p:nvPr/>
        </p:nvSpPr>
        <p:spPr>
          <a:xfrm>
            <a:off x="28479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29241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45053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45815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61626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62388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78200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78962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947737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10420350" y="3419475"/>
            <a:ext cx="8191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277600" y="3333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94" name="Connector 93"/>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5" name="Rectangle 94"/>
          <p:cNvSpPr/>
          <p:nvPr/>
        </p:nvSpPr>
        <p:spPr>
          <a:xfrm>
            <a:off x="190500" y="36766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5750" y="3638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BOGE KOMPRESSOREN</a:t>
            </a:r>
          </a:p>
        </p:txBody>
      </p:sp>
      <p:sp>
        <p:nvSpPr>
          <p:cNvPr id="97" name="Oval 96"/>
          <p:cNvSpPr/>
          <p:nvPr/>
        </p:nvSpPr>
        <p:spPr>
          <a:xfrm>
            <a:off x="28479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292417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450532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458152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61626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623887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782002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47737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0420350" y="37242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1182350" y="3638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07" name="Connector 106"/>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8" name="Rectangle 107"/>
          <p:cNvSpPr/>
          <p:nvPr/>
        </p:nvSpPr>
        <p:spPr>
          <a:xfrm>
            <a:off x="190500" y="39814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285750" y="3943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Quincy Compressor</a:t>
            </a:r>
          </a:p>
        </p:txBody>
      </p:sp>
      <p:sp>
        <p:nvSpPr>
          <p:cNvPr id="110" name="Oval 109"/>
          <p:cNvSpPr/>
          <p:nvPr/>
        </p:nvSpPr>
        <p:spPr>
          <a:xfrm>
            <a:off x="28479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reeform 110"/>
          <p:cNvSpPr/>
          <p:nvPr/>
        </p:nvSpPr>
        <p:spPr>
          <a:xfrm>
            <a:off x="292417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45053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Freeform 112"/>
          <p:cNvSpPr/>
          <p:nvPr/>
        </p:nvSpPr>
        <p:spPr>
          <a:xfrm>
            <a:off x="458152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61626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623887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782002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947737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0420350" y="40290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1182350" y="3943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20" name="Connector 119"/>
          <p:cNvCxnSpPr/>
          <p:nvPr/>
        </p:nvCxnSpPr>
        <p:spPr>
          <a:xfrm>
            <a:off x="190500" y="4248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1" name="Rectangle 120"/>
          <p:cNvSpPr/>
          <p:nvPr/>
        </p:nvSpPr>
        <p:spPr>
          <a:xfrm>
            <a:off x="190500" y="42862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85750" y="4248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Kaishan Group</a:t>
            </a:r>
          </a:p>
        </p:txBody>
      </p:sp>
      <p:sp>
        <p:nvSpPr>
          <p:cNvPr id="123" name="Oval 122"/>
          <p:cNvSpPr/>
          <p:nvPr/>
        </p:nvSpPr>
        <p:spPr>
          <a:xfrm>
            <a:off x="28479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Freeform 123"/>
          <p:cNvSpPr/>
          <p:nvPr/>
        </p:nvSpPr>
        <p:spPr>
          <a:xfrm>
            <a:off x="292417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45053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Freeform 125"/>
          <p:cNvSpPr/>
          <p:nvPr/>
        </p:nvSpPr>
        <p:spPr>
          <a:xfrm>
            <a:off x="458152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61626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Freeform 127"/>
          <p:cNvSpPr/>
          <p:nvPr/>
        </p:nvSpPr>
        <p:spPr>
          <a:xfrm>
            <a:off x="623887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78200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Freeform 129"/>
          <p:cNvSpPr/>
          <p:nvPr/>
        </p:nvSpPr>
        <p:spPr>
          <a:xfrm>
            <a:off x="789622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9477375" y="4324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0420350" y="43338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125200" y="4248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34" name="Connector 133"/>
          <p:cNvCxnSpPr/>
          <p:nvPr/>
        </p:nvCxnSpPr>
        <p:spPr>
          <a:xfrm>
            <a:off x="190500" y="4552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5" name="Rectangle 134"/>
          <p:cNvSpPr/>
          <p:nvPr/>
        </p:nvSpPr>
        <p:spPr>
          <a:xfrm>
            <a:off x="190500" y="45910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85750" y="4552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ANEST IWATA</a:t>
            </a:r>
          </a:p>
        </p:txBody>
      </p:sp>
      <p:sp>
        <p:nvSpPr>
          <p:cNvPr id="137" name="Oval 136"/>
          <p:cNvSpPr/>
          <p:nvPr/>
        </p:nvSpPr>
        <p:spPr>
          <a:xfrm>
            <a:off x="28479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292417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45053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458152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61626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Freeform 141"/>
          <p:cNvSpPr/>
          <p:nvPr/>
        </p:nvSpPr>
        <p:spPr>
          <a:xfrm>
            <a:off x="623887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78200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Freeform 143"/>
          <p:cNvSpPr/>
          <p:nvPr/>
        </p:nvSpPr>
        <p:spPr>
          <a:xfrm>
            <a:off x="789622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9477375" y="4629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10420350" y="46386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1125200" y="4552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48" name="Connector 147"/>
          <p:cNvCxnSpPr/>
          <p:nvPr/>
        </p:nvCxnSpPr>
        <p:spPr>
          <a:xfrm>
            <a:off x="190500" y="4857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9" name="Oval 148"/>
          <p:cNvSpPr/>
          <p:nvPr/>
        </p:nvSpPr>
        <p:spPr>
          <a:xfrm>
            <a:off x="200025" y="49339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38100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51" name="Oval 150"/>
          <p:cNvSpPr/>
          <p:nvPr/>
        </p:nvSpPr>
        <p:spPr>
          <a:xfrm>
            <a:off x="2065020"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Freeform 151"/>
          <p:cNvSpPr/>
          <p:nvPr/>
        </p:nvSpPr>
        <p:spPr>
          <a:xfrm>
            <a:off x="2133600" y="49339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2245995"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54" name="Oval 153"/>
          <p:cNvSpPr/>
          <p:nvPr/>
        </p:nvSpPr>
        <p:spPr>
          <a:xfrm>
            <a:off x="367855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Freeform 154"/>
          <p:cNvSpPr/>
          <p:nvPr/>
        </p:nvSpPr>
        <p:spPr>
          <a:xfrm>
            <a:off x="3743325" y="49339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385953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57" name="Oval 156"/>
          <p:cNvSpPr/>
          <p:nvPr/>
        </p:nvSpPr>
        <p:spPr>
          <a:xfrm>
            <a:off x="510349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528447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59" name="TextBox 158"/>
          <p:cNvSpPr txBox="1"/>
          <p:nvPr/>
        </p:nvSpPr>
        <p:spPr>
          <a:xfrm>
            <a:off x="190500" y="5143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STRATEGIC GROUPS</a:t>
            </a:r>
          </a:p>
        </p:txBody>
      </p:sp>
      <p:sp>
        <p:nvSpPr>
          <p:cNvPr id="160" name="Rectangle 159"/>
          <p:cNvSpPr/>
          <p:nvPr/>
        </p:nvSpPr>
        <p:spPr>
          <a:xfrm>
            <a:off x="190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90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162" name="TextBox 161"/>
          <p:cNvSpPr txBox="1"/>
          <p:nvPr/>
        </p:nvSpPr>
        <p:spPr>
          <a:xfrm>
            <a:off x="190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Ingersoll Rand, Atlas Copco, Hitachi, KAESER KOMPRESSOREN</a:t>
            </a:r>
          </a:p>
        </p:txBody>
      </p:sp>
      <p:sp>
        <p:nvSpPr>
          <p:cNvPr id="163" name="TextBox 162"/>
          <p:cNvSpPr txBox="1"/>
          <p:nvPr/>
        </p:nvSpPr>
        <p:spPr>
          <a:xfrm>
            <a:off x="190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scale and share; weakest on innovation pipeline.</a:t>
            </a:r>
          </a:p>
        </p:txBody>
      </p:sp>
      <p:sp>
        <p:nvSpPr>
          <p:cNvPr id="164" name="Rectangle 163"/>
          <p:cNvSpPr/>
          <p:nvPr/>
        </p:nvSpPr>
        <p:spPr>
          <a:xfrm>
            <a:off x="41910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41910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166" name="TextBox 165"/>
          <p:cNvSpPr txBox="1"/>
          <p:nvPr/>
        </p:nvSpPr>
        <p:spPr>
          <a:xfrm>
            <a:off x="41910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ELGi Equipments, Gardner Denver</a:t>
            </a:r>
          </a:p>
        </p:txBody>
      </p:sp>
      <p:sp>
        <p:nvSpPr>
          <p:cNvPr id="167" name="TextBox 166"/>
          <p:cNvSpPr txBox="1"/>
          <p:nvPr/>
        </p:nvSpPr>
        <p:spPr>
          <a:xfrm>
            <a:off x="41910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segment breadth.</a:t>
            </a:r>
          </a:p>
        </p:txBody>
      </p:sp>
      <p:sp>
        <p:nvSpPr>
          <p:cNvPr id="168" name="Rectangle 167"/>
          <p:cNvSpPr/>
          <p:nvPr/>
        </p:nvSpPr>
        <p:spPr>
          <a:xfrm>
            <a:off x="8191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191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170" name="TextBox 169"/>
          <p:cNvSpPr txBox="1"/>
          <p:nvPr/>
        </p:nvSpPr>
        <p:spPr>
          <a:xfrm>
            <a:off x="8191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BOGE KOMPRESSOREN, Quincy Compressor, Kaishan Group, ANEST IWATA</a:t>
            </a:r>
          </a:p>
        </p:txBody>
      </p:sp>
      <p:sp>
        <p:nvSpPr>
          <p:cNvPr id="171" name="TextBox 170"/>
          <p:cNvSpPr txBox="1"/>
          <p:nvPr/>
        </p:nvSpPr>
        <p:spPr>
          <a:xfrm>
            <a:off x="8191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scale and share.</a:t>
            </a:r>
          </a:p>
        </p:txBody>
      </p:sp>
      <p:sp>
        <p:nvSpPr>
          <p:cNvPr id="172" name="Rectangle 17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4" name="Picture 173" descr="lock.png"/>
          <p:cNvPicPr>
            <a:picLocks noChangeAspect="1"/>
          </p:cNvPicPr>
          <p:nvPr/>
        </p:nvPicPr>
        <p:blipFill>
          <a:blip r:embed="rId4"/>
          <a:stretch>
            <a:fillRect/>
          </a:stretch>
        </p:blipFill>
        <p:spPr>
          <a:xfrm>
            <a:off x="11746650" y="1868551"/>
            <a:ext cx="128699" cy="187198"/>
          </a:xfrm>
          <a:prstGeom prst="rect">
            <a:avLst/>
          </a:prstGeom>
        </p:spPr>
      </p:pic>
      <p:pic>
        <p:nvPicPr>
          <p:cNvPr id="175" name="Picture 174" descr="lock.png"/>
          <p:cNvPicPr>
            <a:picLocks noChangeAspect="1"/>
          </p:cNvPicPr>
          <p:nvPr/>
        </p:nvPicPr>
        <p:blipFill>
          <a:blip r:embed="rId4"/>
          <a:stretch>
            <a:fillRect/>
          </a:stretch>
        </p:blipFill>
        <p:spPr>
          <a:xfrm>
            <a:off x="11689500" y="2173351"/>
            <a:ext cx="128699" cy="187198"/>
          </a:xfrm>
          <a:prstGeom prst="rect">
            <a:avLst/>
          </a:prstGeom>
        </p:spPr>
      </p:pic>
      <p:pic>
        <p:nvPicPr>
          <p:cNvPr id="176" name="Picture 175" descr="lock.png"/>
          <p:cNvPicPr>
            <a:picLocks noChangeAspect="1"/>
          </p:cNvPicPr>
          <p:nvPr/>
        </p:nvPicPr>
        <p:blipFill>
          <a:blip r:embed="rId4"/>
          <a:stretch>
            <a:fillRect/>
          </a:stretch>
        </p:blipFill>
        <p:spPr>
          <a:xfrm>
            <a:off x="11689500" y="2478151"/>
            <a:ext cx="128699" cy="187198"/>
          </a:xfrm>
          <a:prstGeom prst="rect">
            <a:avLst/>
          </a:prstGeom>
        </p:spPr>
      </p:pic>
      <p:pic>
        <p:nvPicPr>
          <p:cNvPr id="177" name="Picture 176" descr="lock.png"/>
          <p:cNvPicPr>
            <a:picLocks noChangeAspect="1"/>
          </p:cNvPicPr>
          <p:nvPr/>
        </p:nvPicPr>
        <p:blipFill>
          <a:blip r:embed="rId4"/>
          <a:stretch>
            <a:fillRect/>
          </a:stretch>
        </p:blipFill>
        <p:spPr>
          <a:xfrm>
            <a:off x="11632350" y="2782951"/>
            <a:ext cx="128699" cy="187198"/>
          </a:xfrm>
          <a:prstGeom prst="rect">
            <a:avLst/>
          </a:prstGeom>
        </p:spPr>
      </p:pic>
      <p:pic>
        <p:nvPicPr>
          <p:cNvPr id="178" name="Picture 177" descr="lock.png"/>
          <p:cNvPicPr>
            <a:picLocks noChangeAspect="1"/>
          </p:cNvPicPr>
          <p:nvPr/>
        </p:nvPicPr>
        <p:blipFill>
          <a:blip r:embed="rId4"/>
          <a:stretch>
            <a:fillRect/>
          </a:stretch>
        </p:blipFill>
        <p:spPr>
          <a:xfrm>
            <a:off x="11479950" y="3087751"/>
            <a:ext cx="128699" cy="187198"/>
          </a:xfrm>
          <a:prstGeom prst="rect">
            <a:avLst/>
          </a:prstGeom>
        </p:spPr>
      </p:pic>
      <p:pic>
        <p:nvPicPr>
          <p:cNvPr id="179" name="Picture 178" descr="lock.png"/>
          <p:cNvPicPr>
            <a:picLocks noChangeAspect="1"/>
          </p:cNvPicPr>
          <p:nvPr/>
        </p:nvPicPr>
        <p:blipFill>
          <a:blip r:embed="rId4"/>
          <a:stretch>
            <a:fillRect/>
          </a:stretch>
        </p:blipFill>
        <p:spPr>
          <a:xfrm>
            <a:off x="11422800" y="3392551"/>
            <a:ext cx="128699" cy="187198"/>
          </a:xfrm>
          <a:prstGeom prst="rect">
            <a:avLst/>
          </a:prstGeom>
        </p:spPr>
      </p:pic>
      <p:pic>
        <p:nvPicPr>
          <p:cNvPr id="180" name="Picture 179" descr="lock.png"/>
          <p:cNvPicPr>
            <a:picLocks noChangeAspect="1"/>
          </p:cNvPicPr>
          <p:nvPr/>
        </p:nvPicPr>
        <p:blipFill>
          <a:blip r:embed="rId4"/>
          <a:stretch>
            <a:fillRect/>
          </a:stretch>
        </p:blipFill>
        <p:spPr>
          <a:xfrm>
            <a:off x="11327550" y="3697351"/>
            <a:ext cx="128699" cy="187198"/>
          </a:xfrm>
          <a:prstGeom prst="rect">
            <a:avLst/>
          </a:prstGeom>
        </p:spPr>
      </p:pic>
      <p:pic>
        <p:nvPicPr>
          <p:cNvPr id="181" name="Picture 180" descr="lock.png"/>
          <p:cNvPicPr>
            <a:picLocks noChangeAspect="1"/>
          </p:cNvPicPr>
          <p:nvPr/>
        </p:nvPicPr>
        <p:blipFill>
          <a:blip r:embed="rId4"/>
          <a:stretch>
            <a:fillRect/>
          </a:stretch>
        </p:blipFill>
        <p:spPr>
          <a:xfrm>
            <a:off x="11327550" y="4002151"/>
            <a:ext cx="128699" cy="187198"/>
          </a:xfrm>
          <a:prstGeom prst="rect">
            <a:avLst/>
          </a:prstGeom>
        </p:spPr>
      </p:pic>
      <p:pic>
        <p:nvPicPr>
          <p:cNvPr id="182" name="Picture 181" descr="lock.png"/>
          <p:cNvPicPr>
            <a:picLocks noChangeAspect="1"/>
          </p:cNvPicPr>
          <p:nvPr/>
        </p:nvPicPr>
        <p:blipFill>
          <a:blip r:embed="rId4"/>
          <a:stretch>
            <a:fillRect/>
          </a:stretch>
        </p:blipFill>
        <p:spPr>
          <a:xfrm>
            <a:off x="11270400" y="4306951"/>
            <a:ext cx="128699" cy="187198"/>
          </a:xfrm>
          <a:prstGeom prst="rect">
            <a:avLst/>
          </a:prstGeom>
        </p:spPr>
      </p:pic>
      <p:pic>
        <p:nvPicPr>
          <p:cNvPr id="183" name="Picture 182" descr="lock.png"/>
          <p:cNvPicPr>
            <a:picLocks noChangeAspect="1"/>
          </p:cNvPicPr>
          <p:nvPr/>
        </p:nvPicPr>
        <p:blipFill>
          <a:blip r:embed="rId4"/>
          <a:stretch>
            <a:fillRect/>
          </a:stretch>
        </p:blipFill>
        <p:spPr>
          <a:xfrm>
            <a:off x="11270400" y="4611751"/>
            <a:ext cx="128699" cy="187198"/>
          </a:xfrm>
          <a:prstGeom prst="rect">
            <a:avLst/>
          </a:prstGeom>
        </p:spPr>
      </p:pic>
      <p:sp>
        <p:nvSpPr>
          <p:cNvPr id="184" name="TextBox 183"/>
          <p:cNvSpPr txBox="1"/>
          <p:nvPr/>
        </p:nvSpPr>
        <p:spPr>
          <a:xfrm>
            <a:off x="21621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5" name="Picture 184" descr="lock.png"/>
          <p:cNvPicPr>
            <a:picLocks noChangeAspect="1"/>
          </p:cNvPicPr>
          <p:nvPr/>
        </p:nvPicPr>
        <p:blipFill>
          <a:blip r:embed="rId4"/>
          <a:stretch>
            <a:fillRect/>
          </a:stretch>
        </p:blipFill>
        <p:spPr>
          <a:xfrm>
            <a:off x="2482959" y="1212159"/>
            <a:ext cx="92663" cy="134782"/>
          </a:xfrm>
          <a:prstGeom prst="rect">
            <a:avLst/>
          </a:prstGeom>
        </p:spPr>
      </p:pic>
      <p:sp>
        <p:nvSpPr>
          <p:cNvPr id="186" name="TextBox 185"/>
          <p:cNvSpPr txBox="1"/>
          <p:nvPr/>
        </p:nvSpPr>
        <p:spPr>
          <a:xfrm>
            <a:off x="38195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7" name="Picture 186" descr="lock.png"/>
          <p:cNvPicPr>
            <a:picLocks noChangeAspect="1"/>
          </p:cNvPicPr>
          <p:nvPr/>
        </p:nvPicPr>
        <p:blipFill>
          <a:blip r:embed="rId4"/>
          <a:stretch>
            <a:fillRect/>
          </a:stretch>
        </p:blipFill>
        <p:spPr>
          <a:xfrm>
            <a:off x="4140309" y="1212159"/>
            <a:ext cx="92663" cy="134782"/>
          </a:xfrm>
          <a:prstGeom prst="rect">
            <a:avLst/>
          </a:prstGeom>
        </p:spPr>
      </p:pic>
      <p:sp>
        <p:nvSpPr>
          <p:cNvPr id="188" name="TextBox 187"/>
          <p:cNvSpPr txBox="1"/>
          <p:nvPr/>
        </p:nvSpPr>
        <p:spPr>
          <a:xfrm>
            <a:off x="54768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9" name="Picture 188" descr="lock.png"/>
          <p:cNvPicPr>
            <a:picLocks noChangeAspect="1"/>
          </p:cNvPicPr>
          <p:nvPr/>
        </p:nvPicPr>
        <p:blipFill>
          <a:blip r:embed="rId4"/>
          <a:stretch>
            <a:fillRect/>
          </a:stretch>
        </p:blipFill>
        <p:spPr>
          <a:xfrm>
            <a:off x="5797659" y="1212159"/>
            <a:ext cx="92663" cy="134782"/>
          </a:xfrm>
          <a:prstGeom prst="rect">
            <a:avLst/>
          </a:prstGeom>
        </p:spPr>
      </p:pic>
      <p:sp>
        <p:nvSpPr>
          <p:cNvPr id="190" name="TextBox 189"/>
          <p:cNvSpPr txBox="1"/>
          <p:nvPr/>
        </p:nvSpPr>
        <p:spPr>
          <a:xfrm>
            <a:off x="71342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1" name="Picture 190" descr="lock.png"/>
          <p:cNvPicPr>
            <a:picLocks noChangeAspect="1"/>
          </p:cNvPicPr>
          <p:nvPr/>
        </p:nvPicPr>
        <p:blipFill>
          <a:blip r:embed="rId4"/>
          <a:stretch>
            <a:fillRect/>
          </a:stretch>
        </p:blipFill>
        <p:spPr>
          <a:xfrm>
            <a:off x="7455009" y="1212159"/>
            <a:ext cx="92663" cy="134782"/>
          </a:xfrm>
          <a:prstGeom prst="rect">
            <a:avLst/>
          </a:prstGeom>
        </p:spPr>
      </p:pic>
      <p:sp>
        <p:nvSpPr>
          <p:cNvPr id="192" name="TextBox 191"/>
          <p:cNvSpPr txBox="1"/>
          <p:nvPr/>
        </p:nvSpPr>
        <p:spPr>
          <a:xfrm>
            <a:off x="87915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3" name="Picture 192" descr="lock.png"/>
          <p:cNvPicPr>
            <a:picLocks noChangeAspect="1"/>
          </p:cNvPicPr>
          <p:nvPr/>
        </p:nvPicPr>
        <p:blipFill>
          <a:blip r:embed="rId4"/>
          <a:stretch>
            <a:fillRect/>
          </a:stretch>
        </p:blipFill>
        <p:spPr>
          <a:xfrm>
            <a:off x="9112359" y="1212159"/>
            <a:ext cx="92663" cy="134782"/>
          </a:xfrm>
          <a:prstGeom prst="rect">
            <a:avLst/>
          </a:prstGeom>
        </p:spPr>
      </p:pic>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Strategic Activity Tracker</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Each player's active strategic moves: what, type, source department, signal and who should act</a:t>
            </a:r>
          </a:p>
        </p:txBody>
      </p:sp>
      <p:sp>
        <p:nvSpPr>
          <p:cNvPr id="7" name="TextBox 6"/>
          <p:cNvSpPr txBox="1"/>
          <p:nvPr/>
        </p:nvSpPr>
        <p:spPr>
          <a:xfrm>
            <a:off x="209550" y="1047750"/>
            <a:ext cx="1295400" cy="171450"/>
          </a:xfrm>
          <a:prstGeom prst="rect">
            <a:avLst/>
          </a:prstGeom>
          <a:noFill/>
        </p:spPr>
        <p:txBody>
          <a:bodyPr wrap="square" lIns="28575" rIns="28575" tIns="9525" bIns="9525" anchor="t">
            <a:spAutoFit/>
          </a:bodyPr>
          <a:lstStyle/>
          <a:p>
            <a:pPr algn="l"/>
            <a:r>
              <a:rPr sz="1100" b="1">
                <a:solidFill>
                  <a:srgbClr val="0F2D52"/>
                </a:solidFill>
                <a:latin typeface="Calibri"/>
              </a:rPr>
              <a:t>COMPANY</a:t>
            </a:r>
          </a:p>
        </p:txBody>
      </p:sp>
      <p:sp>
        <p:nvSpPr>
          <p:cNvPr id="8" name="TextBox 7"/>
          <p:cNvSpPr txBox="1"/>
          <p:nvPr/>
        </p:nvSpPr>
        <p:spPr>
          <a:xfrm>
            <a:off x="1543050" y="1047750"/>
            <a:ext cx="2343150" cy="171450"/>
          </a:xfrm>
          <a:prstGeom prst="rect">
            <a:avLst/>
          </a:prstGeom>
          <a:noFill/>
        </p:spPr>
        <p:txBody>
          <a:bodyPr wrap="square" lIns="28575" rIns="28575" tIns="9525" bIns="9525" anchor="t">
            <a:spAutoFit/>
          </a:bodyPr>
          <a:lstStyle/>
          <a:p>
            <a:pPr algn="l"/>
            <a:r>
              <a:rPr sz="1100" b="1">
                <a:solidFill>
                  <a:srgbClr val="0F2D52"/>
                </a:solidFill>
                <a:latin typeface="Calibri"/>
              </a:rPr>
              <a:t>DEVELOPMENT (WHAT IS HAPPENING)</a:t>
            </a:r>
          </a:p>
        </p:txBody>
      </p:sp>
      <p:sp>
        <p:nvSpPr>
          <p:cNvPr id="9" name="TextBox 8"/>
          <p:cNvSpPr txBox="1"/>
          <p:nvPr/>
        </p:nvSpPr>
        <p:spPr>
          <a:xfrm>
            <a:off x="3924300" y="1047750"/>
            <a:ext cx="533400" cy="171450"/>
          </a:xfrm>
          <a:prstGeom prst="rect">
            <a:avLst/>
          </a:prstGeom>
          <a:noFill/>
        </p:spPr>
        <p:txBody>
          <a:bodyPr wrap="none" lIns="0" rIns="0" tIns="0" bIns="0" anchor="t">
            <a:spAutoFit/>
          </a:bodyPr>
          <a:lstStyle/>
          <a:p>
            <a:pPr algn="l"/>
            <a:r>
              <a:rPr sz="1100" b="1">
                <a:solidFill>
                  <a:srgbClr val="0F2D52"/>
                </a:solidFill>
                <a:latin typeface="Calibri"/>
              </a:rPr>
              <a:t>DATE</a:t>
            </a:r>
          </a:p>
        </p:txBody>
      </p:sp>
      <p:sp>
        <p:nvSpPr>
          <p:cNvPr id="10" name="TextBox 9"/>
          <p:cNvSpPr txBox="1"/>
          <p:nvPr/>
        </p:nvSpPr>
        <p:spPr>
          <a:xfrm>
            <a:off x="4495800" y="1047750"/>
            <a:ext cx="438150" cy="171450"/>
          </a:xfrm>
          <a:prstGeom prst="rect">
            <a:avLst/>
          </a:prstGeom>
          <a:noFill/>
        </p:spPr>
        <p:txBody>
          <a:bodyPr wrap="none" lIns="0" rIns="0" tIns="0" bIns="0" anchor="t">
            <a:spAutoFit/>
          </a:bodyPr>
          <a:lstStyle/>
          <a:p>
            <a:pPr algn="l"/>
            <a:r>
              <a:rPr sz="1100" b="1">
                <a:solidFill>
                  <a:srgbClr val="0F2D52"/>
                </a:solidFill>
                <a:latin typeface="Calibri"/>
              </a:rPr>
              <a:t>TYPE</a:t>
            </a:r>
          </a:p>
        </p:txBody>
      </p:sp>
      <p:sp>
        <p:nvSpPr>
          <p:cNvPr id="11" name="TextBox 10"/>
          <p:cNvSpPr txBox="1"/>
          <p:nvPr/>
        </p:nvSpPr>
        <p:spPr>
          <a:xfrm>
            <a:off x="4972050" y="1047750"/>
            <a:ext cx="1200150" cy="171450"/>
          </a:xfrm>
          <a:prstGeom prst="rect">
            <a:avLst/>
          </a:prstGeom>
          <a:noFill/>
        </p:spPr>
        <p:txBody>
          <a:bodyPr wrap="square" lIns="28575" rIns="28575" tIns="9525" bIns="9525" anchor="t">
            <a:spAutoFit/>
          </a:bodyPr>
          <a:lstStyle/>
          <a:p>
            <a:pPr algn="l"/>
            <a:r>
              <a:rPr sz="1100" b="1">
                <a:solidFill>
                  <a:srgbClr val="0F2D52"/>
                </a:solidFill>
                <a:latin typeface="Calibri"/>
              </a:rPr>
              <a:t>SOURCE DEPT</a:t>
            </a:r>
          </a:p>
        </p:txBody>
      </p:sp>
      <p:sp>
        <p:nvSpPr>
          <p:cNvPr id="12" name="TextBox 11"/>
          <p:cNvSpPr txBox="1"/>
          <p:nvPr/>
        </p:nvSpPr>
        <p:spPr>
          <a:xfrm>
            <a:off x="6210300" y="1047750"/>
            <a:ext cx="914400" cy="171450"/>
          </a:xfrm>
          <a:prstGeom prst="rect">
            <a:avLst/>
          </a:prstGeom>
          <a:noFill/>
        </p:spPr>
        <p:txBody>
          <a:bodyPr wrap="square" lIns="28575" rIns="28575" tIns="9525" bIns="9525" anchor="t">
            <a:spAutoFit/>
          </a:bodyPr>
          <a:lstStyle/>
          <a:p>
            <a:pPr algn="l"/>
            <a:r>
              <a:rPr sz="1100" b="1">
                <a:solidFill>
                  <a:srgbClr val="0F2D52"/>
                </a:solidFill>
                <a:latin typeface="Calibri"/>
              </a:rPr>
              <a:t>EVIDENCE</a:t>
            </a:r>
          </a:p>
        </p:txBody>
      </p:sp>
      <p:sp>
        <p:nvSpPr>
          <p:cNvPr id="13" name="TextBox 12"/>
          <p:cNvSpPr txBox="1"/>
          <p:nvPr/>
        </p:nvSpPr>
        <p:spPr>
          <a:xfrm>
            <a:off x="7162800" y="1047750"/>
            <a:ext cx="2152650" cy="171450"/>
          </a:xfrm>
          <a:prstGeom prst="rect">
            <a:avLst/>
          </a:prstGeom>
          <a:noFill/>
        </p:spPr>
        <p:txBody>
          <a:bodyPr wrap="square" lIns="28575" rIns="28575" tIns="9525" bIns="9525" anchor="t">
            <a:spAutoFit/>
          </a:bodyPr>
          <a:lstStyle/>
          <a:p>
            <a:pPr algn="l"/>
            <a:r>
              <a:rPr sz="1100" b="1">
                <a:solidFill>
                  <a:srgbClr val="0F2D52"/>
                </a:solidFill>
                <a:latin typeface="Calibri"/>
              </a:rPr>
              <a:t>SIGNAL (WHAT IT INDICATES)</a:t>
            </a:r>
          </a:p>
        </p:txBody>
      </p:sp>
      <p:sp>
        <p:nvSpPr>
          <p:cNvPr id="14" name="TextBox 13"/>
          <p:cNvSpPr txBox="1"/>
          <p:nvPr/>
        </p:nvSpPr>
        <p:spPr>
          <a:xfrm>
            <a:off x="9353550" y="1047750"/>
            <a:ext cx="2628900" cy="171450"/>
          </a:xfrm>
          <a:prstGeom prst="rect">
            <a:avLst/>
          </a:prstGeom>
          <a:noFill/>
        </p:spPr>
        <p:txBody>
          <a:bodyPr wrap="square" lIns="28575" rIns="28575" tIns="9525" bIns="9525" anchor="t">
            <a:spAutoFit/>
          </a:bodyPr>
          <a:lstStyle/>
          <a:p>
            <a:pPr algn="l"/>
            <a:r>
              <a:rPr sz="1100" b="1">
                <a:solidFill>
                  <a:srgbClr val="0F2D52"/>
                </a:solidFill>
                <a:latin typeface="Calibri"/>
              </a:rPr>
              <a:t>WHO SHOULD ACT</a:t>
            </a:r>
          </a:p>
        </p:txBody>
      </p:sp>
      <p:cxnSp>
        <p:nvCxnSpPr>
          <p:cNvPr id="15" name="Connector 14"/>
          <p:cNvCxnSpPr/>
          <p:nvPr/>
        </p:nvCxnSpPr>
        <p:spPr>
          <a:xfrm>
            <a:off x="190500" y="1238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90500" y="12954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6700" y="12858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Atlas Copco</a:t>
            </a:r>
          </a:p>
        </p:txBody>
      </p:sp>
      <p:sp>
        <p:nvSpPr>
          <p:cNvPr id="18" name="TextBox 17"/>
          <p:cNvSpPr txBox="1"/>
          <p:nvPr/>
        </p:nvSpPr>
        <p:spPr>
          <a:xfrm>
            <a:off x="1543050" y="12858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19" name="TextBox 18"/>
          <p:cNvSpPr txBox="1"/>
          <p:nvPr/>
        </p:nvSpPr>
        <p:spPr>
          <a:xfrm>
            <a:off x="3924300" y="12858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20" name="Rectangle 19"/>
          <p:cNvSpPr/>
          <p:nvPr/>
        </p:nvSpPr>
        <p:spPr>
          <a:xfrm>
            <a:off x="4514850" y="13144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14850" y="13144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22" name="TextBox 21"/>
          <p:cNvSpPr txBox="1"/>
          <p:nvPr/>
        </p:nvSpPr>
        <p:spPr>
          <a:xfrm>
            <a:off x="4972050" y="12858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23" name="TextBox 22"/>
          <p:cNvSpPr txBox="1"/>
          <p:nvPr/>
        </p:nvSpPr>
        <p:spPr>
          <a:xfrm>
            <a:off x="6210300" y="12858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24" name="TextBox 23"/>
          <p:cNvSpPr txBox="1"/>
          <p:nvPr/>
        </p:nvSpPr>
        <p:spPr>
          <a:xfrm>
            <a:off x="7162800" y="12858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25" name="TextBox 24"/>
          <p:cNvSpPr txBox="1"/>
          <p:nvPr/>
        </p:nvSpPr>
        <p:spPr>
          <a:xfrm>
            <a:off x="9353550" y="12858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26" name="Connector 25"/>
          <p:cNvCxnSpPr/>
          <p:nvPr/>
        </p:nvCxnSpPr>
        <p:spPr>
          <a:xfrm>
            <a:off x="190500" y="17526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90500" y="17907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6700" y="17811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Ingersoll Rand</a:t>
            </a:r>
          </a:p>
        </p:txBody>
      </p:sp>
      <p:sp>
        <p:nvSpPr>
          <p:cNvPr id="29" name="TextBox 28"/>
          <p:cNvSpPr txBox="1"/>
          <p:nvPr/>
        </p:nvSpPr>
        <p:spPr>
          <a:xfrm>
            <a:off x="1543050" y="17811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Scroll Air Compressor</a:t>
            </a:r>
          </a:p>
        </p:txBody>
      </p:sp>
      <p:sp>
        <p:nvSpPr>
          <p:cNvPr id="30" name="TextBox 29"/>
          <p:cNvSpPr txBox="1"/>
          <p:nvPr/>
        </p:nvSpPr>
        <p:spPr>
          <a:xfrm>
            <a:off x="3924300" y="17811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31" name="Rectangle 30"/>
          <p:cNvSpPr/>
          <p:nvPr/>
        </p:nvSpPr>
        <p:spPr>
          <a:xfrm>
            <a:off x="4514850" y="18097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850" y="18097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33" name="TextBox 32"/>
          <p:cNvSpPr txBox="1"/>
          <p:nvPr/>
        </p:nvSpPr>
        <p:spPr>
          <a:xfrm>
            <a:off x="4972050" y="17811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34" name="TextBox 33"/>
          <p:cNvSpPr txBox="1"/>
          <p:nvPr/>
        </p:nvSpPr>
        <p:spPr>
          <a:xfrm>
            <a:off x="6210300" y="17811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35" name="TextBox 34"/>
          <p:cNvSpPr txBox="1"/>
          <p:nvPr/>
        </p:nvSpPr>
        <p:spPr>
          <a:xfrm>
            <a:off x="7162800" y="17811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36" name="TextBox 35"/>
          <p:cNvSpPr txBox="1"/>
          <p:nvPr/>
        </p:nvSpPr>
        <p:spPr>
          <a:xfrm>
            <a:off x="9353550" y="17811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37" name="Connector 36"/>
          <p:cNvCxnSpPr/>
          <p:nvPr/>
        </p:nvCxnSpPr>
        <p:spPr>
          <a:xfrm>
            <a:off x="190500" y="22479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2860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66700" y="22764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Hitachi</a:t>
            </a:r>
          </a:p>
        </p:txBody>
      </p:sp>
      <p:sp>
        <p:nvSpPr>
          <p:cNvPr id="40" name="TextBox 39"/>
          <p:cNvSpPr txBox="1"/>
          <p:nvPr/>
        </p:nvSpPr>
        <p:spPr>
          <a:xfrm>
            <a:off x="1543050" y="22764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East Asia</a:t>
            </a:r>
          </a:p>
        </p:txBody>
      </p:sp>
      <p:sp>
        <p:nvSpPr>
          <p:cNvPr id="41" name="TextBox 40"/>
          <p:cNvSpPr txBox="1"/>
          <p:nvPr/>
        </p:nvSpPr>
        <p:spPr>
          <a:xfrm>
            <a:off x="3924300" y="22764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42" name="Rectangle 41"/>
          <p:cNvSpPr/>
          <p:nvPr/>
        </p:nvSpPr>
        <p:spPr>
          <a:xfrm>
            <a:off x="4514850" y="23050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14850" y="23050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44" name="TextBox 43"/>
          <p:cNvSpPr txBox="1"/>
          <p:nvPr/>
        </p:nvSpPr>
        <p:spPr>
          <a:xfrm>
            <a:off x="4972050" y="22764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45" name="TextBox 44"/>
          <p:cNvSpPr txBox="1"/>
          <p:nvPr/>
        </p:nvSpPr>
        <p:spPr>
          <a:xfrm>
            <a:off x="6210300" y="22764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46" name="TextBox 45"/>
          <p:cNvSpPr txBox="1"/>
          <p:nvPr/>
        </p:nvSpPr>
        <p:spPr>
          <a:xfrm>
            <a:off x="7162800" y="22764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47" name="TextBox 46"/>
          <p:cNvSpPr txBox="1"/>
          <p:nvPr/>
        </p:nvSpPr>
        <p:spPr>
          <a:xfrm>
            <a:off x="9353550" y="22764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48" name="Connector 47"/>
          <p:cNvCxnSpPr/>
          <p:nvPr/>
        </p:nvCxnSpPr>
        <p:spPr>
          <a:xfrm>
            <a:off x="190500" y="27432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90500" y="27813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6700" y="27717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KAESER KOMPRESSOREN</a:t>
            </a:r>
          </a:p>
        </p:txBody>
      </p:sp>
      <p:sp>
        <p:nvSpPr>
          <p:cNvPr id="51" name="TextBox 50"/>
          <p:cNvSpPr txBox="1"/>
          <p:nvPr/>
        </p:nvSpPr>
        <p:spPr>
          <a:xfrm>
            <a:off x="1543050" y="27717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Rotary Screw Air Compressor</a:t>
            </a:r>
          </a:p>
        </p:txBody>
      </p:sp>
      <p:sp>
        <p:nvSpPr>
          <p:cNvPr id="52" name="TextBox 51"/>
          <p:cNvSpPr txBox="1"/>
          <p:nvPr/>
        </p:nvSpPr>
        <p:spPr>
          <a:xfrm>
            <a:off x="3924300" y="27717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53" name="Rectangle 52"/>
          <p:cNvSpPr/>
          <p:nvPr/>
        </p:nvSpPr>
        <p:spPr>
          <a:xfrm>
            <a:off x="4514850" y="28003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14850" y="28003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55" name="TextBox 54"/>
          <p:cNvSpPr txBox="1"/>
          <p:nvPr/>
        </p:nvSpPr>
        <p:spPr>
          <a:xfrm>
            <a:off x="4972050" y="27717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56" name="TextBox 55"/>
          <p:cNvSpPr txBox="1"/>
          <p:nvPr/>
        </p:nvSpPr>
        <p:spPr>
          <a:xfrm>
            <a:off x="6210300" y="27717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57" name="TextBox 56"/>
          <p:cNvSpPr txBox="1"/>
          <p:nvPr/>
        </p:nvSpPr>
        <p:spPr>
          <a:xfrm>
            <a:off x="7162800" y="27717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58" name="TextBox 57"/>
          <p:cNvSpPr txBox="1"/>
          <p:nvPr/>
        </p:nvSpPr>
        <p:spPr>
          <a:xfrm>
            <a:off x="9353550" y="27717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59" name="Connector 58"/>
          <p:cNvCxnSpPr/>
          <p:nvPr/>
        </p:nvCxnSpPr>
        <p:spPr>
          <a:xfrm>
            <a:off x="190500" y="32385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190500" y="32766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66700" y="32670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Gardner Denver</a:t>
            </a:r>
          </a:p>
        </p:txBody>
      </p:sp>
      <p:sp>
        <p:nvSpPr>
          <p:cNvPr id="62" name="TextBox 61"/>
          <p:cNvSpPr txBox="1"/>
          <p:nvPr/>
        </p:nvSpPr>
        <p:spPr>
          <a:xfrm>
            <a:off x="1543050" y="32670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Middle East &amp; Africa</a:t>
            </a:r>
          </a:p>
        </p:txBody>
      </p:sp>
      <p:sp>
        <p:nvSpPr>
          <p:cNvPr id="63" name="TextBox 62"/>
          <p:cNvSpPr txBox="1"/>
          <p:nvPr/>
        </p:nvSpPr>
        <p:spPr>
          <a:xfrm>
            <a:off x="3924300" y="32670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64" name="Rectangle 63"/>
          <p:cNvSpPr/>
          <p:nvPr/>
        </p:nvSpPr>
        <p:spPr>
          <a:xfrm>
            <a:off x="4514850" y="32956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14850" y="32956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66" name="TextBox 65"/>
          <p:cNvSpPr txBox="1"/>
          <p:nvPr/>
        </p:nvSpPr>
        <p:spPr>
          <a:xfrm>
            <a:off x="4972050" y="32670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67" name="TextBox 66"/>
          <p:cNvSpPr txBox="1"/>
          <p:nvPr/>
        </p:nvSpPr>
        <p:spPr>
          <a:xfrm>
            <a:off x="6210300" y="32670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68" name="TextBox 67"/>
          <p:cNvSpPr txBox="1"/>
          <p:nvPr/>
        </p:nvSpPr>
        <p:spPr>
          <a:xfrm>
            <a:off x="7162800" y="32670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69" name="TextBox 68"/>
          <p:cNvSpPr txBox="1"/>
          <p:nvPr/>
        </p:nvSpPr>
        <p:spPr>
          <a:xfrm>
            <a:off x="9353550" y="32670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70" name="Connector 69"/>
          <p:cNvCxnSpPr/>
          <p:nvPr/>
        </p:nvCxnSpPr>
        <p:spPr>
          <a:xfrm>
            <a:off x="190500" y="37338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7719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66700" y="37623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ELGi Equipments</a:t>
            </a:r>
          </a:p>
        </p:txBody>
      </p:sp>
      <p:sp>
        <p:nvSpPr>
          <p:cNvPr id="73" name="TextBox 72"/>
          <p:cNvSpPr txBox="1"/>
          <p:nvPr/>
        </p:nvSpPr>
        <p:spPr>
          <a:xfrm>
            <a:off x="1543050" y="37623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Scroll Air Compressor</a:t>
            </a:r>
          </a:p>
        </p:txBody>
      </p:sp>
      <p:sp>
        <p:nvSpPr>
          <p:cNvPr id="74" name="TextBox 73"/>
          <p:cNvSpPr txBox="1"/>
          <p:nvPr/>
        </p:nvSpPr>
        <p:spPr>
          <a:xfrm>
            <a:off x="3924300" y="37623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75" name="Rectangle 74"/>
          <p:cNvSpPr/>
          <p:nvPr/>
        </p:nvSpPr>
        <p:spPr>
          <a:xfrm>
            <a:off x="4514850" y="37909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514850" y="37909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77" name="TextBox 76"/>
          <p:cNvSpPr txBox="1"/>
          <p:nvPr/>
        </p:nvSpPr>
        <p:spPr>
          <a:xfrm>
            <a:off x="4972050" y="37623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78" name="TextBox 77"/>
          <p:cNvSpPr txBox="1"/>
          <p:nvPr/>
        </p:nvSpPr>
        <p:spPr>
          <a:xfrm>
            <a:off x="6210300" y="37623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79" name="TextBox 78"/>
          <p:cNvSpPr txBox="1"/>
          <p:nvPr/>
        </p:nvSpPr>
        <p:spPr>
          <a:xfrm>
            <a:off x="7162800" y="37623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80" name="TextBox 79"/>
          <p:cNvSpPr txBox="1"/>
          <p:nvPr/>
        </p:nvSpPr>
        <p:spPr>
          <a:xfrm>
            <a:off x="9353550" y="37623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81" name="Connector 80"/>
          <p:cNvCxnSpPr/>
          <p:nvPr/>
        </p:nvCxnSpPr>
        <p:spPr>
          <a:xfrm>
            <a:off x="190500" y="42291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190500" y="42672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66700" y="42576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Kaishan Group</a:t>
            </a:r>
          </a:p>
        </p:txBody>
      </p:sp>
      <p:sp>
        <p:nvSpPr>
          <p:cNvPr id="84" name="TextBox 83"/>
          <p:cNvSpPr txBox="1"/>
          <p:nvPr/>
        </p:nvSpPr>
        <p:spPr>
          <a:xfrm>
            <a:off x="1543050" y="42576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Western Europe</a:t>
            </a:r>
          </a:p>
        </p:txBody>
      </p:sp>
      <p:sp>
        <p:nvSpPr>
          <p:cNvPr id="85" name="TextBox 84"/>
          <p:cNvSpPr txBox="1"/>
          <p:nvPr/>
        </p:nvSpPr>
        <p:spPr>
          <a:xfrm>
            <a:off x="3924300" y="42576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86" name="Rectangle 85"/>
          <p:cNvSpPr/>
          <p:nvPr/>
        </p:nvSpPr>
        <p:spPr>
          <a:xfrm>
            <a:off x="4514850" y="42862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514850" y="42862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88" name="TextBox 87"/>
          <p:cNvSpPr txBox="1"/>
          <p:nvPr/>
        </p:nvSpPr>
        <p:spPr>
          <a:xfrm>
            <a:off x="4972050" y="42576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89" name="TextBox 88"/>
          <p:cNvSpPr txBox="1"/>
          <p:nvPr/>
        </p:nvSpPr>
        <p:spPr>
          <a:xfrm>
            <a:off x="6210300" y="42576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90" name="TextBox 89"/>
          <p:cNvSpPr txBox="1"/>
          <p:nvPr/>
        </p:nvSpPr>
        <p:spPr>
          <a:xfrm>
            <a:off x="7162800" y="42576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91" name="TextBox 90"/>
          <p:cNvSpPr txBox="1"/>
          <p:nvPr/>
        </p:nvSpPr>
        <p:spPr>
          <a:xfrm>
            <a:off x="9353550" y="42576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92" name="Connector 91"/>
          <p:cNvCxnSpPr/>
          <p:nvPr/>
        </p:nvCxnSpPr>
        <p:spPr>
          <a:xfrm>
            <a:off x="190500" y="47244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3" name="Rectangle 92"/>
          <p:cNvSpPr/>
          <p:nvPr/>
        </p:nvSpPr>
        <p:spPr>
          <a:xfrm>
            <a:off x="190500" y="47625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66700" y="47529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BOGE KOMPRESSOREN</a:t>
            </a:r>
          </a:p>
        </p:txBody>
      </p:sp>
      <p:sp>
        <p:nvSpPr>
          <p:cNvPr id="95" name="TextBox 94"/>
          <p:cNvSpPr txBox="1"/>
          <p:nvPr/>
        </p:nvSpPr>
        <p:spPr>
          <a:xfrm>
            <a:off x="1543050" y="47529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Rotary Screw Air Compressor</a:t>
            </a:r>
          </a:p>
        </p:txBody>
      </p:sp>
      <p:sp>
        <p:nvSpPr>
          <p:cNvPr id="96" name="TextBox 95"/>
          <p:cNvSpPr txBox="1"/>
          <p:nvPr/>
        </p:nvSpPr>
        <p:spPr>
          <a:xfrm>
            <a:off x="3924300" y="47529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97" name="Rectangle 96"/>
          <p:cNvSpPr/>
          <p:nvPr/>
        </p:nvSpPr>
        <p:spPr>
          <a:xfrm>
            <a:off x="4514850" y="47815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514850" y="47815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99" name="TextBox 98"/>
          <p:cNvSpPr txBox="1"/>
          <p:nvPr/>
        </p:nvSpPr>
        <p:spPr>
          <a:xfrm>
            <a:off x="4972050" y="47529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00" name="TextBox 99"/>
          <p:cNvSpPr txBox="1"/>
          <p:nvPr/>
        </p:nvSpPr>
        <p:spPr>
          <a:xfrm>
            <a:off x="6210300" y="47529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101" name="TextBox 100"/>
          <p:cNvSpPr txBox="1"/>
          <p:nvPr/>
        </p:nvSpPr>
        <p:spPr>
          <a:xfrm>
            <a:off x="7162800" y="47529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02" name="TextBox 101"/>
          <p:cNvSpPr txBox="1"/>
          <p:nvPr/>
        </p:nvSpPr>
        <p:spPr>
          <a:xfrm>
            <a:off x="9353550" y="47529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03" name="Connector 102"/>
          <p:cNvCxnSpPr/>
          <p:nvPr/>
        </p:nvCxnSpPr>
        <p:spPr>
          <a:xfrm>
            <a:off x="190500" y="52197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52578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66700" y="52482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ANEST IWATA</a:t>
            </a:r>
          </a:p>
        </p:txBody>
      </p:sp>
      <p:sp>
        <p:nvSpPr>
          <p:cNvPr id="106" name="TextBox 105"/>
          <p:cNvSpPr txBox="1"/>
          <p:nvPr/>
        </p:nvSpPr>
        <p:spPr>
          <a:xfrm>
            <a:off x="1543050" y="52482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107" name="TextBox 106"/>
          <p:cNvSpPr txBox="1"/>
          <p:nvPr/>
        </p:nvSpPr>
        <p:spPr>
          <a:xfrm>
            <a:off x="3924300" y="52482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08" name="Rectangle 107"/>
          <p:cNvSpPr/>
          <p:nvPr/>
        </p:nvSpPr>
        <p:spPr>
          <a:xfrm>
            <a:off x="4514850" y="52768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514850" y="52768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10" name="TextBox 109"/>
          <p:cNvSpPr txBox="1"/>
          <p:nvPr/>
        </p:nvSpPr>
        <p:spPr>
          <a:xfrm>
            <a:off x="4972050" y="52482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111" name="TextBox 110"/>
          <p:cNvSpPr txBox="1"/>
          <p:nvPr/>
        </p:nvSpPr>
        <p:spPr>
          <a:xfrm>
            <a:off x="6210300" y="52482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112" name="TextBox 111"/>
          <p:cNvSpPr txBox="1"/>
          <p:nvPr/>
        </p:nvSpPr>
        <p:spPr>
          <a:xfrm>
            <a:off x="7162800" y="52482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113" name="TextBox 112"/>
          <p:cNvSpPr txBox="1"/>
          <p:nvPr/>
        </p:nvSpPr>
        <p:spPr>
          <a:xfrm>
            <a:off x="9353550" y="52482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114" name="Connector 113"/>
          <p:cNvCxnSpPr/>
          <p:nvPr/>
        </p:nvCxnSpPr>
        <p:spPr>
          <a:xfrm>
            <a:off x="190500" y="5715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190500" y="57531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66700" y="57435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Quincy Compressor</a:t>
            </a:r>
          </a:p>
        </p:txBody>
      </p:sp>
      <p:sp>
        <p:nvSpPr>
          <p:cNvPr id="117" name="TextBox 116"/>
          <p:cNvSpPr txBox="1"/>
          <p:nvPr/>
        </p:nvSpPr>
        <p:spPr>
          <a:xfrm>
            <a:off x="1543050" y="57435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Scroll Air Compressor</a:t>
            </a:r>
          </a:p>
        </p:txBody>
      </p:sp>
      <p:sp>
        <p:nvSpPr>
          <p:cNvPr id="118" name="TextBox 117"/>
          <p:cNvSpPr txBox="1"/>
          <p:nvPr/>
        </p:nvSpPr>
        <p:spPr>
          <a:xfrm>
            <a:off x="3924300" y="57435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19" name="Rectangle 118"/>
          <p:cNvSpPr/>
          <p:nvPr/>
        </p:nvSpPr>
        <p:spPr>
          <a:xfrm>
            <a:off x="4514850" y="57721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514850" y="57721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21" name="TextBox 120"/>
          <p:cNvSpPr txBox="1"/>
          <p:nvPr/>
        </p:nvSpPr>
        <p:spPr>
          <a:xfrm>
            <a:off x="4972050" y="57435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22" name="TextBox 121"/>
          <p:cNvSpPr txBox="1"/>
          <p:nvPr/>
        </p:nvSpPr>
        <p:spPr>
          <a:xfrm>
            <a:off x="6210300" y="57435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123" name="TextBox 122"/>
          <p:cNvSpPr txBox="1"/>
          <p:nvPr/>
        </p:nvSpPr>
        <p:spPr>
          <a:xfrm>
            <a:off x="7162800" y="57435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24" name="TextBox 123"/>
          <p:cNvSpPr txBox="1"/>
          <p:nvPr/>
        </p:nvSpPr>
        <p:spPr>
          <a:xfrm>
            <a:off x="9353550" y="57435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25" name="Connector 124"/>
          <p:cNvCxnSpPr/>
          <p:nvPr/>
        </p:nvCxnSpPr>
        <p:spPr>
          <a:xfrm>
            <a:off x="190500" y="621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190500" y="6276975"/>
            <a:ext cx="285750" cy="15240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9050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28" name="TextBox 127"/>
          <p:cNvSpPr txBox="1"/>
          <p:nvPr/>
        </p:nvSpPr>
        <p:spPr>
          <a:xfrm>
            <a:off x="51435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M&amp;A</a:t>
            </a:r>
          </a:p>
        </p:txBody>
      </p:sp>
      <p:sp>
        <p:nvSpPr>
          <p:cNvPr id="129" name="Rectangle 128"/>
          <p:cNvSpPr/>
          <p:nvPr/>
        </p:nvSpPr>
        <p:spPr>
          <a:xfrm>
            <a:off x="923925" y="6276975"/>
            <a:ext cx="285750" cy="1524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9239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31" name="TextBox 130"/>
          <p:cNvSpPr txBox="1"/>
          <p:nvPr/>
        </p:nvSpPr>
        <p:spPr>
          <a:xfrm>
            <a:off x="12477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Product / portfolio</a:t>
            </a:r>
          </a:p>
        </p:txBody>
      </p:sp>
      <p:sp>
        <p:nvSpPr>
          <p:cNvPr id="132" name="Rectangle 131"/>
          <p:cNvSpPr/>
          <p:nvPr/>
        </p:nvSpPr>
        <p:spPr>
          <a:xfrm>
            <a:off x="2724150" y="6276975"/>
            <a:ext cx="285750" cy="152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7241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EX</a:t>
            </a:r>
          </a:p>
        </p:txBody>
      </p:sp>
      <p:sp>
        <p:nvSpPr>
          <p:cNvPr id="134" name="TextBox 133"/>
          <p:cNvSpPr txBox="1"/>
          <p:nvPr/>
        </p:nvSpPr>
        <p:spPr>
          <a:xfrm>
            <a:off x="30480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Expansion</a:t>
            </a:r>
          </a:p>
        </p:txBody>
      </p:sp>
      <p:sp>
        <p:nvSpPr>
          <p:cNvPr id="135" name="Rectangle 134"/>
          <p:cNvSpPr/>
          <p:nvPr/>
        </p:nvSpPr>
        <p:spPr>
          <a:xfrm>
            <a:off x="3857625" y="6276975"/>
            <a:ext cx="285750" cy="1524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38576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RD</a:t>
            </a:r>
          </a:p>
        </p:txBody>
      </p:sp>
      <p:sp>
        <p:nvSpPr>
          <p:cNvPr id="137" name="TextBox 136"/>
          <p:cNvSpPr txBox="1"/>
          <p:nvPr/>
        </p:nvSpPr>
        <p:spPr>
          <a:xfrm>
            <a:off x="41814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R&amp;D / technology</a:t>
            </a:r>
          </a:p>
        </p:txBody>
      </p:sp>
      <p:sp>
        <p:nvSpPr>
          <p:cNvPr id="138" name="Rectangle 137"/>
          <p:cNvSpPr/>
          <p:nvPr/>
        </p:nvSpPr>
        <p:spPr>
          <a:xfrm>
            <a:off x="5457825" y="6276975"/>
            <a:ext cx="285750" cy="152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54578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RG</a:t>
            </a:r>
          </a:p>
        </p:txBody>
      </p:sp>
      <p:sp>
        <p:nvSpPr>
          <p:cNvPr id="140" name="TextBox 139"/>
          <p:cNvSpPr txBox="1"/>
          <p:nvPr/>
        </p:nvSpPr>
        <p:spPr>
          <a:xfrm>
            <a:off x="57816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Regulation / compliance</a:t>
            </a:r>
          </a:p>
        </p:txBody>
      </p:sp>
      <p:sp>
        <p:nvSpPr>
          <p:cNvPr id="141" name="Rectangle 140"/>
          <p:cNvSpPr/>
          <p:nvPr/>
        </p:nvSpPr>
        <p:spPr>
          <a:xfrm>
            <a:off x="7524750" y="6276975"/>
            <a:ext cx="285750" cy="152400"/>
          </a:xfrm>
          <a:prstGeom prst="rect">
            <a:avLst/>
          </a:prstGeom>
          <a:solidFill>
            <a:srgbClr val="177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75247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CP</a:t>
            </a:r>
          </a:p>
        </p:txBody>
      </p:sp>
      <p:sp>
        <p:nvSpPr>
          <p:cNvPr id="143" name="TextBox 142"/>
          <p:cNvSpPr txBox="1"/>
          <p:nvPr/>
        </p:nvSpPr>
        <p:spPr>
          <a:xfrm>
            <a:off x="78486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Capital / funding</a:t>
            </a:r>
          </a:p>
        </p:txBody>
      </p:sp>
      <p:sp>
        <p:nvSpPr>
          <p:cNvPr id="144" name="TextBox 143"/>
          <p:cNvSpPr txBox="1"/>
          <p:nvPr/>
        </p:nvSpPr>
        <p:spPr>
          <a:xfrm>
            <a:off x="190500" y="6457950"/>
            <a:ext cx="11811000" cy="171450"/>
          </a:xfrm>
          <a:prstGeom prst="rect">
            <a:avLst/>
          </a:prstGeom>
          <a:noFill/>
        </p:spPr>
        <p:txBody>
          <a:bodyPr wrap="square" lIns="28575" rIns="28575" tIns="9525" bIns="9525" anchor="t">
            <a:spAutoFit/>
          </a:bodyPr>
          <a:lstStyle/>
          <a:p>
            <a:pPr algn="l"/>
            <a:r>
              <a:rPr sz="1100" b="0">
                <a:solidFill>
                  <a:srgbClr val="5F6B7A"/>
                </a:solidFill>
                <a:latin typeface="Calibri"/>
              </a:rPr>
              <a:t>Dates, deal values and evidence sources populate from the research feed; until then each row reads the player's most telling active strategy.</a:t>
            </a:r>
          </a:p>
        </p:txBody>
      </p:sp>
      <p:sp>
        <p:nvSpPr>
          <p:cNvPr id="145" name="Rectangle 14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47" name="Picture 146" descr="lock.png"/>
          <p:cNvPicPr>
            <a:picLocks noChangeAspect="1"/>
          </p:cNvPicPr>
          <p:nvPr/>
        </p:nvPicPr>
        <p:blipFill>
          <a:blip r:embed="rId4"/>
          <a:stretch>
            <a:fillRect/>
          </a:stretch>
        </p:blipFill>
        <p:spPr>
          <a:xfrm>
            <a:off x="4126650" y="1278001"/>
            <a:ext cx="128699" cy="187198"/>
          </a:xfrm>
          <a:prstGeom prst="rect">
            <a:avLst/>
          </a:prstGeom>
        </p:spPr>
      </p:pic>
      <p:pic>
        <p:nvPicPr>
          <p:cNvPr id="148" name="Picture 147" descr="lock.png"/>
          <p:cNvPicPr>
            <a:picLocks noChangeAspect="1"/>
          </p:cNvPicPr>
          <p:nvPr/>
        </p:nvPicPr>
        <p:blipFill>
          <a:blip r:embed="rId4"/>
          <a:stretch>
            <a:fillRect/>
          </a:stretch>
        </p:blipFill>
        <p:spPr>
          <a:xfrm>
            <a:off x="4126650" y="1773301"/>
            <a:ext cx="128699" cy="187198"/>
          </a:xfrm>
          <a:prstGeom prst="rect">
            <a:avLst/>
          </a:prstGeom>
        </p:spPr>
      </p:pic>
      <p:pic>
        <p:nvPicPr>
          <p:cNvPr id="149" name="Picture 148" descr="lock.png"/>
          <p:cNvPicPr>
            <a:picLocks noChangeAspect="1"/>
          </p:cNvPicPr>
          <p:nvPr/>
        </p:nvPicPr>
        <p:blipFill>
          <a:blip r:embed="rId4"/>
          <a:stretch>
            <a:fillRect/>
          </a:stretch>
        </p:blipFill>
        <p:spPr>
          <a:xfrm>
            <a:off x="4126650" y="2268601"/>
            <a:ext cx="128699" cy="187198"/>
          </a:xfrm>
          <a:prstGeom prst="rect">
            <a:avLst/>
          </a:prstGeom>
        </p:spPr>
      </p:pic>
      <p:pic>
        <p:nvPicPr>
          <p:cNvPr id="150" name="Picture 149" descr="lock.png"/>
          <p:cNvPicPr>
            <a:picLocks noChangeAspect="1"/>
          </p:cNvPicPr>
          <p:nvPr/>
        </p:nvPicPr>
        <p:blipFill>
          <a:blip r:embed="rId4"/>
          <a:stretch>
            <a:fillRect/>
          </a:stretch>
        </p:blipFill>
        <p:spPr>
          <a:xfrm>
            <a:off x="4126650" y="2763901"/>
            <a:ext cx="128699" cy="187198"/>
          </a:xfrm>
          <a:prstGeom prst="rect">
            <a:avLst/>
          </a:prstGeom>
        </p:spPr>
      </p:pic>
      <p:pic>
        <p:nvPicPr>
          <p:cNvPr id="151" name="Picture 150" descr="lock.png"/>
          <p:cNvPicPr>
            <a:picLocks noChangeAspect="1"/>
          </p:cNvPicPr>
          <p:nvPr/>
        </p:nvPicPr>
        <p:blipFill>
          <a:blip r:embed="rId4"/>
          <a:stretch>
            <a:fillRect/>
          </a:stretch>
        </p:blipFill>
        <p:spPr>
          <a:xfrm>
            <a:off x="4126650" y="32592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126650" y="3754501"/>
            <a:ext cx="128699" cy="187198"/>
          </a:xfrm>
          <a:prstGeom prst="rect">
            <a:avLst/>
          </a:prstGeom>
        </p:spPr>
      </p:pic>
      <p:pic>
        <p:nvPicPr>
          <p:cNvPr id="153" name="Picture 152" descr="lock.png"/>
          <p:cNvPicPr>
            <a:picLocks noChangeAspect="1"/>
          </p:cNvPicPr>
          <p:nvPr/>
        </p:nvPicPr>
        <p:blipFill>
          <a:blip r:embed="rId4"/>
          <a:stretch>
            <a:fillRect/>
          </a:stretch>
        </p:blipFill>
        <p:spPr>
          <a:xfrm>
            <a:off x="4126650" y="42498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126650" y="4745101"/>
            <a:ext cx="128699" cy="187198"/>
          </a:xfrm>
          <a:prstGeom prst="rect">
            <a:avLst/>
          </a:prstGeom>
        </p:spPr>
      </p:pic>
      <p:pic>
        <p:nvPicPr>
          <p:cNvPr id="155" name="Picture 154" descr="lock.png"/>
          <p:cNvPicPr>
            <a:picLocks noChangeAspect="1"/>
          </p:cNvPicPr>
          <p:nvPr/>
        </p:nvPicPr>
        <p:blipFill>
          <a:blip r:embed="rId4"/>
          <a:stretch>
            <a:fillRect/>
          </a:stretch>
        </p:blipFill>
        <p:spPr>
          <a:xfrm>
            <a:off x="4126650" y="5240401"/>
            <a:ext cx="128699" cy="187198"/>
          </a:xfrm>
          <a:prstGeom prst="rect">
            <a:avLst/>
          </a:prstGeom>
        </p:spPr>
      </p:pic>
      <p:pic>
        <p:nvPicPr>
          <p:cNvPr id="156" name="Picture 155" descr="lock.png"/>
          <p:cNvPicPr>
            <a:picLocks noChangeAspect="1"/>
          </p:cNvPicPr>
          <p:nvPr/>
        </p:nvPicPr>
        <p:blipFill>
          <a:blip r:embed="rId4"/>
          <a:stretch>
            <a:fillRect/>
          </a:stretch>
        </p:blipFill>
        <p:spPr>
          <a:xfrm>
            <a:off x="4126650" y="5735701"/>
            <a:ext cx="128699" cy="187198"/>
          </a:xfrm>
          <a:prstGeom prst="rect">
            <a:avLst/>
          </a:prstGeom>
        </p:spPr>
      </p:pic>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Strategic Activity by Function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Where competitor activity concentrates by type and department, and what it means for each function</a:t>
            </a:r>
          </a:p>
        </p:txBody>
      </p:sp>
      <p:sp>
        <p:nvSpPr>
          <p:cNvPr id="7" name="Rectangle 6"/>
          <p:cNvSpPr/>
          <p:nvPr/>
        </p:nvSpPr>
        <p:spPr>
          <a:xfrm>
            <a:off x="190500" y="16383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5750" y="16002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Atlas Copco</a:t>
            </a:r>
          </a:p>
        </p:txBody>
      </p:sp>
      <p:sp>
        <p:nvSpPr>
          <p:cNvPr id="9" name="Rectangle 8"/>
          <p:cNvSpPr/>
          <p:nvPr/>
        </p:nvSpPr>
        <p:spPr>
          <a:xfrm>
            <a:off x="190500" y="18859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5750" y="18478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Ingersoll Rand</a:t>
            </a:r>
          </a:p>
        </p:txBody>
      </p:sp>
      <p:sp>
        <p:nvSpPr>
          <p:cNvPr id="11" name="Rectangle 10"/>
          <p:cNvSpPr/>
          <p:nvPr/>
        </p:nvSpPr>
        <p:spPr>
          <a:xfrm>
            <a:off x="190500" y="21336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5750" y="20955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Hitachi</a:t>
            </a:r>
          </a:p>
        </p:txBody>
      </p:sp>
      <p:sp>
        <p:nvSpPr>
          <p:cNvPr id="13" name="Rectangle 12"/>
          <p:cNvSpPr/>
          <p:nvPr/>
        </p:nvSpPr>
        <p:spPr>
          <a:xfrm>
            <a:off x="190500" y="23812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5750" y="23431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KAESER KOMPRESSOREN</a:t>
            </a:r>
          </a:p>
        </p:txBody>
      </p:sp>
      <p:sp>
        <p:nvSpPr>
          <p:cNvPr id="15" name="Rectangle 14"/>
          <p:cNvSpPr/>
          <p:nvPr/>
        </p:nvSpPr>
        <p:spPr>
          <a:xfrm>
            <a:off x="190500" y="262890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5750" y="25908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Gardner Denver</a:t>
            </a:r>
          </a:p>
        </p:txBody>
      </p:sp>
      <p:sp>
        <p:nvSpPr>
          <p:cNvPr id="17" name="Rectangle 16"/>
          <p:cNvSpPr/>
          <p:nvPr/>
        </p:nvSpPr>
        <p:spPr>
          <a:xfrm>
            <a:off x="190500" y="287655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5750" y="28384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ELGi Equipments</a:t>
            </a:r>
          </a:p>
        </p:txBody>
      </p:sp>
      <p:sp>
        <p:nvSpPr>
          <p:cNvPr id="19" name="Rectangle 18"/>
          <p:cNvSpPr/>
          <p:nvPr/>
        </p:nvSpPr>
        <p:spPr>
          <a:xfrm>
            <a:off x="190500" y="31242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5750" y="30861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Kaishan Group</a:t>
            </a:r>
          </a:p>
        </p:txBody>
      </p:sp>
      <p:sp>
        <p:nvSpPr>
          <p:cNvPr id="21" name="Rectangle 20"/>
          <p:cNvSpPr/>
          <p:nvPr/>
        </p:nvSpPr>
        <p:spPr>
          <a:xfrm>
            <a:off x="190500" y="33718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5750" y="33337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BOGE KOMPRESSOREN</a:t>
            </a:r>
          </a:p>
        </p:txBody>
      </p:sp>
      <p:sp>
        <p:nvSpPr>
          <p:cNvPr id="23" name="Rectangle 22"/>
          <p:cNvSpPr/>
          <p:nvPr/>
        </p:nvSpPr>
        <p:spPr>
          <a:xfrm>
            <a:off x="190500" y="36195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5750" y="35814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ANEST IWATA</a:t>
            </a:r>
          </a:p>
        </p:txBody>
      </p:sp>
      <p:sp>
        <p:nvSpPr>
          <p:cNvPr id="25" name="Rectangle 24"/>
          <p:cNvSpPr/>
          <p:nvPr/>
        </p:nvSpPr>
        <p:spPr>
          <a:xfrm>
            <a:off x="190500" y="38671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38290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Quincy Compressor</a:t>
            </a:r>
          </a:p>
        </p:txBody>
      </p:sp>
      <p:sp>
        <p:nvSpPr>
          <p:cNvPr id="27" name="TextBox 26"/>
          <p:cNvSpPr txBox="1"/>
          <p:nvPr/>
        </p:nvSpPr>
        <p:spPr>
          <a:xfrm>
            <a:off x="1714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Moves by type (count)</a:t>
            </a:r>
          </a:p>
        </p:txBody>
      </p:sp>
      <p:sp>
        <p:nvSpPr>
          <p:cNvPr id="28" name="TextBox 27"/>
          <p:cNvSpPr txBox="1"/>
          <p:nvPr/>
        </p:nvSpPr>
        <p:spPr>
          <a:xfrm>
            <a:off x="1714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MA</a:t>
            </a:r>
          </a:p>
        </p:txBody>
      </p:sp>
      <p:sp>
        <p:nvSpPr>
          <p:cNvPr id="29" name="TextBox 28"/>
          <p:cNvSpPr txBox="1"/>
          <p:nvPr/>
        </p:nvSpPr>
        <p:spPr>
          <a:xfrm>
            <a:off x="2264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PR</a:t>
            </a:r>
          </a:p>
        </p:txBody>
      </p:sp>
      <p:sp>
        <p:nvSpPr>
          <p:cNvPr id="30" name="TextBox 29"/>
          <p:cNvSpPr txBox="1"/>
          <p:nvPr/>
        </p:nvSpPr>
        <p:spPr>
          <a:xfrm>
            <a:off x="2815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EX</a:t>
            </a:r>
          </a:p>
        </p:txBody>
      </p:sp>
      <p:sp>
        <p:nvSpPr>
          <p:cNvPr id="31" name="TextBox 30"/>
          <p:cNvSpPr txBox="1"/>
          <p:nvPr/>
        </p:nvSpPr>
        <p:spPr>
          <a:xfrm>
            <a:off x="3365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RD</a:t>
            </a:r>
          </a:p>
        </p:txBody>
      </p:sp>
      <p:sp>
        <p:nvSpPr>
          <p:cNvPr id="32" name="TextBox 31"/>
          <p:cNvSpPr txBox="1"/>
          <p:nvPr/>
        </p:nvSpPr>
        <p:spPr>
          <a:xfrm>
            <a:off x="3915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RG</a:t>
            </a:r>
          </a:p>
        </p:txBody>
      </p:sp>
      <p:sp>
        <p:nvSpPr>
          <p:cNvPr id="33" name="TextBox 32"/>
          <p:cNvSpPr txBox="1"/>
          <p:nvPr/>
        </p:nvSpPr>
        <p:spPr>
          <a:xfrm>
            <a:off x="4466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CP</a:t>
            </a:r>
          </a:p>
        </p:txBody>
      </p:sp>
      <p:sp>
        <p:nvSpPr>
          <p:cNvPr id="34" name="Rectangle 33"/>
          <p:cNvSpPr/>
          <p:nvPr/>
        </p:nvSpPr>
        <p:spPr>
          <a:xfrm>
            <a:off x="1724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714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6" name="Rectangle 35"/>
          <p:cNvSpPr/>
          <p:nvPr/>
        </p:nvSpPr>
        <p:spPr>
          <a:xfrm>
            <a:off x="2274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824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15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9" name="Rectangle 38"/>
          <p:cNvSpPr/>
          <p:nvPr/>
        </p:nvSpPr>
        <p:spPr>
          <a:xfrm>
            <a:off x="3375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65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1" name="Rectangle 40"/>
          <p:cNvSpPr/>
          <p:nvPr/>
        </p:nvSpPr>
        <p:spPr>
          <a:xfrm>
            <a:off x="3925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915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3" name="Rectangle 42"/>
          <p:cNvSpPr/>
          <p:nvPr/>
        </p:nvSpPr>
        <p:spPr>
          <a:xfrm>
            <a:off x="4475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66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5" name="Rectangle 44"/>
          <p:cNvSpPr/>
          <p:nvPr/>
        </p:nvSpPr>
        <p:spPr>
          <a:xfrm>
            <a:off x="1724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274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64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48" name="Rectangle 47"/>
          <p:cNvSpPr/>
          <p:nvPr/>
        </p:nvSpPr>
        <p:spPr>
          <a:xfrm>
            <a:off x="2824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815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0" name="Rectangle 49"/>
          <p:cNvSpPr/>
          <p:nvPr/>
        </p:nvSpPr>
        <p:spPr>
          <a:xfrm>
            <a:off x="3375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65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2" name="Rectangle 51"/>
          <p:cNvSpPr/>
          <p:nvPr/>
        </p:nvSpPr>
        <p:spPr>
          <a:xfrm>
            <a:off x="3925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75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466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5" name="Rectangle 54"/>
          <p:cNvSpPr/>
          <p:nvPr/>
        </p:nvSpPr>
        <p:spPr>
          <a:xfrm>
            <a:off x="1724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714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7" name="Rectangle 56"/>
          <p:cNvSpPr/>
          <p:nvPr/>
        </p:nvSpPr>
        <p:spPr>
          <a:xfrm>
            <a:off x="2274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824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815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0" name="Rectangle 59"/>
          <p:cNvSpPr/>
          <p:nvPr/>
        </p:nvSpPr>
        <p:spPr>
          <a:xfrm>
            <a:off x="3375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65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2" name="Rectangle 61"/>
          <p:cNvSpPr/>
          <p:nvPr/>
        </p:nvSpPr>
        <p:spPr>
          <a:xfrm>
            <a:off x="3925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915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4" name="Rectangle 63"/>
          <p:cNvSpPr/>
          <p:nvPr/>
        </p:nvSpPr>
        <p:spPr>
          <a:xfrm>
            <a:off x="4475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466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6" name="Rectangle 65"/>
          <p:cNvSpPr/>
          <p:nvPr/>
        </p:nvSpPr>
        <p:spPr>
          <a:xfrm>
            <a:off x="1724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274358"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264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69" name="Rectangle 68"/>
          <p:cNvSpPr/>
          <p:nvPr/>
        </p:nvSpPr>
        <p:spPr>
          <a:xfrm>
            <a:off x="2824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815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1" name="Rectangle 70"/>
          <p:cNvSpPr/>
          <p:nvPr/>
        </p:nvSpPr>
        <p:spPr>
          <a:xfrm>
            <a:off x="3375025"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365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3" name="Rectangle 72"/>
          <p:cNvSpPr/>
          <p:nvPr/>
        </p:nvSpPr>
        <p:spPr>
          <a:xfrm>
            <a:off x="3925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4475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466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6" name="Rectangle 75"/>
          <p:cNvSpPr/>
          <p:nvPr/>
        </p:nvSpPr>
        <p:spPr>
          <a:xfrm>
            <a:off x="1724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714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8" name="Rectangle 77"/>
          <p:cNvSpPr/>
          <p:nvPr/>
        </p:nvSpPr>
        <p:spPr>
          <a:xfrm>
            <a:off x="2274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824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815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1" name="Rectangle 80"/>
          <p:cNvSpPr/>
          <p:nvPr/>
        </p:nvSpPr>
        <p:spPr>
          <a:xfrm>
            <a:off x="3375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365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3" name="Rectangle 82"/>
          <p:cNvSpPr/>
          <p:nvPr/>
        </p:nvSpPr>
        <p:spPr>
          <a:xfrm>
            <a:off x="3925358"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915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5" name="Rectangle 84"/>
          <p:cNvSpPr/>
          <p:nvPr/>
        </p:nvSpPr>
        <p:spPr>
          <a:xfrm>
            <a:off x="4475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466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7" name="Rectangle 86"/>
          <p:cNvSpPr/>
          <p:nvPr/>
        </p:nvSpPr>
        <p:spPr>
          <a:xfrm>
            <a:off x="1724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2274358"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264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90" name="Rectangle 89"/>
          <p:cNvSpPr/>
          <p:nvPr/>
        </p:nvSpPr>
        <p:spPr>
          <a:xfrm>
            <a:off x="2824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815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2" name="Rectangle 91"/>
          <p:cNvSpPr/>
          <p:nvPr/>
        </p:nvSpPr>
        <p:spPr>
          <a:xfrm>
            <a:off x="3375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365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4" name="Rectangle 93"/>
          <p:cNvSpPr/>
          <p:nvPr/>
        </p:nvSpPr>
        <p:spPr>
          <a:xfrm>
            <a:off x="3925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4475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466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7" name="Rectangle 96"/>
          <p:cNvSpPr/>
          <p:nvPr/>
        </p:nvSpPr>
        <p:spPr>
          <a:xfrm>
            <a:off x="1724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714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9" name="Rectangle 98"/>
          <p:cNvSpPr/>
          <p:nvPr/>
        </p:nvSpPr>
        <p:spPr>
          <a:xfrm>
            <a:off x="2274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2824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815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2" name="Rectangle 101"/>
          <p:cNvSpPr/>
          <p:nvPr/>
        </p:nvSpPr>
        <p:spPr>
          <a:xfrm>
            <a:off x="3375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3365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4" name="Rectangle 103"/>
          <p:cNvSpPr/>
          <p:nvPr/>
        </p:nvSpPr>
        <p:spPr>
          <a:xfrm>
            <a:off x="3925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3915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6" name="Rectangle 105"/>
          <p:cNvSpPr/>
          <p:nvPr/>
        </p:nvSpPr>
        <p:spPr>
          <a:xfrm>
            <a:off x="4475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466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8" name="Rectangle 107"/>
          <p:cNvSpPr/>
          <p:nvPr/>
        </p:nvSpPr>
        <p:spPr>
          <a:xfrm>
            <a:off x="1724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2274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264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11" name="Rectangle 110"/>
          <p:cNvSpPr/>
          <p:nvPr/>
        </p:nvSpPr>
        <p:spPr>
          <a:xfrm>
            <a:off x="2824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815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3" name="Rectangle 112"/>
          <p:cNvSpPr/>
          <p:nvPr/>
        </p:nvSpPr>
        <p:spPr>
          <a:xfrm>
            <a:off x="3375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365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5" name="Rectangle 114"/>
          <p:cNvSpPr/>
          <p:nvPr/>
        </p:nvSpPr>
        <p:spPr>
          <a:xfrm>
            <a:off x="3925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4475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466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8" name="Rectangle 117"/>
          <p:cNvSpPr/>
          <p:nvPr/>
        </p:nvSpPr>
        <p:spPr>
          <a:xfrm>
            <a:off x="1724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714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0" name="Rectangle 119"/>
          <p:cNvSpPr/>
          <p:nvPr/>
        </p:nvSpPr>
        <p:spPr>
          <a:xfrm>
            <a:off x="2274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2824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815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3" name="Rectangle 122"/>
          <p:cNvSpPr/>
          <p:nvPr/>
        </p:nvSpPr>
        <p:spPr>
          <a:xfrm>
            <a:off x="3375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365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5" name="Rectangle 124"/>
          <p:cNvSpPr/>
          <p:nvPr/>
        </p:nvSpPr>
        <p:spPr>
          <a:xfrm>
            <a:off x="3925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3915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7" name="Rectangle 126"/>
          <p:cNvSpPr/>
          <p:nvPr/>
        </p:nvSpPr>
        <p:spPr>
          <a:xfrm>
            <a:off x="4475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466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9" name="Rectangle 128"/>
          <p:cNvSpPr/>
          <p:nvPr/>
        </p:nvSpPr>
        <p:spPr>
          <a:xfrm>
            <a:off x="1724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2274358"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264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32" name="Rectangle 131"/>
          <p:cNvSpPr/>
          <p:nvPr/>
        </p:nvSpPr>
        <p:spPr>
          <a:xfrm>
            <a:off x="2824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815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4" name="Rectangle 133"/>
          <p:cNvSpPr/>
          <p:nvPr/>
        </p:nvSpPr>
        <p:spPr>
          <a:xfrm>
            <a:off x="3375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365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6" name="Rectangle 135"/>
          <p:cNvSpPr/>
          <p:nvPr/>
        </p:nvSpPr>
        <p:spPr>
          <a:xfrm>
            <a:off x="3925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4475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4466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9" name="TextBox 138"/>
          <p:cNvSpPr txBox="1"/>
          <p:nvPr/>
        </p:nvSpPr>
        <p:spPr>
          <a:xfrm>
            <a:off x="52070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department</a:t>
            </a:r>
          </a:p>
        </p:txBody>
      </p:sp>
      <p:sp>
        <p:nvSpPr>
          <p:cNvPr id="140" name="TextBox 139"/>
          <p:cNvSpPr txBox="1"/>
          <p:nvPr/>
        </p:nvSpPr>
        <p:spPr>
          <a:xfrm>
            <a:off x="5207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Product &amp; R&amp;D</a:t>
            </a:r>
          </a:p>
        </p:txBody>
      </p:sp>
      <p:sp>
        <p:nvSpPr>
          <p:cNvPr id="141" name="TextBox 140"/>
          <p:cNvSpPr txBox="1"/>
          <p:nvPr/>
        </p:nvSpPr>
        <p:spPr>
          <a:xfrm>
            <a:off x="6032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Corp. dev.</a:t>
            </a:r>
          </a:p>
        </p:txBody>
      </p:sp>
      <p:sp>
        <p:nvSpPr>
          <p:cNvPr id="142" name="TextBox 141"/>
          <p:cNvSpPr txBox="1"/>
          <p:nvPr/>
        </p:nvSpPr>
        <p:spPr>
          <a:xfrm>
            <a:off x="6858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Operations</a:t>
            </a:r>
          </a:p>
        </p:txBody>
      </p:sp>
      <p:sp>
        <p:nvSpPr>
          <p:cNvPr id="143" name="TextBox 142"/>
          <p:cNvSpPr txBox="1"/>
          <p:nvPr/>
        </p:nvSpPr>
        <p:spPr>
          <a:xfrm>
            <a:off x="7683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Legal &amp; reg.</a:t>
            </a:r>
          </a:p>
        </p:txBody>
      </p:sp>
      <p:sp>
        <p:nvSpPr>
          <p:cNvPr id="144" name="Rectangle 143"/>
          <p:cNvSpPr/>
          <p:nvPr/>
        </p:nvSpPr>
        <p:spPr>
          <a:xfrm>
            <a:off x="5216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207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6" name="Rectangle 145"/>
          <p:cNvSpPr/>
          <p:nvPr/>
        </p:nvSpPr>
        <p:spPr>
          <a:xfrm>
            <a:off x="6042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6032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8" name="Rectangle 147"/>
          <p:cNvSpPr/>
          <p:nvPr/>
        </p:nvSpPr>
        <p:spPr>
          <a:xfrm>
            <a:off x="6867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858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0" name="Rectangle 149"/>
          <p:cNvSpPr/>
          <p:nvPr/>
        </p:nvSpPr>
        <p:spPr>
          <a:xfrm>
            <a:off x="7693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683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2" name="Rectangle 151"/>
          <p:cNvSpPr/>
          <p:nvPr/>
        </p:nvSpPr>
        <p:spPr>
          <a:xfrm>
            <a:off x="5216525" y="18573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5207000" y="18573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54" name="Rectangle 153"/>
          <p:cNvSpPr/>
          <p:nvPr/>
        </p:nvSpPr>
        <p:spPr>
          <a:xfrm>
            <a:off x="6042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6867525" y="18573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858000" y="18573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7" name="Rectangle 156"/>
          <p:cNvSpPr/>
          <p:nvPr/>
        </p:nvSpPr>
        <p:spPr>
          <a:xfrm>
            <a:off x="7693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5216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5207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0" name="Rectangle 159"/>
          <p:cNvSpPr/>
          <p:nvPr/>
        </p:nvSpPr>
        <p:spPr>
          <a:xfrm>
            <a:off x="6042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032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2" name="Rectangle 161"/>
          <p:cNvSpPr/>
          <p:nvPr/>
        </p:nvSpPr>
        <p:spPr>
          <a:xfrm>
            <a:off x="6867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6858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4" name="Rectangle 163"/>
          <p:cNvSpPr/>
          <p:nvPr/>
        </p:nvSpPr>
        <p:spPr>
          <a:xfrm>
            <a:off x="7693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7683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6" name="Rectangle 165"/>
          <p:cNvSpPr/>
          <p:nvPr/>
        </p:nvSpPr>
        <p:spPr>
          <a:xfrm>
            <a:off x="5216525" y="23526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5207000" y="23526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68" name="Rectangle 167"/>
          <p:cNvSpPr/>
          <p:nvPr/>
        </p:nvSpPr>
        <p:spPr>
          <a:xfrm>
            <a:off x="6042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6867525" y="23526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6858000" y="23526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1" name="Rectangle 170"/>
          <p:cNvSpPr/>
          <p:nvPr/>
        </p:nvSpPr>
        <p:spPr>
          <a:xfrm>
            <a:off x="7693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5216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5207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4" name="Rectangle 173"/>
          <p:cNvSpPr/>
          <p:nvPr/>
        </p:nvSpPr>
        <p:spPr>
          <a:xfrm>
            <a:off x="6042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6032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6" name="Rectangle 175"/>
          <p:cNvSpPr/>
          <p:nvPr/>
        </p:nvSpPr>
        <p:spPr>
          <a:xfrm>
            <a:off x="6867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858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8" name="Rectangle 177"/>
          <p:cNvSpPr/>
          <p:nvPr/>
        </p:nvSpPr>
        <p:spPr>
          <a:xfrm>
            <a:off x="7693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7683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0" name="Rectangle 179"/>
          <p:cNvSpPr/>
          <p:nvPr/>
        </p:nvSpPr>
        <p:spPr>
          <a:xfrm>
            <a:off x="5216525" y="28479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5207000" y="28479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82" name="Rectangle 181"/>
          <p:cNvSpPr/>
          <p:nvPr/>
        </p:nvSpPr>
        <p:spPr>
          <a:xfrm>
            <a:off x="6042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6867525" y="28479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6858000" y="28479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5" name="Rectangle 184"/>
          <p:cNvSpPr/>
          <p:nvPr/>
        </p:nvSpPr>
        <p:spPr>
          <a:xfrm>
            <a:off x="7693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5216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5207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8" name="Rectangle 187"/>
          <p:cNvSpPr/>
          <p:nvPr/>
        </p:nvSpPr>
        <p:spPr>
          <a:xfrm>
            <a:off x="6042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6032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0" name="Rectangle 189"/>
          <p:cNvSpPr/>
          <p:nvPr/>
        </p:nvSpPr>
        <p:spPr>
          <a:xfrm>
            <a:off x="6867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6858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2" name="Rectangle 191"/>
          <p:cNvSpPr/>
          <p:nvPr/>
        </p:nvSpPr>
        <p:spPr>
          <a:xfrm>
            <a:off x="7693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7683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4" name="Rectangle 193"/>
          <p:cNvSpPr/>
          <p:nvPr/>
        </p:nvSpPr>
        <p:spPr>
          <a:xfrm>
            <a:off x="5216525" y="33432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5207000" y="33432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96" name="Rectangle 195"/>
          <p:cNvSpPr/>
          <p:nvPr/>
        </p:nvSpPr>
        <p:spPr>
          <a:xfrm>
            <a:off x="6042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6867525" y="33432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6858000" y="33432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9" name="Rectangle 198"/>
          <p:cNvSpPr/>
          <p:nvPr/>
        </p:nvSpPr>
        <p:spPr>
          <a:xfrm>
            <a:off x="7693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5216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5207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2" name="Rectangle 201"/>
          <p:cNvSpPr/>
          <p:nvPr/>
        </p:nvSpPr>
        <p:spPr>
          <a:xfrm>
            <a:off x="6042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6032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4" name="Rectangle 203"/>
          <p:cNvSpPr/>
          <p:nvPr/>
        </p:nvSpPr>
        <p:spPr>
          <a:xfrm>
            <a:off x="6867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6858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6" name="Rectangle 205"/>
          <p:cNvSpPr/>
          <p:nvPr/>
        </p:nvSpPr>
        <p:spPr>
          <a:xfrm>
            <a:off x="7693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7683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8" name="Rectangle 207"/>
          <p:cNvSpPr/>
          <p:nvPr/>
        </p:nvSpPr>
        <p:spPr>
          <a:xfrm>
            <a:off x="5216525" y="38385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5207000" y="38385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210" name="Rectangle 209"/>
          <p:cNvSpPr/>
          <p:nvPr/>
        </p:nvSpPr>
        <p:spPr>
          <a:xfrm>
            <a:off x="6042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6867525" y="38385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6858000" y="38385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3" name="Rectangle 212"/>
          <p:cNvSpPr/>
          <p:nvPr/>
        </p:nvSpPr>
        <p:spPr>
          <a:xfrm>
            <a:off x="7693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8699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region of activity</a:t>
            </a:r>
          </a:p>
        </p:txBody>
      </p:sp>
      <p:sp>
        <p:nvSpPr>
          <p:cNvPr id="215" name="TextBox 214"/>
          <p:cNvSpPr txBox="1"/>
          <p:nvPr/>
        </p:nvSpPr>
        <p:spPr>
          <a:xfrm>
            <a:off x="8699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N. America</a:t>
            </a:r>
          </a:p>
        </p:txBody>
      </p:sp>
      <p:sp>
        <p:nvSpPr>
          <p:cNvPr id="216" name="TextBox 215"/>
          <p:cNvSpPr txBox="1"/>
          <p:nvPr/>
        </p:nvSpPr>
        <p:spPr>
          <a:xfrm>
            <a:off x="9249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S. Asia &amp; Pac.</a:t>
            </a:r>
          </a:p>
        </p:txBody>
      </p:sp>
      <p:sp>
        <p:nvSpPr>
          <p:cNvPr id="217" name="TextBox 216"/>
          <p:cNvSpPr txBox="1"/>
          <p:nvPr/>
        </p:nvSpPr>
        <p:spPr>
          <a:xfrm>
            <a:off x="9800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 Asia</a:t>
            </a:r>
          </a:p>
        </p:txBody>
      </p:sp>
      <p:sp>
        <p:nvSpPr>
          <p:cNvPr id="218" name="TextBox 217"/>
          <p:cNvSpPr txBox="1"/>
          <p:nvPr/>
        </p:nvSpPr>
        <p:spPr>
          <a:xfrm>
            <a:off x="10350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LATAM</a:t>
            </a:r>
          </a:p>
        </p:txBody>
      </p:sp>
      <p:sp>
        <p:nvSpPr>
          <p:cNvPr id="219" name="TextBox 218"/>
          <p:cNvSpPr txBox="1"/>
          <p:nvPr/>
        </p:nvSpPr>
        <p:spPr>
          <a:xfrm>
            <a:off x="10900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MEA</a:t>
            </a:r>
          </a:p>
        </p:txBody>
      </p:sp>
      <p:sp>
        <p:nvSpPr>
          <p:cNvPr id="220" name="TextBox 219"/>
          <p:cNvSpPr txBox="1"/>
          <p:nvPr/>
        </p:nvSpPr>
        <p:spPr>
          <a:xfrm>
            <a:off x="11451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 Europe</a:t>
            </a:r>
          </a:p>
        </p:txBody>
      </p:sp>
      <p:sp>
        <p:nvSpPr>
          <p:cNvPr id="221" name="Rectangle 220"/>
          <p:cNvSpPr/>
          <p:nvPr/>
        </p:nvSpPr>
        <p:spPr>
          <a:xfrm>
            <a:off x="8709025" y="16097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8699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23" name="Rectangle 222"/>
          <p:cNvSpPr/>
          <p:nvPr/>
        </p:nvSpPr>
        <p:spPr>
          <a:xfrm>
            <a:off x="9259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9249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5" name="Rectangle 224"/>
          <p:cNvSpPr/>
          <p:nvPr/>
        </p:nvSpPr>
        <p:spPr>
          <a:xfrm>
            <a:off x="9809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9800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7" name="Rectangle 226"/>
          <p:cNvSpPr/>
          <p:nvPr/>
        </p:nvSpPr>
        <p:spPr>
          <a:xfrm>
            <a:off x="10360025"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10910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1460692"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8709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9259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9249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33" name="Rectangle 232"/>
          <p:cNvSpPr/>
          <p:nvPr/>
        </p:nvSpPr>
        <p:spPr>
          <a:xfrm>
            <a:off x="9809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9800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5" name="Rectangle 234"/>
          <p:cNvSpPr/>
          <p:nvPr/>
        </p:nvSpPr>
        <p:spPr>
          <a:xfrm>
            <a:off x="10360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10350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7" name="Rectangle 236"/>
          <p:cNvSpPr/>
          <p:nvPr/>
        </p:nvSpPr>
        <p:spPr>
          <a:xfrm>
            <a:off x="10910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11460692"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8709025"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9259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9809692" y="21050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9800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43" name="Rectangle 242"/>
          <p:cNvSpPr/>
          <p:nvPr/>
        </p:nvSpPr>
        <p:spPr>
          <a:xfrm>
            <a:off x="10360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10350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5" name="Rectangle 244"/>
          <p:cNvSpPr/>
          <p:nvPr/>
        </p:nvSpPr>
        <p:spPr>
          <a:xfrm>
            <a:off x="10910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TextBox 245"/>
          <p:cNvSpPr txBox="1"/>
          <p:nvPr/>
        </p:nvSpPr>
        <p:spPr>
          <a:xfrm>
            <a:off x="10900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7" name="Rectangle 246"/>
          <p:cNvSpPr/>
          <p:nvPr/>
        </p:nvSpPr>
        <p:spPr>
          <a:xfrm>
            <a:off x="11460692"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8709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259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9809692"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10360025"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TextBox 251"/>
          <p:cNvSpPr txBox="1"/>
          <p:nvPr/>
        </p:nvSpPr>
        <p:spPr>
          <a:xfrm>
            <a:off x="10350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53" name="Rectangle 252"/>
          <p:cNvSpPr/>
          <p:nvPr/>
        </p:nvSpPr>
        <p:spPr>
          <a:xfrm>
            <a:off x="10910358"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TextBox 253"/>
          <p:cNvSpPr txBox="1"/>
          <p:nvPr/>
        </p:nvSpPr>
        <p:spPr>
          <a:xfrm>
            <a:off x="10900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5" name="Rectangle 254"/>
          <p:cNvSpPr/>
          <p:nvPr/>
        </p:nvSpPr>
        <p:spPr>
          <a:xfrm>
            <a:off x="11460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255"/>
          <p:cNvSpPr txBox="1"/>
          <p:nvPr/>
        </p:nvSpPr>
        <p:spPr>
          <a:xfrm>
            <a:off x="11451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7" name="Rectangle 256"/>
          <p:cNvSpPr/>
          <p:nvPr/>
        </p:nvSpPr>
        <p:spPr>
          <a:xfrm>
            <a:off x="8709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9259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9809692"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10360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10910358" y="26003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TextBox 261"/>
          <p:cNvSpPr txBox="1"/>
          <p:nvPr/>
        </p:nvSpPr>
        <p:spPr>
          <a:xfrm>
            <a:off x="10900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63" name="Rectangle 262"/>
          <p:cNvSpPr/>
          <p:nvPr/>
        </p:nvSpPr>
        <p:spPr>
          <a:xfrm>
            <a:off x="11460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11451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5" name="Rectangle 264"/>
          <p:cNvSpPr/>
          <p:nvPr/>
        </p:nvSpPr>
        <p:spPr>
          <a:xfrm>
            <a:off x="8709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8699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7" name="Rectangle 266"/>
          <p:cNvSpPr/>
          <p:nvPr/>
        </p:nvSpPr>
        <p:spPr>
          <a:xfrm>
            <a:off x="9259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ectangle 267"/>
          <p:cNvSpPr/>
          <p:nvPr/>
        </p:nvSpPr>
        <p:spPr>
          <a:xfrm>
            <a:off x="9809692"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10360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10910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11460692"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11451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73" name="Rectangle 272"/>
          <p:cNvSpPr/>
          <p:nvPr/>
        </p:nvSpPr>
        <p:spPr>
          <a:xfrm>
            <a:off x="8709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8699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5" name="Rectangle 274"/>
          <p:cNvSpPr/>
          <p:nvPr/>
        </p:nvSpPr>
        <p:spPr>
          <a:xfrm>
            <a:off x="9259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9249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7" name="Rectangle 276"/>
          <p:cNvSpPr/>
          <p:nvPr/>
        </p:nvSpPr>
        <p:spPr>
          <a:xfrm>
            <a:off x="9809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10360025"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10910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11460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8709025"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8699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83" name="Rectangle 282"/>
          <p:cNvSpPr/>
          <p:nvPr/>
        </p:nvSpPr>
        <p:spPr>
          <a:xfrm>
            <a:off x="9259358"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TextBox 283"/>
          <p:cNvSpPr txBox="1"/>
          <p:nvPr/>
        </p:nvSpPr>
        <p:spPr>
          <a:xfrm>
            <a:off x="9249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5" name="Rectangle 284"/>
          <p:cNvSpPr/>
          <p:nvPr/>
        </p:nvSpPr>
        <p:spPr>
          <a:xfrm>
            <a:off x="9809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TextBox 285"/>
          <p:cNvSpPr txBox="1"/>
          <p:nvPr/>
        </p:nvSpPr>
        <p:spPr>
          <a:xfrm>
            <a:off x="9800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7" name="Rectangle 286"/>
          <p:cNvSpPr/>
          <p:nvPr/>
        </p:nvSpPr>
        <p:spPr>
          <a:xfrm>
            <a:off x="10360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10910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11460692"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8709025"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9259358" y="35909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9249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93" name="Rectangle 292"/>
          <p:cNvSpPr/>
          <p:nvPr/>
        </p:nvSpPr>
        <p:spPr>
          <a:xfrm>
            <a:off x="9809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9800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5" name="Rectangle 294"/>
          <p:cNvSpPr/>
          <p:nvPr/>
        </p:nvSpPr>
        <p:spPr>
          <a:xfrm>
            <a:off x="10360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10350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7" name="Rectangle 296"/>
          <p:cNvSpPr/>
          <p:nvPr/>
        </p:nvSpPr>
        <p:spPr>
          <a:xfrm>
            <a:off x="10910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11460692"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Rectangle 298"/>
          <p:cNvSpPr/>
          <p:nvPr/>
        </p:nvSpPr>
        <p:spPr>
          <a:xfrm>
            <a:off x="8709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ectangle 299"/>
          <p:cNvSpPr/>
          <p:nvPr/>
        </p:nvSpPr>
        <p:spPr>
          <a:xfrm>
            <a:off x="9259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9809692"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TextBox 301"/>
          <p:cNvSpPr txBox="1"/>
          <p:nvPr/>
        </p:nvSpPr>
        <p:spPr>
          <a:xfrm>
            <a:off x="9800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303" name="Rectangle 302"/>
          <p:cNvSpPr/>
          <p:nvPr/>
        </p:nvSpPr>
        <p:spPr>
          <a:xfrm>
            <a:off x="10360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TextBox 303"/>
          <p:cNvSpPr txBox="1"/>
          <p:nvPr/>
        </p:nvSpPr>
        <p:spPr>
          <a:xfrm>
            <a:off x="10350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5" name="Rectangle 304"/>
          <p:cNvSpPr/>
          <p:nvPr/>
        </p:nvSpPr>
        <p:spPr>
          <a:xfrm>
            <a:off x="10910358"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TextBox 305"/>
          <p:cNvSpPr txBox="1"/>
          <p:nvPr/>
        </p:nvSpPr>
        <p:spPr>
          <a:xfrm>
            <a:off x="10900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7" name="Rectangle 306"/>
          <p:cNvSpPr/>
          <p:nvPr/>
        </p:nvSpPr>
        <p:spPr>
          <a:xfrm>
            <a:off x="11460692"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90500" y="4171950"/>
            <a:ext cx="209550" cy="123825"/>
          </a:xfrm>
          <a:prstGeom prst="rect">
            <a:avLst/>
          </a:prstGeom>
          <a:solidFill>
            <a:srgbClr val="CFE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4381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1 move</a:t>
            </a:r>
          </a:p>
        </p:txBody>
      </p:sp>
      <p:sp>
        <p:nvSpPr>
          <p:cNvPr id="310" name="Rectangle 309"/>
          <p:cNvSpPr/>
          <p:nvPr/>
        </p:nvSpPr>
        <p:spPr>
          <a:xfrm>
            <a:off x="1238250" y="4171950"/>
            <a:ext cx="209550" cy="123825"/>
          </a:xfrm>
          <a:prstGeom prst="rect">
            <a:avLst/>
          </a:prstGeom>
          <a:solidFill>
            <a:srgbClr val="8FB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148590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2 moves</a:t>
            </a:r>
          </a:p>
        </p:txBody>
      </p:sp>
      <p:sp>
        <p:nvSpPr>
          <p:cNvPr id="312" name="Rectangle 311"/>
          <p:cNvSpPr/>
          <p:nvPr/>
        </p:nvSpPr>
        <p:spPr>
          <a:xfrm>
            <a:off x="2286000" y="4171950"/>
            <a:ext cx="209550" cy="123825"/>
          </a:xfrm>
          <a:prstGeom prst="rect">
            <a:avLst/>
          </a:prstGeom>
          <a:solidFill>
            <a:srgbClr val="3D7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25336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3+ moves</a:t>
            </a:r>
          </a:p>
        </p:txBody>
      </p:sp>
      <p:sp>
        <p:nvSpPr>
          <p:cNvPr id="314" name="TextBox 313"/>
          <p:cNvSpPr txBox="1"/>
          <p:nvPr/>
        </p:nvSpPr>
        <p:spPr>
          <a:xfrm>
            <a:off x="3524250" y="4133850"/>
            <a:ext cx="8477250" cy="190500"/>
          </a:xfrm>
          <a:prstGeom prst="rect">
            <a:avLst/>
          </a:prstGeom>
          <a:noFill/>
        </p:spPr>
        <p:txBody>
          <a:bodyPr wrap="square" lIns="28575" rIns="28575" tIns="9525" bIns="9525" anchor="ctr">
            <a:spAutoFit/>
          </a:bodyPr>
          <a:lstStyle/>
          <a:p>
            <a:pPr algn="l"/>
            <a:r>
              <a:rPr sz="1100" b="0">
                <a:solidFill>
                  <a:srgbClr val="5F6B7A"/>
                </a:solidFill>
                <a:latin typeface="Calibri"/>
              </a:rPr>
              <a:t>Type codes: MA M&amp;A, PR Product / portfolio, EX Expansion, RD R&amp;D / technology, RG Regulation / compliance, CP Capital / funding</a:t>
            </a:r>
          </a:p>
        </p:txBody>
      </p:sp>
      <p:cxnSp>
        <p:nvCxnSpPr>
          <p:cNvPr id="315" name="Connector 314"/>
          <p:cNvCxnSpPr/>
          <p:nvPr/>
        </p:nvCxnSpPr>
        <p:spPr>
          <a:xfrm>
            <a:off x="190500" y="4400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16" name="TextBox 315"/>
          <p:cNvSpPr txBox="1"/>
          <p:nvPr/>
        </p:nvSpPr>
        <p:spPr>
          <a:xfrm>
            <a:off x="190500" y="445770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WHAT IT MEANS FOR EACH OF YOUR DEPARTMENTS</a:t>
            </a:r>
          </a:p>
        </p:txBody>
      </p:sp>
      <p:sp>
        <p:nvSpPr>
          <p:cNvPr id="317" name="Rectangle 316"/>
          <p:cNvSpPr/>
          <p:nvPr/>
        </p:nvSpPr>
        <p:spPr>
          <a:xfrm>
            <a:off x="1905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TextBox 317"/>
          <p:cNvSpPr txBox="1"/>
          <p:nvPr/>
        </p:nvSpPr>
        <p:spPr>
          <a:xfrm>
            <a:off x="2667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Sales</a:t>
            </a:r>
          </a:p>
        </p:txBody>
      </p:sp>
      <p:sp>
        <p:nvSpPr>
          <p:cNvPr id="319" name="TextBox 318"/>
          <p:cNvSpPr txBox="1"/>
          <p:nvPr/>
        </p:nvSpPr>
        <p:spPr>
          <a:xfrm>
            <a:off x="1905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10 expansion moves target new regions and volume tiers: defend key accounts where rivals expand.</a:t>
            </a:r>
          </a:p>
        </p:txBody>
      </p:sp>
      <p:sp>
        <p:nvSpPr>
          <p:cNvPr id="320" name="Rectangle 319"/>
          <p:cNvSpPr/>
          <p:nvPr/>
        </p:nvSpPr>
        <p:spPr>
          <a:xfrm>
            <a:off x="21780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22542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Marketing</a:t>
            </a:r>
          </a:p>
        </p:txBody>
      </p:sp>
      <p:sp>
        <p:nvSpPr>
          <p:cNvPr id="322" name="TextBox 321"/>
          <p:cNvSpPr txBox="1"/>
          <p:nvPr/>
        </p:nvSpPr>
        <p:spPr>
          <a:xfrm>
            <a:off x="21780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Certification and compliance are being used as trust signals; make your own credentials visible.</a:t>
            </a:r>
          </a:p>
        </p:txBody>
      </p:sp>
      <p:sp>
        <p:nvSpPr>
          <p:cNvPr id="323" name="Rectangle 322"/>
          <p:cNvSpPr/>
          <p:nvPr/>
        </p:nvSpPr>
        <p:spPr>
          <a:xfrm>
            <a:off x="41656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42418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Product and R&amp;D</a:t>
            </a:r>
          </a:p>
        </p:txBody>
      </p:sp>
      <p:sp>
        <p:nvSpPr>
          <p:cNvPr id="325" name="TextBox 324"/>
          <p:cNvSpPr txBox="1"/>
          <p:nvPr/>
        </p:nvSpPr>
        <p:spPr>
          <a:xfrm>
            <a:off x="41656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20 product and R&amp;D moves: benchmark launches and the technology roadmap.</a:t>
            </a:r>
          </a:p>
        </p:txBody>
      </p:sp>
      <p:sp>
        <p:nvSpPr>
          <p:cNvPr id="326" name="Rectangle 325"/>
          <p:cNvSpPr/>
          <p:nvPr/>
        </p:nvSpPr>
        <p:spPr>
          <a:xfrm>
            <a:off x="61531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62293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Corporate development</a:t>
            </a:r>
          </a:p>
        </p:txBody>
      </p:sp>
      <p:sp>
        <p:nvSpPr>
          <p:cNvPr id="328" name="TextBox 327"/>
          <p:cNvSpPr txBox="1"/>
          <p:nvPr/>
        </p:nvSpPr>
        <p:spPr>
          <a:xfrm>
            <a:off x="61531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are acquiring; the independent target list is shrinking.</a:t>
            </a:r>
          </a:p>
        </p:txBody>
      </p:sp>
      <p:sp>
        <p:nvSpPr>
          <p:cNvPr id="329" name="Rectangle 328"/>
          <p:cNvSpPr/>
          <p:nvPr/>
        </p:nvSpPr>
        <p:spPr>
          <a:xfrm>
            <a:off x="81407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82169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Operations</a:t>
            </a:r>
          </a:p>
        </p:txBody>
      </p:sp>
      <p:sp>
        <p:nvSpPr>
          <p:cNvPr id="331" name="TextBox 330"/>
          <p:cNvSpPr txBox="1"/>
          <p:nvPr/>
        </p:nvSpPr>
        <p:spPr>
          <a:xfrm>
            <a:off x="81407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Expansion moves add capacity in rivals' home regions; review supply and lead times.</a:t>
            </a:r>
          </a:p>
        </p:txBody>
      </p:sp>
      <p:sp>
        <p:nvSpPr>
          <p:cNvPr id="332" name="Rectangle 331"/>
          <p:cNvSpPr/>
          <p:nvPr/>
        </p:nvSpPr>
        <p:spPr>
          <a:xfrm>
            <a:off x="101282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102044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Legal and regulatory</a:t>
            </a:r>
          </a:p>
        </p:txBody>
      </p:sp>
      <p:sp>
        <p:nvSpPr>
          <p:cNvPr id="334" name="TextBox 333"/>
          <p:cNvSpPr txBox="1"/>
          <p:nvPr/>
        </p:nvSpPr>
        <p:spPr>
          <a:xfrm>
            <a:off x="101282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lean on certification; audit your own compliance position.</a:t>
            </a:r>
          </a:p>
        </p:txBody>
      </p:sp>
      <p:sp>
        <p:nvSpPr>
          <p:cNvPr id="335" name="Rectangle 33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Industrial Air Compressor Market, Global 2026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7" name="Rounded Rectangle 6"/>
          <p:cNvSpPr/>
          <p:nvPr/>
        </p:nvSpPr>
        <p:spPr>
          <a:xfrm>
            <a:off x="142875" y="1047750"/>
            <a:ext cx="5810250" cy="4000500"/>
          </a:xfrm>
          <a:prstGeom prst="roundRect">
            <a:avLst>
              <a:gd name="adj" fmla="val 131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1049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Tier Ladder – Share of Market Value, 2026</a:t>
            </a:r>
          </a:p>
        </p:txBody>
      </p:sp>
      <p:sp>
        <p:nvSpPr>
          <p:cNvPr id="9" name="TextBox 8"/>
          <p:cNvSpPr txBox="1"/>
          <p:nvPr/>
        </p:nvSpPr>
        <p:spPr>
          <a:xfrm>
            <a:off x="238125" y="1304925"/>
            <a:ext cx="5619750" cy="247650"/>
          </a:xfrm>
          <a:prstGeom prst="rect">
            <a:avLst/>
          </a:prstGeom>
          <a:noFill/>
        </p:spPr>
        <p:txBody>
          <a:bodyPr wrap="square" lIns="28575" rIns="28575" tIns="9525" bIns="9525" anchor="ctr">
            <a:spAutoFit/>
          </a:bodyPr>
          <a:lstStyle/>
          <a:p>
            <a:pPr algn="l"/>
            <a:r>
              <a:rPr sz="1100" b="0">
                <a:solidFill>
                  <a:srgbClr val="6B7280"/>
                </a:solidFill>
                <a:latin typeface="Calibri"/>
              </a:rPr>
              <a:t/>
            </a:r>
          </a:p>
        </p:txBody>
      </p:sp>
      <p:sp>
        <p:nvSpPr>
          <p:cNvPr id="10" name="TextBox 9"/>
          <p:cNvSpPr txBox="1"/>
          <p:nvPr/>
        </p:nvSpPr>
        <p:spPr>
          <a:xfrm>
            <a:off x="257175" y="16002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1</a:t>
            </a:r>
          </a:p>
        </p:txBody>
      </p:sp>
      <p:sp>
        <p:nvSpPr>
          <p:cNvPr id="11" name="TextBox 10"/>
          <p:cNvSpPr txBox="1"/>
          <p:nvPr/>
        </p:nvSpPr>
        <p:spPr>
          <a:xfrm>
            <a:off x="257175" y="18097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Top / global players</a:t>
            </a:r>
          </a:p>
        </p:txBody>
      </p:sp>
      <p:sp>
        <p:nvSpPr>
          <p:cNvPr id="12" name="Rectangle 11"/>
          <p:cNvSpPr/>
          <p:nvPr/>
        </p:nvSpPr>
        <p:spPr>
          <a:xfrm>
            <a:off x="1266825" y="1581150"/>
            <a:ext cx="4533900" cy="476250"/>
          </a:xfrm>
          <a:prstGeom prst="rect">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62075" y="16097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14" name="TextBox 13"/>
          <p:cNvSpPr txBox="1"/>
          <p:nvPr/>
        </p:nvSpPr>
        <p:spPr>
          <a:xfrm>
            <a:off x="1362075" y="1809750"/>
            <a:ext cx="4381500"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15" name="TextBox 14"/>
          <p:cNvSpPr txBox="1"/>
          <p:nvPr/>
        </p:nvSpPr>
        <p:spPr>
          <a:xfrm>
            <a:off x="1266825" y="20669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Atlas Copco · Ingersoll Rand · Hitachi · KAESER KOMPRESSOREN</a:t>
            </a:r>
          </a:p>
        </p:txBody>
      </p:sp>
      <p:sp>
        <p:nvSpPr>
          <p:cNvPr id="16" name="TextBox 15"/>
          <p:cNvSpPr txBox="1"/>
          <p:nvPr/>
        </p:nvSpPr>
        <p:spPr>
          <a:xfrm>
            <a:off x="257175" y="24574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2</a:t>
            </a:r>
          </a:p>
        </p:txBody>
      </p:sp>
      <p:sp>
        <p:nvSpPr>
          <p:cNvPr id="17" name="TextBox 16"/>
          <p:cNvSpPr txBox="1"/>
          <p:nvPr/>
        </p:nvSpPr>
        <p:spPr>
          <a:xfrm>
            <a:off x="257175" y="26670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Mid-sized players</a:t>
            </a:r>
          </a:p>
        </p:txBody>
      </p:sp>
      <p:sp>
        <p:nvSpPr>
          <p:cNvPr id="18" name="Rectangle 17"/>
          <p:cNvSpPr/>
          <p:nvPr/>
        </p:nvSpPr>
        <p:spPr>
          <a:xfrm>
            <a:off x="1266825" y="2438400"/>
            <a:ext cx="3786554" cy="47625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62075" y="246697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0" name="TextBox 19"/>
          <p:cNvSpPr txBox="1"/>
          <p:nvPr/>
        </p:nvSpPr>
        <p:spPr>
          <a:xfrm>
            <a:off x="1362075" y="2667000"/>
            <a:ext cx="3634154"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21" name="TextBox 20"/>
          <p:cNvSpPr txBox="1"/>
          <p:nvPr/>
        </p:nvSpPr>
        <p:spPr>
          <a:xfrm>
            <a:off x="1266825" y="29241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Gardner Denver · ELGi Equipments</a:t>
            </a:r>
          </a:p>
        </p:txBody>
      </p:sp>
      <p:sp>
        <p:nvSpPr>
          <p:cNvPr id="22" name="TextBox 21"/>
          <p:cNvSpPr txBox="1"/>
          <p:nvPr/>
        </p:nvSpPr>
        <p:spPr>
          <a:xfrm>
            <a:off x="257175" y="33147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3</a:t>
            </a:r>
          </a:p>
        </p:txBody>
      </p:sp>
      <p:sp>
        <p:nvSpPr>
          <p:cNvPr id="23" name="TextBox 22"/>
          <p:cNvSpPr txBox="1"/>
          <p:nvPr/>
        </p:nvSpPr>
        <p:spPr>
          <a:xfrm>
            <a:off x="257175" y="35242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Emerging / local players</a:t>
            </a:r>
          </a:p>
        </p:txBody>
      </p:sp>
      <p:sp>
        <p:nvSpPr>
          <p:cNvPr id="24" name="Rectangle 23"/>
          <p:cNvSpPr/>
          <p:nvPr/>
        </p:nvSpPr>
        <p:spPr>
          <a:xfrm>
            <a:off x="1266825" y="3295650"/>
            <a:ext cx="3487615" cy="4762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62075" y="33242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6" name="TextBox 25"/>
          <p:cNvSpPr txBox="1"/>
          <p:nvPr/>
        </p:nvSpPr>
        <p:spPr>
          <a:xfrm>
            <a:off x="1362075" y="3524250"/>
            <a:ext cx="3335215"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27" name="TextBox 26"/>
          <p:cNvSpPr txBox="1"/>
          <p:nvPr/>
        </p:nvSpPr>
        <p:spPr>
          <a:xfrm>
            <a:off x="1266825" y="37814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Kaishan Group · BOGE KOMPRESSOREN · ANEST IWATA · Quincy Compressor</a:t>
            </a:r>
          </a:p>
        </p:txBody>
      </p:sp>
      <p:sp>
        <p:nvSpPr>
          <p:cNvPr id="28" name="TextBox 27"/>
          <p:cNvSpPr txBox="1"/>
          <p:nvPr/>
        </p:nvSpPr>
        <p:spPr>
          <a:xfrm>
            <a:off x="257175" y="41719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Others</a:t>
            </a:r>
          </a:p>
        </p:txBody>
      </p:sp>
      <p:sp>
        <p:nvSpPr>
          <p:cNvPr id="29" name="TextBox 28"/>
          <p:cNvSpPr txBox="1"/>
          <p:nvPr/>
        </p:nvSpPr>
        <p:spPr>
          <a:xfrm>
            <a:off x="257175" y="43815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Long tail</a:t>
            </a:r>
          </a:p>
        </p:txBody>
      </p:sp>
      <p:sp>
        <p:nvSpPr>
          <p:cNvPr id="30" name="Rectangle 29"/>
          <p:cNvSpPr/>
          <p:nvPr/>
        </p:nvSpPr>
        <p:spPr>
          <a:xfrm>
            <a:off x="1266825" y="4152900"/>
            <a:ext cx="3637085" cy="476250"/>
          </a:xfrm>
          <a:prstGeom prst="rect">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62075" y="4181475"/>
            <a:ext cx="666750" cy="209550"/>
          </a:xfrm>
          <a:prstGeom prst="rect">
            <a:avLst/>
          </a:prstGeom>
          <a:noFill/>
        </p:spPr>
        <p:txBody>
          <a:bodyPr wrap="square" lIns="28575" rIns="28575" tIns="9525" bIns="9525" anchor="ctr">
            <a:spAutoFit/>
          </a:bodyPr>
          <a:lstStyle/>
          <a:p>
            <a:pPr algn="l"/>
            <a:r>
              <a:rPr sz="1100" b="1">
                <a:solidFill>
                  <a:srgbClr val="14213D"/>
                </a:solidFill>
                <a:latin typeface="Calibri"/>
              </a:rPr>
              <a:t> </a:t>
            </a:r>
          </a:p>
        </p:txBody>
      </p:sp>
      <p:sp>
        <p:nvSpPr>
          <p:cNvPr id="32" name="TextBox 31"/>
          <p:cNvSpPr txBox="1"/>
          <p:nvPr/>
        </p:nvSpPr>
        <p:spPr>
          <a:xfrm>
            <a:off x="1362075" y="4381500"/>
            <a:ext cx="3484685" cy="247650"/>
          </a:xfrm>
          <a:prstGeom prst="rect">
            <a:avLst/>
          </a:prstGeom>
          <a:noFill/>
        </p:spPr>
        <p:txBody>
          <a:bodyPr wrap="square" lIns="28575" rIns="28575" tIns="9525" bIns="9525" anchor="ctr">
            <a:spAutoFit/>
          </a:bodyPr>
          <a:lstStyle/>
          <a:p>
            <a:pPr algn="l"/>
            <a:r>
              <a:rPr sz="1100" b="0">
                <a:solidFill>
                  <a:srgbClr val="14213D"/>
                </a:solidFill>
                <a:latin typeface="Calibri"/>
              </a:rPr>
              <a:t/>
            </a:r>
          </a:p>
        </p:txBody>
      </p:sp>
      <p:sp>
        <p:nvSpPr>
          <p:cNvPr id="33" name="TextBox 32"/>
          <p:cNvSpPr txBox="1"/>
          <p:nvPr/>
        </p:nvSpPr>
        <p:spPr>
          <a:xfrm>
            <a:off x="1266825" y="46386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Regional &amp; niche suppliers</a:t>
            </a:r>
          </a:p>
        </p:txBody>
      </p:sp>
      <p:sp>
        <p:nvSpPr>
          <p:cNvPr id="34" name="Rounded Rectangle 33"/>
          <p:cNvSpPr/>
          <p:nvPr/>
        </p:nvSpPr>
        <p:spPr>
          <a:xfrm>
            <a:off x="142875" y="5162550"/>
            <a:ext cx="5810250" cy="1466850"/>
          </a:xfrm>
          <a:prstGeom prst="roundRect">
            <a:avLst>
              <a:gd name="adj" fmla="val 131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8125" y="52197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Concentration Read-out</a:t>
            </a:r>
          </a:p>
        </p:txBody>
      </p:sp>
      <p:sp>
        <p:nvSpPr>
          <p:cNvPr id="36" name="Rectangle 35"/>
          <p:cNvSpPr/>
          <p:nvPr/>
        </p:nvSpPr>
        <p:spPr>
          <a:xfrm>
            <a:off x="276225" y="5505450"/>
            <a:ext cx="1847850" cy="247650"/>
          </a:xfrm>
          <a:prstGeom prst="rect">
            <a:avLst/>
          </a:prstGeom>
          <a:solidFill>
            <a:srgbClr val="C9DA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6225" y="5505450"/>
            <a:ext cx="1847850" cy="247650"/>
          </a:xfrm>
          <a:prstGeom prst="rect">
            <a:avLst/>
          </a:prstGeom>
          <a:noFill/>
        </p:spPr>
        <p:txBody>
          <a:bodyPr wrap="square" lIns="28575" rIns="28575" tIns="9525" bIns="9525" anchor="ctr">
            <a:spAutoFit/>
          </a:bodyPr>
          <a:lstStyle/>
          <a:p>
            <a:pPr algn="ctr"/>
            <a:r>
              <a:rPr sz="1100" b="1">
                <a:solidFill>
                  <a:srgbClr val="14213D"/>
                </a:solidFill>
                <a:latin typeface="Calibri"/>
              </a:rPr>
              <a:t>Fragmented HHI &lt; 1,500</a:t>
            </a:r>
          </a:p>
        </p:txBody>
      </p:sp>
      <p:sp>
        <p:nvSpPr>
          <p:cNvPr id="38" name="Rectangle 37"/>
          <p:cNvSpPr/>
          <p:nvPr/>
        </p:nvSpPr>
        <p:spPr>
          <a:xfrm>
            <a:off x="2124075" y="5505450"/>
            <a:ext cx="1847850"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12407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Moderate 1,500–2,500</a:t>
            </a:r>
          </a:p>
        </p:txBody>
      </p:sp>
      <p:sp>
        <p:nvSpPr>
          <p:cNvPr id="40" name="Rectangle 39"/>
          <p:cNvSpPr/>
          <p:nvPr/>
        </p:nvSpPr>
        <p:spPr>
          <a:xfrm>
            <a:off x="3971925" y="5505450"/>
            <a:ext cx="18478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7192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Concentrated &gt; 2,500</a:t>
            </a:r>
          </a:p>
        </p:txBody>
      </p:sp>
      <p:sp>
        <p:nvSpPr>
          <p:cNvPr id="42" name="TextBox 41"/>
          <p:cNvSpPr txBox="1"/>
          <p:nvPr/>
        </p:nvSpPr>
        <p:spPr>
          <a:xfrm>
            <a:off x="669665" y="5762625"/>
            <a:ext cx="1714500" cy="24765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3" name="TextBox 42"/>
          <p:cNvSpPr txBox="1"/>
          <p:nvPr/>
        </p:nvSpPr>
        <p:spPr>
          <a:xfrm>
            <a:off x="238125" y="5981700"/>
            <a:ext cx="5619750" cy="41910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4" name="Rounded Rectangle 43"/>
          <p:cNvSpPr/>
          <p:nvPr/>
        </p:nvSpPr>
        <p:spPr>
          <a:xfrm>
            <a:off x="6096000" y="1047750"/>
            <a:ext cx="5953125" cy="4000500"/>
          </a:xfrm>
          <a:prstGeom prst="roundRect">
            <a:avLst>
              <a:gd name="adj" fmla="val 12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91250" y="11049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Tier Profile Matrix</a:t>
            </a:r>
          </a:p>
        </p:txBody>
      </p:sp>
      <p:sp>
        <p:nvSpPr>
          <p:cNvPr id="46" name="TextBox 45"/>
          <p:cNvSpPr txBox="1"/>
          <p:nvPr/>
        </p:nvSpPr>
        <p:spPr>
          <a:xfrm>
            <a:off x="6191250" y="1304925"/>
            <a:ext cx="5762625" cy="247650"/>
          </a:xfrm>
          <a:prstGeom prst="rect">
            <a:avLst/>
          </a:prstGeom>
          <a:noFill/>
        </p:spPr>
        <p:txBody>
          <a:bodyPr wrap="square" lIns="28575" rIns="28575" tIns="9525" bIns="9525" anchor="ctr">
            <a:spAutoFit/>
          </a:bodyPr>
          <a:lstStyle/>
          <a:p>
            <a:pPr algn="l"/>
            <a:r>
              <a:rPr sz="1100" b="0">
                <a:solidFill>
                  <a:srgbClr val="6B7280"/>
                </a:solidFill>
                <a:latin typeface="Calibri"/>
              </a:rPr>
              <a:t>Size, growth and competitive characteristics of each tier</a:t>
            </a:r>
          </a:p>
        </p:txBody>
      </p:sp>
      <p:sp>
        <p:nvSpPr>
          <p:cNvPr id="47" name="Rectangle 46"/>
          <p:cNvSpPr/>
          <p:nvPr/>
        </p:nvSpPr>
        <p:spPr>
          <a:xfrm>
            <a:off x="6191250" y="1562100"/>
            <a:ext cx="16192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48400" y="1562100"/>
            <a:ext cx="1543050" cy="247650"/>
          </a:xfrm>
          <a:prstGeom prst="rect">
            <a:avLst/>
          </a:prstGeom>
          <a:noFill/>
        </p:spPr>
        <p:txBody>
          <a:bodyPr wrap="square" lIns="28575" rIns="28575" tIns="9525" bIns="9525" anchor="ctr">
            <a:spAutoFit/>
          </a:bodyPr>
          <a:lstStyle/>
          <a:p>
            <a:pPr algn="l"/>
            <a:r>
              <a:rPr sz="1100" b="1">
                <a:solidFill>
                  <a:srgbClr val="FFFFFF"/>
                </a:solidFill>
                <a:latin typeface="Calibri"/>
              </a:rPr>
              <a:t>Metric</a:t>
            </a:r>
          </a:p>
        </p:txBody>
      </p:sp>
      <p:sp>
        <p:nvSpPr>
          <p:cNvPr id="49" name="Rectangle 48"/>
          <p:cNvSpPr/>
          <p:nvPr/>
        </p:nvSpPr>
        <p:spPr>
          <a:xfrm>
            <a:off x="7810500" y="1562100"/>
            <a:ext cx="82867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8105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51" name="Rectangle 50"/>
          <p:cNvSpPr/>
          <p:nvPr/>
        </p:nvSpPr>
        <p:spPr>
          <a:xfrm>
            <a:off x="8639175" y="1562100"/>
            <a:ext cx="828675" cy="247650"/>
          </a:xfrm>
          <a:prstGeom prst="rect">
            <a:avLst/>
          </a:prstGeom>
          <a:solidFill>
            <a:srgbClr val="2E6D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39175"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53" name="Rectangle 52"/>
          <p:cNvSpPr/>
          <p:nvPr/>
        </p:nvSpPr>
        <p:spPr>
          <a:xfrm>
            <a:off x="9467850" y="1562100"/>
            <a:ext cx="828675"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46785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55" name="Rectangle 54"/>
          <p:cNvSpPr/>
          <p:nvPr/>
        </p:nvSpPr>
        <p:spPr>
          <a:xfrm>
            <a:off x="10296525" y="1562100"/>
            <a:ext cx="828675" cy="247650"/>
          </a:xfrm>
          <a:prstGeom prst="rect">
            <a:avLst/>
          </a:prstGeom>
          <a:solidFill>
            <a:srgbClr val="9FC5E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296525" y="1562100"/>
            <a:ext cx="828675" cy="2476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57" name="Rectangle 56"/>
          <p:cNvSpPr/>
          <p:nvPr/>
        </p:nvSpPr>
        <p:spPr>
          <a:xfrm>
            <a:off x="11125200" y="1562100"/>
            <a:ext cx="828675" cy="247650"/>
          </a:xfrm>
          <a:prstGeom prst="rect">
            <a:avLst/>
          </a:prstGeom>
          <a:solidFill>
            <a:srgbClr val="10244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1252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Total</a:t>
            </a:r>
          </a:p>
        </p:txBody>
      </p:sp>
      <p:sp>
        <p:nvSpPr>
          <p:cNvPr id="59" name="Rectangle 58"/>
          <p:cNvSpPr/>
          <p:nvPr/>
        </p:nvSpPr>
        <p:spPr>
          <a:xfrm>
            <a:off x="6191250" y="1809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48400" y="1809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Players</a:t>
            </a:r>
          </a:p>
        </p:txBody>
      </p:sp>
      <p:sp>
        <p:nvSpPr>
          <p:cNvPr id="61" name="Rectangle 60"/>
          <p:cNvSpPr/>
          <p:nvPr/>
        </p:nvSpPr>
        <p:spPr>
          <a:xfrm>
            <a:off x="78105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82955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63" name="Rectangle 62"/>
          <p:cNvSpPr/>
          <p:nvPr/>
        </p:nvSpPr>
        <p:spPr>
          <a:xfrm>
            <a:off x="863917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65822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2</a:t>
            </a:r>
          </a:p>
        </p:txBody>
      </p:sp>
      <p:sp>
        <p:nvSpPr>
          <p:cNvPr id="65" name="Rectangle 64"/>
          <p:cNvSpPr/>
          <p:nvPr/>
        </p:nvSpPr>
        <p:spPr>
          <a:xfrm>
            <a:off x="946785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48690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67" name="Rectangle 66"/>
          <p:cNvSpPr/>
          <p:nvPr/>
        </p:nvSpPr>
        <p:spPr>
          <a:xfrm>
            <a:off x="1029652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31557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69" name="Rectangle 68"/>
          <p:cNvSpPr/>
          <p:nvPr/>
        </p:nvSpPr>
        <p:spPr>
          <a:xfrm>
            <a:off x="111252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1144250" y="18097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71" name="Rectangle 70"/>
          <p:cNvSpPr/>
          <p:nvPr/>
        </p:nvSpPr>
        <p:spPr>
          <a:xfrm>
            <a:off x="6191250" y="2038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48400" y="2038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Value 2026 (US$ Mn)</a:t>
            </a:r>
          </a:p>
        </p:txBody>
      </p:sp>
      <p:sp>
        <p:nvSpPr>
          <p:cNvPr id="73" name="Rectangle 72"/>
          <p:cNvSpPr/>
          <p:nvPr/>
        </p:nvSpPr>
        <p:spPr>
          <a:xfrm>
            <a:off x="78105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82955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5" name="Rectangle 74"/>
          <p:cNvSpPr/>
          <p:nvPr/>
        </p:nvSpPr>
        <p:spPr>
          <a:xfrm>
            <a:off x="863917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65822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7" name="Rectangle 76"/>
          <p:cNvSpPr/>
          <p:nvPr/>
        </p:nvSpPr>
        <p:spPr>
          <a:xfrm>
            <a:off x="946785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48690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9" name="Rectangle 78"/>
          <p:cNvSpPr/>
          <p:nvPr/>
        </p:nvSpPr>
        <p:spPr>
          <a:xfrm>
            <a:off x="1029652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031557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1" name="Rectangle 80"/>
          <p:cNvSpPr/>
          <p:nvPr/>
        </p:nvSpPr>
        <p:spPr>
          <a:xfrm>
            <a:off x="111252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144250" y="2038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83" name="Rectangle 82"/>
          <p:cNvSpPr/>
          <p:nvPr/>
        </p:nvSpPr>
        <p:spPr>
          <a:xfrm>
            <a:off x="6191250" y="22669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248400" y="22669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2026</a:t>
            </a:r>
          </a:p>
        </p:txBody>
      </p:sp>
      <p:sp>
        <p:nvSpPr>
          <p:cNvPr id="85" name="Rectangle 84"/>
          <p:cNvSpPr/>
          <p:nvPr/>
        </p:nvSpPr>
        <p:spPr>
          <a:xfrm>
            <a:off x="78105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07624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87" name="TextBox 86"/>
          <p:cNvSpPr txBox="1"/>
          <p:nvPr/>
        </p:nvSpPr>
        <p:spPr>
          <a:xfrm>
            <a:off x="836390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88" name="Rectangle 87"/>
          <p:cNvSpPr/>
          <p:nvPr/>
        </p:nvSpPr>
        <p:spPr>
          <a:xfrm>
            <a:off x="863917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90492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0" name="TextBox 89"/>
          <p:cNvSpPr txBox="1"/>
          <p:nvPr/>
        </p:nvSpPr>
        <p:spPr>
          <a:xfrm>
            <a:off x="919257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1" name="Rectangle 90"/>
          <p:cNvSpPr/>
          <p:nvPr/>
        </p:nvSpPr>
        <p:spPr>
          <a:xfrm>
            <a:off x="946785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73359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3" name="TextBox 92"/>
          <p:cNvSpPr txBox="1"/>
          <p:nvPr/>
        </p:nvSpPr>
        <p:spPr>
          <a:xfrm>
            <a:off x="1002125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4" name="Rectangle 93"/>
          <p:cNvSpPr/>
          <p:nvPr/>
        </p:nvSpPr>
        <p:spPr>
          <a:xfrm>
            <a:off x="1029652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56227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6" name="TextBox 95"/>
          <p:cNvSpPr txBox="1"/>
          <p:nvPr/>
        </p:nvSpPr>
        <p:spPr>
          <a:xfrm>
            <a:off x="1084992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7" name="Rectangle 96"/>
          <p:cNvSpPr/>
          <p:nvPr/>
        </p:nvSpPr>
        <p:spPr>
          <a:xfrm>
            <a:off x="111252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1144250" y="22669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99" name="Rectangle 98"/>
          <p:cNvSpPr/>
          <p:nvPr/>
        </p:nvSpPr>
        <p:spPr>
          <a:xfrm>
            <a:off x="6191250" y="24955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248400" y="24955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2036</a:t>
            </a:r>
          </a:p>
        </p:txBody>
      </p:sp>
      <p:sp>
        <p:nvSpPr>
          <p:cNvPr id="101" name="Rectangle 100"/>
          <p:cNvSpPr/>
          <p:nvPr/>
        </p:nvSpPr>
        <p:spPr>
          <a:xfrm>
            <a:off x="78105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07624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3" name="TextBox 102"/>
          <p:cNvSpPr txBox="1"/>
          <p:nvPr/>
        </p:nvSpPr>
        <p:spPr>
          <a:xfrm>
            <a:off x="836390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4" name="Rectangle 103"/>
          <p:cNvSpPr/>
          <p:nvPr/>
        </p:nvSpPr>
        <p:spPr>
          <a:xfrm>
            <a:off x="863917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90492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6" name="TextBox 105"/>
          <p:cNvSpPr txBox="1"/>
          <p:nvPr/>
        </p:nvSpPr>
        <p:spPr>
          <a:xfrm>
            <a:off x="919257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7" name="Rectangle 106"/>
          <p:cNvSpPr/>
          <p:nvPr/>
        </p:nvSpPr>
        <p:spPr>
          <a:xfrm>
            <a:off x="946785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973359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9" name="TextBox 108"/>
          <p:cNvSpPr txBox="1"/>
          <p:nvPr/>
        </p:nvSpPr>
        <p:spPr>
          <a:xfrm>
            <a:off x="1002125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0" name="Rectangle 109"/>
          <p:cNvSpPr/>
          <p:nvPr/>
        </p:nvSpPr>
        <p:spPr>
          <a:xfrm>
            <a:off x="1029652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056227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2" name="TextBox 111"/>
          <p:cNvSpPr txBox="1"/>
          <p:nvPr/>
        </p:nvSpPr>
        <p:spPr>
          <a:xfrm>
            <a:off x="1084992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3" name="Rectangle 112"/>
          <p:cNvSpPr/>
          <p:nvPr/>
        </p:nvSpPr>
        <p:spPr>
          <a:xfrm>
            <a:off x="111252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1144250" y="24955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15" name="Rectangle 114"/>
          <p:cNvSpPr/>
          <p:nvPr/>
        </p:nvSpPr>
        <p:spPr>
          <a:xfrm>
            <a:off x="6191250" y="27241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6248400" y="27241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change (pp)</a:t>
            </a:r>
          </a:p>
        </p:txBody>
      </p:sp>
      <p:sp>
        <p:nvSpPr>
          <p:cNvPr id="117" name="Rectangle 116"/>
          <p:cNvSpPr/>
          <p:nvPr/>
        </p:nvSpPr>
        <p:spPr>
          <a:xfrm>
            <a:off x="78105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97528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19" name="TextBox 118"/>
          <p:cNvSpPr txBox="1"/>
          <p:nvPr/>
        </p:nvSpPr>
        <p:spPr>
          <a:xfrm>
            <a:off x="810863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0" name="Rectangle 119"/>
          <p:cNvSpPr/>
          <p:nvPr/>
        </p:nvSpPr>
        <p:spPr>
          <a:xfrm>
            <a:off x="863917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880395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2" name="TextBox 121"/>
          <p:cNvSpPr txBox="1"/>
          <p:nvPr/>
        </p:nvSpPr>
        <p:spPr>
          <a:xfrm>
            <a:off x="893730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3" name="Rectangle 122"/>
          <p:cNvSpPr/>
          <p:nvPr/>
        </p:nvSpPr>
        <p:spPr>
          <a:xfrm>
            <a:off x="946785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963263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5" name="TextBox 124"/>
          <p:cNvSpPr txBox="1"/>
          <p:nvPr/>
        </p:nvSpPr>
        <p:spPr>
          <a:xfrm>
            <a:off x="976598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6" name="Rectangle 125"/>
          <p:cNvSpPr/>
          <p:nvPr/>
        </p:nvSpPr>
        <p:spPr>
          <a:xfrm>
            <a:off x="1029652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046130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8" name="TextBox 127"/>
          <p:cNvSpPr txBox="1"/>
          <p:nvPr/>
        </p:nvSpPr>
        <p:spPr>
          <a:xfrm>
            <a:off x="1059465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9" name="Rectangle 128"/>
          <p:cNvSpPr/>
          <p:nvPr/>
        </p:nvSpPr>
        <p:spPr>
          <a:xfrm>
            <a:off x="111252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1144250" y="27241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31" name="Rectangle 130"/>
          <p:cNvSpPr/>
          <p:nvPr/>
        </p:nvSpPr>
        <p:spPr>
          <a:xfrm>
            <a:off x="6191250" y="2952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6248400" y="2952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CAGR 2026–2036</a:t>
            </a:r>
          </a:p>
        </p:txBody>
      </p:sp>
      <p:sp>
        <p:nvSpPr>
          <p:cNvPr id="133" name="Rectangle 132"/>
          <p:cNvSpPr/>
          <p:nvPr/>
        </p:nvSpPr>
        <p:spPr>
          <a:xfrm>
            <a:off x="78105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810863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5" name="TextBox 134"/>
          <p:cNvSpPr txBox="1"/>
          <p:nvPr/>
        </p:nvSpPr>
        <p:spPr>
          <a:xfrm>
            <a:off x="833151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36" name="Rectangle 135"/>
          <p:cNvSpPr/>
          <p:nvPr/>
        </p:nvSpPr>
        <p:spPr>
          <a:xfrm>
            <a:off x="863917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893730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8" name="TextBox 137"/>
          <p:cNvSpPr txBox="1"/>
          <p:nvPr/>
        </p:nvSpPr>
        <p:spPr>
          <a:xfrm>
            <a:off x="916019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39" name="Rectangle 138"/>
          <p:cNvSpPr/>
          <p:nvPr/>
        </p:nvSpPr>
        <p:spPr>
          <a:xfrm>
            <a:off x="946785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976598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1" name="TextBox 140"/>
          <p:cNvSpPr txBox="1"/>
          <p:nvPr/>
        </p:nvSpPr>
        <p:spPr>
          <a:xfrm>
            <a:off x="998886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2" name="Rectangle 141"/>
          <p:cNvSpPr/>
          <p:nvPr/>
        </p:nvSpPr>
        <p:spPr>
          <a:xfrm>
            <a:off x="1029652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059465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4" name="TextBox 143"/>
          <p:cNvSpPr txBox="1"/>
          <p:nvPr/>
        </p:nvSpPr>
        <p:spPr>
          <a:xfrm>
            <a:off x="1081754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5" name="Rectangle 144"/>
          <p:cNvSpPr/>
          <p:nvPr/>
        </p:nvSpPr>
        <p:spPr>
          <a:xfrm>
            <a:off x="111252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1423332" y="2952750"/>
            <a:ext cx="232410" cy="228600"/>
          </a:xfrm>
          <a:prstGeom prst="rect">
            <a:avLst/>
          </a:prstGeom>
          <a:noFill/>
        </p:spPr>
        <p:txBody>
          <a:bodyPr wrap="none" lIns="0" rIns="0" tIns="0" bIns="0" anchor="ctr">
            <a:spAutoFit/>
          </a:bodyPr>
          <a:lstStyle/>
          <a:p>
            <a:pPr algn="ctr"/>
            <a:r>
              <a:rPr sz="1100" b="1">
                <a:solidFill>
                  <a:srgbClr val="14213D"/>
                </a:solidFill>
                <a:latin typeface="Calibri"/>
              </a:rPr>
              <a:t> </a:t>
            </a:r>
          </a:p>
        </p:txBody>
      </p:sp>
      <p:sp>
        <p:nvSpPr>
          <p:cNvPr id="147" name="TextBox 146"/>
          <p:cNvSpPr txBox="1"/>
          <p:nvPr/>
        </p:nvSpPr>
        <p:spPr>
          <a:xfrm>
            <a:off x="11646218" y="2952750"/>
            <a:ext cx="133350" cy="228600"/>
          </a:xfrm>
          <a:prstGeom prst="rect">
            <a:avLst/>
          </a:prstGeom>
          <a:noFill/>
        </p:spPr>
        <p:txBody>
          <a:bodyPr wrap="none" lIns="0" rIns="0" tIns="0" bIns="0" anchor="ctr">
            <a:spAutoFit/>
          </a:bodyPr>
          <a:lstStyle/>
          <a:p>
            <a:pPr algn="l"/>
            <a:r>
              <a:rPr sz="1100" b="1">
                <a:solidFill>
                  <a:srgbClr val="14213D"/>
                </a:solidFill>
                <a:latin typeface="Calibri"/>
              </a:rPr>
              <a:t>%</a:t>
            </a:r>
          </a:p>
        </p:txBody>
      </p:sp>
      <p:sp>
        <p:nvSpPr>
          <p:cNvPr id="148" name="Rectangle 147"/>
          <p:cNvSpPr/>
          <p:nvPr/>
        </p:nvSpPr>
        <p:spPr>
          <a:xfrm>
            <a:off x="6191250" y="3181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248400" y="3181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Avg / player (US$ Mn)</a:t>
            </a:r>
          </a:p>
        </p:txBody>
      </p:sp>
      <p:sp>
        <p:nvSpPr>
          <p:cNvPr id="150" name="Rectangle 149"/>
          <p:cNvSpPr/>
          <p:nvPr/>
        </p:nvSpPr>
        <p:spPr>
          <a:xfrm>
            <a:off x="78105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82955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2" name="Rectangle 151"/>
          <p:cNvSpPr/>
          <p:nvPr/>
        </p:nvSpPr>
        <p:spPr>
          <a:xfrm>
            <a:off x="863917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865822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4" name="Rectangle 153"/>
          <p:cNvSpPr/>
          <p:nvPr/>
        </p:nvSpPr>
        <p:spPr>
          <a:xfrm>
            <a:off x="946785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948690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6" name="Rectangle 155"/>
          <p:cNvSpPr/>
          <p:nvPr/>
        </p:nvSpPr>
        <p:spPr>
          <a:xfrm>
            <a:off x="1029652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031557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a:t>
            </a:r>
          </a:p>
        </p:txBody>
      </p:sp>
      <p:sp>
        <p:nvSpPr>
          <p:cNvPr id="158" name="Rectangle 157"/>
          <p:cNvSpPr/>
          <p:nvPr/>
        </p:nvSpPr>
        <p:spPr>
          <a:xfrm>
            <a:off x="111252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1144250" y="3181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60" name="Rectangle 159"/>
          <p:cNvSpPr/>
          <p:nvPr/>
        </p:nvSpPr>
        <p:spPr>
          <a:xfrm>
            <a:off x="6191250" y="34099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248400" y="34099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Installed base share (units)</a:t>
            </a:r>
          </a:p>
        </p:txBody>
      </p:sp>
      <p:sp>
        <p:nvSpPr>
          <p:cNvPr id="162" name="Rectangle 161"/>
          <p:cNvSpPr/>
          <p:nvPr/>
        </p:nvSpPr>
        <p:spPr>
          <a:xfrm>
            <a:off x="78105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07624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64" name="TextBox 163"/>
          <p:cNvSpPr txBox="1"/>
          <p:nvPr/>
        </p:nvSpPr>
        <p:spPr>
          <a:xfrm>
            <a:off x="836390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65" name="Rectangle 164"/>
          <p:cNvSpPr/>
          <p:nvPr/>
        </p:nvSpPr>
        <p:spPr>
          <a:xfrm>
            <a:off x="863917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90492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67" name="TextBox 166"/>
          <p:cNvSpPr txBox="1"/>
          <p:nvPr/>
        </p:nvSpPr>
        <p:spPr>
          <a:xfrm>
            <a:off x="919257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68" name="Rectangle 167"/>
          <p:cNvSpPr/>
          <p:nvPr/>
        </p:nvSpPr>
        <p:spPr>
          <a:xfrm>
            <a:off x="946785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973359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0" name="TextBox 169"/>
          <p:cNvSpPr txBox="1"/>
          <p:nvPr/>
        </p:nvSpPr>
        <p:spPr>
          <a:xfrm>
            <a:off x="1002125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1" name="Rectangle 170"/>
          <p:cNvSpPr/>
          <p:nvPr/>
        </p:nvSpPr>
        <p:spPr>
          <a:xfrm>
            <a:off x="1029652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1056227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3" name="TextBox 172"/>
          <p:cNvSpPr txBox="1"/>
          <p:nvPr/>
        </p:nvSpPr>
        <p:spPr>
          <a:xfrm>
            <a:off x="1084992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4" name="Rectangle 173"/>
          <p:cNvSpPr/>
          <p:nvPr/>
        </p:nvSpPr>
        <p:spPr>
          <a:xfrm>
            <a:off x="111252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1144250" y="3409950"/>
            <a:ext cx="790575" cy="32385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76" name="Rectangle 175"/>
          <p:cNvSpPr/>
          <p:nvPr/>
        </p:nvSpPr>
        <p:spPr>
          <a:xfrm>
            <a:off x="6191250" y="37338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248400" y="37338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Price positioning</a:t>
            </a:r>
          </a:p>
        </p:txBody>
      </p:sp>
      <p:sp>
        <p:nvSpPr>
          <p:cNvPr id="178" name="Rectangle 177"/>
          <p:cNvSpPr/>
          <p:nvPr/>
        </p:nvSpPr>
        <p:spPr>
          <a:xfrm>
            <a:off x="78105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782955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Premium</a:t>
            </a:r>
          </a:p>
        </p:txBody>
      </p:sp>
      <p:sp>
        <p:nvSpPr>
          <p:cNvPr id="180" name="Rectangle 179"/>
          <p:cNvSpPr/>
          <p:nvPr/>
        </p:nvSpPr>
        <p:spPr>
          <a:xfrm>
            <a:off x="863917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865822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Mid / value</a:t>
            </a:r>
          </a:p>
        </p:txBody>
      </p:sp>
      <p:sp>
        <p:nvSpPr>
          <p:cNvPr id="182" name="Rectangle 181"/>
          <p:cNvSpPr/>
          <p:nvPr/>
        </p:nvSpPr>
        <p:spPr>
          <a:xfrm>
            <a:off x="946785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948690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Value / entry</a:t>
            </a:r>
          </a:p>
        </p:txBody>
      </p:sp>
      <p:sp>
        <p:nvSpPr>
          <p:cNvPr id="184" name="Rectangle 183"/>
          <p:cNvSpPr/>
          <p:nvPr/>
        </p:nvSpPr>
        <p:spPr>
          <a:xfrm>
            <a:off x="1029652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1031557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Mixed</a:t>
            </a:r>
          </a:p>
        </p:txBody>
      </p:sp>
      <p:sp>
        <p:nvSpPr>
          <p:cNvPr id="186" name="Rectangle 185"/>
          <p:cNvSpPr/>
          <p:nvPr/>
        </p:nvSpPr>
        <p:spPr>
          <a:xfrm>
            <a:off x="111252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11144250" y="37338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188" name="Rectangle 187"/>
          <p:cNvSpPr/>
          <p:nvPr/>
        </p:nvSpPr>
        <p:spPr>
          <a:xfrm>
            <a:off x="6191250" y="40576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6248400" y="40576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Route-to-market</a:t>
            </a:r>
          </a:p>
        </p:txBody>
      </p:sp>
      <p:sp>
        <p:nvSpPr>
          <p:cNvPr id="190" name="Rectangle 189"/>
          <p:cNvSpPr/>
          <p:nvPr/>
        </p:nvSpPr>
        <p:spPr>
          <a:xfrm>
            <a:off x="78105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782955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Direct / key accounts</a:t>
            </a:r>
          </a:p>
        </p:txBody>
      </p:sp>
      <p:sp>
        <p:nvSpPr>
          <p:cNvPr id="192" name="Rectangle 191"/>
          <p:cNvSpPr/>
          <p:nvPr/>
        </p:nvSpPr>
        <p:spPr>
          <a:xfrm>
            <a:off x="863917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865822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Distributors</a:t>
            </a:r>
          </a:p>
        </p:txBody>
      </p:sp>
      <p:sp>
        <p:nvSpPr>
          <p:cNvPr id="194" name="Rectangle 193"/>
          <p:cNvSpPr/>
          <p:nvPr/>
        </p:nvSpPr>
        <p:spPr>
          <a:xfrm>
            <a:off x="946785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948690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Regional partners</a:t>
            </a:r>
          </a:p>
        </p:txBody>
      </p:sp>
      <p:sp>
        <p:nvSpPr>
          <p:cNvPr id="196" name="Rectangle 195"/>
          <p:cNvSpPr/>
          <p:nvPr/>
        </p:nvSpPr>
        <p:spPr>
          <a:xfrm>
            <a:off x="1029652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1031557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Local / online</a:t>
            </a:r>
          </a:p>
        </p:txBody>
      </p:sp>
      <p:sp>
        <p:nvSpPr>
          <p:cNvPr id="198" name="Rectangle 197"/>
          <p:cNvSpPr/>
          <p:nvPr/>
        </p:nvSpPr>
        <p:spPr>
          <a:xfrm>
            <a:off x="111252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11144250" y="40576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00" name="Rectangle 199"/>
          <p:cNvSpPr/>
          <p:nvPr/>
        </p:nvSpPr>
        <p:spPr>
          <a:xfrm>
            <a:off x="6191250" y="43815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248400" y="43815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Portfolio breadth</a:t>
            </a:r>
          </a:p>
        </p:txBody>
      </p:sp>
      <p:sp>
        <p:nvSpPr>
          <p:cNvPr id="202" name="Rectangle 201"/>
          <p:cNvSpPr/>
          <p:nvPr/>
        </p:nvSpPr>
        <p:spPr>
          <a:xfrm>
            <a:off x="78105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782955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Full portfolio</a:t>
            </a:r>
          </a:p>
        </p:txBody>
      </p:sp>
      <p:sp>
        <p:nvSpPr>
          <p:cNvPr id="204" name="Rectangle 203"/>
          <p:cNvSpPr/>
          <p:nvPr/>
        </p:nvSpPr>
        <p:spPr>
          <a:xfrm>
            <a:off x="863917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865822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2–3 core lines</a:t>
            </a:r>
          </a:p>
        </p:txBody>
      </p:sp>
      <p:sp>
        <p:nvSpPr>
          <p:cNvPr id="206" name="Rectangle 205"/>
          <p:cNvSpPr/>
          <p:nvPr/>
        </p:nvSpPr>
        <p:spPr>
          <a:xfrm>
            <a:off x="946785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948690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Single line</a:t>
            </a:r>
          </a:p>
        </p:txBody>
      </p:sp>
      <p:sp>
        <p:nvSpPr>
          <p:cNvPr id="208" name="Rectangle 207"/>
          <p:cNvSpPr/>
          <p:nvPr/>
        </p:nvSpPr>
        <p:spPr>
          <a:xfrm>
            <a:off x="1029652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1031557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Niche</a:t>
            </a:r>
          </a:p>
        </p:txBody>
      </p:sp>
      <p:sp>
        <p:nvSpPr>
          <p:cNvPr id="210" name="Rectangle 209"/>
          <p:cNvSpPr/>
          <p:nvPr/>
        </p:nvSpPr>
        <p:spPr>
          <a:xfrm>
            <a:off x="111252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11144250" y="43815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12" name="Rectangle 211"/>
          <p:cNvSpPr/>
          <p:nvPr/>
        </p:nvSpPr>
        <p:spPr>
          <a:xfrm>
            <a:off x="6191250" y="47053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6248400" y="47053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Strategic posture</a:t>
            </a:r>
          </a:p>
        </p:txBody>
      </p:sp>
      <p:sp>
        <p:nvSpPr>
          <p:cNvPr id="214" name="Rectangle 213"/>
          <p:cNvSpPr/>
          <p:nvPr/>
        </p:nvSpPr>
        <p:spPr>
          <a:xfrm>
            <a:off x="781050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78295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Defend &amp; bundle</a:t>
            </a:r>
          </a:p>
        </p:txBody>
      </p:sp>
      <p:sp>
        <p:nvSpPr>
          <p:cNvPr id="216" name="Rectangle 215"/>
          <p:cNvSpPr/>
          <p:nvPr/>
        </p:nvSpPr>
        <p:spPr>
          <a:xfrm>
            <a:off x="863917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865822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Niche deepening</a:t>
            </a:r>
          </a:p>
        </p:txBody>
      </p:sp>
      <p:sp>
        <p:nvSpPr>
          <p:cNvPr id="218" name="Rectangle 217"/>
          <p:cNvSpPr/>
          <p:nvPr/>
        </p:nvSpPr>
        <p:spPr>
          <a:xfrm>
            <a:off x="946785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948690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Scale-up or exit</a:t>
            </a:r>
          </a:p>
        </p:txBody>
      </p:sp>
      <p:sp>
        <p:nvSpPr>
          <p:cNvPr id="220" name="Rectangle 219"/>
          <p:cNvSpPr/>
          <p:nvPr/>
        </p:nvSpPr>
        <p:spPr>
          <a:xfrm>
            <a:off x="1029652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1031557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Long-tail</a:t>
            </a:r>
          </a:p>
        </p:txBody>
      </p:sp>
      <p:sp>
        <p:nvSpPr>
          <p:cNvPr id="222" name="Rectangle 221"/>
          <p:cNvSpPr/>
          <p:nvPr/>
        </p:nvSpPr>
        <p:spPr>
          <a:xfrm>
            <a:off x="11125200" y="47053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111442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24" name="Rounded Rectangle 223"/>
          <p:cNvSpPr/>
          <p:nvPr/>
        </p:nvSpPr>
        <p:spPr>
          <a:xfrm>
            <a:off x="6096000" y="5162550"/>
            <a:ext cx="5953125" cy="1466850"/>
          </a:xfrm>
          <a:prstGeom prst="roundRect">
            <a:avLst>
              <a:gd name="adj" fmla="val 12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6191250" y="52197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226" name="TextBox 225"/>
          <p:cNvSpPr txBox="1"/>
          <p:nvPr/>
        </p:nvSpPr>
        <p:spPr>
          <a:xfrm>
            <a:off x="6210300" y="546735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227" name="TextBox 226"/>
          <p:cNvSpPr txBox="1"/>
          <p:nvPr/>
        </p:nvSpPr>
        <p:spPr>
          <a:xfrm>
            <a:off x="6343650" y="5467350"/>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28" name="TextBox 227"/>
          <p:cNvSpPr txBox="1"/>
          <p:nvPr/>
        </p:nvSpPr>
        <p:spPr>
          <a:xfrm>
            <a:off x="6210300" y="584835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229" name="TextBox 228"/>
          <p:cNvSpPr txBox="1"/>
          <p:nvPr/>
        </p:nvSpPr>
        <p:spPr>
          <a:xfrm>
            <a:off x="6343650" y="5848350"/>
            <a:ext cx="5591175" cy="37147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0" name="TextBox 229"/>
          <p:cNvSpPr txBox="1"/>
          <p:nvPr/>
        </p:nvSpPr>
        <p:spPr>
          <a:xfrm>
            <a:off x="6210300" y="6067425"/>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231" name="TextBox 230"/>
          <p:cNvSpPr txBox="1"/>
          <p:nvPr/>
        </p:nvSpPr>
        <p:spPr>
          <a:xfrm>
            <a:off x="6343650" y="6067425"/>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2" name="Rectangle 23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4" name="Picture 233" descr="lock.png"/>
          <p:cNvPicPr>
            <a:picLocks noChangeAspect="1"/>
          </p:cNvPicPr>
          <p:nvPr/>
        </p:nvPicPr>
        <p:blipFill>
          <a:blip r:embed="rId4"/>
          <a:stretch>
            <a:fillRect/>
          </a:stretch>
        </p:blipFill>
        <p:spPr>
          <a:xfrm>
            <a:off x="1631100" y="1620901"/>
            <a:ext cx="128699" cy="187198"/>
          </a:xfrm>
          <a:prstGeom prst="rect">
            <a:avLst/>
          </a:prstGeom>
        </p:spPr>
      </p:pic>
      <p:pic>
        <p:nvPicPr>
          <p:cNvPr id="235" name="Picture 234" descr="lock.png"/>
          <p:cNvPicPr>
            <a:picLocks noChangeAspect="1"/>
          </p:cNvPicPr>
          <p:nvPr/>
        </p:nvPicPr>
        <p:blipFill>
          <a:blip r:embed="rId4"/>
          <a:stretch>
            <a:fillRect/>
          </a:stretch>
        </p:blipFill>
        <p:spPr>
          <a:xfrm>
            <a:off x="1631100" y="2478151"/>
            <a:ext cx="128699" cy="187198"/>
          </a:xfrm>
          <a:prstGeom prst="rect">
            <a:avLst/>
          </a:prstGeom>
        </p:spPr>
      </p:pic>
      <p:pic>
        <p:nvPicPr>
          <p:cNvPr id="236" name="Picture 235" descr="lock.png"/>
          <p:cNvPicPr>
            <a:picLocks noChangeAspect="1"/>
          </p:cNvPicPr>
          <p:nvPr/>
        </p:nvPicPr>
        <p:blipFill>
          <a:blip r:embed="rId4"/>
          <a:stretch>
            <a:fillRect/>
          </a:stretch>
        </p:blipFill>
        <p:spPr>
          <a:xfrm>
            <a:off x="1631100" y="3335401"/>
            <a:ext cx="128699" cy="187198"/>
          </a:xfrm>
          <a:prstGeom prst="rect">
            <a:avLst/>
          </a:prstGeom>
        </p:spPr>
      </p:pic>
      <p:pic>
        <p:nvPicPr>
          <p:cNvPr id="237" name="Picture 236" descr="lock.png"/>
          <p:cNvPicPr>
            <a:picLocks noChangeAspect="1"/>
          </p:cNvPicPr>
          <p:nvPr/>
        </p:nvPicPr>
        <p:blipFill>
          <a:blip r:embed="rId4"/>
          <a:stretch>
            <a:fillRect/>
          </a:stretch>
        </p:blipFill>
        <p:spPr>
          <a:xfrm>
            <a:off x="1631100" y="4192651"/>
            <a:ext cx="128699" cy="187198"/>
          </a:xfrm>
          <a:prstGeom prst="rect">
            <a:avLst/>
          </a:prstGeom>
        </p:spPr>
      </p:pic>
      <p:pic>
        <p:nvPicPr>
          <p:cNvPr id="238" name="Picture 237" descr="lock.png"/>
          <p:cNvPicPr>
            <a:picLocks noChangeAspect="1"/>
          </p:cNvPicPr>
          <p:nvPr/>
        </p:nvPicPr>
        <p:blipFill>
          <a:blip r:embed="rId4"/>
          <a:stretch>
            <a:fillRect/>
          </a:stretch>
        </p:blipFill>
        <p:spPr>
          <a:xfrm>
            <a:off x="11475188" y="1830451"/>
            <a:ext cx="128699" cy="187198"/>
          </a:xfrm>
          <a:prstGeom prst="rect">
            <a:avLst/>
          </a:prstGeom>
        </p:spPr>
      </p:pic>
      <p:pic>
        <p:nvPicPr>
          <p:cNvPr id="239" name="Picture 238" descr="lock.png"/>
          <p:cNvPicPr>
            <a:picLocks noChangeAspect="1"/>
          </p:cNvPicPr>
          <p:nvPr/>
        </p:nvPicPr>
        <p:blipFill>
          <a:blip r:embed="rId4"/>
          <a:stretch>
            <a:fillRect/>
          </a:stretch>
        </p:blipFill>
        <p:spPr>
          <a:xfrm>
            <a:off x="8160488" y="2059051"/>
            <a:ext cx="128699" cy="187198"/>
          </a:xfrm>
          <a:prstGeom prst="rect">
            <a:avLst/>
          </a:prstGeom>
        </p:spPr>
      </p:pic>
      <p:pic>
        <p:nvPicPr>
          <p:cNvPr id="240" name="Picture 239" descr="lock.png"/>
          <p:cNvPicPr>
            <a:picLocks noChangeAspect="1"/>
          </p:cNvPicPr>
          <p:nvPr/>
        </p:nvPicPr>
        <p:blipFill>
          <a:blip r:embed="rId4"/>
          <a:stretch>
            <a:fillRect/>
          </a:stretch>
        </p:blipFill>
        <p:spPr>
          <a:xfrm>
            <a:off x="8989163" y="2059051"/>
            <a:ext cx="128699" cy="187198"/>
          </a:xfrm>
          <a:prstGeom prst="rect">
            <a:avLst/>
          </a:prstGeom>
        </p:spPr>
      </p:pic>
      <p:pic>
        <p:nvPicPr>
          <p:cNvPr id="241" name="Picture 240" descr="lock.png"/>
          <p:cNvPicPr>
            <a:picLocks noChangeAspect="1"/>
          </p:cNvPicPr>
          <p:nvPr/>
        </p:nvPicPr>
        <p:blipFill>
          <a:blip r:embed="rId4"/>
          <a:stretch>
            <a:fillRect/>
          </a:stretch>
        </p:blipFill>
        <p:spPr>
          <a:xfrm>
            <a:off x="9817838" y="2059051"/>
            <a:ext cx="128699" cy="187198"/>
          </a:xfrm>
          <a:prstGeom prst="rect">
            <a:avLst/>
          </a:prstGeom>
        </p:spPr>
      </p:pic>
      <p:pic>
        <p:nvPicPr>
          <p:cNvPr id="242" name="Picture 241" descr="lock.png"/>
          <p:cNvPicPr>
            <a:picLocks noChangeAspect="1"/>
          </p:cNvPicPr>
          <p:nvPr/>
        </p:nvPicPr>
        <p:blipFill>
          <a:blip r:embed="rId4"/>
          <a:stretch>
            <a:fillRect/>
          </a:stretch>
        </p:blipFill>
        <p:spPr>
          <a:xfrm>
            <a:off x="10646513" y="2059051"/>
            <a:ext cx="128699" cy="187198"/>
          </a:xfrm>
          <a:prstGeom prst="rect">
            <a:avLst/>
          </a:prstGeom>
        </p:spPr>
      </p:pic>
      <p:pic>
        <p:nvPicPr>
          <p:cNvPr id="243" name="Picture 242" descr="lock.png"/>
          <p:cNvPicPr>
            <a:picLocks noChangeAspect="1"/>
          </p:cNvPicPr>
          <p:nvPr/>
        </p:nvPicPr>
        <p:blipFill>
          <a:blip r:embed="rId4"/>
          <a:stretch>
            <a:fillRect/>
          </a:stretch>
        </p:blipFill>
        <p:spPr>
          <a:xfrm>
            <a:off x="11475188" y="2059051"/>
            <a:ext cx="128699" cy="187198"/>
          </a:xfrm>
          <a:prstGeom prst="rect">
            <a:avLst/>
          </a:prstGeom>
        </p:spPr>
      </p:pic>
      <p:pic>
        <p:nvPicPr>
          <p:cNvPr id="244" name="Picture 243" descr="lock.png"/>
          <p:cNvPicPr>
            <a:picLocks noChangeAspect="1"/>
          </p:cNvPicPr>
          <p:nvPr/>
        </p:nvPicPr>
        <p:blipFill>
          <a:blip r:embed="rId4"/>
          <a:stretch>
            <a:fillRect/>
          </a:stretch>
        </p:blipFill>
        <p:spPr>
          <a:xfrm>
            <a:off x="8160488" y="2287651"/>
            <a:ext cx="128699" cy="187198"/>
          </a:xfrm>
          <a:prstGeom prst="rect">
            <a:avLst/>
          </a:prstGeom>
        </p:spPr>
      </p:pic>
      <p:pic>
        <p:nvPicPr>
          <p:cNvPr id="245" name="Picture 244" descr="lock.png"/>
          <p:cNvPicPr>
            <a:picLocks noChangeAspect="1"/>
          </p:cNvPicPr>
          <p:nvPr/>
        </p:nvPicPr>
        <p:blipFill>
          <a:blip r:embed="rId4"/>
          <a:stretch>
            <a:fillRect/>
          </a:stretch>
        </p:blipFill>
        <p:spPr>
          <a:xfrm>
            <a:off x="8989162" y="2287651"/>
            <a:ext cx="128699" cy="187198"/>
          </a:xfrm>
          <a:prstGeom prst="rect">
            <a:avLst/>
          </a:prstGeom>
        </p:spPr>
      </p:pic>
      <p:pic>
        <p:nvPicPr>
          <p:cNvPr id="246" name="Picture 245" descr="lock.png"/>
          <p:cNvPicPr>
            <a:picLocks noChangeAspect="1"/>
          </p:cNvPicPr>
          <p:nvPr/>
        </p:nvPicPr>
        <p:blipFill>
          <a:blip r:embed="rId4"/>
          <a:stretch>
            <a:fillRect/>
          </a:stretch>
        </p:blipFill>
        <p:spPr>
          <a:xfrm>
            <a:off x="9817838" y="2287651"/>
            <a:ext cx="128699" cy="187198"/>
          </a:xfrm>
          <a:prstGeom prst="rect">
            <a:avLst/>
          </a:prstGeom>
        </p:spPr>
      </p:pic>
      <p:pic>
        <p:nvPicPr>
          <p:cNvPr id="247" name="Picture 246" descr="lock.png"/>
          <p:cNvPicPr>
            <a:picLocks noChangeAspect="1"/>
          </p:cNvPicPr>
          <p:nvPr/>
        </p:nvPicPr>
        <p:blipFill>
          <a:blip r:embed="rId4"/>
          <a:stretch>
            <a:fillRect/>
          </a:stretch>
        </p:blipFill>
        <p:spPr>
          <a:xfrm>
            <a:off x="10646512" y="2287651"/>
            <a:ext cx="128699" cy="187198"/>
          </a:xfrm>
          <a:prstGeom prst="rect">
            <a:avLst/>
          </a:prstGeom>
        </p:spPr>
      </p:pic>
      <p:pic>
        <p:nvPicPr>
          <p:cNvPr id="248" name="Picture 247" descr="lock.png"/>
          <p:cNvPicPr>
            <a:picLocks noChangeAspect="1"/>
          </p:cNvPicPr>
          <p:nvPr/>
        </p:nvPicPr>
        <p:blipFill>
          <a:blip r:embed="rId4"/>
          <a:stretch>
            <a:fillRect/>
          </a:stretch>
        </p:blipFill>
        <p:spPr>
          <a:xfrm>
            <a:off x="8160488" y="2516251"/>
            <a:ext cx="128699" cy="187198"/>
          </a:xfrm>
          <a:prstGeom prst="rect">
            <a:avLst/>
          </a:prstGeom>
        </p:spPr>
      </p:pic>
      <p:pic>
        <p:nvPicPr>
          <p:cNvPr id="249" name="Picture 248" descr="lock.png"/>
          <p:cNvPicPr>
            <a:picLocks noChangeAspect="1"/>
          </p:cNvPicPr>
          <p:nvPr/>
        </p:nvPicPr>
        <p:blipFill>
          <a:blip r:embed="rId4"/>
          <a:stretch>
            <a:fillRect/>
          </a:stretch>
        </p:blipFill>
        <p:spPr>
          <a:xfrm>
            <a:off x="8989162" y="2516251"/>
            <a:ext cx="128699" cy="187198"/>
          </a:xfrm>
          <a:prstGeom prst="rect">
            <a:avLst/>
          </a:prstGeom>
        </p:spPr>
      </p:pic>
      <p:pic>
        <p:nvPicPr>
          <p:cNvPr id="250" name="Picture 249" descr="lock.png"/>
          <p:cNvPicPr>
            <a:picLocks noChangeAspect="1"/>
          </p:cNvPicPr>
          <p:nvPr/>
        </p:nvPicPr>
        <p:blipFill>
          <a:blip r:embed="rId4"/>
          <a:stretch>
            <a:fillRect/>
          </a:stretch>
        </p:blipFill>
        <p:spPr>
          <a:xfrm>
            <a:off x="9817838" y="2516251"/>
            <a:ext cx="128699" cy="187198"/>
          </a:xfrm>
          <a:prstGeom prst="rect">
            <a:avLst/>
          </a:prstGeom>
        </p:spPr>
      </p:pic>
      <p:pic>
        <p:nvPicPr>
          <p:cNvPr id="251" name="Picture 250" descr="lock.png"/>
          <p:cNvPicPr>
            <a:picLocks noChangeAspect="1"/>
          </p:cNvPicPr>
          <p:nvPr/>
        </p:nvPicPr>
        <p:blipFill>
          <a:blip r:embed="rId4"/>
          <a:stretch>
            <a:fillRect/>
          </a:stretch>
        </p:blipFill>
        <p:spPr>
          <a:xfrm>
            <a:off x="10646512" y="2516251"/>
            <a:ext cx="128699" cy="187198"/>
          </a:xfrm>
          <a:prstGeom prst="rect">
            <a:avLst/>
          </a:prstGeom>
        </p:spPr>
      </p:pic>
      <p:pic>
        <p:nvPicPr>
          <p:cNvPr id="252" name="Picture 251" descr="lock.png"/>
          <p:cNvPicPr>
            <a:picLocks noChangeAspect="1"/>
          </p:cNvPicPr>
          <p:nvPr/>
        </p:nvPicPr>
        <p:blipFill>
          <a:blip r:embed="rId4"/>
          <a:stretch>
            <a:fillRect/>
          </a:stretch>
        </p:blipFill>
        <p:spPr>
          <a:xfrm>
            <a:off x="8160487" y="2744851"/>
            <a:ext cx="128699" cy="187198"/>
          </a:xfrm>
          <a:prstGeom prst="rect">
            <a:avLst/>
          </a:prstGeom>
        </p:spPr>
      </p:pic>
      <p:pic>
        <p:nvPicPr>
          <p:cNvPr id="253" name="Picture 252" descr="lock.png"/>
          <p:cNvPicPr>
            <a:picLocks noChangeAspect="1"/>
          </p:cNvPicPr>
          <p:nvPr/>
        </p:nvPicPr>
        <p:blipFill>
          <a:blip r:embed="rId4"/>
          <a:stretch>
            <a:fillRect/>
          </a:stretch>
        </p:blipFill>
        <p:spPr>
          <a:xfrm>
            <a:off x="8989163" y="2744851"/>
            <a:ext cx="128699" cy="187198"/>
          </a:xfrm>
          <a:prstGeom prst="rect">
            <a:avLst/>
          </a:prstGeom>
        </p:spPr>
      </p:pic>
      <p:pic>
        <p:nvPicPr>
          <p:cNvPr id="254" name="Picture 253" descr="lock.png"/>
          <p:cNvPicPr>
            <a:picLocks noChangeAspect="1"/>
          </p:cNvPicPr>
          <p:nvPr/>
        </p:nvPicPr>
        <p:blipFill>
          <a:blip r:embed="rId4"/>
          <a:stretch>
            <a:fillRect/>
          </a:stretch>
        </p:blipFill>
        <p:spPr>
          <a:xfrm>
            <a:off x="9817837" y="2744851"/>
            <a:ext cx="128699" cy="187198"/>
          </a:xfrm>
          <a:prstGeom prst="rect">
            <a:avLst/>
          </a:prstGeom>
        </p:spPr>
      </p:pic>
      <p:pic>
        <p:nvPicPr>
          <p:cNvPr id="255" name="Picture 254" descr="lock.png"/>
          <p:cNvPicPr>
            <a:picLocks noChangeAspect="1"/>
          </p:cNvPicPr>
          <p:nvPr/>
        </p:nvPicPr>
        <p:blipFill>
          <a:blip r:embed="rId4"/>
          <a:stretch>
            <a:fillRect/>
          </a:stretch>
        </p:blipFill>
        <p:spPr>
          <a:xfrm>
            <a:off x="10646513" y="2744851"/>
            <a:ext cx="128699" cy="187198"/>
          </a:xfrm>
          <a:prstGeom prst="rect">
            <a:avLst/>
          </a:prstGeom>
        </p:spPr>
      </p:pic>
      <p:pic>
        <p:nvPicPr>
          <p:cNvPr id="256" name="Picture 255" descr="lock.png"/>
          <p:cNvPicPr>
            <a:picLocks noChangeAspect="1"/>
          </p:cNvPicPr>
          <p:nvPr/>
        </p:nvPicPr>
        <p:blipFill>
          <a:blip r:embed="rId4"/>
          <a:stretch>
            <a:fillRect/>
          </a:stretch>
        </p:blipFill>
        <p:spPr>
          <a:xfrm>
            <a:off x="8160487" y="2973451"/>
            <a:ext cx="128699" cy="187198"/>
          </a:xfrm>
          <a:prstGeom prst="rect">
            <a:avLst/>
          </a:prstGeom>
        </p:spPr>
      </p:pic>
      <p:pic>
        <p:nvPicPr>
          <p:cNvPr id="257" name="Picture 256" descr="lock.png"/>
          <p:cNvPicPr>
            <a:picLocks noChangeAspect="1"/>
          </p:cNvPicPr>
          <p:nvPr/>
        </p:nvPicPr>
        <p:blipFill>
          <a:blip r:embed="rId4"/>
          <a:stretch>
            <a:fillRect/>
          </a:stretch>
        </p:blipFill>
        <p:spPr>
          <a:xfrm>
            <a:off x="8989163" y="2973451"/>
            <a:ext cx="128699" cy="187198"/>
          </a:xfrm>
          <a:prstGeom prst="rect">
            <a:avLst/>
          </a:prstGeom>
        </p:spPr>
      </p:pic>
      <p:pic>
        <p:nvPicPr>
          <p:cNvPr id="258" name="Picture 257" descr="lock.png"/>
          <p:cNvPicPr>
            <a:picLocks noChangeAspect="1"/>
          </p:cNvPicPr>
          <p:nvPr/>
        </p:nvPicPr>
        <p:blipFill>
          <a:blip r:embed="rId4"/>
          <a:stretch>
            <a:fillRect/>
          </a:stretch>
        </p:blipFill>
        <p:spPr>
          <a:xfrm>
            <a:off x="9817837" y="2973451"/>
            <a:ext cx="128699" cy="187198"/>
          </a:xfrm>
          <a:prstGeom prst="rect">
            <a:avLst/>
          </a:prstGeom>
        </p:spPr>
      </p:pic>
      <p:pic>
        <p:nvPicPr>
          <p:cNvPr id="259" name="Picture 258" descr="lock.png"/>
          <p:cNvPicPr>
            <a:picLocks noChangeAspect="1"/>
          </p:cNvPicPr>
          <p:nvPr/>
        </p:nvPicPr>
        <p:blipFill>
          <a:blip r:embed="rId4"/>
          <a:stretch>
            <a:fillRect/>
          </a:stretch>
        </p:blipFill>
        <p:spPr>
          <a:xfrm>
            <a:off x="10646513" y="2973451"/>
            <a:ext cx="128699" cy="187198"/>
          </a:xfrm>
          <a:prstGeom prst="rect">
            <a:avLst/>
          </a:prstGeom>
        </p:spPr>
      </p:pic>
      <p:pic>
        <p:nvPicPr>
          <p:cNvPr id="260" name="Picture 259" descr="lock.png"/>
          <p:cNvPicPr>
            <a:picLocks noChangeAspect="1"/>
          </p:cNvPicPr>
          <p:nvPr/>
        </p:nvPicPr>
        <p:blipFill>
          <a:blip r:embed="rId4"/>
          <a:stretch>
            <a:fillRect/>
          </a:stretch>
        </p:blipFill>
        <p:spPr>
          <a:xfrm>
            <a:off x="11475187" y="2973451"/>
            <a:ext cx="128699" cy="187198"/>
          </a:xfrm>
          <a:prstGeom prst="rect">
            <a:avLst/>
          </a:prstGeom>
        </p:spPr>
      </p:pic>
      <p:pic>
        <p:nvPicPr>
          <p:cNvPr id="261" name="Picture 260" descr="lock.png"/>
          <p:cNvPicPr>
            <a:picLocks noChangeAspect="1"/>
          </p:cNvPicPr>
          <p:nvPr/>
        </p:nvPicPr>
        <p:blipFill>
          <a:blip r:embed="rId4"/>
          <a:stretch>
            <a:fillRect/>
          </a:stretch>
        </p:blipFill>
        <p:spPr>
          <a:xfrm>
            <a:off x="8160488" y="3202051"/>
            <a:ext cx="128699" cy="187198"/>
          </a:xfrm>
          <a:prstGeom prst="rect">
            <a:avLst/>
          </a:prstGeom>
        </p:spPr>
      </p:pic>
      <p:pic>
        <p:nvPicPr>
          <p:cNvPr id="262" name="Picture 261" descr="lock.png"/>
          <p:cNvPicPr>
            <a:picLocks noChangeAspect="1"/>
          </p:cNvPicPr>
          <p:nvPr/>
        </p:nvPicPr>
        <p:blipFill>
          <a:blip r:embed="rId4"/>
          <a:stretch>
            <a:fillRect/>
          </a:stretch>
        </p:blipFill>
        <p:spPr>
          <a:xfrm>
            <a:off x="8989163" y="3202051"/>
            <a:ext cx="128699" cy="187198"/>
          </a:xfrm>
          <a:prstGeom prst="rect">
            <a:avLst/>
          </a:prstGeom>
        </p:spPr>
      </p:pic>
      <p:pic>
        <p:nvPicPr>
          <p:cNvPr id="263" name="Picture 262" descr="lock.png"/>
          <p:cNvPicPr>
            <a:picLocks noChangeAspect="1"/>
          </p:cNvPicPr>
          <p:nvPr/>
        </p:nvPicPr>
        <p:blipFill>
          <a:blip r:embed="rId4"/>
          <a:stretch>
            <a:fillRect/>
          </a:stretch>
        </p:blipFill>
        <p:spPr>
          <a:xfrm>
            <a:off x="9817838" y="3202051"/>
            <a:ext cx="128699" cy="187198"/>
          </a:xfrm>
          <a:prstGeom prst="rect">
            <a:avLst/>
          </a:prstGeom>
        </p:spPr>
      </p:pic>
      <p:pic>
        <p:nvPicPr>
          <p:cNvPr id="264" name="Picture 263" descr="lock.png"/>
          <p:cNvPicPr>
            <a:picLocks noChangeAspect="1"/>
          </p:cNvPicPr>
          <p:nvPr/>
        </p:nvPicPr>
        <p:blipFill>
          <a:blip r:embed="rId4"/>
          <a:stretch>
            <a:fillRect/>
          </a:stretch>
        </p:blipFill>
        <p:spPr>
          <a:xfrm>
            <a:off x="8160488" y="3478276"/>
            <a:ext cx="128699" cy="187198"/>
          </a:xfrm>
          <a:prstGeom prst="rect">
            <a:avLst/>
          </a:prstGeom>
        </p:spPr>
      </p:pic>
      <p:pic>
        <p:nvPicPr>
          <p:cNvPr id="265" name="Picture 264" descr="lock.png"/>
          <p:cNvPicPr>
            <a:picLocks noChangeAspect="1"/>
          </p:cNvPicPr>
          <p:nvPr/>
        </p:nvPicPr>
        <p:blipFill>
          <a:blip r:embed="rId4"/>
          <a:stretch>
            <a:fillRect/>
          </a:stretch>
        </p:blipFill>
        <p:spPr>
          <a:xfrm>
            <a:off x="8989162" y="3478276"/>
            <a:ext cx="128699" cy="187198"/>
          </a:xfrm>
          <a:prstGeom prst="rect">
            <a:avLst/>
          </a:prstGeom>
        </p:spPr>
      </p:pic>
      <p:pic>
        <p:nvPicPr>
          <p:cNvPr id="266" name="Picture 265" descr="lock.png"/>
          <p:cNvPicPr>
            <a:picLocks noChangeAspect="1"/>
          </p:cNvPicPr>
          <p:nvPr/>
        </p:nvPicPr>
        <p:blipFill>
          <a:blip r:embed="rId4"/>
          <a:stretch>
            <a:fillRect/>
          </a:stretch>
        </p:blipFill>
        <p:spPr>
          <a:xfrm>
            <a:off x="9817838" y="3478276"/>
            <a:ext cx="128699" cy="187198"/>
          </a:xfrm>
          <a:prstGeom prst="rect">
            <a:avLst/>
          </a:prstGeom>
        </p:spPr>
      </p:pic>
      <p:pic>
        <p:nvPicPr>
          <p:cNvPr id="267" name="Picture 266" descr="lock.png"/>
          <p:cNvPicPr>
            <a:picLocks noChangeAspect="1"/>
          </p:cNvPicPr>
          <p:nvPr/>
        </p:nvPicPr>
        <p:blipFill>
          <a:blip r:embed="rId4"/>
          <a:stretch>
            <a:fillRect/>
          </a:stretch>
        </p:blipFill>
        <p:spPr>
          <a:xfrm>
            <a:off x="10646512" y="3478276"/>
            <a:ext cx="128699" cy="187198"/>
          </a:xfrm>
          <a:prstGeom prst="rect">
            <a:avLst/>
          </a:prstGeom>
        </p:spPr>
      </p:pic>
      <p:sp>
        <p:nvSpPr>
          <p:cNvPr id="268" name="TextBox 267"/>
          <p:cNvSpPr txBox="1"/>
          <p:nvPr/>
        </p:nvSpPr>
        <p:spPr>
          <a:xfrm>
            <a:off x="266700" y="1344930"/>
            <a:ext cx="491480" cy="186689"/>
          </a:xfrm>
          <a:prstGeom prst="rect">
            <a:avLst/>
          </a:prstGeom>
          <a:noFill/>
        </p:spPr>
        <p:txBody>
          <a:bodyPr wrap="none" lIns="0" rIns="0" tIns="0" bIns="0">
            <a:spAutoFit/>
          </a:bodyPr>
          <a:lstStyle/>
          <a:p>
            <a:r>
              <a:rPr sz="1100" b="0">
                <a:solidFill>
                  <a:srgbClr val="6B7280"/>
                </a:solidFill>
                <a:latin typeface="Calibri"/>
              </a:rPr>
              <a:t>Market</a:t>
            </a:r>
          </a:p>
        </p:txBody>
      </p:sp>
      <p:pic>
        <p:nvPicPr>
          <p:cNvPr id="269" name="Picture 268" descr="lock.png"/>
          <p:cNvPicPr>
            <a:picLocks noChangeAspect="1"/>
          </p:cNvPicPr>
          <p:nvPr/>
        </p:nvPicPr>
        <p:blipFill>
          <a:blip r:embed="rId4"/>
          <a:stretch>
            <a:fillRect/>
          </a:stretch>
        </p:blipFill>
        <p:spPr>
          <a:xfrm>
            <a:off x="706231" y="1335151"/>
            <a:ext cx="128699" cy="187198"/>
          </a:xfrm>
          <a:prstGeom prst="rect">
            <a:avLst/>
          </a:prstGeom>
        </p:spPr>
      </p:pic>
      <p:sp>
        <p:nvSpPr>
          <p:cNvPr id="270" name="TextBox 269"/>
          <p:cNvSpPr txBox="1"/>
          <p:nvPr/>
        </p:nvSpPr>
        <p:spPr>
          <a:xfrm>
            <a:off x="873727" y="1344930"/>
            <a:ext cx="1290389" cy="186689"/>
          </a:xfrm>
          <a:prstGeom prst="rect">
            <a:avLst/>
          </a:prstGeom>
          <a:noFill/>
        </p:spPr>
        <p:txBody>
          <a:bodyPr wrap="none" lIns="0" rIns="0" tIns="0" bIns="0">
            <a:spAutoFit/>
          </a:bodyPr>
          <a:lstStyle/>
          <a:p>
            <a:r>
              <a:rPr sz="1100" b="0">
                <a:solidFill>
                  <a:srgbClr val="6B7280"/>
                </a:solidFill>
                <a:latin typeface="Calibri"/>
              </a:rPr>
              <a:t>US$ Mn · Tier 1 share</a:t>
            </a:r>
          </a:p>
        </p:txBody>
      </p:sp>
      <p:pic>
        <p:nvPicPr>
          <p:cNvPr id="271" name="Picture 270" descr="lock.png"/>
          <p:cNvPicPr>
            <a:picLocks noChangeAspect="1"/>
          </p:cNvPicPr>
          <p:nvPr/>
        </p:nvPicPr>
        <p:blipFill>
          <a:blip r:embed="rId4"/>
          <a:stretch>
            <a:fillRect/>
          </a:stretch>
        </p:blipFill>
        <p:spPr>
          <a:xfrm>
            <a:off x="2112168" y="1335151"/>
            <a:ext cx="128699" cy="187198"/>
          </a:xfrm>
          <a:prstGeom prst="rect">
            <a:avLst/>
          </a:prstGeom>
        </p:spPr>
      </p:pic>
      <p:sp>
        <p:nvSpPr>
          <p:cNvPr id="272" name="TextBox 271"/>
          <p:cNvSpPr txBox="1"/>
          <p:nvPr/>
        </p:nvSpPr>
        <p:spPr>
          <a:xfrm>
            <a:off x="2279664" y="1344930"/>
            <a:ext cx="202803" cy="186689"/>
          </a:xfrm>
          <a:prstGeom prst="rect">
            <a:avLst/>
          </a:prstGeom>
          <a:noFill/>
        </p:spPr>
        <p:txBody>
          <a:bodyPr wrap="none" lIns="0" rIns="0" tIns="0" bIns="0">
            <a:spAutoFit/>
          </a:bodyPr>
          <a:lstStyle/>
          <a:p>
            <a:r>
              <a:rPr sz="1100" b="0">
                <a:solidFill>
                  <a:srgbClr val="6B7280"/>
                </a:solidFill>
                <a:latin typeface="Calibri"/>
              </a:rPr>
              <a:t>→</a:t>
            </a:r>
          </a:p>
        </p:txBody>
      </p:sp>
      <p:pic>
        <p:nvPicPr>
          <p:cNvPr id="273" name="Picture 272" descr="lock.png"/>
          <p:cNvPicPr>
            <a:picLocks noChangeAspect="1"/>
          </p:cNvPicPr>
          <p:nvPr/>
        </p:nvPicPr>
        <p:blipFill>
          <a:blip r:embed="rId4"/>
          <a:stretch>
            <a:fillRect/>
          </a:stretch>
        </p:blipFill>
        <p:spPr>
          <a:xfrm>
            <a:off x="2430519" y="1335151"/>
            <a:ext cx="128699" cy="187198"/>
          </a:xfrm>
          <a:prstGeom prst="rect">
            <a:avLst/>
          </a:prstGeom>
        </p:spPr>
      </p:pic>
      <p:sp>
        <p:nvSpPr>
          <p:cNvPr id="274" name="TextBox 273"/>
          <p:cNvSpPr txBox="1"/>
          <p:nvPr/>
        </p:nvSpPr>
        <p:spPr>
          <a:xfrm>
            <a:off x="2598014" y="1344930"/>
            <a:ext cx="528315" cy="186689"/>
          </a:xfrm>
          <a:prstGeom prst="rect">
            <a:avLst/>
          </a:prstGeom>
          <a:noFill/>
        </p:spPr>
        <p:txBody>
          <a:bodyPr wrap="none" lIns="0" rIns="0" tIns="0" bIns="0">
            <a:spAutoFit/>
          </a:bodyPr>
          <a:lstStyle/>
          <a:p>
            <a:r>
              <a:rPr sz="1100" b="0">
                <a:solidFill>
                  <a:srgbClr val="6B7280"/>
                </a:solidFill>
                <a:latin typeface="Calibri"/>
              </a:rPr>
              <a:t>by 2036</a:t>
            </a:r>
          </a:p>
        </p:txBody>
      </p:sp>
      <p:pic>
        <p:nvPicPr>
          <p:cNvPr id="275" name="Picture 274" descr="lock.png"/>
          <p:cNvPicPr>
            <a:picLocks noChangeAspect="1"/>
          </p:cNvPicPr>
          <p:nvPr/>
        </p:nvPicPr>
        <p:blipFill>
          <a:blip r:embed="rId4"/>
          <a:stretch>
            <a:fillRect/>
          </a:stretch>
        </p:blipFill>
        <p:spPr>
          <a:xfrm>
            <a:off x="1377182" y="1839976"/>
            <a:ext cx="128699" cy="187198"/>
          </a:xfrm>
          <a:prstGeom prst="rect">
            <a:avLst/>
          </a:prstGeom>
        </p:spPr>
      </p:pic>
      <p:sp>
        <p:nvSpPr>
          <p:cNvPr id="276" name="TextBox 275"/>
          <p:cNvSpPr txBox="1"/>
          <p:nvPr/>
        </p:nvSpPr>
        <p:spPr>
          <a:xfrm>
            <a:off x="1544678" y="18497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77" name="Picture 276" descr="lock.png"/>
          <p:cNvPicPr>
            <a:picLocks noChangeAspect="1"/>
          </p:cNvPicPr>
          <p:nvPr/>
        </p:nvPicPr>
        <p:blipFill>
          <a:blip r:embed="rId4"/>
          <a:stretch>
            <a:fillRect/>
          </a:stretch>
        </p:blipFill>
        <p:spPr>
          <a:xfrm>
            <a:off x="2922273" y="1839976"/>
            <a:ext cx="128699" cy="187198"/>
          </a:xfrm>
          <a:prstGeom prst="rect">
            <a:avLst/>
          </a:prstGeom>
        </p:spPr>
      </p:pic>
      <p:sp>
        <p:nvSpPr>
          <p:cNvPr id="278" name="TextBox 277"/>
          <p:cNvSpPr txBox="1"/>
          <p:nvPr/>
        </p:nvSpPr>
        <p:spPr>
          <a:xfrm>
            <a:off x="3089769" y="18497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79" name="Picture 278" descr="lock.png"/>
          <p:cNvPicPr>
            <a:picLocks noChangeAspect="1"/>
          </p:cNvPicPr>
          <p:nvPr/>
        </p:nvPicPr>
        <p:blipFill>
          <a:blip r:embed="rId4"/>
          <a:stretch>
            <a:fillRect/>
          </a:stretch>
        </p:blipFill>
        <p:spPr>
          <a:xfrm>
            <a:off x="1377182" y="2697226"/>
            <a:ext cx="128699" cy="187198"/>
          </a:xfrm>
          <a:prstGeom prst="rect">
            <a:avLst/>
          </a:prstGeom>
        </p:spPr>
      </p:pic>
      <p:sp>
        <p:nvSpPr>
          <p:cNvPr id="280" name="TextBox 279"/>
          <p:cNvSpPr txBox="1"/>
          <p:nvPr/>
        </p:nvSpPr>
        <p:spPr>
          <a:xfrm>
            <a:off x="1544678" y="2707005"/>
            <a:ext cx="1429543" cy="186689"/>
          </a:xfrm>
          <a:prstGeom prst="rect">
            <a:avLst/>
          </a:prstGeom>
          <a:noFill/>
        </p:spPr>
        <p:txBody>
          <a:bodyPr wrap="none" lIns="0" rIns="0" tIns="0" bIns="0">
            <a:spAutoFit/>
          </a:bodyPr>
          <a:lstStyle/>
          <a:p>
            <a:r>
              <a:rPr sz="1100" b="0">
                <a:solidFill>
                  <a:srgbClr val="FFFFFF"/>
                </a:solidFill>
                <a:latin typeface="Calibri"/>
              </a:rPr>
              <a:t>US$ Mn · 2 players · avg</a:t>
            </a:r>
          </a:p>
        </p:txBody>
      </p:sp>
      <p:pic>
        <p:nvPicPr>
          <p:cNvPr id="281" name="Picture 280" descr="lock.png"/>
          <p:cNvPicPr>
            <a:picLocks noChangeAspect="1"/>
          </p:cNvPicPr>
          <p:nvPr/>
        </p:nvPicPr>
        <p:blipFill>
          <a:blip r:embed="rId4"/>
          <a:stretch>
            <a:fillRect/>
          </a:stretch>
        </p:blipFill>
        <p:spPr>
          <a:xfrm>
            <a:off x="2922273" y="2697226"/>
            <a:ext cx="128699" cy="187198"/>
          </a:xfrm>
          <a:prstGeom prst="rect">
            <a:avLst/>
          </a:prstGeom>
        </p:spPr>
      </p:pic>
      <p:sp>
        <p:nvSpPr>
          <p:cNvPr id="282" name="TextBox 281"/>
          <p:cNvSpPr txBox="1"/>
          <p:nvPr/>
        </p:nvSpPr>
        <p:spPr>
          <a:xfrm>
            <a:off x="3089769" y="270700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3" name="Picture 282" descr="lock.png"/>
          <p:cNvPicPr>
            <a:picLocks noChangeAspect="1"/>
          </p:cNvPicPr>
          <p:nvPr/>
        </p:nvPicPr>
        <p:blipFill>
          <a:blip r:embed="rId4"/>
          <a:stretch>
            <a:fillRect/>
          </a:stretch>
        </p:blipFill>
        <p:spPr>
          <a:xfrm>
            <a:off x="1377182" y="3554476"/>
            <a:ext cx="128699" cy="187198"/>
          </a:xfrm>
          <a:prstGeom prst="rect">
            <a:avLst/>
          </a:prstGeom>
        </p:spPr>
      </p:pic>
      <p:sp>
        <p:nvSpPr>
          <p:cNvPr id="284" name="TextBox 283"/>
          <p:cNvSpPr txBox="1"/>
          <p:nvPr/>
        </p:nvSpPr>
        <p:spPr>
          <a:xfrm>
            <a:off x="1544678" y="35642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85" name="Picture 284" descr="lock.png"/>
          <p:cNvPicPr>
            <a:picLocks noChangeAspect="1"/>
          </p:cNvPicPr>
          <p:nvPr/>
        </p:nvPicPr>
        <p:blipFill>
          <a:blip r:embed="rId4"/>
          <a:stretch>
            <a:fillRect/>
          </a:stretch>
        </p:blipFill>
        <p:spPr>
          <a:xfrm>
            <a:off x="2922273" y="3554476"/>
            <a:ext cx="128699" cy="187198"/>
          </a:xfrm>
          <a:prstGeom prst="rect">
            <a:avLst/>
          </a:prstGeom>
        </p:spPr>
      </p:pic>
      <p:sp>
        <p:nvSpPr>
          <p:cNvPr id="286" name="TextBox 285"/>
          <p:cNvSpPr txBox="1"/>
          <p:nvPr/>
        </p:nvSpPr>
        <p:spPr>
          <a:xfrm>
            <a:off x="3089769" y="35642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7" name="Picture 286" descr="lock.png"/>
          <p:cNvPicPr>
            <a:picLocks noChangeAspect="1"/>
          </p:cNvPicPr>
          <p:nvPr/>
        </p:nvPicPr>
        <p:blipFill>
          <a:blip r:embed="rId4"/>
          <a:stretch>
            <a:fillRect/>
          </a:stretch>
        </p:blipFill>
        <p:spPr>
          <a:xfrm>
            <a:off x="1377182" y="4411726"/>
            <a:ext cx="128699" cy="187198"/>
          </a:xfrm>
          <a:prstGeom prst="rect">
            <a:avLst/>
          </a:prstGeom>
        </p:spPr>
      </p:pic>
      <p:sp>
        <p:nvSpPr>
          <p:cNvPr id="288" name="TextBox 287"/>
          <p:cNvSpPr txBox="1"/>
          <p:nvPr/>
        </p:nvSpPr>
        <p:spPr>
          <a:xfrm>
            <a:off x="1544678" y="4421505"/>
            <a:ext cx="1247006" cy="186689"/>
          </a:xfrm>
          <a:prstGeom prst="rect">
            <a:avLst/>
          </a:prstGeom>
          <a:noFill/>
        </p:spPr>
        <p:txBody>
          <a:bodyPr wrap="none" lIns="0" rIns="0" tIns="0" bIns="0">
            <a:spAutoFit/>
          </a:bodyPr>
          <a:lstStyle/>
          <a:p>
            <a:r>
              <a:rPr sz="1100" b="0">
                <a:solidFill>
                  <a:srgbClr val="14213D"/>
                </a:solidFill>
                <a:latin typeface="Calibri"/>
              </a:rPr>
              <a:t>US$ Mn · – · long tail</a:t>
            </a:r>
          </a:p>
        </p:txBody>
      </p:sp>
      <p:sp>
        <p:nvSpPr>
          <p:cNvPr id="289" name="TextBox 288"/>
          <p:cNvSpPr txBox="1"/>
          <p:nvPr/>
        </p:nvSpPr>
        <p:spPr>
          <a:xfrm>
            <a:off x="1241169" y="5802630"/>
            <a:ext cx="493662" cy="186689"/>
          </a:xfrm>
          <a:prstGeom prst="rect">
            <a:avLst/>
          </a:prstGeom>
          <a:noFill/>
        </p:spPr>
        <p:txBody>
          <a:bodyPr wrap="none" lIns="0" rIns="0" tIns="0" bIns="0">
            <a:spAutoFit/>
          </a:bodyPr>
          <a:lstStyle/>
          <a:p>
            <a:r>
              <a:rPr sz="1100" b="1">
                <a:solidFill>
                  <a:srgbClr val="2E7D32"/>
                </a:solidFill>
                <a:latin typeface="Calibri"/>
              </a:rPr>
              <a:t>▲</a:t>
            </a:r>
            <a:r>
              <a:rPr sz="1100" b="1">
                <a:solidFill>
                  <a:srgbClr val="14213D"/>
                </a:solidFill>
                <a:latin typeface="Calibri"/>
              </a:rPr>
              <a:t> HHI =</a:t>
            </a:r>
          </a:p>
        </p:txBody>
      </p:sp>
      <p:pic>
        <p:nvPicPr>
          <p:cNvPr id="290" name="Picture 289" descr="lock.png"/>
          <p:cNvPicPr>
            <a:picLocks noChangeAspect="1"/>
          </p:cNvPicPr>
          <p:nvPr/>
        </p:nvPicPr>
        <p:blipFill>
          <a:blip r:embed="rId4"/>
          <a:stretch>
            <a:fillRect/>
          </a:stretch>
        </p:blipFill>
        <p:spPr>
          <a:xfrm>
            <a:off x="1682883" y="5792851"/>
            <a:ext cx="128699" cy="187198"/>
          </a:xfrm>
          <a:prstGeom prst="rect">
            <a:avLst/>
          </a:prstGeom>
        </p:spPr>
      </p:pic>
      <p:sp>
        <p:nvSpPr>
          <p:cNvPr id="291" name="TextBox 290"/>
          <p:cNvSpPr txBox="1"/>
          <p:nvPr/>
        </p:nvSpPr>
        <p:spPr>
          <a:xfrm>
            <a:off x="876202" y="6107430"/>
            <a:ext cx="400893" cy="186689"/>
          </a:xfrm>
          <a:prstGeom prst="rect">
            <a:avLst/>
          </a:prstGeom>
          <a:noFill/>
        </p:spPr>
        <p:txBody>
          <a:bodyPr wrap="none" lIns="0" rIns="0" tIns="0" bIns="0">
            <a:spAutoFit/>
          </a:bodyPr>
          <a:lstStyle/>
          <a:p>
            <a:r>
              <a:rPr sz="1100" b="1">
                <a:solidFill>
                  <a:srgbClr val="14213D"/>
                </a:solidFill>
                <a:latin typeface="Calibri"/>
              </a:rPr>
              <a:t>CR4 =</a:t>
            </a:r>
          </a:p>
        </p:txBody>
      </p:sp>
      <p:pic>
        <p:nvPicPr>
          <p:cNvPr id="292" name="Picture 291" descr="lock.png"/>
          <p:cNvPicPr>
            <a:picLocks noChangeAspect="1"/>
          </p:cNvPicPr>
          <p:nvPr/>
        </p:nvPicPr>
        <p:blipFill>
          <a:blip r:embed="rId4"/>
          <a:stretch>
            <a:fillRect/>
          </a:stretch>
        </p:blipFill>
        <p:spPr>
          <a:xfrm>
            <a:off x="1225147" y="6097651"/>
            <a:ext cx="128699" cy="187198"/>
          </a:xfrm>
          <a:prstGeom prst="rect">
            <a:avLst/>
          </a:prstGeom>
        </p:spPr>
      </p:pic>
      <p:sp>
        <p:nvSpPr>
          <p:cNvPr id="293" name="TextBox 292"/>
          <p:cNvSpPr txBox="1"/>
          <p:nvPr/>
        </p:nvSpPr>
        <p:spPr>
          <a:xfrm>
            <a:off x="1392643" y="6107430"/>
            <a:ext cx="1068288" cy="186689"/>
          </a:xfrm>
          <a:prstGeom prst="rect">
            <a:avLst/>
          </a:prstGeom>
          <a:noFill/>
        </p:spPr>
        <p:txBody>
          <a:bodyPr wrap="none" lIns="0" rIns="0" tIns="0" bIns="0">
            <a:spAutoFit/>
          </a:bodyPr>
          <a:lstStyle/>
          <a:p>
            <a:r>
              <a:rPr sz="1100" b="1">
                <a:solidFill>
                  <a:srgbClr val="14213D"/>
                </a:solidFill>
                <a:latin typeface="Calibri"/>
              </a:rPr>
              <a:t>· Tier 1 : Others =</a:t>
            </a:r>
          </a:p>
        </p:txBody>
      </p:sp>
      <p:pic>
        <p:nvPicPr>
          <p:cNvPr id="294" name="Picture 293" descr="lock.png"/>
          <p:cNvPicPr>
            <a:picLocks noChangeAspect="1"/>
          </p:cNvPicPr>
          <p:nvPr/>
        </p:nvPicPr>
        <p:blipFill>
          <a:blip r:embed="rId4"/>
          <a:stretch>
            <a:fillRect/>
          </a:stretch>
        </p:blipFill>
        <p:spPr>
          <a:xfrm>
            <a:off x="2408983" y="6097651"/>
            <a:ext cx="128699" cy="187198"/>
          </a:xfrm>
          <a:prstGeom prst="rect">
            <a:avLst/>
          </a:prstGeom>
        </p:spPr>
      </p:pic>
      <p:sp>
        <p:nvSpPr>
          <p:cNvPr id="295" name="TextBox 294"/>
          <p:cNvSpPr txBox="1"/>
          <p:nvPr/>
        </p:nvSpPr>
        <p:spPr>
          <a:xfrm>
            <a:off x="2576478" y="6107430"/>
            <a:ext cx="1397620" cy="186689"/>
          </a:xfrm>
          <a:prstGeom prst="rect">
            <a:avLst/>
          </a:prstGeom>
          <a:noFill/>
        </p:spPr>
        <p:txBody>
          <a:bodyPr wrap="none" lIns="0" rIns="0" tIns="0" bIns="0">
            <a:spAutoFit/>
          </a:bodyPr>
          <a:lstStyle/>
          <a:p>
            <a:r>
              <a:rPr sz="1100" b="1">
                <a:solidFill>
                  <a:srgbClr val="14213D"/>
                </a:solidFill>
                <a:latin typeface="Calibri"/>
              </a:rPr>
              <a:t>: 1 · Top-player share =</a:t>
            </a:r>
          </a:p>
        </p:txBody>
      </p:sp>
      <p:pic>
        <p:nvPicPr>
          <p:cNvPr id="296" name="Picture 295" descr="lock.png"/>
          <p:cNvPicPr>
            <a:picLocks noChangeAspect="1"/>
          </p:cNvPicPr>
          <p:nvPr/>
        </p:nvPicPr>
        <p:blipFill>
          <a:blip r:embed="rId4"/>
          <a:stretch>
            <a:fillRect/>
          </a:stretch>
        </p:blipFill>
        <p:spPr>
          <a:xfrm>
            <a:off x="3922150" y="6097651"/>
            <a:ext cx="128699" cy="187198"/>
          </a:xfrm>
          <a:prstGeom prst="rect">
            <a:avLst/>
          </a:prstGeom>
        </p:spPr>
      </p:pic>
      <p:sp>
        <p:nvSpPr>
          <p:cNvPr id="297" name="TextBox 296"/>
          <p:cNvSpPr txBox="1"/>
          <p:nvPr/>
        </p:nvSpPr>
        <p:spPr>
          <a:xfrm>
            <a:off x="4089646" y="6107430"/>
            <a:ext cx="1206351" cy="186689"/>
          </a:xfrm>
          <a:prstGeom prst="rect">
            <a:avLst/>
          </a:prstGeom>
          <a:noFill/>
        </p:spPr>
        <p:txBody>
          <a:bodyPr wrap="none" lIns="0" rIns="0" tIns="0" bIns="0">
            <a:spAutoFit/>
          </a:bodyPr>
          <a:lstStyle/>
          <a:p>
            <a:r>
              <a:rPr sz="1100" b="1">
                <a:solidFill>
                  <a:srgbClr val="14213D"/>
                </a:solidFill>
                <a:latin typeface="Calibri"/>
              </a:rPr>
              <a:t>· Class: Fragmented</a:t>
            </a:r>
          </a:p>
        </p:txBody>
      </p:sp>
      <p:sp>
        <p:nvSpPr>
          <p:cNvPr id="298" name="TextBox 297"/>
          <p:cNvSpPr txBox="1"/>
          <p:nvPr/>
        </p:nvSpPr>
        <p:spPr>
          <a:xfrm>
            <a:off x="6372225" y="5476875"/>
            <a:ext cx="471561" cy="186689"/>
          </a:xfrm>
          <a:prstGeom prst="rect">
            <a:avLst/>
          </a:prstGeom>
          <a:noFill/>
        </p:spPr>
        <p:txBody>
          <a:bodyPr wrap="none" lIns="0" rIns="0" tIns="0" bIns="0">
            <a:spAutoFit/>
          </a:bodyPr>
          <a:lstStyle/>
          <a:p>
            <a:r>
              <a:rPr sz="1100" b="0">
                <a:solidFill>
                  <a:srgbClr val="14213D"/>
                </a:solidFill>
                <a:latin typeface="Calibri"/>
              </a:rPr>
              <a:t>Tier 1 (</a:t>
            </a:r>
          </a:p>
        </p:txBody>
      </p:sp>
      <p:pic>
        <p:nvPicPr>
          <p:cNvPr id="299" name="Picture 298" descr="lock.png"/>
          <p:cNvPicPr>
            <a:picLocks noChangeAspect="1"/>
          </p:cNvPicPr>
          <p:nvPr/>
        </p:nvPicPr>
        <p:blipFill>
          <a:blip r:embed="rId4"/>
          <a:stretch>
            <a:fillRect/>
          </a:stretch>
        </p:blipFill>
        <p:spPr>
          <a:xfrm>
            <a:off x="6791838" y="5467095"/>
            <a:ext cx="128699" cy="187198"/>
          </a:xfrm>
          <a:prstGeom prst="rect">
            <a:avLst/>
          </a:prstGeom>
        </p:spPr>
      </p:pic>
      <p:sp>
        <p:nvSpPr>
          <p:cNvPr id="300" name="TextBox 299"/>
          <p:cNvSpPr txBox="1"/>
          <p:nvPr/>
        </p:nvSpPr>
        <p:spPr>
          <a:xfrm>
            <a:off x="6959334" y="5476875"/>
            <a:ext cx="2550145" cy="186689"/>
          </a:xfrm>
          <a:prstGeom prst="rect">
            <a:avLst/>
          </a:prstGeom>
          <a:noFill/>
        </p:spPr>
        <p:txBody>
          <a:bodyPr wrap="none" lIns="0" rIns="0" tIns="0" bIns="0">
            <a:spAutoFit/>
          </a:bodyPr>
          <a:lstStyle/>
          <a:p>
            <a:r>
              <a:rPr sz="1100" b="0">
                <a:solidFill>
                  <a:srgbClr val="14213D"/>
                </a:solidFill>
                <a:latin typeface="Calibri"/>
              </a:rPr>
              <a:t>) holds the largest single block of value on a</a:t>
            </a:r>
          </a:p>
        </p:txBody>
      </p:sp>
      <p:pic>
        <p:nvPicPr>
          <p:cNvPr id="301" name="Picture 300" descr="lock.png"/>
          <p:cNvPicPr>
            <a:picLocks noChangeAspect="1"/>
          </p:cNvPicPr>
          <p:nvPr/>
        </p:nvPicPr>
        <p:blipFill>
          <a:blip r:embed="rId4"/>
          <a:stretch>
            <a:fillRect/>
          </a:stretch>
        </p:blipFill>
        <p:spPr>
          <a:xfrm>
            <a:off x="9457531" y="5467095"/>
            <a:ext cx="128699" cy="187198"/>
          </a:xfrm>
          <a:prstGeom prst="rect">
            <a:avLst/>
          </a:prstGeom>
        </p:spPr>
      </p:pic>
      <p:sp>
        <p:nvSpPr>
          <p:cNvPr id="302" name="TextBox 301"/>
          <p:cNvSpPr txBox="1"/>
          <p:nvPr/>
        </p:nvSpPr>
        <p:spPr>
          <a:xfrm>
            <a:off x="9625026" y="5476875"/>
            <a:ext cx="1259830" cy="186689"/>
          </a:xfrm>
          <a:prstGeom prst="rect">
            <a:avLst/>
          </a:prstGeom>
          <a:noFill/>
        </p:spPr>
        <p:txBody>
          <a:bodyPr wrap="none" lIns="0" rIns="0" tIns="0" bIns="0">
            <a:spAutoFit/>
          </a:bodyPr>
          <a:lstStyle/>
          <a:p>
            <a:r>
              <a:rPr sz="1100" b="0">
                <a:solidFill>
                  <a:srgbClr val="14213D"/>
                </a:solidFill>
                <a:latin typeface="Calibri"/>
              </a:rPr>
              <a:t>US$ Mn base; CR4 of</a:t>
            </a:r>
          </a:p>
        </p:txBody>
      </p:sp>
      <p:pic>
        <p:nvPicPr>
          <p:cNvPr id="303" name="Picture 302" descr="lock.png"/>
          <p:cNvPicPr>
            <a:picLocks noChangeAspect="1"/>
          </p:cNvPicPr>
          <p:nvPr/>
        </p:nvPicPr>
        <p:blipFill>
          <a:blip r:embed="rId4"/>
          <a:stretch>
            <a:fillRect/>
          </a:stretch>
        </p:blipFill>
        <p:spPr>
          <a:xfrm>
            <a:off x="10832908" y="5467095"/>
            <a:ext cx="128699" cy="187198"/>
          </a:xfrm>
          <a:prstGeom prst="rect">
            <a:avLst/>
          </a:prstGeom>
        </p:spPr>
      </p:pic>
      <p:sp>
        <p:nvSpPr>
          <p:cNvPr id="304" name="TextBox 303"/>
          <p:cNvSpPr txBox="1"/>
          <p:nvPr/>
        </p:nvSpPr>
        <p:spPr>
          <a:xfrm>
            <a:off x="11000404" y="5476875"/>
            <a:ext cx="678656" cy="186689"/>
          </a:xfrm>
          <a:prstGeom prst="rect">
            <a:avLst/>
          </a:prstGeom>
          <a:noFill/>
        </p:spPr>
        <p:txBody>
          <a:bodyPr wrap="none" lIns="0" rIns="0" tIns="0" bIns="0">
            <a:spAutoFit/>
          </a:bodyPr>
          <a:lstStyle/>
          <a:p>
            <a:r>
              <a:rPr sz="1100" b="0">
                <a:solidFill>
                  <a:srgbClr val="14213D"/>
                </a:solidFill>
                <a:latin typeface="Calibri"/>
              </a:rPr>
              <a:t>and HHI of</a:t>
            </a:r>
          </a:p>
        </p:txBody>
      </p:sp>
      <p:pic>
        <p:nvPicPr>
          <p:cNvPr id="305" name="Picture 304" descr="lock.png"/>
          <p:cNvPicPr>
            <a:picLocks noChangeAspect="1"/>
          </p:cNvPicPr>
          <p:nvPr/>
        </p:nvPicPr>
        <p:blipFill>
          <a:blip r:embed="rId4"/>
          <a:stretch>
            <a:fillRect/>
          </a:stretch>
        </p:blipFill>
        <p:spPr>
          <a:xfrm>
            <a:off x="6358757" y="5634735"/>
            <a:ext cx="128699" cy="187198"/>
          </a:xfrm>
          <a:prstGeom prst="rect">
            <a:avLst/>
          </a:prstGeom>
        </p:spPr>
      </p:pic>
      <p:sp>
        <p:nvSpPr>
          <p:cNvPr id="306" name="TextBox 305"/>
          <p:cNvSpPr txBox="1"/>
          <p:nvPr/>
        </p:nvSpPr>
        <p:spPr>
          <a:xfrm>
            <a:off x="6526253" y="5644515"/>
            <a:ext cx="2030635" cy="186689"/>
          </a:xfrm>
          <a:prstGeom prst="rect">
            <a:avLst/>
          </a:prstGeom>
          <a:noFill/>
        </p:spPr>
        <p:txBody>
          <a:bodyPr wrap="none" lIns="0" rIns="0" tIns="0" bIns="0">
            <a:spAutoFit/>
          </a:bodyPr>
          <a:lstStyle/>
          <a:p>
            <a:r>
              <a:rPr sz="1100" b="0">
                <a:solidFill>
                  <a:srgbClr val="14213D"/>
                </a:solidFill>
                <a:latin typeface="Calibri"/>
              </a:rPr>
              <a:t>classify the market as fragmented.</a:t>
            </a:r>
          </a:p>
        </p:txBody>
      </p:sp>
      <p:sp>
        <p:nvSpPr>
          <p:cNvPr id="307" name="TextBox 306"/>
          <p:cNvSpPr txBox="1"/>
          <p:nvPr/>
        </p:nvSpPr>
        <p:spPr>
          <a:xfrm>
            <a:off x="6372225" y="5857875"/>
            <a:ext cx="1331044" cy="186689"/>
          </a:xfrm>
          <a:prstGeom prst="rect">
            <a:avLst/>
          </a:prstGeom>
          <a:noFill/>
        </p:spPr>
        <p:txBody>
          <a:bodyPr wrap="none" lIns="0" rIns="0" tIns="0" bIns="0">
            <a:spAutoFit/>
          </a:bodyPr>
          <a:lstStyle/>
          <a:p>
            <a:r>
              <a:rPr sz="1100" b="0">
                <a:solidFill>
                  <a:srgbClr val="14213D"/>
                </a:solidFill>
                <a:latin typeface="Calibri"/>
              </a:rPr>
              <a:t>Tier 2 grows fastest at</a:t>
            </a:r>
          </a:p>
        </p:txBody>
      </p:sp>
      <p:pic>
        <p:nvPicPr>
          <p:cNvPr id="308" name="Picture 307" descr="lock.png"/>
          <p:cNvPicPr>
            <a:picLocks noChangeAspect="1"/>
          </p:cNvPicPr>
          <p:nvPr/>
        </p:nvPicPr>
        <p:blipFill>
          <a:blip r:embed="rId4"/>
          <a:stretch>
            <a:fillRect/>
          </a:stretch>
        </p:blipFill>
        <p:spPr>
          <a:xfrm>
            <a:off x="7651320" y="5848095"/>
            <a:ext cx="128699" cy="187198"/>
          </a:xfrm>
          <a:prstGeom prst="rect">
            <a:avLst/>
          </a:prstGeom>
        </p:spPr>
      </p:pic>
      <p:sp>
        <p:nvSpPr>
          <p:cNvPr id="309" name="TextBox 308"/>
          <p:cNvSpPr txBox="1"/>
          <p:nvPr/>
        </p:nvSpPr>
        <p:spPr>
          <a:xfrm>
            <a:off x="7818816" y="5857875"/>
            <a:ext cx="982868" cy="186689"/>
          </a:xfrm>
          <a:prstGeom prst="rect">
            <a:avLst/>
          </a:prstGeom>
          <a:noFill/>
        </p:spPr>
        <p:txBody>
          <a:bodyPr wrap="none" lIns="0" rIns="0" tIns="0" bIns="0">
            <a:spAutoFit/>
          </a:bodyPr>
          <a:lstStyle/>
          <a:p>
            <a:r>
              <a:rPr sz="1100" b="0">
                <a:solidFill>
                  <a:srgbClr val="14213D"/>
                </a:solidFill>
                <a:latin typeface="Calibri"/>
              </a:rPr>
              <a:t>CAGR, moving +</a:t>
            </a:r>
          </a:p>
        </p:txBody>
      </p:sp>
      <p:pic>
        <p:nvPicPr>
          <p:cNvPr id="310" name="Picture 309" descr="lock.png"/>
          <p:cNvPicPr>
            <a:picLocks noChangeAspect="1"/>
          </p:cNvPicPr>
          <p:nvPr/>
        </p:nvPicPr>
        <p:blipFill>
          <a:blip r:embed="rId4"/>
          <a:stretch>
            <a:fillRect/>
          </a:stretch>
        </p:blipFill>
        <p:spPr>
          <a:xfrm>
            <a:off x="8749737" y="5848095"/>
            <a:ext cx="128699" cy="187198"/>
          </a:xfrm>
          <a:prstGeom prst="rect">
            <a:avLst/>
          </a:prstGeom>
        </p:spPr>
      </p:pic>
      <p:sp>
        <p:nvSpPr>
          <p:cNvPr id="311" name="TextBox 310"/>
          <p:cNvSpPr txBox="1"/>
          <p:nvPr/>
        </p:nvSpPr>
        <p:spPr>
          <a:xfrm>
            <a:off x="8917232" y="5857875"/>
            <a:ext cx="1234727" cy="186689"/>
          </a:xfrm>
          <a:prstGeom prst="rect">
            <a:avLst/>
          </a:prstGeom>
          <a:noFill/>
        </p:spPr>
        <p:txBody>
          <a:bodyPr wrap="none" lIns="0" rIns="0" tIns="0" bIns="0">
            <a:spAutoFit/>
          </a:bodyPr>
          <a:lstStyle/>
          <a:p>
            <a:r>
              <a:rPr sz="1100" b="0">
                <a:solidFill>
                  <a:srgbClr val="14213D"/>
                </a:solidFill>
                <a:latin typeface="Calibri"/>
              </a:rPr>
              <a:t>pp of share by 2036.</a:t>
            </a:r>
          </a:p>
        </p:txBody>
      </p:sp>
      <p:sp>
        <p:nvSpPr>
          <p:cNvPr id="312" name="TextBox 311"/>
          <p:cNvSpPr txBox="1"/>
          <p:nvPr/>
        </p:nvSpPr>
        <p:spPr>
          <a:xfrm>
            <a:off x="6372225" y="6076950"/>
            <a:ext cx="2161604" cy="186689"/>
          </a:xfrm>
          <a:prstGeom prst="rect">
            <a:avLst/>
          </a:prstGeom>
          <a:noFill/>
        </p:spPr>
        <p:txBody>
          <a:bodyPr wrap="none" lIns="0" rIns="0" tIns="0" bIns="0">
            <a:spAutoFit/>
          </a:bodyPr>
          <a:lstStyle/>
          <a:p>
            <a:r>
              <a:rPr sz="1100" b="0">
                <a:solidFill>
                  <a:srgbClr val="14213D"/>
                </a:solidFill>
                <a:latin typeface="Calibri"/>
              </a:rPr>
              <a:t>Tier 3 and the long tail together hold</a:t>
            </a:r>
          </a:p>
        </p:txBody>
      </p:sp>
      <p:pic>
        <p:nvPicPr>
          <p:cNvPr id="313" name="Picture 312" descr="lock.png"/>
          <p:cNvPicPr>
            <a:picLocks noChangeAspect="1"/>
          </p:cNvPicPr>
          <p:nvPr/>
        </p:nvPicPr>
        <p:blipFill>
          <a:blip r:embed="rId4"/>
          <a:stretch>
            <a:fillRect/>
          </a:stretch>
        </p:blipFill>
        <p:spPr>
          <a:xfrm>
            <a:off x="8481881" y="6067170"/>
            <a:ext cx="128699" cy="187198"/>
          </a:xfrm>
          <a:prstGeom prst="rect">
            <a:avLst/>
          </a:prstGeom>
        </p:spPr>
      </p:pic>
      <p:sp>
        <p:nvSpPr>
          <p:cNvPr id="314" name="TextBox 313"/>
          <p:cNvSpPr txBox="1"/>
          <p:nvPr/>
        </p:nvSpPr>
        <p:spPr>
          <a:xfrm>
            <a:off x="8649376" y="6076950"/>
            <a:ext cx="2127498" cy="186689"/>
          </a:xfrm>
          <a:prstGeom prst="rect">
            <a:avLst/>
          </a:prstGeom>
          <a:noFill/>
        </p:spPr>
        <p:txBody>
          <a:bodyPr wrap="none" lIns="0" rIns="0" tIns="0" bIns="0">
            <a:spAutoFit/>
          </a:bodyPr>
          <a:lstStyle/>
          <a:p>
            <a:r>
              <a:rPr sz="1100" b="0">
                <a:solidFill>
                  <a:srgbClr val="14213D"/>
                </a:solidFill>
                <a:latin typeface="Calibri"/>
              </a:rPr>
              <a:t>of value; the average Tier 3 player is</a:t>
            </a:r>
          </a:p>
        </p:txBody>
      </p:sp>
      <p:pic>
        <p:nvPicPr>
          <p:cNvPr id="315" name="Picture 314" descr="lock.png"/>
          <p:cNvPicPr>
            <a:picLocks noChangeAspect="1"/>
          </p:cNvPicPr>
          <p:nvPr/>
        </p:nvPicPr>
        <p:blipFill>
          <a:blip r:embed="rId4"/>
          <a:stretch>
            <a:fillRect/>
          </a:stretch>
        </p:blipFill>
        <p:spPr>
          <a:xfrm>
            <a:off x="10724926" y="6067170"/>
            <a:ext cx="128699" cy="187198"/>
          </a:xfrm>
          <a:prstGeom prst="rect">
            <a:avLst/>
          </a:prstGeom>
        </p:spPr>
      </p:pic>
      <p:sp>
        <p:nvSpPr>
          <p:cNvPr id="316" name="TextBox 315"/>
          <p:cNvSpPr txBox="1"/>
          <p:nvPr/>
        </p:nvSpPr>
        <p:spPr>
          <a:xfrm>
            <a:off x="10892422" y="6076950"/>
            <a:ext cx="876473" cy="186689"/>
          </a:xfrm>
          <a:prstGeom prst="rect">
            <a:avLst/>
          </a:prstGeom>
          <a:noFill/>
        </p:spPr>
        <p:txBody>
          <a:bodyPr wrap="none" lIns="0" rIns="0" tIns="0" bIns="0">
            <a:spAutoFit/>
          </a:bodyPr>
          <a:lstStyle/>
          <a:p>
            <a:r>
              <a:rPr sz="1100" b="0">
                <a:solidFill>
                  <a:srgbClr val="14213D"/>
                </a:solidFill>
                <a:latin typeface="Calibri"/>
              </a:rPr>
              <a:t>x smaller than</a:t>
            </a:r>
          </a:p>
        </p:txBody>
      </p:sp>
      <p:sp>
        <p:nvSpPr>
          <p:cNvPr id="317" name="TextBox 316"/>
          <p:cNvSpPr txBox="1"/>
          <p:nvPr/>
        </p:nvSpPr>
        <p:spPr>
          <a:xfrm>
            <a:off x="6372225" y="6244590"/>
            <a:ext cx="1020539" cy="186689"/>
          </a:xfrm>
          <a:prstGeom prst="rect">
            <a:avLst/>
          </a:prstGeom>
          <a:noFill/>
        </p:spPr>
        <p:txBody>
          <a:bodyPr wrap="none" lIns="0" rIns="0" tIns="0" bIns="0">
            <a:spAutoFit/>
          </a:bodyPr>
          <a:lstStyle/>
          <a:p>
            <a:r>
              <a:rPr sz="1100" b="0">
                <a:solidFill>
                  <a:srgbClr val="14213D"/>
                </a:solidFill>
                <a:latin typeface="Calibri"/>
              </a:rPr>
              <a:t>a Tier 1 supplier.</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Industrial Air Compressor Market, Global 2026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7" name="Rounded Rectangle 6"/>
          <p:cNvSpPr/>
          <p:nvPr/>
        </p:nvSpPr>
        <p:spPr>
          <a:xfrm>
            <a:off x="142875" y="1047750"/>
            <a:ext cx="11906250" cy="2381250"/>
          </a:xfrm>
          <a:prstGeom prst="roundRect">
            <a:avLst>
              <a:gd name="adj" fmla="val 64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104900"/>
            <a:ext cx="11715750"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Shift, 2026 → 2036 – Tier Migration and Entry / Exit</a:t>
            </a:r>
          </a:p>
        </p:txBody>
      </p:sp>
      <p:sp>
        <p:nvSpPr>
          <p:cNvPr id="9" name="Rounded Rectangle 8"/>
          <p:cNvSpPr/>
          <p:nvPr/>
        </p:nvSpPr>
        <p:spPr>
          <a:xfrm>
            <a:off x="257175" y="1390650"/>
            <a:ext cx="1905000" cy="876300"/>
          </a:xfrm>
          <a:prstGeom prst="roundRect">
            <a:avLst>
              <a:gd name="adj" fmla="val 4000"/>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71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11" name="TextBox 10"/>
          <p:cNvSpPr txBox="1"/>
          <p:nvPr/>
        </p:nvSpPr>
        <p:spPr>
          <a:xfrm>
            <a:off x="2571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Top / global players</a:t>
            </a:r>
          </a:p>
        </p:txBody>
      </p:sp>
      <p:sp>
        <p:nvSpPr>
          <p:cNvPr id="12" name="TextBox 11"/>
          <p:cNvSpPr txBox="1"/>
          <p:nvPr/>
        </p:nvSpPr>
        <p:spPr>
          <a:xfrm>
            <a:off x="2952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13" name="TextBox 12"/>
          <p:cNvSpPr txBox="1"/>
          <p:nvPr/>
        </p:nvSpPr>
        <p:spPr>
          <a:xfrm>
            <a:off x="22383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14" name="Connector 13"/>
          <p:cNvCxnSpPr/>
          <p:nvPr/>
        </p:nvCxnSpPr>
        <p:spPr>
          <a:xfrm>
            <a:off x="23145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15" name="Freeform 14"/>
          <p:cNvSpPr/>
          <p:nvPr/>
        </p:nvSpPr>
        <p:spPr>
          <a:xfrm>
            <a:off x="22383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22383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33432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383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19" name="Rounded Rectangle 18"/>
          <p:cNvSpPr/>
          <p:nvPr/>
        </p:nvSpPr>
        <p:spPr>
          <a:xfrm>
            <a:off x="3514725" y="1390650"/>
            <a:ext cx="1905000" cy="876300"/>
          </a:xfrm>
          <a:prstGeom prst="roundRect">
            <a:avLst>
              <a:gd name="adj" fmla="val 4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1472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21" name="TextBox 20"/>
          <p:cNvSpPr txBox="1"/>
          <p:nvPr/>
        </p:nvSpPr>
        <p:spPr>
          <a:xfrm>
            <a:off x="351472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Mid-sized players</a:t>
            </a:r>
          </a:p>
        </p:txBody>
      </p:sp>
      <p:sp>
        <p:nvSpPr>
          <p:cNvPr id="22" name="TextBox 21"/>
          <p:cNvSpPr txBox="1"/>
          <p:nvPr/>
        </p:nvSpPr>
        <p:spPr>
          <a:xfrm>
            <a:off x="35528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23" name="TextBox 22"/>
          <p:cNvSpPr txBox="1"/>
          <p:nvPr/>
        </p:nvSpPr>
        <p:spPr>
          <a:xfrm>
            <a:off x="549592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24" name="Connector 23"/>
          <p:cNvCxnSpPr/>
          <p:nvPr/>
        </p:nvCxnSpPr>
        <p:spPr>
          <a:xfrm>
            <a:off x="557212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549592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549592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27" name="Freeform 26"/>
          <p:cNvSpPr/>
          <p:nvPr/>
        </p:nvSpPr>
        <p:spPr>
          <a:xfrm>
            <a:off x="660082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9592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29" name="Rounded Rectangle 28"/>
          <p:cNvSpPr/>
          <p:nvPr/>
        </p:nvSpPr>
        <p:spPr>
          <a:xfrm>
            <a:off x="6772275" y="1390650"/>
            <a:ext cx="1905000" cy="876300"/>
          </a:xfrm>
          <a:prstGeom prst="roundRect">
            <a:avLst>
              <a:gd name="adj" fmla="val 4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722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31" name="TextBox 30"/>
          <p:cNvSpPr txBox="1"/>
          <p:nvPr/>
        </p:nvSpPr>
        <p:spPr>
          <a:xfrm>
            <a:off x="67722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Emerging / local players</a:t>
            </a:r>
          </a:p>
        </p:txBody>
      </p:sp>
      <p:sp>
        <p:nvSpPr>
          <p:cNvPr id="32" name="TextBox 31"/>
          <p:cNvSpPr txBox="1"/>
          <p:nvPr/>
        </p:nvSpPr>
        <p:spPr>
          <a:xfrm>
            <a:off x="68103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33" name="TextBox 32"/>
          <p:cNvSpPr txBox="1"/>
          <p:nvPr/>
        </p:nvSpPr>
        <p:spPr>
          <a:xfrm>
            <a:off x="87534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2 up-tier (M&amp;A)</a:t>
            </a:r>
          </a:p>
        </p:txBody>
      </p:sp>
      <p:cxnSp>
        <p:nvCxnSpPr>
          <p:cNvPr id="34" name="Connector 33"/>
          <p:cNvCxnSpPr/>
          <p:nvPr/>
        </p:nvCxnSpPr>
        <p:spPr>
          <a:xfrm>
            <a:off x="88296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87534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87534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37" name="Freeform 36"/>
          <p:cNvSpPr/>
          <p:nvPr/>
        </p:nvSpPr>
        <p:spPr>
          <a:xfrm>
            <a:off x="98583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534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1 down / exit</a:t>
            </a:r>
          </a:p>
        </p:txBody>
      </p:sp>
      <p:sp>
        <p:nvSpPr>
          <p:cNvPr id="39" name="Rounded Rectangle 38"/>
          <p:cNvSpPr/>
          <p:nvPr/>
        </p:nvSpPr>
        <p:spPr>
          <a:xfrm>
            <a:off x="10029825" y="1390650"/>
            <a:ext cx="1905000" cy="876300"/>
          </a:xfrm>
          <a:prstGeom prst="roundRect">
            <a:avLst>
              <a:gd name="adj" fmla="val 4000"/>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29825" y="1447800"/>
            <a:ext cx="1905000" cy="2095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41" name="TextBox 40"/>
          <p:cNvSpPr txBox="1"/>
          <p:nvPr/>
        </p:nvSpPr>
        <p:spPr>
          <a:xfrm>
            <a:off x="10029825" y="1676400"/>
            <a:ext cx="1905000" cy="17145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42" name="TextBox 41"/>
          <p:cNvSpPr txBox="1"/>
          <p:nvPr/>
        </p:nvSpPr>
        <p:spPr>
          <a:xfrm>
            <a:off x="100679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r>
          </a:p>
        </p:txBody>
      </p:sp>
      <p:sp>
        <p:nvSpPr>
          <p:cNvPr id="43" name="Rounded Rectangle 42"/>
          <p:cNvSpPr/>
          <p:nvPr/>
        </p:nvSpPr>
        <p:spPr>
          <a:xfrm>
            <a:off x="2571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MI KPI Value"/>
          <p:cNvSpPr txBox="1"/>
          <p:nvPr/>
        </p:nvSpPr>
        <p:spPr>
          <a:xfrm>
            <a:off x="3524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45" name="TextBox 44"/>
          <p:cNvSpPr txBox="1"/>
          <p:nvPr/>
        </p:nvSpPr>
        <p:spPr>
          <a:xfrm>
            <a:off x="11906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New entrants 2026–2036</a:t>
            </a:r>
          </a:p>
        </p:txBody>
      </p:sp>
      <p:sp>
        <p:nvSpPr>
          <p:cNvPr id="46" name="TextBox 45"/>
          <p:cNvSpPr txBox="1"/>
          <p:nvPr/>
        </p:nvSpPr>
        <p:spPr>
          <a:xfrm>
            <a:off x="11906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scaling up from the long tail</a:t>
            </a:r>
          </a:p>
        </p:txBody>
      </p:sp>
      <p:sp>
        <p:nvSpPr>
          <p:cNvPr id="47" name="Rounded Rectangle 46"/>
          <p:cNvSpPr/>
          <p:nvPr/>
        </p:nvSpPr>
        <p:spPr>
          <a:xfrm>
            <a:off x="32099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MI KPI Value"/>
          <p:cNvSpPr txBox="1"/>
          <p:nvPr/>
        </p:nvSpPr>
        <p:spPr>
          <a:xfrm>
            <a:off x="33051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49" name="TextBox 48"/>
          <p:cNvSpPr txBox="1"/>
          <p:nvPr/>
        </p:nvSpPr>
        <p:spPr>
          <a:xfrm>
            <a:off x="41433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Exits / acquisitions</a:t>
            </a:r>
          </a:p>
        </p:txBody>
      </p:sp>
      <p:sp>
        <p:nvSpPr>
          <p:cNvPr id="50" name="TextBox 49"/>
          <p:cNvSpPr txBox="1"/>
          <p:nvPr/>
        </p:nvSpPr>
        <p:spPr>
          <a:xfrm>
            <a:off x="41433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absorbed mainly by Tier 1–2 acquirers</a:t>
            </a:r>
          </a:p>
        </p:txBody>
      </p:sp>
      <p:sp>
        <p:nvSpPr>
          <p:cNvPr id="51" name="Rounded Rectangle 50"/>
          <p:cNvSpPr/>
          <p:nvPr/>
        </p:nvSpPr>
        <p:spPr>
          <a:xfrm>
            <a:off x="61626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MI KPI Value"/>
          <p:cNvSpPr txBox="1"/>
          <p:nvPr/>
        </p:nvSpPr>
        <p:spPr>
          <a:xfrm>
            <a:off x="62579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3" name="TextBox 52"/>
          <p:cNvSpPr txBox="1"/>
          <p:nvPr/>
        </p:nvSpPr>
        <p:spPr>
          <a:xfrm>
            <a:off x="70961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Net change in player count</a:t>
            </a:r>
          </a:p>
        </p:txBody>
      </p:sp>
      <p:sp>
        <p:nvSpPr>
          <p:cNvPr id="54" name="TextBox 53"/>
          <p:cNvSpPr txBox="1"/>
          <p:nvPr/>
        </p:nvSpPr>
        <p:spPr>
          <a:xfrm>
            <a:off x="70961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Between 2026 and 2036</a:t>
            </a:r>
          </a:p>
        </p:txBody>
      </p:sp>
      <p:sp>
        <p:nvSpPr>
          <p:cNvPr id="55" name="Rounded Rectangle 54"/>
          <p:cNvSpPr/>
          <p:nvPr/>
        </p:nvSpPr>
        <p:spPr>
          <a:xfrm>
            <a:off x="91154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MI KPI Value"/>
          <p:cNvSpPr txBox="1"/>
          <p:nvPr/>
        </p:nvSpPr>
        <p:spPr>
          <a:xfrm>
            <a:off x="92106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7" name="TextBox 56"/>
          <p:cNvSpPr txBox="1"/>
          <p:nvPr/>
        </p:nvSpPr>
        <p:spPr>
          <a:xfrm>
            <a:off x="100488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Share moving between tiers</a:t>
            </a:r>
          </a:p>
        </p:txBody>
      </p:sp>
      <p:sp>
        <p:nvSpPr>
          <p:cNvPr id="58" name="TextBox 57"/>
          <p:cNvSpPr txBox="1"/>
          <p:nvPr/>
        </p:nvSpPr>
        <p:spPr>
          <a:xfrm>
            <a:off x="100488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largest transfer: Others → Tier 2</a:t>
            </a:r>
          </a:p>
        </p:txBody>
      </p:sp>
      <p:sp>
        <p:nvSpPr>
          <p:cNvPr id="59" name="Rounded Rectangle 58"/>
          <p:cNvSpPr/>
          <p:nvPr/>
        </p:nvSpPr>
        <p:spPr>
          <a:xfrm>
            <a:off x="142875" y="3543300"/>
            <a:ext cx="7096125" cy="3086100"/>
          </a:xfrm>
          <a:prstGeom prst="roundRect">
            <a:avLst>
              <a:gd name="adj" fmla="val 107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38125" y="3600450"/>
            <a:ext cx="6905625"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Forces Shaping the Tier Structure (1 = weak, 5 = strong)</a:t>
            </a:r>
          </a:p>
        </p:txBody>
      </p:sp>
      <p:sp>
        <p:nvSpPr>
          <p:cNvPr id="61" name="Rectangle 60"/>
          <p:cNvSpPr/>
          <p:nvPr/>
        </p:nvSpPr>
        <p:spPr>
          <a:xfrm>
            <a:off x="238125" y="3867150"/>
            <a:ext cx="1428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95275" y="3867150"/>
            <a:ext cx="1352550" cy="247650"/>
          </a:xfrm>
          <a:prstGeom prst="rect">
            <a:avLst/>
          </a:prstGeom>
          <a:noFill/>
        </p:spPr>
        <p:txBody>
          <a:bodyPr wrap="square" lIns="28575" rIns="28575" tIns="9525" bIns="9525" anchor="ctr">
            <a:spAutoFit/>
          </a:bodyPr>
          <a:lstStyle/>
          <a:p>
            <a:pPr algn="l"/>
            <a:r>
              <a:rPr sz="1100" b="1">
                <a:solidFill>
                  <a:srgbClr val="FFFFFF"/>
                </a:solidFill>
                <a:latin typeface="Calibri"/>
              </a:rPr>
              <a:t>Force</a:t>
            </a:r>
          </a:p>
        </p:txBody>
      </p:sp>
      <p:sp>
        <p:nvSpPr>
          <p:cNvPr id="63" name="Rectangle 62"/>
          <p:cNvSpPr/>
          <p:nvPr/>
        </p:nvSpPr>
        <p:spPr>
          <a:xfrm>
            <a:off x="1666875" y="3867150"/>
            <a:ext cx="233362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724025" y="3867150"/>
            <a:ext cx="2257425" cy="247650"/>
          </a:xfrm>
          <a:prstGeom prst="rect">
            <a:avLst/>
          </a:prstGeom>
          <a:noFill/>
        </p:spPr>
        <p:txBody>
          <a:bodyPr wrap="square" lIns="28575" rIns="28575" tIns="9525" bIns="9525" anchor="ctr">
            <a:spAutoFit/>
          </a:bodyPr>
          <a:lstStyle/>
          <a:p>
            <a:pPr algn="l"/>
            <a:r>
              <a:rPr sz="1100" b="1">
                <a:solidFill>
                  <a:srgbClr val="FFFFFF"/>
                </a:solidFill>
                <a:latin typeface="Calibri"/>
              </a:rPr>
              <a:t>Drivers in the market</a:t>
            </a:r>
          </a:p>
        </p:txBody>
      </p:sp>
      <p:sp>
        <p:nvSpPr>
          <p:cNvPr id="65" name="Rectangle 64"/>
          <p:cNvSpPr/>
          <p:nvPr/>
        </p:nvSpPr>
        <p:spPr>
          <a:xfrm>
            <a:off x="4000500" y="3867150"/>
            <a:ext cx="666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057650" y="3867150"/>
            <a:ext cx="590550" cy="247650"/>
          </a:xfrm>
          <a:prstGeom prst="rect">
            <a:avLst/>
          </a:prstGeom>
          <a:noFill/>
        </p:spPr>
        <p:txBody>
          <a:bodyPr wrap="square" lIns="28575" rIns="28575" tIns="9525" bIns="9525" anchor="ctr">
            <a:spAutoFit/>
          </a:bodyPr>
          <a:lstStyle/>
          <a:p>
            <a:pPr algn="l"/>
            <a:r>
              <a:rPr sz="1100" b="1">
                <a:solidFill>
                  <a:srgbClr val="FFFFFF"/>
                </a:solidFill>
                <a:latin typeface="Calibri"/>
              </a:rPr>
              <a:t>Score</a:t>
            </a:r>
          </a:p>
        </p:txBody>
      </p:sp>
      <p:sp>
        <p:nvSpPr>
          <p:cNvPr id="67" name="Rectangle 66"/>
          <p:cNvSpPr/>
          <p:nvPr/>
        </p:nvSpPr>
        <p:spPr>
          <a:xfrm>
            <a:off x="4667250" y="3867150"/>
            <a:ext cx="2476500" cy="247650"/>
          </a:xfrm>
          <a:prstGeom prst="rect">
            <a:avLst/>
          </a:prstGeom>
          <a:solidFill>
            <a:srgbClr val="0E8C8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724400" y="3867150"/>
            <a:ext cx="2400300" cy="247650"/>
          </a:xfrm>
          <a:prstGeom prst="rect">
            <a:avLst/>
          </a:prstGeom>
          <a:noFill/>
        </p:spPr>
        <p:txBody>
          <a:bodyPr wrap="square" lIns="28575" rIns="28575" tIns="9525" bIns="9525" anchor="ctr">
            <a:spAutoFit/>
          </a:bodyPr>
          <a:lstStyle/>
          <a:p>
            <a:pPr algn="l"/>
            <a:r>
              <a:rPr sz="1100" b="1">
                <a:solidFill>
                  <a:srgbClr val="FFFFFF"/>
                </a:solidFill>
                <a:latin typeface="Calibri"/>
              </a:rPr>
              <a:t>Effect on tier structure</a:t>
            </a:r>
          </a:p>
        </p:txBody>
      </p:sp>
      <p:sp>
        <p:nvSpPr>
          <p:cNvPr id="69" name="Rectangle 68"/>
          <p:cNvSpPr/>
          <p:nvPr/>
        </p:nvSpPr>
        <p:spPr>
          <a:xfrm>
            <a:off x="238125" y="41148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95275" y="41148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Entry barriers</a:t>
            </a:r>
          </a:p>
        </p:txBody>
      </p:sp>
      <p:sp>
        <p:nvSpPr>
          <p:cNvPr id="71" name="Rectangle 70"/>
          <p:cNvSpPr/>
          <p:nvPr/>
        </p:nvSpPr>
        <p:spPr>
          <a:xfrm>
            <a:off x="1666875" y="41148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724025" y="41148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Certification, qualification, scale economics</a:t>
            </a:r>
          </a:p>
        </p:txBody>
      </p:sp>
      <p:sp>
        <p:nvSpPr>
          <p:cNvPr id="73" name="Rectangle 72"/>
          <p:cNvSpPr/>
          <p:nvPr/>
        </p:nvSpPr>
        <p:spPr>
          <a:xfrm>
            <a:off x="4000500" y="41148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057650" y="41148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75" name="Rectangle 74"/>
          <p:cNvSpPr/>
          <p:nvPr/>
        </p:nvSpPr>
        <p:spPr>
          <a:xfrm>
            <a:off x="4667250" y="41148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724400" y="41148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Protects Tier 1–2; slows new entry</a:t>
            </a:r>
          </a:p>
        </p:txBody>
      </p:sp>
      <p:sp>
        <p:nvSpPr>
          <p:cNvPr id="77" name="Rectangle 76"/>
          <p:cNvSpPr/>
          <p:nvPr/>
        </p:nvSpPr>
        <p:spPr>
          <a:xfrm>
            <a:off x="238125" y="45243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95275" y="45243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Buyer power</a:t>
            </a:r>
          </a:p>
        </p:txBody>
      </p:sp>
      <p:sp>
        <p:nvSpPr>
          <p:cNvPr id="79" name="Rectangle 78"/>
          <p:cNvSpPr/>
          <p:nvPr/>
        </p:nvSpPr>
        <p:spPr>
          <a:xfrm>
            <a:off x="1666875" y="45243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724025" y="452437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Key-account purchasing, multi-year supply contracts</a:t>
            </a:r>
          </a:p>
        </p:txBody>
      </p:sp>
      <p:sp>
        <p:nvSpPr>
          <p:cNvPr id="81" name="Rectangle 80"/>
          <p:cNvSpPr/>
          <p:nvPr/>
        </p:nvSpPr>
        <p:spPr>
          <a:xfrm>
            <a:off x="4000500" y="45243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057650" y="45243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83" name="Rectangle 82"/>
          <p:cNvSpPr/>
          <p:nvPr/>
        </p:nvSpPr>
        <p:spPr>
          <a:xfrm>
            <a:off x="4667250" y="45243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724400" y="452437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Compresses Tier 3 pricing</a:t>
            </a:r>
          </a:p>
        </p:txBody>
      </p:sp>
      <p:sp>
        <p:nvSpPr>
          <p:cNvPr id="85" name="Rectangle 84"/>
          <p:cNvSpPr/>
          <p:nvPr/>
        </p:nvSpPr>
        <p:spPr>
          <a:xfrm>
            <a:off x="238125" y="493395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95275" y="493395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Switching costs</a:t>
            </a:r>
          </a:p>
        </p:txBody>
      </p:sp>
      <p:sp>
        <p:nvSpPr>
          <p:cNvPr id="87" name="Rectangle 86"/>
          <p:cNvSpPr/>
          <p:nvPr/>
        </p:nvSpPr>
        <p:spPr>
          <a:xfrm>
            <a:off x="1666875" y="493395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724025" y="493395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Requalification, integration and retraining</a:t>
            </a:r>
          </a:p>
        </p:txBody>
      </p:sp>
      <p:sp>
        <p:nvSpPr>
          <p:cNvPr id="89" name="Rectangle 88"/>
          <p:cNvSpPr/>
          <p:nvPr/>
        </p:nvSpPr>
        <p:spPr>
          <a:xfrm>
            <a:off x="4000500" y="493395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057650" y="493395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91" name="Rectangle 90"/>
          <p:cNvSpPr/>
          <p:nvPr/>
        </p:nvSpPr>
        <p:spPr>
          <a:xfrm>
            <a:off x="4667250" y="493395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4724400" y="493395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Locks in the installed base</a:t>
            </a:r>
          </a:p>
        </p:txBody>
      </p:sp>
      <p:sp>
        <p:nvSpPr>
          <p:cNvPr id="93" name="Rectangle 92"/>
          <p:cNvSpPr/>
          <p:nvPr/>
        </p:nvSpPr>
        <p:spPr>
          <a:xfrm>
            <a:off x="238125" y="534352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95275" y="534352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Technology substitution</a:t>
            </a:r>
          </a:p>
        </p:txBody>
      </p:sp>
      <p:sp>
        <p:nvSpPr>
          <p:cNvPr id="95" name="Rectangle 94"/>
          <p:cNvSpPr/>
          <p:nvPr/>
        </p:nvSpPr>
        <p:spPr>
          <a:xfrm>
            <a:off x="1666875" y="534352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724025" y="534352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Alternative materials and next-generation formats</a:t>
            </a:r>
          </a:p>
        </p:txBody>
      </p:sp>
      <p:sp>
        <p:nvSpPr>
          <p:cNvPr id="97" name="Rectangle 96"/>
          <p:cNvSpPr/>
          <p:nvPr/>
        </p:nvSpPr>
        <p:spPr>
          <a:xfrm>
            <a:off x="4000500" y="534352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057650" y="534352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99" name="Rectangle 98"/>
          <p:cNvSpPr/>
          <p:nvPr/>
        </p:nvSpPr>
        <p:spPr>
          <a:xfrm>
            <a:off x="4667250" y="534352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4724400" y="534352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Opens demand to Tier 2–3 innovators</a:t>
            </a:r>
          </a:p>
        </p:txBody>
      </p:sp>
      <p:sp>
        <p:nvSpPr>
          <p:cNvPr id="101" name="Rectangle 100"/>
          <p:cNvSpPr/>
          <p:nvPr/>
        </p:nvSpPr>
        <p:spPr>
          <a:xfrm>
            <a:off x="238125" y="57531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95275" y="57531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Supplier power</a:t>
            </a:r>
          </a:p>
        </p:txBody>
      </p:sp>
      <p:sp>
        <p:nvSpPr>
          <p:cNvPr id="103" name="Rectangle 102"/>
          <p:cNvSpPr/>
          <p:nvPr/>
        </p:nvSpPr>
        <p:spPr>
          <a:xfrm>
            <a:off x="1666875" y="57531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724025" y="57531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Few qualified input and component suppliers</a:t>
            </a:r>
          </a:p>
        </p:txBody>
      </p:sp>
      <p:sp>
        <p:nvSpPr>
          <p:cNvPr id="105" name="Rectangle 104"/>
          <p:cNvSpPr/>
          <p:nvPr/>
        </p:nvSpPr>
        <p:spPr>
          <a:xfrm>
            <a:off x="4000500" y="57531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057650" y="57531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07" name="Rectangle 106"/>
          <p:cNvSpPr/>
          <p:nvPr/>
        </p:nvSpPr>
        <p:spPr>
          <a:xfrm>
            <a:off x="4667250" y="57531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724400" y="57531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Raises input cost for sub-scale players</a:t>
            </a:r>
          </a:p>
        </p:txBody>
      </p:sp>
      <p:sp>
        <p:nvSpPr>
          <p:cNvPr id="109" name="Rectangle 108"/>
          <p:cNvSpPr/>
          <p:nvPr/>
        </p:nvSpPr>
        <p:spPr>
          <a:xfrm>
            <a:off x="238125" y="61626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95275" y="61626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Overall structural pressure</a:t>
            </a:r>
          </a:p>
        </p:txBody>
      </p:sp>
      <p:sp>
        <p:nvSpPr>
          <p:cNvPr id="111" name="Rectangle 110"/>
          <p:cNvSpPr/>
          <p:nvPr/>
        </p:nvSpPr>
        <p:spPr>
          <a:xfrm>
            <a:off x="1666875" y="61626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724025" y="6162675"/>
            <a:ext cx="2238375"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Average of the five forces</a:t>
            </a:r>
          </a:p>
        </p:txBody>
      </p:sp>
      <p:sp>
        <p:nvSpPr>
          <p:cNvPr id="113" name="Rectangle 112"/>
          <p:cNvSpPr/>
          <p:nvPr/>
        </p:nvSpPr>
        <p:spPr>
          <a:xfrm>
            <a:off x="4000500" y="61626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4057650" y="61626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15" name="Rectangle 114"/>
          <p:cNvSpPr/>
          <p:nvPr/>
        </p:nvSpPr>
        <p:spPr>
          <a:xfrm>
            <a:off x="4667250" y="61626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724400" y="6162675"/>
            <a:ext cx="238125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Consolidation towards Tier 1–2</a:t>
            </a:r>
          </a:p>
        </p:txBody>
      </p:sp>
      <p:sp>
        <p:nvSpPr>
          <p:cNvPr id="117" name="Rounded Rectangle 116"/>
          <p:cNvSpPr/>
          <p:nvPr/>
        </p:nvSpPr>
        <p:spPr>
          <a:xfrm>
            <a:off x="7381875" y="3543300"/>
            <a:ext cx="4667250" cy="3086100"/>
          </a:xfrm>
          <a:prstGeom prst="roundRect">
            <a:avLst>
              <a:gd name="adj" fmla="val 163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477125" y="3600450"/>
            <a:ext cx="4476750"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119" name="TextBox 118"/>
          <p:cNvSpPr txBox="1"/>
          <p:nvPr/>
        </p:nvSpPr>
        <p:spPr>
          <a:xfrm>
            <a:off x="7496175" y="384810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120" name="TextBox 119"/>
          <p:cNvSpPr txBox="1"/>
          <p:nvPr/>
        </p:nvSpPr>
        <p:spPr>
          <a:xfrm>
            <a:off x="7629525" y="3848100"/>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1" name="TextBox 120"/>
          <p:cNvSpPr txBox="1"/>
          <p:nvPr/>
        </p:nvSpPr>
        <p:spPr>
          <a:xfrm>
            <a:off x="7496175" y="4429125"/>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122" name="TextBox 121"/>
          <p:cNvSpPr txBox="1"/>
          <p:nvPr/>
        </p:nvSpPr>
        <p:spPr>
          <a:xfrm>
            <a:off x="7629525" y="4429125"/>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1 Tier 2 player is positioned to move up-tier by 2036 through M&amp;A and key-account wins – the main structural change of the decade.</a:t>
            </a:r>
          </a:p>
        </p:txBody>
      </p:sp>
      <p:sp>
        <p:nvSpPr>
          <p:cNvPr id="123" name="TextBox 122"/>
          <p:cNvSpPr txBox="1"/>
          <p:nvPr/>
        </p:nvSpPr>
        <p:spPr>
          <a:xfrm>
            <a:off x="7496175" y="501015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124" name="TextBox 123"/>
          <p:cNvSpPr txBox="1"/>
          <p:nvPr/>
        </p:nvSpPr>
        <p:spPr>
          <a:xfrm>
            <a:off x="7629525" y="50101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5" name="TextBox 124"/>
          <p:cNvSpPr txBox="1"/>
          <p:nvPr/>
        </p:nvSpPr>
        <p:spPr>
          <a:xfrm>
            <a:off x="7496175" y="542925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126" name="TextBox 125"/>
          <p:cNvSpPr txBox="1"/>
          <p:nvPr/>
        </p:nvSpPr>
        <p:spPr>
          <a:xfrm>
            <a:off x="7629525" y="54292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Buyer power (4 / 5) and technology substitution (4 / 5) are the dominant forces shaping the tier structure.</a:t>
            </a:r>
          </a:p>
        </p:txBody>
      </p:sp>
      <p:sp>
        <p:nvSpPr>
          <p:cNvPr id="127" name="Rectangle 1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29" name="Picture 128" descr="lock.png"/>
          <p:cNvPicPr>
            <a:picLocks noChangeAspect="1"/>
          </p:cNvPicPr>
          <p:nvPr/>
        </p:nvPicPr>
        <p:blipFill>
          <a:blip r:embed="rId4"/>
          <a:stretch>
            <a:fillRect/>
          </a:stretch>
        </p:blipFill>
        <p:spPr>
          <a:xfrm>
            <a:off x="604726" y="2545080"/>
            <a:ext cx="257397" cy="374396"/>
          </a:xfrm>
          <a:prstGeom prst="rect">
            <a:avLst/>
          </a:prstGeom>
        </p:spPr>
      </p:pic>
      <p:pic>
        <p:nvPicPr>
          <p:cNvPr id="130" name="Picture 129" descr="lock.png"/>
          <p:cNvPicPr>
            <a:picLocks noChangeAspect="1"/>
          </p:cNvPicPr>
          <p:nvPr/>
        </p:nvPicPr>
        <p:blipFill>
          <a:blip r:embed="rId4"/>
          <a:stretch>
            <a:fillRect/>
          </a:stretch>
        </p:blipFill>
        <p:spPr>
          <a:xfrm>
            <a:off x="3557476" y="2545080"/>
            <a:ext cx="257397" cy="374396"/>
          </a:xfrm>
          <a:prstGeom prst="rect">
            <a:avLst/>
          </a:prstGeom>
        </p:spPr>
      </p:pic>
      <p:pic>
        <p:nvPicPr>
          <p:cNvPr id="131" name="Picture 130" descr="lock.png"/>
          <p:cNvPicPr>
            <a:picLocks noChangeAspect="1"/>
          </p:cNvPicPr>
          <p:nvPr/>
        </p:nvPicPr>
        <p:blipFill>
          <a:blip r:embed="rId4"/>
          <a:stretch>
            <a:fillRect/>
          </a:stretch>
        </p:blipFill>
        <p:spPr>
          <a:xfrm>
            <a:off x="6510226" y="2545080"/>
            <a:ext cx="257397" cy="374396"/>
          </a:xfrm>
          <a:prstGeom prst="rect">
            <a:avLst/>
          </a:prstGeom>
        </p:spPr>
      </p:pic>
      <p:pic>
        <p:nvPicPr>
          <p:cNvPr id="132" name="Picture 131" descr="lock.png"/>
          <p:cNvPicPr>
            <a:picLocks noChangeAspect="1"/>
          </p:cNvPicPr>
          <p:nvPr/>
        </p:nvPicPr>
        <p:blipFill>
          <a:blip r:embed="rId4"/>
          <a:stretch>
            <a:fillRect/>
          </a:stretch>
        </p:blipFill>
        <p:spPr>
          <a:xfrm>
            <a:off x="9462976" y="2545080"/>
            <a:ext cx="257397" cy="374396"/>
          </a:xfrm>
          <a:prstGeom prst="rect">
            <a:avLst/>
          </a:prstGeom>
        </p:spPr>
      </p:pic>
      <p:pic>
        <p:nvPicPr>
          <p:cNvPr id="133" name="Picture 132" descr="lock.png"/>
          <p:cNvPicPr>
            <a:picLocks noChangeAspect="1"/>
          </p:cNvPicPr>
          <p:nvPr/>
        </p:nvPicPr>
        <p:blipFill>
          <a:blip r:embed="rId4"/>
          <a:stretch>
            <a:fillRect/>
          </a:stretch>
        </p:blipFill>
        <p:spPr>
          <a:xfrm>
            <a:off x="4279050" y="4225988"/>
            <a:ext cx="128699" cy="187198"/>
          </a:xfrm>
          <a:prstGeom prst="rect">
            <a:avLst/>
          </a:prstGeom>
        </p:spPr>
      </p:pic>
      <p:pic>
        <p:nvPicPr>
          <p:cNvPr id="134" name="Picture 133" descr="lock.png"/>
          <p:cNvPicPr>
            <a:picLocks noChangeAspect="1"/>
          </p:cNvPicPr>
          <p:nvPr/>
        </p:nvPicPr>
        <p:blipFill>
          <a:blip r:embed="rId4"/>
          <a:stretch>
            <a:fillRect/>
          </a:stretch>
        </p:blipFill>
        <p:spPr>
          <a:xfrm>
            <a:off x="4279050" y="4635563"/>
            <a:ext cx="128699" cy="187198"/>
          </a:xfrm>
          <a:prstGeom prst="rect">
            <a:avLst/>
          </a:prstGeom>
        </p:spPr>
      </p:pic>
      <p:pic>
        <p:nvPicPr>
          <p:cNvPr id="135" name="Picture 134" descr="lock.png"/>
          <p:cNvPicPr>
            <a:picLocks noChangeAspect="1"/>
          </p:cNvPicPr>
          <p:nvPr/>
        </p:nvPicPr>
        <p:blipFill>
          <a:blip r:embed="rId4"/>
          <a:stretch>
            <a:fillRect/>
          </a:stretch>
        </p:blipFill>
        <p:spPr>
          <a:xfrm>
            <a:off x="4279050" y="5045138"/>
            <a:ext cx="128699" cy="187198"/>
          </a:xfrm>
          <a:prstGeom prst="rect">
            <a:avLst/>
          </a:prstGeom>
        </p:spPr>
      </p:pic>
      <p:pic>
        <p:nvPicPr>
          <p:cNvPr id="136" name="Picture 135" descr="lock.png"/>
          <p:cNvPicPr>
            <a:picLocks noChangeAspect="1"/>
          </p:cNvPicPr>
          <p:nvPr/>
        </p:nvPicPr>
        <p:blipFill>
          <a:blip r:embed="rId4"/>
          <a:stretch>
            <a:fillRect/>
          </a:stretch>
        </p:blipFill>
        <p:spPr>
          <a:xfrm>
            <a:off x="4279050" y="5454713"/>
            <a:ext cx="128699" cy="187198"/>
          </a:xfrm>
          <a:prstGeom prst="rect">
            <a:avLst/>
          </a:prstGeom>
        </p:spPr>
      </p:pic>
      <p:pic>
        <p:nvPicPr>
          <p:cNvPr id="137" name="Picture 136" descr="lock.png"/>
          <p:cNvPicPr>
            <a:picLocks noChangeAspect="1"/>
          </p:cNvPicPr>
          <p:nvPr/>
        </p:nvPicPr>
        <p:blipFill>
          <a:blip r:embed="rId4"/>
          <a:stretch>
            <a:fillRect/>
          </a:stretch>
        </p:blipFill>
        <p:spPr>
          <a:xfrm>
            <a:off x="4279050" y="5864288"/>
            <a:ext cx="128699" cy="187198"/>
          </a:xfrm>
          <a:prstGeom prst="rect">
            <a:avLst/>
          </a:prstGeom>
        </p:spPr>
      </p:pic>
      <p:pic>
        <p:nvPicPr>
          <p:cNvPr id="138" name="Picture 137" descr="lock.png"/>
          <p:cNvPicPr>
            <a:picLocks noChangeAspect="1"/>
          </p:cNvPicPr>
          <p:nvPr/>
        </p:nvPicPr>
        <p:blipFill>
          <a:blip r:embed="rId4"/>
          <a:stretch>
            <a:fillRect/>
          </a:stretch>
        </p:blipFill>
        <p:spPr>
          <a:xfrm>
            <a:off x="4279050" y="6273863"/>
            <a:ext cx="128699" cy="187198"/>
          </a:xfrm>
          <a:prstGeom prst="rect">
            <a:avLst/>
          </a:prstGeom>
        </p:spPr>
      </p:pic>
      <p:sp>
        <p:nvSpPr>
          <p:cNvPr id="139" name="TextBox 138"/>
          <p:cNvSpPr txBox="1"/>
          <p:nvPr/>
        </p:nvSpPr>
        <p:spPr>
          <a:xfrm>
            <a:off x="547018" y="1870710"/>
            <a:ext cx="929133" cy="186689"/>
          </a:xfrm>
          <a:prstGeom prst="rect">
            <a:avLst/>
          </a:prstGeom>
          <a:noFill/>
        </p:spPr>
        <p:txBody>
          <a:bodyPr wrap="none" lIns="0" rIns="0" tIns="0" bIns="0">
            <a:spAutoFit/>
          </a:bodyPr>
          <a:lstStyle/>
          <a:p>
            <a:r>
              <a:rPr sz="1100" b="1">
                <a:solidFill>
                  <a:srgbClr val="FFFFFF"/>
                </a:solidFill>
                <a:latin typeface="Calibri"/>
              </a:rPr>
              <a:t>4 → 5 players ·</a:t>
            </a:r>
          </a:p>
        </p:txBody>
      </p:sp>
      <p:pic>
        <p:nvPicPr>
          <p:cNvPr id="140" name="Picture 139" descr="lock.png"/>
          <p:cNvPicPr>
            <a:picLocks noChangeAspect="1"/>
          </p:cNvPicPr>
          <p:nvPr/>
        </p:nvPicPr>
        <p:blipFill>
          <a:blip r:embed="rId4"/>
          <a:stretch>
            <a:fillRect/>
          </a:stretch>
        </p:blipFill>
        <p:spPr>
          <a:xfrm>
            <a:off x="1424204" y="1860931"/>
            <a:ext cx="128699" cy="187198"/>
          </a:xfrm>
          <a:prstGeom prst="rect">
            <a:avLst/>
          </a:prstGeom>
        </p:spPr>
      </p:pic>
      <p:sp>
        <p:nvSpPr>
          <p:cNvPr id="141" name="TextBox 140"/>
          <p:cNvSpPr txBox="1"/>
          <p:nvPr/>
        </p:nvSpPr>
        <p:spPr>
          <a:xfrm>
            <a:off x="15916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2" name="Picture 141" descr="lock.png"/>
          <p:cNvPicPr>
            <a:picLocks noChangeAspect="1"/>
          </p:cNvPicPr>
          <p:nvPr/>
        </p:nvPicPr>
        <p:blipFill>
          <a:blip r:embed="rId4"/>
          <a:stretch>
            <a:fillRect/>
          </a:stretch>
        </p:blipFill>
        <p:spPr>
          <a:xfrm>
            <a:off x="1742554" y="1860931"/>
            <a:ext cx="128699" cy="187198"/>
          </a:xfrm>
          <a:prstGeom prst="rect">
            <a:avLst/>
          </a:prstGeom>
        </p:spPr>
      </p:pic>
      <p:sp>
        <p:nvSpPr>
          <p:cNvPr id="143" name="TextBox 142"/>
          <p:cNvSpPr txBox="1"/>
          <p:nvPr/>
        </p:nvSpPr>
        <p:spPr>
          <a:xfrm>
            <a:off x="10497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4" name="TextBox 143"/>
          <p:cNvSpPr txBox="1"/>
          <p:nvPr/>
        </p:nvSpPr>
        <p:spPr>
          <a:xfrm>
            <a:off x="3804568" y="1870710"/>
            <a:ext cx="929133" cy="186689"/>
          </a:xfrm>
          <a:prstGeom prst="rect">
            <a:avLst/>
          </a:prstGeom>
          <a:noFill/>
        </p:spPr>
        <p:txBody>
          <a:bodyPr wrap="none" lIns="0" rIns="0" tIns="0" bIns="0">
            <a:spAutoFit/>
          </a:bodyPr>
          <a:lstStyle/>
          <a:p>
            <a:r>
              <a:rPr sz="1100" b="1">
                <a:solidFill>
                  <a:srgbClr val="FFFFFF"/>
                </a:solidFill>
                <a:latin typeface="Calibri"/>
              </a:rPr>
              <a:t>2 → 2 players ·</a:t>
            </a:r>
          </a:p>
        </p:txBody>
      </p:sp>
      <p:pic>
        <p:nvPicPr>
          <p:cNvPr id="145" name="Picture 144" descr="lock.png"/>
          <p:cNvPicPr>
            <a:picLocks noChangeAspect="1"/>
          </p:cNvPicPr>
          <p:nvPr/>
        </p:nvPicPr>
        <p:blipFill>
          <a:blip r:embed="rId4"/>
          <a:stretch>
            <a:fillRect/>
          </a:stretch>
        </p:blipFill>
        <p:spPr>
          <a:xfrm>
            <a:off x="4681754" y="1860931"/>
            <a:ext cx="128699" cy="187198"/>
          </a:xfrm>
          <a:prstGeom prst="rect">
            <a:avLst/>
          </a:prstGeom>
        </p:spPr>
      </p:pic>
      <p:sp>
        <p:nvSpPr>
          <p:cNvPr id="146" name="TextBox 145"/>
          <p:cNvSpPr txBox="1"/>
          <p:nvPr/>
        </p:nvSpPr>
        <p:spPr>
          <a:xfrm>
            <a:off x="484924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7" name="Picture 146" descr="lock.png"/>
          <p:cNvPicPr>
            <a:picLocks noChangeAspect="1"/>
          </p:cNvPicPr>
          <p:nvPr/>
        </p:nvPicPr>
        <p:blipFill>
          <a:blip r:embed="rId4"/>
          <a:stretch>
            <a:fillRect/>
          </a:stretch>
        </p:blipFill>
        <p:spPr>
          <a:xfrm>
            <a:off x="5000104" y="1860931"/>
            <a:ext cx="128699" cy="187198"/>
          </a:xfrm>
          <a:prstGeom prst="rect">
            <a:avLst/>
          </a:prstGeom>
        </p:spPr>
      </p:pic>
      <p:sp>
        <p:nvSpPr>
          <p:cNvPr id="148" name="TextBox 147"/>
          <p:cNvSpPr txBox="1"/>
          <p:nvPr/>
        </p:nvSpPr>
        <p:spPr>
          <a:xfrm>
            <a:off x="430733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9" name="TextBox 148"/>
          <p:cNvSpPr txBox="1"/>
          <p:nvPr/>
        </p:nvSpPr>
        <p:spPr>
          <a:xfrm>
            <a:off x="7062118" y="1870710"/>
            <a:ext cx="929133" cy="186689"/>
          </a:xfrm>
          <a:prstGeom prst="rect">
            <a:avLst/>
          </a:prstGeom>
          <a:noFill/>
        </p:spPr>
        <p:txBody>
          <a:bodyPr wrap="none" lIns="0" rIns="0" tIns="0" bIns="0">
            <a:spAutoFit/>
          </a:bodyPr>
          <a:lstStyle/>
          <a:p>
            <a:r>
              <a:rPr sz="1100" b="1">
                <a:solidFill>
                  <a:srgbClr val="FFFFFF"/>
                </a:solidFill>
                <a:latin typeface="Calibri"/>
              </a:rPr>
              <a:t>4 → 4 players ·</a:t>
            </a:r>
          </a:p>
        </p:txBody>
      </p:sp>
      <p:pic>
        <p:nvPicPr>
          <p:cNvPr id="150" name="Picture 149" descr="lock.png"/>
          <p:cNvPicPr>
            <a:picLocks noChangeAspect="1"/>
          </p:cNvPicPr>
          <p:nvPr/>
        </p:nvPicPr>
        <p:blipFill>
          <a:blip r:embed="rId4"/>
          <a:stretch>
            <a:fillRect/>
          </a:stretch>
        </p:blipFill>
        <p:spPr>
          <a:xfrm>
            <a:off x="7939304" y="1860931"/>
            <a:ext cx="128699" cy="187198"/>
          </a:xfrm>
          <a:prstGeom prst="rect">
            <a:avLst/>
          </a:prstGeom>
        </p:spPr>
      </p:pic>
      <p:sp>
        <p:nvSpPr>
          <p:cNvPr id="151" name="TextBox 150"/>
          <p:cNvSpPr txBox="1"/>
          <p:nvPr/>
        </p:nvSpPr>
        <p:spPr>
          <a:xfrm>
            <a:off x="81067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52" name="Picture 151" descr="lock.png"/>
          <p:cNvPicPr>
            <a:picLocks noChangeAspect="1"/>
          </p:cNvPicPr>
          <p:nvPr/>
        </p:nvPicPr>
        <p:blipFill>
          <a:blip r:embed="rId4"/>
          <a:stretch>
            <a:fillRect/>
          </a:stretch>
        </p:blipFill>
        <p:spPr>
          <a:xfrm>
            <a:off x="8257654" y="1860931"/>
            <a:ext cx="128699" cy="187198"/>
          </a:xfrm>
          <a:prstGeom prst="rect">
            <a:avLst/>
          </a:prstGeom>
        </p:spPr>
      </p:pic>
      <p:sp>
        <p:nvSpPr>
          <p:cNvPr id="153" name="TextBox 152"/>
          <p:cNvSpPr txBox="1"/>
          <p:nvPr/>
        </p:nvSpPr>
        <p:spPr>
          <a:xfrm>
            <a:off x="75648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4" name="TextBox 153"/>
          <p:cNvSpPr txBox="1"/>
          <p:nvPr/>
        </p:nvSpPr>
        <p:spPr>
          <a:xfrm>
            <a:off x="10286075" y="1954530"/>
            <a:ext cx="638819" cy="186689"/>
          </a:xfrm>
          <a:prstGeom prst="rect">
            <a:avLst/>
          </a:prstGeom>
          <a:noFill/>
        </p:spPr>
        <p:txBody>
          <a:bodyPr wrap="none" lIns="0" rIns="0" tIns="0" bIns="0">
            <a:spAutoFit/>
          </a:bodyPr>
          <a:lstStyle/>
          <a:p>
            <a:r>
              <a:rPr sz="1100" b="1">
                <a:solidFill>
                  <a:srgbClr val="14213D"/>
                </a:solidFill>
                <a:latin typeface="Calibri"/>
              </a:rPr>
              <a:t>Long tail ·</a:t>
            </a:r>
          </a:p>
        </p:txBody>
      </p:sp>
      <p:pic>
        <p:nvPicPr>
          <p:cNvPr id="155" name="Picture 154" descr="lock.png"/>
          <p:cNvPicPr>
            <a:picLocks noChangeAspect="1"/>
          </p:cNvPicPr>
          <p:nvPr/>
        </p:nvPicPr>
        <p:blipFill>
          <a:blip r:embed="rId4"/>
          <a:stretch>
            <a:fillRect/>
          </a:stretch>
        </p:blipFill>
        <p:spPr>
          <a:xfrm>
            <a:off x="10872946" y="1944751"/>
            <a:ext cx="128699" cy="187198"/>
          </a:xfrm>
          <a:prstGeom prst="rect">
            <a:avLst/>
          </a:prstGeom>
        </p:spPr>
      </p:pic>
      <p:sp>
        <p:nvSpPr>
          <p:cNvPr id="156" name="TextBox 155"/>
          <p:cNvSpPr txBox="1"/>
          <p:nvPr/>
        </p:nvSpPr>
        <p:spPr>
          <a:xfrm>
            <a:off x="11040442" y="1954530"/>
            <a:ext cx="202803" cy="186689"/>
          </a:xfrm>
          <a:prstGeom prst="rect">
            <a:avLst/>
          </a:prstGeom>
          <a:noFill/>
        </p:spPr>
        <p:txBody>
          <a:bodyPr wrap="none" lIns="0" rIns="0" tIns="0" bIns="0">
            <a:spAutoFit/>
          </a:bodyPr>
          <a:lstStyle/>
          <a:p>
            <a:r>
              <a:rPr sz="1100" b="1">
                <a:solidFill>
                  <a:srgbClr val="14213D"/>
                </a:solidFill>
                <a:latin typeface="Calibri"/>
              </a:rPr>
              <a:t>→</a:t>
            </a:r>
          </a:p>
        </p:txBody>
      </p:sp>
      <p:pic>
        <p:nvPicPr>
          <p:cNvPr id="157" name="Picture 156" descr="lock.png"/>
          <p:cNvPicPr>
            <a:picLocks noChangeAspect="1"/>
          </p:cNvPicPr>
          <p:nvPr/>
        </p:nvPicPr>
        <p:blipFill>
          <a:blip r:embed="rId4"/>
          <a:stretch>
            <a:fillRect/>
          </a:stretch>
        </p:blipFill>
        <p:spPr>
          <a:xfrm>
            <a:off x="11191297" y="1944751"/>
            <a:ext cx="128699" cy="187198"/>
          </a:xfrm>
          <a:prstGeom prst="rect">
            <a:avLst/>
          </a:prstGeom>
        </p:spPr>
      </p:pic>
      <p:sp>
        <p:nvSpPr>
          <p:cNvPr id="158" name="TextBox 157"/>
          <p:cNvSpPr txBox="1"/>
          <p:nvPr/>
        </p:nvSpPr>
        <p:spPr>
          <a:xfrm>
            <a:off x="11358792" y="1954530"/>
            <a:ext cx="395982" cy="186689"/>
          </a:xfrm>
          <a:prstGeom prst="rect">
            <a:avLst/>
          </a:prstGeom>
          <a:noFill/>
        </p:spPr>
        <p:txBody>
          <a:bodyPr wrap="none" lIns="0" rIns="0" tIns="0" bIns="0">
            <a:spAutoFit/>
          </a:bodyPr>
          <a:lstStyle/>
          <a:p>
            <a:r>
              <a:rPr sz="1100" b="1">
                <a:solidFill>
                  <a:srgbClr val="14213D"/>
                </a:solidFill>
                <a:latin typeface="Calibri"/>
              </a:rPr>
              <a:t>share</a:t>
            </a:r>
          </a:p>
        </p:txBody>
      </p:sp>
      <p:sp>
        <p:nvSpPr>
          <p:cNvPr id="159" name="TextBox 158"/>
          <p:cNvSpPr txBox="1"/>
          <p:nvPr/>
        </p:nvSpPr>
        <p:spPr>
          <a:xfrm>
            <a:off x="7658100" y="3857625"/>
            <a:ext cx="1828179" cy="186689"/>
          </a:xfrm>
          <a:prstGeom prst="rect">
            <a:avLst/>
          </a:prstGeom>
          <a:noFill/>
        </p:spPr>
        <p:txBody>
          <a:bodyPr wrap="none" lIns="0" rIns="0" tIns="0" bIns="0">
            <a:spAutoFit/>
          </a:bodyPr>
          <a:lstStyle/>
          <a:p>
            <a:r>
              <a:rPr sz="1100" b="0">
                <a:solidFill>
                  <a:srgbClr val="14213D"/>
                </a:solidFill>
                <a:latin typeface="Calibri"/>
              </a:rPr>
              <a:t>The market is fragmented (HHI</a:t>
            </a:r>
          </a:p>
        </p:txBody>
      </p:sp>
      <p:pic>
        <p:nvPicPr>
          <p:cNvPr id="160" name="Picture 159" descr="lock.png"/>
          <p:cNvPicPr>
            <a:picLocks noChangeAspect="1"/>
          </p:cNvPicPr>
          <p:nvPr/>
        </p:nvPicPr>
        <p:blipFill>
          <a:blip r:embed="rId4"/>
          <a:stretch>
            <a:fillRect/>
          </a:stretch>
        </p:blipFill>
        <p:spPr>
          <a:xfrm>
            <a:off x="9434331" y="3847846"/>
            <a:ext cx="128699" cy="187198"/>
          </a:xfrm>
          <a:prstGeom prst="rect">
            <a:avLst/>
          </a:prstGeom>
        </p:spPr>
      </p:pic>
      <p:sp>
        <p:nvSpPr>
          <p:cNvPr id="161" name="TextBox 160"/>
          <p:cNvSpPr txBox="1"/>
          <p:nvPr/>
        </p:nvSpPr>
        <p:spPr>
          <a:xfrm>
            <a:off x="9601827" y="3857625"/>
            <a:ext cx="2068562" cy="186689"/>
          </a:xfrm>
          <a:prstGeom prst="rect">
            <a:avLst/>
          </a:prstGeom>
          <a:noFill/>
        </p:spPr>
        <p:txBody>
          <a:bodyPr wrap="none" lIns="0" rIns="0" tIns="0" bIns="0">
            <a:spAutoFit/>
          </a:bodyPr>
          <a:lstStyle/>
          <a:p>
            <a:r>
              <a:rPr sz="1100" b="0">
                <a:solidFill>
                  <a:srgbClr val="14213D"/>
                </a:solidFill>
                <a:latin typeface="Calibri"/>
              </a:rPr>
              <a:t>); Tier 1 sets pricing and innovation</a:t>
            </a:r>
          </a:p>
        </p:txBody>
      </p:sp>
      <p:sp>
        <p:nvSpPr>
          <p:cNvPr id="162" name="TextBox 161"/>
          <p:cNvSpPr txBox="1"/>
          <p:nvPr/>
        </p:nvSpPr>
        <p:spPr>
          <a:xfrm>
            <a:off x="7658100" y="4025265"/>
            <a:ext cx="2124769" cy="186689"/>
          </a:xfrm>
          <a:prstGeom prst="rect">
            <a:avLst/>
          </a:prstGeom>
          <a:noFill/>
        </p:spPr>
        <p:txBody>
          <a:bodyPr wrap="none" lIns="0" rIns="0" tIns="0" bIns="0">
            <a:spAutoFit/>
          </a:bodyPr>
          <a:lstStyle/>
          <a:p>
            <a:r>
              <a:rPr sz="1100" b="0">
                <a:solidFill>
                  <a:srgbClr val="14213D"/>
                </a:solidFill>
                <a:latin typeface="Calibri"/>
              </a:rPr>
              <a:t>benchmarks and is expected to hold</a:t>
            </a:r>
          </a:p>
        </p:txBody>
      </p:sp>
      <p:pic>
        <p:nvPicPr>
          <p:cNvPr id="163" name="Picture 162" descr="lock.png"/>
          <p:cNvPicPr>
            <a:picLocks noChangeAspect="1"/>
          </p:cNvPicPr>
          <p:nvPr/>
        </p:nvPicPr>
        <p:blipFill>
          <a:blip r:embed="rId4"/>
          <a:stretch>
            <a:fillRect/>
          </a:stretch>
        </p:blipFill>
        <p:spPr>
          <a:xfrm>
            <a:off x="9730921" y="4015486"/>
            <a:ext cx="128699" cy="187198"/>
          </a:xfrm>
          <a:prstGeom prst="rect">
            <a:avLst/>
          </a:prstGeom>
        </p:spPr>
      </p:pic>
      <p:sp>
        <p:nvSpPr>
          <p:cNvPr id="164" name="TextBox 163"/>
          <p:cNvSpPr txBox="1"/>
          <p:nvPr/>
        </p:nvSpPr>
        <p:spPr>
          <a:xfrm>
            <a:off x="9898416" y="4025265"/>
            <a:ext cx="1016992" cy="186689"/>
          </a:xfrm>
          <a:prstGeom prst="rect">
            <a:avLst/>
          </a:prstGeom>
          <a:noFill/>
        </p:spPr>
        <p:txBody>
          <a:bodyPr wrap="none" lIns="0" rIns="0" tIns="0" bIns="0">
            <a:spAutoFit/>
          </a:bodyPr>
          <a:lstStyle/>
          <a:p>
            <a:r>
              <a:rPr sz="1100" b="0">
                <a:solidFill>
                  <a:srgbClr val="14213D"/>
                </a:solidFill>
                <a:latin typeface="Calibri"/>
              </a:rPr>
              <a:t>of value in 2036.</a:t>
            </a:r>
          </a:p>
        </p:txBody>
      </p:sp>
      <p:sp>
        <p:nvSpPr>
          <p:cNvPr id="165" name="TextBox 164"/>
          <p:cNvSpPr txBox="1"/>
          <p:nvPr/>
        </p:nvSpPr>
        <p:spPr>
          <a:xfrm>
            <a:off x="7658100" y="5019675"/>
            <a:ext cx="3471019" cy="186689"/>
          </a:xfrm>
          <a:prstGeom prst="rect">
            <a:avLst/>
          </a:prstGeom>
          <a:noFill/>
        </p:spPr>
        <p:txBody>
          <a:bodyPr wrap="none" lIns="0" rIns="0" tIns="0" bIns="0">
            <a:spAutoFit/>
          </a:bodyPr>
          <a:lstStyle/>
          <a:p>
            <a:r>
              <a:rPr sz="1100" b="0">
                <a:solidFill>
                  <a:srgbClr val="14213D"/>
                </a:solidFill>
                <a:latin typeface="Calibri"/>
              </a:rPr>
              <a:t>Tier 3 and the long tail face the highest structural pressure (</a:t>
            </a:r>
          </a:p>
        </p:txBody>
      </p:sp>
      <p:pic>
        <p:nvPicPr>
          <p:cNvPr id="166" name="Picture 165" descr="lock.png"/>
          <p:cNvPicPr>
            <a:picLocks noChangeAspect="1"/>
          </p:cNvPicPr>
          <p:nvPr/>
        </p:nvPicPr>
        <p:blipFill>
          <a:blip r:embed="rId4"/>
          <a:stretch>
            <a:fillRect/>
          </a:stretch>
        </p:blipFill>
        <p:spPr>
          <a:xfrm>
            <a:off x="11077170" y="5009895"/>
            <a:ext cx="128699" cy="187198"/>
          </a:xfrm>
          <a:prstGeom prst="rect">
            <a:avLst/>
          </a:prstGeom>
        </p:spPr>
      </p:pic>
      <p:sp>
        <p:nvSpPr>
          <p:cNvPr id="167" name="TextBox 166"/>
          <p:cNvSpPr txBox="1"/>
          <p:nvPr/>
        </p:nvSpPr>
        <p:spPr>
          <a:xfrm>
            <a:off x="11244666" y="5019675"/>
            <a:ext cx="415081" cy="186689"/>
          </a:xfrm>
          <a:prstGeom prst="rect">
            <a:avLst/>
          </a:prstGeom>
          <a:noFill/>
        </p:spPr>
        <p:txBody>
          <a:bodyPr wrap="none" lIns="0" rIns="0" tIns="0" bIns="0">
            <a:spAutoFit/>
          </a:bodyPr>
          <a:lstStyle/>
          <a:p>
            <a:r>
              <a:rPr sz="1100" b="0">
                <a:solidFill>
                  <a:srgbClr val="14213D"/>
                </a:solidFill>
                <a:latin typeface="Calibri"/>
              </a:rPr>
              <a:t>/ 5); 2</a:t>
            </a:r>
          </a:p>
        </p:txBody>
      </p:sp>
      <p:sp>
        <p:nvSpPr>
          <p:cNvPr id="168" name="TextBox 167"/>
          <p:cNvSpPr txBox="1"/>
          <p:nvPr/>
        </p:nvSpPr>
        <p:spPr>
          <a:xfrm>
            <a:off x="7658100" y="5187315"/>
            <a:ext cx="2541413" cy="186689"/>
          </a:xfrm>
          <a:prstGeom prst="rect">
            <a:avLst/>
          </a:prstGeom>
          <a:noFill/>
        </p:spPr>
        <p:txBody>
          <a:bodyPr wrap="none" lIns="0" rIns="0" tIns="0" bIns="0">
            <a:spAutoFit/>
          </a:bodyPr>
          <a:lstStyle/>
          <a:p>
            <a:r>
              <a:rPr sz="1100" b="0">
                <a:solidFill>
                  <a:srgbClr val="14213D"/>
                </a:solidFill>
                <a:latin typeface="Calibri"/>
              </a:rPr>
              <a:t>players are expected to exit or be acquired.</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Competitive Dashboard View (2026)</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companies on portfolio, coverage, revenue, share, regional presence and strategy</a:t>
            </a:r>
          </a:p>
        </p:txBody>
      </p:sp>
      <p:sp>
        <p:nvSpPr>
          <p:cNvPr id="7" name="TextBox 6"/>
          <p:cNvSpPr txBox="1"/>
          <p:nvPr/>
        </p:nvSpPr>
        <p:spPr>
          <a:xfrm>
            <a:off x="285750" y="970754"/>
            <a:ext cx="10477500" cy="164283"/>
          </a:xfrm>
          <a:prstGeom prst="rect">
            <a:avLst/>
          </a:prstGeom>
          <a:noFill/>
        </p:spPr>
        <p:txBody>
          <a:bodyPr wrap="square" lIns="0" rIns="19050" tIns="0" bIns="0">
            <a:spAutoFit/>
          </a:bodyPr>
          <a:lstStyle/>
          <a:p>
            <a:pPr algn="l"/>
            <a:r>
              <a:rPr sz="1100" b="0">
                <a:solidFill>
                  <a:srgbClr val="6C7A89"/>
                </a:solidFill>
                <a:latin typeface="Calibri"/>
              </a:rPr>
              <a:t>Intensified competition across the leading players portfolio, revenue, share, regional presence and strategy.  All figures 2026.</a:t>
            </a:r>
          </a:p>
        </p:txBody>
      </p:sp>
      <p:sp>
        <p:nvSpPr>
          <p:cNvPr id="8" name="Rounded Rectangle 7"/>
          <p:cNvSpPr/>
          <p:nvPr/>
        </p:nvSpPr>
        <p:spPr>
          <a:xfrm>
            <a:off x="133350" y="1153291"/>
            <a:ext cx="11925300" cy="4563424"/>
          </a:xfrm>
          <a:prstGeom prst="roundRect">
            <a:avLst>
              <a:gd name="adj" fmla="val 160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33350" y="1171544"/>
            <a:ext cx="11925300" cy="36507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33350" y="1171544"/>
            <a:ext cx="1143000" cy="4526917"/>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33350" y="153661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3350" y="179217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3350" y="263184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33350" y="2960407"/>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350" y="3288973"/>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4055629"/>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504132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954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3717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4480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243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6007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6770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75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8296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9060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9823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33350" y="5698461"/>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71450" y="1536618"/>
            <a:ext cx="1085850" cy="255552"/>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Company / Brand</a:t>
            </a:r>
          </a:p>
        </p:txBody>
      </p:sp>
      <p:sp>
        <p:nvSpPr>
          <p:cNvPr id="33" name="TextBox 32"/>
          <p:cNvSpPr txBox="1"/>
          <p:nvPr/>
        </p:nvSpPr>
        <p:spPr>
          <a:xfrm>
            <a:off x="171450" y="1792170"/>
            <a:ext cx="1085850" cy="839670"/>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Product Portfolio</a:t>
            </a:r>
          </a:p>
        </p:txBody>
      </p:sp>
      <p:sp>
        <p:nvSpPr>
          <p:cNvPr id="34" name="TextBox 33"/>
          <p:cNvSpPr txBox="1"/>
          <p:nvPr/>
        </p:nvSpPr>
        <p:spPr>
          <a:xfrm>
            <a:off x="171450" y="2631840"/>
            <a:ext cx="1085850" cy="328567"/>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Overall Rev (US$ Mn)</a:t>
            </a:r>
          </a:p>
        </p:txBody>
      </p:sp>
      <p:sp>
        <p:nvSpPr>
          <p:cNvPr id="35" name="TextBox 34"/>
          <p:cNvSpPr txBox="1"/>
          <p:nvPr/>
        </p:nvSpPr>
        <p:spPr>
          <a:xfrm>
            <a:off x="171450" y="2960407"/>
            <a:ext cx="1085850" cy="328567"/>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Target Rev (US$ Mn)</a:t>
            </a:r>
          </a:p>
        </p:txBody>
      </p:sp>
      <p:sp>
        <p:nvSpPr>
          <p:cNvPr id="36" name="TextBox 35"/>
          <p:cNvSpPr txBox="1"/>
          <p:nvPr/>
        </p:nvSpPr>
        <p:spPr>
          <a:xfrm>
            <a:off x="171450" y="3288973"/>
            <a:ext cx="1085850" cy="766655"/>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Market Share (%)</a:t>
            </a:r>
          </a:p>
        </p:txBody>
      </p:sp>
      <p:sp>
        <p:nvSpPr>
          <p:cNvPr id="37" name="TextBox 36"/>
          <p:cNvSpPr txBox="1"/>
          <p:nvPr/>
        </p:nvSpPr>
        <p:spPr>
          <a:xfrm>
            <a:off x="171450" y="4055629"/>
            <a:ext cx="1085850" cy="985700"/>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Regional Presence</a:t>
            </a:r>
          </a:p>
        </p:txBody>
      </p:sp>
      <p:sp>
        <p:nvSpPr>
          <p:cNvPr id="38" name="TextBox 37"/>
          <p:cNvSpPr txBox="1"/>
          <p:nvPr/>
        </p:nvSpPr>
        <p:spPr>
          <a:xfrm>
            <a:off x="171450" y="5041328"/>
            <a:ext cx="1085850" cy="657133"/>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Strategies</a:t>
            </a:r>
          </a:p>
        </p:txBody>
      </p:sp>
      <p:sp>
        <p:nvSpPr>
          <p:cNvPr id="39" name="TextBox 38"/>
          <p:cNvSpPr txBox="1"/>
          <p:nvPr/>
        </p:nvSpPr>
        <p:spPr>
          <a:xfrm>
            <a:off x="13239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Atlas Copco</a:t>
            </a:r>
          </a:p>
        </p:txBody>
      </p:sp>
      <p:cxnSp>
        <p:nvCxnSpPr>
          <p:cNvPr id="40" name="Connector 39"/>
          <p:cNvCxnSpPr/>
          <p:nvPr/>
        </p:nvCxnSpPr>
        <p:spPr>
          <a:xfrm>
            <a:off x="160496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3239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A</a:t>
            </a:r>
          </a:p>
        </p:txBody>
      </p:sp>
      <p:sp>
        <p:nvSpPr>
          <p:cNvPr id="42" name="TextBox 41"/>
          <p:cNvSpPr txBox="1"/>
          <p:nvPr/>
        </p:nvSpPr>
        <p:spPr>
          <a:xfrm>
            <a:off x="13144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43" name="TextBox 42"/>
          <p:cNvSpPr txBox="1"/>
          <p:nvPr/>
        </p:nvSpPr>
        <p:spPr>
          <a:xfrm>
            <a:off x="13144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44" name="Rectangle 43"/>
          <p:cNvSpPr/>
          <p:nvPr/>
        </p:nvSpPr>
        <p:spPr>
          <a:xfrm>
            <a:off x="16049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7764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9478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3239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48" name="TextBox 47"/>
          <p:cNvSpPr txBox="1"/>
          <p:nvPr/>
        </p:nvSpPr>
        <p:spPr>
          <a:xfrm>
            <a:off x="13239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49" name="Oval 48"/>
          <p:cNvSpPr/>
          <p:nvPr/>
        </p:nvSpPr>
        <p:spPr>
          <a:xfrm>
            <a:off x="15859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1828800" y="3416749"/>
            <a:ext cx="209550" cy="237298"/>
          </a:xfrm>
          <a:custGeom>
            <a:avLst/>
            <a:gdLst/>
            <a:ahLst/>
            <a:cxnLst/>
            <a:rect l="l" t="t" r="r" b="b"/>
            <a:pathLst>
              <a:path w="22" h="26">
                <a:moveTo>
                  <a:pt x="0" y="26"/>
                </a:moveTo>
                <a:lnTo>
                  <a:pt x="0" y="0"/>
                </a:lnTo>
                <a:lnTo>
                  <a:pt x="4" y="0"/>
                </a:lnTo>
                <a:lnTo>
                  <a:pt x="8" y="1"/>
                </a:lnTo>
                <a:lnTo>
                  <a:pt x="11" y="2"/>
                </a:lnTo>
                <a:lnTo>
                  <a:pt x="14" y="4"/>
                </a:lnTo>
                <a:lnTo>
                  <a:pt x="17" y="6"/>
                </a:lnTo>
                <a:lnTo>
                  <a:pt x="20" y="8"/>
                </a:lnTo>
                <a:lnTo>
                  <a:pt x="22" y="1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6948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585912" y="3590159"/>
            <a:ext cx="495300" cy="127776"/>
          </a:xfrm>
          <a:prstGeom prst="rect">
            <a:avLst/>
          </a:prstGeom>
          <a:noFill/>
        </p:spPr>
        <p:txBody>
          <a:bodyPr wrap="square" lIns="28575" rIns="28575" tIns="9525" bIns="9525" anchor="ctr">
            <a:spAutoFit/>
          </a:bodyPr>
          <a:lstStyle/>
          <a:p>
            <a:pPr algn="ctr"/>
            <a:r>
              <a:rPr sz="1100" b="1">
                <a:solidFill>
                  <a:srgbClr val="0E2A5C"/>
                </a:solidFill>
                <a:latin typeface="Calibri"/>
              </a:rPr>
              <a:t> </a:t>
            </a:r>
          </a:p>
        </p:txBody>
      </p:sp>
      <p:sp>
        <p:nvSpPr>
          <p:cNvPr id="53" name="TextBox 52"/>
          <p:cNvSpPr txBox="1"/>
          <p:nvPr/>
        </p:nvSpPr>
        <p:spPr>
          <a:xfrm>
            <a:off x="13430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54" name="Oval 53"/>
          <p:cNvSpPr/>
          <p:nvPr/>
        </p:nvSpPr>
        <p:spPr>
          <a:xfrm>
            <a:off x="14287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4287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56" name="Oval 55"/>
          <p:cNvSpPr/>
          <p:nvPr/>
        </p:nvSpPr>
        <p:spPr>
          <a:xfrm>
            <a:off x="16383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6383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58" name="Oval 57"/>
          <p:cNvSpPr/>
          <p:nvPr/>
        </p:nvSpPr>
        <p:spPr>
          <a:xfrm>
            <a:off x="18478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8478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60" name="Oval 59"/>
          <p:cNvSpPr/>
          <p:nvPr/>
        </p:nvSpPr>
        <p:spPr>
          <a:xfrm>
            <a:off x="20574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57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62" name="Oval 61"/>
          <p:cNvSpPr/>
          <p:nvPr/>
        </p:nvSpPr>
        <p:spPr>
          <a:xfrm>
            <a:off x="15335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5335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64" name="Oval 63"/>
          <p:cNvSpPr/>
          <p:nvPr/>
        </p:nvSpPr>
        <p:spPr>
          <a:xfrm>
            <a:off x="17430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7430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66" name="Oval 65"/>
          <p:cNvSpPr/>
          <p:nvPr/>
        </p:nvSpPr>
        <p:spPr>
          <a:xfrm>
            <a:off x="19526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9526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68" name="TextBox 67"/>
          <p:cNvSpPr txBox="1"/>
          <p:nvPr/>
        </p:nvSpPr>
        <p:spPr>
          <a:xfrm>
            <a:off x="24003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Ingersoll Rand</a:t>
            </a:r>
          </a:p>
        </p:txBody>
      </p:sp>
      <p:cxnSp>
        <p:nvCxnSpPr>
          <p:cNvPr id="69" name="Connector 68"/>
          <p:cNvCxnSpPr/>
          <p:nvPr/>
        </p:nvCxnSpPr>
        <p:spPr>
          <a:xfrm>
            <a:off x="268128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4003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B</a:t>
            </a:r>
          </a:p>
        </p:txBody>
      </p:sp>
      <p:sp>
        <p:nvSpPr>
          <p:cNvPr id="71" name="TextBox 70"/>
          <p:cNvSpPr txBox="1"/>
          <p:nvPr/>
        </p:nvSpPr>
        <p:spPr>
          <a:xfrm>
            <a:off x="23907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72" name="TextBox 71"/>
          <p:cNvSpPr txBox="1"/>
          <p:nvPr/>
        </p:nvSpPr>
        <p:spPr>
          <a:xfrm>
            <a:off x="23907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73" name="Rectangle 72"/>
          <p:cNvSpPr/>
          <p:nvPr/>
        </p:nvSpPr>
        <p:spPr>
          <a:xfrm>
            <a:off x="26812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28527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30241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4003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77" name="TextBox 76"/>
          <p:cNvSpPr txBox="1"/>
          <p:nvPr/>
        </p:nvSpPr>
        <p:spPr>
          <a:xfrm>
            <a:off x="24003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78" name="Oval 77"/>
          <p:cNvSpPr/>
          <p:nvPr/>
        </p:nvSpPr>
        <p:spPr>
          <a:xfrm>
            <a:off x="26622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2914650" y="3416749"/>
            <a:ext cx="180975" cy="237298"/>
          </a:xfrm>
          <a:custGeom>
            <a:avLst/>
            <a:gdLst/>
            <a:ahLst/>
            <a:cxnLst/>
            <a:rect l="l" t="t" r="r" b="b"/>
            <a:pathLst>
              <a:path w="19" h="26">
                <a:moveTo>
                  <a:pt x="0" y="26"/>
                </a:moveTo>
                <a:lnTo>
                  <a:pt x="0" y="0"/>
                </a:lnTo>
                <a:lnTo>
                  <a:pt x="3" y="0"/>
                </a:lnTo>
                <a:lnTo>
                  <a:pt x="7" y="1"/>
                </a:lnTo>
                <a:lnTo>
                  <a:pt x="10" y="2"/>
                </a:lnTo>
                <a:lnTo>
                  <a:pt x="13" y="4"/>
                </a:lnTo>
                <a:lnTo>
                  <a:pt x="16" y="6"/>
                </a:lnTo>
                <a:lnTo>
                  <a:pt x="19" y="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27712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662238" y="3590159"/>
            <a:ext cx="495300" cy="127776"/>
          </a:xfrm>
          <a:prstGeom prst="rect">
            <a:avLst/>
          </a:prstGeom>
          <a:noFill/>
        </p:spPr>
        <p:txBody>
          <a:bodyPr wrap="square" lIns="28575" rIns="28575" tIns="9525" bIns="9525" anchor="ctr">
            <a:spAutoFit/>
          </a:bodyPr>
          <a:lstStyle/>
          <a:p>
            <a:pPr algn="ctr"/>
            <a:r>
              <a:rPr sz="1100" b="1">
                <a:solidFill>
                  <a:srgbClr val="0E2A5C"/>
                </a:solidFill>
                <a:latin typeface="Calibri"/>
              </a:rPr>
              <a:t> </a:t>
            </a:r>
          </a:p>
        </p:txBody>
      </p:sp>
      <p:sp>
        <p:nvSpPr>
          <p:cNvPr id="82" name="TextBox 81"/>
          <p:cNvSpPr txBox="1"/>
          <p:nvPr/>
        </p:nvSpPr>
        <p:spPr>
          <a:xfrm>
            <a:off x="24193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83" name="Oval 82"/>
          <p:cNvSpPr/>
          <p:nvPr/>
        </p:nvSpPr>
        <p:spPr>
          <a:xfrm>
            <a:off x="25050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5050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85" name="Oval 84"/>
          <p:cNvSpPr/>
          <p:nvPr/>
        </p:nvSpPr>
        <p:spPr>
          <a:xfrm>
            <a:off x="27146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146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87" name="Oval 86"/>
          <p:cNvSpPr/>
          <p:nvPr/>
        </p:nvSpPr>
        <p:spPr>
          <a:xfrm>
            <a:off x="29241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9241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89" name="Oval 88"/>
          <p:cNvSpPr/>
          <p:nvPr/>
        </p:nvSpPr>
        <p:spPr>
          <a:xfrm>
            <a:off x="3133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133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91" name="Oval 90"/>
          <p:cNvSpPr/>
          <p:nvPr/>
        </p:nvSpPr>
        <p:spPr>
          <a:xfrm>
            <a:off x="26098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6098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93" name="Oval 92"/>
          <p:cNvSpPr/>
          <p:nvPr/>
        </p:nvSpPr>
        <p:spPr>
          <a:xfrm>
            <a:off x="28194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8194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95" name="Oval 94"/>
          <p:cNvSpPr/>
          <p:nvPr/>
        </p:nvSpPr>
        <p:spPr>
          <a:xfrm>
            <a:off x="30289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0289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97" name="TextBox 96"/>
          <p:cNvSpPr txBox="1"/>
          <p:nvPr/>
        </p:nvSpPr>
        <p:spPr>
          <a:xfrm>
            <a:off x="34766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Hitachi</a:t>
            </a:r>
          </a:p>
        </p:txBody>
      </p:sp>
      <p:cxnSp>
        <p:nvCxnSpPr>
          <p:cNvPr id="98" name="Connector 97"/>
          <p:cNvCxnSpPr/>
          <p:nvPr/>
        </p:nvCxnSpPr>
        <p:spPr>
          <a:xfrm>
            <a:off x="375761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34766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C</a:t>
            </a:r>
          </a:p>
        </p:txBody>
      </p:sp>
      <p:sp>
        <p:nvSpPr>
          <p:cNvPr id="100" name="TextBox 99"/>
          <p:cNvSpPr txBox="1"/>
          <p:nvPr/>
        </p:nvSpPr>
        <p:spPr>
          <a:xfrm>
            <a:off x="34671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01" name="TextBox 100"/>
          <p:cNvSpPr txBox="1"/>
          <p:nvPr/>
        </p:nvSpPr>
        <p:spPr>
          <a:xfrm>
            <a:off x="346710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02" name="Rectangle 101"/>
          <p:cNvSpPr/>
          <p:nvPr/>
        </p:nvSpPr>
        <p:spPr>
          <a:xfrm>
            <a:off x="37576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39290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41005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34766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6" name="TextBox 105"/>
          <p:cNvSpPr txBox="1"/>
          <p:nvPr/>
        </p:nvSpPr>
        <p:spPr>
          <a:xfrm>
            <a:off x="34766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7" name="Oval 106"/>
          <p:cNvSpPr/>
          <p:nvPr/>
        </p:nvSpPr>
        <p:spPr>
          <a:xfrm>
            <a:off x="37385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3981450" y="3416749"/>
            <a:ext cx="142875" cy="237298"/>
          </a:xfrm>
          <a:custGeom>
            <a:avLst/>
            <a:gdLst/>
            <a:ahLst/>
            <a:cxnLst/>
            <a:rect l="l" t="t" r="r" b="b"/>
            <a:pathLst>
              <a:path w="15" h="26">
                <a:moveTo>
                  <a:pt x="0" y="26"/>
                </a:moveTo>
                <a:lnTo>
                  <a:pt x="0" y="0"/>
                </a:lnTo>
                <a:lnTo>
                  <a:pt x="4" y="0"/>
                </a:lnTo>
                <a:lnTo>
                  <a:pt x="8" y="1"/>
                </a:lnTo>
                <a:lnTo>
                  <a:pt x="12" y="2"/>
                </a:lnTo>
                <a:lnTo>
                  <a:pt x="15" y="4"/>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384752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738562"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111" name="TextBox 110"/>
          <p:cNvSpPr txBox="1"/>
          <p:nvPr/>
        </p:nvSpPr>
        <p:spPr>
          <a:xfrm>
            <a:off x="34956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112" name="Oval 111"/>
          <p:cNvSpPr/>
          <p:nvPr/>
        </p:nvSpPr>
        <p:spPr>
          <a:xfrm>
            <a:off x="35814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581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14" name="Oval 113"/>
          <p:cNvSpPr/>
          <p:nvPr/>
        </p:nvSpPr>
        <p:spPr>
          <a:xfrm>
            <a:off x="37909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7909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16" name="Oval 115"/>
          <p:cNvSpPr/>
          <p:nvPr/>
        </p:nvSpPr>
        <p:spPr>
          <a:xfrm>
            <a:off x="40005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0005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18" name="Oval 117"/>
          <p:cNvSpPr/>
          <p:nvPr/>
        </p:nvSpPr>
        <p:spPr>
          <a:xfrm>
            <a:off x="42100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210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20" name="Oval 119"/>
          <p:cNvSpPr/>
          <p:nvPr/>
        </p:nvSpPr>
        <p:spPr>
          <a:xfrm>
            <a:off x="36861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36861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22" name="Oval 121"/>
          <p:cNvSpPr/>
          <p:nvPr/>
        </p:nvSpPr>
        <p:spPr>
          <a:xfrm>
            <a:off x="38957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38957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24" name="Oval 123"/>
          <p:cNvSpPr/>
          <p:nvPr/>
        </p:nvSpPr>
        <p:spPr>
          <a:xfrm>
            <a:off x="41052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1052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26" name="TextBox 125"/>
          <p:cNvSpPr txBox="1"/>
          <p:nvPr/>
        </p:nvSpPr>
        <p:spPr>
          <a:xfrm>
            <a:off x="45529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KAESER KOMPRESSOREN</a:t>
            </a:r>
          </a:p>
        </p:txBody>
      </p:sp>
      <p:cxnSp>
        <p:nvCxnSpPr>
          <p:cNvPr id="127" name="Connector 126"/>
          <p:cNvCxnSpPr/>
          <p:nvPr/>
        </p:nvCxnSpPr>
        <p:spPr>
          <a:xfrm>
            <a:off x="483393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45529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D</a:t>
            </a:r>
          </a:p>
        </p:txBody>
      </p:sp>
      <p:sp>
        <p:nvSpPr>
          <p:cNvPr id="129" name="TextBox 128"/>
          <p:cNvSpPr txBox="1"/>
          <p:nvPr/>
        </p:nvSpPr>
        <p:spPr>
          <a:xfrm>
            <a:off x="45434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130" name="TextBox 129"/>
          <p:cNvSpPr txBox="1"/>
          <p:nvPr/>
        </p:nvSpPr>
        <p:spPr>
          <a:xfrm>
            <a:off x="45434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131" name="Rectangle 130"/>
          <p:cNvSpPr/>
          <p:nvPr/>
        </p:nvSpPr>
        <p:spPr>
          <a:xfrm>
            <a:off x="48339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50053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51768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5529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5" name="TextBox 134"/>
          <p:cNvSpPr txBox="1"/>
          <p:nvPr/>
        </p:nvSpPr>
        <p:spPr>
          <a:xfrm>
            <a:off x="45529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6" name="Oval 135"/>
          <p:cNvSpPr/>
          <p:nvPr/>
        </p:nvSpPr>
        <p:spPr>
          <a:xfrm>
            <a:off x="48148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5067300" y="3416749"/>
            <a:ext cx="95250" cy="237298"/>
          </a:xfrm>
          <a:custGeom>
            <a:avLst/>
            <a:gdLst/>
            <a:ahLst/>
            <a:cxnLst/>
            <a:rect l="l" t="t" r="r" b="b"/>
            <a:pathLst>
              <a:path w="10" h="26">
                <a:moveTo>
                  <a:pt x="0" y="26"/>
                </a:moveTo>
                <a:lnTo>
                  <a:pt x="0" y="0"/>
                </a:lnTo>
                <a:lnTo>
                  <a:pt x="3" y="0"/>
                </a:lnTo>
                <a:lnTo>
                  <a:pt x="7"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49238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4814888"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140" name="TextBox 139"/>
          <p:cNvSpPr txBox="1"/>
          <p:nvPr/>
        </p:nvSpPr>
        <p:spPr>
          <a:xfrm>
            <a:off x="45720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Latin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Eastern Europe  </a:t>
            </a:r>
            <a:r>
              <a:rPr sz="1100" b="1">
                <a:solidFill>
                  <a:srgbClr val="9AA3A8"/>
                </a:solidFill>
                <a:latin typeface="Calibri"/>
              </a:rPr>
              <a:t>▲</a:t>
            </a:r>
          </a:p>
        </p:txBody>
      </p:sp>
      <p:sp>
        <p:nvSpPr>
          <p:cNvPr id="141" name="Oval 140"/>
          <p:cNvSpPr/>
          <p:nvPr/>
        </p:nvSpPr>
        <p:spPr>
          <a:xfrm>
            <a:off x="4657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4657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43" name="Oval 142"/>
          <p:cNvSpPr/>
          <p:nvPr/>
        </p:nvSpPr>
        <p:spPr>
          <a:xfrm>
            <a:off x="48672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48672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45" name="Oval 144"/>
          <p:cNvSpPr/>
          <p:nvPr/>
        </p:nvSpPr>
        <p:spPr>
          <a:xfrm>
            <a:off x="50768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0768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47" name="Oval 146"/>
          <p:cNvSpPr/>
          <p:nvPr/>
        </p:nvSpPr>
        <p:spPr>
          <a:xfrm>
            <a:off x="5286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286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49" name="Oval 148"/>
          <p:cNvSpPr/>
          <p:nvPr/>
        </p:nvSpPr>
        <p:spPr>
          <a:xfrm>
            <a:off x="47625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47625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51" name="Oval 150"/>
          <p:cNvSpPr/>
          <p:nvPr/>
        </p:nvSpPr>
        <p:spPr>
          <a:xfrm>
            <a:off x="49720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49720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53" name="Oval 152"/>
          <p:cNvSpPr/>
          <p:nvPr/>
        </p:nvSpPr>
        <p:spPr>
          <a:xfrm>
            <a:off x="51816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51816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55" name="TextBox 154"/>
          <p:cNvSpPr txBox="1"/>
          <p:nvPr/>
        </p:nvSpPr>
        <p:spPr>
          <a:xfrm>
            <a:off x="56292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Gardner Denver</a:t>
            </a:r>
          </a:p>
        </p:txBody>
      </p:sp>
      <p:cxnSp>
        <p:nvCxnSpPr>
          <p:cNvPr id="156" name="Connector 155"/>
          <p:cNvCxnSpPr/>
          <p:nvPr/>
        </p:nvCxnSpPr>
        <p:spPr>
          <a:xfrm>
            <a:off x="591026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56292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E</a:t>
            </a:r>
          </a:p>
        </p:txBody>
      </p:sp>
      <p:sp>
        <p:nvSpPr>
          <p:cNvPr id="158" name="TextBox 157"/>
          <p:cNvSpPr txBox="1"/>
          <p:nvPr/>
        </p:nvSpPr>
        <p:spPr>
          <a:xfrm>
            <a:off x="56197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159" name="TextBox 158"/>
          <p:cNvSpPr txBox="1"/>
          <p:nvPr/>
        </p:nvSpPr>
        <p:spPr>
          <a:xfrm>
            <a:off x="56197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160" name="Rectangle 159"/>
          <p:cNvSpPr/>
          <p:nvPr/>
        </p:nvSpPr>
        <p:spPr>
          <a:xfrm>
            <a:off x="59102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60817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62531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56292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4" name="TextBox 163"/>
          <p:cNvSpPr txBox="1"/>
          <p:nvPr/>
        </p:nvSpPr>
        <p:spPr>
          <a:xfrm>
            <a:off x="56292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5" name="Oval 164"/>
          <p:cNvSpPr/>
          <p:nvPr/>
        </p:nvSpPr>
        <p:spPr>
          <a:xfrm>
            <a:off x="58912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6134100" y="3416749"/>
            <a:ext cx="104775" cy="237298"/>
          </a:xfrm>
          <a:custGeom>
            <a:avLst/>
            <a:gdLst/>
            <a:ahLst/>
            <a:cxnLst/>
            <a:rect l="l" t="t" r="r" b="b"/>
            <a:pathLst>
              <a:path w="11" h="26">
                <a:moveTo>
                  <a:pt x="0" y="26"/>
                </a:moveTo>
                <a:lnTo>
                  <a:pt x="0" y="0"/>
                </a:lnTo>
                <a:lnTo>
                  <a:pt x="4" y="0"/>
                </a:lnTo>
                <a:lnTo>
                  <a:pt x="7"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600017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5891212"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169" name="TextBox 168"/>
          <p:cNvSpPr txBox="1"/>
          <p:nvPr/>
        </p:nvSpPr>
        <p:spPr>
          <a:xfrm>
            <a:off x="56483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Middle East &amp; Africa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Eastern 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Western Europe  </a:t>
            </a:r>
            <a:r>
              <a:rPr sz="1100" b="1">
                <a:solidFill>
                  <a:srgbClr val="9AA3A8"/>
                </a:solidFill>
                <a:latin typeface="Calibri"/>
              </a:rPr>
              <a:t>▲</a:t>
            </a:r>
          </a:p>
        </p:txBody>
      </p:sp>
      <p:sp>
        <p:nvSpPr>
          <p:cNvPr id="170" name="Oval 169"/>
          <p:cNvSpPr/>
          <p:nvPr/>
        </p:nvSpPr>
        <p:spPr>
          <a:xfrm>
            <a:off x="57340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5734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72" name="Oval 171"/>
          <p:cNvSpPr/>
          <p:nvPr/>
        </p:nvSpPr>
        <p:spPr>
          <a:xfrm>
            <a:off x="59436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59436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74" name="Oval 173"/>
          <p:cNvSpPr/>
          <p:nvPr/>
        </p:nvSpPr>
        <p:spPr>
          <a:xfrm>
            <a:off x="61531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61531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76" name="Oval 175"/>
          <p:cNvSpPr/>
          <p:nvPr/>
        </p:nvSpPr>
        <p:spPr>
          <a:xfrm>
            <a:off x="63627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362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78" name="Oval 177"/>
          <p:cNvSpPr/>
          <p:nvPr/>
        </p:nvSpPr>
        <p:spPr>
          <a:xfrm>
            <a:off x="58388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58388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80" name="Oval 179"/>
          <p:cNvSpPr/>
          <p:nvPr/>
        </p:nvSpPr>
        <p:spPr>
          <a:xfrm>
            <a:off x="60483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60483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82" name="Oval 181"/>
          <p:cNvSpPr/>
          <p:nvPr/>
        </p:nvSpPr>
        <p:spPr>
          <a:xfrm>
            <a:off x="62579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62579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84" name="TextBox 183"/>
          <p:cNvSpPr txBox="1"/>
          <p:nvPr/>
        </p:nvSpPr>
        <p:spPr>
          <a:xfrm>
            <a:off x="67056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ELGi Equipments</a:t>
            </a:r>
          </a:p>
        </p:txBody>
      </p:sp>
      <p:cxnSp>
        <p:nvCxnSpPr>
          <p:cNvPr id="185" name="Connector 184"/>
          <p:cNvCxnSpPr/>
          <p:nvPr/>
        </p:nvCxnSpPr>
        <p:spPr>
          <a:xfrm>
            <a:off x="698658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186" name="TextBox 185"/>
          <p:cNvSpPr txBox="1"/>
          <p:nvPr/>
        </p:nvSpPr>
        <p:spPr>
          <a:xfrm>
            <a:off x="67056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F</a:t>
            </a:r>
          </a:p>
        </p:txBody>
      </p:sp>
      <p:sp>
        <p:nvSpPr>
          <p:cNvPr id="187" name="TextBox 186"/>
          <p:cNvSpPr txBox="1"/>
          <p:nvPr/>
        </p:nvSpPr>
        <p:spPr>
          <a:xfrm>
            <a:off x="66960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88" name="TextBox 187"/>
          <p:cNvSpPr txBox="1"/>
          <p:nvPr/>
        </p:nvSpPr>
        <p:spPr>
          <a:xfrm>
            <a:off x="6696075"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89" name="Rectangle 188"/>
          <p:cNvSpPr/>
          <p:nvPr/>
        </p:nvSpPr>
        <p:spPr>
          <a:xfrm>
            <a:off x="69865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71580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73294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7056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3" name="TextBox 192"/>
          <p:cNvSpPr txBox="1"/>
          <p:nvPr/>
        </p:nvSpPr>
        <p:spPr>
          <a:xfrm>
            <a:off x="67056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4" name="Oval 193"/>
          <p:cNvSpPr/>
          <p:nvPr/>
        </p:nvSpPr>
        <p:spPr>
          <a:xfrm>
            <a:off x="69675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Freeform 194"/>
          <p:cNvSpPr/>
          <p:nvPr/>
        </p:nvSpPr>
        <p:spPr>
          <a:xfrm>
            <a:off x="7219950" y="3416749"/>
            <a:ext cx="95250" cy="237298"/>
          </a:xfrm>
          <a:custGeom>
            <a:avLst/>
            <a:gdLst/>
            <a:ahLst/>
            <a:cxnLst/>
            <a:rect l="l" t="t" r="r" b="b"/>
            <a:pathLst>
              <a:path w="10" h="26">
                <a:moveTo>
                  <a:pt x="0" y="26"/>
                </a:moveTo>
                <a:lnTo>
                  <a:pt x="0" y="0"/>
                </a:lnTo>
                <a:lnTo>
                  <a:pt x="3" y="0"/>
                </a:lnTo>
                <a:lnTo>
                  <a:pt x="6"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70765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6967538"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198" name="TextBox 197"/>
          <p:cNvSpPr txBox="1"/>
          <p:nvPr/>
        </p:nvSpPr>
        <p:spPr>
          <a:xfrm>
            <a:off x="67246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Eastern 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Western 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9AA3A8"/>
                </a:solidFill>
                <a:latin typeface="Calibri"/>
              </a:rPr>
              <a:t>▲</a:t>
            </a:r>
          </a:p>
        </p:txBody>
      </p:sp>
      <p:sp>
        <p:nvSpPr>
          <p:cNvPr id="199" name="Oval 198"/>
          <p:cNvSpPr/>
          <p:nvPr/>
        </p:nvSpPr>
        <p:spPr>
          <a:xfrm>
            <a:off x="6810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6810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01" name="Oval 200"/>
          <p:cNvSpPr/>
          <p:nvPr/>
        </p:nvSpPr>
        <p:spPr>
          <a:xfrm>
            <a:off x="70199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70199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03" name="Oval 202"/>
          <p:cNvSpPr/>
          <p:nvPr/>
        </p:nvSpPr>
        <p:spPr>
          <a:xfrm>
            <a:off x="72294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72294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05" name="Oval 204"/>
          <p:cNvSpPr/>
          <p:nvPr/>
        </p:nvSpPr>
        <p:spPr>
          <a:xfrm>
            <a:off x="7439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7439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07" name="Oval 206"/>
          <p:cNvSpPr/>
          <p:nvPr/>
        </p:nvSpPr>
        <p:spPr>
          <a:xfrm>
            <a:off x="69151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69151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09" name="Oval 208"/>
          <p:cNvSpPr/>
          <p:nvPr/>
        </p:nvSpPr>
        <p:spPr>
          <a:xfrm>
            <a:off x="71247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71247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11" name="Oval 210"/>
          <p:cNvSpPr/>
          <p:nvPr/>
        </p:nvSpPr>
        <p:spPr>
          <a:xfrm>
            <a:off x="73342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73342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13" name="TextBox 212"/>
          <p:cNvSpPr txBox="1"/>
          <p:nvPr/>
        </p:nvSpPr>
        <p:spPr>
          <a:xfrm>
            <a:off x="77819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Kaishan Group</a:t>
            </a:r>
          </a:p>
        </p:txBody>
      </p:sp>
      <p:cxnSp>
        <p:nvCxnSpPr>
          <p:cNvPr id="214" name="Connector 213"/>
          <p:cNvCxnSpPr/>
          <p:nvPr/>
        </p:nvCxnSpPr>
        <p:spPr>
          <a:xfrm>
            <a:off x="806291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15" name="TextBox 214"/>
          <p:cNvSpPr txBox="1"/>
          <p:nvPr/>
        </p:nvSpPr>
        <p:spPr>
          <a:xfrm>
            <a:off x="77819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G</a:t>
            </a:r>
          </a:p>
        </p:txBody>
      </p:sp>
      <p:sp>
        <p:nvSpPr>
          <p:cNvPr id="216" name="TextBox 215"/>
          <p:cNvSpPr txBox="1"/>
          <p:nvPr/>
        </p:nvSpPr>
        <p:spPr>
          <a:xfrm>
            <a:off x="77724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217" name="TextBox 216"/>
          <p:cNvSpPr txBox="1"/>
          <p:nvPr/>
        </p:nvSpPr>
        <p:spPr>
          <a:xfrm>
            <a:off x="777240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218" name="Rectangle 217"/>
          <p:cNvSpPr/>
          <p:nvPr/>
        </p:nvSpPr>
        <p:spPr>
          <a:xfrm>
            <a:off x="80629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82343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84058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77819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2" name="TextBox 221"/>
          <p:cNvSpPr txBox="1"/>
          <p:nvPr/>
        </p:nvSpPr>
        <p:spPr>
          <a:xfrm>
            <a:off x="77819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3" name="Oval 222"/>
          <p:cNvSpPr/>
          <p:nvPr/>
        </p:nvSpPr>
        <p:spPr>
          <a:xfrm>
            <a:off x="80438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Freeform 223"/>
          <p:cNvSpPr/>
          <p:nvPr/>
        </p:nvSpPr>
        <p:spPr>
          <a:xfrm>
            <a:off x="8286750" y="3416749"/>
            <a:ext cx="85725" cy="237298"/>
          </a:xfrm>
          <a:custGeom>
            <a:avLst/>
            <a:gdLst/>
            <a:ahLst/>
            <a:cxnLst/>
            <a:rect l="l" t="t" r="r" b="b"/>
            <a:pathLst>
              <a:path w="9" h="26">
                <a:moveTo>
                  <a:pt x="0" y="26"/>
                </a:moveTo>
                <a:lnTo>
                  <a:pt x="0" y="0"/>
                </a:lnTo>
                <a:lnTo>
                  <a:pt x="5" y="0"/>
                </a:lnTo>
                <a:lnTo>
                  <a:pt x="9" y="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815282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8043862"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227" name="TextBox 226"/>
          <p:cNvSpPr txBox="1"/>
          <p:nvPr/>
        </p:nvSpPr>
        <p:spPr>
          <a:xfrm>
            <a:off x="78009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Western 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228" name="Oval 227"/>
          <p:cNvSpPr/>
          <p:nvPr/>
        </p:nvSpPr>
        <p:spPr>
          <a:xfrm>
            <a:off x="78867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7886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30" name="Oval 229"/>
          <p:cNvSpPr/>
          <p:nvPr/>
        </p:nvSpPr>
        <p:spPr>
          <a:xfrm>
            <a:off x="80962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80962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32" name="Oval 231"/>
          <p:cNvSpPr/>
          <p:nvPr/>
        </p:nvSpPr>
        <p:spPr>
          <a:xfrm>
            <a:off x="83058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83058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34" name="Oval 233"/>
          <p:cNvSpPr/>
          <p:nvPr/>
        </p:nvSpPr>
        <p:spPr>
          <a:xfrm>
            <a:off x="85153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8515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36" name="Oval 235"/>
          <p:cNvSpPr/>
          <p:nvPr/>
        </p:nvSpPr>
        <p:spPr>
          <a:xfrm>
            <a:off x="79914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79914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38" name="Oval 237"/>
          <p:cNvSpPr/>
          <p:nvPr/>
        </p:nvSpPr>
        <p:spPr>
          <a:xfrm>
            <a:off x="82010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82010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40" name="Oval 239"/>
          <p:cNvSpPr/>
          <p:nvPr/>
        </p:nvSpPr>
        <p:spPr>
          <a:xfrm>
            <a:off x="84105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84105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42" name="TextBox 241"/>
          <p:cNvSpPr txBox="1"/>
          <p:nvPr/>
        </p:nvSpPr>
        <p:spPr>
          <a:xfrm>
            <a:off x="88582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BOGE KOMPRESSOREN</a:t>
            </a:r>
          </a:p>
        </p:txBody>
      </p:sp>
      <p:cxnSp>
        <p:nvCxnSpPr>
          <p:cNvPr id="243" name="Connector 242"/>
          <p:cNvCxnSpPr/>
          <p:nvPr/>
        </p:nvCxnSpPr>
        <p:spPr>
          <a:xfrm>
            <a:off x="913923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44" name="TextBox 243"/>
          <p:cNvSpPr txBox="1"/>
          <p:nvPr/>
        </p:nvSpPr>
        <p:spPr>
          <a:xfrm>
            <a:off x="88582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H</a:t>
            </a:r>
          </a:p>
        </p:txBody>
      </p:sp>
      <p:sp>
        <p:nvSpPr>
          <p:cNvPr id="245" name="TextBox 244"/>
          <p:cNvSpPr txBox="1"/>
          <p:nvPr/>
        </p:nvSpPr>
        <p:spPr>
          <a:xfrm>
            <a:off x="88487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246" name="TextBox 245"/>
          <p:cNvSpPr txBox="1"/>
          <p:nvPr/>
        </p:nvSpPr>
        <p:spPr>
          <a:xfrm>
            <a:off x="88487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247" name="Rectangle 246"/>
          <p:cNvSpPr/>
          <p:nvPr/>
        </p:nvSpPr>
        <p:spPr>
          <a:xfrm>
            <a:off x="91392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93106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4821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TextBox 249"/>
          <p:cNvSpPr txBox="1"/>
          <p:nvPr/>
        </p:nvSpPr>
        <p:spPr>
          <a:xfrm>
            <a:off x="88582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1" name="TextBox 250"/>
          <p:cNvSpPr txBox="1"/>
          <p:nvPr/>
        </p:nvSpPr>
        <p:spPr>
          <a:xfrm>
            <a:off x="88582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2" name="Oval 251"/>
          <p:cNvSpPr/>
          <p:nvPr/>
        </p:nvSpPr>
        <p:spPr>
          <a:xfrm>
            <a:off x="91201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Freeform 252"/>
          <p:cNvSpPr/>
          <p:nvPr/>
        </p:nvSpPr>
        <p:spPr>
          <a:xfrm>
            <a:off x="9372600" y="3416749"/>
            <a:ext cx="47625" cy="237298"/>
          </a:xfrm>
          <a:custGeom>
            <a:avLst/>
            <a:gdLst/>
            <a:ahLst/>
            <a:cxnLst/>
            <a:rect l="l" t="t" r="r" b="b"/>
            <a:pathLst>
              <a:path w="5" h="26">
                <a:moveTo>
                  <a:pt x="0" y="26"/>
                </a:moveTo>
                <a:lnTo>
                  <a:pt x="0" y="0"/>
                </a:lnTo>
                <a:lnTo>
                  <a:pt x="2" y="0"/>
                </a:lnTo>
                <a:lnTo>
                  <a:pt x="5"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Oval 253"/>
          <p:cNvSpPr/>
          <p:nvPr/>
        </p:nvSpPr>
        <p:spPr>
          <a:xfrm>
            <a:off x="92291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9120188"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256" name="TextBox 255"/>
          <p:cNvSpPr txBox="1"/>
          <p:nvPr/>
        </p:nvSpPr>
        <p:spPr>
          <a:xfrm>
            <a:off x="88773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257" name="Oval 256"/>
          <p:cNvSpPr/>
          <p:nvPr/>
        </p:nvSpPr>
        <p:spPr>
          <a:xfrm>
            <a:off x="8963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8963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59" name="Oval 258"/>
          <p:cNvSpPr/>
          <p:nvPr/>
        </p:nvSpPr>
        <p:spPr>
          <a:xfrm>
            <a:off x="91725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91725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61" name="Oval 260"/>
          <p:cNvSpPr/>
          <p:nvPr/>
        </p:nvSpPr>
        <p:spPr>
          <a:xfrm>
            <a:off x="93821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TextBox 261"/>
          <p:cNvSpPr txBox="1"/>
          <p:nvPr/>
        </p:nvSpPr>
        <p:spPr>
          <a:xfrm>
            <a:off x="93821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63" name="Oval 262"/>
          <p:cNvSpPr/>
          <p:nvPr/>
        </p:nvSpPr>
        <p:spPr>
          <a:xfrm>
            <a:off x="9591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9591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65" name="Oval 264"/>
          <p:cNvSpPr/>
          <p:nvPr/>
        </p:nvSpPr>
        <p:spPr>
          <a:xfrm>
            <a:off x="90678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90678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67" name="Oval 266"/>
          <p:cNvSpPr/>
          <p:nvPr/>
        </p:nvSpPr>
        <p:spPr>
          <a:xfrm>
            <a:off x="92773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TextBox 267"/>
          <p:cNvSpPr txBox="1"/>
          <p:nvPr/>
        </p:nvSpPr>
        <p:spPr>
          <a:xfrm>
            <a:off x="92773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69" name="Oval 268"/>
          <p:cNvSpPr/>
          <p:nvPr/>
        </p:nvSpPr>
        <p:spPr>
          <a:xfrm>
            <a:off x="94869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94869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71" name="TextBox 270"/>
          <p:cNvSpPr txBox="1"/>
          <p:nvPr/>
        </p:nvSpPr>
        <p:spPr>
          <a:xfrm>
            <a:off x="99345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ANEST IWATA</a:t>
            </a:r>
          </a:p>
        </p:txBody>
      </p:sp>
      <p:cxnSp>
        <p:nvCxnSpPr>
          <p:cNvPr id="272" name="Connector 271"/>
          <p:cNvCxnSpPr/>
          <p:nvPr/>
        </p:nvCxnSpPr>
        <p:spPr>
          <a:xfrm>
            <a:off x="1021556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73" name="TextBox 272"/>
          <p:cNvSpPr txBox="1"/>
          <p:nvPr/>
        </p:nvSpPr>
        <p:spPr>
          <a:xfrm>
            <a:off x="99345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I</a:t>
            </a:r>
          </a:p>
        </p:txBody>
      </p:sp>
      <p:sp>
        <p:nvSpPr>
          <p:cNvPr id="274" name="TextBox 273"/>
          <p:cNvSpPr txBox="1"/>
          <p:nvPr/>
        </p:nvSpPr>
        <p:spPr>
          <a:xfrm>
            <a:off x="99250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275" name="TextBox 274"/>
          <p:cNvSpPr txBox="1"/>
          <p:nvPr/>
        </p:nvSpPr>
        <p:spPr>
          <a:xfrm>
            <a:off x="992505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276" name="Rectangle 275"/>
          <p:cNvSpPr/>
          <p:nvPr/>
        </p:nvSpPr>
        <p:spPr>
          <a:xfrm>
            <a:off x="102155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103870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105584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99345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0" name="TextBox 279"/>
          <p:cNvSpPr txBox="1"/>
          <p:nvPr/>
        </p:nvSpPr>
        <p:spPr>
          <a:xfrm>
            <a:off x="99345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1" name="Oval 280"/>
          <p:cNvSpPr/>
          <p:nvPr/>
        </p:nvSpPr>
        <p:spPr>
          <a:xfrm>
            <a:off x="101965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Freeform 281"/>
          <p:cNvSpPr/>
          <p:nvPr/>
        </p:nvSpPr>
        <p:spPr>
          <a:xfrm>
            <a:off x="10439400" y="3416749"/>
            <a:ext cx="38100" cy="237298"/>
          </a:xfrm>
          <a:custGeom>
            <a:avLst/>
            <a:gdLst/>
            <a:ahLst/>
            <a:cxnLst/>
            <a:rect l="l" t="t" r="r" b="b"/>
            <a:pathLst>
              <a:path w="4" h="26">
                <a:moveTo>
                  <a:pt x="0" y="26"/>
                </a:moveTo>
                <a:lnTo>
                  <a:pt x="0" y="0"/>
                </a:lnTo>
                <a:lnTo>
                  <a:pt x="2" y="0"/>
                </a:lnTo>
                <a:lnTo>
                  <a:pt x="4"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Oval 282"/>
          <p:cNvSpPr/>
          <p:nvPr/>
        </p:nvSpPr>
        <p:spPr>
          <a:xfrm>
            <a:off x="103054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TextBox 283"/>
          <p:cNvSpPr txBox="1"/>
          <p:nvPr/>
        </p:nvSpPr>
        <p:spPr>
          <a:xfrm>
            <a:off x="10196512"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285" name="TextBox 284"/>
          <p:cNvSpPr txBox="1"/>
          <p:nvPr/>
        </p:nvSpPr>
        <p:spPr>
          <a:xfrm>
            <a:off x="99536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286" name="Oval 285"/>
          <p:cNvSpPr/>
          <p:nvPr/>
        </p:nvSpPr>
        <p:spPr>
          <a:xfrm>
            <a:off x="100393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10039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88" name="Oval 287"/>
          <p:cNvSpPr/>
          <p:nvPr/>
        </p:nvSpPr>
        <p:spPr>
          <a:xfrm>
            <a:off x="102489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102489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90" name="Oval 289"/>
          <p:cNvSpPr/>
          <p:nvPr/>
        </p:nvSpPr>
        <p:spPr>
          <a:xfrm>
            <a:off x="104584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TextBox 290"/>
          <p:cNvSpPr txBox="1"/>
          <p:nvPr/>
        </p:nvSpPr>
        <p:spPr>
          <a:xfrm>
            <a:off x="104584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92" name="Oval 291"/>
          <p:cNvSpPr/>
          <p:nvPr/>
        </p:nvSpPr>
        <p:spPr>
          <a:xfrm>
            <a:off x="106680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106680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94" name="Oval 293"/>
          <p:cNvSpPr/>
          <p:nvPr/>
        </p:nvSpPr>
        <p:spPr>
          <a:xfrm>
            <a:off x="101441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TextBox 294"/>
          <p:cNvSpPr txBox="1"/>
          <p:nvPr/>
        </p:nvSpPr>
        <p:spPr>
          <a:xfrm>
            <a:off x="101441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96" name="Oval 295"/>
          <p:cNvSpPr/>
          <p:nvPr/>
        </p:nvSpPr>
        <p:spPr>
          <a:xfrm>
            <a:off x="103536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TextBox 296"/>
          <p:cNvSpPr txBox="1"/>
          <p:nvPr/>
        </p:nvSpPr>
        <p:spPr>
          <a:xfrm>
            <a:off x="103536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98" name="Oval 297"/>
          <p:cNvSpPr/>
          <p:nvPr/>
        </p:nvSpPr>
        <p:spPr>
          <a:xfrm>
            <a:off x="105632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105632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00" name="TextBox 299"/>
          <p:cNvSpPr txBox="1"/>
          <p:nvPr/>
        </p:nvSpPr>
        <p:spPr>
          <a:xfrm>
            <a:off x="110109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Quincy Compressor</a:t>
            </a:r>
          </a:p>
        </p:txBody>
      </p:sp>
      <p:cxnSp>
        <p:nvCxnSpPr>
          <p:cNvPr id="301" name="Connector 300"/>
          <p:cNvCxnSpPr/>
          <p:nvPr/>
        </p:nvCxnSpPr>
        <p:spPr>
          <a:xfrm>
            <a:off x="1129188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302" name="TextBox 301"/>
          <p:cNvSpPr txBox="1"/>
          <p:nvPr/>
        </p:nvSpPr>
        <p:spPr>
          <a:xfrm>
            <a:off x="110109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J</a:t>
            </a:r>
          </a:p>
        </p:txBody>
      </p:sp>
      <p:sp>
        <p:nvSpPr>
          <p:cNvPr id="303" name="TextBox 302"/>
          <p:cNvSpPr txBox="1"/>
          <p:nvPr/>
        </p:nvSpPr>
        <p:spPr>
          <a:xfrm>
            <a:off x="110013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304" name="TextBox 303"/>
          <p:cNvSpPr txBox="1"/>
          <p:nvPr/>
        </p:nvSpPr>
        <p:spPr>
          <a:xfrm>
            <a:off x="110013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305" name="Rectangle 304"/>
          <p:cNvSpPr/>
          <p:nvPr/>
        </p:nvSpPr>
        <p:spPr>
          <a:xfrm>
            <a:off x="112918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114633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116347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TextBox 307"/>
          <p:cNvSpPr txBox="1"/>
          <p:nvPr/>
        </p:nvSpPr>
        <p:spPr>
          <a:xfrm>
            <a:off x="110109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09" name="TextBox 308"/>
          <p:cNvSpPr txBox="1"/>
          <p:nvPr/>
        </p:nvSpPr>
        <p:spPr>
          <a:xfrm>
            <a:off x="110109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0" name="Oval 309"/>
          <p:cNvSpPr/>
          <p:nvPr/>
        </p:nvSpPr>
        <p:spPr>
          <a:xfrm>
            <a:off x="112728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Freeform 310"/>
          <p:cNvSpPr/>
          <p:nvPr/>
        </p:nvSpPr>
        <p:spPr>
          <a:xfrm>
            <a:off x="11525250" y="3416749"/>
            <a:ext cx="28575" cy="237298"/>
          </a:xfrm>
          <a:custGeom>
            <a:avLst/>
            <a:gdLst/>
            <a:ahLst/>
            <a:cxnLst/>
            <a:rect l="l" t="t" r="r" b="b"/>
            <a:pathLst>
              <a:path w="3" h="26">
                <a:moveTo>
                  <a:pt x="0" y="26"/>
                </a:moveTo>
                <a:lnTo>
                  <a:pt x="0" y="0"/>
                </a:lnTo>
                <a:lnTo>
                  <a:pt x="1" y="0"/>
                </a:lnTo>
                <a:lnTo>
                  <a:pt x="3"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Oval 311"/>
          <p:cNvSpPr/>
          <p:nvPr/>
        </p:nvSpPr>
        <p:spPr>
          <a:xfrm>
            <a:off x="113818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11272838"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314" name="TextBox 313"/>
          <p:cNvSpPr txBox="1"/>
          <p:nvPr/>
        </p:nvSpPr>
        <p:spPr>
          <a:xfrm>
            <a:off x="110299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315" name="Oval 314"/>
          <p:cNvSpPr/>
          <p:nvPr/>
        </p:nvSpPr>
        <p:spPr>
          <a:xfrm>
            <a:off x="11115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11115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17" name="Oval 316"/>
          <p:cNvSpPr/>
          <p:nvPr/>
        </p:nvSpPr>
        <p:spPr>
          <a:xfrm>
            <a:off x="113252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TextBox 317"/>
          <p:cNvSpPr txBox="1"/>
          <p:nvPr/>
        </p:nvSpPr>
        <p:spPr>
          <a:xfrm>
            <a:off x="113252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19" name="Oval 318"/>
          <p:cNvSpPr/>
          <p:nvPr/>
        </p:nvSpPr>
        <p:spPr>
          <a:xfrm>
            <a:off x="115347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TextBox 319"/>
          <p:cNvSpPr txBox="1"/>
          <p:nvPr/>
        </p:nvSpPr>
        <p:spPr>
          <a:xfrm>
            <a:off x="115347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21" name="Oval 320"/>
          <p:cNvSpPr/>
          <p:nvPr/>
        </p:nvSpPr>
        <p:spPr>
          <a:xfrm>
            <a:off x="117443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TextBox 321"/>
          <p:cNvSpPr txBox="1"/>
          <p:nvPr/>
        </p:nvSpPr>
        <p:spPr>
          <a:xfrm>
            <a:off x="117443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23" name="Oval 322"/>
          <p:cNvSpPr/>
          <p:nvPr/>
        </p:nvSpPr>
        <p:spPr>
          <a:xfrm>
            <a:off x="112204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112204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25" name="Oval 324"/>
          <p:cNvSpPr/>
          <p:nvPr/>
        </p:nvSpPr>
        <p:spPr>
          <a:xfrm>
            <a:off x="114300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TextBox 325"/>
          <p:cNvSpPr txBox="1"/>
          <p:nvPr/>
        </p:nvSpPr>
        <p:spPr>
          <a:xfrm>
            <a:off x="114300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27" name="Oval 326"/>
          <p:cNvSpPr/>
          <p:nvPr/>
        </p:nvSpPr>
        <p:spPr>
          <a:xfrm>
            <a:off x="116395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TextBox 327"/>
          <p:cNvSpPr txBox="1"/>
          <p:nvPr/>
        </p:nvSpPr>
        <p:spPr>
          <a:xfrm>
            <a:off x="116395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29" name="TextBox 328"/>
          <p:cNvSpPr txBox="1"/>
          <p:nvPr/>
        </p:nvSpPr>
        <p:spPr>
          <a:xfrm>
            <a:off x="285750" y="5716715"/>
            <a:ext cx="1116806" cy="164283"/>
          </a:xfrm>
          <a:prstGeom prst="rect">
            <a:avLst/>
          </a:prstGeom>
          <a:noFill/>
        </p:spPr>
        <p:txBody>
          <a:bodyPr wrap="square" lIns="0" rIns="0" tIns="0" bIns="0" anchor="ctr">
            <a:spAutoFit/>
          </a:bodyPr>
          <a:lstStyle/>
          <a:p>
            <a:pPr algn="l"/>
            <a:r>
              <a:rPr sz="1100" b="1">
                <a:solidFill>
                  <a:srgbClr val="2E2E2E"/>
                </a:solidFill>
                <a:latin typeface="Calibri"/>
              </a:rPr>
              <a:t>Product Portfolio:</a:t>
            </a:r>
          </a:p>
        </p:txBody>
      </p:sp>
      <p:sp>
        <p:nvSpPr>
          <p:cNvPr id="330" name="Rectangle 329"/>
          <p:cNvSpPr/>
          <p:nvPr/>
        </p:nvSpPr>
        <p:spPr>
          <a:xfrm>
            <a:off x="1383506" y="5744096"/>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1535906" y="5716715"/>
            <a:ext cx="1302544" cy="164283"/>
          </a:xfrm>
          <a:prstGeom prst="rect">
            <a:avLst/>
          </a:prstGeom>
          <a:noFill/>
        </p:spPr>
        <p:txBody>
          <a:bodyPr wrap="square" lIns="0" rIns="0" tIns="0" bIns="0" anchor="ctr">
            <a:spAutoFit/>
          </a:bodyPr>
          <a:lstStyle/>
          <a:p>
            <a:pPr algn="l"/>
            <a:r>
              <a:rPr sz="1100" b="0">
                <a:solidFill>
                  <a:srgbClr val="2E2E2E"/>
                </a:solidFill>
                <a:latin typeface="Calibri"/>
              </a:rPr>
              <a:t>Scroll Air Compressor</a:t>
            </a:r>
          </a:p>
        </p:txBody>
      </p:sp>
      <p:sp>
        <p:nvSpPr>
          <p:cNvPr id="332" name="Rectangle 331"/>
          <p:cNvSpPr/>
          <p:nvPr/>
        </p:nvSpPr>
        <p:spPr>
          <a:xfrm>
            <a:off x="2895600" y="5744096"/>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3048000" y="5716715"/>
            <a:ext cx="1740694" cy="164283"/>
          </a:xfrm>
          <a:prstGeom prst="rect">
            <a:avLst/>
          </a:prstGeom>
          <a:noFill/>
        </p:spPr>
        <p:txBody>
          <a:bodyPr wrap="square" lIns="0" rIns="0" tIns="0" bIns="0" anchor="ctr">
            <a:spAutoFit/>
          </a:bodyPr>
          <a:lstStyle/>
          <a:p>
            <a:pPr algn="l"/>
            <a:r>
              <a:rPr sz="1100" b="0">
                <a:solidFill>
                  <a:srgbClr val="2E2E2E"/>
                </a:solidFill>
                <a:latin typeface="Calibri"/>
              </a:rPr>
              <a:t>Rotary Screw Air Compressor</a:t>
            </a:r>
          </a:p>
        </p:txBody>
      </p:sp>
      <p:sp>
        <p:nvSpPr>
          <p:cNvPr id="334" name="Rectangle 333"/>
          <p:cNvSpPr/>
          <p:nvPr/>
        </p:nvSpPr>
        <p:spPr>
          <a:xfrm>
            <a:off x="4845844" y="5744096"/>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TextBox 334"/>
          <p:cNvSpPr txBox="1"/>
          <p:nvPr/>
        </p:nvSpPr>
        <p:spPr>
          <a:xfrm>
            <a:off x="4998244" y="5716715"/>
            <a:ext cx="1619250" cy="164283"/>
          </a:xfrm>
          <a:prstGeom prst="rect">
            <a:avLst/>
          </a:prstGeom>
          <a:noFill/>
        </p:spPr>
        <p:txBody>
          <a:bodyPr wrap="square" lIns="0" rIns="0" tIns="0" bIns="0" anchor="ctr">
            <a:spAutoFit/>
          </a:bodyPr>
          <a:lstStyle/>
          <a:p>
            <a:pPr algn="l"/>
            <a:r>
              <a:rPr sz="1100" b="0">
                <a:solidFill>
                  <a:srgbClr val="2E2E2E"/>
                </a:solidFill>
                <a:latin typeface="Calibri"/>
              </a:rPr>
              <a:t>Centrifugal Air Compressor</a:t>
            </a:r>
          </a:p>
        </p:txBody>
      </p:sp>
      <p:sp>
        <p:nvSpPr>
          <p:cNvPr id="336" name="Rectangle 335"/>
          <p:cNvSpPr/>
          <p:nvPr/>
        </p:nvSpPr>
        <p:spPr>
          <a:xfrm>
            <a:off x="6674644" y="5744096"/>
            <a:ext cx="114300" cy="109522"/>
          </a:xfrm>
          <a:prstGeom prst="rect">
            <a:avLst/>
          </a:prstGeom>
          <a:solidFill>
            <a:srgbClr val="FFFFFF"/>
          </a:solidFill>
          <a:ln w="12700">
            <a:solidFill>
              <a:srgbClr val="6C7A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TextBox 336"/>
          <p:cNvSpPr txBox="1"/>
          <p:nvPr/>
        </p:nvSpPr>
        <p:spPr>
          <a:xfrm>
            <a:off x="6827044" y="5716715"/>
            <a:ext cx="740569" cy="164283"/>
          </a:xfrm>
          <a:prstGeom prst="rect">
            <a:avLst/>
          </a:prstGeom>
          <a:noFill/>
        </p:spPr>
        <p:txBody>
          <a:bodyPr wrap="square" lIns="0" rIns="0" tIns="0" bIns="0" anchor="ctr">
            <a:spAutoFit/>
          </a:bodyPr>
          <a:lstStyle/>
          <a:p>
            <a:pPr algn="l"/>
            <a:r>
              <a:rPr sz="1100" b="0">
                <a:solidFill>
                  <a:srgbClr val="2E2E2E"/>
                </a:solidFill>
                <a:latin typeface="Calibri"/>
              </a:rPr>
              <a:t>Not offered</a:t>
            </a:r>
          </a:p>
        </p:txBody>
      </p:sp>
      <p:sp>
        <p:nvSpPr>
          <p:cNvPr id="338" name="TextBox 337"/>
          <p:cNvSpPr txBox="1"/>
          <p:nvPr/>
        </p:nvSpPr>
        <p:spPr>
          <a:xfrm>
            <a:off x="285750" y="5890125"/>
            <a:ext cx="208915" cy="164283"/>
          </a:xfrm>
          <a:prstGeom prst="rect">
            <a:avLst/>
          </a:prstGeom>
          <a:noFill/>
        </p:spPr>
        <p:txBody>
          <a:bodyPr wrap="none" lIns="0" rIns="0" tIns="0" bIns="0" anchor="ctr">
            <a:spAutoFit/>
          </a:bodyPr>
          <a:lstStyle/>
          <a:p>
            <a:pPr algn="l"/>
            <a:r>
              <a:rPr sz="1100" b="1">
                <a:solidFill>
                  <a:srgbClr val="008189"/>
                </a:solidFill>
                <a:latin typeface="Calibri"/>
              </a:rPr>
              <a:t>✔</a:t>
            </a:r>
          </a:p>
        </p:txBody>
      </p:sp>
      <p:sp>
        <p:nvSpPr>
          <p:cNvPr id="339" name="TextBox 338"/>
          <p:cNvSpPr txBox="1"/>
          <p:nvPr/>
        </p:nvSpPr>
        <p:spPr>
          <a:xfrm>
            <a:off x="475615" y="5890125"/>
            <a:ext cx="457200" cy="164283"/>
          </a:xfrm>
          <a:prstGeom prst="rect">
            <a:avLst/>
          </a:prstGeom>
          <a:noFill/>
        </p:spPr>
        <p:txBody>
          <a:bodyPr wrap="square" lIns="0" rIns="0" tIns="0" bIns="0" anchor="ctr">
            <a:spAutoFit/>
          </a:bodyPr>
          <a:lstStyle/>
          <a:p>
            <a:pPr algn="l"/>
            <a:r>
              <a:rPr sz="1100" b="0">
                <a:solidFill>
                  <a:srgbClr val="2E2E2E"/>
                </a:solidFill>
                <a:latin typeface="Calibri"/>
              </a:rPr>
              <a:t>served</a:t>
            </a:r>
          </a:p>
        </p:txBody>
      </p:sp>
      <p:sp>
        <p:nvSpPr>
          <p:cNvPr id="340" name="TextBox 339"/>
          <p:cNvSpPr txBox="1"/>
          <p:nvPr/>
        </p:nvSpPr>
        <p:spPr>
          <a:xfrm>
            <a:off x="913765" y="5890125"/>
            <a:ext cx="208915" cy="164283"/>
          </a:xfrm>
          <a:prstGeom prst="rect">
            <a:avLst/>
          </a:prstGeom>
          <a:noFill/>
        </p:spPr>
        <p:txBody>
          <a:bodyPr wrap="none" lIns="0" rIns="0" tIns="0" bIns="0" anchor="ctr">
            <a:spAutoFit/>
          </a:bodyPr>
          <a:lstStyle/>
          <a:p>
            <a:pPr algn="l"/>
            <a:r>
              <a:rPr sz="1100" b="1">
                <a:solidFill>
                  <a:srgbClr val="E44D3A"/>
                </a:solidFill>
                <a:latin typeface="Calibri"/>
              </a:rPr>
              <a:t>✘</a:t>
            </a:r>
          </a:p>
        </p:txBody>
      </p:sp>
      <p:sp>
        <p:nvSpPr>
          <p:cNvPr id="341" name="TextBox 340"/>
          <p:cNvSpPr txBox="1"/>
          <p:nvPr/>
        </p:nvSpPr>
        <p:spPr>
          <a:xfrm>
            <a:off x="1103630" y="5890125"/>
            <a:ext cx="683419" cy="164283"/>
          </a:xfrm>
          <a:prstGeom prst="rect">
            <a:avLst/>
          </a:prstGeom>
          <a:noFill/>
        </p:spPr>
        <p:txBody>
          <a:bodyPr wrap="square" lIns="0" rIns="0" tIns="0" bIns="0" anchor="ctr">
            <a:spAutoFit/>
          </a:bodyPr>
          <a:lstStyle/>
          <a:p>
            <a:pPr algn="l"/>
            <a:r>
              <a:rPr sz="1100" b="0">
                <a:solidFill>
                  <a:srgbClr val="2E2E2E"/>
                </a:solidFill>
                <a:latin typeface="Calibri"/>
              </a:rPr>
              <a:t>not served</a:t>
            </a:r>
          </a:p>
        </p:txBody>
      </p:sp>
      <p:sp>
        <p:nvSpPr>
          <p:cNvPr id="342" name="TextBox 341"/>
          <p:cNvSpPr txBox="1"/>
          <p:nvPr/>
        </p:nvSpPr>
        <p:spPr>
          <a:xfrm>
            <a:off x="1939449" y="5890125"/>
            <a:ext cx="1183481" cy="164283"/>
          </a:xfrm>
          <a:prstGeom prst="rect">
            <a:avLst/>
          </a:prstGeom>
          <a:noFill/>
        </p:spPr>
        <p:txBody>
          <a:bodyPr wrap="square" lIns="0" rIns="0" tIns="0" bIns="0" anchor="ctr">
            <a:spAutoFit/>
          </a:bodyPr>
          <a:lstStyle/>
          <a:p>
            <a:pPr algn="l"/>
            <a:r>
              <a:rPr sz="1100" b="1">
                <a:solidFill>
                  <a:srgbClr val="2E2E2E"/>
                </a:solidFill>
                <a:latin typeface="Calibri"/>
              </a:rPr>
              <a:t>Regional presence:</a:t>
            </a:r>
          </a:p>
        </p:txBody>
      </p:sp>
      <p:sp>
        <p:nvSpPr>
          <p:cNvPr id="343" name="TextBox 342"/>
          <p:cNvSpPr txBox="1"/>
          <p:nvPr/>
        </p:nvSpPr>
        <p:spPr>
          <a:xfrm>
            <a:off x="3103880" y="5890125"/>
            <a:ext cx="208915" cy="164283"/>
          </a:xfrm>
          <a:prstGeom prst="rect">
            <a:avLst/>
          </a:prstGeom>
          <a:noFill/>
        </p:spPr>
        <p:txBody>
          <a:bodyPr wrap="none" lIns="0" rIns="0" tIns="0" bIns="0" anchor="ctr">
            <a:spAutoFit/>
          </a:bodyPr>
          <a:lstStyle/>
          <a:p>
            <a:pPr algn="l"/>
            <a:r>
              <a:rPr sz="1100" b="1">
                <a:solidFill>
                  <a:srgbClr val="0E72AE"/>
                </a:solidFill>
                <a:latin typeface="Calibri"/>
              </a:rPr>
              <a:t>▲</a:t>
            </a:r>
          </a:p>
        </p:txBody>
      </p:sp>
      <p:sp>
        <p:nvSpPr>
          <p:cNvPr id="344" name="TextBox 343"/>
          <p:cNvSpPr txBox="1"/>
          <p:nvPr/>
        </p:nvSpPr>
        <p:spPr>
          <a:xfrm>
            <a:off x="3293745" y="5890125"/>
            <a:ext cx="338138" cy="164283"/>
          </a:xfrm>
          <a:prstGeom prst="rect">
            <a:avLst/>
          </a:prstGeom>
          <a:noFill/>
        </p:spPr>
        <p:txBody>
          <a:bodyPr wrap="none" lIns="0" rIns="0" tIns="0" bIns="0" anchor="ctr">
            <a:spAutoFit/>
          </a:bodyPr>
          <a:lstStyle/>
          <a:p>
            <a:pPr algn="l"/>
            <a:r>
              <a:rPr sz="1100" b="0">
                <a:solidFill>
                  <a:srgbClr val="2E2E2E"/>
                </a:solidFill>
                <a:latin typeface="Calibri"/>
              </a:rPr>
              <a:t>High</a:t>
            </a:r>
          </a:p>
        </p:txBody>
      </p:sp>
      <p:sp>
        <p:nvSpPr>
          <p:cNvPr id="345" name="TextBox 344"/>
          <p:cNvSpPr txBox="1"/>
          <p:nvPr/>
        </p:nvSpPr>
        <p:spPr>
          <a:xfrm>
            <a:off x="3612832" y="5890125"/>
            <a:ext cx="208915" cy="164283"/>
          </a:xfrm>
          <a:prstGeom prst="rect">
            <a:avLst/>
          </a:prstGeom>
          <a:noFill/>
        </p:spPr>
        <p:txBody>
          <a:bodyPr wrap="none" lIns="0" rIns="0" tIns="0" bIns="0" anchor="ctr">
            <a:spAutoFit/>
          </a:bodyPr>
          <a:lstStyle/>
          <a:p>
            <a:pPr algn="l"/>
            <a:r>
              <a:rPr sz="1100" b="1">
                <a:solidFill>
                  <a:srgbClr val="A86F00"/>
                </a:solidFill>
                <a:latin typeface="Calibri"/>
              </a:rPr>
              <a:t>▲</a:t>
            </a:r>
          </a:p>
        </p:txBody>
      </p:sp>
      <p:sp>
        <p:nvSpPr>
          <p:cNvPr id="346" name="TextBox 345"/>
          <p:cNvSpPr txBox="1"/>
          <p:nvPr/>
        </p:nvSpPr>
        <p:spPr>
          <a:xfrm>
            <a:off x="3802698" y="5890125"/>
            <a:ext cx="576262" cy="164283"/>
          </a:xfrm>
          <a:prstGeom prst="rect">
            <a:avLst/>
          </a:prstGeom>
          <a:noFill/>
        </p:spPr>
        <p:txBody>
          <a:bodyPr wrap="square" lIns="0" rIns="0" tIns="0" bIns="0" anchor="ctr">
            <a:spAutoFit/>
          </a:bodyPr>
          <a:lstStyle/>
          <a:p>
            <a:pPr algn="l"/>
            <a:r>
              <a:rPr sz="1100" b="0">
                <a:solidFill>
                  <a:srgbClr val="2E2E2E"/>
                </a:solidFill>
                <a:latin typeface="Calibri"/>
              </a:rPr>
              <a:t>Medium</a:t>
            </a:r>
          </a:p>
        </p:txBody>
      </p:sp>
      <p:sp>
        <p:nvSpPr>
          <p:cNvPr id="347" name="TextBox 346"/>
          <p:cNvSpPr txBox="1"/>
          <p:nvPr/>
        </p:nvSpPr>
        <p:spPr>
          <a:xfrm>
            <a:off x="4340860" y="5890125"/>
            <a:ext cx="208915" cy="164283"/>
          </a:xfrm>
          <a:prstGeom prst="rect">
            <a:avLst/>
          </a:prstGeom>
          <a:noFill/>
        </p:spPr>
        <p:txBody>
          <a:bodyPr wrap="none" lIns="0" rIns="0" tIns="0" bIns="0" anchor="ctr">
            <a:spAutoFit/>
          </a:bodyPr>
          <a:lstStyle/>
          <a:p>
            <a:pPr algn="l"/>
            <a:r>
              <a:rPr sz="1100" b="1">
                <a:solidFill>
                  <a:srgbClr val="9AA3A8"/>
                </a:solidFill>
                <a:latin typeface="Calibri"/>
              </a:rPr>
              <a:t>▲</a:t>
            </a:r>
          </a:p>
        </p:txBody>
      </p:sp>
      <p:sp>
        <p:nvSpPr>
          <p:cNvPr id="348" name="TextBox 347"/>
          <p:cNvSpPr txBox="1"/>
          <p:nvPr/>
        </p:nvSpPr>
        <p:spPr>
          <a:xfrm>
            <a:off x="4530725" y="5890125"/>
            <a:ext cx="309562" cy="164283"/>
          </a:xfrm>
          <a:prstGeom prst="rect">
            <a:avLst/>
          </a:prstGeom>
          <a:noFill/>
        </p:spPr>
        <p:txBody>
          <a:bodyPr wrap="none" lIns="0" rIns="0" tIns="0" bIns="0" anchor="ctr">
            <a:spAutoFit/>
          </a:bodyPr>
          <a:lstStyle/>
          <a:p>
            <a:pPr algn="l"/>
            <a:r>
              <a:rPr sz="1100" b="0">
                <a:solidFill>
                  <a:srgbClr val="2E2E2E"/>
                </a:solidFill>
                <a:latin typeface="Calibri"/>
              </a:rPr>
              <a:t>Low</a:t>
            </a:r>
          </a:p>
        </p:txBody>
      </p:sp>
      <p:sp>
        <p:nvSpPr>
          <p:cNvPr id="349" name="Oval 348"/>
          <p:cNvSpPr/>
          <p:nvPr/>
        </p:nvSpPr>
        <p:spPr>
          <a:xfrm>
            <a:off x="285750"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TextBox 349"/>
          <p:cNvSpPr txBox="1"/>
          <p:nvPr/>
        </p:nvSpPr>
        <p:spPr>
          <a:xfrm>
            <a:off x="285750"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51" name="TextBox 350"/>
          <p:cNvSpPr txBox="1"/>
          <p:nvPr/>
        </p:nvSpPr>
        <p:spPr>
          <a:xfrm>
            <a:off x="495300" y="6072662"/>
            <a:ext cx="657225" cy="182537"/>
          </a:xfrm>
          <a:prstGeom prst="rect">
            <a:avLst/>
          </a:prstGeom>
          <a:noFill/>
        </p:spPr>
        <p:txBody>
          <a:bodyPr wrap="square" lIns="0" rIns="0" tIns="0" bIns="0" anchor="ctr">
            <a:spAutoFit/>
          </a:bodyPr>
          <a:lstStyle/>
          <a:p>
            <a:pPr algn="l"/>
            <a:r>
              <a:rPr sz="1100" b="0">
                <a:solidFill>
                  <a:srgbClr val="2E2E2E"/>
                </a:solidFill>
                <a:latin typeface="Calibri"/>
              </a:rPr>
              <a:t>Expansion</a:t>
            </a:r>
          </a:p>
        </p:txBody>
      </p:sp>
      <p:sp>
        <p:nvSpPr>
          <p:cNvPr id="352" name="Oval 351"/>
          <p:cNvSpPr/>
          <p:nvPr/>
        </p:nvSpPr>
        <p:spPr>
          <a:xfrm>
            <a:off x="124777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TextBox 352"/>
          <p:cNvSpPr txBox="1"/>
          <p:nvPr/>
        </p:nvSpPr>
        <p:spPr>
          <a:xfrm>
            <a:off x="124777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54" name="TextBox 353"/>
          <p:cNvSpPr txBox="1"/>
          <p:nvPr/>
        </p:nvSpPr>
        <p:spPr>
          <a:xfrm>
            <a:off x="1457325" y="6072662"/>
            <a:ext cx="1012031" cy="182537"/>
          </a:xfrm>
          <a:prstGeom prst="rect">
            <a:avLst/>
          </a:prstGeom>
          <a:noFill/>
        </p:spPr>
        <p:txBody>
          <a:bodyPr wrap="square" lIns="0" rIns="0" tIns="0" bIns="0" anchor="ctr">
            <a:spAutoFit/>
          </a:bodyPr>
          <a:lstStyle/>
          <a:p>
            <a:pPr algn="l"/>
            <a:r>
              <a:rPr sz="1100" b="0">
                <a:solidFill>
                  <a:srgbClr val="2E2E2E"/>
                </a:solidFill>
                <a:latin typeface="Calibri"/>
              </a:rPr>
              <a:t>R&amp;D Investment</a:t>
            </a:r>
          </a:p>
        </p:txBody>
      </p:sp>
      <p:sp>
        <p:nvSpPr>
          <p:cNvPr id="355" name="Oval 354"/>
          <p:cNvSpPr/>
          <p:nvPr/>
        </p:nvSpPr>
        <p:spPr>
          <a:xfrm>
            <a:off x="25646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TextBox 355"/>
          <p:cNvSpPr txBox="1"/>
          <p:nvPr/>
        </p:nvSpPr>
        <p:spPr>
          <a:xfrm>
            <a:off x="25646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57" name="TextBox 356"/>
          <p:cNvSpPr txBox="1"/>
          <p:nvPr/>
        </p:nvSpPr>
        <p:spPr>
          <a:xfrm>
            <a:off x="2774156" y="6072662"/>
            <a:ext cx="800100" cy="182537"/>
          </a:xfrm>
          <a:prstGeom prst="rect">
            <a:avLst/>
          </a:prstGeom>
          <a:noFill/>
        </p:spPr>
        <p:txBody>
          <a:bodyPr wrap="square" lIns="0" rIns="0" tIns="0" bIns="0" anchor="ctr">
            <a:spAutoFit/>
          </a:bodyPr>
          <a:lstStyle/>
          <a:p>
            <a:pPr algn="l"/>
            <a:r>
              <a:rPr sz="1100" b="0">
                <a:solidFill>
                  <a:srgbClr val="2E2E2E"/>
                </a:solidFill>
                <a:latin typeface="Calibri"/>
              </a:rPr>
              <a:t>Financial Aid</a:t>
            </a:r>
          </a:p>
        </p:txBody>
      </p:sp>
      <p:sp>
        <p:nvSpPr>
          <p:cNvPr id="358" name="Oval 357"/>
          <p:cNvSpPr/>
          <p:nvPr/>
        </p:nvSpPr>
        <p:spPr>
          <a:xfrm>
            <a:off x="36695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TextBox 358"/>
          <p:cNvSpPr txBox="1"/>
          <p:nvPr/>
        </p:nvSpPr>
        <p:spPr>
          <a:xfrm>
            <a:off x="36695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60" name="TextBox 359"/>
          <p:cNvSpPr txBox="1"/>
          <p:nvPr/>
        </p:nvSpPr>
        <p:spPr>
          <a:xfrm>
            <a:off x="3879056" y="6072662"/>
            <a:ext cx="1328738" cy="182537"/>
          </a:xfrm>
          <a:prstGeom prst="rect">
            <a:avLst/>
          </a:prstGeom>
          <a:noFill/>
        </p:spPr>
        <p:txBody>
          <a:bodyPr wrap="square" lIns="0" rIns="0" tIns="0" bIns="0" anchor="ctr">
            <a:spAutoFit/>
          </a:bodyPr>
          <a:lstStyle/>
          <a:p>
            <a:pPr algn="l"/>
            <a:r>
              <a:rPr sz="1100" b="0">
                <a:solidFill>
                  <a:srgbClr val="2E2E2E"/>
                </a:solidFill>
                <a:latin typeface="Calibri"/>
              </a:rPr>
              <a:t>Product Development</a:t>
            </a:r>
          </a:p>
        </p:txBody>
      </p:sp>
      <p:sp>
        <p:nvSpPr>
          <p:cNvPr id="361" name="Oval 360"/>
          <p:cNvSpPr/>
          <p:nvPr/>
        </p:nvSpPr>
        <p:spPr>
          <a:xfrm>
            <a:off x="5303044"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5303044"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63" name="TextBox 362"/>
          <p:cNvSpPr txBox="1"/>
          <p:nvPr/>
        </p:nvSpPr>
        <p:spPr>
          <a:xfrm>
            <a:off x="5512594" y="6072662"/>
            <a:ext cx="714375" cy="182537"/>
          </a:xfrm>
          <a:prstGeom prst="rect">
            <a:avLst/>
          </a:prstGeom>
          <a:noFill/>
        </p:spPr>
        <p:txBody>
          <a:bodyPr wrap="square" lIns="0" rIns="0" tIns="0" bIns="0" anchor="ctr">
            <a:spAutoFit/>
          </a:bodyPr>
          <a:lstStyle/>
          <a:p>
            <a:pPr algn="l"/>
            <a:r>
              <a:rPr sz="1100" b="0">
                <a:solidFill>
                  <a:srgbClr val="2E2E2E"/>
                </a:solidFill>
                <a:latin typeface="Calibri"/>
              </a:rPr>
              <a:t>Acquisition</a:t>
            </a:r>
          </a:p>
        </p:txBody>
      </p:sp>
      <p:sp>
        <p:nvSpPr>
          <p:cNvPr id="364" name="Oval 363"/>
          <p:cNvSpPr/>
          <p:nvPr/>
        </p:nvSpPr>
        <p:spPr>
          <a:xfrm>
            <a:off x="6322219"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TextBox 364"/>
          <p:cNvSpPr txBox="1"/>
          <p:nvPr/>
        </p:nvSpPr>
        <p:spPr>
          <a:xfrm>
            <a:off x="6322219"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66" name="TextBox 365"/>
          <p:cNvSpPr txBox="1"/>
          <p:nvPr/>
        </p:nvSpPr>
        <p:spPr>
          <a:xfrm>
            <a:off x="6531769" y="6072662"/>
            <a:ext cx="964406" cy="182537"/>
          </a:xfrm>
          <a:prstGeom prst="rect">
            <a:avLst/>
          </a:prstGeom>
          <a:noFill/>
        </p:spPr>
        <p:txBody>
          <a:bodyPr wrap="square" lIns="0" rIns="0" tIns="0" bIns="0" anchor="ctr">
            <a:spAutoFit/>
          </a:bodyPr>
          <a:lstStyle/>
          <a:p>
            <a:pPr algn="l"/>
            <a:r>
              <a:rPr sz="1100" b="0">
                <a:solidFill>
                  <a:srgbClr val="2E2E2E"/>
                </a:solidFill>
                <a:latin typeface="Calibri"/>
              </a:rPr>
              <a:t>Product Launch</a:t>
            </a:r>
          </a:p>
        </p:txBody>
      </p:sp>
      <p:sp>
        <p:nvSpPr>
          <p:cNvPr id="367" name="Oval 366"/>
          <p:cNvSpPr/>
          <p:nvPr/>
        </p:nvSpPr>
        <p:spPr>
          <a:xfrm>
            <a:off x="759142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TextBox 367"/>
          <p:cNvSpPr txBox="1"/>
          <p:nvPr/>
        </p:nvSpPr>
        <p:spPr>
          <a:xfrm>
            <a:off x="759142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69" name="TextBox 368"/>
          <p:cNvSpPr txBox="1"/>
          <p:nvPr/>
        </p:nvSpPr>
        <p:spPr>
          <a:xfrm>
            <a:off x="7800975" y="6072662"/>
            <a:ext cx="781050" cy="182537"/>
          </a:xfrm>
          <a:prstGeom prst="rect">
            <a:avLst/>
          </a:prstGeom>
          <a:noFill/>
        </p:spPr>
        <p:txBody>
          <a:bodyPr wrap="square" lIns="0" rIns="0" tIns="0" bIns="0" anchor="ctr">
            <a:spAutoFit/>
          </a:bodyPr>
          <a:lstStyle/>
          <a:p>
            <a:pPr algn="l"/>
            <a:r>
              <a:rPr sz="1100" b="0">
                <a:solidFill>
                  <a:srgbClr val="2E2E2E"/>
                </a:solidFill>
                <a:latin typeface="Calibri"/>
              </a:rPr>
              <a:t>Certification</a:t>
            </a:r>
          </a:p>
        </p:txBody>
      </p:sp>
      <p:sp>
        <p:nvSpPr>
          <p:cNvPr id="370" name="TextBox 369"/>
          <p:cNvSpPr txBox="1"/>
          <p:nvPr/>
        </p:nvSpPr>
        <p:spPr>
          <a:xfrm>
            <a:off x="285750" y="6273453"/>
            <a:ext cx="11620500" cy="155156"/>
          </a:xfrm>
          <a:prstGeom prst="rect">
            <a:avLst/>
          </a:prstGeom>
          <a:noFill/>
        </p:spPr>
        <p:txBody>
          <a:bodyPr wrap="square" lIns="0" rIns="0" tIns="0" bIns="0">
            <a:spAutoFit/>
          </a:bodyPr>
          <a:lstStyle/>
          <a:p>
            <a:pPr algn="l"/>
            <a:r>
              <a:rPr sz="1100" b="1">
                <a:solidFill>
                  <a:srgbClr val="A35313"/>
                </a:solidFill>
                <a:latin typeface="Calibri"/>
              </a:rPr>
              <a:t>Note: Market Share indicates the contribution of target revenue in Market</a:t>
            </a:r>
          </a:p>
        </p:txBody>
      </p:sp>
      <p:sp>
        <p:nvSpPr>
          <p:cNvPr id="371" name="TextBox 370"/>
          <p:cNvSpPr txBox="1"/>
          <p:nvPr/>
        </p:nvSpPr>
        <p:spPr>
          <a:xfrm>
            <a:off x="285750" y="6428609"/>
            <a:ext cx="11620500" cy="155156"/>
          </a:xfrm>
          <a:prstGeom prst="rect">
            <a:avLst/>
          </a:prstGeom>
          <a:noFill/>
        </p:spPr>
        <p:txBody>
          <a:bodyPr wrap="square" lIns="0" rIns="0" tIns="0" bIns="0">
            <a:spAutoFit/>
          </a:bodyPr>
          <a:lstStyle/>
          <a:p>
            <a:pPr algn="l"/>
            <a:r>
              <a:rPr sz="1100" b="1">
                <a:solidFill>
                  <a:srgbClr val="A35313"/>
                </a:solidFill>
                <a:latin typeface="Calibri"/>
              </a:rPr>
              <a:t>Revenue represents sales of the company from target market</a:t>
            </a:r>
          </a:p>
        </p:txBody>
      </p:sp>
      <p:sp>
        <p:nvSpPr>
          <p:cNvPr id="372" name="Rectangle 37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TextBox 37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74" name="Picture 373" descr="lock.png"/>
          <p:cNvPicPr>
            <a:picLocks noChangeAspect="1"/>
          </p:cNvPicPr>
          <p:nvPr/>
        </p:nvPicPr>
        <p:blipFill>
          <a:blip r:embed="rId4"/>
          <a:stretch>
            <a:fillRect/>
          </a:stretch>
        </p:blipFill>
        <p:spPr>
          <a:xfrm>
            <a:off x="1769213" y="2702524"/>
            <a:ext cx="128699" cy="187198"/>
          </a:xfrm>
          <a:prstGeom prst="rect">
            <a:avLst/>
          </a:prstGeom>
        </p:spPr>
      </p:pic>
      <p:pic>
        <p:nvPicPr>
          <p:cNvPr id="375" name="Picture 374" descr="lock.png"/>
          <p:cNvPicPr>
            <a:picLocks noChangeAspect="1"/>
          </p:cNvPicPr>
          <p:nvPr/>
        </p:nvPicPr>
        <p:blipFill>
          <a:blip r:embed="rId4"/>
          <a:stretch>
            <a:fillRect/>
          </a:stretch>
        </p:blipFill>
        <p:spPr>
          <a:xfrm>
            <a:off x="1769213" y="3031091"/>
            <a:ext cx="128699" cy="187198"/>
          </a:xfrm>
          <a:prstGeom prst="rect">
            <a:avLst/>
          </a:prstGeom>
        </p:spPr>
      </p:pic>
      <p:pic>
        <p:nvPicPr>
          <p:cNvPr id="376" name="Picture 375" descr="lock.png"/>
          <p:cNvPicPr>
            <a:picLocks noChangeAspect="1"/>
          </p:cNvPicPr>
          <p:nvPr/>
        </p:nvPicPr>
        <p:blipFill>
          <a:blip r:embed="rId4"/>
          <a:stretch>
            <a:fillRect/>
          </a:stretch>
        </p:blipFill>
        <p:spPr>
          <a:xfrm>
            <a:off x="1769212" y="3560448"/>
            <a:ext cx="128699" cy="187198"/>
          </a:xfrm>
          <a:prstGeom prst="rect">
            <a:avLst/>
          </a:prstGeom>
        </p:spPr>
      </p:pic>
      <p:pic>
        <p:nvPicPr>
          <p:cNvPr id="377" name="Picture 376" descr="lock.png"/>
          <p:cNvPicPr>
            <a:picLocks noChangeAspect="1"/>
          </p:cNvPicPr>
          <p:nvPr/>
        </p:nvPicPr>
        <p:blipFill>
          <a:blip r:embed="rId4"/>
          <a:stretch>
            <a:fillRect/>
          </a:stretch>
        </p:blipFill>
        <p:spPr>
          <a:xfrm>
            <a:off x="2845538" y="2702524"/>
            <a:ext cx="128699" cy="187198"/>
          </a:xfrm>
          <a:prstGeom prst="rect">
            <a:avLst/>
          </a:prstGeom>
        </p:spPr>
      </p:pic>
      <p:pic>
        <p:nvPicPr>
          <p:cNvPr id="378" name="Picture 377" descr="lock.png"/>
          <p:cNvPicPr>
            <a:picLocks noChangeAspect="1"/>
          </p:cNvPicPr>
          <p:nvPr/>
        </p:nvPicPr>
        <p:blipFill>
          <a:blip r:embed="rId4"/>
          <a:stretch>
            <a:fillRect/>
          </a:stretch>
        </p:blipFill>
        <p:spPr>
          <a:xfrm>
            <a:off x="2845538" y="3031091"/>
            <a:ext cx="128699" cy="187198"/>
          </a:xfrm>
          <a:prstGeom prst="rect">
            <a:avLst/>
          </a:prstGeom>
        </p:spPr>
      </p:pic>
      <p:pic>
        <p:nvPicPr>
          <p:cNvPr id="379" name="Picture 378" descr="lock.png"/>
          <p:cNvPicPr>
            <a:picLocks noChangeAspect="1"/>
          </p:cNvPicPr>
          <p:nvPr/>
        </p:nvPicPr>
        <p:blipFill>
          <a:blip r:embed="rId4"/>
          <a:stretch>
            <a:fillRect/>
          </a:stretch>
        </p:blipFill>
        <p:spPr>
          <a:xfrm>
            <a:off x="2845538" y="3560448"/>
            <a:ext cx="128699" cy="187198"/>
          </a:xfrm>
          <a:prstGeom prst="rect">
            <a:avLst/>
          </a:prstGeom>
        </p:spPr>
      </p:pic>
      <p:pic>
        <p:nvPicPr>
          <p:cNvPr id="380" name="Picture 379" descr="lock.png"/>
          <p:cNvPicPr>
            <a:picLocks noChangeAspect="1"/>
          </p:cNvPicPr>
          <p:nvPr/>
        </p:nvPicPr>
        <p:blipFill>
          <a:blip r:embed="rId4"/>
          <a:stretch>
            <a:fillRect/>
          </a:stretch>
        </p:blipFill>
        <p:spPr>
          <a:xfrm>
            <a:off x="3921863" y="2702524"/>
            <a:ext cx="128699" cy="187198"/>
          </a:xfrm>
          <a:prstGeom prst="rect">
            <a:avLst/>
          </a:prstGeom>
        </p:spPr>
      </p:pic>
      <p:pic>
        <p:nvPicPr>
          <p:cNvPr id="381" name="Picture 380" descr="lock.png"/>
          <p:cNvPicPr>
            <a:picLocks noChangeAspect="1"/>
          </p:cNvPicPr>
          <p:nvPr/>
        </p:nvPicPr>
        <p:blipFill>
          <a:blip r:embed="rId4"/>
          <a:stretch>
            <a:fillRect/>
          </a:stretch>
        </p:blipFill>
        <p:spPr>
          <a:xfrm>
            <a:off x="3921863" y="3031091"/>
            <a:ext cx="128699" cy="187198"/>
          </a:xfrm>
          <a:prstGeom prst="rect">
            <a:avLst/>
          </a:prstGeom>
        </p:spPr>
      </p:pic>
      <p:pic>
        <p:nvPicPr>
          <p:cNvPr id="382" name="Picture 381" descr="lock.png"/>
          <p:cNvPicPr>
            <a:picLocks noChangeAspect="1"/>
          </p:cNvPicPr>
          <p:nvPr/>
        </p:nvPicPr>
        <p:blipFill>
          <a:blip r:embed="rId4"/>
          <a:stretch>
            <a:fillRect/>
          </a:stretch>
        </p:blipFill>
        <p:spPr>
          <a:xfrm>
            <a:off x="3921862" y="3560448"/>
            <a:ext cx="128699" cy="187198"/>
          </a:xfrm>
          <a:prstGeom prst="rect">
            <a:avLst/>
          </a:prstGeom>
        </p:spPr>
      </p:pic>
      <p:pic>
        <p:nvPicPr>
          <p:cNvPr id="383" name="Picture 382" descr="lock.png"/>
          <p:cNvPicPr>
            <a:picLocks noChangeAspect="1"/>
          </p:cNvPicPr>
          <p:nvPr/>
        </p:nvPicPr>
        <p:blipFill>
          <a:blip r:embed="rId4"/>
          <a:stretch>
            <a:fillRect/>
          </a:stretch>
        </p:blipFill>
        <p:spPr>
          <a:xfrm>
            <a:off x="4998188" y="2702524"/>
            <a:ext cx="128699" cy="187198"/>
          </a:xfrm>
          <a:prstGeom prst="rect">
            <a:avLst/>
          </a:prstGeom>
        </p:spPr>
      </p:pic>
      <p:pic>
        <p:nvPicPr>
          <p:cNvPr id="384" name="Picture 383" descr="lock.png"/>
          <p:cNvPicPr>
            <a:picLocks noChangeAspect="1"/>
          </p:cNvPicPr>
          <p:nvPr/>
        </p:nvPicPr>
        <p:blipFill>
          <a:blip r:embed="rId4"/>
          <a:stretch>
            <a:fillRect/>
          </a:stretch>
        </p:blipFill>
        <p:spPr>
          <a:xfrm>
            <a:off x="4998188" y="3031091"/>
            <a:ext cx="128699" cy="187198"/>
          </a:xfrm>
          <a:prstGeom prst="rect">
            <a:avLst/>
          </a:prstGeom>
        </p:spPr>
      </p:pic>
      <p:pic>
        <p:nvPicPr>
          <p:cNvPr id="385" name="Picture 384" descr="lock.png"/>
          <p:cNvPicPr>
            <a:picLocks noChangeAspect="1"/>
          </p:cNvPicPr>
          <p:nvPr/>
        </p:nvPicPr>
        <p:blipFill>
          <a:blip r:embed="rId4"/>
          <a:stretch>
            <a:fillRect/>
          </a:stretch>
        </p:blipFill>
        <p:spPr>
          <a:xfrm>
            <a:off x="4998188" y="3560448"/>
            <a:ext cx="128699" cy="187198"/>
          </a:xfrm>
          <a:prstGeom prst="rect">
            <a:avLst/>
          </a:prstGeom>
        </p:spPr>
      </p:pic>
      <p:pic>
        <p:nvPicPr>
          <p:cNvPr id="386" name="Picture 385" descr="lock.png"/>
          <p:cNvPicPr>
            <a:picLocks noChangeAspect="1"/>
          </p:cNvPicPr>
          <p:nvPr/>
        </p:nvPicPr>
        <p:blipFill>
          <a:blip r:embed="rId4"/>
          <a:stretch>
            <a:fillRect/>
          </a:stretch>
        </p:blipFill>
        <p:spPr>
          <a:xfrm>
            <a:off x="6074513" y="2702524"/>
            <a:ext cx="128699" cy="187198"/>
          </a:xfrm>
          <a:prstGeom prst="rect">
            <a:avLst/>
          </a:prstGeom>
        </p:spPr>
      </p:pic>
      <p:pic>
        <p:nvPicPr>
          <p:cNvPr id="387" name="Picture 386" descr="lock.png"/>
          <p:cNvPicPr>
            <a:picLocks noChangeAspect="1"/>
          </p:cNvPicPr>
          <p:nvPr/>
        </p:nvPicPr>
        <p:blipFill>
          <a:blip r:embed="rId4"/>
          <a:stretch>
            <a:fillRect/>
          </a:stretch>
        </p:blipFill>
        <p:spPr>
          <a:xfrm>
            <a:off x="6074513" y="3031091"/>
            <a:ext cx="128699" cy="187198"/>
          </a:xfrm>
          <a:prstGeom prst="rect">
            <a:avLst/>
          </a:prstGeom>
        </p:spPr>
      </p:pic>
      <p:pic>
        <p:nvPicPr>
          <p:cNvPr id="388" name="Picture 387" descr="lock.png"/>
          <p:cNvPicPr>
            <a:picLocks noChangeAspect="1"/>
          </p:cNvPicPr>
          <p:nvPr/>
        </p:nvPicPr>
        <p:blipFill>
          <a:blip r:embed="rId4"/>
          <a:stretch>
            <a:fillRect/>
          </a:stretch>
        </p:blipFill>
        <p:spPr>
          <a:xfrm>
            <a:off x="6074512" y="3560448"/>
            <a:ext cx="128699" cy="187198"/>
          </a:xfrm>
          <a:prstGeom prst="rect">
            <a:avLst/>
          </a:prstGeom>
        </p:spPr>
      </p:pic>
      <p:pic>
        <p:nvPicPr>
          <p:cNvPr id="389" name="Picture 388" descr="lock.png"/>
          <p:cNvPicPr>
            <a:picLocks noChangeAspect="1"/>
          </p:cNvPicPr>
          <p:nvPr/>
        </p:nvPicPr>
        <p:blipFill>
          <a:blip r:embed="rId4"/>
          <a:stretch>
            <a:fillRect/>
          </a:stretch>
        </p:blipFill>
        <p:spPr>
          <a:xfrm>
            <a:off x="7150838" y="2702524"/>
            <a:ext cx="128699" cy="187198"/>
          </a:xfrm>
          <a:prstGeom prst="rect">
            <a:avLst/>
          </a:prstGeom>
        </p:spPr>
      </p:pic>
      <p:pic>
        <p:nvPicPr>
          <p:cNvPr id="390" name="Picture 389" descr="lock.png"/>
          <p:cNvPicPr>
            <a:picLocks noChangeAspect="1"/>
          </p:cNvPicPr>
          <p:nvPr/>
        </p:nvPicPr>
        <p:blipFill>
          <a:blip r:embed="rId4"/>
          <a:stretch>
            <a:fillRect/>
          </a:stretch>
        </p:blipFill>
        <p:spPr>
          <a:xfrm>
            <a:off x="7150838" y="3031091"/>
            <a:ext cx="128699" cy="187198"/>
          </a:xfrm>
          <a:prstGeom prst="rect">
            <a:avLst/>
          </a:prstGeom>
        </p:spPr>
      </p:pic>
      <p:pic>
        <p:nvPicPr>
          <p:cNvPr id="391" name="Picture 390" descr="lock.png"/>
          <p:cNvPicPr>
            <a:picLocks noChangeAspect="1"/>
          </p:cNvPicPr>
          <p:nvPr/>
        </p:nvPicPr>
        <p:blipFill>
          <a:blip r:embed="rId4"/>
          <a:stretch>
            <a:fillRect/>
          </a:stretch>
        </p:blipFill>
        <p:spPr>
          <a:xfrm>
            <a:off x="7150838" y="3560448"/>
            <a:ext cx="128699" cy="187198"/>
          </a:xfrm>
          <a:prstGeom prst="rect">
            <a:avLst/>
          </a:prstGeom>
        </p:spPr>
      </p:pic>
      <p:pic>
        <p:nvPicPr>
          <p:cNvPr id="392" name="Picture 391" descr="lock.png"/>
          <p:cNvPicPr>
            <a:picLocks noChangeAspect="1"/>
          </p:cNvPicPr>
          <p:nvPr/>
        </p:nvPicPr>
        <p:blipFill>
          <a:blip r:embed="rId4"/>
          <a:stretch>
            <a:fillRect/>
          </a:stretch>
        </p:blipFill>
        <p:spPr>
          <a:xfrm>
            <a:off x="8227163" y="2702524"/>
            <a:ext cx="128699" cy="187198"/>
          </a:xfrm>
          <a:prstGeom prst="rect">
            <a:avLst/>
          </a:prstGeom>
        </p:spPr>
      </p:pic>
      <p:pic>
        <p:nvPicPr>
          <p:cNvPr id="393" name="Picture 392" descr="lock.png"/>
          <p:cNvPicPr>
            <a:picLocks noChangeAspect="1"/>
          </p:cNvPicPr>
          <p:nvPr/>
        </p:nvPicPr>
        <p:blipFill>
          <a:blip r:embed="rId4"/>
          <a:stretch>
            <a:fillRect/>
          </a:stretch>
        </p:blipFill>
        <p:spPr>
          <a:xfrm>
            <a:off x="8227163" y="3031091"/>
            <a:ext cx="128699" cy="187198"/>
          </a:xfrm>
          <a:prstGeom prst="rect">
            <a:avLst/>
          </a:prstGeom>
        </p:spPr>
      </p:pic>
      <p:pic>
        <p:nvPicPr>
          <p:cNvPr id="394" name="Picture 393" descr="lock.png"/>
          <p:cNvPicPr>
            <a:picLocks noChangeAspect="1"/>
          </p:cNvPicPr>
          <p:nvPr/>
        </p:nvPicPr>
        <p:blipFill>
          <a:blip r:embed="rId4"/>
          <a:stretch>
            <a:fillRect/>
          </a:stretch>
        </p:blipFill>
        <p:spPr>
          <a:xfrm>
            <a:off x="8227162" y="3560448"/>
            <a:ext cx="128699" cy="187198"/>
          </a:xfrm>
          <a:prstGeom prst="rect">
            <a:avLst/>
          </a:prstGeom>
        </p:spPr>
      </p:pic>
      <p:pic>
        <p:nvPicPr>
          <p:cNvPr id="395" name="Picture 394" descr="lock.png"/>
          <p:cNvPicPr>
            <a:picLocks noChangeAspect="1"/>
          </p:cNvPicPr>
          <p:nvPr/>
        </p:nvPicPr>
        <p:blipFill>
          <a:blip r:embed="rId4"/>
          <a:stretch>
            <a:fillRect/>
          </a:stretch>
        </p:blipFill>
        <p:spPr>
          <a:xfrm>
            <a:off x="9303488" y="2702524"/>
            <a:ext cx="128699" cy="187198"/>
          </a:xfrm>
          <a:prstGeom prst="rect">
            <a:avLst/>
          </a:prstGeom>
        </p:spPr>
      </p:pic>
      <p:pic>
        <p:nvPicPr>
          <p:cNvPr id="396" name="Picture 395" descr="lock.png"/>
          <p:cNvPicPr>
            <a:picLocks noChangeAspect="1"/>
          </p:cNvPicPr>
          <p:nvPr/>
        </p:nvPicPr>
        <p:blipFill>
          <a:blip r:embed="rId4"/>
          <a:stretch>
            <a:fillRect/>
          </a:stretch>
        </p:blipFill>
        <p:spPr>
          <a:xfrm>
            <a:off x="9303488" y="3031091"/>
            <a:ext cx="128699" cy="187198"/>
          </a:xfrm>
          <a:prstGeom prst="rect">
            <a:avLst/>
          </a:prstGeom>
        </p:spPr>
      </p:pic>
      <p:pic>
        <p:nvPicPr>
          <p:cNvPr id="397" name="Picture 396" descr="lock.png"/>
          <p:cNvPicPr>
            <a:picLocks noChangeAspect="1"/>
          </p:cNvPicPr>
          <p:nvPr/>
        </p:nvPicPr>
        <p:blipFill>
          <a:blip r:embed="rId4"/>
          <a:stretch>
            <a:fillRect/>
          </a:stretch>
        </p:blipFill>
        <p:spPr>
          <a:xfrm>
            <a:off x="9303488" y="3560448"/>
            <a:ext cx="128699" cy="187198"/>
          </a:xfrm>
          <a:prstGeom prst="rect">
            <a:avLst/>
          </a:prstGeom>
        </p:spPr>
      </p:pic>
      <p:pic>
        <p:nvPicPr>
          <p:cNvPr id="398" name="Picture 397" descr="lock.png"/>
          <p:cNvPicPr>
            <a:picLocks noChangeAspect="1"/>
          </p:cNvPicPr>
          <p:nvPr/>
        </p:nvPicPr>
        <p:blipFill>
          <a:blip r:embed="rId4"/>
          <a:stretch>
            <a:fillRect/>
          </a:stretch>
        </p:blipFill>
        <p:spPr>
          <a:xfrm>
            <a:off x="10379813" y="2702524"/>
            <a:ext cx="128699" cy="187198"/>
          </a:xfrm>
          <a:prstGeom prst="rect">
            <a:avLst/>
          </a:prstGeom>
        </p:spPr>
      </p:pic>
      <p:pic>
        <p:nvPicPr>
          <p:cNvPr id="399" name="Picture 398" descr="lock.png"/>
          <p:cNvPicPr>
            <a:picLocks noChangeAspect="1"/>
          </p:cNvPicPr>
          <p:nvPr/>
        </p:nvPicPr>
        <p:blipFill>
          <a:blip r:embed="rId4"/>
          <a:stretch>
            <a:fillRect/>
          </a:stretch>
        </p:blipFill>
        <p:spPr>
          <a:xfrm>
            <a:off x="10379813" y="3031091"/>
            <a:ext cx="128699" cy="187198"/>
          </a:xfrm>
          <a:prstGeom prst="rect">
            <a:avLst/>
          </a:prstGeom>
        </p:spPr>
      </p:pic>
      <p:pic>
        <p:nvPicPr>
          <p:cNvPr id="400" name="Picture 399" descr="lock.png"/>
          <p:cNvPicPr>
            <a:picLocks noChangeAspect="1"/>
          </p:cNvPicPr>
          <p:nvPr/>
        </p:nvPicPr>
        <p:blipFill>
          <a:blip r:embed="rId4"/>
          <a:stretch>
            <a:fillRect/>
          </a:stretch>
        </p:blipFill>
        <p:spPr>
          <a:xfrm>
            <a:off x="10379812" y="3560448"/>
            <a:ext cx="128699" cy="187198"/>
          </a:xfrm>
          <a:prstGeom prst="rect">
            <a:avLst/>
          </a:prstGeom>
        </p:spPr>
      </p:pic>
      <p:pic>
        <p:nvPicPr>
          <p:cNvPr id="401" name="Picture 400" descr="lock.png"/>
          <p:cNvPicPr>
            <a:picLocks noChangeAspect="1"/>
          </p:cNvPicPr>
          <p:nvPr/>
        </p:nvPicPr>
        <p:blipFill>
          <a:blip r:embed="rId4"/>
          <a:stretch>
            <a:fillRect/>
          </a:stretch>
        </p:blipFill>
        <p:spPr>
          <a:xfrm>
            <a:off x="11456138" y="2702524"/>
            <a:ext cx="128699" cy="187198"/>
          </a:xfrm>
          <a:prstGeom prst="rect">
            <a:avLst/>
          </a:prstGeom>
        </p:spPr>
      </p:pic>
      <p:pic>
        <p:nvPicPr>
          <p:cNvPr id="402" name="Picture 401" descr="lock.png"/>
          <p:cNvPicPr>
            <a:picLocks noChangeAspect="1"/>
          </p:cNvPicPr>
          <p:nvPr/>
        </p:nvPicPr>
        <p:blipFill>
          <a:blip r:embed="rId4"/>
          <a:stretch>
            <a:fillRect/>
          </a:stretch>
        </p:blipFill>
        <p:spPr>
          <a:xfrm>
            <a:off x="11456138" y="3031091"/>
            <a:ext cx="128699" cy="187198"/>
          </a:xfrm>
          <a:prstGeom prst="rect">
            <a:avLst/>
          </a:prstGeom>
        </p:spPr>
      </p:pic>
      <p:pic>
        <p:nvPicPr>
          <p:cNvPr id="403" name="Picture 402" descr="lock.png"/>
          <p:cNvPicPr>
            <a:picLocks noChangeAspect="1"/>
          </p:cNvPicPr>
          <p:nvPr/>
        </p:nvPicPr>
        <p:blipFill>
          <a:blip r:embed="rId4"/>
          <a:stretch>
            <a:fillRect/>
          </a:stretch>
        </p:blipFill>
        <p:spPr>
          <a:xfrm>
            <a:off x="11456138" y="3560448"/>
            <a:ext cx="128699" cy="187198"/>
          </a:xfrm>
          <a:prstGeom prst="rect">
            <a:avLst/>
          </a:prstGeom>
        </p:spPr>
      </p:pic>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Market Share by Leading Players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Advice for Vendors &amp; Suppliers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Value Share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Who Shaped Growth</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Advice for Market Vendors / Suppliers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Strategic advice for vendors and suppliers on pricing, product, geography, channel and competitive risk</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Strategic advice for vendors and suppliers where to compete, how to price, and which risks to manage across the Industrial Air Compressor Market.</a:t>
            </a:r>
          </a:p>
        </p:txBody>
      </p:sp>
      <p:sp>
        <p:nvSpPr>
          <p:cNvPr id="8" name="Rounded Rectangle 7"/>
          <p:cNvSpPr/>
          <p:nvPr/>
        </p:nvSpPr>
        <p:spPr>
          <a:xfrm>
            <a:off x="142875" y="1354081"/>
            <a:ext cx="5857875" cy="2601152"/>
          </a:xfrm>
          <a:prstGeom prst="roundRect">
            <a:avLst>
              <a:gd name="adj" fmla="val 29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439806"/>
            <a:ext cx="5591175" cy="209550"/>
          </a:xfrm>
          <a:prstGeom prst="rect">
            <a:avLst/>
          </a:prstGeom>
          <a:noFill/>
        </p:spPr>
        <p:txBody>
          <a:bodyPr wrap="square" lIns="0" rIns="19050" tIns="9525" bIns="9525">
            <a:spAutoFit/>
          </a:bodyPr>
          <a:lstStyle/>
          <a:p>
            <a:pPr algn="l"/>
            <a:r>
              <a:rPr sz="1300" b="1">
                <a:solidFill>
                  <a:srgbClr val="0E2A5C"/>
                </a:solidFill>
                <a:latin typeface="Calibri"/>
              </a:rPr>
              <a:t>Pricing &amp; Margin Strategy</a:t>
            </a:r>
          </a:p>
        </p:txBody>
      </p:sp>
      <p:sp>
        <p:nvSpPr>
          <p:cNvPr id="10" name="Rectangle 9"/>
          <p:cNvSpPr/>
          <p:nvPr/>
        </p:nvSpPr>
        <p:spPr>
          <a:xfrm>
            <a:off x="276225" y="1677931"/>
            <a:ext cx="559117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2" name="Rounded Rectangle 11"/>
          <p:cNvSpPr/>
          <p:nvPr/>
        </p:nvSpPr>
        <p:spPr>
          <a:xfrm>
            <a:off x="6191250" y="1354081"/>
            <a:ext cx="5857875" cy="2601152"/>
          </a:xfrm>
          <a:prstGeom prst="roundRect">
            <a:avLst>
              <a:gd name="adj" fmla="val 29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4600" y="1439806"/>
            <a:ext cx="5591175" cy="209550"/>
          </a:xfrm>
          <a:prstGeom prst="rect">
            <a:avLst/>
          </a:prstGeom>
          <a:noFill/>
        </p:spPr>
        <p:txBody>
          <a:bodyPr wrap="square" lIns="0" rIns="19050" tIns="9525" bIns="9525">
            <a:spAutoFit/>
          </a:bodyPr>
          <a:lstStyle/>
          <a:p>
            <a:pPr algn="l"/>
            <a:r>
              <a:rPr sz="1300" b="1">
                <a:solidFill>
                  <a:srgbClr val="0E2A5C"/>
                </a:solidFill>
                <a:latin typeface="Calibri"/>
              </a:rPr>
              <a:t>Product &amp; Innovation</a:t>
            </a:r>
          </a:p>
        </p:txBody>
      </p:sp>
      <p:sp>
        <p:nvSpPr>
          <p:cNvPr id="14" name="Rectangle 13"/>
          <p:cNvSpPr/>
          <p:nvPr/>
        </p:nvSpPr>
        <p:spPr>
          <a:xfrm>
            <a:off x="6324600" y="1677931"/>
            <a:ext cx="559117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4600"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6" name="Rounded Rectangle 15"/>
          <p:cNvSpPr/>
          <p:nvPr/>
        </p:nvSpPr>
        <p:spPr>
          <a:xfrm>
            <a:off x="142875" y="4046502"/>
            <a:ext cx="5857875" cy="2509883"/>
          </a:xfrm>
          <a:prstGeom prst="roundRect">
            <a:avLst>
              <a:gd name="adj" fmla="val 303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132227"/>
            <a:ext cx="5591175" cy="209550"/>
          </a:xfrm>
          <a:prstGeom prst="rect">
            <a:avLst/>
          </a:prstGeom>
          <a:noFill/>
        </p:spPr>
        <p:txBody>
          <a:bodyPr wrap="square" lIns="0" rIns="19050" tIns="9525" bIns="9525">
            <a:spAutoFit/>
          </a:bodyPr>
          <a:lstStyle/>
          <a:p>
            <a:pPr algn="l"/>
            <a:r>
              <a:rPr sz="1300" b="1">
                <a:solidFill>
                  <a:srgbClr val="0E2A5C"/>
                </a:solidFill>
                <a:latin typeface="Calibri"/>
              </a:rPr>
              <a:t>Geographic &amp; Channel Expansion</a:t>
            </a:r>
          </a:p>
        </p:txBody>
      </p:sp>
      <p:sp>
        <p:nvSpPr>
          <p:cNvPr id="18" name="Rectangle 17"/>
          <p:cNvSpPr/>
          <p:nvPr/>
        </p:nvSpPr>
        <p:spPr>
          <a:xfrm>
            <a:off x="276225" y="4370352"/>
            <a:ext cx="559117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Expand selectively into under-penetrated regions where the leaders are thin, rather than head-on in saturated markets.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Balance retail, hospital/clinic and online channels online is the fastest-shifting route to end customers.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Build reliable distribution and logistics partnerships to convert demand into fulfilled volume.</a:t>
            </a:r>
          </a:p>
        </p:txBody>
      </p:sp>
      <p:sp>
        <p:nvSpPr>
          <p:cNvPr id="20" name="Rounded Rectangle 19"/>
          <p:cNvSpPr/>
          <p:nvPr/>
        </p:nvSpPr>
        <p:spPr>
          <a:xfrm>
            <a:off x="6191250" y="4046502"/>
            <a:ext cx="5857875" cy="2509883"/>
          </a:xfrm>
          <a:prstGeom prst="roundRect">
            <a:avLst>
              <a:gd name="adj" fmla="val 303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24600" y="4132227"/>
            <a:ext cx="5591175" cy="209550"/>
          </a:xfrm>
          <a:prstGeom prst="rect">
            <a:avLst/>
          </a:prstGeom>
          <a:noFill/>
        </p:spPr>
        <p:txBody>
          <a:bodyPr wrap="square" lIns="0" rIns="19050" tIns="9525" bIns="9525">
            <a:spAutoFit/>
          </a:bodyPr>
          <a:lstStyle/>
          <a:p>
            <a:pPr algn="l"/>
            <a:r>
              <a:rPr sz="1300" b="1">
                <a:solidFill>
                  <a:srgbClr val="0E2A5C"/>
                </a:solidFill>
                <a:latin typeface="Calibri"/>
              </a:rPr>
              <a:t>Competitive &amp; Risk Positioning</a:t>
            </a:r>
          </a:p>
        </p:txBody>
      </p:sp>
      <p:sp>
        <p:nvSpPr>
          <p:cNvPr id="22" name="Rectangle 21"/>
          <p:cNvSpPr/>
          <p:nvPr/>
        </p:nvSpPr>
        <p:spPr>
          <a:xfrm>
            <a:off x="6324600" y="4370352"/>
            <a:ext cx="559117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4600"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4" name="Rectangle 2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6" name="TextBox 25"/>
          <p:cNvSpPr txBox="1"/>
          <p:nvPr/>
        </p:nvSpPr>
        <p:spPr>
          <a:xfrm>
            <a:off x="276225" y="1773181"/>
            <a:ext cx="3235387" cy="194310"/>
          </a:xfrm>
          <a:prstGeom prst="rect">
            <a:avLst/>
          </a:prstGeom>
          <a:noFill/>
        </p:spPr>
        <p:txBody>
          <a:bodyPr wrap="none" lIns="0" rIns="0" tIns="0" bIns="0">
            <a:spAutoFit/>
          </a:bodyPr>
          <a:lstStyle/>
          <a:p>
            <a:r>
              <a:rPr sz="1150" b="0">
                <a:solidFill>
                  <a:srgbClr val="2E2E2E"/>
                </a:solidFill>
                <a:latin typeface="Calibri"/>
              </a:rPr>
              <a:t>▪ Hold price discipline: with the top three players at ~</a:t>
            </a:r>
          </a:p>
        </p:txBody>
      </p:sp>
      <p:pic>
        <p:nvPicPr>
          <p:cNvPr id="27" name="Picture 26" descr="lock.png"/>
          <p:cNvPicPr>
            <a:picLocks noChangeAspect="1"/>
          </p:cNvPicPr>
          <p:nvPr/>
        </p:nvPicPr>
        <p:blipFill>
          <a:blip r:embed="rId4"/>
          <a:stretch>
            <a:fillRect/>
          </a:stretch>
        </p:blipFill>
        <p:spPr>
          <a:xfrm>
            <a:off x="3460765" y="1762957"/>
            <a:ext cx="134549" cy="195707"/>
          </a:xfrm>
          <a:prstGeom prst="rect">
            <a:avLst/>
          </a:prstGeom>
        </p:spPr>
      </p:pic>
      <p:sp>
        <p:nvSpPr>
          <p:cNvPr id="28" name="TextBox 27"/>
          <p:cNvSpPr txBox="1"/>
          <p:nvPr/>
        </p:nvSpPr>
        <p:spPr>
          <a:xfrm>
            <a:off x="3635875" y="1773181"/>
            <a:ext cx="1859892" cy="194310"/>
          </a:xfrm>
          <a:prstGeom prst="rect">
            <a:avLst/>
          </a:prstGeom>
          <a:noFill/>
        </p:spPr>
        <p:txBody>
          <a:bodyPr wrap="none" lIns="0" rIns="0" tIns="0" bIns="0">
            <a:spAutoFit/>
          </a:bodyPr>
          <a:lstStyle/>
          <a:p>
            <a:r>
              <a:rPr sz="1150" b="0">
                <a:solidFill>
                  <a:srgbClr val="2E2E2E"/>
                </a:solidFill>
                <a:latin typeface="Calibri"/>
              </a:rPr>
              <a:t>share, avoid value-destructive</a:t>
            </a:r>
          </a:p>
        </p:txBody>
      </p:sp>
      <p:sp>
        <p:nvSpPr>
          <p:cNvPr id="29" name="TextBox 28"/>
          <p:cNvSpPr txBox="1"/>
          <p:nvPr/>
        </p:nvSpPr>
        <p:spPr>
          <a:xfrm>
            <a:off x="276225" y="1948441"/>
            <a:ext cx="3646723" cy="194310"/>
          </a:xfrm>
          <a:prstGeom prst="rect">
            <a:avLst/>
          </a:prstGeom>
          <a:noFill/>
        </p:spPr>
        <p:txBody>
          <a:bodyPr wrap="none" lIns="0" rIns="0" tIns="0" bIns="0">
            <a:spAutoFit/>
          </a:bodyPr>
          <a:lstStyle/>
          <a:p>
            <a:r>
              <a:rPr sz="1150" b="0">
                <a:solidFill>
                  <a:srgbClr val="2E2E2E"/>
                </a:solidFill>
                <a:latin typeface="Calibri"/>
              </a:rPr>
              <a:t>discounting compete on mix and service, not headline price.</a:t>
            </a:r>
          </a:p>
        </p:txBody>
      </p:sp>
      <p:sp>
        <p:nvSpPr>
          <p:cNvPr id="30" name="TextBox 29"/>
          <p:cNvSpPr txBox="1"/>
          <p:nvPr/>
        </p:nvSpPr>
        <p:spPr>
          <a:xfrm>
            <a:off x="276225" y="2176279"/>
            <a:ext cx="5481761" cy="194310"/>
          </a:xfrm>
          <a:prstGeom prst="rect">
            <a:avLst/>
          </a:prstGeom>
          <a:noFill/>
        </p:spPr>
        <p:txBody>
          <a:bodyPr wrap="none" lIns="0" rIns="0" tIns="0" bIns="0">
            <a:spAutoFit/>
          </a:bodyPr>
          <a:lstStyle/>
          <a:p>
            <a:r>
              <a:rPr sz="1150" b="0">
                <a:solidFill>
                  <a:srgbClr val="2E2E2E"/>
                </a:solidFill>
                <a:latin typeface="Calibri"/>
              </a:rPr>
              <a:t>▪ Premiumise toward higher-value formulations (e.g. 'Scroll Air Compressor') to lift blended</a:t>
            </a:r>
          </a:p>
        </p:txBody>
      </p:sp>
      <p:sp>
        <p:nvSpPr>
          <p:cNvPr id="31" name="TextBox 30"/>
          <p:cNvSpPr txBox="1"/>
          <p:nvPr/>
        </p:nvSpPr>
        <p:spPr>
          <a:xfrm>
            <a:off x="276225" y="2351539"/>
            <a:ext cx="2706241" cy="194310"/>
          </a:xfrm>
          <a:prstGeom prst="rect">
            <a:avLst/>
          </a:prstGeom>
          <a:noFill/>
        </p:spPr>
        <p:txBody>
          <a:bodyPr wrap="none" lIns="0" rIns="0" tIns="0" bIns="0">
            <a:spAutoFit/>
          </a:bodyPr>
          <a:lstStyle/>
          <a:p>
            <a:r>
              <a:rPr sz="1150" b="0">
                <a:solidFill>
                  <a:srgbClr val="2E2E2E"/>
                </a:solidFill>
                <a:latin typeface="Calibri"/>
              </a:rPr>
              <a:t>ASP and defend margin as input costs move.</a:t>
            </a:r>
          </a:p>
        </p:txBody>
      </p:sp>
      <p:sp>
        <p:nvSpPr>
          <p:cNvPr id="32" name="TextBox 31"/>
          <p:cNvSpPr txBox="1"/>
          <p:nvPr/>
        </p:nvSpPr>
        <p:spPr>
          <a:xfrm>
            <a:off x="276225" y="2579377"/>
            <a:ext cx="4816264" cy="194310"/>
          </a:xfrm>
          <a:prstGeom prst="rect">
            <a:avLst/>
          </a:prstGeom>
          <a:noFill/>
        </p:spPr>
        <p:txBody>
          <a:bodyPr wrap="none" lIns="0" rIns="0" tIns="0" bIns="0">
            <a:spAutoFit/>
          </a:bodyPr>
          <a:lstStyle/>
          <a:p>
            <a:r>
              <a:rPr sz="1150" b="0">
                <a:solidFill>
                  <a:srgbClr val="2E2E2E"/>
                </a:solidFill>
                <a:latin typeface="Calibri"/>
              </a:rPr>
              <a:t>▪ Set transparent, corridor-based regional pricing to limit grey-market arbitrage.</a:t>
            </a:r>
          </a:p>
        </p:txBody>
      </p:sp>
      <p:sp>
        <p:nvSpPr>
          <p:cNvPr id="33" name="TextBox 32"/>
          <p:cNvSpPr txBox="1"/>
          <p:nvPr/>
        </p:nvSpPr>
        <p:spPr>
          <a:xfrm>
            <a:off x="6324600" y="1773181"/>
            <a:ext cx="5495453" cy="194310"/>
          </a:xfrm>
          <a:prstGeom prst="rect">
            <a:avLst/>
          </a:prstGeom>
          <a:noFill/>
        </p:spPr>
        <p:txBody>
          <a:bodyPr wrap="none" lIns="0" rIns="0" tIns="0" bIns="0">
            <a:spAutoFit/>
          </a:bodyPr>
          <a:lstStyle/>
          <a:p>
            <a:r>
              <a:rPr sz="1150" b="0">
                <a:solidFill>
                  <a:srgbClr val="2E2E2E"/>
                </a:solidFill>
                <a:latin typeface="Calibri"/>
              </a:rPr>
              <a:t>▪ Prioritise R&amp;D in the fastest-growing formulations a differentiated portfolio is the clearest</a:t>
            </a:r>
          </a:p>
        </p:txBody>
      </p:sp>
      <p:sp>
        <p:nvSpPr>
          <p:cNvPr id="34" name="TextBox 33"/>
          <p:cNvSpPr txBox="1"/>
          <p:nvPr/>
        </p:nvSpPr>
        <p:spPr>
          <a:xfrm>
            <a:off x="6324600" y="1948441"/>
            <a:ext cx="1660500" cy="194310"/>
          </a:xfrm>
          <a:prstGeom prst="rect">
            <a:avLst/>
          </a:prstGeom>
          <a:noFill/>
        </p:spPr>
        <p:txBody>
          <a:bodyPr wrap="none" lIns="0" rIns="0" tIns="0" bIns="0">
            <a:spAutoFit/>
          </a:bodyPr>
          <a:lstStyle/>
          <a:p>
            <a:r>
              <a:rPr sz="1150" b="0">
                <a:solidFill>
                  <a:srgbClr val="2E2E2E"/>
                </a:solidFill>
                <a:latin typeface="Calibri"/>
              </a:rPr>
              <a:t>route to out-growing the ~</a:t>
            </a:r>
          </a:p>
        </p:txBody>
      </p:sp>
      <p:pic>
        <p:nvPicPr>
          <p:cNvPr id="35" name="Picture 34" descr="lock.png"/>
          <p:cNvPicPr>
            <a:picLocks noChangeAspect="1"/>
          </p:cNvPicPr>
          <p:nvPr/>
        </p:nvPicPr>
        <p:blipFill>
          <a:blip r:embed="rId4"/>
          <a:stretch>
            <a:fillRect/>
          </a:stretch>
        </p:blipFill>
        <p:spPr>
          <a:xfrm>
            <a:off x="7934254" y="1938217"/>
            <a:ext cx="134549" cy="195707"/>
          </a:xfrm>
          <a:prstGeom prst="rect">
            <a:avLst/>
          </a:prstGeom>
        </p:spPr>
      </p:pic>
      <p:sp>
        <p:nvSpPr>
          <p:cNvPr id="36" name="TextBox 35"/>
          <p:cNvSpPr txBox="1"/>
          <p:nvPr/>
        </p:nvSpPr>
        <p:spPr>
          <a:xfrm>
            <a:off x="8109363" y="1948441"/>
            <a:ext cx="905700" cy="194310"/>
          </a:xfrm>
          <a:prstGeom prst="rect">
            <a:avLst/>
          </a:prstGeom>
          <a:noFill/>
        </p:spPr>
        <p:txBody>
          <a:bodyPr wrap="none" lIns="0" rIns="0" tIns="0" bIns="0">
            <a:spAutoFit/>
          </a:bodyPr>
          <a:lstStyle/>
          <a:p>
            <a:r>
              <a:rPr sz="1150" b="0">
                <a:solidFill>
                  <a:srgbClr val="2E2E2E"/>
                </a:solidFill>
                <a:latin typeface="Calibri"/>
              </a:rPr>
              <a:t>market CAGR.</a:t>
            </a:r>
          </a:p>
        </p:txBody>
      </p:sp>
      <p:sp>
        <p:nvSpPr>
          <p:cNvPr id="37" name="TextBox 36"/>
          <p:cNvSpPr txBox="1"/>
          <p:nvPr/>
        </p:nvSpPr>
        <p:spPr>
          <a:xfrm>
            <a:off x="6324600" y="2176279"/>
            <a:ext cx="5383919" cy="194310"/>
          </a:xfrm>
          <a:prstGeom prst="rect">
            <a:avLst/>
          </a:prstGeom>
          <a:noFill/>
        </p:spPr>
        <p:txBody>
          <a:bodyPr wrap="none" lIns="0" rIns="0" tIns="0" bIns="0">
            <a:spAutoFit/>
          </a:bodyPr>
          <a:lstStyle/>
          <a:p>
            <a:r>
              <a:rPr sz="1150" b="0">
                <a:solidFill>
                  <a:srgbClr val="2E2E2E"/>
                </a:solidFill>
                <a:latin typeface="Calibri"/>
              </a:rPr>
              <a:t>▪ Pursue certification and clinical validation to build switching costs and support premium</a:t>
            </a:r>
          </a:p>
        </p:txBody>
      </p:sp>
      <p:sp>
        <p:nvSpPr>
          <p:cNvPr id="38" name="TextBox 37"/>
          <p:cNvSpPr txBox="1"/>
          <p:nvPr/>
        </p:nvSpPr>
        <p:spPr>
          <a:xfrm>
            <a:off x="6324600" y="2351539"/>
            <a:ext cx="773075" cy="194310"/>
          </a:xfrm>
          <a:prstGeom prst="rect">
            <a:avLst/>
          </a:prstGeom>
          <a:noFill/>
        </p:spPr>
        <p:txBody>
          <a:bodyPr wrap="none" lIns="0" rIns="0" tIns="0" bIns="0">
            <a:spAutoFit/>
          </a:bodyPr>
          <a:lstStyle/>
          <a:p>
            <a:r>
              <a:rPr sz="1150" b="0">
                <a:solidFill>
                  <a:srgbClr val="2E2E2E"/>
                </a:solidFill>
                <a:latin typeface="Calibri"/>
              </a:rPr>
              <a:t>positioning.</a:t>
            </a:r>
          </a:p>
        </p:txBody>
      </p:sp>
      <p:sp>
        <p:nvSpPr>
          <p:cNvPr id="39" name="TextBox 38"/>
          <p:cNvSpPr txBox="1"/>
          <p:nvPr/>
        </p:nvSpPr>
        <p:spPr>
          <a:xfrm>
            <a:off x="6324600" y="2579377"/>
            <a:ext cx="3931406" cy="194310"/>
          </a:xfrm>
          <a:prstGeom prst="rect">
            <a:avLst/>
          </a:prstGeom>
          <a:noFill/>
        </p:spPr>
        <p:txBody>
          <a:bodyPr wrap="none" lIns="0" rIns="0" tIns="0" bIns="0">
            <a:spAutoFit/>
          </a:bodyPr>
          <a:lstStyle/>
          <a:p>
            <a:r>
              <a:rPr sz="1150" b="0">
                <a:solidFill>
                  <a:srgbClr val="2E2E2E"/>
                </a:solidFill>
                <a:latin typeface="Calibri"/>
              </a:rPr>
              <a:t>▪ Localise formats and pack sizes to each channel and geography.</a:t>
            </a:r>
          </a:p>
        </p:txBody>
      </p:sp>
      <p:sp>
        <p:nvSpPr>
          <p:cNvPr id="40" name="TextBox 39"/>
          <p:cNvSpPr txBox="1"/>
          <p:nvPr/>
        </p:nvSpPr>
        <p:spPr>
          <a:xfrm>
            <a:off x="6324600" y="4465602"/>
            <a:ext cx="2945511" cy="194310"/>
          </a:xfrm>
          <a:prstGeom prst="rect">
            <a:avLst/>
          </a:prstGeom>
          <a:noFill/>
        </p:spPr>
        <p:txBody>
          <a:bodyPr wrap="none" lIns="0" rIns="0" tIns="0" bIns="0">
            <a:spAutoFit/>
          </a:bodyPr>
          <a:lstStyle/>
          <a:p>
            <a:r>
              <a:rPr sz="1150" b="0">
                <a:solidFill>
                  <a:srgbClr val="2E2E2E"/>
                </a:solidFill>
                <a:latin typeface="Calibri"/>
              </a:rPr>
              <a:t>▪ Benchmark relentlessly against 'Atlas Copco' (~</a:t>
            </a:r>
          </a:p>
        </p:txBody>
      </p:sp>
      <p:pic>
        <p:nvPicPr>
          <p:cNvPr id="41" name="Picture 40" descr="lock.png"/>
          <p:cNvPicPr>
            <a:picLocks noChangeAspect="1"/>
          </p:cNvPicPr>
          <p:nvPr/>
        </p:nvPicPr>
        <p:blipFill>
          <a:blip r:embed="rId4"/>
          <a:stretch>
            <a:fillRect/>
          </a:stretch>
        </p:blipFill>
        <p:spPr>
          <a:xfrm>
            <a:off x="9219265" y="4455378"/>
            <a:ext cx="134549" cy="195707"/>
          </a:xfrm>
          <a:prstGeom prst="rect">
            <a:avLst/>
          </a:prstGeom>
        </p:spPr>
      </p:pic>
      <p:sp>
        <p:nvSpPr>
          <p:cNvPr id="42" name="TextBox 41"/>
          <p:cNvSpPr txBox="1"/>
          <p:nvPr/>
        </p:nvSpPr>
        <p:spPr>
          <a:xfrm>
            <a:off x="9394374" y="4465602"/>
            <a:ext cx="2219597" cy="194310"/>
          </a:xfrm>
          <a:prstGeom prst="rect">
            <a:avLst/>
          </a:prstGeom>
          <a:noFill/>
        </p:spPr>
        <p:txBody>
          <a:bodyPr wrap="none" lIns="0" rIns="0" tIns="0" bIns="0">
            <a:spAutoFit/>
          </a:bodyPr>
          <a:lstStyle/>
          <a:p>
            <a:r>
              <a:rPr sz="1150" b="0">
                <a:solidFill>
                  <a:srgbClr val="2E2E2E"/>
                </a:solidFill>
                <a:latin typeface="Calibri"/>
              </a:rPr>
              <a:t>share) match on service and lead on</a:t>
            </a:r>
          </a:p>
        </p:txBody>
      </p:sp>
      <p:sp>
        <p:nvSpPr>
          <p:cNvPr id="43" name="TextBox 42"/>
          <p:cNvSpPr txBox="1"/>
          <p:nvPr/>
        </p:nvSpPr>
        <p:spPr>
          <a:xfrm>
            <a:off x="6324600" y="4640861"/>
            <a:ext cx="1560376" cy="194310"/>
          </a:xfrm>
          <a:prstGeom prst="rect">
            <a:avLst/>
          </a:prstGeom>
          <a:noFill/>
        </p:spPr>
        <p:txBody>
          <a:bodyPr wrap="none" lIns="0" rIns="0" tIns="0" bIns="0">
            <a:spAutoFit/>
          </a:bodyPr>
          <a:lstStyle/>
          <a:p>
            <a:r>
              <a:rPr sz="1150" b="0">
                <a:solidFill>
                  <a:srgbClr val="2E2E2E"/>
                </a:solidFill>
                <a:latin typeface="Calibri"/>
              </a:rPr>
              <a:t>innovation to take share.</a:t>
            </a:r>
          </a:p>
        </p:txBody>
      </p:sp>
      <p:sp>
        <p:nvSpPr>
          <p:cNvPr id="44" name="TextBox 43"/>
          <p:cNvSpPr txBox="1"/>
          <p:nvPr/>
        </p:nvSpPr>
        <p:spPr>
          <a:xfrm>
            <a:off x="6324600" y="4868699"/>
            <a:ext cx="5455518" cy="194310"/>
          </a:xfrm>
          <a:prstGeom prst="rect">
            <a:avLst/>
          </a:prstGeom>
          <a:noFill/>
        </p:spPr>
        <p:txBody>
          <a:bodyPr wrap="none" lIns="0" rIns="0" tIns="0" bIns="0">
            <a:spAutoFit/>
          </a:bodyPr>
          <a:lstStyle/>
          <a:p>
            <a:r>
              <a:rPr sz="1150" b="0">
                <a:solidFill>
                  <a:srgbClr val="2E2E2E"/>
                </a:solidFill>
                <a:latin typeface="Calibri"/>
              </a:rPr>
              <a:t>▪ Diversify the customer base to cut dependence on a few large accounts and single-region</a:t>
            </a:r>
          </a:p>
        </p:txBody>
      </p:sp>
      <p:sp>
        <p:nvSpPr>
          <p:cNvPr id="45" name="TextBox 44"/>
          <p:cNvSpPr txBox="1"/>
          <p:nvPr/>
        </p:nvSpPr>
        <p:spPr>
          <a:xfrm>
            <a:off x="6324600" y="5043959"/>
            <a:ext cx="660400" cy="194310"/>
          </a:xfrm>
          <a:prstGeom prst="rect">
            <a:avLst/>
          </a:prstGeom>
          <a:noFill/>
        </p:spPr>
        <p:txBody>
          <a:bodyPr wrap="none" lIns="0" rIns="0" tIns="0" bIns="0">
            <a:spAutoFit/>
          </a:bodyPr>
          <a:lstStyle/>
          <a:p>
            <a:r>
              <a:rPr sz="1150" b="0">
                <a:solidFill>
                  <a:srgbClr val="2E2E2E"/>
                </a:solidFill>
                <a:latin typeface="Calibri"/>
              </a:rPr>
              <a:t>exposure.</a:t>
            </a:r>
          </a:p>
        </p:txBody>
      </p:sp>
      <p:sp>
        <p:nvSpPr>
          <p:cNvPr id="46" name="TextBox 45"/>
          <p:cNvSpPr txBox="1"/>
          <p:nvPr/>
        </p:nvSpPr>
        <p:spPr>
          <a:xfrm>
            <a:off x="6324600" y="5271797"/>
            <a:ext cx="5230167" cy="194310"/>
          </a:xfrm>
          <a:prstGeom prst="rect">
            <a:avLst/>
          </a:prstGeom>
          <a:noFill/>
        </p:spPr>
        <p:txBody>
          <a:bodyPr wrap="none" lIns="0" rIns="0" tIns="0" bIns="0">
            <a:spAutoFit/>
          </a:bodyPr>
          <a:lstStyle/>
          <a:p>
            <a:r>
              <a:rPr sz="1150" b="0">
                <a:solidFill>
                  <a:srgbClr val="2E2E2E"/>
                </a:solidFill>
                <a:latin typeface="Calibri"/>
              </a:rPr>
              <a:t>▪ Stress-test for regulatory, currency and supply shocks; keep flexible capacity and dual</a:t>
            </a:r>
          </a:p>
        </p:txBody>
      </p:sp>
      <p:sp>
        <p:nvSpPr>
          <p:cNvPr id="47" name="TextBox 46"/>
          <p:cNvSpPr txBox="1"/>
          <p:nvPr/>
        </p:nvSpPr>
        <p:spPr>
          <a:xfrm>
            <a:off x="6324600" y="5447057"/>
            <a:ext cx="615900" cy="194310"/>
          </a:xfrm>
          <a:prstGeom prst="rect">
            <a:avLst/>
          </a:prstGeom>
          <a:noFill/>
        </p:spPr>
        <p:txBody>
          <a:bodyPr wrap="none" lIns="0" rIns="0" tIns="0" bIns="0">
            <a:spAutoFit/>
          </a:bodyPr>
          <a:lstStyle/>
          <a:p>
            <a:r>
              <a:rPr sz="1150" b="0">
                <a:solidFill>
                  <a:srgbClr val="2E2E2E"/>
                </a:solidFill>
                <a:latin typeface="Calibri"/>
              </a:rPr>
              <a:t>sourcing.</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Company Value Share (Global)</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company in the global market, 2025, highlighting leadership and the long tail</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Target market value share by key companies leadership, concentration and how the competitive mix shifts by region.</a:t>
            </a:r>
          </a:p>
        </p:txBody>
      </p:sp>
      <p:sp>
        <p:nvSpPr>
          <p:cNvPr id="8" name="Rounded Rectangle 7"/>
          <p:cNvSpPr/>
          <p:nvPr/>
        </p:nvSpPr>
        <p:spPr>
          <a:xfrm>
            <a:off x="142875" y="1354081"/>
            <a:ext cx="7543800" cy="5220558"/>
          </a:xfrm>
          <a:prstGeom prst="roundRect">
            <a:avLst>
              <a:gd name="adj" fmla="val 14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411231"/>
            <a:ext cx="7353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by Key Company (US$ Mn, 2026)</a:t>
            </a:r>
          </a:p>
        </p:txBody>
      </p:sp>
      <p:graphicFrame>
        <p:nvGraphicFramePr>
          <p:cNvPr id="10" name="Chart 9"/>
          <p:cNvGraphicFramePr>
            <a:graphicFrameLocks noGrp="1"/>
          </p:cNvGraphicFramePr>
          <p:nvPr/>
        </p:nvGraphicFramePr>
        <p:xfrm>
          <a:off x="238125" y="1639831"/>
          <a:ext cx="7353300" cy="4877658"/>
        </p:xfrm>
        <a:graphic>
          <a:graphicData uri="http://schemas.openxmlformats.org/drawingml/2006/chart">
            <c:chart xmlns:c="http://schemas.openxmlformats.org/drawingml/2006/chart" r:id="rId3"/>
          </a:graphicData>
        </a:graphic>
      </p:graphicFrame>
      <p:sp>
        <p:nvSpPr>
          <p:cNvPr id="11" name="TextBox 10"/>
          <p:cNvSpPr txBox="1"/>
          <p:nvPr/>
        </p:nvSpPr>
        <p:spPr>
          <a:xfrm>
            <a:off x="2049780" y="3878635"/>
            <a:ext cx="1524000" cy="400050"/>
          </a:xfrm>
          <a:prstGeom prst="rect">
            <a:avLst/>
          </a:prstGeom>
          <a:noFill/>
        </p:spPr>
        <p:txBody>
          <a:bodyPr wrap="square" lIns="28575" rIns="28575" tIns="9525" bIns="9525" anchor="ctr">
            <a:spAutoFit/>
          </a:bodyPr>
          <a:lstStyle/>
          <a:p>
            <a:pPr algn="ctr"/>
            <a:r>
              <a:rPr sz="1300" b="1">
                <a:solidFill>
                  <a:srgbClr val="2E2E2E"/>
                </a:solidFill>
                <a:latin typeface="Calibri"/>
              </a:rPr>
              <a:t/>
            </a:r>
          </a:p>
          <a:p>
            <a:pPr algn="ctr"/>
            <a:r>
              <a:rPr sz="1300" b="1">
                <a:solidFill>
                  <a:srgbClr val="2E2E2E"/>
                </a:solidFill>
                <a:latin typeface="Calibri"/>
              </a:rPr>
              <a:t/>
            </a:r>
          </a:p>
        </p:txBody>
      </p:sp>
      <p:sp>
        <p:nvSpPr>
          <p:cNvPr id="12" name="Rounded Rectangle 11"/>
          <p:cNvSpPr/>
          <p:nvPr/>
        </p:nvSpPr>
        <p:spPr>
          <a:xfrm>
            <a:off x="7800975" y="1354081"/>
            <a:ext cx="4248150" cy="5220558"/>
          </a:xfrm>
          <a:prstGeom prst="roundRect">
            <a:avLst>
              <a:gd name="adj" fmla="val 179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34325" y="1439806"/>
            <a:ext cx="39814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14" name="Rectangle 13"/>
          <p:cNvSpPr/>
          <p:nvPr/>
        </p:nvSpPr>
        <p:spPr>
          <a:xfrm>
            <a:off x="7934325" y="1677931"/>
            <a:ext cx="39814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34325" y="1763656"/>
            <a:ext cx="3981450" cy="4734783"/>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6" name="Rectangle 1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5"/>
          <a:stretch>
            <a:fillRect/>
          </a:stretch>
        </p:blipFill>
        <p:spPr>
          <a:xfrm>
            <a:off x="2533173" y="3678610"/>
            <a:ext cx="523875" cy="762000"/>
          </a:xfrm>
          <a:prstGeom prst="rect">
            <a:avLst/>
          </a:prstGeom>
        </p:spPr>
      </p:pic>
      <p:sp>
        <p:nvSpPr>
          <p:cNvPr id="19" name="TextBox 18"/>
          <p:cNvSpPr txBox="1"/>
          <p:nvPr/>
        </p:nvSpPr>
        <p:spPr>
          <a:xfrm>
            <a:off x="2634865" y="3914616"/>
            <a:ext cx="430029" cy="161696"/>
          </a:xfrm>
          <a:prstGeom prst="rect">
            <a:avLst/>
          </a:prstGeom>
          <a:noFill/>
        </p:spPr>
        <p:txBody>
          <a:bodyPr wrap="none" lIns="0" rIns="0" tIns="0" bIns="0">
            <a:spAutoFit/>
          </a:bodyPr>
          <a:lstStyle/>
          <a:p>
            <a:r>
              <a:rPr sz="935" b="1">
                <a:solidFill>
                  <a:srgbClr val="2E2E2E"/>
                </a:solidFill>
                <a:latin typeface="Calibri"/>
              </a:rPr>
              <a:t>100% =</a:t>
            </a:r>
          </a:p>
        </p:txBody>
      </p:sp>
      <p:pic>
        <p:nvPicPr>
          <p:cNvPr id="20" name="Picture 19" descr="lock.png"/>
          <p:cNvPicPr>
            <a:picLocks noChangeAspect="1"/>
          </p:cNvPicPr>
          <p:nvPr/>
        </p:nvPicPr>
        <p:blipFill>
          <a:blip r:embed="rId5"/>
          <a:stretch>
            <a:fillRect/>
          </a:stretch>
        </p:blipFill>
        <p:spPr>
          <a:xfrm>
            <a:off x="2540344" y="4091735"/>
            <a:ext cx="109510" cy="159288"/>
          </a:xfrm>
          <a:prstGeom prst="rect">
            <a:avLst/>
          </a:prstGeom>
        </p:spPr>
      </p:pic>
      <p:sp>
        <p:nvSpPr>
          <p:cNvPr id="21" name="TextBox 20"/>
          <p:cNvSpPr txBox="1"/>
          <p:nvPr/>
        </p:nvSpPr>
        <p:spPr>
          <a:xfrm>
            <a:off x="2682868" y="4100056"/>
            <a:ext cx="465087" cy="161696"/>
          </a:xfrm>
          <a:prstGeom prst="rect">
            <a:avLst/>
          </a:prstGeom>
          <a:noFill/>
        </p:spPr>
        <p:txBody>
          <a:bodyPr wrap="none" lIns="0" rIns="0" tIns="0" bIns="0">
            <a:spAutoFit/>
          </a:bodyPr>
          <a:lstStyle/>
          <a:p>
            <a:r>
              <a:rPr sz="935" b="1">
                <a:solidFill>
                  <a:srgbClr val="2E2E2E"/>
                </a:solidFill>
                <a:latin typeface="Calibri"/>
              </a:rPr>
              <a:t>US$ Mn</a:t>
            </a:r>
          </a:p>
        </p:txBody>
      </p:sp>
      <p:sp>
        <p:nvSpPr>
          <p:cNvPr id="22" name="TextBox 21"/>
          <p:cNvSpPr txBox="1"/>
          <p:nvPr/>
        </p:nvSpPr>
        <p:spPr>
          <a:xfrm>
            <a:off x="7934325" y="1773181"/>
            <a:ext cx="3962400" cy="194310"/>
          </a:xfrm>
          <a:prstGeom prst="rect">
            <a:avLst/>
          </a:prstGeom>
          <a:noFill/>
        </p:spPr>
        <p:txBody>
          <a:bodyPr wrap="none" lIns="0" rIns="0" tIns="0" bIns="0">
            <a:spAutoFit/>
          </a:bodyPr>
          <a:lstStyle/>
          <a:p>
            <a:r>
              <a:rPr sz="1150" b="0">
                <a:solidFill>
                  <a:srgbClr val="2E2E2E"/>
                </a:solidFill>
                <a:latin typeface="Calibri"/>
              </a:rPr>
              <a:t>Atlas Copco accounted for the largest share of the global industrial</a:t>
            </a:r>
          </a:p>
        </p:txBody>
      </p:sp>
      <p:sp>
        <p:nvSpPr>
          <p:cNvPr id="23" name="TextBox 22"/>
          <p:cNvSpPr txBox="1"/>
          <p:nvPr/>
        </p:nvSpPr>
        <p:spPr>
          <a:xfrm>
            <a:off x="7934325" y="1948441"/>
            <a:ext cx="3356905" cy="194310"/>
          </a:xfrm>
          <a:prstGeom prst="rect">
            <a:avLst/>
          </a:prstGeom>
          <a:noFill/>
        </p:spPr>
        <p:txBody>
          <a:bodyPr wrap="none" lIns="0" rIns="0" tIns="0" bIns="0">
            <a:spAutoFit/>
          </a:bodyPr>
          <a:lstStyle/>
          <a:p>
            <a:r>
              <a:rPr sz="1150" b="0">
                <a:solidFill>
                  <a:srgbClr val="2E2E2E"/>
                </a:solidFill>
                <a:latin typeface="Calibri"/>
              </a:rPr>
              <a:t>air compressor market in 2026. The global industrial air</a:t>
            </a:r>
          </a:p>
        </p:txBody>
      </p:sp>
      <p:sp>
        <p:nvSpPr>
          <p:cNvPr id="24" name="TextBox 23"/>
          <p:cNvSpPr txBox="1"/>
          <p:nvPr/>
        </p:nvSpPr>
        <p:spPr>
          <a:xfrm>
            <a:off x="7934325" y="2123701"/>
            <a:ext cx="3706055" cy="194310"/>
          </a:xfrm>
          <a:prstGeom prst="rect">
            <a:avLst/>
          </a:prstGeom>
          <a:noFill/>
        </p:spPr>
        <p:txBody>
          <a:bodyPr wrap="none" lIns="0" rIns="0" tIns="0" bIns="0">
            <a:spAutoFit/>
          </a:bodyPr>
          <a:lstStyle/>
          <a:p>
            <a:r>
              <a:rPr sz="1150" b="0">
                <a:solidFill>
                  <a:srgbClr val="2E2E2E"/>
                </a:solidFill>
                <a:latin typeface="Calibri"/>
              </a:rPr>
              <a:t>compressor market is fragmented, with the top three players</a:t>
            </a:r>
          </a:p>
        </p:txBody>
      </p:sp>
      <p:sp>
        <p:nvSpPr>
          <p:cNvPr id="25" name="TextBox 24"/>
          <p:cNvSpPr txBox="1"/>
          <p:nvPr/>
        </p:nvSpPr>
        <p:spPr>
          <a:xfrm>
            <a:off x="7934325" y="2298961"/>
            <a:ext cx="1744650" cy="194310"/>
          </a:xfrm>
          <a:prstGeom prst="rect">
            <a:avLst/>
          </a:prstGeom>
          <a:noFill/>
        </p:spPr>
        <p:txBody>
          <a:bodyPr wrap="none" lIns="0" rIns="0" tIns="0" bIns="0">
            <a:spAutoFit/>
          </a:bodyPr>
          <a:lstStyle/>
          <a:p>
            <a:r>
              <a:rPr sz="1150" b="0">
                <a:solidFill>
                  <a:srgbClr val="2E2E2E"/>
                </a:solidFill>
                <a:latin typeface="Calibri"/>
              </a:rPr>
              <a:t>accounting for an estimated</a:t>
            </a:r>
          </a:p>
        </p:txBody>
      </p:sp>
      <p:pic>
        <p:nvPicPr>
          <p:cNvPr id="26" name="Picture 25" descr="lock.png"/>
          <p:cNvPicPr>
            <a:picLocks noChangeAspect="1"/>
          </p:cNvPicPr>
          <p:nvPr/>
        </p:nvPicPr>
        <p:blipFill>
          <a:blip r:embed="rId5"/>
          <a:stretch>
            <a:fillRect/>
          </a:stretch>
        </p:blipFill>
        <p:spPr>
          <a:xfrm>
            <a:off x="9628129" y="2288737"/>
            <a:ext cx="134549" cy="195707"/>
          </a:xfrm>
          <a:prstGeom prst="rect">
            <a:avLst/>
          </a:prstGeom>
        </p:spPr>
      </p:pic>
      <p:sp>
        <p:nvSpPr>
          <p:cNvPr id="27" name="TextBox 26"/>
          <p:cNvSpPr txBox="1"/>
          <p:nvPr/>
        </p:nvSpPr>
        <p:spPr>
          <a:xfrm>
            <a:off x="9803238" y="2298961"/>
            <a:ext cx="1758912" cy="194310"/>
          </a:xfrm>
          <a:prstGeom prst="rect">
            <a:avLst/>
          </a:prstGeom>
          <a:noFill/>
        </p:spPr>
        <p:txBody>
          <a:bodyPr wrap="none" lIns="0" rIns="0" tIns="0" bIns="0">
            <a:spAutoFit/>
          </a:bodyPr>
          <a:lstStyle/>
          <a:p>
            <a:r>
              <a:rPr sz="1150" b="0">
                <a:solidFill>
                  <a:srgbClr val="2E2E2E"/>
                </a:solidFill>
                <a:latin typeface="Calibri"/>
              </a:rPr>
              <a:t>share of the market in 2026.</a:t>
            </a:r>
          </a:p>
        </p:txBody>
      </p:sp>
      <p:sp>
        <p:nvSpPr>
          <p:cNvPr id="28" name="TextBox 27"/>
          <p:cNvSpPr txBox="1"/>
          <p:nvPr/>
        </p:nvSpPr>
        <p:spPr>
          <a:xfrm>
            <a:off x="7934325" y="2526799"/>
            <a:ext cx="2445746" cy="194310"/>
          </a:xfrm>
          <a:prstGeom prst="rect">
            <a:avLst/>
          </a:prstGeom>
          <a:noFill/>
        </p:spPr>
        <p:txBody>
          <a:bodyPr wrap="none" lIns="0" rIns="0" tIns="0" bIns="0">
            <a:spAutoFit/>
          </a:bodyPr>
          <a:lstStyle/>
          <a:p>
            <a:r>
              <a:rPr sz="1150" b="0">
                <a:solidFill>
                  <a:srgbClr val="2E2E2E"/>
                </a:solidFill>
                <a:latin typeface="Calibri"/>
              </a:rPr>
              <a:t>Atlas Copco accounted for an estimated</a:t>
            </a:r>
          </a:p>
        </p:txBody>
      </p:sp>
      <p:pic>
        <p:nvPicPr>
          <p:cNvPr id="29" name="Picture 28" descr="lock.png"/>
          <p:cNvPicPr>
            <a:picLocks noChangeAspect="1"/>
          </p:cNvPicPr>
          <p:nvPr/>
        </p:nvPicPr>
        <p:blipFill>
          <a:blip r:embed="rId5"/>
          <a:stretch>
            <a:fillRect/>
          </a:stretch>
        </p:blipFill>
        <p:spPr>
          <a:xfrm>
            <a:off x="10329225" y="2516575"/>
            <a:ext cx="134549" cy="195707"/>
          </a:xfrm>
          <a:prstGeom prst="rect">
            <a:avLst/>
          </a:prstGeom>
        </p:spPr>
      </p:pic>
      <p:sp>
        <p:nvSpPr>
          <p:cNvPr id="30" name="TextBox 29"/>
          <p:cNvSpPr txBox="1"/>
          <p:nvPr/>
        </p:nvSpPr>
        <p:spPr>
          <a:xfrm>
            <a:off x="10504334" y="2526799"/>
            <a:ext cx="1285391" cy="194310"/>
          </a:xfrm>
          <a:prstGeom prst="rect">
            <a:avLst/>
          </a:prstGeom>
          <a:noFill/>
        </p:spPr>
        <p:txBody>
          <a:bodyPr wrap="none" lIns="0" rIns="0" tIns="0" bIns="0">
            <a:spAutoFit/>
          </a:bodyPr>
          <a:lstStyle/>
          <a:p>
            <a:r>
              <a:rPr sz="1150" b="0">
                <a:solidFill>
                  <a:srgbClr val="2E2E2E"/>
                </a:solidFill>
                <a:latin typeface="Calibri"/>
              </a:rPr>
              <a:t>share of the market,</a:t>
            </a:r>
          </a:p>
        </p:txBody>
      </p:sp>
      <p:sp>
        <p:nvSpPr>
          <p:cNvPr id="31" name="TextBox 30"/>
          <p:cNvSpPr txBox="1"/>
          <p:nvPr/>
        </p:nvSpPr>
        <p:spPr>
          <a:xfrm>
            <a:off x="7934325" y="2702058"/>
            <a:ext cx="1945183" cy="194310"/>
          </a:xfrm>
          <a:prstGeom prst="rect">
            <a:avLst/>
          </a:prstGeom>
          <a:noFill/>
        </p:spPr>
        <p:txBody>
          <a:bodyPr wrap="none" lIns="0" rIns="0" tIns="0" bIns="0">
            <a:spAutoFit/>
          </a:bodyPr>
          <a:lstStyle/>
          <a:p>
            <a:r>
              <a:rPr sz="1150" b="0">
                <a:solidFill>
                  <a:srgbClr val="2E2E2E"/>
                </a:solidFill>
                <a:latin typeface="Calibri"/>
              </a:rPr>
              <a:t>followed by Ingersoll Rand with</a:t>
            </a:r>
          </a:p>
        </p:txBody>
      </p:sp>
      <p:pic>
        <p:nvPicPr>
          <p:cNvPr id="32" name="Picture 31" descr="lock.png"/>
          <p:cNvPicPr>
            <a:picLocks noChangeAspect="1"/>
          </p:cNvPicPr>
          <p:nvPr/>
        </p:nvPicPr>
        <p:blipFill>
          <a:blip r:embed="rId5"/>
          <a:stretch>
            <a:fillRect/>
          </a:stretch>
        </p:blipFill>
        <p:spPr>
          <a:xfrm>
            <a:off x="9828662" y="2691835"/>
            <a:ext cx="134549" cy="195707"/>
          </a:xfrm>
          <a:prstGeom prst="rect">
            <a:avLst/>
          </a:prstGeom>
        </p:spPr>
      </p:pic>
      <p:sp>
        <p:nvSpPr>
          <p:cNvPr id="33" name="TextBox 32"/>
          <p:cNvSpPr txBox="1"/>
          <p:nvPr/>
        </p:nvSpPr>
        <p:spPr>
          <a:xfrm>
            <a:off x="10003771" y="2702058"/>
            <a:ext cx="1764292" cy="194310"/>
          </a:xfrm>
          <a:prstGeom prst="rect">
            <a:avLst/>
          </a:prstGeom>
          <a:noFill/>
        </p:spPr>
        <p:txBody>
          <a:bodyPr wrap="none" lIns="0" rIns="0" tIns="0" bIns="0">
            <a:spAutoFit/>
          </a:bodyPr>
          <a:lstStyle/>
          <a:p>
            <a:r>
              <a:rPr sz="1150" b="0">
                <a:solidFill>
                  <a:srgbClr val="2E2E2E"/>
                </a:solidFill>
                <a:latin typeface="Calibri"/>
              </a:rPr>
              <a:t>. Key players are focusing on</a:t>
            </a:r>
          </a:p>
        </p:txBody>
      </p:sp>
      <p:sp>
        <p:nvSpPr>
          <p:cNvPr id="34" name="TextBox 33"/>
          <p:cNvSpPr txBox="1"/>
          <p:nvPr/>
        </p:nvSpPr>
        <p:spPr>
          <a:xfrm>
            <a:off x="7934325" y="2877318"/>
            <a:ext cx="3381437" cy="194310"/>
          </a:xfrm>
          <a:prstGeom prst="rect">
            <a:avLst/>
          </a:prstGeom>
          <a:noFill/>
        </p:spPr>
        <p:txBody>
          <a:bodyPr wrap="none" lIns="0" rIns="0" tIns="0" bIns="0">
            <a:spAutoFit/>
          </a:bodyPr>
          <a:lstStyle/>
          <a:p>
            <a:r>
              <a:rPr sz="1150" b="0">
                <a:solidFill>
                  <a:srgbClr val="2E2E2E"/>
                </a:solidFill>
                <a:latin typeface="Calibri"/>
              </a:rPr>
              <a:t>product innovation, geographic expansion and strategic</a:t>
            </a:r>
          </a:p>
        </p:txBody>
      </p:sp>
      <p:sp>
        <p:nvSpPr>
          <p:cNvPr id="35" name="TextBox 34"/>
          <p:cNvSpPr txBox="1"/>
          <p:nvPr/>
        </p:nvSpPr>
        <p:spPr>
          <a:xfrm>
            <a:off x="7934325" y="3052578"/>
            <a:ext cx="2993776" cy="194310"/>
          </a:xfrm>
          <a:prstGeom prst="rect">
            <a:avLst/>
          </a:prstGeom>
          <a:noFill/>
        </p:spPr>
        <p:txBody>
          <a:bodyPr wrap="none" lIns="0" rIns="0" tIns="0" bIns="0">
            <a:spAutoFit/>
          </a:bodyPr>
          <a:lstStyle/>
          <a:p>
            <a:r>
              <a:rPr sz="1150" b="0">
                <a:solidFill>
                  <a:srgbClr val="2E2E2E"/>
                </a:solidFill>
                <a:latin typeface="Calibri"/>
              </a:rPr>
              <a:t>partnerships to strengthen their market position.</a:t>
            </a:r>
          </a:p>
        </p:txBody>
      </p:sp>
      <p:sp>
        <p:nvSpPr>
          <p:cNvPr id="36" name="TextBox 35"/>
          <p:cNvSpPr txBox="1"/>
          <p:nvPr/>
        </p:nvSpPr>
        <p:spPr>
          <a:xfrm>
            <a:off x="7934325" y="3280416"/>
            <a:ext cx="3647864" cy="194310"/>
          </a:xfrm>
          <a:prstGeom prst="rect">
            <a:avLst/>
          </a:prstGeom>
          <a:noFill/>
        </p:spPr>
        <p:txBody>
          <a:bodyPr wrap="none" lIns="0" rIns="0" tIns="0" bIns="0">
            <a:spAutoFit/>
          </a:bodyPr>
          <a:lstStyle/>
          <a:p>
            <a:r>
              <a:rPr sz="1150" b="0">
                <a:solidFill>
                  <a:srgbClr val="2E2E2E"/>
                </a:solidFill>
                <a:latin typeface="Calibri"/>
              </a:rPr>
              <a:t>Regional share differs from the global picture use the region</a:t>
            </a:r>
          </a:p>
        </p:txBody>
      </p:sp>
      <p:sp>
        <p:nvSpPr>
          <p:cNvPr id="37" name="TextBox 36"/>
          <p:cNvSpPr txBox="1"/>
          <p:nvPr/>
        </p:nvSpPr>
        <p:spPr>
          <a:xfrm>
            <a:off x="7934325" y="3455676"/>
            <a:ext cx="3444763" cy="194310"/>
          </a:xfrm>
          <a:prstGeom prst="rect">
            <a:avLst/>
          </a:prstGeom>
          <a:noFill/>
        </p:spPr>
        <p:txBody>
          <a:bodyPr wrap="none" lIns="0" rIns="0" tIns="0" bIns="0">
            <a:spAutoFit/>
          </a:bodyPr>
          <a:lstStyle/>
          <a:p>
            <a:r>
              <a:rPr sz="1150" b="0">
                <a:solidFill>
                  <a:srgbClr val="2E2E2E"/>
                </a:solidFill>
                <a:latin typeface="Calibri"/>
              </a:rPr>
              <a:t>selector to see how leadership shifts across geographies.</a:t>
            </a:r>
          </a:p>
        </p:txBody>
      </p:sp>
      <p:sp>
        <p:nvSpPr>
          <p:cNvPr id="38" name="lockshield_10"/>
          <p:cNvSpPr/>
          <p:nvPr/>
        </p:nvSpPr>
        <p:spPr>
          <a:xfrm>
            <a:off x="238125" y="1639831"/>
            <a:ext cx="7353300" cy="4877658"/>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Company Share by Product Type (Top 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company value share within each leading technology, highlighting where leadership differs</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leading product types where each player concentrates, and how leadership varies by formulation.</a:t>
            </a:r>
          </a:p>
        </p:txBody>
      </p:sp>
      <p:sp>
        <p:nvSpPr>
          <p:cNvPr id="8" name="Rounded Rectangle 7"/>
          <p:cNvSpPr/>
          <p:nvPr/>
        </p:nvSpPr>
        <p:spPr>
          <a:xfrm>
            <a:off x="142875" y="1299320"/>
            <a:ext cx="38290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Scroll Air Compressor</a:t>
            </a:r>
          </a:p>
        </p:txBody>
      </p:sp>
      <p:graphicFrame>
        <p:nvGraphicFramePr>
          <p:cNvPr id="10" name="Chart 9"/>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1" name="Rounded Rectangle 10"/>
          <p:cNvSpPr/>
          <p:nvPr/>
        </p:nvSpPr>
        <p:spPr>
          <a:xfrm>
            <a:off x="4124325" y="1299320"/>
            <a:ext cx="38290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Rotary Screw Air Compressor</a:t>
            </a:r>
          </a:p>
        </p:txBody>
      </p:sp>
      <p:graphicFrame>
        <p:nvGraphicFramePr>
          <p:cNvPr id="13" name="Chart 12"/>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4" name="Rounded Rectangle 13"/>
          <p:cNvSpPr/>
          <p:nvPr/>
        </p:nvSpPr>
        <p:spPr>
          <a:xfrm>
            <a:off x="8105775" y="1299320"/>
            <a:ext cx="39433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Centrifugal Air Compressor</a:t>
            </a:r>
          </a:p>
        </p:txBody>
      </p:sp>
      <p:graphicFrame>
        <p:nvGraphicFramePr>
          <p:cNvPr id="16" name="Chart 15"/>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17" name="Rounded Rectangle 16"/>
          <p:cNvSpPr/>
          <p:nvPr/>
        </p:nvSpPr>
        <p:spPr>
          <a:xfrm>
            <a:off x="142875" y="4603240"/>
            <a:ext cx="11906250" cy="1971399"/>
          </a:xfrm>
          <a:prstGeom prst="roundRect">
            <a:avLst>
              <a:gd name="adj" fmla="val 386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E2A5C"/>
                </a:solidFill>
                <a:latin typeface="Calibri"/>
              </a:rPr>
              <a:t>Company Share Key Takeaways</a:t>
            </a:r>
          </a:p>
        </p:txBody>
      </p:sp>
      <p:sp>
        <p:nvSpPr>
          <p:cNvPr id="19" name="Rectangle 18"/>
          <p:cNvSpPr/>
          <p:nvPr/>
        </p:nvSpPr>
        <p:spPr>
          <a:xfrm>
            <a:off x="276225" y="492709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7"/>
          <a:stretch>
            <a:fillRect/>
          </a:stretch>
        </p:blipFill>
        <p:spPr>
          <a:xfrm>
            <a:off x="1233011" y="2619895"/>
            <a:ext cx="523875" cy="762000"/>
          </a:xfrm>
          <a:prstGeom prst="rect">
            <a:avLst/>
          </a:prstGeom>
        </p:spPr>
      </p:pic>
      <p:pic>
        <p:nvPicPr>
          <p:cNvPr id="24" name="Picture 23" descr="lock.png"/>
          <p:cNvPicPr>
            <a:picLocks noChangeAspect="1"/>
          </p:cNvPicPr>
          <p:nvPr/>
        </p:nvPicPr>
        <p:blipFill>
          <a:blip r:embed="rId7"/>
          <a:stretch>
            <a:fillRect/>
          </a:stretch>
        </p:blipFill>
        <p:spPr>
          <a:xfrm>
            <a:off x="5214461" y="2619895"/>
            <a:ext cx="523875" cy="762000"/>
          </a:xfrm>
          <a:prstGeom prst="rect">
            <a:avLst/>
          </a:prstGeom>
        </p:spPr>
      </p:pic>
      <p:pic>
        <p:nvPicPr>
          <p:cNvPr id="25" name="Picture 24" descr="lock.png"/>
          <p:cNvPicPr>
            <a:picLocks noChangeAspect="1"/>
          </p:cNvPicPr>
          <p:nvPr/>
        </p:nvPicPr>
        <p:blipFill>
          <a:blip r:embed="rId7"/>
          <a:stretch>
            <a:fillRect/>
          </a:stretch>
        </p:blipFill>
        <p:spPr>
          <a:xfrm>
            <a:off x="9235916" y="2619895"/>
            <a:ext cx="523875" cy="762000"/>
          </a:xfrm>
          <a:prstGeom prst="rect">
            <a:avLst/>
          </a:prstGeom>
        </p:spPr>
      </p:pic>
      <p:sp>
        <p:nvSpPr>
          <p:cNvPr id="26" name="TextBox 25"/>
          <p:cNvSpPr txBox="1"/>
          <p:nvPr/>
        </p:nvSpPr>
        <p:spPr>
          <a:xfrm>
            <a:off x="276225" y="5022340"/>
            <a:ext cx="2870204" cy="194310"/>
          </a:xfrm>
          <a:prstGeom prst="rect">
            <a:avLst/>
          </a:prstGeom>
          <a:noFill/>
        </p:spPr>
        <p:txBody>
          <a:bodyPr wrap="none" lIns="0" rIns="0" tIns="0" bIns="0">
            <a:spAutoFit/>
          </a:bodyPr>
          <a:lstStyle/>
          <a:p>
            <a:r>
              <a:rPr sz="1150" b="0">
                <a:solidFill>
                  <a:srgbClr val="2E2E2E"/>
                </a:solidFill>
                <a:latin typeface="Calibri"/>
              </a:rPr>
              <a:t>▪ Scroll Air Compressor: 'Atlas Copco' leads at ~</a:t>
            </a:r>
          </a:p>
        </p:txBody>
      </p:sp>
      <p:pic>
        <p:nvPicPr>
          <p:cNvPr id="27" name="Picture 26" descr="lock.png"/>
          <p:cNvPicPr>
            <a:picLocks noChangeAspect="1"/>
          </p:cNvPicPr>
          <p:nvPr/>
        </p:nvPicPr>
        <p:blipFill>
          <a:blip r:embed="rId7"/>
          <a:stretch>
            <a:fillRect/>
          </a:stretch>
        </p:blipFill>
        <p:spPr>
          <a:xfrm>
            <a:off x="3095583" y="5012116"/>
            <a:ext cx="134549" cy="195707"/>
          </a:xfrm>
          <a:prstGeom prst="rect">
            <a:avLst/>
          </a:prstGeom>
        </p:spPr>
      </p:pic>
      <p:sp>
        <p:nvSpPr>
          <p:cNvPr id="28" name="TextBox 27"/>
          <p:cNvSpPr txBox="1"/>
          <p:nvPr/>
        </p:nvSpPr>
        <p:spPr>
          <a:xfrm>
            <a:off x="3270692" y="5022340"/>
            <a:ext cx="2395733" cy="194310"/>
          </a:xfrm>
          <a:prstGeom prst="rect">
            <a:avLst/>
          </a:prstGeom>
          <a:noFill/>
        </p:spPr>
        <p:txBody>
          <a:bodyPr wrap="none" lIns="0" rIns="0" tIns="0" bIns="0">
            <a:spAutoFit/>
          </a:bodyPr>
          <a:lstStyle/>
          <a:p>
            <a:r>
              <a:rPr sz="1150" b="0">
                <a:solidFill>
                  <a:srgbClr val="2E2E2E"/>
                </a:solidFill>
                <a:latin typeface="Calibri"/>
              </a:rPr>
              <a:t>, ahead of 'KAESER KOMPRESSOREN' (~</a:t>
            </a:r>
          </a:p>
        </p:txBody>
      </p:sp>
      <p:pic>
        <p:nvPicPr>
          <p:cNvPr id="29" name="Picture 28" descr="lock.png"/>
          <p:cNvPicPr>
            <a:picLocks noChangeAspect="1"/>
          </p:cNvPicPr>
          <p:nvPr/>
        </p:nvPicPr>
        <p:blipFill>
          <a:blip r:embed="rId7"/>
          <a:stretch>
            <a:fillRect/>
          </a:stretch>
        </p:blipFill>
        <p:spPr>
          <a:xfrm>
            <a:off x="5615579" y="5012116"/>
            <a:ext cx="134549" cy="195707"/>
          </a:xfrm>
          <a:prstGeom prst="rect">
            <a:avLst/>
          </a:prstGeom>
        </p:spPr>
      </p:pic>
      <p:sp>
        <p:nvSpPr>
          <p:cNvPr id="30" name="TextBox 29"/>
          <p:cNvSpPr txBox="1"/>
          <p:nvPr/>
        </p:nvSpPr>
        <p:spPr>
          <a:xfrm>
            <a:off x="5790688"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1" name="Picture 30" descr="lock.png"/>
          <p:cNvPicPr>
            <a:picLocks noChangeAspect="1"/>
          </p:cNvPicPr>
          <p:nvPr/>
        </p:nvPicPr>
        <p:blipFill>
          <a:blip r:embed="rId7"/>
          <a:stretch>
            <a:fillRect/>
          </a:stretch>
        </p:blipFill>
        <p:spPr>
          <a:xfrm>
            <a:off x="7125358" y="5012116"/>
            <a:ext cx="134549" cy="195707"/>
          </a:xfrm>
          <a:prstGeom prst="rect">
            <a:avLst/>
          </a:prstGeom>
        </p:spPr>
      </p:pic>
      <p:sp>
        <p:nvSpPr>
          <p:cNvPr id="32" name="TextBox 31"/>
          <p:cNvSpPr txBox="1"/>
          <p:nvPr/>
        </p:nvSpPr>
        <p:spPr>
          <a:xfrm>
            <a:off x="7300467"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3" name="Picture 32" descr="lock.png"/>
          <p:cNvPicPr>
            <a:picLocks noChangeAspect="1"/>
          </p:cNvPicPr>
          <p:nvPr/>
        </p:nvPicPr>
        <p:blipFill>
          <a:blip r:embed="rId7"/>
          <a:stretch>
            <a:fillRect/>
          </a:stretch>
        </p:blipFill>
        <p:spPr>
          <a:xfrm>
            <a:off x="8855923" y="5012116"/>
            <a:ext cx="134549" cy="195707"/>
          </a:xfrm>
          <a:prstGeom prst="rect">
            <a:avLst/>
          </a:prstGeom>
        </p:spPr>
      </p:pic>
      <p:sp>
        <p:nvSpPr>
          <p:cNvPr id="34" name="TextBox 33"/>
          <p:cNvSpPr txBox="1"/>
          <p:nvPr/>
        </p:nvSpPr>
        <p:spPr>
          <a:xfrm>
            <a:off x="9031032"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5" name="TextBox 34"/>
          <p:cNvSpPr txBox="1"/>
          <p:nvPr/>
        </p:nvSpPr>
        <p:spPr>
          <a:xfrm>
            <a:off x="276225" y="5250177"/>
            <a:ext cx="3046834" cy="194310"/>
          </a:xfrm>
          <a:prstGeom prst="rect">
            <a:avLst/>
          </a:prstGeom>
          <a:noFill/>
        </p:spPr>
        <p:txBody>
          <a:bodyPr wrap="none" lIns="0" rIns="0" tIns="0" bIns="0">
            <a:spAutoFit/>
          </a:bodyPr>
          <a:lstStyle/>
          <a:p>
            <a:r>
              <a:rPr sz="1150" b="0">
                <a:solidFill>
                  <a:srgbClr val="2E2E2E"/>
                </a:solidFill>
                <a:latin typeface="Calibri"/>
              </a:rPr>
              <a:t>▪ Rotary Screw Air Compressor: 'Hitachi' leads at ~</a:t>
            </a:r>
          </a:p>
        </p:txBody>
      </p:sp>
      <p:pic>
        <p:nvPicPr>
          <p:cNvPr id="36" name="Picture 35" descr="lock.png"/>
          <p:cNvPicPr>
            <a:picLocks noChangeAspect="1"/>
          </p:cNvPicPr>
          <p:nvPr/>
        </p:nvPicPr>
        <p:blipFill>
          <a:blip r:embed="rId7"/>
          <a:stretch>
            <a:fillRect/>
          </a:stretch>
        </p:blipFill>
        <p:spPr>
          <a:xfrm>
            <a:off x="3272213" y="5239954"/>
            <a:ext cx="134549" cy="195707"/>
          </a:xfrm>
          <a:prstGeom prst="rect">
            <a:avLst/>
          </a:prstGeom>
        </p:spPr>
      </p:pic>
      <p:sp>
        <p:nvSpPr>
          <p:cNvPr id="37" name="TextBox 36"/>
          <p:cNvSpPr txBox="1"/>
          <p:nvPr/>
        </p:nvSpPr>
        <p:spPr>
          <a:xfrm>
            <a:off x="3447322" y="5250177"/>
            <a:ext cx="1757201" cy="194310"/>
          </a:xfrm>
          <a:prstGeom prst="rect">
            <a:avLst/>
          </a:prstGeom>
          <a:noFill/>
        </p:spPr>
        <p:txBody>
          <a:bodyPr wrap="none" lIns="0" rIns="0" tIns="0" bIns="0">
            <a:spAutoFit/>
          </a:bodyPr>
          <a:lstStyle/>
          <a:p>
            <a:r>
              <a:rPr sz="1150" b="0">
                <a:solidFill>
                  <a:srgbClr val="2E2E2E"/>
                </a:solidFill>
                <a:latin typeface="Calibri"/>
              </a:rPr>
              <a:t>, ahead of 'Ingersoll Rand' (~</a:t>
            </a:r>
          </a:p>
        </p:txBody>
      </p:sp>
      <p:pic>
        <p:nvPicPr>
          <p:cNvPr id="38" name="Picture 37" descr="lock.png"/>
          <p:cNvPicPr>
            <a:picLocks noChangeAspect="1"/>
          </p:cNvPicPr>
          <p:nvPr/>
        </p:nvPicPr>
        <p:blipFill>
          <a:blip r:embed="rId7"/>
          <a:stretch>
            <a:fillRect/>
          </a:stretch>
        </p:blipFill>
        <p:spPr>
          <a:xfrm>
            <a:off x="5153677" y="5239954"/>
            <a:ext cx="134549" cy="195707"/>
          </a:xfrm>
          <a:prstGeom prst="rect">
            <a:avLst/>
          </a:prstGeom>
        </p:spPr>
      </p:pic>
      <p:sp>
        <p:nvSpPr>
          <p:cNvPr id="39" name="TextBox 38"/>
          <p:cNvSpPr txBox="1"/>
          <p:nvPr/>
        </p:nvSpPr>
        <p:spPr>
          <a:xfrm>
            <a:off x="5328786"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0" name="Picture 39" descr="lock.png"/>
          <p:cNvPicPr>
            <a:picLocks noChangeAspect="1"/>
          </p:cNvPicPr>
          <p:nvPr/>
        </p:nvPicPr>
        <p:blipFill>
          <a:blip r:embed="rId7"/>
          <a:stretch>
            <a:fillRect/>
          </a:stretch>
        </p:blipFill>
        <p:spPr>
          <a:xfrm>
            <a:off x="6663456" y="5239954"/>
            <a:ext cx="134549" cy="195707"/>
          </a:xfrm>
          <a:prstGeom prst="rect">
            <a:avLst/>
          </a:prstGeom>
        </p:spPr>
      </p:pic>
      <p:sp>
        <p:nvSpPr>
          <p:cNvPr id="41" name="TextBox 40"/>
          <p:cNvSpPr txBox="1"/>
          <p:nvPr/>
        </p:nvSpPr>
        <p:spPr>
          <a:xfrm>
            <a:off x="6838565"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2" name="Picture 41" descr="lock.png"/>
          <p:cNvPicPr>
            <a:picLocks noChangeAspect="1"/>
          </p:cNvPicPr>
          <p:nvPr/>
        </p:nvPicPr>
        <p:blipFill>
          <a:blip r:embed="rId7"/>
          <a:stretch>
            <a:fillRect/>
          </a:stretch>
        </p:blipFill>
        <p:spPr>
          <a:xfrm>
            <a:off x="8394021" y="5239954"/>
            <a:ext cx="134549" cy="195707"/>
          </a:xfrm>
          <a:prstGeom prst="rect">
            <a:avLst/>
          </a:prstGeom>
        </p:spPr>
      </p:pic>
      <p:sp>
        <p:nvSpPr>
          <p:cNvPr id="43" name="TextBox 42"/>
          <p:cNvSpPr txBox="1"/>
          <p:nvPr/>
        </p:nvSpPr>
        <p:spPr>
          <a:xfrm>
            <a:off x="8569130"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4" name="TextBox 43"/>
          <p:cNvSpPr txBox="1"/>
          <p:nvPr/>
        </p:nvSpPr>
        <p:spPr>
          <a:xfrm>
            <a:off x="276225" y="5478015"/>
            <a:ext cx="3200528" cy="194310"/>
          </a:xfrm>
          <a:prstGeom prst="rect">
            <a:avLst/>
          </a:prstGeom>
          <a:noFill/>
        </p:spPr>
        <p:txBody>
          <a:bodyPr wrap="none" lIns="0" rIns="0" tIns="0" bIns="0">
            <a:spAutoFit/>
          </a:bodyPr>
          <a:lstStyle/>
          <a:p>
            <a:r>
              <a:rPr sz="1150" b="0">
                <a:solidFill>
                  <a:srgbClr val="2E2E2E"/>
                </a:solidFill>
                <a:latin typeface="Calibri"/>
              </a:rPr>
              <a:t>▪ Centrifugal Air Compressor: 'Atlas Copco' leads at ~</a:t>
            </a:r>
          </a:p>
        </p:txBody>
      </p:sp>
      <p:pic>
        <p:nvPicPr>
          <p:cNvPr id="45" name="Picture 44" descr="lock.png"/>
          <p:cNvPicPr>
            <a:picLocks noChangeAspect="1"/>
          </p:cNvPicPr>
          <p:nvPr/>
        </p:nvPicPr>
        <p:blipFill>
          <a:blip r:embed="rId7"/>
          <a:stretch>
            <a:fillRect/>
          </a:stretch>
        </p:blipFill>
        <p:spPr>
          <a:xfrm>
            <a:off x="3425907" y="5467792"/>
            <a:ext cx="134549" cy="195707"/>
          </a:xfrm>
          <a:prstGeom prst="rect">
            <a:avLst/>
          </a:prstGeom>
        </p:spPr>
      </p:pic>
      <p:sp>
        <p:nvSpPr>
          <p:cNvPr id="46" name="TextBox 45"/>
          <p:cNvSpPr txBox="1"/>
          <p:nvPr/>
        </p:nvSpPr>
        <p:spPr>
          <a:xfrm>
            <a:off x="3601016" y="5478015"/>
            <a:ext cx="1757201" cy="194310"/>
          </a:xfrm>
          <a:prstGeom prst="rect">
            <a:avLst/>
          </a:prstGeom>
          <a:noFill/>
        </p:spPr>
        <p:txBody>
          <a:bodyPr wrap="none" lIns="0" rIns="0" tIns="0" bIns="0">
            <a:spAutoFit/>
          </a:bodyPr>
          <a:lstStyle/>
          <a:p>
            <a:r>
              <a:rPr sz="1150" b="0">
                <a:solidFill>
                  <a:srgbClr val="2E2E2E"/>
                </a:solidFill>
                <a:latin typeface="Calibri"/>
              </a:rPr>
              <a:t>, ahead of 'Ingersoll Rand' (~</a:t>
            </a:r>
          </a:p>
        </p:txBody>
      </p:sp>
      <p:pic>
        <p:nvPicPr>
          <p:cNvPr id="47" name="Picture 46" descr="lock.png"/>
          <p:cNvPicPr>
            <a:picLocks noChangeAspect="1"/>
          </p:cNvPicPr>
          <p:nvPr/>
        </p:nvPicPr>
        <p:blipFill>
          <a:blip r:embed="rId7"/>
          <a:stretch>
            <a:fillRect/>
          </a:stretch>
        </p:blipFill>
        <p:spPr>
          <a:xfrm>
            <a:off x="5307371" y="5467792"/>
            <a:ext cx="134549" cy="195707"/>
          </a:xfrm>
          <a:prstGeom prst="rect">
            <a:avLst/>
          </a:prstGeom>
        </p:spPr>
      </p:pic>
      <p:sp>
        <p:nvSpPr>
          <p:cNvPr id="48" name="TextBox 47"/>
          <p:cNvSpPr txBox="1"/>
          <p:nvPr/>
        </p:nvSpPr>
        <p:spPr>
          <a:xfrm>
            <a:off x="5482480"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9" name="Picture 48" descr="lock.png"/>
          <p:cNvPicPr>
            <a:picLocks noChangeAspect="1"/>
          </p:cNvPicPr>
          <p:nvPr/>
        </p:nvPicPr>
        <p:blipFill>
          <a:blip r:embed="rId7"/>
          <a:stretch>
            <a:fillRect/>
          </a:stretch>
        </p:blipFill>
        <p:spPr>
          <a:xfrm>
            <a:off x="6817150" y="5467792"/>
            <a:ext cx="134549" cy="195707"/>
          </a:xfrm>
          <a:prstGeom prst="rect">
            <a:avLst/>
          </a:prstGeom>
        </p:spPr>
      </p:pic>
      <p:sp>
        <p:nvSpPr>
          <p:cNvPr id="50" name="TextBox 49"/>
          <p:cNvSpPr txBox="1"/>
          <p:nvPr/>
        </p:nvSpPr>
        <p:spPr>
          <a:xfrm>
            <a:off x="6992259"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1" name="Picture 50" descr="lock.png"/>
          <p:cNvPicPr>
            <a:picLocks noChangeAspect="1"/>
          </p:cNvPicPr>
          <p:nvPr/>
        </p:nvPicPr>
        <p:blipFill>
          <a:blip r:embed="rId7"/>
          <a:stretch>
            <a:fillRect/>
          </a:stretch>
        </p:blipFill>
        <p:spPr>
          <a:xfrm>
            <a:off x="8547715" y="5467792"/>
            <a:ext cx="134549" cy="195707"/>
          </a:xfrm>
          <a:prstGeom prst="rect">
            <a:avLst/>
          </a:prstGeom>
        </p:spPr>
      </p:pic>
      <p:sp>
        <p:nvSpPr>
          <p:cNvPr id="52" name="TextBox 51"/>
          <p:cNvSpPr txBox="1"/>
          <p:nvPr/>
        </p:nvSpPr>
        <p:spPr>
          <a:xfrm>
            <a:off x="8722824"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3" name="TextBox 52"/>
          <p:cNvSpPr txBox="1"/>
          <p:nvPr/>
        </p:nvSpPr>
        <p:spPr>
          <a:xfrm>
            <a:off x="276225" y="5705853"/>
            <a:ext cx="8908516" cy="194310"/>
          </a:xfrm>
          <a:prstGeom prst="rect">
            <a:avLst/>
          </a:prstGeom>
          <a:noFill/>
        </p:spPr>
        <p:txBody>
          <a:bodyPr wrap="none" lIns="0" rIns="0" tIns="0" bIns="0">
            <a:spAutoFit/>
          </a:bodyPr>
          <a:lstStyle/>
          <a:p>
            <a:r>
              <a:rPr sz="1150" b="0">
                <a:solidFill>
                  <a:srgbClr val="2E2E2E"/>
                </a:solidFill>
                <a:latin typeface="Calibri"/>
              </a:rPr>
              <a:t>▪ Leadership shifts across formulations a strong position in one product type does not carry over to the others, so product-level targeting is essential.</a:t>
            </a:r>
          </a:p>
        </p:txBody>
      </p:sp>
      <p:sp>
        <p:nvSpPr>
          <p:cNvPr id="54" name="TextBox 53"/>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5" name="lockshield_10"/>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3"/>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16"/>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Company Share by Region (Top 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Company value share within the largest regions, highlighting where leadership shifts across geographies</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largest regions where each player concentrates, and how leadership varies by geography.</a:t>
            </a:r>
          </a:p>
        </p:txBody>
      </p:sp>
      <p:sp>
        <p:nvSpPr>
          <p:cNvPr id="8" name="Rounded Rectangle 7"/>
          <p:cNvSpPr/>
          <p:nvPr/>
        </p:nvSpPr>
        <p:spPr>
          <a:xfrm>
            <a:off x="142875" y="1299320"/>
            <a:ext cx="38290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a:t>
            </a:r>
          </a:p>
        </p:txBody>
      </p:sp>
      <p:graphicFrame>
        <p:nvGraphicFramePr>
          <p:cNvPr id="10" name="Chart 9"/>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1" name="Rounded Rectangle 10"/>
          <p:cNvSpPr/>
          <p:nvPr/>
        </p:nvSpPr>
        <p:spPr>
          <a:xfrm>
            <a:off x="4124325" y="1299320"/>
            <a:ext cx="38290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South Asia &amp; Pacific</a:t>
            </a:r>
          </a:p>
        </p:txBody>
      </p:sp>
      <p:graphicFrame>
        <p:nvGraphicFramePr>
          <p:cNvPr id="13" name="Chart 12"/>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4" name="Rounded Rectangle 13"/>
          <p:cNvSpPr/>
          <p:nvPr/>
        </p:nvSpPr>
        <p:spPr>
          <a:xfrm>
            <a:off x="8105775" y="1299320"/>
            <a:ext cx="39433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East Asia</a:t>
            </a:r>
          </a:p>
        </p:txBody>
      </p:sp>
      <p:graphicFrame>
        <p:nvGraphicFramePr>
          <p:cNvPr id="16" name="Chart 15"/>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17" name="Rounded Rectangle 16"/>
          <p:cNvSpPr/>
          <p:nvPr/>
        </p:nvSpPr>
        <p:spPr>
          <a:xfrm>
            <a:off x="142875" y="4603240"/>
            <a:ext cx="11906250" cy="1971399"/>
          </a:xfrm>
          <a:prstGeom prst="roundRect">
            <a:avLst>
              <a:gd name="adj" fmla="val 386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E2A5C"/>
                </a:solidFill>
                <a:latin typeface="Calibri"/>
              </a:rPr>
              <a:t>Company Share Key Takeaways</a:t>
            </a:r>
          </a:p>
        </p:txBody>
      </p:sp>
      <p:sp>
        <p:nvSpPr>
          <p:cNvPr id="19" name="Rectangle 18"/>
          <p:cNvSpPr/>
          <p:nvPr/>
        </p:nvSpPr>
        <p:spPr>
          <a:xfrm>
            <a:off x="276225" y="492709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7"/>
          <a:stretch>
            <a:fillRect/>
          </a:stretch>
        </p:blipFill>
        <p:spPr>
          <a:xfrm>
            <a:off x="1233011" y="2619895"/>
            <a:ext cx="523875" cy="762000"/>
          </a:xfrm>
          <a:prstGeom prst="rect">
            <a:avLst/>
          </a:prstGeom>
        </p:spPr>
      </p:pic>
      <p:pic>
        <p:nvPicPr>
          <p:cNvPr id="24" name="Picture 23" descr="lock.png"/>
          <p:cNvPicPr>
            <a:picLocks noChangeAspect="1"/>
          </p:cNvPicPr>
          <p:nvPr/>
        </p:nvPicPr>
        <p:blipFill>
          <a:blip r:embed="rId7"/>
          <a:stretch>
            <a:fillRect/>
          </a:stretch>
        </p:blipFill>
        <p:spPr>
          <a:xfrm>
            <a:off x="5214461" y="2619895"/>
            <a:ext cx="523875" cy="762000"/>
          </a:xfrm>
          <a:prstGeom prst="rect">
            <a:avLst/>
          </a:prstGeom>
        </p:spPr>
      </p:pic>
      <p:pic>
        <p:nvPicPr>
          <p:cNvPr id="25" name="Picture 24" descr="lock.png"/>
          <p:cNvPicPr>
            <a:picLocks noChangeAspect="1"/>
          </p:cNvPicPr>
          <p:nvPr/>
        </p:nvPicPr>
        <p:blipFill>
          <a:blip r:embed="rId7"/>
          <a:stretch>
            <a:fillRect/>
          </a:stretch>
        </p:blipFill>
        <p:spPr>
          <a:xfrm>
            <a:off x="9235916" y="2619895"/>
            <a:ext cx="523875" cy="762000"/>
          </a:xfrm>
          <a:prstGeom prst="rect">
            <a:avLst/>
          </a:prstGeom>
        </p:spPr>
      </p:pic>
      <p:sp>
        <p:nvSpPr>
          <p:cNvPr id="26" name="TextBox 25"/>
          <p:cNvSpPr txBox="1"/>
          <p:nvPr/>
        </p:nvSpPr>
        <p:spPr>
          <a:xfrm>
            <a:off x="276225" y="5022340"/>
            <a:ext cx="2467996" cy="194310"/>
          </a:xfrm>
          <a:prstGeom prst="rect">
            <a:avLst/>
          </a:prstGeom>
          <a:noFill/>
        </p:spPr>
        <p:txBody>
          <a:bodyPr wrap="none" lIns="0" rIns="0" tIns="0" bIns="0">
            <a:spAutoFit/>
          </a:bodyPr>
          <a:lstStyle/>
          <a:p>
            <a:r>
              <a:rPr sz="1150" b="0">
                <a:solidFill>
                  <a:srgbClr val="2E2E2E"/>
                </a:solidFill>
                <a:latin typeface="Calibri"/>
              </a:rPr>
              <a:t>▪ North America: 'Atlas Copco' leads at ~</a:t>
            </a:r>
          </a:p>
        </p:txBody>
      </p:sp>
      <p:pic>
        <p:nvPicPr>
          <p:cNvPr id="27" name="Picture 26" descr="lock.png"/>
          <p:cNvPicPr>
            <a:picLocks noChangeAspect="1"/>
          </p:cNvPicPr>
          <p:nvPr/>
        </p:nvPicPr>
        <p:blipFill>
          <a:blip r:embed="rId7"/>
          <a:stretch>
            <a:fillRect/>
          </a:stretch>
        </p:blipFill>
        <p:spPr>
          <a:xfrm>
            <a:off x="2693375" y="5012116"/>
            <a:ext cx="134549" cy="195707"/>
          </a:xfrm>
          <a:prstGeom prst="rect">
            <a:avLst/>
          </a:prstGeom>
        </p:spPr>
      </p:pic>
      <p:sp>
        <p:nvSpPr>
          <p:cNvPr id="28" name="TextBox 27"/>
          <p:cNvSpPr txBox="1"/>
          <p:nvPr/>
        </p:nvSpPr>
        <p:spPr>
          <a:xfrm>
            <a:off x="2868484" y="5022340"/>
            <a:ext cx="1757201" cy="194310"/>
          </a:xfrm>
          <a:prstGeom prst="rect">
            <a:avLst/>
          </a:prstGeom>
          <a:noFill/>
        </p:spPr>
        <p:txBody>
          <a:bodyPr wrap="none" lIns="0" rIns="0" tIns="0" bIns="0">
            <a:spAutoFit/>
          </a:bodyPr>
          <a:lstStyle/>
          <a:p>
            <a:r>
              <a:rPr sz="1150" b="0">
                <a:solidFill>
                  <a:srgbClr val="2E2E2E"/>
                </a:solidFill>
                <a:latin typeface="Calibri"/>
              </a:rPr>
              <a:t>, ahead of 'Ingersoll Rand' (~</a:t>
            </a:r>
          </a:p>
        </p:txBody>
      </p:sp>
      <p:pic>
        <p:nvPicPr>
          <p:cNvPr id="29" name="Picture 28" descr="lock.png"/>
          <p:cNvPicPr>
            <a:picLocks noChangeAspect="1"/>
          </p:cNvPicPr>
          <p:nvPr/>
        </p:nvPicPr>
        <p:blipFill>
          <a:blip r:embed="rId7"/>
          <a:stretch>
            <a:fillRect/>
          </a:stretch>
        </p:blipFill>
        <p:spPr>
          <a:xfrm>
            <a:off x="4574839" y="5012116"/>
            <a:ext cx="134549" cy="195707"/>
          </a:xfrm>
          <a:prstGeom prst="rect">
            <a:avLst/>
          </a:prstGeom>
        </p:spPr>
      </p:pic>
      <p:sp>
        <p:nvSpPr>
          <p:cNvPr id="30" name="TextBox 29"/>
          <p:cNvSpPr txBox="1"/>
          <p:nvPr/>
        </p:nvSpPr>
        <p:spPr>
          <a:xfrm>
            <a:off x="4749948"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1" name="Picture 30" descr="lock.png"/>
          <p:cNvPicPr>
            <a:picLocks noChangeAspect="1"/>
          </p:cNvPicPr>
          <p:nvPr/>
        </p:nvPicPr>
        <p:blipFill>
          <a:blip r:embed="rId7"/>
          <a:stretch>
            <a:fillRect/>
          </a:stretch>
        </p:blipFill>
        <p:spPr>
          <a:xfrm>
            <a:off x="6084618" y="5012116"/>
            <a:ext cx="134549" cy="195707"/>
          </a:xfrm>
          <a:prstGeom prst="rect">
            <a:avLst/>
          </a:prstGeom>
        </p:spPr>
      </p:pic>
      <p:sp>
        <p:nvSpPr>
          <p:cNvPr id="32" name="TextBox 31"/>
          <p:cNvSpPr txBox="1"/>
          <p:nvPr/>
        </p:nvSpPr>
        <p:spPr>
          <a:xfrm>
            <a:off x="6259727"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3" name="Picture 32" descr="lock.png"/>
          <p:cNvPicPr>
            <a:picLocks noChangeAspect="1"/>
          </p:cNvPicPr>
          <p:nvPr/>
        </p:nvPicPr>
        <p:blipFill>
          <a:blip r:embed="rId7"/>
          <a:stretch>
            <a:fillRect/>
          </a:stretch>
        </p:blipFill>
        <p:spPr>
          <a:xfrm>
            <a:off x="7815183" y="5012116"/>
            <a:ext cx="134549" cy="195707"/>
          </a:xfrm>
          <a:prstGeom prst="rect">
            <a:avLst/>
          </a:prstGeom>
        </p:spPr>
      </p:pic>
      <p:sp>
        <p:nvSpPr>
          <p:cNvPr id="34" name="TextBox 33"/>
          <p:cNvSpPr txBox="1"/>
          <p:nvPr/>
        </p:nvSpPr>
        <p:spPr>
          <a:xfrm>
            <a:off x="7990292"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5" name="TextBox 34"/>
          <p:cNvSpPr txBox="1"/>
          <p:nvPr/>
        </p:nvSpPr>
        <p:spPr>
          <a:xfrm>
            <a:off x="276225" y="5250177"/>
            <a:ext cx="2767797" cy="194310"/>
          </a:xfrm>
          <a:prstGeom prst="rect">
            <a:avLst/>
          </a:prstGeom>
          <a:noFill/>
        </p:spPr>
        <p:txBody>
          <a:bodyPr wrap="none" lIns="0" rIns="0" tIns="0" bIns="0">
            <a:spAutoFit/>
          </a:bodyPr>
          <a:lstStyle/>
          <a:p>
            <a:r>
              <a:rPr sz="1150" b="0">
                <a:solidFill>
                  <a:srgbClr val="2E2E2E"/>
                </a:solidFill>
                <a:latin typeface="Calibri"/>
              </a:rPr>
              <a:t>▪ South Asia &amp; Pacific: 'Atlas Copco' leads at ~</a:t>
            </a:r>
          </a:p>
        </p:txBody>
      </p:sp>
      <p:pic>
        <p:nvPicPr>
          <p:cNvPr id="36" name="Picture 35" descr="lock.png"/>
          <p:cNvPicPr>
            <a:picLocks noChangeAspect="1"/>
          </p:cNvPicPr>
          <p:nvPr/>
        </p:nvPicPr>
        <p:blipFill>
          <a:blip r:embed="rId7"/>
          <a:stretch>
            <a:fillRect/>
          </a:stretch>
        </p:blipFill>
        <p:spPr>
          <a:xfrm>
            <a:off x="2993176" y="5239954"/>
            <a:ext cx="134549" cy="195707"/>
          </a:xfrm>
          <a:prstGeom prst="rect">
            <a:avLst/>
          </a:prstGeom>
        </p:spPr>
      </p:pic>
      <p:sp>
        <p:nvSpPr>
          <p:cNvPr id="37" name="TextBox 36"/>
          <p:cNvSpPr txBox="1"/>
          <p:nvPr/>
        </p:nvSpPr>
        <p:spPr>
          <a:xfrm>
            <a:off x="3168286" y="5250177"/>
            <a:ext cx="1329890" cy="194310"/>
          </a:xfrm>
          <a:prstGeom prst="rect">
            <a:avLst/>
          </a:prstGeom>
          <a:noFill/>
        </p:spPr>
        <p:txBody>
          <a:bodyPr wrap="none" lIns="0" rIns="0" tIns="0" bIns="0">
            <a:spAutoFit/>
          </a:bodyPr>
          <a:lstStyle/>
          <a:p>
            <a:r>
              <a:rPr sz="1150" b="0">
                <a:solidFill>
                  <a:srgbClr val="2E2E2E"/>
                </a:solidFill>
                <a:latin typeface="Calibri"/>
              </a:rPr>
              <a:t>, ahead of 'Hitachi' (~</a:t>
            </a:r>
          </a:p>
        </p:txBody>
      </p:sp>
      <p:pic>
        <p:nvPicPr>
          <p:cNvPr id="38" name="Picture 37" descr="lock.png"/>
          <p:cNvPicPr>
            <a:picLocks noChangeAspect="1"/>
          </p:cNvPicPr>
          <p:nvPr/>
        </p:nvPicPr>
        <p:blipFill>
          <a:blip r:embed="rId7"/>
          <a:stretch>
            <a:fillRect/>
          </a:stretch>
        </p:blipFill>
        <p:spPr>
          <a:xfrm>
            <a:off x="4447330" y="5239954"/>
            <a:ext cx="134549" cy="195707"/>
          </a:xfrm>
          <a:prstGeom prst="rect">
            <a:avLst/>
          </a:prstGeom>
        </p:spPr>
      </p:pic>
      <p:sp>
        <p:nvSpPr>
          <p:cNvPr id="39" name="TextBox 38"/>
          <p:cNvSpPr txBox="1"/>
          <p:nvPr/>
        </p:nvSpPr>
        <p:spPr>
          <a:xfrm>
            <a:off x="4622440"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0" name="Picture 39" descr="lock.png"/>
          <p:cNvPicPr>
            <a:picLocks noChangeAspect="1"/>
          </p:cNvPicPr>
          <p:nvPr/>
        </p:nvPicPr>
        <p:blipFill>
          <a:blip r:embed="rId7"/>
          <a:stretch>
            <a:fillRect/>
          </a:stretch>
        </p:blipFill>
        <p:spPr>
          <a:xfrm>
            <a:off x="5957109" y="5239954"/>
            <a:ext cx="134549" cy="195707"/>
          </a:xfrm>
          <a:prstGeom prst="rect">
            <a:avLst/>
          </a:prstGeom>
        </p:spPr>
      </p:pic>
      <p:sp>
        <p:nvSpPr>
          <p:cNvPr id="41" name="TextBox 40"/>
          <p:cNvSpPr txBox="1"/>
          <p:nvPr/>
        </p:nvSpPr>
        <p:spPr>
          <a:xfrm>
            <a:off x="6132218"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2" name="Picture 41" descr="lock.png"/>
          <p:cNvPicPr>
            <a:picLocks noChangeAspect="1"/>
          </p:cNvPicPr>
          <p:nvPr/>
        </p:nvPicPr>
        <p:blipFill>
          <a:blip r:embed="rId7"/>
          <a:stretch>
            <a:fillRect/>
          </a:stretch>
        </p:blipFill>
        <p:spPr>
          <a:xfrm>
            <a:off x="7687674" y="5239954"/>
            <a:ext cx="134549" cy="195707"/>
          </a:xfrm>
          <a:prstGeom prst="rect">
            <a:avLst/>
          </a:prstGeom>
        </p:spPr>
      </p:pic>
      <p:sp>
        <p:nvSpPr>
          <p:cNvPr id="43" name="TextBox 42"/>
          <p:cNvSpPr txBox="1"/>
          <p:nvPr/>
        </p:nvSpPr>
        <p:spPr>
          <a:xfrm>
            <a:off x="7862784"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4" name="TextBox 43"/>
          <p:cNvSpPr txBox="1"/>
          <p:nvPr/>
        </p:nvSpPr>
        <p:spPr>
          <a:xfrm>
            <a:off x="276225" y="5478015"/>
            <a:ext cx="2121662" cy="194310"/>
          </a:xfrm>
          <a:prstGeom prst="rect">
            <a:avLst/>
          </a:prstGeom>
          <a:noFill/>
        </p:spPr>
        <p:txBody>
          <a:bodyPr wrap="none" lIns="0" rIns="0" tIns="0" bIns="0">
            <a:spAutoFit/>
          </a:bodyPr>
          <a:lstStyle/>
          <a:p>
            <a:r>
              <a:rPr sz="1150" b="0">
                <a:solidFill>
                  <a:srgbClr val="2E2E2E"/>
                </a:solidFill>
                <a:latin typeface="Calibri"/>
              </a:rPr>
              <a:t>▪ East Asia: 'Atlas Copco' leads at ~</a:t>
            </a:r>
          </a:p>
        </p:txBody>
      </p:sp>
      <p:pic>
        <p:nvPicPr>
          <p:cNvPr id="45" name="Picture 44" descr="lock.png"/>
          <p:cNvPicPr>
            <a:picLocks noChangeAspect="1"/>
          </p:cNvPicPr>
          <p:nvPr/>
        </p:nvPicPr>
        <p:blipFill>
          <a:blip r:embed="rId7"/>
          <a:stretch>
            <a:fillRect/>
          </a:stretch>
        </p:blipFill>
        <p:spPr>
          <a:xfrm>
            <a:off x="2347041" y="5467792"/>
            <a:ext cx="134549" cy="195707"/>
          </a:xfrm>
          <a:prstGeom prst="rect">
            <a:avLst/>
          </a:prstGeom>
        </p:spPr>
      </p:pic>
      <p:sp>
        <p:nvSpPr>
          <p:cNvPr id="46" name="TextBox 45"/>
          <p:cNvSpPr txBox="1"/>
          <p:nvPr/>
        </p:nvSpPr>
        <p:spPr>
          <a:xfrm>
            <a:off x="2522150" y="5478015"/>
            <a:ext cx="2395733" cy="194310"/>
          </a:xfrm>
          <a:prstGeom prst="rect">
            <a:avLst/>
          </a:prstGeom>
          <a:noFill/>
        </p:spPr>
        <p:txBody>
          <a:bodyPr wrap="none" lIns="0" rIns="0" tIns="0" bIns="0">
            <a:spAutoFit/>
          </a:bodyPr>
          <a:lstStyle/>
          <a:p>
            <a:r>
              <a:rPr sz="1150" b="0">
                <a:solidFill>
                  <a:srgbClr val="2E2E2E"/>
                </a:solidFill>
                <a:latin typeface="Calibri"/>
              </a:rPr>
              <a:t>, ahead of 'KAESER KOMPRESSOREN' (~</a:t>
            </a:r>
          </a:p>
        </p:txBody>
      </p:sp>
      <p:pic>
        <p:nvPicPr>
          <p:cNvPr id="47" name="Picture 46" descr="lock.png"/>
          <p:cNvPicPr>
            <a:picLocks noChangeAspect="1"/>
          </p:cNvPicPr>
          <p:nvPr/>
        </p:nvPicPr>
        <p:blipFill>
          <a:blip r:embed="rId7"/>
          <a:stretch>
            <a:fillRect/>
          </a:stretch>
        </p:blipFill>
        <p:spPr>
          <a:xfrm>
            <a:off x="4867037" y="5467792"/>
            <a:ext cx="134549" cy="195707"/>
          </a:xfrm>
          <a:prstGeom prst="rect">
            <a:avLst/>
          </a:prstGeom>
        </p:spPr>
      </p:pic>
      <p:sp>
        <p:nvSpPr>
          <p:cNvPr id="48" name="TextBox 47"/>
          <p:cNvSpPr txBox="1"/>
          <p:nvPr/>
        </p:nvSpPr>
        <p:spPr>
          <a:xfrm>
            <a:off x="5042146"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9" name="Picture 48" descr="lock.png"/>
          <p:cNvPicPr>
            <a:picLocks noChangeAspect="1"/>
          </p:cNvPicPr>
          <p:nvPr/>
        </p:nvPicPr>
        <p:blipFill>
          <a:blip r:embed="rId7"/>
          <a:stretch>
            <a:fillRect/>
          </a:stretch>
        </p:blipFill>
        <p:spPr>
          <a:xfrm>
            <a:off x="6376816" y="5467792"/>
            <a:ext cx="134549" cy="195707"/>
          </a:xfrm>
          <a:prstGeom prst="rect">
            <a:avLst/>
          </a:prstGeom>
        </p:spPr>
      </p:pic>
      <p:sp>
        <p:nvSpPr>
          <p:cNvPr id="50" name="TextBox 49"/>
          <p:cNvSpPr txBox="1"/>
          <p:nvPr/>
        </p:nvSpPr>
        <p:spPr>
          <a:xfrm>
            <a:off x="6551925"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1" name="Picture 50" descr="lock.png"/>
          <p:cNvPicPr>
            <a:picLocks noChangeAspect="1"/>
          </p:cNvPicPr>
          <p:nvPr/>
        </p:nvPicPr>
        <p:blipFill>
          <a:blip r:embed="rId7"/>
          <a:stretch>
            <a:fillRect/>
          </a:stretch>
        </p:blipFill>
        <p:spPr>
          <a:xfrm>
            <a:off x="8107381" y="5467792"/>
            <a:ext cx="134549" cy="195707"/>
          </a:xfrm>
          <a:prstGeom prst="rect">
            <a:avLst/>
          </a:prstGeom>
        </p:spPr>
      </p:pic>
      <p:sp>
        <p:nvSpPr>
          <p:cNvPr id="52" name="TextBox 51"/>
          <p:cNvSpPr txBox="1"/>
          <p:nvPr/>
        </p:nvSpPr>
        <p:spPr>
          <a:xfrm>
            <a:off x="8282490"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3" name="TextBox 52"/>
          <p:cNvSpPr txBox="1"/>
          <p:nvPr/>
        </p:nvSpPr>
        <p:spPr>
          <a:xfrm>
            <a:off x="276225" y="5705853"/>
            <a:ext cx="9705801" cy="194310"/>
          </a:xfrm>
          <a:prstGeom prst="rect">
            <a:avLst/>
          </a:prstGeom>
          <a:noFill/>
        </p:spPr>
        <p:txBody>
          <a:bodyPr wrap="none" lIns="0" rIns="0" tIns="0" bIns="0">
            <a:spAutoFit/>
          </a:bodyPr>
          <a:lstStyle/>
          <a:p>
            <a:r>
              <a:rPr sz="1150" b="0">
                <a:solidFill>
                  <a:srgbClr val="2E2E2E"/>
                </a:solidFill>
                <a:latin typeface="Calibri"/>
              </a:rPr>
              <a:t>▪ Leadership is not uniform across geographies a strong position in one region does not carry over to the others, so region-level go-to-market planning is essential.</a:t>
            </a:r>
          </a:p>
        </p:txBody>
      </p:sp>
      <p:sp>
        <p:nvSpPr>
          <p:cNvPr id="54" name="TextBox 53"/>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5" name="lockshield_10"/>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3"/>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16"/>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Industrial Air Compressor Market Who Shaped Growth</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Ranking of the players that shaped growth, by value share, growth role and signature move</a:t>
            </a:r>
          </a:p>
        </p:txBody>
      </p:sp>
      <p:sp>
        <p:nvSpPr>
          <p:cNvPr id="7" name="TextBox 6"/>
          <p:cNvSpPr txBox="1"/>
          <p:nvPr/>
        </p:nvSpPr>
        <p:spPr>
          <a:xfrm>
            <a:off x="142875" y="970754"/>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A framework to identify the companies that most influenced annual Industrial Air Compressor Market growth, ranked by growth-shaping impact.</a:t>
            </a:r>
          </a:p>
        </p:txBody>
      </p:sp>
      <p:sp>
        <p:nvSpPr>
          <p:cNvPr id="8" name="Rounded Rectangle 7"/>
          <p:cNvSpPr/>
          <p:nvPr/>
        </p:nvSpPr>
        <p:spPr>
          <a:xfrm>
            <a:off x="3619500" y="1189798"/>
            <a:ext cx="4953000" cy="419835"/>
          </a:xfrm>
          <a:prstGeom prst="roundRect">
            <a:avLst>
              <a:gd name="adj" fmla="val 1538"/>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33800" y="1226305"/>
            <a:ext cx="4724400" cy="173410"/>
          </a:xfrm>
          <a:prstGeom prst="rect">
            <a:avLst/>
          </a:prstGeom>
          <a:noFill/>
        </p:spPr>
        <p:txBody>
          <a:bodyPr wrap="square" lIns="28575" rIns="28575" tIns="9525" bIns="9525" anchor="ctr">
            <a:spAutoFit/>
          </a:bodyPr>
          <a:lstStyle/>
          <a:p>
            <a:pPr algn="ctr"/>
            <a:r>
              <a:rPr sz="1100" b="1">
                <a:solidFill>
                  <a:srgbClr val="0B2E4A"/>
                </a:solidFill>
                <a:latin typeface="Calibri"/>
              </a:rPr>
              <a:t>RANKED BY GROWTH-SHAPING IMPACT</a:t>
            </a:r>
          </a:p>
        </p:txBody>
      </p:sp>
      <p:sp>
        <p:nvSpPr>
          <p:cNvPr id="10" name="TextBox 9"/>
          <p:cNvSpPr txBox="1"/>
          <p:nvPr/>
        </p:nvSpPr>
        <p:spPr>
          <a:xfrm>
            <a:off x="3733800" y="1399716"/>
            <a:ext cx="4724400" cy="173410"/>
          </a:xfrm>
          <a:prstGeom prst="rect">
            <a:avLst/>
          </a:prstGeom>
          <a:noFill/>
        </p:spPr>
        <p:txBody>
          <a:bodyPr wrap="square" lIns="28575" rIns="28575" tIns="9525" bIns="9525" anchor="ctr">
            <a:spAutoFit/>
          </a:bodyPr>
          <a:lstStyle/>
          <a:p>
            <a:pPr algn="ctr"/>
            <a:r>
              <a:rPr sz="1100" b="0">
                <a:solidFill>
                  <a:srgbClr val="6C7A89"/>
                </a:solidFill>
                <a:latin typeface="Calibri"/>
              </a:rPr>
              <a:t>Ranked by overall contribution to category growth, not share alone.</a:t>
            </a:r>
          </a:p>
        </p:txBody>
      </p:sp>
      <p:cxnSp>
        <p:nvCxnSpPr>
          <p:cNvPr id="11" name="Connector 10"/>
          <p:cNvCxnSpPr/>
          <p:nvPr/>
        </p:nvCxnSpPr>
        <p:spPr>
          <a:xfrm>
            <a:off x="428625"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743950"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23875" y="1792170"/>
            <a:ext cx="11106150" cy="0"/>
          </a:xfrm>
          <a:prstGeom prst="line">
            <a:avLst/>
          </a:prstGeom>
          <a:ln w="25400">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4" name="Freeform 13"/>
          <p:cNvSpPr/>
          <p:nvPr/>
        </p:nvSpPr>
        <p:spPr>
          <a:xfrm>
            <a:off x="11630025" y="1728282"/>
            <a:ext cx="171450" cy="127776"/>
          </a:xfrm>
          <a:custGeom>
            <a:avLst/>
            <a:gdLst/>
            <a:ahLst/>
            <a:cxnLst/>
            <a:rect l="l" t="t" r="r" b="b"/>
            <a:pathLst>
              <a:path w="18" h="14">
                <a:moveTo>
                  <a:pt x="0" y="0"/>
                </a:moveTo>
                <a:lnTo>
                  <a:pt x="18" y="7"/>
                </a:lnTo>
                <a:lnTo>
                  <a:pt x="0" y="14"/>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52525" y="1655267"/>
            <a:ext cx="285750" cy="273805"/>
          </a:xfrm>
          <a:prstGeom prst="ellipse">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525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17" name="Rounded Rectangle 16"/>
          <p:cNvSpPr/>
          <p:nvPr/>
        </p:nvSpPr>
        <p:spPr>
          <a:xfrm>
            <a:off x="142875" y="1992961"/>
            <a:ext cx="2305050" cy="2135683"/>
          </a:xfrm>
          <a:prstGeom prst="roundRect">
            <a:avLst>
              <a:gd name="adj" fmla="val 3719"/>
            </a:avLst>
          </a:prstGeom>
          <a:solidFill>
            <a:srgbClr val="FFFFFF"/>
          </a:solidFill>
          <a:ln w="2032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2875" y="1992961"/>
            <a:ext cx="2305050" cy="310313"/>
          </a:xfrm>
          <a:prstGeom prst="roundRect">
            <a:avLst>
              <a:gd name="adj" fmla="val 3719"/>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71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71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21" name="TextBox 20"/>
          <p:cNvSpPr txBox="1"/>
          <p:nvPr/>
        </p:nvSpPr>
        <p:spPr>
          <a:xfrm>
            <a:off x="5238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Atlas Copco</a:t>
            </a:r>
          </a:p>
        </p:txBody>
      </p:sp>
      <p:sp>
        <p:nvSpPr>
          <p:cNvPr id="22" name="TextBox 21"/>
          <p:cNvSpPr txBox="1"/>
          <p:nvPr/>
        </p:nvSpPr>
        <p:spPr>
          <a:xfrm>
            <a:off x="2381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4286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24" name="Connector 23"/>
          <p:cNvCxnSpPr/>
          <p:nvPr/>
        </p:nvCxnSpPr>
        <p:spPr>
          <a:xfrm>
            <a:off x="2381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381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4286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27" name="TextBox 26"/>
          <p:cNvSpPr txBox="1"/>
          <p:nvPr/>
        </p:nvSpPr>
        <p:spPr>
          <a:xfrm>
            <a:off x="428625" y="2805250"/>
            <a:ext cx="1924050" cy="164283"/>
          </a:xfrm>
          <a:prstGeom prst="rect">
            <a:avLst/>
          </a:prstGeom>
          <a:noFill/>
        </p:spPr>
        <p:txBody>
          <a:bodyPr wrap="square" lIns="28575" rIns="28575" tIns="9525" bIns="9525" anchor="ctr">
            <a:spAutoFit/>
          </a:bodyPr>
          <a:lstStyle/>
          <a:p>
            <a:pPr algn="l"/>
            <a:r>
              <a:rPr sz="1100" b="1">
                <a:solidFill>
                  <a:srgbClr val="0E72AE"/>
                </a:solidFill>
                <a:latin typeface="Calibri"/>
              </a:rPr>
              <a:t>Market leader</a:t>
            </a:r>
          </a:p>
        </p:txBody>
      </p:sp>
      <p:cxnSp>
        <p:nvCxnSpPr>
          <p:cNvPr id="28" name="Connector 27"/>
          <p:cNvCxnSpPr/>
          <p:nvPr/>
        </p:nvCxnSpPr>
        <p:spPr>
          <a:xfrm>
            <a:off x="2381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381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0" name="TextBox 29"/>
          <p:cNvSpPr txBox="1"/>
          <p:nvPr/>
        </p:nvSpPr>
        <p:spPr>
          <a:xfrm>
            <a:off x="4286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31" name="TextBox 30"/>
          <p:cNvSpPr txBox="1"/>
          <p:nvPr/>
        </p:nvSpPr>
        <p:spPr>
          <a:xfrm>
            <a:off x="4286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Expanded reach across its core segment</a:t>
            </a:r>
          </a:p>
        </p:txBody>
      </p:sp>
      <p:cxnSp>
        <p:nvCxnSpPr>
          <p:cNvPr id="32" name="Connector 31"/>
          <p:cNvCxnSpPr/>
          <p:nvPr/>
        </p:nvCxnSpPr>
        <p:spPr>
          <a:xfrm>
            <a:off x="2381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381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4" name="TextBox 33"/>
          <p:cNvSpPr txBox="1"/>
          <p:nvPr/>
        </p:nvSpPr>
        <p:spPr>
          <a:xfrm>
            <a:off x="4286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35" name="TextBox 34"/>
          <p:cNvSpPr txBox="1"/>
          <p:nvPr/>
        </p:nvSpPr>
        <p:spPr>
          <a:xfrm>
            <a:off x="4286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New launch</a:t>
            </a:r>
          </a:p>
        </p:txBody>
      </p:sp>
      <p:sp>
        <p:nvSpPr>
          <p:cNvPr id="36" name="Oval 35"/>
          <p:cNvSpPr/>
          <p:nvPr/>
        </p:nvSpPr>
        <p:spPr>
          <a:xfrm>
            <a:off x="3552825" y="1655267"/>
            <a:ext cx="285750" cy="27380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528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38" name="Rounded Rectangle 37"/>
          <p:cNvSpPr/>
          <p:nvPr/>
        </p:nvSpPr>
        <p:spPr>
          <a:xfrm>
            <a:off x="2543175" y="1992961"/>
            <a:ext cx="2305050" cy="2135683"/>
          </a:xfrm>
          <a:prstGeom prst="roundRect">
            <a:avLst>
              <a:gd name="adj" fmla="val 3719"/>
            </a:avLst>
          </a:prstGeom>
          <a:solidFill>
            <a:srgbClr val="FFFFFF"/>
          </a:solidFill>
          <a:ln w="2032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543175" y="1992961"/>
            <a:ext cx="2305050" cy="310313"/>
          </a:xfrm>
          <a:prstGeom prst="roundRect">
            <a:avLst>
              <a:gd name="adj" fmla="val 3719"/>
            </a:avLst>
          </a:prstGeom>
          <a:solidFill>
            <a:srgbClr val="A35313"/>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6574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6574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42" name="TextBox 41"/>
          <p:cNvSpPr txBox="1"/>
          <p:nvPr/>
        </p:nvSpPr>
        <p:spPr>
          <a:xfrm>
            <a:off x="29241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Ingersoll Rand</a:t>
            </a:r>
          </a:p>
        </p:txBody>
      </p:sp>
      <p:sp>
        <p:nvSpPr>
          <p:cNvPr id="43" name="TextBox 42"/>
          <p:cNvSpPr txBox="1"/>
          <p:nvPr/>
        </p:nvSpPr>
        <p:spPr>
          <a:xfrm>
            <a:off x="26384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4" name="TextBox 43"/>
          <p:cNvSpPr txBox="1"/>
          <p:nvPr/>
        </p:nvSpPr>
        <p:spPr>
          <a:xfrm>
            <a:off x="28289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45" name="Connector 44"/>
          <p:cNvCxnSpPr/>
          <p:nvPr/>
        </p:nvCxnSpPr>
        <p:spPr>
          <a:xfrm>
            <a:off x="26384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6384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28289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48" name="TextBox 47"/>
          <p:cNvSpPr txBox="1"/>
          <p:nvPr/>
        </p:nvSpPr>
        <p:spPr>
          <a:xfrm>
            <a:off x="2828925" y="2805250"/>
            <a:ext cx="1924050" cy="164283"/>
          </a:xfrm>
          <a:prstGeom prst="rect">
            <a:avLst/>
          </a:prstGeom>
          <a:noFill/>
        </p:spPr>
        <p:txBody>
          <a:bodyPr wrap="square" lIns="28575" rIns="28575" tIns="9525" bIns="9525" anchor="ctr">
            <a:spAutoFit/>
          </a:bodyPr>
          <a:lstStyle/>
          <a:p>
            <a:pPr algn="l"/>
            <a:r>
              <a:rPr sz="1100" b="1">
                <a:solidFill>
                  <a:srgbClr val="A35313"/>
                </a:solidFill>
                <a:latin typeface="Calibri"/>
              </a:rPr>
              <a:t>Portfolio expander</a:t>
            </a:r>
          </a:p>
        </p:txBody>
      </p:sp>
      <p:cxnSp>
        <p:nvCxnSpPr>
          <p:cNvPr id="49" name="Connector 48"/>
          <p:cNvCxnSpPr/>
          <p:nvPr/>
        </p:nvCxnSpPr>
        <p:spPr>
          <a:xfrm>
            <a:off x="26384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26384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1" name="TextBox 50"/>
          <p:cNvSpPr txBox="1"/>
          <p:nvPr/>
        </p:nvSpPr>
        <p:spPr>
          <a:xfrm>
            <a:off x="28289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52" name="TextBox 51"/>
          <p:cNvSpPr txBox="1"/>
          <p:nvPr/>
        </p:nvSpPr>
        <p:spPr>
          <a:xfrm>
            <a:off x="28289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Drove new customer adoption</a:t>
            </a:r>
          </a:p>
        </p:txBody>
      </p:sp>
      <p:cxnSp>
        <p:nvCxnSpPr>
          <p:cNvPr id="53" name="Connector 52"/>
          <p:cNvCxnSpPr/>
          <p:nvPr/>
        </p:nvCxnSpPr>
        <p:spPr>
          <a:xfrm>
            <a:off x="26384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26384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5" name="TextBox 54"/>
          <p:cNvSpPr txBox="1"/>
          <p:nvPr/>
        </p:nvSpPr>
        <p:spPr>
          <a:xfrm>
            <a:off x="28289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56" name="TextBox 55"/>
          <p:cNvSpPr txBox="1"/>
          <p:nvPr/>
        </p:nvSpPr>
        <p:spPr>
          <a:xfrm>
            <a:off x="28289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expansion</a:t>
            </a:r>
          </a:p>
        </p:txBody>
      </p:sp>
      <p:sp>
        <p:nvSpPr>
          <p:cNvPr id="57" name="Oval 56"/>
          <p:cNvSpPr/>
          <p:nvPr/>
        </p:nvSpPr>
        <p:spPr>
          <a:xfrm>
            <a:off x="5953125" y="1655267"/>
            <a:ext cx="285750" cy="273805"/>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531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59" name="Rounded Rectangle 58"/>
          <p:cNvSpPr/>
          <p:nvPr/>
        </p:nvSpPr>
        <p:spPr>
          <a:xfrm>
            <a:off x="4943475" y="1992961"/>
            <a:ext cx="2305050" cy="2135683"/>
          </a:xfrm>
          <a:prstGeom prst="roundRect">
            <a:avLst>
              <a:gd name="adj" fmla="val 3719"/>
            </a:avLst>
          </a:prstGeom>
          <a:solidFill>
            <a:srgbClr val="FFFFFF"/>
          </a:solidFill>
          <a:ln w="2032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4943475" y="1992961"/>
            <a:ext cx="2305050" cy="310313"/>
          </a:xfrm>
          <a:prstGeom prst="roundRect">
            <a:avLst>
              <a:gd name="adj" fmla="val 3719"/>
            </a:avLst>
          </a:prstGeom>
          <a:solidFill>
            <a:srgbClr val="69B1E0"/>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50577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577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63" name="TextBox 62"/>
          <p:cNvSpPr txBox="1"/>
          <p:nvPr/>
        </p:nvSpPr>
        <p:spPr>
          <a:xfrm>
            <a:off x="53244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Hitachi</a:t>
            </a:r>
          </a:p>
        </p:txBody>
      </p:sp>
      <p:sp>
        <p:nvSpPr>
          <p:cNvPr id="64" name="TextBox 63"/>
          <p:cNvSpPr txBox="1"/>
          <p:nvPr/>
        </p:nvSpPr>
        <p:spPr>
          <a:xfrm>
            <a:off x="50387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5" name="TextBox 64"/>
          <p:cNvSpPr txBox="1"/>
          <p:nvPr/>
        </p:nvSpPr>
        <p:spPr>
          <a:xfrm>
            <a:off x="52292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66" name="Connector 65"/>
          <p:cNvCxnSpPr/>
          <p:nvPr/>
        </p:nvCxnSpPr>
        <p:spPr>
          <a:xfrm>
            <a:off x="50387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50387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52292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69" name="TextBox 68"/>
          <p:cNvSpPr txBox="1"/>
          <p:nvPr/>
        </p:nvSpPr>
        <p:spPr>
          <a:xfrm>
            <a:off x="5229225" y="2805250"/>
            <a:ext cx="1924050" cy="164283"/>
          </a:xfrm>
          <a:prstGeom prst="rect">
            <a:avLst/>
          </a:prstGeom>
          <a:noFill/>
        </p:spPr>
        <p:txBody>
          <a:bodyPr wrap="square" lIns="28575" rIns="28575" tIns="9525" bIns="9525" anchor="ctr">
            <a:spAutoFit/>
          </a:bodyPr>
          <a:lstStyle/>
          <a:p>
            <a:pPr algn="l"/>
            <a:r>
              <a:rPr sz="1100" b="1">
                <a:solidFill>
                  <a:srgbClr val="69B1E0"/>
                </a:solidFill>
                <a:latin typeface="Calibri"/>
              </a:rPr>
              <a:t>Access builder</a:t>
            </a:r>
          </a:p>
        </p:txBody>
      </p:sp>
      <p:cxnSp>
        <p:nvCxnSpPr>
          <p:cNvPr id="70" name="Connector 69"/>
          <p:cNvCxnSpPr/>
          <p:nvPr/>
        </p:nvCxnSpPr>
        <p:spPr>
          <a:xfrm>
            <a:off x="50387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0387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2" name="TextBox 71"/>
          <p:cNvSpPr txBox="1"/>
          <p:nvPr/>
        </p:nvSpPr>
        <p:spPr>
          <a:xfrm>
            <a:off x="52292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73" name="TextBox 72"/>
          <p:cNvSpPr txBox="1"/>
          <p:nvPr/>
        </p:nvSpPr>
        <p:spPr>
          <a:xfrm>
            <a:off x="52292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Won through wider channel availability</a:t>
            </a:r>
          </a:p>
        </p:txBody>
      </p:sp>
      <p:cxnSp>
        <p:nvCxnSpPr>
          <p:cNvPr id="74" name="Connector 73"/>
          <p:cNvCxnSpPr/>
          <p:nvPr/>
        </p:nvCxnSpPr>
        <p:spPr>
          <a:xfrm>
            <a:off x="50387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50387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6" name="TextBox 75"/>
          <p:cNvSpPr txBox="1"/>
          <p:nvPr/>
        </p:nvSpPr>
        <p:spPr>
          <a:xfrm>
            <a:off x="52292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77" name="TextBox 76"/>
          <p:cNvSpPr txBox="1"/>
          <p:nvPr/>
        </p:nvSpPr>
        <p:spPr>
          <a:xfrm>
            <a:off x="52292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Pricing strategy</a:t>
            </a:r>
          </a:p>
        </p:txBody>
      </p:sp>
      <p:sp>
        <p:nvSpPr>
          <p:cNvPr id="78" name="Oval 77"/>
          <p:cNvSpPr/>
          <p:nvPr/>
        </p:nvSpPr>
        <p:spPr>
          <a:xfrm>
            <a:off x="8353425" y="1655267"/>
            <a:ext cx="285750" cy="27380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3534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80" name="Rounded Rectangle 79"/>
          <p:cNvSpPr/>
          <p:nvPr/>
        </p:nvSpPr>
        <p:spPr>
          <a:xfrm>
            <a:off x="7343775" y="1992961"/>
            <a:ext cx="2305050" cy="2135683"/>
          </a:xfrm>
          <a:prstGeom prst="roundRect">
            <a:avLst>
              <a:gd name="adj" fmla="val 3719"/>
            </a:avLst>
          </a:prstGeom>
          <a:solidFill>
            <a:srgbClr val="FFFFFF"/>
          </a:solid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7343775" y="1992961"/>
            <a:ext cx="2305050" cy="310313"/>
          </a:xfrm>
          <a:prstGeom prst="roundRect">
            <a:avLst>
              <a:gd name="adj" fmla="val 3719"/>
            </a:avLst>
          </a:prstGeom>
          <a:solidFill>
            <a:srgbClr val="6F3CC2"/>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4580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4580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84" name="TextBox 83"/>
          <p:cNvSpPr txBox="1"/>
          <p:nvPr/>
        </p:nvSpPr>
        <p:spPr>
          <a:xfrm>
            <a:off x="77247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KAESER KOMPRESSOREN</a:t>
            </a:r>
          </a:p>
        </p:txBody>
      </p:sp>
      <p:sp>
        <p:nvSpPr>
          <p:cNvPr id="85" name="TextBox 84"/>
          <p:cNvSpPr txBox="1"/>
          <p:nvPr/>
        </p:nvSpPr>
        <p:spPr>
          <a:xfrm>
            <a:off x="74390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6" name="TextBox 85"/>
          <p:cNvSpPr txBox="1"/>
          <p:nvPr/>
        </p:nvSpPr>
        <p:spPr>
          <a:xfrm>
            <a:off x="76295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87" name="Connector 86"/>
          <p:cNvCxnSpPr/>
          <p:nvPr/>
        </p:nvCxnSpPr>
        <p:spPr>
          <a:xfrm>
            <a:off x="74390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74390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76295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90" name="TextBox 89"/>
          <p:cNvSpPr txBox="1"/>
          <p:nvPr/>
        </p:nvSpPr>
        <p:spPr>
          <a:xfrm>
            <a:off x="7629525" y="2805250"/>
            <a:ext cx="1924050" cy="164283"/>
          </a:xfrm>
          <a:prstGeom prst="rect">
            <a:avLst/>
          </a:prstGeom>
          <a:noFill/>
        </p:spPr>
        <p:txBody>
          <a:bodyPr wrap="square" lIns="28575" rIns="28575" tIns="9525" bIns="9525" anchor="ctr">
            <a:spAutoFit/>
          </a:bodyPr>
          <a:lstStyle/>
          <a:p>
            <a:pPr algn="l"/>
            <a:r>
              <a:rPr sz="1100" b="1">
                <a:solidFill>
                  <a:srgbClr val="6F3CC2"/>
                </a:solidFill>
                <a:latin typeface="Calibri"/>
              </a:rPr>
              <a:t>Premiumiser</a:t>
            </a:r>
          </a:p>
        </p:txBody>
      </p:sp>
      <p:cxnSp>
        <p:nvCxnSpPr>
          <p:cNvPr id="91" name="Connector 90"/>
          <p:cNvCxnSpPr/>
          <p:nvPr/>
        </p:nvCxnSpPr>
        <p:spPr>
          <a:xfrm>
            <a:off x="74390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74390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3" name="TextBox 92"/>
          <p:cNvSpPr txBox="1"/>
          <p:nvPr/>
        </p:nvSpPr>
        <p:spPr>
          <a:xfrm>
            <a:off x="76295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94" name="TextBox 93"/>
          <p:cNvSpPr txBox="1"/>
          <p:nvPr/>
        </p:nvSpPr>
        <p:spPr>
          <a:xfrm>
            <a:off x="76295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Supported premium SKU growth</a:t>
            </a:r>
          </a:p>
        </p:txBody>
      </p:sp>
      <p:cxnSp>
        <p:nvCxnSpPr>
          <p:cNvPr id="95" name="Connector 94"/>
          <p:cNvCxnSpPr/>
          <p:nvPr/>
        </p:nvCxnSpPr>
        <p:spPr>
          <a:xfrm>
            <a:off x="74390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74390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7" name="TextBox 96"/>
          <p:cNvSpPr txBox="1"/>
          <p:nvPr/>
        </p:nvSpPr>
        <p:spPr>
          <a:xfrm>
            <a:off x="76295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98" name="TextBox 97"/>
          <p:cNvSpPr txBox="1"/>
          <p:nvPr/>
        </p:nvSpPr>
        <p:spPr>
          <a:xfrm>
            <a:off x="76295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Portfolio/brand investment</a:t>
            </a:r>
          </a:p>
        </p:txBody>
      </p:sp>
      <p:sp>
        <p:nvSpPr>
          <p:cNvPr id="99" name="Oval 98"/>
          <p:cNvSpPr/>
          <p:nvPr/>
        </p:nvSpPr>
        <p:spPr>
          <a:xfrm>
            <a:off x="10753725" y="1655267"/>
            <a:ext cx="285750" cy="27380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07537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101" name="Rounded Rectangle 100"/>
          <p:cNvSpPr/>
          <p:nvPr/>
        </p:nvSpPr>
        <p:spPr>
          <a:xfrm>
            <a:off x="9744075" y="1992961"/>
            <a:ext cx="2305050" cy="2135683"/>
          </a:xfrm>
          <a:prstGeom prst="roundRect">
            <a:avLst>
              <a:gd name="adj" fmla="val 3719"/>
            </a:avLst>
          </a:prstGeom>
          <a:solidFill>
            <a:srgbClr val="FFFFFF"/>
          </a:solidFill>
          <a:ln w="2032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9744075" y="1992961"/>
            <a:ext cx="2305050" cy="310313"/>
          </a:xfrm>
          <a:prstGeom prst="roundRect">
            <a:avLst>
              <a:gd name="adj" fmla="val 3719"/>
            </a:avLst>
          </a:prstGeom>
          <a:solidFill>
            <a:srgbClr val="A86F00"/>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98583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8583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105" name="TextBox 104"/>
          <p:cNvSpPr txBox="1"/>
          <p:nvPr/>
        </p:nvSpPr>
        <p:spPr>
          <a:xfrm>
            <a:off x="101250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Gardner Denver</a:t>
            </a:r>
          </a:p>
        </p:txBody>
      </p:sp>
      <p:sp>
        <p:nvSpPr>
          <p:cNvPr id="106" name="TextBox 105"/>
          <p:cNvSpPr txBox="1"/>
          <p:nvPr/>
        </p:nvSpPr>
        <p:spPr>
          <a:xfrm>
            <a:off x="98393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7" name="TextBox 106"/>
          <p:cNvSpPr txBox="1"/>
          <p:nvPr/>
        </p:nvSpPr>
        <p:spPr>
          <a:xfrm>
            <a:off x="100298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108" name="Connector 107"/>
          <p:cNvCxnSpPr/>
          <p:nvPr/>
        </p:nvCxnSpPr>
        <p:spPr>
          <a:xfrm>
            <a:off x="98393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98393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0" name="TextBox 109"/>
          <p:cNvSpPr txBox="1"/>
          <p:nvPr/>
        </p:nvSpPr>
        <p:spPr>
          <a:xfrm>
            <a:off x="100298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111" name="TextBox 110"/>
          <p:cNvSpPr txBox="1"/>
          <p:nvPr/>
        </p:nvSpPr>
        <p:spPr>
          <a:xfrm>
            <a:off x="10029825" y="2805250"/>
            <a:ext cx="1924050" cy="164283"/>
          </a:xfrm>
          <a:prstGeom prst="rect">
            <a:avLst/>
          </a:prstGeom>
          <a:noFill/>
        </p:spPr>
        <p:txBody>
          <a:bodyPr wrap="square" lIns="28575" rIns="28575" tIns="9525" bIns="9525" anchor="ctr">
            <a:spAutoFit/>
          </a:bodyPr>
          <a:lstStyle/>
          <a:p>
            <a:pPr algn="l"/>
            <a:r>
              <a:rPr sz="1100" b="1">
                <a:solidFill>
                  <a:srgbClr val="A86F00"/>
                </a:solidFill>
                <a:latin typeface="Calibri"/>
              </a:rPr>
              <a:t>Disruptor</a:t>
            </a:r>
          </a:p>
        </p:txBody>
      </p:sp>
      <p:cxnSp>
        <p:nvCxnSpPr>
          <p:cNvPr id="112" name="Connector 111"/>
          <p:cNvCxnSpPr/>
          <p:nvPr/>
        </p:nvCxnSpPr>
        <p:spPr>
          <a:xfrm>
            <a:off x="98393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8393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4" name="TextBox 113"/>
          <p:cNvSpPr txBox="1"/>
          <p:nvPr/>
        </p:nvSpPr>
        <p:spPr>
          <a:xfrm>
            <a:off x="100298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115" name="TextBox 114"/>
          <p:cNvSpPr txBox="1"/>
          <p:nvPr/>
        </p:nvSpPr>
        <p:spPr>
          <a:xfrm>
            <a:off x="100298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Strengthened end-user and specifier pull</a:t>
            </a:r>
          </a:p>
        </p:txBody>
      </p:sp>
      <p:cxnSp>
        <p:nvCxnSpPr>
          <p:cNvPr id="116" name="Connector 115"/>
          <p:cNvCxnSpPr/>
          <p:nvPr/>
        </p:nvCxnSpPr>
        <p:spPr>
          <a:xfrm>
            <a:off x="98393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98393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8" name="TextBox 117"/>
          <p:cNvSpPr txBox="1"/>
          <p:nvPr/>
        </p:nvSpPr>
        <p:spPr>
          <a:xfrm>
            <a:off x="100298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19" name="TextBox 118"/>
          <p:cNvSpPr txBox="1"/>
          <p:nvPr/>
        </p:nvSpPr>
        <p:spPr>
          <a:xfrm>
            <a:off x="100298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Partnership / acquisition</a:t>
            </a:r>
          </a:p>
        </p:txBody>
      </p:sp>
      <p:sp>
        <p:nvSpPr>
          <p:cNvPr id="120" name="Rounded Rectangle 119"/>
          <p:cNvSpPr/>
          <p:nvPr/>
        </p:nvSpPr>
        <p:spPr>
          <a:xfrm>
            <a:off x="142875" y="4238166"/>
            <a:ext cx="7886700" cy="2391234"/>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42875" y="4311180"/>
            <a:ext cx="7886700" cy="182537"/>
          </a:xfrm>
          <a:prstGeom prst="rect">
            <a:avLst/>
          </a:prstGeom>
          <a:noFill/>
        </p:spPr>
        <p:txBody>
          <a:bodyPr wrap="square" lIns="28575" rIns="28575" tIns="9525" bIns="9525" anchor="ctr">
            <a:spAutoFit/>
          </a:bodyPr>
          <a:lstStyle/>
          <a:p>
            <a:pPr algn="ctr"/>
            <a:r>
              <a:rPr sz="1100" b="1">
                <a:solidFill>
                  <a:srgbClr val="0B2E4A"/>
                </a:solidFill>
                <a:latin typeface="Calibri"/>
              </a:rPr>
              <a:t>HOW TO DECIDE WHO SHAPED GROWTH</a:t>
            </a:r>
          </a:p>
        </p:txBody>
      </p:sp>
      <p:sp>
        <p:nvSpPr>
          <p:cNvPr id="122" name="Oval 121"/>
          <p:cNvSpPr/>
          <p:nvPr/>
        </p:nvSpPr>
        <p:spPr>
          <a:xfrm>
            <a:off x="815340" y="4539352"/>
            <a:ext cx="400050" cy="383328"/>
          </a:xfrm>
          <a:prstGeom prst="ellipse">
            <a:avLst/>
          </a:prstGeom>
          <a:solidFill>
            <a:srgbClr val="FFFFFF"/>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81534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24" name="TextBox 123"/>
          <p:cNvSpPr txBox="1"/>
          <p:nvPr/>
        </p:nvSpPr>
        <p:spPr>
          <a:xfrm>
            <a:off x="27622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0E72AE"/>
                </a:solidFill>
                <a:latin typeface="Calibri"/>
              </a:rPr>
              <a:t>1. SHARE GAIN</a:t>
            </a:r>
          </a:p>
        </p:txBody>
      </p:sp>
      <p:sp>
        <p:nvSpPr>
          <p:cNvPr id="125" name="TextBox 124"/>
          <p:cNvSpPr txBox="1"/>
          <p:nvPr/>
        </p:nvSpPr>
        <p:spPr>
          <a:xfrm>
            <a:off x="27622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Company gained value or volume share</a:t>
            </a:r>
          </a:p>
        </p:txBody>
      </p:sp>
      <p:sp>
        <p:nvSpPr>
          <p:cNvPr id="126" name="Rounded Rectangle 125"/>
          <p:cNvSpPr/>
          <p:nvPr/>
        </p:nvSpPr>
        <p:spPr>
          <a:xfrm>
            <a:off x="520065" y="6027028"/>
            <a:ext cx="990600" cy="237298"/>
          </a:xfrm>
          <a:prstGeom prst="roundRect">
            <a:avLst>
              <a:gd name="adj" fmla="val 11538"/>
            </a:avLst>
          </a:prstGeom>
          <a:solidFill>
            <a:srgbClr val="FFFFFF"/>
          </a:solidFill>
          <a:ln w="1524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520065" y="6036155"/>
            <a:ext cx="990600" cy="219044"/>
          </a:xfrm>
          <a:prstGeom prst="rect">
            <a:avLst/>
          </a:prstGeom>
          <a:noFill/>
        </p:spPr>
        <p:txBody>
          <a:bodyPr wrap="square" lIns="28575" rIns="28575" tIns="9525" bIns="9525" anchor="ctr">
            <a:spAutoFit/>
          </a:bodyPr>
          <a:lstStyle/>
          <a:p>
            <a:pPr algn="ctr"/>
            <a:r>
              <a:rPr sz="1100" b="1">
                <a:solidFill>
                  <a:srgbClr val="0E72AE"/>
                </a:solidFill>
                <a:latin typeface="Calibri"/>
              </a:rPr>
              <a:t> </a:t>
            </a:r>
          </a:p>
        </p:txBody>
      </p:sp>
      <p:sp>
        <p:nvSpPr>
          <p:cNvPr id="128" name="TextBox 127"/>
          <p:cNvSpPr txBox="1"/>
          <p:nvPr/>
        </p:nvSpPr>
        <p:spPr>
          <a:xfrm>
            <a:off x="175450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29" name="Oval 128"/>
          <p:cNvSpPr/>
          <p:nvPr/>
        </p:nvSpPr>
        <p:spPr>
          <a:xfrm>
            <a:off x="2350770" y="4539352"/>
            <a:ext cx="400050" cy="383328"/>
          </a:xfrm>
          <a:prstGeom prst="ellipse">
            <a:avLst/>
          </a:prstGeom>
          <a:solidFill>
            <a:srgbClr val="FFFFFF"/>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35077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1" name="TextBox 130"/>
          <p:cNvSpPr txBox="1"/>
          <p:nvPr/>
        </p:nvSpPr>
        <p:spPr>
          <a:xfrm>
            <a:off x="181165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35313"/>
                </a:solidFill>
                <a:latin typeface="Calibri"/>
              </a:rPr>
              <a:t>2. DISTRIBUTION EXPANSION</a:t>
            </a:r>
          </a:p>
        </p:txBody>
      </p:sp>
      <p:sp>
        <p:nvSpPr>
          <p:cNvPr id="132" name="TextBox 131"/>
          <p:cNvSpPr txBox="1"/>
          <p:nvPr/>
        </p:nvSpPr>
        <p:spPr>
          <a:xfrm>
            <a:off x="181165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Expanded channel, retail or e-commerce reach</a:t>
            </a:r>
          </a:p>
        </p:txBody>
      </p:sp>
      <p:sp>
        <p:nvSpPr>
          <p:cNvPr id="133" name="Rounded Rectangle 132"/>
          <p:cNvSpPr/>
          <p:nvPr/>
        </p:nvSpPr>
        <p:spPr>
          <a:xfrm>
            <a:off x="2055495" y="6027028"/>
            <a:ext cx="990600" cy="237298"/>
          </a:xfrm>
          <a:prstGeom prst="roundRect">
            <a:avLst>
              <a:gd name="adj" fmla="val 11538"/>
            </a:avLst>
          </a:prstGeom>
          <a:solidFill>
            <a:srgbClr val="FFFFFF"/>
          </a:solidFill>
          <a:ln w="1524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055495" y="6036155"/>
            <a:ext cx="990600" cy="219044"/>
          </a:xfrm>
          <a:prstGeom prst="rect">
            <a:avLst/>
          </a:prstGeom>
          <a:noFill/>
        </p:spPr>
        <p:txBody>
          <a:bodyPr wrap="square" lIns="28575" rIns="28575" tIns="9525" bIns="9525" anchor="ctr">
            <a:spAutoFit/>
          </a:bodyPr>
          <a:lstStyle/>
          <a:p>
            <a:pPr algn="ctr"/>
            <a:r>
              <a:rPr sz="1100" b="1">
                <a:solidFill>
                  <a:srgbClr val="A35313"/>
                </a:solidFill>
                <a:latin typeface="Calibri"/>
              </a:rPr>
              <a:t> </a:t>
            </a:r>
          </a:p>
        </p:txBody>
      </p:sp>
      <p:sp>
        <p:nvSpPr>
          <p:cNvPr id="135" name="TextBox 134"/>
          <p:cNvSpPr txBox="1"/>
          <p:nvPr/>
        </p:nvSpPr>
        <p:spPr>
          <a:xfrm>
            <a:off x="328993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6" name="Oval 135"/>
          <p:cNvSpPr/>
          <p:nvPr/>
        </p:nvSpPr>
        <p:spPr>
          <a:xfrm>
            <a:off x="3886200" y="4539352"/>
            <a:ext cx="400050" cy="383328"/>
          </a:xfrm>
          <a:prstGeom prst="ellipse">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388620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8" name="TextBox 137"/>
          <p:cNvSpPr txBox="1"/>
          <p:nvPr/>
        </p:nvSpPr>
        <p:spPr>
          <a:xfrm>
            <a:off x="334708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9B1E0"/>
                </a:solidFill>
                <a:latin typeface="Calibri"/>
              </a:rPr>
              <a:t>3. INNOVATION / LAUNCHES</a:t>
            </a:r>
          </a:p>
        </p:txBody>
      </p:sp>
      <p:sp>
        <p:nvSpPr>
          <p:cNvPr id="139" name="TextBox 138"/>
          <p:cNvSpPr txBox="1"/>
          <p:nvPr/>
        </p:nvSpPr>
        <p:spPr>
          <a:xfrm>
            <a:off x="334708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New SKUs, pack sizes or product improvements</a:t>
            </a:r>
          </a:p>
        </p:txBody>
      </p:sp>
      <p:sp>
        <p:nvSpPr>
          <p:cNvPr id="140" name="Rounded Rectangle 139"/>
          <p:cNvSpPr/>
          <p:nvPr/>
        </p:nvSpPr>
        <p:spPr>
          <a:xfrm>
            <a:off x="3590925" y="6027028"/>
            <a:ext cx="990600" cy="237298"/>
          </a:xfrm>
          <a:prstGeom prst="roundRect">
            <a:avLst>
              <a:gd name="adj" fmla="val 11538"/>
            </a:avLst>
          </a:prstGeom>
          <a:solidFill>
            <a:srgbClr val="FFFFFF"/>
          </a:solidFill>
          <a:ln w="1524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3590925" y="6036155"/>
            <a:ext cx="990600" cy="219044"/>
          </a:xfrm>
          <a:prstGeom prst="rect">
            <a:avLst/>
          </a:prstGeom>
          <a:noFill/>
        </p:spPr>
        <p:txBody>
          <a:bodyPr wrap="square" lIns="28575" rIns="28575" tIns="9525" bIns="9525" anchor="ctr">
            <a:spAutoFit/>
          </a:bodyPr>
          <a:lstStyle/>
          <a:p>
            <a:pPr algn="ctr"/>
            <a:r>
              <a:rPr sz="1100" b="1">
                <a:solidFill>
                  <a:srgbClr val="69B1E0"/>
                </a:solidFill>
                <a:latin typeface="Calibri"/>
              </a:rPr>
              <a:t> </a:t>
            </a:r>
          </a:p>
        </p:txBody>
      </p:sp>
      <p:sp>
        <p:nvSpPr>
          <p:cNvPr id="142" name="TextBox 141"/>
          <p:cNvSpPr txBox="1"/>
          <p:nvPr/>
        </p:nvSpPr>
        <p:spPr>
          <a:xfrm>
            <a:off x="482536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43" name="Oval 142"/>
          <p:cNvSpPr/>
          <p:nvPr/>
        </p:nvSpPr>
        <p:spPr>
          <a:xfrm>
            <a:off x="5421630" y="4539352"/>
            <a:ext cx="400050" cy="383328"/>
          </a:xfrm>
          <a:prstGeom prst="ellipse">
            <a:avLst/>
          </a:prstGeom>
          <a:solidFill>
            <a:srgbClr val="FFFFFF"/>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542163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5" name="TextBox 144"/>
          <p:cNvSpPr txBox="1"/>
          <p:nvPr/>
        </p:nvSpPr>
        <p:spPr>
          <a:xfrm>
            <a:off x="488251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F3CC2"/>
                </a:solidFill>
                <a:latin typeface="Calibri"/>
              </a:rPr>
              <a:t>4. BUYER INFLUENCE</a:t>
            </a:r>
          </a:p>
        </p:txBody>
      </p:sp>
      <p:sp>
        <p:nvSpPr>
          <p:cNvPr id="146" name="TextBox 145"/>
          <p:cNvSpPr txBox="1"/>
          <p:nvPr/>
        </p:nvSpPr>
        <p:spPr>
          <a:xfrm>
            <a:off x="488251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Stronger specifier, channel or end-user pull</a:t>
            </a:r>
          </a:p>
        </p:txBody>
      </p:sp>
      <p:sp>
        <p:nvSpPr>
          <p:cNvPr id="147" name="Rounded Rectangle 146"/>
          <p:cNvSpPr/>
          <p:nvPr/>
        </p:nvSpPr>
        <p:spPr>
          <a:xfrm>
            <a:off x="5126355" y="6027028"/>
            <a:ext cx="990600" cy="237298"/>
          </a:xfrm>
          <a:prstGeom prst="roundRect">
            <a:avLst>
              <a:gd name="adj" fmla="val 11538"/>
            </a:avLst>
          </a:prstGeom>
          <a:solidFill>
            <a:srgbClr val="FFFFFF"/>
          </a:solidFill>
          <a:ln w="1524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126355" y="6036155"/>
            <a:ext cx="990600" cy="219044"/>
          </a:xfrm>
          <a:prstGeom prst="rect">
            <a:avLst/>
          </a:prstGeom>
          <a:noFill/>
        </p:spPr>
        <p:txBody>
          <a:bodyPr wrap="square" lIns="28575" rIns="28575" tIns="9525" bIns="9525" anchor="ctr">
            <a:spAutoFit/>
          </a:bodyPr>
          <a:lstStyle/>
          <a:p>
            <a:pPr algn="ctr"/>
            <a:r>
              <a:rPr sz="1100" b="1">
                <a:solidFill>
                  <a:srgbClr val="6F3CC2"/>
                </a:solidFill>
                <a:latin typeface="Calibri"/>
              </a:rPr>
              <a:t> </a:t>
            </a:r>
          </a:p>
        </p:txBody>
      </p:sp>
      <p:sp>
        <p:nvSpPr>
          <p:cNvPr id="149" name="TextBox 148"/>
          <p:cNvSpPr txBox="1"/>
          <p:nvPr/>
        </p:nvSpPr>
        <p:spPr>
          <a:xfrm>
            <a:off x="636079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50" name="Oval 149"/>
          <p:cNvSpPr/>
          <p:nvPr/>
        </p:nvSpPr>
        <p:spPr>
          <a:xfrm>
            <a:off x="6957060" y="4539352"/>
            <a:ext cx="400050" cy="383328"/>
          </a:xfrm>
          <a:prstGeom prst="ellipse">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695706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52" name="TextBox 151"/>
          <p:cNvSpPr txBox="1"/>
          <p:nvPr/>
        </p:nvSpPr>
        <p:spPr>
          <a:xfrm>
            <a:off x="641794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86F00"/>
                </a:solidFill>
                <a:latin typeface="Calibri"/>
              </a:rPr>
              <a:t>5. BRAND / PRICING POWER</a:t>
            </a:r>
          </a:p>
        </p:txBody>
      </p:sp>
      <p:sp>
        <p:nvSpPr>
          <p:cNvPr id="153" name="TextBox 152"/>
          <p:cNvSpPr txBox="1"/>
          <p:nvPr/>
        </p:nvSpPr>
        <p:spPr>
          <a:xfrm>
            <a:off x="641794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Premiumisation, positioning or pricing execution</a:t>
            </a:r>
          </a:p>
        </p:txBody>
      </p:sp>
      <p:sp>
        <p:nvSpPr>
          <p:cNvPr id="154" name="Rounded Rectangle 153"/>
          <p:cNvSpPr/>
          <p:nvPr/>
        </p:nvSpPr>
        <p:spPr>
          <a:xfrm>
            <a:off x="6661785" y="6027028"/>
            <a:ext cx="990600" cy="237298"/>
          </a:xfrm>
          <a:prstGeom prst="roundRect">
            <a:avLst>
              <a:gd name="adj" fmla="val 11538"/>
            </a:avLst>
          </a:prstGeom>
          <a:solidFill>
            <a:srgbClr val="FFFFFF"/>
          </a:solidFill>
          <a:ln w="1524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661785" y="6036155"/>
            <a:ext cx="990600" cy="219044"/>
          </a:xfrm>
          <a:prstGeom prst="rect">
            <a:avLst/>
          </a:prstGeom>
          <a:noFill/>
        </p:spPr>
        <p:txBody>
          <a:bodyPr wrap="square" lIns="28575" rIns="28575" tIns="9525" bIns="9525" anchor="ctr">
            <a:spAutoFit/>
          </a:bodyPr>
          <a:lstStyle/>
          <a:p>
            <a:pPr algn="ctr"/>
            <a:r>
              <a:rPr sz="1100" b="1">
                <a:solidFill>
                  <a:srgbClr val="A86F00"/>
                </a:solidFill>
                <a:latin typeface="Calibri"/>
              </a:rPr>
              <a:t> </a:t>
            </a:r>
          </a:p>
        </p:txBody>
      </p:sp>
      <p:sp>
        <p:nvSpPr>
          <p:cNvPr id="156" name="Rounded Rectangle 155"/>
          <p:cNvSpPr/>
          <p:nvPr/>
        </p:nvSpPr>
        <p:spPr>
          <a:xfrm>
            <a:off x="8191500" y="4238166"/>
            <a:ext cx="3857625" cy="2391234"/>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8191500" y="4311180"/>
            <a:ext cx="3857625" cy="182537"/>
          </a:xfrm>
          <a:prstGeom prst="rect">
            <a:avLst/>
          </a:prstGeom>
          <a:noFill/>
        </p:spPr>
        <p:txBody>
          <a:bodyPr wrap="square" lIns="28575" rIns="28575" tIns="9525" bIns="9525" anchor="ctr">
            <a:spAutoFit/>
          </a:bodyPr>
          <a:lstStyle/>
          <a:p>
            <a:pPr algn="ctr"/>
            <a:r>
              <a:rPr sz="1100" b="1">
                <a:solidFill>
                  <a:srgbClr val="1F6F63"/>
                </a:solidFill>
                <a:latin typeface="Calibri"/>
              </a:rPr>
              <a:t>BEST WAY TO USE THIS SLIDE</a:t>
            </a:r>
          </a:p>
        </p:txBody>
      </p:sp>
      <p:cxnSp>
        <p:nvCxnSpPr>
          <p:cNvPr id="158" name="Connector 157"/>
          <p:cNvCxnSpPr/>
          <p:nvPr/>
        </p:nvCxnSpPr>
        <p:spPr>
          <a:xfrm>
            <a:off x="8343900" y="4548478"/>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59" name="Oval 158"/>
          <p:cNvSpPr/>
          <p:nvPr/>
        </p:nvSpPr>
        <p:spPr>
          <a:xfrm>
            <a:off x="8372475" y="4721889"/>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372475" y="4767523"/>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1" name="TextBox 160"/>
          <p:cNvSpPr txBox="1"/>
          <p:nvPr/>
        </p:nvSpPr>
        <p:spPr>
          <a:xfrm>
            <a:off x="8743950" y="4694508"/>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Rank companies by impact on category growth</a:t>
            </a:r>
          </a:p>
        </p:txBody>
      </p:sp>
      <p:sp>
        <p:nvSpPr>
          <p:cNvPr id="162" name="Oval 161"/>
          <p:cNvSpPr/>
          <p:nvPr/>
        </p:nvSpPr>
        <p:spPr>
          <a:xfrm>
            <a:off x="8372475" y="5360768"/>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372475" y="540640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4" name="TextBox 163"/>
          <p:cNvSpPr txBox="1"/>
          <p:nvPr/>
        </p:nvSpPr>
        <p:spPr>
          <a:xfrm>
            <a:off x="8743950" y="533338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Mention the one move that explains their impact</a:t>
            </a:r>
          </a:p>
        </p:txBody>
      </p:sp>
      <p:sp>
        <p:nvSpPr>
          <p:cNvPr id="165" name="Oval 164"/>
          <p:cNvSpPr/>
          <p:nvPr/>
        </p:nvSpPr>
        <p:spPr>
          <a:xfrm>
            <a:off x="8372475" y="5999647"/>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372475" y="604528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7" name="TextBox 166"/>
          <p:cNvSpPr txBox="1"/>
          <p:nvPr/>
        </p:nvSpPr>
        <p:spPr>
          <a:xfrm>
            <a:off x="8743950" y="597226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Do not rely on market share alone</a:t>
            </a:r>
          </a:p>
        </p:txBody>
      </p:sp>
      <p:sp>
        <p:nvSpPr>
          <p:cNvPr id="168" name="Rectangle 16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0" name="Picture 169" descr="lock.png"/>
          <p:cNvPicPr>
            <a:picLocks noChangeAspect="1"/>
          </p:cNvPicPr>
          <p:nvPr/>
        </p:nvPicPr>
        <p:blipFill>
          <a:blip r:embed="rId4"/>
          <a:stretch>
            <a:fillRect/>
          </a:stretch>
        </p:blipFill>
        <p:spPr>
          <a:xfrm>
            <a:off x="951015" y="6052078"/>
            <a:ext cx="128699" cy="187198"/>
          </a:xfrm>
          <a:prstGeom prst="rect">
            <a:avLst/>
          </a:prstGeom>
        </p:spPr>
      </p:pic>
      <p:pic>
        <p:nvPicPr>
          <p:cNvPr id="171" name="Picture 170" descr="lock.png"/>
          <p:cNvPicPr>
            <a:picLocks noChangeAspect="1"/>
          </p:cNvPicPr>
          <p:nvPr/>
        </p:nvPicPr>
        <p:blipFill>
          <a:blip r:embed="rId4"/>
          <a:stretch>
            <a:fillRect/>
          </a:stretch>
        </p:blipFill>
        <p:spPr>
          <a:xfrm>
            <a:off x="2486445" y="6052078"/>
            <a:ext cx="128699" cy="187198"/>
          </a:xfrm>
          <a:prstGeom prst="rect">
            <a:avLst/>
          </a:prstGeom>
        </p:spPr>
      </p:pic>
      <p:pic>
        <p:nvPicPr>
          <p:cNvPr id="172" name="Picture 171" descr="lock.png"/>
          <p:cNvPicPr>
            <a:picLocks noChangeAspect="1"/>
          </p:cNvPicPr>
          <p:nvPr/>
        </p:nvPicPr>
        <p:blipFill>
          <a:blip r:embed="rId4"/>
          <a:stretch>
            <a:fillRect/>
          </a:stretch>
        </p:blipFill>
        <p:spPr>
          <a:xfrm>
            <a:off x="4021875" y="6052078"/>
            <a:ext cx="128699" cy="187198"/>
          </a:xfrm>
          <a:prstGeom prst="rect">
            <a:avLst/>
          </a:prstGeom>
        </p:spPr>
      </p:pic>
      <p:pic>
        <p:nvPicPr>
          <p:cNvPr id="173" name="Picture 172" descr="lock.png"/>
          <p:cNvPicPr>
            <a:picLocks noChangeAspect="1"/>
          </p:cNvPicPr>
          <p:nvPr/>
        </p:nvPicPr>
        <p:blipFill>
          <a:blip r:embed="rId4"/>
          <a:stretch>
            <a:fillRect/>
          </a:stretch>
        </p:blipFill>
        <p:spPr>
          <a:xfrm>
            <a:off x="5557305" y="6052078"/>
            <a:ext cx="128699" cy="187198"/>
          </a:xfrm>
          <a:prstGeom prst="rect">
            <a:avLst/>
          </a:prstGeom>
        </p:spPr>
      </p:pic>
      <p:pic>
        <p:nvPicPr>
          <p:cNvPr id="174" name="Picture 173" descr="lock.png"/>
          <p:cNvPicPr>
            <a:picLocks noChangeAspect="1"/>
          </p:cNvPicPr>
          <p:nvPr/>
        </p:nvPicPr>
        <p:blipFill>
          <a:blip r:embed="rId4"/>
          <a:stretch>
            <a:fillRect/>
          </a:stretch>
        </p:blipFill>
        <p:spPr>
          <a:xfrm>
            <a:off x="7092735" y="6052078"/>
            <a:ext cx="128699" cy="187198"/>
          </a:xfrm>
          <a:prstGeom prst="rect">
            <a:avLst/>
          </a:prstGeom>
        </p:spPr>
      </p:pic>
      <p:sp>
        <p:nvSpPr>
          <p:cNvPr id="175" name="TextBox 174"/>
          <p:cNvSpPr txBox="1"/>
          <p:nvPr/>
        </p:nvSpPr>
        <p:spPr>
          <a:xfrm>
            <a:off x="4572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76" name="Picture 175" descr="lock.png"/>
          <p:cNvPicPr>
            <a:picLocks noChangeAspect="1"/>
          </p:cNvPicPr>
          <p:nvPr/>
        </p:nvPicPr>
        <p:blipFill>
          <a:blip r:embed="rId4"/>
          <a:stretch>
            <a:fillRect/>
          </a:stretch>
        </p:blipFill>
        <p:spPr>
          <a:xfrm>
            <a:off x="994083" y="2391038"/>
            <a:ext cx="92663" cy="134782"/>
          </a:xfrm>
          <a:prstGeom prst="rect">
            <a:avLst/>
          </a:prstGeom>
        </p:spPr>
      </p:pic>
      <p:sp>
        <p:nvSpPr>
          <p:cNvPr id="177" name="TextBox 176"/>
          <p:cNvSpPr txBox="1"/>
          <p:nvPr/>
        </p:nvSpPr>
        <p:spPr>
          <a:xfrm>
            <a:off x="28575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78" name="Picture 177" descr="lock.png"/>
          <p:cNvPicPr>
            <a:picLocks noChangeAspect="1"/>
          </p:cNvPicPr>
          <p:nvPr/>
        </p:nvPicPr>
        <p:blipFill>
          <a:blip r:embed="rId4"/>
          <a:stretch>
            <a:fillRect/>
          </a:stretch>
        </p:blipFill>
        <p:spPr>
          <a:xfrm>
            <a:off x="3394383" y="2391038"/>
            <a:ext cx="92663" cy="134782"/>
          </a:xfrm>
          <a:prstGeom prst="rect">
            <a:avLst/>
          </a:prstGeom>
        </p:spPr>
      </p:pic>
      <p:sp>
        <p:nvSpPr>
          <p:cNvPr id="179" name="TextBox 178"/>
          <p:cNvSpPr txBox="1"/>
          <p:nvPr/>
        </p:nvSpPr>
        <p:spPr>
          <a:xfrm>
            <a:off x="52578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0" name="Picture 179" descr="lock.png"/>
          <p:cNvPicPr>
            <a:picLocks noChangeAspect="1"/>
          </p:cNvPicPr>
          <p:nvPr/>
        </p:nvPicPr>
        <p:blipFill>
          <a:blip r:embed="rId4"/>
          <a:stretch>
            <a:fillRect/>
          </a:stretch>
        </p:blipFill>
        <p:spPr>
          <a:xfrm>
            <a:off x="5794683" y="2391038"/>
            <a:ext cx="92663" cy="134782"/>
          </a:xfrm>
          <a:prstGeom prst="rect">
            <a:avLst/>
          </a:prstGeom>
        </p:spPr>
      </p:pic>
      <p:sp>
        <p:nvSpPr>
          <p:cNvPr id="181" name="TextBox 180"/>
          <p:cNvSpPr txBox="1"/>
          <p:nvPr/>
        </p:nvSpPr>
        <p:spPr>
          <a:xfrm>
            <a:off x="76581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2" name="Picture 181" descr="lock.png"/>
          <p:cNvPicPr>
            <a:picLocks noChangeAspect="1"/>
          </p:cNvPicPr>
          <p:nvPr/>
        </p:nvPicPr>
        <p:blipFill>
          <a:blip r:embed="rId4"/>
          <a:stretch>
            <a:fillRect/>
          </a:stretch>
        </p:blipFill>
        <p:spPr>
          <a:xfrm>
            <a:off x="8194983" y="2391038"/>
            <a:ext cx="92663" cy="134782"/>
          </a:xfrm>
          <a:prstGeom prst="rect">
            <a:avLst/>
          </a:prstGeom>
        </p:spPr>
      </p:pic>
      <p:sp>
        <p:nvSpPr>
          <p:cNvPr id="183" name="TextBox 182"/>
          <p:cNvSpPr txBox="1"/>
          <p:nvPr/>
        </p:nvSpPr>
        <p:spPr>
          <a:xfrm>
            <a:off x="100584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4" name="Picture 183" descr="lock.png"/>
          <p:cNvPicPr>
            <a:picLocks noChangeAspect="1"/>
          </p:cNvPicPr>
          <p:nvPr/>
        </p:nvPicPr>
        <p:blipFill>
          <a:blip r:embed="rId4"/>
          <a:stretch>
            <a:fillRect/>
          </a:stretch>
        </p:blipFill>
        <p:spPr>
          <a:xfrm>
            <a:off x="10595283" y="2391038"/>
            <a:ext cx="92663" cy="134782"/>
          </a:xfrm>
          <a:prstGeom prst="rect">
            <a:avLst/>
          </a:prstGeom>
        </p:spPr>
      </p:pic>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18</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Industrial Air Compressor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Company Profiles &amp; Strategic Benchmarking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Atlas Copco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Atlas Copco Penetration &amp; Win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Atlas Copco SWOT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Atlas Copco Key Financials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Atlas Copco Strategy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Atlas Copco Executive Market Snapshot (1/5)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total market, addressable opportunity and share of market by end-market, region and product</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Executive snapshot and strategic positioning Atlas Copco: market, addressable opportunity and SOM splits by end-market, region and product.</a:t>
            </a:r>
          </a:p>
        </p:txBody>
      </p:sp>
      <p:sp>
        <p:nvSpPr>
          <p:cNvPr id="8" name="Rounded Rectangle 7"/>
          <p:cNvSpPr/>
          <p:nvPr/>
        </p:nvSpPr>
        <p:spPr>
          <a:xfrm>
            <a:off x="142875"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TAM (US$ MN)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Total market</a:t>
            </a:r>
          </a:p>
        </p:txBody>
      </p:sp>
      <p:sp>
        <p:nvSpPr>
          <p:cNvPr id="9" name="Rounded Rectangle 8"/>
          <p:cNvSpPr/>
          <p:nvPr/>
        </p:nvSpPr>
        <p:spPr>
          <a:xfrm>
            <a:off x="2543175"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SAM (US$ MN)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Addressable</a:t>
            </a:r>
          </a:p>
        </p:txBody>
      </p:sp>
      <p:sp>
        <p:nvSpPr>
          <p:cNvPr id="10" name="Rounded Rectangle 9"/>
          <p:cNvSpPr/>
          <p:nvPr/>
        </p:nvSpPr>
        <p:spPr>
          <a:xfrm>
            <a:off x="4953000"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7353300"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Order momentum</a:t>
            </a:r>
          </a:p>
        </p:txBody>
      </p:sp>
      <p:sp>
        <p:nvSpPr>
          <p:cNvPr id="12" name="Rounded Rectangle 11"/>
          <p:cNvSpPr/>
          <p:nvPr/>
        </p:nvSpPr>
        <p:spPr>
          <a:xfrm>
            <a:off x="9763125"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Profitability</a:t>
            </a:r>
          </a:p>
        </p:txBody>
      </p:sp>
      <p:sp>
        <p:nvSpPr>
          <p:cNvPr id="13" name="Rounded Rectangle 12"/>
          <p:cNvSpPr/>
          <p:nvPr/>
        </p:nvSpPr>
        <p:spPr>
          <a:xfrm>
            <a:off x="142875" y="2065976"/>
            <a:ext cx="3829050" cy="2610279"/>
          </a:xfrm>
          <a:prstGeom prst="roundRect">
            <a:avLst>
              <a:gd name="adj" fmla="val 29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5" name="Chart 14"/>
          <p:cNvGraphicFramePr>
            <a:graphicFrameLocks noGrp="1"/>
          </p:cNvGraphicFramePr>
          <p:nvPr/>
        </p:nvGraphicFramePr>
        <p:xfrm>
          <a:off x="238125" y="2351726"/>
          <a:ext cx="3638550" cy="2267379"/>
        </p:xfrm>
        <a:graphic>
          <a:graphicData uri="http://schemas.openxmlformats.org/drawingml/2006/chart">
            <c:chart xmlns:c="http://schemas.openxmlformats.org/drawingml/2006/chart" r:id="rId3"/>
          </a:graphicData>
        </a:graphic>
      </p:graphicFrame>
      <p:sp>
        <p:nvSpPr>
          <p:cNvPr id="16" name="Rounded Rectangle 15"/>
          <p:cNvSpPr/>
          <p:nvPr/>
        </p:nvSpPr>
        <p:spPr>
          <a:xfrm>
            <a:off x="4124325" y="2065976"/>
            <a:ext cx="3829050" cy="2610279"/>
          </a:xfrm>
          <a:prstGeom prst="roundRect">
            <a:avLst>
              <a:gd name="adj" fmla="val 29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57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18" name="Chart 17"/>
          <p:cNvGraphicFramePr>
            <a:graphicFrameLocks noGrp="1"/>
          </p:cNvGraphicFramePr>
          <p:nvPr/>
        </p:nvGraphicFramePr>
        <p:xfrm>
          <a:off x="4219575" y="2351726"/>
          <a:ext cx="3638550" cy="2267379"/>
        </p:xfrm>
        <a:graphic>
          <a:graphicData uri="http://schemas.openxmlformats.org/drawingml/2006/chart">
            <c:chart xmlns:c="http://schemas.openxmlformats.org/drawingml/2006/chart" r:id="rId4"/>
          </a:graphicData>
        </a:graphic>
      </p:graphicFrame>
      <p:sp>
        <p:nvSpPr>
          <p:cNvPr id="19" name="Rounded Rectangle 18"/>
          <p:cNvSpPr/>
          <p:nvPr/>
        </p:nvSpPr>
        <p:spPr>
          <a:xfrm>
            <a:off x="8105775" y="2065976"/>
            <a:ext cx="3943350" cy="2610279"/>
          </a:xfrm>
          <a:prstGeom prst="roundRect">
            <a:avLst>
              <a:gd name="adj" fmla="val 29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01025" y="2123126"/>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1" name="Chart 20"/>
          <p:cNvGraphicFramePr>
            <a:graphicFrameLocks noGrp="1"/>
          </p:cNvGraphicFramePr>
          <p:nvPr/>
        </p:nvGraphicFramePr>
        <p:xfrm>
          <a:off x="8201025" y="2351726"/>
          <a:ext cx="3752850" cy="2267379"/>
        </p:xfrm>
        <a:graphic>
          <a:graphicData uri="http://schemas.openxmlformats.org/drawingml/2006/chart">
            <c:chart xmlns:c="http://schemas.openxmlformats.org/drawingml/2006/chart" r:id="rId5"/>
          </a:graphicData>
        </a:graphic>
      </p:graphicFrame>
      <p:sp>
        <p:nvSpPr>
          <p:cNvPr id="22" name="Rounded Rectangle 21"/>
          <p:cNvSpPr/>
          <p:nvPr/>
        </p:nvSpPr>
        <p:spPr>
          <a:xfrm>
            <a:off x="142875" y="4785777"/>
            <a:ext cx="11906250" cy="1807116"/>
          </a:xfrm>
          <a:prstGeom prst="roundRect">
            <a:avLst>
              <a:gd name="adj" fmla="val 421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871502"/>
            <a:ext cx="116395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24" name="Rectangle 23"/>
          <p:cNvSpPr/>
          <p:nvPr/>
        </p:nvSpPr>
        <p:spPr>
          <a:xfrm>
            <a:off x="276225" y="5109627"/>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5195352"/>
            <a:ext cx="11639550" cy="132134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6" name="Rectangle 2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8" name="Picture 27" descr="lock.png"/>
          <p:cNvPicPr>
            <a:picLocks noChangeAspect="1"/>
          </p:cNvPicPr>
          <p:nvPr/>
        </p:nvPicPr>
        <p:blipFill>
          <a:blip r:embed="rId7"/>
          <a:stretch>
            <a:fillRect/>
          </a:stretch>
        </p:blipFill>
        <p:spPr>
          <a:xfrm>
            <a:off x="1202531" y="1522714"/>
            <a:ext cx="157162" cy="228600"/>
          </a:xfrm>
          <a:prstGeom prst="rect">
            <a:avLst/>
          </a:prstGeom>
        </p:spPr>
      </p:pic>
      <p:pic>
        <p:nvPicPr>
          <p:cNvPr id="29" name="Picture 28" descr="lock.png"/>
          <p:cNvPicPr>
            <a:picLocks noChangeAspect="1"/>
          </p:cNvPicPr>
          <p:nvPr/>
        </p:nvPicPr>
        <p:blipFill>
          <a:blip r:embed="rId7"/>
          <a:stretch>
            <a:fillRect/>
          </a:stretch>
        </p:blipFill>
        <p:spPr>
          <a:xfrm>
            <a:off x="3602831" y="1522714"/>
            <a:ext cx="157162" cy="228600"/>
          </a:xfrm>
          <a:prstGeom prst="rect">
            <a:avLst/>
          </a:prstGeom>
        </p:spPr>
      </p:pic>
      <p:pic>
        <p:nvPicPr>
          <p:cNvPr id="30" name="Picture 29" descr="lock.png"/>
          <p:cNvPicPr>
            <a:picLocks noChangeAspect="1"/>
          </p:cNvPicPr>
          <p:nvPr/>
        </p:nvPicPr>
        <p:blipFill>
          <a:blip r:embed="rId7"/>
          <a:stretch>
            <a:fillRect/>
          </a:stretch>
        </p:blipFill>
        <p:spPr>
          <a:xfrm>
            <a:off x="8412956" y="1522714"/>
            <a:ext cx="157162" cy="228600"/>
          </a:xfrm>
          <a:prstGeom prst="rect">
            <a:avLst/>
          </a:prstGeom>
        </p:spPr>
      </p:pic>
      <p:pic>
        <p:nvPicPr>
          <p:cNvPr id="31" name="Picture 30" descr="lock.png"/>
          <p:cNvPicPr>
            <a:picLocks noChangeAspect="1"/>
          </p:cNvPicPr>
          <p:nvPr/>
        </p:nvPicPr>
        <p:blipFill>
          <a:blip r:embed="rId7"/>
          <a:stretch>
            <a:fillRect/>
          </a:stretch>
        </p:blipFill>
        <p:spPr>
          <a:xfrm>
            <a:off x="10822781" y="1522714"/>
            <a:ext cx="157162" cy="228600"/>
          </a:xfrm>
          <a:prstGeom prst="rect">
            <a:avLst/>
          </a:prstGeom>
        </p:spPr>
      </p:pic>
      <p:pic>
        <p:nvPicPr>
          <p:cNvPr id="32" name="Picture 31" descr="lock.png"/>
          <p:cNvPicPr>
            <a:picLocks noChangeAspect="1"/>
          </p:cNvPicPr>
          <p:nvPr/>
        </p:nvPicPr>
        <p:blipFill>
          <a:blip r:embed="rId7"/>
          <a:stretch>
            <a:fillRect/>
          </a:stretch>
        </p:blipFill>
        <p:spPr>
          <a:xfrm>
            <a:off x="2104623" y="3299104"/>
            <a:ext cx="197242" cy="286897"/>
          </a:xfrm>
          <a:prstGeom prst="rect">
            <a:avLst/>
          </a:prstGeom>
        </p:spPr>
      </p:pic>
      <p:pic>
        <p:nvPicPr>
          <p:cNvPr id="33" name="Picture 32" descr="lock.png"/>
          <p:cNvPicPr>
            <a:picLocks noChangeAspect="1"/>
          </p:cNvPicPr>
          <p:nvPr/>
        </p:nvPicPr>
        <p:blipFill>
          <a:blip r:embed="rId7"/>
          <a:stretch>
            <a:fillRect/>
          </a:stretch>
        </p:blipFill>
        <p:spPr>
          <a:xfrm>
            <a:off x="6086073" y="3299104"/>
            <a:ext cx="197242" cy="286897"/>
          </a:xfrm>
          <a:prstGeom prst="rect">
            <a:avLst/>
          </a:prstGeom>
        </p:spPr>
      </p:pic>
      <p:pic>
        <p:nvPicPr>
          <p:cNvPr id="34" name="Picture 33" descr="lock.png"/>
          <p:cNvPicPr>
            <a:picLocks noChangeAspect="1"/>
          </p:cNvPicPr>
          <p:nvPr/>
        </p:nvPicPr>
        <p:blipFill>
          <a:blip r:embed="rId7"/>
          <a:stretch>
            <a:fillRect/>
          </a:stretch>
        </p:blipFill>
        <p:spPr>
          <a:xfrm>
            <a:off x="9278088" y="3145920"/>
            <a:ext cx="444576" cy="646656"/>
          </a:xfrm>
          <a:prstGeom prst="rect">
            <a:avLst/>
          </a:prstGeom>
        </p:spPr>
      </p:pic>
      <p:sp>
        <p:nvSpPr>
          <p:cNvPr id="35" name="TextBox 34"/>
          <p:cNvSpPr txBox="1"/>
          <p:nvPr/>
        </p:nvSpPr>
        <p:spPr>
          <a:xfrm>
            <a:off x="5758516" y="1377568"/>
            <a:ext cx="741641" cy="146456"/>
          </a:xfrm>
          <a:prstGeom prst="rect">
            <a:avLst/>
          </a:prstGeom>
          <a:noFill/>
        </p:spPr>
        <p:txBody>
          <a:bodyPr wrap="none" lIns="0" rIns="0" tIns="0" bIns="0">
            <a:spAutoFit/>
          </a:bodyPr>
          <a:lstStyle/>
          <a:p>
            <a:r>
              <a:rPr sz="835" b="1">
                <a:solidFill>
                  <a:srgbClr val="6C7A89"/>
                </a:solidFill>
                <a:latin typeface="Calibri"/>
              </a:rPr>
              <a:t>SOM (US$ MN)</a:t>
            </a:r>
          </a:p>
        </p:txBody>
      </p:sp>
      <p:pic>
        <p:nvPicPr>
          <p:cNvPr id="36" name="Picture 35" descr="lock.png"/>
          <p:cNvPicPr>
            <a:picLocks noChangeAspect="1"/>
          </p:cNvPicPr>
          <p:nvPr/>
        </p:nvPicPr>
        <p:blipFill>
          <a:blip r:embed="rId7"/>
          <a:stretch>
            <a:fillRect/>
          </a:stretch>
        </p:blipFill>
        <p:spPr>
          <a:xfrm>
            <a:off x="6017010" y="1533061"/>
            <a:ext cx="133378" cy="194005"/>
          </a:xfrm>
          <a:prstGeom prst="rect">
            <a:avLst/>
          </a:prstGeom>
        </p:spPr>
      </p:pic>
      <p:pic>
        <p:nvPicPr>
          <p:cNvPr id="37" name="Picture 36" descr="lock.png"/>
          <p:cNvPicPr>
            <a:picLocks noChangeAspect="1"/>
          </p:cNvPicPr>
          <p:nvPr/>
        </p:nvPicPr>
        <p:blipFill>
          <a:blip r:embed="rId7"/>
          <a:stretch>
            <a:fillRect/>
          </a:stretch>
        </p:blipFill>
        <p:spPr>
          <a:xfrm>
            <a:off x="5865805" y="1761621"/>
            <a:ext cx="97811" cy="142270"/>
          </a:xfrm>
          <a:prstGeom prst="rect">
            <a:avLst/>
          </a:prstGeom>
        </p:spPr>
      </p:pic>
      <p:sp>
        <p:nvSpPr>
          <p:cNvPr id="38" name="TextBox 37"/>
          <p:cNvSpPr txBox="1"/>
          <p:nvPr/>
        </p:nvSpPr>
        <p:spPr>
          <a:xfrm>
            <a:off x="5993102" y="1769053"/>
            <a:ext cx="389531" cy="146456"/>
          </a:xfrm>
          <a:prstGeom prst="rect">
            <a:avLst/>
          </a:prstGeom>
          <a:noFill/>
        </p:spPr>
        <p:txBody>
          <a:bodyPr wrap="none" lIns="0" rIns="0" tIns="0" bIns="0">
            <a:spAutoFit/>
          </a:bodyPr>
          <a:lstStyle/>
          <a:p>
            <a:r>
              <a:rPr sz="835" b="0">
                <a:solidFill>
                  <a:srgbClr val="6C7A89"/>
                </a:solidFill>
                <a:latin typeface="Calibri"/>
              </a:rPr>
              <a:t>of SAM</a:t>
            </a:r>
          </a:p>
        </p:txBody>
      </p:sp>
      <p:sp>
        <p:nvSpPr>
          <p:cNvPr id="39" name="TextBox 38"/>
          <p:cNvSpPr txBox="1"/>
          <p:nvPr/>
        </p:nvSpPr>
        <p:spPr>
          <a:xfrm>
            <a:off x="276225" y="5204877"/>
            <a:ext cx="2531892" cy="194310"/>
          </a:xfrm>
          <a:prstGeom prst="rect">
            <a:avLst/>
          </a:prstGeom>
          <a:noFill/>
        </p:spPr>
        <p:txBody>
          <a:bodyPr wrap="none" lIns="0" rIns="0" tIns="0" bIns="0">
            <a:spAutoFit/>
          </a:bodyPr>
          <a:lstStyle/>
          <a:p>
            <a:r>
              <a:rPr sz="1150" b="0">
                <a:solidFill>
                  <a:srgbClr val="2E2E2E"/>
                </a:solidFill>
                <a:latin typeface="Calibri"/>
              </a:rPr>
              <a:t>▪ Market Position: Atlas Copco captures ~</a:t>
            </a:r>
          </a:p>
        </p:txBody>
      </p:sp>
      <p:pic>
        <p:nvPicPr>
          <p:cNvPr id="40" name="Picture 39" descr="lock.png"/>
          <p:cNvPicPr>
            <a:picLocks noChangeAspect="1"/>
          </p:cNvPicPr>
          <p:nvPr/>
        </p:nvPicPr>
        <p:blipFill>
          <a:blip r:embed="rId7"/>
          <a:stretch>
            <a:fillRect/>
          </a:stretch>
        </p:blipFill>
        <p:spPr>
          <a:xfrm>
            <a:off x="2757271" y="5194653"/>
            <a:ext cx="134549" cy="195707"/>
          </a:xfrm>
          <a:prstGeom prst="rect">
            <a:avLst/>
          </a:prstGeom>
        </p:spPr>
      </p:pic>
      <p:sp>
        <p:nvSpPr>
          <p:cNvPr id="41" name="TextBox 40"/>
          <p:cNvSpPr txBox="1"/>
          <p:nvPr/>
        </p:nvSpPr>
        <p:spPr>
          <a:xfrm>
            <a:off x="2932381" y="5204877"/>
            <a:ext cx="4195266" cy="194310"/>
          </a:xfrm>
          <a:prstGeom prst="rect">
            <a:avLst/>
          </a:prstGeom>
          <a:noFill/>
        </p:spPr>
        <p:txBody>
          <a:bodyPr wrap="none" lIns="0" rIns="0" tIns="0" bIns="0">
            <a:spAutoFit/>
          </a:bodyPr>
          <a:lstStyle/>
          <a:p>
            <a:r>
              <a:rPr sz="1150" b="0">
                <a:solidFill>
                  <a:srgbClr val="2E2E2E"/>
                </a:solidFill>
                <a:latin typeface="Calibri"/>
              </a:rPr>
              <a:t>of a US$ Mn SAM, with its strongest end-market in 'Pharmaceuticals'.</a:t>
            </a:r>
          </a:p>
        </p:txBody>
      </p:sp>
      <p:sp>
        <p:nvSpPr>
          <p:cNvPr id="42" name="TextBox 41"/>
          <p:cNvSpPr txBox="1"/>
          <p:nvPr/>
        </p:nvSpPr>
        <p:spPr>
          <a:xfrm>
            <a:off x="276225" y="5432715"/>
            <a:ext cx="7358446" cy="194310"/>
          </a:xfrm>
          <a:prstGeom prst="rect">
            <a:avLst/>
          </a:prstGeom>
          <a:noFill/>
        </p:spPr>
        <p:txBody>
          <a:bodyPr wrap="none" lIns="0" rIns="0" tIns="0" bIns="0">
            <a:spAutoFit/>
          </a:bodyPr>
          <a:lstStyle/>
          <a:p>
            <a:r>
              <a:rPr sz="1150" b="0">
                <a:solidFill>
                  <a:srgbClr val="2E2E2E"/>
                </a:solidFill>
                <a:latin typeface="Calibri"/>
              </a:rPr>
              <a:t>▪ Geographic Balance: 'North America' is the largest SOM region; 'Rest of the World' shows the highest SAM penetration (~</a:t>
            </a:r>
          </a:p>
        </p:txBody>
      </p:sp>
      <p:pic>
        <p:nvPicPr>
          <p:cNvPr id="43" name="Picture 42" descr="lock.png"/>
          <p:cNvPicPr>
            <a:picLocks noChangeAspect="1"/>
          </p:cNvPicPr>
          <p:nvPr/>
        </p:nvPicPr>
        <p:blipFill>
          <a:blip r:embed="rId7"/>
          <a:stretch>
            <a:fillRect/>
          </a:stretch>
        </p:blipFill>
        <p:spPr>
          <a:xfrm>
            <a:off x="7583825" y="5422491"/>
            <a:ext cx="134549" cy="195707"/>
          </a:xfrm>
          <a:prstGeom prst="rect">
            <a:avLst/>
          </a:prstGeom>
        </p:spPr>
      </p:pic>
      <p:sp>
        <p:nvSpPr>
          <p:cNvPr id="44" name="TextBox 43"/>
          <p:cNvSpPr txBox="1"/>
          <p:nvPr/>
        </p:nvSpPr>
        <p:spPr>
          <a:xfrm>
            <a:off x="7758935" y="543271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5" name="TextBox 44"/>
          <p:cNvSpPr txBox="1"/>
          <p:nvPr/>
        </p:nvSpPr>
        <p:spPr>
          <a:xfrm>
            <a:off x="276225" y="5660552"/>
            <a:ext cx="1391791" cy="194310"/>
          </a:xfrm>
          <a:prstGeom prst="rect">
            <a:avLst/>
          </a:prstGeom>
          <a:noFill/>
        </p:spPr>
        <p:txBody>
          <a:bodyPr wrap="none" lIns="0" rIns="0" tIns="0" bIns="0">
            <a:spAutoFit/>
          </a:bodyPr>
          <a:lstStyle/>
          <a:p>
            <a:r>
              <a:rPr sz="1150" b="0">
                <a:solidFill>
                  <a:srgbClr val="2E2E2E"/>
                </a:solidFill>
                <a:latin typeface="Calibri"/>
              </a:rPr>
              <a:t>▪ Growth Trajectory: a</a:t>
            </a:r>
          </a:p>
        </p:txBody>
      </p:sp>
      <p:pic>
        <p:nvPicPr>
          <p:cNvPr id="46" name="Picture 45" descr="lock.png"/>
          <p:cNvPicPr>
            <a:picLocks noChangeAspect="1"/>
          </p:cNvPicPr>
          <p:nvPr/>
        </p:nvPicPr>
        <p:blipFill>
          <a:blip r:embed="rId7"/>
          <a:stretch>
            <a:fillRect/>
          </a:stretch>
        </p:blipFill>
        <p:spPr>
          <a:xfrm>
            <a:off x="1617169" y="5650329"/>
            <a:ext cx="134549" cy="195707"/>
          </a:xfrm>
          <a:prstGeom prst="rect">
            <a:avLst/>
          </a:prstGeom>
        </p:spPr>
      </p:pic>
      <p:sp>
        <p:nvSpPr>
          <p:cNvPr id="47" name="TextBox 46"/>
          <p:cNvSpPr txBox="1"/>
          <p:nvPr/>
        </p:nvSpPr>
        <p:spPr>
          <a:xfrm>
            <a:off x="1792279" y="5660552"/>
            <a:ext cx="1129072" cy="194310"/>
          </a:xfrm>
          <a:prstGeom prst="rect">
            <a:avLst/>
          </a:prstGeom>
          <a:noFill/>
        </p:spPr>
        <p:txBody>
          <a:bodyPr wrap="none" lIns="0" rIns="0" tIns="0" bIns="0">
            <a:spAutoFit/>
          </a:bodyPr>
          <a:lstStyle/>
          <a:p>
            <a:r>
              <a:rPr sz="1150" b="0">
                <a:solidFill>
                  <a:srgbClr val="2E2E2E"/>
                </a:solidFill>
                <a:latin typeface="Calibri"/>
              </a:rPr>
              <a:t>book-to-bill and ~</a:t>
            </a:r>
          </a:p>
        </p:txBody>
      </p:sp>
      <p:pic>
        <p:nvPicPr>
          <p:cNvPr id="48" name="Picture 47" descr="lock.png"/>
          <p:cNvPicPr>
            <a:picLocks noChangeAspect="1"/>
          </p:cNvPicPr>
          <p:nvPr/>
        </p:nvPicPr>
        <p:blipFill>
          <a:blip r:embed="rId7"/>
          <a:stretch>
            <a:fillRect/>
          </a:stretch>
        </p:blipFill>
        <p:spPr>
          <a:xfrm>
            <a:off x="2870505" y="5650329"/>
            <a:ext cx="134549" cy="195707"/>
          </a:xfrm>
          <a:prstGeom prst="rect">
            <a:avLst/>
          </a:prstGeom>
        </p:spPr>
      </p:pic>
      <p:sp>
        <p:nvSpPr>
          <p:cNvPr id="49" name="TextBox 48"/>
          <p:cNvSpPr txBox="1"/>
          <p:nvPr/>
        </p:nvSpPr>
        <p:spPr>
          <a:xfrm>
            <a:off x="3045614" y="5660552"/>
            <a:ext cx="4503594" cy="194310"/>
          </a:xfrm>
          <a:prstGeom prst="rect">
            <a:avLst/>
          </a:prstGeom>
          <a:noFill/>
        </p:spPr>
        <p:txBody>
          <a:bodyPr wrap="none" lIns="0" rIns="0" tIns="0" bIns="0">
            <a:spAutoFit/>
          </a:bodyPr>
          <a:lstStyle/>
          <a:p>
            <a:r>
              <a:rPr sz="1150" b="0">
                <a:solidFill>
                  <a:srgbClr val="2E2E2E"/>
                </a:solidFill>
                <a:latin typeface="Calibri"/>
              </a:rPr>
              <a:t>EBITDA margin point to a path to capture more of the addressable market.</a:t>
            </a:r>
          </a:p>
        </p:txBody>
      </p:sp>
      <p:sp>
        <p:nvSpPr>
          <p:cNvPr id="50" name="TextBox 49"/>
          <p:cNvSpPr txBox="1"/>
          <p:nvPr/>
        </p:nvSpPr>
        <p:spPr>
          <a:xfrm>
            <a:off x="276225" y="5888390"/>
            <a:ext cx="1353535" cy="194310"/>
          </a:xfrm>
          <a:prstGeom prst="rect">
            <a:avLst/>
          </a:prstGeom>
          <a:noFill/>
        </p:spPr>
        <p:txBody>
          <a:bodyPr wrap="none" lIns="0" rIns="0" tIns="0" bIns="0">
            <a:spAutoFit/>
          </a:bodyPr>
          <a:lstStyle/>
          <a:p>
            <a:r>
              <a:rPr sz="1150" b="0">
                <a:solidFill>
                  <a:srgbClr val="2E2E2E"/>
                </a:solidFill>
                <a:latin typeface="Calibri"/>
              </a:rPr>
              <a:t>▪ Competitive Edge: ~</a:t>
            </a:r>
          </a:p>
        </p:txBody>
      </p:sp>
      <p:pic>
        <p:nvPicPr>
          <p:cNvPr id="51" name="Picture 50" descr="lock.png"/>
          <p:cNvPicPr>
            <a:picLocks noChangeAspect="1"/>
          </p:cNvPicPr>
          <p:nvPr/>
        </p:nvPicPr>
        <p:blipFill>
          <a:blip r:embed="rId7"/>
          <a:stretch>
            <a:fillRect/>
          </a:stretch>
        </p:blipFill>
        <p:spPr>
          <a:xfrm>
            <a:off x="1578914" y="5878167"/>
            <a:ext cx="134549" cy="195707"/>
          </a:xfrm>
          <a:prstGeom prst="rect">
            <a:avLst/>
          </a:prstGeom>
        </p:spPr>
      </p:pic>
      <p:sp>
        <p:nvSpPr>
          <p:cNvPr id="52" name="TextBox 51"/>
          <p:cNvSpPr txBox="1"/>
          <p:nvPr/>
        </p:nvSpPr>
        <p:spPr>
          <a:xfrm>
            <a:off x="1754024" y="5888390"/>
            <a:ext cx="1072591" cy="194310"/>
          </a:xfrm>
          <a:prstGeom prst="rect">
            <a:avLst/>
          </a:prstGeom>
          <a:noFill/>
        </p:spPr>
        <p:txBody>
          <a:bodyPr wrap="none" lIns="0" rIns="0" tIns="0" bIns="0">
            <a:spAutoFit/>
          </a:bodyPr>
          <a:lstStyle/>
          <a:p>
            <a:r>
              <a:rPr sz="1150" b="0">
                <a:solidFill>
                  <a:srgbClr val="2E2E2E"/>
                </a:solidFill>
                <a:latin typeface="Calibri"/>
              </a:rPr>
              <a:t>win rate with a +</a:t>
            </a:r>
          </a:p>
        </p:txBody>
      </p:sp>
      <p:pic>
        <p:nvPicPr>
          <p:cNvPr id="53" name="Picture 52" descr="lock.png"/>
          <p:cNvPicPr>
            <a:picLocks noChangeAspect="1"/>
          </p:cNvPicPr>
          <p:nvPr/>
        </p:nvPicPr>
        <p:blipFill>
          <a:blip r:embed="rId7"/>
          <a:stretch>
            <a:fillRect/>
          </a:stretch>
        </p:blipFill>
        <p:spPr>
          <a:xfrm>
            <a:off x="2775769" y="5878167"/>
            <a:ext cx="134549" cy="195707"/>
          </a:xfrm>
          <a:prstGeom prst="rect">
            <a:avLst/>
          </a:prstGeom>
        </p:spPr>
      </p:pic>
      <p:sp>
        <p:nvSpPr>
          <p:cNvPr id="54" name="TextBox 53"/>
          <p:cNvSpPr txBox="1"/>
          <p:nvPr/>
        </p:nvSpPr>
        <p:spPr>
          <a:xfrm>
            <a:off x="2950879" y="5888390"/>
            <a:ext cx="1137059" cy="194310"/>
          </a:xfrm>
          <a:prstGeom prst="rect">
            <a:avLst/>
          </a:prstGeom>
          <a:noFill/>
        </p:spPr>
        <p:txBody>
          <a:bodyPr wrap="none" lIns="0" rIns="0" tIns="0" bIns="0">
            <a:spAutoFit/>
          </a:bodyPr>
          <a:lstStyle/>
          <a:p>
            <a:r>
              <a:rPr sz="1150" b="0">
                <a:solidFill>
                  <a:srgbClr val="2E2E2E"/>
                </a:solidFill>
                <a:latin typeface="Calibri"/>
              </a:rPr>
              <a:t>ASP premium and</a:t>
            </a:r>
          </a:p>
        </p:txBody>
      </p:sp>
      <p:pic>
        <p:nvPicPr>
          <p:cNvPr id="55" name="Picture 54" descr="lock.png"/>
          <p:cNvPicPr>
            <a:picLocks noChangeAspect="1"/>
          </p:cNvPicPr>
          <p:nvPr/>
        </p:nvPicPr>
        <p:blipFill>
          <a:blip r:embed="rId7"/>
          <a:stretch>
            <a:fillRect/>
          </a:stretch>
        </p:blipFill>
        <p:spPr>
          <a:xfrm>
            <a:off x="4037092" y="5878167"/>
            <a:ext cx="134549" cy="195707"/>
          </a:xfrm>
          <a:prstGeom prst="rect">
            <a:avLst/>
          </a:prstGeom>
        </p:spPr>
      </p:pic>
      <p:sp>
        <p:nvSpPr>
          <p:cNvPr id="56" name="TextBox 55"/>
          <p:cNvSpPr txBox="1"/>
          <p:nvPr/>
        </p:nvSpPr>
        <p:spPr>
          <a:xfrm>
            <a:off x="4212201" y="5888390"/>
            <a:ext cx="1259147" cy="194310"/>
          </a:xfrm>
          <a:prstGeom prst="rect">
            <a:avLst/>
          </a:prstGeom>
          <a:noFill/>
        </p:spPr>
        <p:txBody>
          <a:bodyPr wrap="none" lIns="0" rIns="0" tIns="0" bIns="0">
            <a:spAutoFit/>
          </a:bodyPr>
          <a:lstStyle/>
          <a:p>
            <a:r>
              <a:rPr sz="1150" b="0">
                <a:solidFill>
                  <a:srgbClr val="2E2E2E"/>
                </a:solidFill>
                <a:latin typeface="Calibri"/>
              </a:rPr>
              <a:t>x pipeline coverage.</a:t>
            </a:r>
          </a:p>
        </p:txBody>
      </p:sp>
      <p:sp>
        <p:nvSpPr>
          <p:cNvPr id="57" name="lockshield_15"/>
          <p:cNvSpPr/>
          <p:nvPr/>
        </p:nvSpPr>
        <p:spPr>
          <a:xfrm>
            <a:off x="23812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8"/>
          <p:cNvSpPr/>
          <p:nvPr/>
        </p:nvSpPr>
        <p:spPr>
          <a:xfrm>
            <a:off x="421957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21"/>
          <p:cNvSpPr/>
          <p:nvPr/>
        </p:nvSpPr>
        <p:spPr>
          <a:xfrm>
            <a:off x="8201025" y="2351726"/>
            <a:ext cx="37528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Atlas Copco Regional Penetration &amp; Win Position (2/5)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Regional penetration and competitive positioning highlighting growth potential, win rates and sales efficiency</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penetration and competitive positioning Atlas Copco: SOM vs SAM by region, win position, TAM/SAM/SOM and go-to-market benchmarks.</a:t>
            </a:r>
          </a:p>
        </p:txBody>
      </p:sp>
      <p:sp>
        <p:nvSpPr>
          <p:cNvPr id="8" name="Rounded Rectangle 7"/>
          <p:cNvSpPr/>
          <p:nvPr/>
        </p:nvSpPr>
        <p:spPr>
          <a:xfrm>
            <a:off x="142875" y="1299320"/>
            <a:ext cx="5905500" cy="2263459"/>
          </a:xfrm>
          <a:prstGeom prst="roundRect">
            <a:avLst>
              <a:gd name="adj" fmla="val 336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5647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0" name="Chart 9"/>
          <p:cNvGraphicFramePr>
            <a:graphicFrameLocks noGrp="1"/>
          </p:cNvGraphicFramePr>
          <p:nvPr/>
        </p:nvGraphicFramePr>
        <p:xfrm>
          <a:off x="238125" y="1585070"/>
          <a:ext cx="5715000" cy="1920559"/>
        </p:xfrm>
        <a:graphic>
          <a:graphicData uri="http://schemas.openxmlformats.org/drawingml/2006/chart">
            <c:chart xmlns:c="http://schemas.openxmlformats.org/drawingml/2006/chart" r:id="rId3"/>
          </a:graphicData>
        </a:graphic>
      </p:graphicFrame>
      <p:sp>
        <p:nvSpPr>
          <p:cNvPr id="11" name="Rounded Rectangle 10"/>
          <p:cNvSpPr/>
          <p:nvPr/>
        </p:nvSpPr>
        <p:spPr>
          <a:xfrm>
            <a:off x="6162675" y="1299320"/>
            <a:ext cx="5886450" cy="2263459"/>
          </a:xfrm>
          <a:prstGeom prst="roundRect">
            <a:avLst>
              <a:gd name="adj" fmla="val 336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7925" y="135647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3" name="Connector 12"/>
          <p:cNvCxnSpPr/>
          <p:nvPr/>
        </p:nvCxnSpPr>
        <p:spPr>
          <a:xfrm>
            <a:off x="6581775" y="3219879"/>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81775" y="1680320"/>
            <a:ext cx="0" cy="1539559"/>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67475" y="3238929"/>
            <a:ext cx="228600" cy="114300"/>
          </a:xfrm>
          <a:prstGeom prst="rect">
            <a:avLst/>
          </a:prstGeom>
          <a:noFill/>
        </p:spPr>
        <p:txBody>
          <a:bodyPr wrap="none" lIns="0" rIns="0" tIns="0" bIns="0">
            <a:spAutoFit/>
          </a:bodyPr>
          <a:lstStyle/>
          <a:p>
            <a:pPr algn="ctr"/>
            <a:r>
              <a:rPr sz="1100" b="0">
                <a:solidFill>
                  <a:srgbClr val="6C7A89"/>
                </a:solidFill>
                <a:latin typeface="Calibri"/>
              </a:rPr>
              <a:t>0</a:t>
            </a:r>
          </a:p>
        </p:txBody>
      </p:sp>
      <p:sp>
        <p:nvSpPr>
          <p:cNvPr id="16" name="TextBox 15"/>
          <p:cNvSpPr txBox="1"/>
          <p:nvPr/>
        </p:nvSpPr>
        <p:spPr>
          <a:xfrm>
            <a:off x="7969704" y="3238929"/>
            <a:ext cx="228600" cy="114300"/>
          </a:xfrm>
          <a:prstGeom prst="rect">
            <a:avLst/>
          </a:prstGeom>
          <a:noFill/>
        </p:spPr>
        <p:txBody>
          <a:bodyPr wrap="none" lIns="0" rIns="0" tIns="0" bIns="0">
            <a:spAutoFit/>
          </a:bodyPr>
          <a:lstStyle/>
          <a:p>
            <a:pPr algn="ctr"/>
            <a:r>
              <a:rPr sz="1100" b="0">
                <a:solidFill>
                  <a:srgbClr val="6C7A89"/>
                </a:solidFill>
                <a:latin typeface="Calibri"/>
              </a:rPr>
              <a:t>1</a:t>
            </a:r>
          </a:p>
        </p:txBody>
      </p:sp>
      <p:sp>
        <p:nvSpPr>
          <p:cNvPr id="17" name="TextBox 16"/>
          <p:cNvSpPr txBox="1"/>
          <p:nvPr/>
        </p:nvSpPr>
        <p:spPr>
          <a:xfrm>
            <a:off x="9471932" y="3238929"/>
            <a:ext cx="228600" cy="114300"/>
          </a:xfrm>
          <a:prstGeom prst="rect">
            <a:avLst/>
          </a:prstGeom>
          <a:noFill/>
        </p:spPr>
        <p:txBody>
          <a:bodyPr wrap="none" lIns="0" rIns="0" tIns="0" bIns="0">
            <a:spAutoFit/>
          </a:bodyPr>
          <a:lstStyle/>
          <a:p>
            <a:pPr algn="ctr"/>
            <a:r>
              <a:rPr sz="1100" b="0">
                <a:solidFill>
                  <a:srgbClr val="6C7A89"/>
                </a:solidFill>
                <a:latin typeface="Calibri"/>
              </a:rPr>
              <a:t>2</a:t>
            </a:r>
          </a:p>
        </p:txBody>
      </p:sp>
      <p:sp>
        <p:nvSpPr>
          <p:cNvPr id="18" name="TextBox 17"/>
          <p:cNvSpPr txBox="1"/>
          <p:nvPr/>
        </p:nvSpPr>
        <p:spPr>
          <a:xfrm>
            <a:off x="10974161" y="3238929"/>
            <a:ext cx="228600" cy="114300"/>
          </a:xfrm>
          <a:prstGeom prst="rect">
            <a:avLst/>
          </a:prstGeom>
          <a:noFill/>
        </p:spPr>
        <p:txBody>
          <a:bodyPr wrap="none" lIns="0" rIns="0" tIns="0" bIns="0">
            <a:spAutoFit/>
          </a:bodyPr>
          <a:lstStyle/>
          <a:p>
            <a:pPr algn="ctr"/>
            <a:r>
              <a:rPr sz="1100" b="0">
                <a:solidFill>
                  <a:srgbClr val="6C7A89"/>
                </a:solidFill>
                <a:latin typeface="Calibri"/>
              </a:rPr>
              <a:t>3</a:t>
            </a:r>
          </a:p>
        </p:txBody>
      </p:sp>
      <p:sp>
        <p:nvSpPr>
          <p:cNvPr id="19" name="TextBox 18"/>
          <p:cNvSpPr txBox="1"/>
          <p:nvPr/>
        </p:nvSpPr>
        <p:spPr>
          <a:xfrm>
            <a:off x="6581775" y="3353229"/>
            <a:ext cx="5257800" cy="114300"/>
          </a:xfrm>
          <a:prstGeom prst="rect">
            <a:avLst/>
          </a:prstGeom>
          <a:noFill/>
        </p:spPr>
        <p:txBody>
          <a:bodyPr wrap="square" lIns="28575" rIns="28575" tIns="9525" bIns="9525">
            <a:spAutoFit/>
          </a:bodyPr>
          <a:lstStyle/>
          <a:p>
            <a:pPr algn="ctr"/>
            <a:r>
              <a:rPr sz="1100" b="0">
                <a:solidFill>
                  <a:srgbClr val="6C7A89"/>
                </a:solidFill>
                <a:latin typeface="Calibri"/>
              </a:rPr>
              <a:t>Win Rate %</a:t>
            </a:r>
          </a:p>
        </p:txBody>
      </p:sp>
      <p:sp>
        <p:nvSpPr>
          <p:cNvPr id="20" name="TextBox 19"/>
          <p:cNvSpPr txBox="1"/>
          <p:nvPr/>
        </p:nvSpPr>
        <p:spPr>
          <a:xfrm rot="16200000">
            <a:off x="6029325" y="2373900"/>
            <a:ext cx="571500" cy="152400"/>
          </a:xfrm>
          <a:prstGeom prst="rect">
            <a:avLst/>
          </a:prstGeom>
          <a:noFill/>
        </p:spPr>
        <p:txBody>
          <a:bodyPr wrap="square" lIns="28575" rIns="28575" tIns="9525" bIns="9525">
            <a:spAutoFit/>
          </a:bodyPr>
          <a:lstStyle/>
          <a:p>
            <a:pPr algn="ctr"/>
            <a:r>
              <a:rPr sz="1100" b="0">
                <a:solidFill>
                  <a:srgbClr val="6C7A89"/>
                </a:solidFill>
                <a:latin typeface="Calibri"/>
              </a:rPr>
              <a:t>ASP vs Peer</a:t>
            </a:r>
          </a:p>
        </p:txBody>
      </p:sp>
      <p:sp>
        <p:nvSpPr>
          <p:cNvPr id="21" name="Oval 20"/>
          <p:cNvSpPr/>
          <p:nvPr/>
        </p:nvSpPr>
        <p:spPr>
          <a:xfrm>
            <a:off x="7359287" y="1979874"/>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45037" y="201797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Atlas Copco</a:t>
            </a:r>
          </a:p>
        </p:txBody>
      </p:sp>
      <p:sp>
        <p:nvSpPr>
          <p:cNvPr id="23" name="Oval 22"/>
          <p:cNvSpPr/>
          <p:nvPr/>
        </p:nvSpPr>
        <p:spPr>
          <a:xfrm>
            <a:off x="9283609" y="1912810"/>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26509" y="1979485"/>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Industry Avg.</a:t>
            </a:r>
          </a:p>
        </p:txBody>
      </p:sp>
      <p:sp>
        <p:nvSpPr>
          <p:cNvPr id="25" name="Oval 24"/>
          <p:cNvSpPr/>
          <p:nvPr/>
        </p:nvSpPr>
        <p:spPr>
          <a:xfrm>
            <a:off x="10513967" y="2711164"/>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706100" y="274926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Market Leader</a:t>
            </a:r>
          </a:p>
        </p:txBody>
      </p:sp>
      <p:sp>
        <p:nvSpPr>
          <p:cNvPr id="27" name="Rounded Rectangle 26"/>
          <p:cNvSpPr/>
          <p:nvPr/>
        </p:nvSpPr>
        <p:spPr>
          <a:xfrm>
            <a:off x="142875" y="3635794"/>
            <a:ext cx="5905500" cy="1661086"/>
          </a:xfrm>
          <a:prstGeom prst="roundRect">
            <a:avLst>
              <a:gd name="adj" fmla="val 4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369294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29" name="Rectangle 28"/>
          <p:cNvSpPr/>
          <p:nvPr/>
        </p:nvSpPr>
        <p:spPr>
          <a:xfrm>
            <a:off x="238125" y="3921544"/>
            <a:ext cx="5715000" cy="363195"/>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0" name="Rectangle 29"/>
          <p:cNvSpPr/>
          <p:nvPr/>
        </p:nvSpPr>
        <p:spPr>
          <a:xfrm>
            <a:off x="238125" y="4399039"/>
            <a:ext cx="4400550" cy="363195"/>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1" name="Rectangle 30"/>
          <p:cNvSpPr/>
          <p:nvPr/>
        </p:nvSpPr>
        <p:spPr>
          <a:xfrm>
            <a:off x="238125" y="4876535"/>
            <a:ext cx="3086100" cy="363195"/>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2" name="Rounded Rectangle 31"/>
          <p:cNvSpPr/>
          <p:nvPr/>
        </p:nvSpPr>
        <p:spPr>
          <a:xfrm>
            <a:off x="6162675" y="3635794"/>
            <a:ext cx="5886450" cy="1661086"/>
          </a:xfrm>
          <a:prstGeom prst="roundRect">
            <a:avLst>
              <a:gd name="adj" fmla="val 4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57925" y="3692944"/>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4" name="Rectangle 33"/>
          <p:cNvSpPr/>
          <p:nvPr/>
        </p:nvSpPr>
        <p:spPr>
          <a:xfrm>
            <a:off x="10391775" y="3940594"/>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0607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Target</a:t>
            </a:r>
          </a:p>
        </p:txBody>
      </p:sp>
      <p:sp>
        <p:nvSpPr>
          <p:cNvPr id="36" name="Rectangle 35"/>
          <p:cNvSpPr/>
          <p:nvPr/>
        </p:nvSpPr>
        <p:spPr>
          <a:xfrm>
            <a:off x="11134725" y="3940594"/>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24902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Actual</a:t>
            </a:r>
          </a:p>
        </p:txBody>
      </p:sp>
      <p:sp>
        <p:nvSpPr>
          <p:cNvPr id="38" name="TextBox 37"/>
          <p:cNvSpPr txBox="1"/>
          <p:nvPr/>
        </p:nvSpPr>
        <p:spPr>
          <a:xfrm>
            <a:off x="6276975" y="4153941"/>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Conversion (%)</a:t>
            </a:r>
          </a:p>
        </p:txBody>
      </p:sp>
      <p:sp>
        <p:nvSpPr>
          <p:cNvPr id="39" name="Rectangle 38"/>
          <p:cNvSpPr/>
          <p:nvPr/>
        </p:nvSpPr>
        <p:spPr>
          <a:xfrm>
            <a:off x="7381875" y="4164998"/>
            <a:ext cx="1597914"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381875" y="4277766"/>
            <a:ext cx="301828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76975" y="4466337"/>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Sales Cycle (Days)</a:t>
            </a:r>
          </a:p>
        </p:txBody>
      </p:sp>
      <p:sp>
        <p:nvSpPr>
          <p:cNvPr id="42" name="Rectangle 41"/>
          <p:cNvSpPr/>
          <p:nvPr/>
        </p:nvSpPr>
        <p:spPr>
          <a:xfrm>
            <a:off x="7381875" y="4477393"/>
            <a:ext cx="3817239"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81875" y="4590162"/>
            <a:ext cx="2219325"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6975" y="4778732"/>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Pipeline Coverage</a:t>
            </a:r>
          </a:p>
        </p:txBody>
      </p:sp>
      <p:sp>
        <p:nvSpPr>
          <p:cNvPr id="45" name="Rectangle 44"/>
          <p:cNvSpPr/>
          <p:nvPr/>
        </p:nvSpPr>
        <p:spPr>
          <a:xfrm>
            <a:off x="7381875" y="4789789"/>
            <a:ext cx="2130552"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81875" y="4902557"/>
            <a:ext cx="390601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142875" y="5369895"/>
            <a:ext cx="11906250" cy="1259505"/>
          </a:xfrm>
          <a:prstGeom prst="roundRect">
            <a:avLst>
              <a:gd name="adj" fmla="val 60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6225" y="5455620"/>
            <a:ext cx="116395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49" name="Rectangle 48"/>
          <p:cNvSpPr/>
          <p:nvPr/>
        </p:nvSpPr>
        <p:spPr>
          <a:xfrm>
            <a:off x="276225" y="569374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6225" y="5779470"/>
            <a:ext cx="11639550" cy="77373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p:txBody>
      </p:sp>
      <p:sp>
        <p:nvSpPr>
          <p:cNvPr id="51" name="Rectangle 5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53" name="Picture 52" descr="lock.png"/>
          <p:cNvPicPr>
            <a:picLocks noChangeAspect="1"/>
          </p:cNvPicPr>
          <p:nvPr/>
        </p:nvPicPr>
        <p:blipFill>
          <a:blip r:embed="rId5"/>
          <a:stretch>
            <a:fillRect/>
          </a:stretch>
        </p:blipFill>
        <p:spPr>
          <a:xfrm>
            <a:off x="3327425" y="2314517"/>
            <a:ext cx="199521" cy="290213"/>
          </a:xfrm>
          <a:prstGeom prst="rect">
            <a:avLst/>
          </a:prstGeom>
        </p:spPr>
      </p:pic>
      <p:sp>
        <p:nvSpPr>
          <p:cNvPr id="54" name="TextBox 53"/>
          <p:cNvSpPr txBox="1"/>
          <p:nvPr/>
        </p:nvSpPr>
        <p:spPr>
          <a:xfrm>
            <a:off x="352425" y="4015511"/>
            <a:ext cx="871202" cy="194310"/>
          </a:xfrm>
          <a:prstGeom prst="rect">
            <a:avLst/>
          </a:prstGeom>
          <a:noFill/>
        </p:spPr>
        <p:txBody>
          <a:bodyPr wrap="none" lIns="0" rIns="0" tIns="0" bIns="0">
            <a:spAutoFit/>
          </a:bodyPr>
          <a:lstStyle/>
          <a:p>
            <a:r>
              <a:rPr sz="1150" b="1">
                <a:solidFill>
                  <a:srgbClr val="FFFFFF"/>
                </a:solidFill>
                <a:latin typeface="Calibri"/>
              </a:rPr>
              <a:t>TAM · 100% ·</a:t>
            </a:r>
          </a:p>
        </p:txBody>
      </p:sp>
      <p:pic>
        <p:nvPicPr>
          <p:cNvPr id="55" name="Picture 54" descr="lock.png"/>
          <p:cNvPicPr>
            <a:picLocks noChangeAspect="1"/>
          </p:cNvPicPr>
          <p:nvPr/>
        </p:nvPicPr>
        <p:blipFill>
          <a:blip r:embed="rId5"/>
          <a:stretch>
            <a:fillRect/>
          </a:stretch>
        </p:blipFill>
        <p:spPr>
          <a:xfrm>
            <a:off x="1172781" y="4005288"/>
            <a:ext cx="134549" cy="195707"/>
          </a:xfrm>
          <a:prstGeom prst="rect">
            <a:avLst/>
          </a:prstGeom>
        </p:spPr>
      </p:pic>
      <p:sp>
        <p:nvSpPr>
          <p:cNvPr id="56" name="TextBox 55"/>
          <p:cNvSpPr txBox="1"/>
          <p:nvPr/>
        </p:nvSpPr>
        <p:spPr>
          <a:xfrm>
            <a:off x="1347890" y="4015511"/>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57" name="TextBox 56"/>
          <p:cNvSpPr txBox="1"/>
          <p:nvPr/>
        </p:nvSpPr>
        <p:spPr>
          <a:xfrm>
            <a:off x="352425" y="4493006"/>
            <a:ext cx="433623" cy="194310"/>
          </a:xfrm>
          <a:prstGeom prst="rect">
            <a:avLst/>
          </a:prstGeom>
          <a:noFill/>
        </p:spPr>
        <p:txBody>
          <a:bodyPr wrap="none" lIns="0" rIns="0" tIns="0" bIns="0">
            <a:spAutoFit/>
          </a:bodyPr>
          <a:lstStyle/>
          <a:p>
            <a:r>
              <a:rPr sz="1150" b="1">
                <a:solidFill>
                  <a:srgbClr val="FFFFFF"/>
                </a:solidFill>
                <a:latin typeface="Calibri"/>
              </a:rPr>
              <a:t>SAM ·</a:t>
            </a:r>
          </a:p>
        </p:txBody>
      </p:sp>
      <p:pic>
        <p:nvPicPr>
          <p:cNvPr id="58" name="Picture 57" descr="lock.png"/>
          <p:cNvPicPr>
            <a:picLocks noChangeAspect="1"/>
          </p:cNvPicPr>
          <p:nvPr/>
        </p:nvPicPr>
        <p:blipFill>
          <a:blip r:embed="rId5"/>
          <a:stretch>
            <a:fillRect/>
          </a:stretch>
        </p:blipFill>
        <p:spPr>
          <a:xfrm>
            <a:off x="735202" y="4482783"/>
            <a:ext cx="134549" cy="195707"/>
          </a:xfrm>
          <a:prstGeom prst="rect">
            <a:avLst/>
          </a:prstGeom>
        </p:spPr>
      </p:pic>
      <p:sp>
        <p:nvSpPr>
          <p:cNvPr id="59" name="TextBox 58"/>
          <p:cNvSpPr txBox="1"/>
          <p:nvPr/>
        </p:nvSpPr>
        <p:spPr>
          <a:xfrm>
            <a:off x="910311" y="4493006"/>
            <a:ext cx="594791" cy="194310"/>
          </a:xfrm>
          <a:prstGeom prst="rect">
            <a:avLst/>
          </a:prstGeom>
          <a:noFill/>
        </p:spPr>
        <p:txBody>
          <a:bodyPr wrap="none" lIns="0" rIns="0" tIns="0" bIns="0">
            <a:spAutoFit/>
          </a:bodyPr>
          <a:lstStyle/>
          <a:p>
            <a:r>
              <a:rPr sz="1150" b="1">
                <a:solidFill>
                  <a:srgbClr val="FFFFFF"/>
                </a:solidFill>
                <a:latin typeface="Calibri"/>
              </a:rPr>
              <a:t>of TAM ·</a:t>
            </a:r>
          </a:p>
        </p:txBody>
      </p:sp>
      <p:pic>
        <p:nvPicPr>
          <p:cNvPr id="60" name="Picture 59" descr="lock.png"/>
          <p:cNvPicPr>
            <a:picLocks noChangeAspect="1"/>
          </p:cNvPicPr>
          <p:nvPr/>
        </p:nvPicPr>
        <p:blipFill>
          <a:blip r:embed="rId5"/>
          <a:stretch>
            <a:fillRect/>
          </a:stretch>
        </p:blipFill>
        <p:spPr>
          <a:xfrm>
            <a:off x="1454256" y="4482783"/>
            <a:ext cx="134549" cy="195707"/>
          </a:xfrm>
          <a:prstGeom prst="rect">
            <a:avLst/>
          </a:prstGeom>
        </p:spPr>
      </p:pic>
      <p:sp>
        <p:nvSpPr>
          <p:cNvPr id="61" name="TextBox 60"/>
          <p:cNvSpPr txBox="1"/>
          <p:nvPr/>
        </p:nvSpPr>
        <p:spPr>
          <a:xfrm>
            <a:off x="1629366" y="4493006"/>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2" name="TextBox 61"/>
          <p:cNvSpPr txBox="1"/>
          <p:nvPr/>
        </p:nvSpPr>
        <p:spPr>
          <a:xfrm>
            <a:off x="352425" y="4970502"/>
            <a:ext cx="443892" cy="194310"/>
          </a:xfrm>
          <a:prstGeom prst="rect">
            <a:avLst/>
          </a:prstGeom>
          <a:noFill/>
        </p:spPr>
        <p:txBody>
          <a:bodyPr wrap="none" lIns="0" rIns="0" tIns="0" bIns="0">
            <a:spAutoFit/>
          </a:bodyPr>
          <a:lstStyle/>
          <a:p>
            <a:r>
              <a:rPr sz="1150" b="1">
                <a:solidFill>
                  <a:srgbClr val="FFFFFF"/>
                </a:solidFill>
                <a:latin typeface="Calibri"/>
              </a:rPr>
              <a:t>SOM ·</a:t>
            </a:r>
          </a:p>
        </p:txBody>
      </p:sp>
      <p:pic>
        <p:nvPicPr>
          <p:cNvPr id="63" name="Picture 62" descr="lock.png"/>
          <p:cNvPicPr>
            <a:picLocks noChangeAspect="1"/>
          </p:cNvPicPr>
          <p:nvPr/>
        </p:nvPicPr>
        <p:blipFill>
          <a:blip r:embed="rId5"/>
          <a:stretch>
            <a:fillRect/>
          </a:stretch>
        </p:blipFill>
        <p:spPr>
          <a:xfrm>
            <a:off x="745471" y="4960279"/>
            <a:ext cx="134549" cy="195707"/>
          </a:xfrm>
          <a:prstGeom prst="rect">
            <a:avLst/>
          </a:prstGeom>
        </p:spPr>
      </p:pic>
      <p:sp>
        <p:nvSpPr>
          <p:cNvPr id="64" name="TextBox 63"/>
          <p:cNvSpPr txBox="1"/>
          <p:nvPr/>
        </p:nvSpPr>
        <p:spPr>
          <a:xfrm>
            <a:off x="920580" y="4970502"/>
            <a:ext cx="591368" cy="194310"/>
          </a:xfrm>
          <a:prstGeom prst="rect">
            <a:avLst/>
          </a:prstGeom>
          <a:noFill/>
        </p:spPr>
        <p:txBody>
          <a:bodyPr wrap="none" lIns="0" rIns="0" tIns="0" bIns="0">
            <a:spAutoFit/>
          </a:bodyPr>
          <a:lstStyle/>
          <a:p>
            <a:r>
              <a:rPr sz="1150" b="1">
                <a:solidFill>
                  <a:srgbClr val="FFFFFF"/>
                </a:solidFill>
                <a:latin typeface="Calibri"/>
              </a:rPr>
              <a:t>of SAM ·</a:t>
            </a:r>
          </a:p>
        </p:txBody>
      </p:sp>
      <p:pic>
        <p:nvPicPr>
          <p:cNvPr id="65" name="Picture 64" descr="lock.png"/>
          <p:cNvPicPr>
            <a:picLocks noChangeAspect="1"/>
          </p:cNvPicPr>
          <p:nvPr/>
        </p:nvPicPr>
        <p:blipFill>
          <a:blip r:embed="rId5"/>
          <a:stretch>
            <a:fillRect/>
          </a:stretch>
        </p:blipFill>
        <p:spPr>
          <a:xfrm>
            <a:off x="1461102" y="4960279"/>
            <a:ext cx="134549" cy="195707"/>
          </a:xfrm>
          <a:prstGeom prst="rect">
            <a:avLst/>
          </a:prstGeom>
        </p:spPr>
      </p:pic>
      <p:sp>
        <p:nvSpPr>
          <p:cNvPr id="66" name="TextBox 65"/>
          <p:cNvSpPr txBox="1"/>
          <p:nvPr/>
        </p:nvSpPr>
        <p:spPr>
          <a:xfrm>
            <a:off x="1636212" y="4970502"/>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7" name="TextBox 66"/>
          <p:cNvSpPr txBox="1"/>
          <p:nvPr/>
        </p:nvSpPr>
        <p:spPr>
          <a:xfrm>
            <a:off x="276225" y="5788995"/>
            <a:ext cx="7663656" cy="186689"/>
          </a:xfrm>
          <a:prstGeom prst="rect">
            <a:avLst/>
          </a:prstGeom>
          <a:noFill/>
        </p:spPr>
        <p:txBody>
          <a:bodyPr wrap="none" lIns="0" rIns="0" tIns="0" bIns="0">
            <a:spAutoFit/>
          </a:bodyPr>
          <a:lstStyle/>
          <a:p>
            <a:r>
              <a:rPr sz="1100" b="0">
                <a:solidFill>
                  <a:srgbClr val="2E2E2E"/>
                </a:solidFill>
                <a:latin typeface="Calibri"/>
              </a:rPr>
              <a:t>▪ Regional Opportunity: 'Rest of the World' shows the highest SAM penetration; lower-penetration regions are the growth headroom.</a:t>
            </a:r>
          </a:p>
        </p:txBody>
      </p:sp>
      <p:sp>
        <p:nvSpPr>
          <p:cNvPr id="68" name="TextBox 67"/>
          <p:cNvSpPr txBox="1"/>
          <p:nvPr/>
        </p:nvSpPr>
        <p:spPr>
          <a:xfrm>
            <a:off x="276225" y="6006927"/>
            <a:ext cx="1297999" cy="186689"/>
          </a:xfrm>
          <a:prstGeom prst="rect">
            <a:avLst/>
          </a:prstGeom>
          <a:noFill/>
        </p:spPr>
        <p:txBody>
          <a:bodyPr wrap="none" lIns="0" rIns="0" tIns="0" bIns="0">
            <a:spAutoFit/>
          </a:bodyPr>
          <a:lstStyle/>
          <a:p>
            <a:r>
              <a:rPr sz="1100" b="0">
                <a:solidFill>
                  <a:srgbClr val="2E2E2E"/>
                </a:solidFill>
                <a:latin typeface="Calibri"/>
              </a:rPr>
              <a:t>▪ Competitive Edge: ~</a:t>
            </a:r>
          </a:p>
        </p:txBody>
      </p:sp>
      <p:pic>
        <p:nvPicPr>
          <p:cNvPr id="69" name="Picture 68" descr="lock.png"/>
          <p:cNvPicPr>
            <a:picLocks noChangeAspect="1"/>
          </p:cNvPicPr>
          <p:nvPr/>
        </p:nvPicPr>
        <p:blipFill>
          <a:blip r:embed="rId5"/>
          <a:stretch>
            <a:fillRect/>
          </a:stretch>
        </p:blipFill>
        <p:spPr>
          <a:xfrm>
            <a:off x="1522276" y="5997147"/>
            <a:ext cx="128699" cy="187198"/>
          </a:xfrm>
          <a:prstGeom prst="rect">
            <a:avLst/>
          </a:prstGeom>
        </p:spPr>
      </p:pic>
      <p:sp>
        <p:nvSpPr>
          <p:cNvPr id="70" name="TextBox 69"/>
          <p:cNvSpPr txBox="1"/>
          <p:nvPr/>
        </p:nvSpPr>
        <p:spPr>
          <a:xfrm>
            <a:off x="1689771" y="6006927"/>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71" name="Picture 70" descr="lock.png"/>
          <p:cNvPicPr>
            <a:picLocks noChangeAspect="1"/>
          </p:cNvPicPr>
          <p:nvPr/>
        </p:nvPicPr>
        <p:blipFill>
          <a:blip r:embed="rId5"/>
          <a:stretch>
            <a:fillRect/>
          </a:stretch>
        </p:blipFill>
        <p:spPr>
          <a:xfrm>
            <a:off x="2667093" y="5997147"/>
            <a:ext cx="128699" cy="187198"/>
          </a:xfrm>
          <a:prstGeom prst="rect">
            <a:avLst/>
          </a:prstGeom>
        </p:spPr>
      </p:pic>
      <p:sp>
        <p:nvSpPr>
          <p:cNvPr id="72" name="TextBox 71"/>
          <p:cNvSpPr txBox="1"/>
          <p:nvPr/>
        </p:nvSpPr>
        <p:spPr>
          <a:xfrm>
            <a:off x="2834589" y="6006927"/>
            <a:ext cx="2311400" cy="186689"/>
          </a:xfrm>
          <a:prstGeom prst="rect">
            <a:avLst/>
          </a:prstGeom>
          <a:noFill/>
        </p:spPr>
        <p:txBody>
          <a:bodyPr wrap="none" lIns="0" rIns="0" tIns="0" bIns="0">
            <a:spAutoFit/>
          </a:bodyPr>
          <a:lstStyle/>
          <a:p>
            <a:r>
              <a:rPr sz="1100" b="0">
                <a:solidFill>
                  <a:srgbClr val="2E2E2E"/>
                </a:solidFill>
                <a:latin typeface="Calibri"/>
              </a:rPr>
              <a:t>ASP premium signals value recognition;</a:t>
            </a:r>
          </a:p>
        </p:txBody>
      </p:sp>
      <p:pic>
        <p:nvPicPr>
          <p:cNvPr id="73" name="Picture 72" descr="lock.png"/>
          <p:cNvPicPr>
            <a:picLocks noChangeAspect="1"/>
          </p:cNvPicPr>
          <p:nvPr/>
        </p:nvPicPr>
        <p:blipFill>
          <a:blip r:embed="rId5"/>
          <a:stretch>
            <a:fillRect/>
          </a:stretch>
        </p:blipFill>
        <p:spPr>
          <a:xfrm>
            <a:off x="5094041" y="5997147"/>
            <a:ext cx="128699" cy="187198"/>
          </a:xfrm>
          <a:prstGeom prst="rect">
            <a:avLst/>
          </a:prstGeom>
        </p:spPr>
      </p:pic>
      <p:sp>
        <p:nvSpPr>
          <p:cNvPr id="74" name="TextBox 73"/>
          <p:cNvSpPr txBox="1"/>
          <p:nvPr/>
        </p:nvSpPr>
        <p:spPr>
          <a:xfrm>
            <a:off x="5261537" y="6006927"/>
            <a:ext cx="2251645" cy="186689"/>
          </a:xfrm>
          <a:prstGeom prst="rect">
            <a:avLst/>
          </a:prstGeom>
          <a:noFill/>
        </p:spPr>
        <p:txBody>
          <a:bodyPr wrap="none" lIns="0" rIns="0" tIns="0" bIns="0">
            <a:spAutoFit/>
          </a:bodyPr>
          <a:lstStyle/>
          <a:p>
            <a:r>
              <a:rPr sz="1100" b="0">
                <a:solidFill>
                  <a:srgbClr val="2E2E2E"/>
                </a:solidFill>
                <a:latin typeface="Calibri"/>
              </a:rPr>
              <a:t>x pipeline coverage underpins growth.</a:t>
            </a:r>
          </a:p>
        </p:txBody>
      </p:sp>
      <p:sp>
        <p:nvSpPr>
          <p:cNvPr id="75" name="TextBox 74"/>
          <p:cNvSpPr txBox="1"/>
          <p:nvPr/>
        </p:nvSpPr>
        <p:spPr>
          <a:xfrm>
            <a:off x="276225" y="6224859"/>
            <a:ext cx="2615015" cy="186689"/>
          </a:xfrm>
          <a:prstGeom prst="rect">
            <a:avLst/>
          </a:prstGeom>
          <a:noFill/>
        </p:spPr>
        <p:txBody>
          <a:bodyPr wrap="none" lIns="0" rIns="0" tIns="0" bIns="0">
            <a:spAutoFit/>
          </a:bodyPr>
          <a:lstStyle/>
          <a:p>
            <a:r>
              <a:rPr sz="1100" b="0">
                <a:solidFill>
                  <a:srgbClr val="2E2E2E"/>
                </a:solidFill>
                <a:latin typeface="Calibri"/>
              </a:rPr>
              <a:t>▪ Sales Efficiency: a ~95-day sales cycle and ~</a:t>
            </a:r>
          </a:p>
        </p:txBody>
      </p:sp>
      <p:pic>
        <p:nvPicPr>
          <p:cNvPr id="76" name="Picture 75" descr="lock.png"/>
          <p:cNvPicPr>
            <a:picLocks noChangeAspect="1"/>
          </p:cNvPicPr>
          <p:nvPr/>
        </p:nvPicPr>
        <p:blipFill>
          <a:blip r:embed="rId5"/>
          <a:stretch>
            <a:fillRect/>
          </a:stretch>
        </p:blipFill>
        <p:spPr>
          <a:xfrm>
            <a:off x="2839292" y="6215079"/>
            <a:ext cx="128699" cy="187198"/>
          </a:xfrm>
          <a:prstGeom prst="rect">
            <a:avLst/>
          </a:prstGeom>
        </p:spPr>
      </p:pic>
      <p:sp>
        <p:nvSpPr>
          <p:cNvPr id="77" name="TextBox 76"/>
          <p:cNvSpPr txBox="1"/>
          <p:nvPr/>
        </p:nvSpPr>
        <p:spPr>
          <a:xfrm>
            <a:off x="3006787" y="6224859"/>
            <a:ext cx="2384524" cy="186689"/>
          </a:xfrm>
          <a:prstGeom prst="rect">
            <a:avLst/>
          </a:prstGeom>
          <a:noFill/>
        </p:spPr>
        <p:txBody>
          <a:bodyPr wrap="none" lIns="0" rIns="0" tIns="0" bIns="0">
            <a:spAutoFit/>
          </a:bodyPr>
          <a:lstStyle/>
          <a:p>
            <a:r>
              <a:rPr sz="1100" b="0">
                <a:solidFill>
                  <a:srgbClr val="2E2E2E"/>
                </a:solidFill>
                <a:latin typeface="Calibri"/>
              </a:rPr>
              <a:t>conversion support faster share capture.</a:t>
            </a:r>
          </a:p>
        </p:txBody>
      </p:sp>
      <p:sp>
        <p:nvSpPr>
          <p:cNvPr id="78" name="lockshield_10"/>
          <p:cNvSpPr/>
          <p:nvPr/>
        </p:nvSpPr>
        <p:spPr>
          <a:xfrm>
            <a:off x="238125" y="1585070"/>
            <a:ext cx="5715000" cy="192055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Atlas Copco SWOT Analysis (3/5)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SWOT assessment of Atlas Copco: strengths, weaknesses, opportunities and threats shaping its competitive position</a:t>
            </a:r>
          </a:p>
        </p:txBody>
      </p:sp>
      <p:sp>
        <p:nvSpPr>
          <p:cNvPr id="7" name="TextBox 6"/>
          <p:cNvSpPr txBox="1"/>
          <p:nvPr/>
        </p:nvSpPr>
        <p:spPr>
          <a:xfrm>
            <a:off x="142875" y="1007261"/>
            <a:ext cx="11906250" cy="164283"/>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Atlas Copco: strengths, weaknesses, opportunities and threats (indicative).</a:t>
            </a:r>
          </a:p>
        </p:txBody>
      </p:sp>
      <p:cxnSp>
        <p:nvCxnSpPr>
          <p:cNvPr id="8" name="Connector 7"/>
          <p:cNvCxnSpPr/>
          <p:nvPr/>
        </p:nvCxnSpPr>
        <p:spPr>
          <a:xfrm>
            <a:off x="3810000" y="3891345"/>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6000" y="1919946"/>
            <a:ext cx="0" cy="3942799"/>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757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329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043612" y="1869748"/>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43612" y="58125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724400" y="2577079"/>
            <a:ext cx="1257300" cy="1204744"/>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0300" y="2577079"/>
            <a:ext cx="1257300" cy="1204744"/>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724400" y="4000868"/>
            <a:ext cx="1257300" cy="1204744"/>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0300" y="4000868"/>
            <a:ext cx="1257300" cy="1204744"/>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5524500" y="2978660"/>
            <a:ext cx="1143000" cy="803163"/>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5524500" y="4000868"/>
            <a:ext cx="1143000" cy="803163"/>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5143500" y="3343734"/>
            <a:ext cx="838200" cy="1095222"/>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6210300" y="3343734"/>
            <a:ext cx="838200" cy="1095222"/>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86450" y="3243339"/>
            <a:ext cx="419100" cy="273805"/>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3" name="TextBox 22"/>
          <p:cNvSpPr txBox="1"/>
          <p:nvPr/>
        </p:nvSpPr>
        <p:spPr>
          <a:xfrm>
            <a:off x="5886450" y="4265546"/>
            <a:ext cx="419100" cy="273805"/>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4" name="TextBox 23"/>
          <p:cNvSpPr txBox="1"/>
          <p:nvPr/>
        </p:nvSpPr>
        <p:spPr>
          <a:xfrm>
            <a:off x="53530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5" name="TextBox 24"/>
          <p:cNvSpPr txBox="1"/>
          <p:nvPr/>
        </p:nvSpPr>
        <p:spPr>
          <a:xfrm>
            <a:off x="64198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26" name="TextBox 25"/>
          <p:cNvSpPr txBox="1"/>
          <p:nvPr/>
        </p:nvSpPr>
        <p:spPr>
          <a:xfrm>
            <a:off x="190500" y="1299320"/>
            <a:ext cx="3667125" cy="182537"/>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27" name="Rectangle 26"/>
          <p:cNvSpPr/>
          <p:nvPr/>
        </p:nvSpPr>
        <p:spPr>
          <a:xfrm>
            <a:off x="190500" y="1500111"/>
            <a:ext cx="1428750" cy="1825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04788" y="1605070"/>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3375"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0" name="Oval 29"/>
          <p:cNvSpPr/>
          <p:nvPr/>
        </p:nvSpPr>
        <p:spPr>
          <a:xfrm>
            <a:off x="204788" y="2116174"/>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3375"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Balanced SOM across regions and end-markets; strongest in 'North America'.</a:t>
            </a:r>
          </a:p>
        </p:txBody>
      </p:sp>
      <p:sp>
        <p:nvSpPr>
          <p:cNvPr id="32" name="Oval 31"/>
          <p:cNvSpPr/>
          <p:nvPr/>
        </p:nvSpPr>
        <p:spPr>
          <a:xfrm>
            <a:off x="204788" y="2627277"/>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3375"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4" name="TextBox 33"/>
          <p:cNvSpPr txBox="1"/>
          <p:nvPr/>
        </p:nvSpPr>
        <p:spPr>
          <a:xfrm>
            <a:off x="8334375" y="1299320"/>
            <a:ext cx="3667125" cy="182537"/>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5" name="Rectangle 34"/>
          <p:cNvSpPr/>
          <p:nvPr/>
        </p:nvSpPr>
        <p:spPr>
          <a:xfrm>
            <a:off x="8334375" y="1500111"/>
            <a:ext cx="1428750" cy="18254"/>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348662" y="1605070"/>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77250"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8" name="Oval 37"/>
          <p:cNvSpPr/>
          <p:nvPr/>
        </p:nvSpPr>
        <p:spPr>
          <a:xfrm>
            <a:off x="8348662" y="2116174"/>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77250"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Uneven SAM penetration strong in 'Rest of the World', thin elsewhere.</a:t>
            </a:r>
          </a:p>
        </p:txBody>
      </p:sp>
      <p:sp>
        <p:nvSpPr>
          <p:cNvPr id="40" name="Oval 39"/>
          <p:cNvSpPr/>
          <p:nvPr/>
        </p:nvSpPr>
        <p:spPr>
          <a:xfrm>
            <a:off x="8348662" y="2627277"/>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77250"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Reliance on a few large accounts/regions raises concentration risk.</a:t>
            </a:r>
          </a:p>
        </p:txBody>
      </p:sp>
      <p:sp>
        <p:nvSpPr>
          <p:cNvPr id="42" name="TextBox 41"/>
          <p:cNvSpPr txBox="1"/>
          <p:nvPr/>
        </p:nvSpPr>
        <p:spPr>
          <a:xfrm>
            <a:off x="190500" y="4055629"/>
            <a:ext cx="3667125" cy="182537"/>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3" name="Rectangle 42"/>
          <p:cNvSpPr/>
          <p:nvPr/>
        </p:nvSpPr>
        <p:spPr>
          <a:xfrm>
            <a:off x="190500" y="4256419"/>
            <a:ext cx="1428750" cy="1825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04788" y="4361379"/>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33375"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6" name="Oval 45"/>
          <p:cNvSpPr/>
          <p:nvPr/>
        </p:nvSpPr>
        <p:spPr>
          <a:xfrm>
            <a:off x="204788" y="4872482"/>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3375"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Input-cost inflation and price pressure can squeeze margin.</a:t>
            </a:r>
          </a:p>
        </p:txBody>
      </p:sp>
      <p:sp>
        <p:nvSpPr>
          <p:cNvPr id="48" name="Oval 47"/>
          <p:cNvSpPr/>
          <p:nvPr/>
        </p:nvSpPr>
        <p:spPr>
          <a:xfrm>
            <a:off x="204788" y="5383586"/>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3375"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Tier-1 incumbents and regulation raise barriers and switching friction.</a:t>
            </a:r>
          </a:p>
        </p:txBody>
      </p:sp>
      <p:sp>
        <p:nvSpPr>
          <p:cNvPr id="50" name="TextBox 49"/>
          <p:cNvSpPr txBox="1"/>
          <p:nvPr/>
        </p:nvSpPr>
        <p:spPr>
          <a:xfrm>
            <a:off x="8334375" y="4055629"/>
            <a:ext cx="3667125" cy="182537"/>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1" name="Rectangle 50"/>
          <p:cNvSpPr/>
          <p:nvPr/>
        </p:nvSpPr>
        <p:spPr>
          <a:xfrm>
            <a:off x="8334375" y="4256419"/>
            <a:ext cx="1428750" cy="1825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348662" y="4361379"/>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77250"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Premiumisation headroom in 'Scroll Air Compressor' and adjacent high-value lines.</a:t>
            </a:r>
          </a:p>
        </p:txBody>
      </p:sp>
      <p:sp>
        <p:nvSpPr>
          <p:cNvPr id="54" name="Oval 53"/>
          <p:cNvSpPr/>
          <p:nvPr/>
        </p:nvSpPr>
        <p:spPr>
          <a:xfrm>
            <a:off x="8348662" y="4872482"/>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77250"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Under-penetrated regions offer share-capture runway.</a:t>
            </a:r>
          </a:p>
        </p:txBody>
      </p:sp>
      <p:sp>
        <p:nvSpPr>
          <p:cNvPr id="56" name="Oval 55"/>
          <p:cNvSpPr/>
          <p:nvPr/>
        </p:nvSpPr>
        <p:spPr>
          <a:xfrm>
            <a:off x="8348662" y="5383586"/>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77250"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shift to online and clinics opens new demand pools.</a:t>
            </a:r>
          </a:p>
        </p:txBody>
      </p:sp>
      <p:sp>
        <p:nvSpPr>
          <p:cNvPr id="58" name="TextBox 57"/>
          <p:cNvSpPr txBox="1"/>
          <p:nvPr/>
        </p:nvSpPr>
        <p:spPr>
          <a:xfrm>
            <a:off x="2857500" y="6428609"/>
            <a:ext cx="9191625" cy="182537"/>
          </a:xfrm>
          <a:prstGeom prst="rect">
            <a:avLst/>
          </a:prstGeom>
          <a:noFill/>
        </p:spPr>
        <p:txBody>
          <a:bodyPr wrap="square" lIns="28575" rIns="28575" tIns="9525" bIns="9525" anchor="ctr">
            <a:spAutoFit/>
          </a:bodyPr>
          <a:lstStyle/>
          <a:p>
            <a:pPr algn="l"/>
            <a:r>
              <a:rPr sz="1100" b="0">
                <a:solidFill>
                  <a:srgbClr val="C0392B"/>
                </a:solidFill>
                <a:latin typeface="Calibri"/>
              </a:rPr>
              <a:t>Note: competitor figures are indicative derived from market modelling and expert validation, not company disclosures.</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1" name="TextBox 60"/>
          <p:cNvSpPr txBox="1"/>
          <p:nvPr/>
        </p:nvSpPr>
        <p:spPr>
          <a:xfrm>
            <a:off x="361950" y="1642784"/>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2" name="Picture 61" descr="lock.png"/>
          <p:cNvPicPr>
            <a:picLocks noChangeAspect="1"/>
          </p:cNvPicPr>
          <p:nvPr/>
        </p:nvPicPr>
        <p:blipFill>
          <a:blip r:embed="rId4"/>
          <a:stretch>
            <a:fillRect/>
          </a:stretch>
        </p:blipFill>
        <p:spPr>
          <a:xfrm>
            <a:off x="455778" y="1633005"/>
            <a:ext cx="128699" cy="187198"/>
          </a:xfrm>
          <a:prstGeom prst="rect">
            <a:avLst/>
          </a:prstGeom>
        </p:spPr>
      </p:pic>
      <p:sp>
        <p:nvSpPr>
          <p:cNvPr id="63" name="TextBox 62"/>
          <p:cNvSpPr txBox="1"/>
          <p:nvPr/>
        </p:nvSpPr>
        <p:spPr>
          <a:xfrm>
            <a:off x="623274" y="1642784"/>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64" name="Picture 63" descr="lock.png"/>
          <p:cNvPicPr>
            <a:picLocks noChangeAspect="1"/>
          </p:cNvPicPr>
          <p:nvPr/>
        </p:nvPicPr>
        <p:blipFill>
          <a:blip r:embed="rId4"/>
          <a:stretch>
            <a:fillRect/>
          </a:stretch>
        </p:blipFill>
        <p:spPr>
          <a:xfrm>
            <a:off x="1600596" y="1633005"/>
            <a:ext cx="128699" cy="187198"/>
          </a:xfrm>
          <a:prstGeom prst="rect">
            <a:avLst/>
          </a:prstGeom>
        </p:spPr>
      </p:pic>
      <p:sp>
        <p:nvSpPr>
          <p:cNvPr id="65" name="TextBox 64"/>
          <p:cNvSpPr txBox="1"/>
          <p:nvPr/>
        </p:nvSpPr>
        <p:spPr>
          <a:xfrm>
            <a:off x="1768092" y="1642784"/>
            <a:ext cx="1490662" cy="186689"/>
          </a:xfrm>
          <a:prstGeom prst="rect">
            <a:avLst/>
          </a:prstGeom>
          <a:noFill/>
        </p:spPr>
        <p:txBody>
          <a:bodyPr wrap="none" lIns="0" rIns="0" tIns="0" bIns="0">
            <a:spAutoFit/>
          </a:bodyPr>
          <a:lstStyle/>
          <a:p>
            <a:r>
              <a:rPr sz="1100" b="0">
                <a:solidFill>
                  <a:srgbClr val="2E2E2E"/>
                </a:solidFill>
                <a:latin typeface="Calibri"/>
              </a:rPr>
              <a:t>ASP premium clear value</a:t>
            </a:r>
          </a:p>
        </p:txBody>
      </p:sp>
      <p:sp>
        <p:nvSpPr>
          <p:cNvPr id="66" name="TextBox 65"/>
          <p:cNvSpPr txBox="1"/>
          <p:nvPr/>
        </p:nvSpPr>
        <p:spPr>
          <a:xfrm>
            <a:off x="361950" y="1810424"/>
            <a:ext cx="760238" cy="186689"/>
          </a:xfrm>
          <a:prstGeom prst="rect">
            <a:avLst/>
          </a:prstGeom>
          <a:noFill/>
        </p:spPr>
        <p:txBody>
          <a:bodyPr wrap="none" lIns="0" rIns="0" tIns="0" bIns="0">
            <a:spAutoFit/>
          </a:bodyPr>
          <a:lstStyle/>
          <a:p>
            <a:r>
              <a:rPr sz="1100" b="0">
                <a:solidFill>
                  <a:srgbClr val="2E2E2E"/>
                </a:solidFill>
                <a:latin typeface="Calibri"/>
              </a:rPr>
              <a:t>recognition.</a:t>
            </a:r>
          </a:p>
        </p:txBody>
      </p:sp>
      <p:pic>
        <p:nvPicPr>
          <p:cNvPr id="67" name="Picture 66" descr="lock.png"/>
          <p:cNvPicPr>
            <a:picLocks noChangeAspect="1"/>
          </p:cNvPicPr>
          <p:nvPr/>
        </p:nvPicPr>
        <p:blipFill>
          <a:blip r:embed="rId4"/>
          <a:stretch>
            <a:fillRect/>
          </a:stretch>
        </p:blipFill>
        <p:spPr>
          <a:xfrm>
            <a:off x="348482" y="2655212"/>
            <a:ext cx="128699" cy="187198"/>
          </a:xfrm>
          <a:prstGeom prst="rect">
            <a:avLst/>
          </a:prstGeom>
        </p:spPr>
      </p:pic>
      <p:sp>
        <p:nvSpPr>
          <p:cNvPr id="68" name="TextBox 67"/>
          <p:cNvSpPr txBox="1"/>
          <p:nvPr/>
        </p:nvSpPr>
        <p:spPr>
          <a:xfrm>
            <a:off x="515978" y="2664991"/>
            <a:ext cx="1083295" cy="186689"/>
          </a:xfrm>
          <a:prstGeom prst="rect">
            <a:avLst/>
          </a:prstGeom>
          <a:noFill/>
        </p:spPr>
        <p:txBody>
          <a:bodyPr wrap="none" lIns="0" rIns="0" tIns="0" bIns="0">
            <a:spAutoFit/>
          </a:bodyPr>
          <a:lstStyle/>
          <a:p>
            <a:r>
              <a:rPr sz="1100" b="0">
                <a:solidFill>
                  <a:srgbClr val="2E2E2E"/>
                </a:solidFill>
                <a:latin typeface="Calibri"/>
              </a:rPr>
              <a:t>book-to-bill and ~</a:t>
            </a:r>
          </a:p>
        </p:txBody>
      </p:sp>
      <p:pic>
        <p:nvPicPr>
          <p:cNvPr id="69" name="Picture 68" descr="lock.png"/>
          <p:cNvPicPr>
            <a:picLocks noChangeAspect="1"/>
          </p:cNvPicPr>
          <p:nvPr/>
        </p:nvPicPr>
        <p:blipFill>
          <a:blip r:embed="rId4"/>
          <a:stretch>
            <a:fillRect/>
          </a:stretch>
        </p:blipFill>
        <p:spPr>
          <a:xfrm>
            <a:off x="1547325" y="2655212"/>
            <a:ext cx="128699" cy="187198"/>
          </a:xfrm>
          <a:prstGeom prst="rect">
            <a:avLst/>
          </a:prstGeom>
        </p:spPr>
      </p:pic>
      <p:sp>
        <p:nvSpPr>
          <p:cNvPr id="70" name="TextBox 69"/>
          <p:cNvSpPr txBox="1"/>
          <p:nvPr/>
        </p:nvSpPr>
        <p:spPr>
          <a:xfrm>
            <a:off x="1714820" y="2664991"/>
            <a:ext cx="1304547" cy="186689"/>
          </a:xfrm>
          <a:prstGeom prst="rect">
            <a:avLst/>
          </a:prstGeom>
          <a:noFill/>
        </p:spPr>
        <p:txBody>
          <a:bodyPr wrap="none" lIns="0" rIns="0" tIns="0" bIns="0">
            <a:spAutoFit/>
          </a:bodyPr>
          <a:lstStyle/>
          <a:p>
            <a:r>
              <a:rPr sz="1100" b="0">
                <a:solidFill>
                  <a:srgbClr val="2E2E2E"/>
                </a:solidFill>
                <a:latin typeface="Calibri"/>
              </a:rPr>
              <a:t>EBITDA signal healthy</a:t>
            </a:r>
          </a:p>
        </p:txBody>
      </p:sp>
      <p:sp>
        <p:nvSpPr>
          <p:cNvPr id="71" name="TextBox 70"/>
          <p:cNvSpPr txBox="1"/>
          <p:nvPr/>
        </p:nvSpPr>
        <p:spPr>
          <a:xfrm>
            <a:off x="361950" y="2832631"/>
            <a:ext cx="783158" cy="186689"/>
          </a:xfrm>
          <a:prstGeom prst="rect">
            <a:avLst/>
          </a:prstGeom>
          <a:noFill/>
        </p:spPr>
        <p:txBody>
          <a:bodyPr wrap="none" lIns="0" rIns="0" tIns="0" bIns="0">
            <a:spAutoFit/>
          </a:bodyPr>
          <a:lstStyle/>
          <a:p>
            <a:r>
              <a:rPr sz="1100" b="0">
                <a:solidFill>
                  <a:srgbClr val="2E2E2E"/>
                </a:solidFill>
                <a:latin typeface="Calibri"/>
              </a:rPr>
              <a:t>momentum.</a:t>
            </a:r>
          </a:p>
        </p:txBody>
      </p:sp>
      <p:sp>
        <p:nvSpPr>
          <p:cNvPr id="72" name="TextBox 71"/>
          <p:cNvSpPr txBox="1"/>
          <p:nvPr/>
        </p:nvSpPr>
        <p:spPr>
          <a:xfrm>
            <a:off x="8505825" y="1726603"/>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73" name="Picture 72" descr="lock.png"/>
          <p:cNvPicPr>
            <a:picLocks noChangeAspect="1"/>
          </p:cNvPicPr>
          <p:nvPr/>
        </p:nvPicPr>
        <p:blipFill>
          <a:blip r:embed="rId4"/>
          <a:stretch>
            <a:fillRect/>
          </a:stretch>
        </p:blipFill>
        <p:spPr>
          <a:xfrm>
            <a:off x="8599653" y="1716825"/>
            <a:ext cx="128699" cy="187198"/>
          </a:xfrm>
          <a:prstGeom prst="rect">
            <a:avLst/>
          </a:prstGeom>
        </p:spPr>
      </p:pic>
      <p:sp>
        <p:nvSpPr>
          <p:cNvPr id="74" name="TextBox 73"/>
          <p:cNvSpPr txBox="1"/>
          <p:nvPr/>
        </p:nvSpPr>
        <p:spPr>
          <a:xfrm>
            <a:off x="8767149" y="1726603"/>
            <a:ext cx="2910582" cy="186689"/>
          </a:xfrm>
          <a:prstGeom prst="rect">
            <a:avLst/>
          </a:prstGeom>
          <a:noFill/>
        </p:spPr>
        <p:txBody>
          <a:bodyPr wrap="none" lIns="0" rIns="0" tIns="0" bIns="0">
            <a:spAutoFit/>
          </a:bodyPr>
          <a:lstStyle/>
          <a:p>
            <a:r>
              <a:rPr sz="1100" b="0">
                <a:solidFill>
                  <a:srgbClr val="2E2E2E"/>
                </a:solidFill>
                <a:latin typeface="Calibri"/>
              </a:rPr>
              <a:t>share leaves a scale gap versus the market leader.</a:t>
            </a:r>
          </a:p>
        </p:txBody>
      </p:sp>
      <p:sp>
        <p:nvSpPr>
          <p:cNvPr id="75" name="TextBox 74"/>
          <p:cNvSpPr txBox="1"/>
          <p:nvPr/>
        </p:nvSpPr>
        <p:spPr>
          <a:xfrm>
            <a:off x="361950" y="4482912"/>
            <a:ext cx="1324495" cy="186689"/>
          </a:xfrm>
          <a:prstGeom prst="rect">
            <a:avLst/>
          </a:prstGeom>
          <a:noFill/>
        </p:spPr>
        <p:txBody>
          <a:bodyPr wrap="none" lIns="0" rIns="0" tIns="0" bIns="0">
            <a:spAutoFit/>
          </a:bodyPr>
          <a:lstStyle/>
          <a:p>
            <a:r>
              <a:rPr sz="1100" b="0">
                <a:solidFill>
                  <a:srgbClr val="2E2E2E"/>
                </a:solidFill>
                <a:latin typeface="Calibri"/>
              </a:rPr>
              <a:t>Intense competition ~</a:t>
            </a:r>
          </a:p>
        </p:txBody>
      </p:sp>
      <p:pic>
        <p:nvPicPr>
          <p:cNvPr id="76" name="Picture 75" descr="lock.png"/>
          <p:cNvPicPr>
            <a:picLocks noChangeAspect="1"/>
          </p:cNvPicPr>
          <p:nvPr/>
        </p:nvPicPr>
        <p:blipFill>
          <a:blip r:embed="rId4"/>
          <a:stretch>
            <a:fillRect/>
          </a:stretch>
        </p:blipFill>
        <p:spPr>
          <a:xfrm>
            <a:off x="1634497" y="4473133"/>
            <a:ext cx="128699" cy="187198"/>
          </a:xfrm>
          <a:prstGeom prst="rect">
            <a:avLst/>
          </a:prstGeom>
        </p:spPr>
      </p:pic>
      <p:sp>
        <p:nvSpPr>
          <p:cNvPr id="77" name="TextBox 76"/>
          <p:cNvSpPr txBox="1"/>
          <p:nvPr/>
        </p:nvSpPr>
        <p:spPr>
          <a:xfrm>
            <a:off x="1801993" y="4482912"/>
            <a:ext cx="1738684" cy="186689"/>
          </a:xfrm>
          <a:prstGeom prst="rect">
            <a:avLst/>
          </a:prstGeom>
          <a:noFill/>
        </p:spPr>
        <p:txBody>
          <a:bodyPr wrap="none" lIns="0" rIns="0" tIns="0" bIns="0">
            <a:spAutoFit/>
          </a:bodyPr>
          <a:lstStyle/>
          <a:p>
            <a:r>
              <a:rPr sz="1100" b="0">
                <a:solidFill>
                  <a:srgbClr val="2E2E2E"/>
                </a:solidFill>
                <a:latin typeface="Calibri"/>
              </a:rPr>
              <a:t>x pipeline needed to convert.</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Atlas Copco Key Financials (4/5)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Atlas Copco's financial performance, key ratios and pricing, highlighting margin and momentum</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Key financials and pricing Atlas Copco (all figures indicative, USD Mn unless noted).</a:t>
            </a:r>
          </a:p>
        </p:txBody>
      </p:sp>
      <p:sp>
        <p:nvSpPr>
          <p:cNvPr id="8" name="Rounded Rectangle 7"/>
          <p:cNvSpPr/>
          <p:nvPr/>
        </p:nvSpPr>
        <p:spPr>
          <a:xfrm>
            <a:off x="142875" y="1354081"/>
            <a:ext cx="5905500" cy="1916638"/>
          </a:xfrm>
          <a:prstGeom prst="roundRect">
            <a:avLst>
              <a:gd name="adj" fmla="val 397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411231"/>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Atlas Copco Financial Performance</a:t>
            </a:r>
          </a:p>
        </p:txBody>
      </p:sp>
      <p:graphicFrame>
        <p:nvGraphicFramePr>
          <p:cNvPr id="10" name="Table 9"/>
          <p:cNvGraphicFramePr>
            <a:graphicFrameLocks noGrp="1"/>
          </p:cNvGraphicFramePr>
          <p:nvPr/>
        </p:nvGraphicFramePr>
        <p:xfrm>
          <a:off x="152400" y="1611256"/>
          <a:ext cx="5886449" cy="1449914"/>
        </p:xfrm>
        <a:graphic>
          <a:graphicData uri="http://schemas.openxmlformats.org/drawingml/2006/table">
            <a:tbl>
              <a:tblPr>
                <a:tableStyleId>{5C22544A-7EE6-4342-B048-85BDC9FD1C3A}</a:tableStyleId>
              </a:tblPr>
              <a:tblGrid>
                <a:gridCol w="2446649"/>
                <a:gridCol w="687960"/>
                <a:gridCol w="687960"/>
                <a:gridCol w="687960"/>
                <a:gridCol w="687960"/>
                <a:gridCol w="687960"/>
              </a:tblGrid>
              <a:tr h="246126">
                <a:tc>
                  <a:txBody>
                    <a:bodyPr wrap="none"/>
                    <a:lstStyle/>
                    <a:p>
                      <a:pPr algn="l"/>
                      <a:r>
                        <a:rPr sz="1100" b="1">
                          <a:solidFill>
                            <a:srgbClr val="0E2A5C"/>
                          </a:solidFill>
                          <a:latin typeface="Calibri"/>
                        </a:rPr>
                        <a:t>USD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2020A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r>
              <a:tr h="300947">
                <a:tc>
                  <a:txBody>
                    <a:bodyPr wrap="none"/>
                    <a:lstStyle/>
                    <a:p>
                      <a:pPr algn="l"/>
                      <a:r>
                        <a:rPr sz="1100" b="1">
                          <a:solidFill>
                            <a:srgbClr val="2E2E2E"/>
                          </a:solidFill>
                          <a:latin typeface="Calibri"/>
                        </a:rPr>
                        <a:t>Revenue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Gross Profit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00947">
                <a:tc>
                  <a:txBody>
                    <a:bodyPr wrap="none"/>
                    <a:lstStyle/>
                    <a:p>
                      <a:pPr algn="l"/>
                      <a:r>
                        <a:rPr sz="1100" b="1">
                          <a:solidFill>
                            <a:srgbClr val="2E2E2E"/>
                          </a:solidFill>
                          <a:latin typeface="Calibri"/>
                        </a:rPr>
                        <a:t>Pre-Tax Profit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Profit After Tax / Net Profit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1" name="TextBox 10"/>
          <p:cNvSpPr txBox="1"/>
          <p:nvPr/>
        </p:nvSpPr>
        <p:spPr>
          <a:xfrm>
            <a:off x="219075" y="3070695"/>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2" name="Rounded Rectangle 11"/>
          <p:cNvSpPr/>
          <p:nvPr/>
        </p:nvSpPr>
        <p:spPr>
          <a:xfrm>
            <a:off x="142875" y="3398495"/>
            <a:ext cx="5905500" cy="3194397"/>
          </a:xfrm>
          <a:prstGeom prst="roundRect">
            <a:avLst>
              <a:gd name="adj" fmla="val 238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Atlas Copco Key Ratios</a:t>
            </a:r>
          </a:p>
        </p:txBody>
      </p:sp>
      <p:graphicFrame>
        <p:nvGraphicFramePr>
          <p:cNvPr id="14" name="Table 13"/>
          <p:cNvGraphicFramePr>
            <a:graphicFrameLocks noGrp="1"/>
          </p:cNvGraphicFramePr>
          <p:nvPr/>
        </p:nvGraphicFramePr>
        <p:xfrm>
          <a:off x="152400" y="3655670"/>
          <a:ext cx="5886450" cy="2727671"/>
        </p:xfrm>
        <a:graphic>
          <a:graphicData uri="http://schemas.openxmlformats.org/drawingml/2006/table">
            <a:tbl>
              <a:tblPr>
                <a:tableStyleId>{5C22544A-7EE6-4342-B048-85BDC9FD1C3A}</a:tableStyleId>
              </a:tblPr>
              <a:tblGrid>
                <a:gridCol w="1859260"/>
                <a:gridCol w="805438"/>
                <a:gridCol w="805438"/>
                <a:gridCol w="805438"/>
                <a:gridCol w="805438"/>
                <a:gridCol w="805438"/>
              </a:tblGrid>
              <a:tr h="246126">
                <a:tc>
                  <a:txBody>
                    <a:bodyPr wrap="none"/>
                    <a:lstStyle/>
                    <a:p>
                      <a:pPr algn="l"/>
                      <a:r>
                        <a:rPr sz="1100" b="1">
                          <a:solidFill>
                            <a:srgbClr val="0E2A5C"/>
                          </a:solidFill>
                          <a:latin typeface="Calibri"/>
                        </a:rPr>
                        <a:t>Key Ratios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2020A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r>
              <a:tr h="496309">
                <a:tc>
                  <a:txBody>
                    <a:bodyPr wrap="none"/>
                    <a:lstStyle/>
                    <a:p>
                      <a:pPr algn="l"/>
                      <a:r>
                        <a:rPr sz="1100" b="1">
                          <a:solidFill>
                            <a:srgbClr val="2E2E2E"/>
                          </a:solidFill>
                          <a:latin typeface="Calibri"/>
                        </a:rPr>
                        <a:t>Gross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Pre-Tax Margin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496309">
                <a:tc>
                  <a:txBody>
                    <a:bodyPr wrap="none"/>
                    <a:lstStyle/>
                    <a:p>
                      <a:pPr algn="l"/>
                      <a:r>
                        <a:rPr sz="1100" b="1">
                          <a:solidFill>
                            <a:srgbClr val="2E2E2E"/>
                          </a:solidFill>
                          <a:latin typeface="Calibri"/>
                        </a:rPr>
                        <a:t>Net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Return on Equity</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496309">
                <a:tc>
                  <a:txBody>
                    <a:bodyPr wrap="none"/>
                    <a:lstStyle/>
                    <a:p>
                      <a:pPr algn="l"/>
                      <a:r>
                        <a:rPr sz="1100" b="1">
                          <a:solidFill>
                            <a:srgbClr val="2E2E2E"/>
                          </a:solidFill>
                          <a:latin typeface="Calibri"/>
                        </a:rPr>
                        <a:t>Return on Assets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6392868"/>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6" name="Rounded Rectangle 15"/>
          <p:cNvSpPr/>
          <p:nvPr/>
        </p:nvSpPr>
        <p:spPr>
          <a:xfrm>
            <a:off x="6200775" y="1354081"/>
            <a:ext cx="5848350" cy="5238811"/>
          </a:xfrm>
          <a:prstGeom prst="roundRect">
            <a:avLst>
              <a:gd name="adj" fmla="val 14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6025" y="1411231"/>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Atlas Copco Pricing Analysis (US$/Units)</a:t>
            </a:r>
          </a:p>
        </p:txBody>
      </p:sp>
      <p:graphicFrame>
        <p:nvGraphicFramePr>
          <p:cNvPr id="18" name="Table 17"/>
          <p:cNvGraphicFramePr>
            <a:graphicFrameLocks noGrp="1"/>
          </p:cNvGraphicFramePr>
          <p:nvPr/>
        </p:nvGraphicFramePr>
        <p:xfrm>
          <a:off x="6210300" y="1611256"/>
          <a:ext cx="5829299" cy="4772086"/>
        </p:xfrm>
        <a:graphic>
          <a:graphicData uri="http://schemas.openxmlformats.org/drawingml/2006/table">
            <a:tbl>
              <a:tblPr>
                <a:tableStyleId>{5C22544A-7EE6-4342-B048-85BDC9FD1C3A}</a:tableStyleId>
              </a:tblPr>
              <a:tblGrid>
                <a:gridCol w="4137177"/>
                <a:gridCol w="846061"/>
                <a:gridCol w="846061"/>
              </a:tblGrid>
              <a:tr h="246126">
                <a:tc>
                  <a:txBody>
                    <a:bodyPr wrap="none"/>
                    <a:lstStyle/>
                    <a:p>
                      <a:pPr algn="l"/>
                      <a:r>
                        <a:rPr sz="1100" b="1">
                          <a:solidFill>
                            <a:srgbClr val="0E2A5C"/>
                          </a:solidFill>
                          <a:latin typeface="Calibri"/>
                        </a:rPr>
                        <a:t>Product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2020A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r>
              <a:tr h="1131490">
                <a:tc>
                  <a:txBody>
                    <a:bodyPr wrap="none"/>
                    <a:lstStyle/>
                    <a:p>
                      <a:pPr algn="l"/>
                      <a:r>
                        <a:rPr sz="1100" b="1">
                          <a:solidFill>
                            <a:srgbClr val="2E2E2E"/>
                          </a:solidFill>
                          <a:latin typeface="Calibri"/>
                        </a:rPr>
                        <a:t>Scroll Air Compressor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Rotary Screw Air Compressor</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1131490">
                <a:tc>
                  <a:txBody>
                    <a:bodyPr wrap="none"/>
                    <a:lstStyle/>
                    <a:p>
                      <a:pPr algn="l"/>
                      <a:r>
                        <a:rPr sz="1100" b="1">
                          <a:solidFill>
                            <a:srgbClr val="2E2E2E"/>
                          </a:solidFill>
                          <a:latin typeface="Calibri"/>
                        </a:rPr>
                        <a:t>Centrifugal Air Compressor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Reciprocating (Piston) Air Compressor</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9" name="TextBox 18"/>
          <p:cNvSpPr txBox="1"/>
          <p:nvPr/>
        </p:nvSpPr>
        <p:spPr>
          <a:xfrm>
            <a:off x="6276975" y="6392868"/>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4"/>
          <a:stretch>
            <a:fillRect/>
          </a:stretch>
        </p:blipFill>
        <p:spPr>
          <a:xfrm>
            <a:off x="4150927" y="2219246"/>
            <a:ext cx="330041" cy="480060"/>
          </a:xfrm>
          <a:prstGeom prst="rect">
            <a:avLst/>
          </a:prstGeom>
        </p:spPr>
      </p:pic>
      <p:pic>
        <p:nvPicPr>
          <p:cNvPr id="23" name="Picture 22" descr="lock.png"/>
          <p:cNvPicPr>
            <a:picLocks noChangeAspect="1"/>
          </p:cNvPicPr>
          <p:nvPr/>
        </p:nvPicPr>
        <p:blipFill>
          <a:blip r:embed="rId4"/>
          <a:stretch>
            <a:fillRect/>
          </a:stretch>
        </p:blipFill>
        <p:spPr>
          <a:xfrm>
            <a:off x="3838564" y="4875868"/>
            <a:ext cx="366712" cy="533400"/>
          </a:xfrm>
          <a:prstGeom prst="rect">
            <a:avLst/>
          </a:prstGeom>
        </p:spPr>
      </p:pic>
      <p:pic>
        <p:nvPicPr>
          <p:cNvPr id="24" name="Picture 23" descr="lock.png"/>
          <p:cNvPicPr>
            <a:picLocks noChangeAspect="1"/>
          </p:cNvPicPr>
          <p:nvPr/>
        </p:nvPicPr>
        <p:blipFill>
          <a:blip r:embed="rId4"/>
          <a:stretch>
            <a:fillRect/>
          </a:stretch>
        </p:blipFill>
        <p:spPr>
          <a:xfrm>
            <a:off x="11006847" y="3853662"/>
            <a:ext cx="366712" cy="533400"/>
          </a:xfrm>
          <a:prstGeom prst="rect">
            <a:avLst/>
          </a:prstGeom>
        </p:spPr>
      </p:pic>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Atlas Copco Strategy Analysis (5/5)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Atlas Copco's strategic priorities and the competitive moves that support them</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Strategy analysis Atlas Copco: strategic priorities and the competitive moves that support them (indicative).</a:t>
            </a:r>
          </a:p>
        </p:txBody>
      </p:sp>
      <p:sp>
        <p:nvSpPr>
          <p:cNvPr id="8" name="Rounded Rectangle 7"/>
          <p:cNvSpPr/>
          <p:nvPr/>
        </p:nvSpPr>
        <p:spPr>
          <a:xfrm>
            <a:off x="142875"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MARKET SHARE</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of global value</a:t>
            </a:r>
          </a:p>
        </p:txBody>
      </p:sp>
      <p:sp>
        <p:nvSpPr>
          <p:cNvPr id="9" name="Rounded Rectangle 8"/>
          <p:cNvSpPr/>
          <p:nvPr/>
        </p:nvSpPr>
        <p:spPr>
          <a:xfrm>
            <a:off x="2543175"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WIN RATE</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deals won</a:t>
            </a:r>
          </a:p>
        </p:txBody>
      </p:sp>
      <p:sp>
        <p:nvSpPr>
          <p:cNvPr id="10" name="Rounded Rectangle 9"/>
          <p:cNvSpPr/>
          <p:nvPr/>
        </p:nvSpPr>
        <p:spPr>
          <a:xfrm>
            <a:off x="4953000"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ASP PREMIUM</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vs peers</a:t>
            </a:r>
          </a:p>
        </p:txBody>
      </p:sp>
      <p:sp>
        <p:nvSpPr>
          <p:cNvPr id="11" name="Rounded Rectangle 10"/>
          <p:cNvSpPr/>
          <p:nvPr/>
        </p:nvSpPr>
        <p:spPr>
          <a:xfrm>
            <a:off x="7353300"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order momentum</a:t>
            </a:r>
          </a:p>
        </p:txBody>
      </p:sp>
      <p:sp>
        <p:nvSpPr>
          <p:cNvPr id="12" name="Rounded Rectangle 11"/>
          <p:cNvSpPr/>
          <p:nvPr/>
        </p:nvSpPr>
        <p:spPr>
          <a:xfrm>
            <a:off x="9763125"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profitability</a:t>
            </a:r>
          </a:p>
        </p:txBody>
      </p:sp>
      <p:sp>
        <p:nvSpPr>
          <p:cNvPr id="13" name="Rounded Rectangle 12"/>
          <p:cNvSpPr/>
          <p:nvPr/>
        </p:nvSpPr>
        <p:spPr>
          <a:xfrm>
            <a:off x="142875" y="2084229"/>
            <a:ext cx="5905500" cy="4490410"/>
          </a:xfrm>
          <a:prstGeom prst="roundRect">
            <a:avLst>
              <a:gd name="adj" fmla="val 169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169954"/>
            <a:ext cx="5638800" cy="209550"/>
          </a:xfrm>
          <a:prstGeom prst="rect">
            <a:avLst/>
          </a:prstGeom>
          <a:noFill/>
        </p:spPr>
        <p:txBody>
          <a:bodyPr wrap="square" lIns="0" rIns="19050" tIns="9525" bIns="9525">
            <a:spAutoFit/>
          </a:bodyPr>
          <a:lstStyle/>
          <a:p>
            <a:pPr algn="l"/>
            <a:r>
              <a:rPr sz="1300" b="1">
                <a:solidFill>
                  <a:srgbClr val="0E2A5C"/>
                </a:solidFill>
                <a:latin typeface="Calibri"/>
              </a:rPr>
              <a:t>Strategic Priorities</a:t>
            </a:r>
          </a:p>
        </p:txBody>
      </p:sp>
      <p:sp>
        <p:nvSpPr>
          <p:cNvPr id="15" name="Rectangle 14"/>
          <p:cNvSpPr/>
          <p:nvPr/>
        </p:nvSpPr>
        <p:spPr>
          <a:xfrm>
            <a:off x="276225" y="2408079"/>
            <a:ext cx="56388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493804"/>
            <a:ext cx="563880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7" name="Rounded Rectangle 16"/>
          <p:cNvSpPr/>
          <p:nvPr/>
        </p:nvSpPr>
        <p:spPr>
          <a:xfrm>
            <a:off x="6200775" y="2084229"/>
            <a:ext cx="5848350" cy="4490410"/>
          </a:xfrm>
          <a:prstGeom prst="roundRect">
            <a:avLst>
              <a:gd name="adj" fmla="val 169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4125" y="2169954"/>
            <a:ext cx="5581650" cy="209550"/>
          </a:xfrm>
          <a:prstGeom prst="rect">
            <a:avLst/>
          </a:prstGeom>
          <a:noFill/>
        </p:spPr>
        <p:txBody>
          <a:bodyPr wrap="square" lIns="0" rIns="19050" tIns="9525" bIns="9525">
            <a:spAutoFit/>
          </a:bodyPr>
          <a:lstStyle/>
          <a:p>
            <a:pPr algn="l"/>
            <a:r>
              <a:rPr sz="1300" b="1">
                <a:solidFill>
                  <a:srgbClr val="0E2A5C"/>
                </a:solidFill>
                <a:latin typeface="Calibri"/>
              </a:rPr>
              <a:t>Competitive Moves</a:t>
            </a:r>
          </a:p>
        </p:txBody>
      </p:sp>
      <p:sp>
        <p:nvSpPr>
          <p:cNvPr id="19" name="Rectangle 18"/>
          <p:cNvSpPr/>
          <p:nvPr/>
        </p:nvSpPr>
        <p:spPr>
          <a:xfrm>
            <a:off x="6334125" y="2408079"/>
            <a:ext cx="55816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4125" y="2493804"/>
            <a:ext cx="558165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4"/>
          <a:stretch>
            <a:fillRect/>
          </a:stretch>
        </p:blipFill>
        <p:spPr>
          <a:xfrm>
            <a:off x="1202531" y="1540967"/>
            <a:ext cx="157162" cy="228600"/>
          </a:xfrm>
          <a:prstGeom prst="rect">
            <a:avLst/>
          </a:prstGeom>
        </p:spPr>
      </p:pic>
      <p:pic>
        <p:nvPicPr>
          <p:cNvPr id="24" name="Picture 23" descr="lock.png"/>
          <p:cNvPicPr>
            <a:picLocks noChangeAspect="1"/>
          </p:cNvPicPr>
          <p:nvPr/>
        </p:nvPicPr>
        <p:blipFill>
          <a:blip r:embed="rId4"/>
          <a:stretch>
            <a:fillRect/>
          </a:stretch>
        </p:blipFill>
        <p:spPr>
          <a:xfrm>
            <a:off x="3602831" y="1540967"/>
            <a:ext cx="157162" cy="228600"/>
          </a:xfrm>
          <a:prstGeom prst="rect">
            <a:avLst/>
          </a:prstGeom>
        </p:spPr>
      </p:pic>
      <p:pic>
        <p:nvPicPr>
          <p:cNvPr id="25" name="Picture 24" descr="lock.png"/>
          <p:cNvPicPr>
            <a:picLocks noChangeAspect="1"/>
          </p:cNvPicPr>
          <p:nvPr/>
        </p:nvPicPr>
        <p:blipFill>
          <a:blip r:embed="rId4"/>
          <a:stretch>
            <a:fillRect/>
          </a:stretch>
        </p:blipFill>
        <p:spPr>
          <a:xfrm>
            <a:off x="6012656" y="1540967"/>
            <a:ext cx="157162" cy="228600"/>
          </a:xfrm>
          <a:prstGeom prst="rect">
            <a:avLst/>
          </a:prstGeom>
        </p:spPr>
      </p:pic>
      <p:pic>
        <p:nvPicPr>
          <p:cNvPr id="26" name="Picture 25" descr="lock.png"/>
          <p:cNvPicPr>
            <a:picLocks noChangeAspect="1"/>
          </p:cNvPicPr>
          <p:nvPr/>
        </p:nvPicPr>
        <p:blipFill>
          <a:blip r:embed="rId4"/>
          <a:stretch>
            <a:fillRect/>
          </a:stretch>
        </p:blipFill>
        <p:spPr>
          <a:xfrm>
            <a:off x="8412956" y="1540967"/>
            <a:ext cx="157162" cy="228600"/>
          </a:xfrm>
          <a:prstGeom prst="rect">
            <a:avLst/>
          </a:prstGeom>
        </p:spPr>
      </p:pic>
      <p:pic>
        <p:nvPicPr>
          <p:cNvPr id="27" name="Picture 26" descr="lock.png"/>
          <p:cNvPicPr>
            <a:picLocks noChangeAspect="1"/>
          </p:cNvPicPr>
          <p:nvPr/>
        </p:nvPicPr>
        <p:blipFill>
          <a:blip r:embed="rId4"/>
          <a:stretch>
            <a:fillRect/>
          </a:stretch>
        </p:blipFill>
        <p:spPr>
          <a:xfrm>
            <a:off x="10822781" y="1540967"/>
            <a:ext cx="157162" cy="228600"/>
          </a:xfrm>
          <a:prstGeom prst="rect">
            <a:avLst/>
          </a:prstGeom>
        </p:spPr>
      </p:pic>
      <p:sp>
        <p:nvSpPr>
          <p:cNvPr id="28" name="TextBox 27"/>
          <p:cNvSpPr txBox="1"/>
          <p:nvPr/>
        </p:nvSpPr>
        <p:spPr>
          <a:xfrm>
            <a:off x="276225" y="2503329"/>
            <a:ext cx="5619750" cy="194310"/>
          </a:xfrm>
          <a:prstGeom prst="rect">
            <a:avLst/>
          </a:prstGeom>
          <a:noFill/>
        </p:spPr>
        <p:txBody>
          <a:bodyPr wrap="none" lIns="0" rIns="0" tIns="0" bIns="0">
            <a:spAutoFit/>
          </a:bodyPr>
          <a:lstStyle/>
          <a:p>
            <a:r>
              <a:rPr sz="1150" b="0">
                <a:solidFill>
                  <a:srgbClr val="2E2E2E"/>
                </a:solidFill>
                <a:latin typeface="Calibri"/>
              </a:rPr>
              <a:t>▪ Defend and extend leadership in 'Pharmaceuticals' Atlas Copco's strongest end-market while</a:t>
            </a:r>
          </a:p>
        </p:txBody>
      </p:sp>
      <p:sp>
        <p:nvSpPr>
          <p:cNvPr id="29" name="TextBox 28"/>
          <p:cNvSpPr txBox="1"/>
          <p:nvPr/>
        </p:nvSpPr>
        <p:spPr>
          <a:xfrm>
            <a:off x="276225" y="2678589"/>
            <a:ext cx="2090663" cy="194310"/>
          </a:xfrm>
          <a:prstGeom prst="rect">
            <a:avLst/>
          </a:prstGeom>
          <a:noFill/>
        </p:spPr>
        <p:txBody>
          <a:bodyPr wrap="none" lIns="0" rIns="0" tIns="0" bIns="0">
            <a:spAutoFit/>
          </a:bodyPr>
          <a:lstStyle/>
          <a:p>
            <a:r>
              <a:rPr sz="1150" b="0">
                <a:solidFill>
                  <a:srgbClr val="2E2E2E"/>
                </a:solidFill>
                <a:latin typeface="Calibri"/>
              </a:rPr>
              <a:t>scaling the next-best applications.</a:t>
            </a:r>
          </a:p>
        </p:txBody>
      </p:sp>
      <p:sp>
        <p:nvSpPr>
          <p:cNvPr id="30" name="TextBox 29"/>
          <p:cNvSpPr txBox="1"/>
          <p:nvPr/>
        </p:nvSpPr>
        <p:spPr>
          <a:xfrm>
            <a:off x="276225" y="2906426"/>
            <a:ext cx="909997" cy="194310"/>
          </a:xfrm>
          <a:prstGeom prst="rect">
            <a:avLst/>
          </a:prstGeom>
          <a:noFill/>
        </p:spPr>
        <p:txBody>
          <a:bodyPr wrap="none" lIns="0" rIns="0" tIns="0" bIns="0">
            <a:spAutoFit/>
          </a:bodyPr>
          <a:lstStyle/>
          <a:p>
            <a:r>
              <a:rPr sz="1150" b="0">
                <a:solidFill>
                  <a:srgbClr val="2E2E2E"/>
                </a:solidFill>
                <a:latin typeface="Calibri"/>
              </a:rPr>
              <a:t>▪ Convert its ~</a:t>
            </a:r>
          </a:p>
        </p:txBody>
      </p:sp>
      <p:pic>
        <p:nvPicPr>
          <p:cNvPr id="31" name="Picture 30" descr="lock.png"/>
          <p:cNvPicPr>
            <a:picLocks noChangeAspect="1"/>
          </p:cNvPicPr>
          <p:nvPr/>
        </p:nvPicPr>
        <p:blipFill>
          <a:blip r:embed="rId4"/>
          <a:stretch>
            <a:fillRect/>
          </a:stretch>
        </p:blipFill>
        <p:spPr>
          <a:xfrm>
            <a:off x="1135376" y="2896203"/>
            <a:ext cx="134549" cy="195707"/>
          </a:xfrm>
          <a:prstGeom prst="rect">
            <a:avLst/>
          </a:prstGeom>
        </p:spPr>
      </p:pic>
      <p:sp>
        <p:nvSpPr>
          <p:cNvPr id="32" name="TextBox 31"/>
          <p:cNvSpPr txBox="1"/>
          <p:nvPr/>
        </p:nvSpPr>
        <p:spPr>
          <a:xfrm>
            <a:off x="1310485" y="2906426"/>
            <a:ext cx="929109" cy="194310"/>
          </a:xfrm>
          <a:prstGeom prst="rect">
            <a:avLst/>
          </a:prstGeom>
          <a:noFill/>
        </p:spPr>
        <p:txBody>
          <a:bodyPr wrap="none" lIns="0" rIns="0" tIns="0" bIns="0">
            <a:spAutoFit/>
          </a:bodyPr>
          <a:lstStyle/>
          <a:p>
            <a:r>
              <a:rPr sz="1150" b="0">
                <a:solidFill>
                  <a:srgbClr val="2E2E2E"/>
                </a:solidFill>
                <a:latin typeface="Calibri"/>
              </a:rPr>
              <a:t>win rate and +</a:t>
            </a:r>
          </a:p>
        </p:txBody>
      </p:sp>
      <p:pic>
        <p:nvPicPr>
          <p:cNvPr id="33" name="Picture 32" descr="lock.png"/>
          <p:cNvPicPr>
            <a:picLocks noChangeAspect="1"/>
          </p:cNvPicPr>
          <p:nvPr/>
        </p:nvPicPr>
        <p:blipFill>
          <a:blip r:embed="rId4"/>
          <a:stretch>
            <a:fillRect/>
          </a:stretch>
        </p:blipFill>
        <p:spPr>
          <a:xfrm>
            <a:off x="2188748" y="2896203"/>
            <a:ext cx="134549" cy="195707"/>
          </a:xfrm>
          <a:prstGeom prst="rect">
            <a:avLst/>
          </a:prstGeom>
        </p:spPr>
      </p:pic>
      <p:sp>
        <p:nvSpPr>
          <p:cNvPr id="34" name="TextBox 33"/>
          <p:cNvSpPr txBox="1"/>
          <p:nvPr/>
        </p:nvSpPr>
        <p:spPr>
          <a:xfrm>
            <a:off x="2363857" y="2906426"/>
            <a:ext cx="3109019" cy="194310"/>
          </a:xfrm>
          <a:prstGeom prst="rect">
            <a:avLst/>
          </a:prstGeom>
          <a:noFill/>
        </p:spPr>
        <p:txBody>
          <a:bodyPr wrap="none" lIns="0" rIns="0" tIns="0" bIns="0">
            <a:spAutoFit/>
          </a:bodyPr>
          <a:lstStyle/>
          <a:p>
            <a:r>
              <a:rPr sz="1150" b="0">
                <a:solidFill>
                  <a:srgbClr val="2E2E2E"/>
                </a:solidFill>
                <a:latin typeface="Calibri"/>
              </a:rPr>
              <a:t>ASP premium into share gains through value-based</a:t>
            </a:r>
          </a:p>
        </p:txBody>
      </p:sp>
      <p:sp>
        <p:nvSpPr>
          <p:cNvPr id="35" name="TextBox 34"/>
          <p:cNvSpPr txBox="1"/>
          <p:nvPr/>
        </p:nvSpPr>
        <p:spPr>
          <a:xfrm>
            <a:off x="276225" y="3081686"/>
            <a:ext cx="489247" cy="194310"/>
          </a:xfrm>
          <a:prstGeom prst="rect">
            <a:avLst/>
          </a:prstGeom>
          <a:noFill/>
        </p:spPr>
        <p:txBody>
          <a:bodyPr wrap="none" lIns="0" rIns="0" tIns="0" bIns="0">
            <a:spAutoFit/>
          </a:bodyPr>
          <a:lstStyle/>
          <a:p>
            <a:r>
              <a:rPr sz="1150" b="0">
                <a:solidFill>
                  <a:srgbClr val="2E2E2E"/>
                </a:solidFill>
                <a:latin typeface="Calibri"/>
              </a:rPr>
              <a:t>selling.</a:t>
            </a:r>
          </a:p>
        </p:txBody>
      </p:sp>
      <p:sp>
        <p:nvSpPr>
          <p:cNvPr id="36" name="TextBox 35"/>
          <p:cNvSpPr txBox="1"/>
          <p:nvPr/>
        </p:nvSpPr>
        <p:spPr>
          <a:xfrm>
            <a:off x="276225" y="3309524"/>
            <a:ext cx="3294434" cy="194310"/>
          </a:xfrm>
          <a:prstGeom prst="rect">
            <a:avLst/>
          </a:prstGeom>
          <a:noFill/>
        </p:spPr>
        <p:txBody>
          <a:bodyPr wrap="none" lIns="0" rIns="0" tIns="0" bIns="0">
            <a:spAutoFit/>
          </a:bodyPr>
          <a:lstStyle/>
          <a:p>
            <a:r>
              <a:rPr sz="1150" b="0">
                <a:solidFill>
                  <a:srgbClr val="2E2E2E"/>
                </a:solidFill>
                <a:latin typeface="Calibri"/>
              </a:rPr>
              <a:t>▪ Raise SAM penetration beyond 'Rest of the World' (~</a:t>
            </a:r>
          </a:p>
        </p:txBody>
      </p:sp>
      <p:pic>
        <p:nvPicPr>
          <p:cNvPr id="37" name="Picture 36" descr="lock.png"/>
          <p:cNvPicPr>
            <a:picLocks noChangeAspect="1"/>
          </p:cNvPicPr>
          <p:nvPr/>
        </p:nvPicPr>
        <p:blipFill>
          <a:blip r:embed="rId4"/>
          <a:stretch>
            <a:fillRect/>
          </a:stretch>
        </p:blipFill>
        <p:spPr>
          <a:xfrm>
            <a:off x="3519813" y="3299301"/>
            <a:ext cx="134549" cy="195707"/>
          </a:xfrm>
          <a:prstGeom prst="rect">
            <a:avLst/>
          </a:prstGeom>
        </p:spPr>
      </p:pic>
      <p:sp>
        <p:nvSpPr>
          <p:cNvPr id="38" name="TextBox 37"/>
          <p:cNvSpPr txBox="1"/>
          <p:nvPr/>
        </p:nvSpPr>
        <p:spPr>
          <a:xfrm>
            <a:off x="3694922" y="3309524"/>
            <a:ext cx="2019064" cy="194310"/>
          </a:xfrm>
          <a:prstGeom prst="rect">
            <a:avLst/>
          </a:prstGeom>
          <a:noFill/>
        </p:spPr>
        <p:txBody>
          <a:bodyPr wrap="none" lIns="0" rIns="0" tIns="0" bIns="0">
            <a:spAutoFit/>
          </a:bodyPr>
          <a:lstStyle/>
          <a:p>
            <a:r>
              <a:rPr sz="1150" b="0">
                <a:solidFill>
                  <a:srgbClr val="2E2E2E"/>
                </a:solidFill>
                <a:latin typeface="Calibri"/>
              </a:rPr>
              <a:t>) into lower-penetration regions.</a:t>
            </a:r>
          </a:p>
        </p:txBody>
      </p:sp>
      <p:sp>
        <p:nvSpPr>
          <p:cNvPr id="39" name="TextBox 38"/>
          <p:cNvSpPr txBox="1"/>
          <p:nvPr/>
        </p:nvSpPr>
        <p:spPr>
          <a:xfrm>
            <a:off x="276225" y="3537362"/>
            <a:ext cx="694059" cy="194310"/>
          </a:xfrm>
          <a:prstGeom prst="rect">
            <a:avLst/>
          </a:prstGeom>
          <a:noFill/>
        </p:spPr>
        <p:txBody>
          <a:bodyPr wrap="none" lIns="0" rIns="0" tIns="0" bIns="0">
            <a:spAutoFit/>
          </a:bodyPr>
          <a:lstStyle/>
          <a:p>
            <a:r>
              <a:rPr sz="1150" b="0">
                <a:solidFill>
                  <a:srgbClr val="2E2E2E"/>
                </a:solidFill>
                <a:latin typeface="Calibri"/>
              </a:rPr>
              <a:t>▪ Sustain a</a:t>
            </a:r>
          </a:p>
        </p:txBody>
      </p:sp>
      <p:pic>
        <p:nvPicPr>
          <p:cNvPr id="40" name="Picture 39" descr="lock.png"/>
          <p:cNvPicPr>
            <a:picLocks noChangeAspect="1"/>
          </p:cNvPicPr>
          <p:nvPr/>
        </p:nvPicPr>
        <p:blipFill>
          <a:blip r:embed="rId4"/>
          <a:stretch>
            <a:fillRect/>
          </a:stretch>
        </p:blipFill>
        <p:spPr>
          <a:xfrm>
            <a:off x="919438" y="3527139"/>
            <a:ext cx="134549" cy="195707"/>
          </a:xfrm>
          <a:prstGeom prst="rect">
            <a:avLst/>
          </a:prstGeom>
        </p:spPr>
      </p:pic>
      <p:sp>
        <p:nvSpPr>
          <p:cNvPr id="41" name="TextBox 40"/>
          <p:cNvSpPr txBox="1"/>
          <p:nvPr/>
        </p:nvSpPr>
        <p:spPr>
          <a:xfrm>
            <a:off x="1094548" y="3537362"/>
            <a:ext cx="3750555" cy="194310"/>
          </a:xfrm>
          <a:prstGeom prst="rect">
            <a:avLst/>
          </a:prstGeom>
          <a:noFill/>
        </p:spPr>
        <p:txBody>
          <a:bodyPr wrap="none" lIns="0" rIns="0" tIns="0" bIns="0">
            <a:spAutoFit/>
          </a:bodyPr>
          <a:lstStyle/>
          <a:p>
            <a:r>
              <a:rPr sz="1150" b="0">
                <a:solidFill>
                  <a:srgbClr val="2E2E2E"/>
                </a:solidFill>
                <a:latin typeface="Calibri"/>
              </a:rPr>
              <a:t>book-to-bill with disciplined capacity and channel investment.</a:t>
            </a:r>
          </a:p>
        </p:txBody>
      </p:sp>
      <p:sp>
        <p:nvSpPr>
          <p:cNvPr id="42" name="TextBox 41"/>
          <p:cNvSpPr txBox="1"/>
          <p:nvPr/>
        </p:nvSpPr>
        <p:spPr>
          <a:xfrm>
            <a:off x="276225" y="3765200"/>
            <a:ext cx="5321163" cy="194310"/>
          </a:xfrm>
          <a:prstGeom prst="rect">
            <a:avLst/>
          </a:prstGeom>
          <a:noFill/>
        </p:spPr>
        <p:txBody>
          <a:bodyPr wrap="none" lIns="0" rIns="0" tIns="0" bIns="0">
            <a:spAutoFit/>
          </a:bodyPr>
          <a:lstStyle/>
          <a:p>
            <a:r>
              <a:rPr sz="1150" b="0">
                <a:solidFill>
                  <a:srgbClr val="2E2E2E"/>
                </a:solidFill>
                <a:latin typeface="Calibri"/>
              </a:rPr>
              <a:t>▪ Protect margin through corridor-based pricing and cost discipline as input prices move.</a:t>
            </a:r>
          </a:p>
        </p:txBody>
      </p:sp>
      <p:sp>
        <p:nvSpPr>
          <p:cNvPr id="43" name="TextBox 42"/>
          <p:cNvSpPr txBox="1"/>
          <p:nvPr/>
        </p:nvSpPr>
        <p:spPr>
          <a:xfrm>
            <a:off x="6334125" y="2503329"/>
            <a:ext cx="5562600" cy="194310"/>
          </a:xfrm>
          <a:prstGeom prst="rect">
            <a:avLst/>
          </a:prstGeom>
          <a:noFill/>
        </p:spPr>
        <p:txBody>
          <a:bodyPr wrap="none" lIns="0" rIns="0" tIns="0" bIns="0">
            <a:spAutoFit/>
          </a:bodyPr>
          <a:lstStyle/>
          <a:p>
            <a:r>
              <a:rPr sz="1150" b="0">
                <a:solidFill>
                  <a:srgbClr val="2E2E2E"/>
                </a:solidFill>
                <a:latin typeface="Calibri"/>
              </a:rPr>
              <a:t>▪ Premiumise the portfolio around 'Scroll Air Compressor' and adjacent high-value lines to lift</a:t>
            </a:r>
          </a:p>
        </p:txBody>
      </p:sp>
      <p:sp>
        <p:nvSpPr>
          <p:cNvPr id="44" name="TextBox 43"/>
          <p:cNvSpPr txBox="1"/>
          <p:nvPr/>
        </p:nvSpPr>
        <p:spPr>
          <a:xfrm>
            <a:off x="6334125" y="2678589"/>
            <a:ext cx="1034653" cy="194310"/>
          </a:xfrm>
          <a:prstGeom prst="rect">
            <a:avLst/>
          </a:prstGeom>
          <a:noFill/>
        </p:spPr>
        <p:txBody>
          <a:bodyPr wrap="none" lIns="0" rIns="0" tIns="0" bIns="0">
            <a:spAutoFit/>
          </a:bodyPr>
          <a:lstStyle/>
          <a:p>
            <a:r>
              <a:rPr sz="1150" b="0">
                <a:solidFill>
                  <a:srgbClr val="2E2E2E"/>
                </a:solidFill>
                <a:latin typeface="Calibri"/>
              </a:rPr>
              <a:t>blended pricing.</a:t>
            </a:r>
          </a:p>
        </p:txBody>
      </p:sp>
      <p:sp>
        <p:nvSpPr>
          <p:cNvPr id="45" name="TextBox 44"/>
          <p:cNvSpPr txBox="1"/>
          <p:nvPr/>
        </p:nvSpPr>
        <p:spPr>
          <a:xfrm>
            <a:off x="6334125" y="2906426"/>
            <a:ext cx="5219613" cy="194310"/>
          </a:xfrm>
          <a:prstGeom prst="rect">
            <a:avLst/>
          </a:prstGeom>
          <a:noFill/>
        </p:spPr>
        <p:txBody>
          <a:bodyPr wrap="none" lIns="0" rIns="0" tIns="0" bIns="0">
            <a:spAutoFit/>
          </a:bodyPr>
          <a:lstStyle/>
          <a:p>
            <a:r>
              <a:rPr sz="1150" b="0">
                <a:solidFill>
                  <a:srgbClr val="2E2E2E"/>
                </a:solidFill>
                <a:latin typeface="Calibri"/>
              </a:rPr>
              <a:t>▪ Deepen presence in 'North America' (largest SOM region) and build out under-served</a:t>
            </a:r>
          </a:p>
        </p:txBody>
      </p:sp>
      <p:sp>
        <p:nvSpPr>
          <p:cNvPr id="46" name="TextBox 45"/>
          <p:cNvSpPr txBox="1"/>
          <p:nvPr/>
        </p:nvSpPr>
        <p:spPr>
          <a:xfrm>
            <a:off x="6334125" y="3081686"/>
            <a:ext cx="838113" cy="194310"/>
          </a:xfrm>
          <a:prstGeom prst="rect">
            <a:avLst/>
          </a:prstGeom>
          <a:noFill/>
        </p:spPr>
        <p:txBody>
          <a:bodyPr wrap="none" lIns="0" rIns="0" tIns="0" bIns="0">
            <a:spAutoFit/>
          </a:bodyPr>
          <a:lstStyle/>
          <a:p>
            <a:r>
              <a:rPr sz="1150" b="0">
                <a:solidFill>
                  <a:srgbClr val="2E2E2E"/>
                </a:solidFill>
                <a:latin typeface="Calibri"/>
              </a:rPr>
              <a:t>geographies.</a:t>
            </a:r>
          </a:p>
        </p:txBody>
      </p:sp>
      <p:sp>
        <p:nvSpPr>
          <p:cNvPr id="47" name="TextBox 46"/>
          <p:cNvSpPr txBox="1"/>
          <p:nvPr/>
        </p:nvSpPr>
        <p:spPr>
          <a:xfrm>
            <a:off x="6334125" y="3309524"/>
            <a:ext cx="5471144" cy="194310"/>
          </a:xfrm>
          <a:prstGeom prst="rect">
            <a:avLst/>
          </a:prstGeom>
          <a:noFill/>
        </p:spPr>
        <p:txBody>
          <a:bodyPr wrap="none" lIns="0" rIns="0" tIns="0" bIns="0">
            <a:spAutoFit/>
          </a:bodyPr>
          <a:lstStyle/>
          <a:p>
            <a:r>
              <a:rPr sz="1150" b="0">
                <a:solidFill>
                  <a:srgbClr val="2E2E2E"/>
                </a:solidFill>
                <a:latin typeface="Calibri"/>
              </a:rPr>
              <a:t>▪ Invest in R&amp;D, certification and selective M&amp;A to move up the price ladder and widen the</a:t>
            </a:r>
          </a:p>
        </p:txBody>
      </p:sp>
      <p:sp>
        <p:nvSpPr>
          <p:cNvPr id="48" name="TextBox 47"/>
          <p:cNvSpPr txBox="1"/>
          <p:nvPr/>
        </p:nvSpPr>
        <p:spPr>
          <a:xfrm>
            <a:off x="6334125" y="3484784"/>
            <a:ext cx="425636" cy="194310"/>
          </a:xfrm>
          <a:prstGeom prst="rect">
            <a:avLst/>
          </a:prstGeom>
          <a:noFill/>
        </p:spPr>
        <p:txBody>
          <a:bodyPr wrap="none" lIns="0" rIns="0" tIns="0" bIns="0">
            <a:spAutoFit/>
          </a:bodyPr>
          <a:lstStyle/>
          <a:p>
            <a:r>
              <a:rPr sz="1150" b="0">
                <a:solidFill>
                  <a:srgbClr val="2E2E2E"/>
                </a:solidFill>
                <a:latin typeface="Calibri"/>
              </a:rPr>
              <a:t>moat.</a:t>
            </a:r>
          </a:p>
        </p:txBody>
      </p:sp>
      <p:sp>
        <p:nvSpPr>
          <p:cNvPr id="49" name="TextBox 48"/>
          <p:cNvSpPr txBox="1"/>
          <p:nvPr/>
        </p:nvSpPr>
        <p:spPr>
          <a:xfrm>
            <a:off x="6334125" y="3712622"/>
            <a:ext cx="5267535" cy="194310"/>
          </a:xfrm>
          <a:prstGeom prst="rect">
            <a:avLst/>
          </a:prstGeom>
          <a:noFill/>
        </p:spPr>
        <p:txBody>
          <a:bodyPr wrap="none" lIns="0" rIns="0" tIns="0" bIns="0">
            <a:spAutoFit/>
          </a:bodyPr>
          <a:lstStyle/>
          <a:p>
            <a:r>
              <a:rPr sz="1150" b="0">
                <a:solidFill>
                  <a:srgbClr val="2E2E2E"/>
                </a:solidFill>
                <a:latin typeface="Calibri"/>
              </a:rPr>
              <a:t>▪ Diversify the customer base and secure supply to de-risk concentration and input-cost</a:t>
            </a:r>
          </a:p>
        </p:txBody>
      </p:sp>
      <p:sp>
        <p:nvSpPr>
          <p:cNvPr id="50" name="TextBox 49"/>
          <p:cNvSpPr txBox="1"/>
          <p:nvPr/>
        </p:nvSpPr>
        <p:spPr>
          <a:xfrm>
            <a:off x="6334125" y="3887882"/>
            <a:ext cx="509215" cy="194310"/>
          </a:xfrm>
          <a:prstGeom prst="rect">
            <a:avLst/>
          </a:prstGeom>
          <a:noFill/>
        </p:spPr>
        <p:txBody>
          <a:bodyPr wrap="none" lIns="0" rIns="0" tIns="0" bIns="0">
            <a:spAutoFit/>
          </a:bodyPr>
          <a:lstStyle/>
          <a:p>
            <a:r>
              <a:rPr sz="1150" b="0">
                <a:solidFill>
                  <a:srgbClr val="2E2E2E"/>
                </a:solidFill>
                <a:latin typeface="Calibri"/>
              </a:rPr>
              <a:t>shocks.</a:t>
            </a:r>
          </a:p>
        </p:txBody>
      </p:sp>
      <p:sp>
        <p:nvSpPr>
          <p:cNvPr id="51" name="TextBox 50"/>
          <p:cNvSpPr txBox="1"/>
          <p:nvPr/>
        </p:nvSpPr>
        <p:spPr>
          <a:xfrm>
            <a:off x="6334125" y="4115720"/>
            <a:ext cx="3102173" cy="194310"/>
          </a:xfrm>
          <a:prstGeom prst="rect">
            <a:avLst/>
          </a:prstGeom>
          <a:noFill/>
        </p:spPr>
        <p:txBody>
          <a:bodyPr wrap="none" lIns="0" rIns="0" tIns="0" bIns="0">
            <a:spAutoFit/>
          </a:bodyPr>
          <a:lstStyle/>
          <a:p>
            <a:r>
              <a:rPr sz="1150" b="0">
                <a:solidFill>
                  <a:srgbClr val="2E2E2E"/>
                </a:solidFill>
                <a:latin typeface="Calibri"/>
              </a:rPr>
              <a:t>▪ Sharpen go-to-market a ~95-day sales cycle and ~</a:t>
            </a:r>
          </a:p>
        </p:txBody>
      </p:sp>
      <p:pic>
        <p:nvPicPr>
          <p:cNvPr id="52" name="Picture 51" descr="lock.png"/>
          <p:cNvPicPr>
            <a:picLocks noChangeAspect="1"/>
          </p:cNvPicPr>
          <p:nvPr/>
        </p:nvPicPr>
        <p:blipFill>
          <a:blip r:embed="rId4"/>
          <a:stretch>
            <a:fillRect/>
          </a:stretch>
        </p:blipFill>
        <p:spPr>
          <a:xfrm>
            <a:off x="9385452" y="4105497"/>
            <a:ext cx="134549" cy="195707"/>
          </a:xfrm>
          <a:prstGeom prst="rect">
            <a:avLst/>
          </a:prstGeom>
        </p:spPr>
      </p:pic>
      <p:sp>
        <p:nvSpPr>
          <p:cNvPr id="53" name="TextBox 52"/>
          <p:cNvSpPr txBox="1"/>
          <p:nvPr/>
        </p:nvSpPr>
        <p:spPr>
          <a:xfrm>
            <a:off x="9560561" y="4115720"/>
            <a:ext cx="2003660" cy="194310"/>
          </a:xfrm>
          <a:prstGeom prst="rect">
            <a:avLst/>
          </a:prstGeom>
          <a:noFill/>
        </p:spPr>
        <p:txBody>
          <a:bodyPr wrap="none" lIns="0" rIns="0" tIns="0" bIns="0">
            <a:spAutoFit/>
          </a:bodyPr>
          <a:lstStyle/>
          <a:p>
            <a:r>
              <a:rPr sz="1150" b="0">
                <a:solidFill>
                  <a:srgbClr val="2E2E2E"/>
                </a:solidFill>
                <a:latin typeface="Calibri"/>
              </a:rPr>
              <a:t>conversion speed share capture.</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pic>
        <p:nvPicPr>
          <p:cNvPr id="3" name="Picture 5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12188824" cy="6858001"/>
          </a:xfrm>
          <a:prstGeom prst="rect">
            <a:avLst/>
          </a:prstGeom>
        </p:spPr>
      </p:pic>
      <p:grpSp>
        <p:nvGrpSpPr>
          <p:cNvPr id="4" name="Group 54"/>
          <p:cNvGrpSpPr/>
          <p:nvPr/>
        </p:nvGrpSpPr>
        <p:grpSpPr>
          <a:xfrm>
            <a:off x="3791331" y="4349877"/>
            <a:ext cx="7897432" cy="1533454"/>
            <a:chOff x="3791331" y="4349877"/>
            <a:chExt cx="7897432" cy="1533454"/>
          </a:xfrm>
        </p:grpSpPr>
        <p:sp>
          <p:nvSpPr>
            <p:cNvPr id="5" name="TextBox 55"/>
            <p:cNvSpPr txBox="1"/>
            <p:nvPr/>
          </p:nvSpPr>
          <p:spPr>
            <a:xfrm>
              <a:off x="3791331" y="4349877"/>
              <a:ext cx="3739101" cy="307777"/>
            </a:xfrm>
            <a:prstGeom prst="rect">
              <a:avLst/>
            </a:prstGeom>
            <a:noFill/>
          </p:spPr>
          <p:txBody>
            <a:bodyPr wrap="none" rtlCol="0">
              <a:spAutoFit/>
            </a:bodyPr>
            <a:lstStyle/>
            <a:p>
              <a:r>
                <a:rPr lang="en-IN" sz="1400" dirty="0"/>
                <a:t>To know more about us, please visit our website:</a:t>
              </a:r>
            </a:p>
          </p:txBody>
        </p:sp>
        <p:sp>
          <p:nvSpPr>
            <p:cNvPr id="6" name="TextBox 56"/>
            <p:cNvSpPr txBox="1"/>
            <p:nvPr/>
          </p:nvSpPr>
          <p:spPr>
            <a:xfrm>
              <a:off x="3791331" y="4660773"/>
              <a:ext cx="3121496" cy="307777"/>
            </a:xfrm>
            <a:prstGeom prst="rect">
              <a:avLst/>
            </a:prstGeom>
            <a:noFill/>
          </p:spPr>
          <p:txBody>
            <a:bodyPr wrap="none" rtlCol="0">
              <a:spAutoFit/>
            </a:bodyPr>
            <a:lstStyle/>
            <a:p>
              <a:r>
                <a:rPr lang="en-IN" sz="1400" b="1" dirty="0"/>
                <a:t>www.transparencymarketresearch.com</a:t>
              </a:r>
            </a:p>
          </p:txBody>
        </p:sp>
        <p:sp>
          <p:nvSpPr>
            <p:cNvPr id="7" name="TextBox 57"/>
            <p:cNvSpPr txBox="1"/>
            <p:nvPr/>
          </p:nvSpPr>
          <p:spPr>
            <a:xfrm>
              <a:off x="3791331" y="5264658"/>
              <a:ext cx="3364767" cy="307777"/>
            </a:xfrm>
            <a:prstGeom prst="rect">
              <a:avLst/>
            </a:prstGeom>
            <a:noFill/>
          </p:spPr>
          <p:txBody>
            <a:bodyPr wrap="none" rtlCol="0">
              <a:spAutoFit/>
            </a:bodyPr>
            <a:lstStyle/>
            <a:p>
              <a:r>
                <a:rPr lang="en-IN" sz="1400" dirty="0"/>
                <a:t>For Sales queries or new topics email us on:</a:t>
              </a:r>
            </a:p>
          </p:txBody>
        </p:sp>
        <p:sp>
          <p:nvSpPr>
            <p:cNvPr id="8" name="TextBox 59"/>
            <p:cNvSpPr txBox="1"/>
            <p:nvPr/>
          </p:nvSpPr>
          <p:spPr>
            <a:xfrm>
              <a:off x="3791331" y="5575554"/>
              <a:ext cx="3097836" cy="307777"/>
            </a:xfrm>
            <a:prstGeom prst="rect">
              <a:avLst/>
            </a:prstGeom>
            <a:noFill/>
          </p:spPr>
          <p:txBody>
            <a:bodyPr wrap="none" rtlCol="0">
              <a:spAutoFit/>
            </a:bodyPr>
            <a:lstStyle/>
            <a:p>
              <a:r>
                <a:rPr lang="en-IN" sz="1400" b="1" dirty="0"/>
                <a:t>sales.transparencymarketresearch.com</a:t>
              </a:r>
            </a:p>
          </p:txBody>
        </p:sp>
        <p:sp>
          <p:nvSpPr>
            <p:cNvPr id="9" name="TextBox 60"/>
            <p:cNvSpPr txBox="1"/>
            <p:nvPr/>
          </p:nvSpPr>
          <p:spPr>
            <a:xfrm>
              <a:off x="9562732" y="4349877"/>
              <a:ext cx="2126031" cy="1384995"/>
            </a:xfrm>
            <a:prstGeom prst="rect">
              <a:avLst/>
            </a:prstGeom>
            <a:noFill/>
          </p:spPr>
          <p:txBody>
            <a:bodyPr wrap="none" rtlCol="0">
              <a:spAutoFit/>
            </a:bodyPr>
            <a:lstStyle/>
            <a:p>
              <a:pPr algn="r">
                <a:lnSpc>
                  <a:spcPct val="150000"/>
                </a:lnSpc>
              </a:pPr>
              <a:r>
                <a:rPr lang="en-IN" sz="1400" dirty="0"/>
                <a:t>For other Queries Contact:</a:t>
              </a:r>
            </a:p>
            <a:p>
              <a:pPr algn="r">
                <a:lnSpc>
                  <a:spcPct val="150000"/>
                </a:lnSpc>
              </a:pPr>
              <a:r>
                <a:rPr lang="en-IN" sz="1400" dirty="0"/>
                <a:t>90 State Street, Albany</a:t>
              </a:r>
            </a:p>
            <a:p>
              <a:pPr algn="r">
                <a:lnSpc>
                  <a:spcPct val="150000"/>
                </a:lnSpc>
              </a:pPr>
              <a:r>
                <a:rPr lang="en-IN" sz="1400" dirty="0"/>
                <a:t>NY – 12207, United States</a:t>
              </a:r>
            </a:p>
            <a:p>
              <a:pPr algn="r">
                <a:lnSpc>
                  <a:spcPct val="150000"/>
                </a:lnSpc>
              </a:pPr>
              <a:r>
                <a:rPr lang="en-IN" sz="1400" dirty="0"/>
                <a:t>Tel: +1-518-618-1030</a:t>
              </a:r>
            </a:p>
          </p:txBody>
        </p:sp>
      </p:grpSp>
      <p:pic>
        <p:nvPicPr>
          <p:cNvPr id="10" name="Picture 6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8750" y="123825"/>
            <a:ext cx="1492575" cy="1152525"/>
          </a:xfrm>
          <a:prstGeom prst="rect">
            <a:avLst/>
          </a:prstGeom>
        </p:spPr>
      </p:pic>
      <p:sp>
        <p:nvSpPr>
          <p:cNvPr id="11" name="TextBox 71"/>
          <p:cNvSpPr txBox="1"/>
          <p:nvPr/>
        </p:nvSpPr>
        <p:spPr>
          <a:xfrm>
            <a:off x="1431419" y="2409825"/>
            <a:ext cx="4964822" cy="1107996"/>
          </a:xfrm>
          <a:prstGeom prst="rect">
            <a:avLst/>
          </a:prstGeom>
          <a:noFill/>
        </p:spPr>
        <p:txBody>
          <a:bodyPr wrap="none" rtlCol="0">
            <a:spAutoFit/>
          </a:bodyPr>
          <a:lstStyle/>
          <a:p>
            <a:pPr algn="ctr"/>
            <a:r>
              <a:rPr lang="en-IN" sz="6600" dirty="0">
                <a:solidFill>
                  <a:srgbClr val="0070C0"/>
                </a:solidFill>
                <a:latin typeface="Aclonica" panose="02060503000000020004" pitchFamily="18" charset="0"/>
              </a:rPr>
              <a:t>Thank You</a:t>
            </a:r>
          </a:p>
        </p:txBody>
      </p:sp>
      <p:sp>
        <p:nvSpPr>
          <p:cNvPr id="12" name="Freeform 68"/>
          <p:cNvSpPr/>
          <p:nvPr userDrawn="1"/>
        </p:nvSpPr>
        <p:spPr bwMode="gray">
          <a:xfrm>
            <a:off x="152400" y="6386257"/>
            <a:ext cx="11887200" cy="0"/>
          </a:xfrm>
          <a:custGeom>
            <a:avLst/>
            <a:gdLst>
              <a:gd name="connsiteX0" fmla="*/ 12039600 w 12039600"/>
              <a:gd name="connsiteY0" fmla="*/ 0 h 0"/>
              <a:gd name="connsiteX1" fmla="*/ 0 w 12039600"/>
              <a:gd name="connsiteY1" fmla="*/ 0 h 0"/>
            </a:gdLst>
            <a:ahLst/>
            <a:cxnLst>
              <a:cxn ang="0">
                <a:pos x="connsiteX0" y="connsiteY0"/>
              </a:cxn>
              <a:cxn ang="0">
                <a:pos x="connsiteX1" y="connsiteY1"/>
              </a:cxn>
            </a:cxnLst>
            <a:rect l="l" t="t" r="r" b="b"/>
            <a:pathLst>
              <a:path w="12039600">
                <a:moveTo>
                  <a:pt x="12039600" y="0"/>
                </a:moveTo>
                <a:lnTo>
                  <a:pt x="0" y="0"/>
                </a:lnTo>
              </a:path>
            </a:pathLst>
          </a:custGeom>
          <a:noFill/>
          <a:ln w="28575">
            <a:solidFill>
              <a:srgbClr val="0070C0"/>
            </a:solidFill>
          </a:ln>
        </p:spPr>
        <p:style>
          <a:lnRef idx="2">
            <a:srgbClr val="2A5F8F">
              <a:shade val="50000"/>
            </a:srgbClr>
          </a:lnRef>
          <a:fillRef idx="1">
            <a:srgbClr val="2A5F8F"/>
          </a:fillRef>
          <a:effectRef idx="0">
            <a:srgbClr val="2A5F8F"/>
          </a:effectRef>
          <a:fontRef idx="minor">
            <a:srgbClr val="FFFFFF"/>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GB" sz="1013"/>
          </a:p>
        </p:txBody>
      </p:sp>
      <p:sp>
        <p:nvSpPr>
          <p:cNvPr id="13" name="Rectangle 73"/>
          <p:cNvSpPr/>
          <p:nvPr/>
        </p:nvSpPr>
        <p:spPr bwMode="gray">
          <a:xfrm>
            <a:off x="4409641" y="6503175"/>
            <a:ext cx="3372718" cy="169277"/>
          </a:xfrm>
          <a:prstGeom prst="rect">
            <a:avLst/>
          </a:prstGeom>
        </p:spPr>
        <p:txBody>
          <a:bodyPr wrap="none" lIns="0" tIns="0" rIns="0" bIns="0">
            <a:spAutoFit/>
          </a:bodyPr>
          <a:lstStyle/>
          <a:p>
            <a:pPr algn="ctr">
              <a:spcBef>
                <a:spcPts val="200"/>
              </a:spcBef>
              <a:spcAft>
                <a:spcPts val="200"/>
              </a:spcAft>
              <a:tabLst>
                <a:tab pos="931344" algn="l"/>
              </a:tabLst>
              <a:defRPr/>
            </a:pPr>
            <a:r>
              <a:rPr lang="en-US" sz="1100" dirty="0">
                <a:solidFill>
                  <a:srgbClr val="000000"/>
                </a:solidFill>
                <a:ea typeface="ＭＳ Ｐゴシック" charset="0"/>
              </a:rPr>
              <a:t>©2026 Transparency Market Research, All Rights Reserved</a:t>
            </a:r>
            <a:endParaRPr lang="en-GB" sz="1100" dirty="0">
              <a:solidFill>
                <a:srgbClr val="000000"/>
              </a:solidFill>
              <a:ea typeface="ＭＳ Ｐゴシック" charset="0"/>
            </a:endParaRPr>
          </a:p>
        </p:txBody>
      </p:sp>
    </p:spTree>
  </p:cSld>
  <p:clrMapOvr>
    <a:masterClrMapping/>
  </p:clrMapOvr>
</p:sld>
</file>

<file path=ppt/theme/theme1.xml><?xml version="1.0" encoding="utf-8"?>
<a:theme xmlns:a="http://schemas.openxmlformats.org/drawingml/2006/main" name="Office Theme">
  <a:themeElements>
    <a:clrScheme name="Custom 63">
      <a:dk1>
        <a:sysClr val="windowText" lastClr="000000"/>
      </a:dk1>
      <a:lt1>
        <a:sysClr val="window" lastClr="FFFFFF"/>
      </a:lt1>
      <a:dk2>
        <a:srgbClr val="000000"/>
      </a:dk2>
      <a:lt2>
        <a:srgbClr val="F8F8F8"/>
      </a:lt2>
      <a:accent1>
        <a:srgbClr val="2A5F8F"/>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